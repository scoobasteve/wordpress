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tags/tag1.xml" ContentType="application/vnd.openxmlformats-officedocument.presentationml.tags+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wmf"/><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257" r:id="rId2"/>
    <p:sldId id="258" r:id="rId3"/>
    <p:sldId id="261" r:id="rId4"/>
    <p:sldId id="262" r:id="rId5"/>
    <p:sldId id="263" r:id="rId6"/>
    <p:sldId id="264" r:id="rId7"/>
    <p:sldId id="265" r:id="rId8"/>
    <p:sldId id="291" r:id="rId9"/>
    <p:sldId id="292" r:id="rId10"/>
    <p:sldId id="266" r:id="rId11"/>
    <p:sldId id="281" r:id="rId12"/>
    <p:sldId id="282" r:id="rId13"/>
    <p:sldId id="283" r:id="rId14"/>
    <p:sldId id="284" r:id="rId15"/>
    <p:sldId id="285" r:id="rId16"/>
    <p:sldId id="286" r:id="rId17"/>
    <p:sldId id="288" r:id="rId18"/>
    <p:sldId id="289" r:id="rId19"/>
    <p:sldId id="293" r:id="rId20"/>
    <p:sldId id="256" r:id="rId21"/>
    <p:sldId id="259" r:id="rId22"/>
    <p:sldId id="260" r:id="rId23"/>
    <p:sldId id="267" r:id="rId24"/>
    <p:sldId id="268" r:id="rId25"/>
    <p:sldId id="269" r:id="rId26"/>
    <p:sldId id="272" r:id="rId27"/>
    <p:sldId id="273" r:id="rId28"/>
    <p:sldId id="271" r:id="rId29"/>
    <p:sldId id="270" r:id="rId30"/>
    <p:sldId id="280" r:id="rId31"/>
    <p:sldId id="279" r:id="rId32"/>
    <p:sldId id="278" r:id="rId33"/>
    <p:sldId id="277" r:id="rId34"/>
    <p:sldId id="276" r:id="rId35"/>
    <p:sldId id="275" r:id="rId36"/>
    <p:sldId id="274" r:id="rId37"/>
  </p:sldIdLst>
  <p:sldSz cx="9144000" cy="6858000" type="screen4x3"/>
  <p:notesSz cx="6858000" cy="9144000"/>
  <p:custDataLst>
    <p:tags r:id="rId39"/>
  </p:custDataLst>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5" d="100"/>
          <a:sy n="75" d="100"/>
        </p:scale>
        <p:origin x="-1224" y="-3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image" Target="../media/image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NZ"/>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6105A487-C21D-4479-96CC-210EA6041C07}" type="datetimeFigureOut">
              <a:rPr lang="en-NZ"/>
              <a:pPr>
                <a:defRPr/>
              </a:pPr>
              <a:t>17/07/2012</a:t>
            </a:fld>
            <a:endParaRPr lang="en-NZ"/>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NZ"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NZ"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NZ"/>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F77F9B4B-0377-49B6-B9DA-56431D4E156D}" type="slidenum">
              <a:rPr lang="en-NZ"/>
              <a:pPr>
                <a:defRPr/>
              </a:pPr>
              <a:t>‹#›</a:t>
            </a:fld>
            <a:endParaRPr lang="en-NZ"/>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Rot="1" noChangeAspect="1" noChangeArrowheads="1" noTextEdit="1"/>
          </p:cNvSpPr>
          <p:nvPr>
            <p:ph type="sldImg"/>
          </p:nvPr>
        </p:nvSpPr>
        <p:spPr bwMode="auto">
          <a:xfrm>
            <a:off x="1127125" y="687388"/>
            <a:ext cx="4273550" cy="3205162"/>
          </a:xfrm>
          <a:noFill/>
          <a:ln>
            <a:solidFill>
              <a:srgbClr val="000000"/>
            </a:solidFill>
            <a:miter lim="800000"/>
            <a:headEnd/>
            <a:tailEnd/>
          </a:ln>
        </p:spPr>
      </p:sp>
      <p:sp>
        <p:nvSpPr>
          <p:cNvPr id="28674" name="Rectangle 3"/>
          <p:cNvSpPr>
            <a:spLocks noGrp="1" noChangeArrowheads="1"/>
          </p:cNvSpPr>
          <p:nvPr>
            <p:ph type="body" idx="1"/>
          </p:nvPr>
        </p:nvSpPr>
        <p:spPr bwMode="auto">
          <a:xfrm>
            <a:off x="914400" y="4343400"/>
            <a:ext cx="5029200" cy="254000"/>
          </a:xfrm>
          <a:noFill/>
        </p:spPr>
        <p:txBody>
          <a:bodyPr wrap="square" numCol="1" anchor="t" anchorCtr="0" compatLnSpc="1">
            <a:prstTxWarp prst="textNoShape">
              <a:avLst/>
            </a:prstTxWarp>
          </a:bodyPr>
          <a:lstStyle/>
          <a:p>
            <a:pPr eaLnBrk="1" hangingPunct="1">
              <a:spcBef>
                <a:spcPct val="0"/>
              </a:spcBef>
            </a:pPr>
            <a:endParaRPr lang="es-E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p:cNvSpPr>
            <a:spLocks noGrp="1" noRot="1" noChangeArrowheads="1"/>
          </p:cNvSpPr>
          <p:nvPr>
            <p:ph type="sldImg"/>
          </p:nvPr>
        </p:nvSpPr>
        <p:spPr bwMode="auto">
          <a:xfrm>
            <a:off x="1169988" y="690563"/>
            <a:ext cx="4391025" cy="3294062"/>
          </a:xfrm>
          <a:solidFill>
            <a:srgbClr val="FFFFFF"/>
          </a:solidFill>
          <a:ln>
            <a:solidFill>
              <a:srgbClr val="000000"/>
            </a:solidFill>
            <a:miter lim="800000"/>
            <a:headEnd/>
            <a:tailEnd/>
          </a:ln>
        </p:spPr>
      </p:sp>
      <p:sp>
        <p:nvSpPr>
          <p:cNvPr id="31746" name="Rectangle 3"/>
          <p:cNvSpPr>
            <a:spLocks noGrp="1" noChangeArrowheads="1"/>
          </p:cNvSpPr>
          <p:nvPr>
            <p:ph type="body" idx="1"/>
          </p:nvPr>
        </p:nvSpPr>
        <p:spPr bwMode="auto">
          <a:xfrm>
            <a:off x="685800" y="3995738"/>
            <a:ext cx="5486400" cy="4483100"/>
          </a:xfrm>
          <a:solidFill>
            <a:srgbClr val="FFFFFF"/>
          </a:solidFill>
          <a:ln>
            <a:solidFill>
              <a:srgbClr val="000000"/>
            </a:solidFill>
            <a:miter lim="800000"/>
            <a:headEnd/>
            <a:tailEnd/>
          </a:ln>
        </p:spPr>
        <p:txBody>
          <a:bodyPr wrap="square" lIns="92702" tIns="46351" rIns="92702" bIns="46351" numCol="1" anchor="t" anchorCtr="0" compatLnSpc="1">
            <a:prstTxWarp prst="textNoShape">
              <a:avLst/>
            </a:prstTxWarp>
          </a:bodyPr>
          <a:lstStyle/>
          <a:p>
            <a:pPr eaLnBrk="1" hangingPunct="1">
              <a:spcBef>
                <a:spcPct val="0"/>
              </a:spcBef>
            </a:pPr>
            <a:r>
              <a:rPr lang="en-US" smtClean="0"/>
              <a:t>The fecal dry matter in ruminants has three origins: </a:t>
            </a:r>
          </a:p>
          <a:p>
            <a:pPr eaLnBrk="1" hangingPunct="1">
              <a:spcBef>
                <a:spcPct val="0"/>
              </a:spcBef>
            </a:pPr>
            <a:r>
              <a:rPr lang="en-US" smtClean="0"/>
              <a:t>(1) The first portion is made of undigested feed residues that resisted fermentation (microbial enzymes) and digestion (mammalian enzymes).  The amount of this portion varies because it depends on </a:t>
            </a:r>
            <a:r>
              <a:rPr lang="en-US" b="1" smtClean="0"/>
              <a:t>diet quality</a:t>
            </a:r>
            <a:r>
              <a:rPr lang="en-US" smtClean="0"/>
              <a:t>, that is, the amount and </a:t>
            </a:r>
            <a:r>
              <a:rPr lang="en-US" b="1" smtClean="0"/>
              <a:t>digestibility of the diet</a:t>
            </a:r>
            <a:r>
              <a:rPr lang="en-US" smtClean="0"/>
              <a:t>.</a:t>
            </a:r>
          </a:p>
          <a:p>
            <a:pPr eaLnBrk="1" hangingPunct="1">
              <a:spcBef>
                <a:spcPct val="0"/>
              </a:spcBef>
            </a:pPr>
            <a:r>
              <a:rPr lang="en-US" smtClean="0"/>
              <a:t>(2) The largest portion of the dry matter in the feces of dairy cows is made up of the undigested microbial matter produced in the rumen (and the cecum).  As indicated earlier, bacteria contain about 50-60% protein.  And, 80% of this bacterial protein is digested in the small intestine.  However, bacterial cell wall and bacterial genetic material (DNA), which represent about 40-50% of bacterial mass, are not digested and are found in the feces.</a:t>
            </a:r>
          </a:p>
          <a:p>
            <a:pPr eaLnBrk="1" hangingPunct="1">
              <a:spcBef>
                <a:spcPct val="0"/>
              </a:spcBef>
            </a:pPr>
            <a:r>
              <a:rPr lang="en-US" smtClean="0"/>
              <a:t>(3) The endogenous secretions are residues from pancreatic juices, bile, and digestive enzymes produced by the duodenum and mucous secretions of the large intestine. The body produces these secretions.  After the enzymes and the bile have carried out their digestive roles they might be subjected to digestion, however, a significant portion passes into the feces.  Typically, this fraction is </a:t>
            </a:r>
            <a:r>
              <a:rPr lang="en-US" b="1" smtClean="0"/>
              <a:t>proportional to dry matter intake</a:t>
            </a:r>
            <a:r>
              <a:rPr lang="en-US" smtClean="0"/>
              <a:t>. Logically, as cows eat more, more digestive secretions are required.</a:t>
            </a:r>
          </a:p>
          <a:p>
            <a:pPr eaLnBrk="1" hangingPunct="1">
              <a:spcBef>
                <a:spcPct val="0"/>
              </a:spcBef>
            </a:pPr>
            <a:r>
              <a:rPr lang="en-US" smtClean="0">
                <a:cs typeface="Times" pitchFamily="18" charset="0"/>
              </a:rPr>
              <a:t>In most diets, undigested microbial mass is the single largest source of fecal dry matter.  However, in high fiber diets, the undigested feed residue may become the largest source of fecal dry matter.  As fiber in the diet increases, a greater portion of the dry matter is indigestible and bacterial production is correspondingly reduced.  Diet digestibility decreases and the amount of undigested feed residue in the feces increases.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noRot="1" noChangeAspect="1" noChangeArrowheads="1" noTextEdit="1"/>
          </p:cNvSpPr>
          <p:nvPr>
            <p:ph type="sldImg"/>
          </p:nvPr>
        </p:nvSpPr>
        <p:spPr bwMode="auto">
          <a:xfrm>
            <a:off x="1127125" y="687388"/>
            <a:ext cx="4273550" cy="3205162"/>
          </a:xfrm>
          <a:noFill/>
          <a:ln>
            <a:solidFill>
              <a:srgbClr val="000000"/>
            </a:solidFill>
            <a:miter lim="800000"/>
            <a:headEnd/>
            <a:tailEnd/>
          </a:ln>
        </p:spPr>
      </p:sp>
      <p:sp>
        <p:nvSpPr>
          <p:cNvPr id="33794" name="Rectangle 3"/>
          <p:cNvSpPr>
            <a:spLocks noGrp="1" noChangeArrowheads="1"/>
          </p:cNvSpPr>
          <p:nvPr>
            <p:ph type="body" idx="1"/>
          </p:nvPr>
        </p:nvSpPr>
        <p:spPr bwMode="auto">
          <a:xfrm>
            <a:off x="914400" y="4343400"/>
            <a:ext cx="5029200" cy="2357438"/>
          </a:xfrm>
          <a:noFill/>
        </p:spPr>
        <p:txBody>
          <a:bodyPr wrap="square" numCol="1" anchor="t" anchorCtr="0" compatLnSpc="1">
            <a:prstTxWarp prst="textNoShape">
              <a:avLst/>
            </a:prstTxWarp>
          </a:bodyPr>
          <a:lstStyle/>
          <a:p>
            <a:pPr eaLnBrk="1" hangingPunct="1">
              <a:spcBef>
                <a:spcPct val="0"/>
              </a:spcBef>
            </a:pPr>
            <a:r>
              <a:rPr lang="es-ES" smtClean="0"/>
              <a:t>The feed has been broken down into three fractions: the A fraction which is very soluble and will ferment rapidly in the rumen at &gt;250 percent per hour. This means that in less than 15 minutes it has dissapeared from the rumen. The B fraction, typically digests at a rate we call Kd or the slowly digestable fraction, 0.2-.015. The indigestable fraction is 0 and the only way it can be digested is by passage by fermentation. </a:t>
            </a:r>
          </a:p>
          <a:p>
            <a:pPr eaLnBrk="1" hangingPunct="1">
              <a:spcBef>
                <a:spcPct val="0"/>
              </a:spcBef>
            </a:pPr>
            <a:r>
              <a:rPr lang="es-ES" smtClean="0"/>
              <a:t>The rate of digestion happens slowly as seen by this line. The A and the B fraction give energy to the cow. A is readily available, but B is available over time. If something stays in the rumen for 72 hours, then the dissapearance of the B fraction is almost complete, so the cow benefited from the entire B fraction. But the entire rumen retention time is only half of this, then the cow benefited only a fraction of the B fraction and part of it is not digested because the feed leaves the rumen at this point. </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p:cNvSpPr>
            <a:spLocks noGrp="1" noRot="1" noChangeAspect="1" noChangeArrowheads="1" noTextEdit="1"/>
          </p:cNvSpPr>
          <p:nvPr>
            <p:ph type="sldImg"/>
          </p:nvPr>
        </p:nvSpPr>
        <p:spPr bwMode="auto">
          <a:xfrm>
            <a:off x="1127125" y="687388"/>
            <a:ext cx="4273550" cy="3205162"/>
          </a:xfrm>
          <a:noFill/>
          <a:ln>
            <a:solidFill>
              <a:srgbClr val="000000"/>
            </a:solidFill>
            <a:miter lim="800000"/>
            <a:headEnd/>
            <a:tailEnd/>
          </a:ln>
        </p:spPr>
      </p:sp>
      <p:sp>
        <p:nvSpPr>
          <p:cNvPr id="35842" name="Rectangle 3"/>
          <p:cNvSpPr>
            <a:spLocks noGrp="1" noChangeArrowheads="1"/>
          </p:cNvSpPr>
          <p:nvPr>
            <p:ph type="body" idx="1"/>
          </p:nvPr>
        </p:nvSpPr>
        <p:spPr bwMode="auto">
          <a:xfrm>
            <a:off x="914400" y="4343400"/>
            <a:ext cx="5029200" cy="1331913"/>
          </a:xfrm>
          <a:noFill/>
        </p:spPr>
        <p:txBody>
          <a:bodyPr wrap="square" numCol="1" anchor="t" anchorCtr="0" compatLnSpc="1">
            <a:prstTxWarp prst="textNoShape">
              <a:avLst/>
            </a:prstTxWarp>
          </a:bodyPr>
          <a:lstStyle/>
          <a:p>
            <a:pPr eaLnBrk="1" hangingPunct="1">
              <a:spcBef>
                <a:spcPct val="0"/>
              </a:spcBef>
            </a:pPr>
            <a:r>
              <a:rPr lang="es-ES" smtClean="0"/>
              <a:t>This is the digestion curve. Legumes digest faster, but plateau earlier. Grasses digest more slowly, but have a higher plateau. The B fraction is greater in grass than the B fraction is in legumes. </a:t>
            </a:r>
          </a:p>
          <a:p>
            <a:pPr eaLnBrk="1" hangingPunct="1">
              <a:spcBef>
                <a:spcPct val="0"/>
              </a:spcBef>
            </a:pPr>
            <a:r>
              <a:rPr lang="es-ES" smtClean="0"/>
              <a:t>If these two forages are fed to a cow who has a rumen retention time of about 24 hours, which would be a high producing cow, the legume would be more digested at 24 hours. If the same feed is fed to a dry cow, which has a rumen retention time of about 40-72 hours, the grasses give the dry cow more energy. </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lvl1pPr>
              <a:defRPr/>
            </a:lvl1pPr>
          </a:lstStyle>
          <a:p>
            <a:pPr>
              <a:defRPr/>
            </a:pPr>
            <a:fld id="{868D9B1C-28F6-47A2-B39F-004BFED4AA23}" type="datetimeFigureOut">
              <a:rPr lang="en-US"/>
              <a:pPr>
                <a:defRPr/>
              </a:pPr>
              <a:t>7/17/2012</a:t>
            </a:fld>
            <a:endParaRPr lang="en-AU"/>
          </a:p>
        </p:txBody>
      </p:sp>
      <p:sp>
        <p:nvSpPr>
          <p:cNvPr id="5" name="Footer Placeholder 4"/>
          <p:cNvSpPr>
            <a:spLocks noGrp="1"/>
          </p:cNvSpPr>
          <p:nvPr>
            <p:ph type="ftr" sz="quarter" idx="11"/>
          </p:nvPr>
        </p:nvSpPr>
        <p:spPr/>
        <p:txBody>
          <a:bodyPr/>
          <a:lstStyle>
            <a:lvl1pPr>
              <a:defRPr/>
            </a:lvl1pPr>
          </a:lstStyle>
          <a:p>
            <a:pPr>
              <a:defRPr/>
            </a:pPr>
            <a:endParaRPr lang="en-AU"/>
          </a:p>
        </p:txBody>
      </p:sp>
      <p:sp>
        <p:nvSpPr>
          <p:cNvPr id="6" name="Slide Number Placeholder 5"/>
          <p:cNvSpPr>
            <a:spLocks noGrp="1"/>
          </p:cNvSpPr>
          <p:nvPr>
            <p:ph type="sldNum" sz="quarter" idx="12"/>
          </p:nvPr>
        </p:nvSpPr>
        <p:spPr/>
        <p:txBody>
          <a:bodyPr/>
          <a:lstStyle>
            <a:lvl1pPr>
              <a:defRPr/>
            </a:lvl1pPr>
          </a:lstStyle>
          <a:p>
            <a:pPr>
              <a:defRPr/>
            </a:pPr>
            <a:fld id="{7C9CEC6C-B4AF-44AE-9F3B-0E65C5D8BE58}" type="slidenum">
              <a:rPr lang="en-AU"/>
              <a:pPr>
                <a:defRPr/>
              </a:pPr>
              <a:t>‹#›</a:t>
            </a:fld>
            <a:endParaRPr lang="en-A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lvl1pPr>
              <a:defRPr/>
            </a:lvl1pPr>
          </a:lstStyle>
          <a:p>
            <a:pPr>
              <a:defRPr/>
            </a:pPr>
            <a:fld id="{8622CE23-BB3F-4374-907F-E1BC5D49406D}" type="datetimeFigureOut">
              <a:rPr lang="en-US"/>
              <a:pPr>
                <a:defRPr/>
              </a:pPr>
              <a:t>7/17/2012</a:t>
            </a:fld>
            <a:endParaRPr lang="en-AU"/>
          </a:p>
        </p:txBody>
      </p:sp>
      <p:sp>
        <p:nvSpPr>
          <p:cNvPr id="5" name="Footer Placeholder 4"/>
          <p:cNvSpPr>
            <a:spLocks noGrp="1"/>
          </p:cNvSpPr>
          <p:nvPr>
            <p:ph type="ftr" sz="quarter" idx="11"/>
          </p:nvPr>
        </p:nvSpPr>
        <p:spPr/>
        <p:txBody>
          <a:bodyPr/>
          <a:lstStyle>
            <a:lvl1pPr>
              <a:defRPr/>
            </a:lvl1pPr>
          </a:lstStyle>
          <a:p>
            <a:pPr>
              <a:defRPr/>
            </a:pPr>
            <a:endParaRPr lang="en-AU"/>
          </a:p>
        </p:txBody>
      </p:sp>
      <p:sp>
        <p:nvSpPr>
          <p:cNvPr id="6" name="Slide Number Placeholder 5"/>
          <p:cNvSpPr>
            <a:spLocks noGrp="1"/>
          </p:cNvSpPr>
          <p:nvPr>
            <p:ph type="sldNum" sz="quarter" idx="12"/>
          </p:nvPr>
        </p:nvSpPr>
        <p:spPr/>
        <p:txBody>
          <a:bodyPr/>
          <a:lstStyle>
            <a:lvl1pPr>
              <a:defRPr/>
            </a:lvl1pPr>
          </a:lstStyle>
          <a:p>
            <a:pPr>
              <a:defRPr/>
            </a:pPr>
            <a:fld id="{E2F18541-4865-49D9-865F-64BA7E0EF75B}" type="slidenum">
              <a:rPr lang="en-AU"/>
              <a:pPr>
                <a:defRPr/>
              </a:pPr>
              <a:t>‹#›</a:t>
            </a:fld>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74D41B78-9148-4E6D-B796-7754AAD9D5A0}" type="datetimeFigureOut">
              <a:rPr lang="en-US"/>
              <a:pPr>
                <a:defRPr/>
              </a:pPr>
              <a:t>7/17/2012</a:t>
            </a:fld>
            <a:endParaRPr lang="en-AU"/>
          </a:p>
        </p:txBody>
      </p:sp>
      <p:sp>
        <p:nvSpPr>
          <p:cNvPr id="5" name="Footer Placeholder 4"/>
          <p:cNvSpPr>
            <a:spLocks noGrp="1"/>
          </p:cNvSpPr>
          <p:nvPr>
            <p:ph type="ftr" sz="quarter" idx="11"/>
          </p:nvPr>
        </p:nvSpPr>
        <p:spPr/>
        <p:txBody>
          <a:bodyPr/>
          <a:lstStyle>
            <a:lvl1pPr>
              <a:defRPr/>
            </a:lvl1pPr>
          </a:lstStyle>
          <a:p>
            <a:pPr>
              <a:defRPr/>
            </a:pPr>
            <a:endParaRPr lang="en-AU"/>
          </a:p>
        </p:txBody>
      </p:sp>
      <p:sp>
        <p:nvSpPr>
          <p:cNvPr id="6" name="Slide Number Placeholder 5"/>
          <p:cNvSpPr>
            <a:spLocks noGrp="1"/>
          </p:cNvSpPr>
          <p:nvPr>
            <p:ph type="sldNum" sz="quarter" idx="12"/>
          </p:nvPr>
        </p:nvSpPr>
        <p:spPr/>
        <p:txBody>
          <a:bodyPr/>
          <a:lstStyle>
            <a:lvl1pPr>
              <a:defRPr/>
            </a:lvl1pPr>
          </a:lstStyle>
          <a:p>
            <a:pPr>
              <a:defRPr/>
            </a:pPr>
            <a:fld id="{F062319C-86CB-46E2-8818-53E4933402AD}" type="slidenum">
              <a:rPr lang="en-AU"/>
              <a:pPr>
                <a:defRPr/>
              </a:pPr>
              <a:t>‹#›</a:t>
            </a:fld>
            <a:endParaRPr lang="en-A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3"/>
          <p:cNvSpPr>
            <a:spLocks noGrp="1"/>
          </p:cNvSpPr>
          <p:nvPr>
            <p:ph type="dt" sz="half" idx="10"/>
          </p:nvPr>
        </p:nvSpPr>
        <p:spPr/>
        <p:txBody>
          <a:bodyPr/>
          <a:lstStyle>
            <a:lvl1pPr>
              <a:defRPr/>
            </a:lvl1pPr>
          </a:lstStyle>
          <a:p>
            <a:pPr>
              <a:defRPr/>
            </a:pPr>
            <a:fld id="{49C59820-65D4-4855-9828-C2C9457CE543}" type="datetimeFigureOut">
              <a:rPr lang="en-US"/>
              <a:pPr>
                <a:defRPr/>
              </a:pPr>
              <a:t>7/17/2012</a:t>
            </a:fld>
            <a:endParaRPr lang="en-AU"/>
          </a:p>
        </p:txBody>
      </p:sp>
      <p:sp>
        <p:nvSpPr>
          <p:cNvPr id="6" name="Footer Placeholder 4"/>
          <p:cNvSpPr>
            <a:spLocks noGrp="1"/>
          </p:cNvSpPr>
          <p:nvPr>
            <p:ph type="ftr" sz="quarter" idx="11"/>
          </p:nvPr>
        </p:nvSpPr>
        <p:spPr/>
        <p:txBody>
          <a:bodyPr/>
          <a:lstStyle>
            <a:lvl1pPr>
              <a:defRPr/>
            </a:lvl1pPr>
          </a:lstStyle>
          <a:p>
            <a:pPr>
              <a:defRPr/>
            </a:pPr>
            <a:endParaRPr lang="en-AU"/>
          </a:p>
        </p:txBody>
      </p:sp>
      <p:sp>
        <p:nvSpPr>
          <p:cNvPr id="7" name="Slide Number Placeholder 5"/>
          <p:cNvSpPr>
            <a:spLocks noGrp="1"/>
          </p:cNvSpPr>
          <p:nvPr>
            <p:ph type="sldNum" sz="quarter" idx="12"/>
          </p:nvPr>
        </p:nvSpPr>
        <p:spPr/>
        <p:txBody>
          <a:bodyPr/>
          <a:lstStyle>
            <a:lvl1pPr>
              <a:defRPr/>
            </a:lvl1pPr>
          </a:lstStyle>
          <a:p>
            <a:pPr>
              <a:defRPr/>
            </a:pPr>
            <a:fld id="{0548CF12-E080-49C7-93A5-10BAAC80D114}" type="slidenum">
              <a:rPr lang="en-AU"/>
              <a:pPr>
                <a:defRPr/>
              </a:pPr>
              <a:t>‹#›</a:t>
            </a:fld>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3"/>
          <p:cNvSpPr>
            <a:spLocks noGrp="1"/>
          </p:cNvSpPr>
          <p:nvPr>
            <p:ph type="dt" sz="half" idx="10"/>
          </p:nvPr>
        </p:nvSpPr>
        <p:spPr/>
        <p:txBody>
          <a:bodyPr/>
          <a:lstStyle>
            <a:lvl1pPr>
              <a:defRPr/>
            </a:lvl1pPr>
          </a:lstStyle>
          <a:p>
            <a:pPr>
              <a:defRPr/>
            </a:pPr>
            <a:fld id="{C7FEB17F-55FD-414B-8F0E-4509280122DE}" type="datetimeFigureOut">
              <a:rPr lang="en-US"/>
              <a:pPr>
                <a:defRPr/>
              </a:pPr>
              <a:t>7/17/2012</a:t>
            </a:fld>
            <a:endParaRPr lang="en-AU"/>
          </a:p>
        </p:txBody>
      </p:sp>
      <p:sp>
        <p:nvSpPr>
          <p:cNvPr id="8" name="Footer Placeholder 4"/>
          <p:cNvSpPr>
            <a:spLocks noGrp="1"/>
          </p:cNvSpPr>
          <p:nvPr>
            <p:ph type="ftr" sz="quarter" idx="11"/>
          </p:nvPr>
        </p:nvSpPr>
        <p:spPr/>
        <p:txBody>
          <a:bodyPr/>
          <a:lstStyle>
            <a:lvl1pPr>
              <a:defRPr/>
            </a:lvl1pPr>
          </a:lstStyle>
          <a:p>
            <a:pPr>
              <a:defRPr/>
            </a:pPr>
            <a:endParaRPr lang="en-AU"/>
          </a:p>
        </p:txBody>
      </p:sp>
      <p:sp>
        <p:nvSpPr>
          <p:cNvPr id="9" name="Slide Number Placeholder 5"/>
          <p:cNvSpPr>
            <a:spLocks noGrp="1"/>
          </p:cNvSpPr>
          <p:nvPr>
            <p:ph type="sldNum" sz="quarter" idx="12"/>
          </p:nvPr>
        </p:nvSpPr>
        <p:spPr/>
        <p:txBody>
          <a:bodyPr/>
          <a:lstStyle>
            <a:lvl1pPr>
              <a:defRPr/>
            </a:lvl1pPr>
          </a:lstStyle>
          <a:p>
            <a:pPr>
              <a:defRPr/>
            </a:pPr>
            <a:fld id="{12FB526B-FA7E-485B-8CC7-5C54CCD43B4C}" type="slidenum">
              <a:rPr lang="en-AU"/>
              <a:pPr>
                <a:defRPr/>
              </a:pPr>
              <a:t>‹#›</a:t>
            </a:fld>
            <a:endParaRPr lang="en-A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3"/>
          <p:cNvSpPr>
            <a:spLocks noGrp="1"/>
          </p:cNvSpPr>
          <p:nvPr>
            <p:ph type="dt" sz="half" idx="10"/>
          </p:nvPr>
        </p:nvSpPr>
        <p:spPr/>
        <p:txBody>
          <a:bodyPr/>
          <a:lstStyle>
            <a:lvl1pPr>
              <a:defRPr/>
            </a:lvl1pPr>
          </a:lstStyle>
          <a:p>
            <a:pPr>
              <a:defRPr/>
            </a:pPr>
            <a:fld id="{A927164F-57B1-416D-B734-8A80B03D06AC}" type="datetimeFigureOut">
              <a:rPr lang="en-US"/>
              <a:pPr>
                <a:defRPr/>
              </a:pPr>
              <a:t>7/17/2012</a:t>
            </a:fld>
            <a:endParaRPr lang="en-AU"/>
          </a:p>
        </p:txBody>
      </p:sp>
      <p:sp>
        <p:nvSpPr>
          <p:cNvPr id="4" name="Footer Placeholder 4"/>
          <p:cNvSpPr>
            <a:spLocks noGrp="1"/>
          </p:cNvSpPr>
          <p:nvPr>
            <p:ph type="ftr" sz="quarter" idx="11"/>
          </p:nvPr>
        </p:nvSpPr>
        <p:spPr/>
        <p:txBody>
          <a:bodyPr/>
          <a:lstStyle>
            <a:lvl1pPr>
              <a:defRPr/>
            </a:lvl1pPr>
          </a:lstStyle>
          <a:p>
            <a:pPr>
              <a:defRPr/>
            </a:pPr>
            <a:endParaRPr lang="en-AU"/>
          </a:p>
        </p:txBody>
      </p:sp>
      <p:sp>
        <p:nvSpPr>
          <p:cNvPr id="5" name="Slide Number Placeholder 5"/>
          <p:cNvSpPr>
            <a:spLocks noGrp="1"/>
          </p:cNvSpPr>
          <p:nvPr>
            <p:ph type="sldNum" sz="quarter" idx="12"/>
          </p:nvPr>
        </p:nvSpPr>
        <p:spPr/>
        <p:txBody>
          <a:bodyPr/>
          <a:lstStyle>
            <a:lvl1pPr>
              <a:defRPr/>
            </a:lvl1pPr>
          </a:lstStyle>
          <a:p>
            <a:pPr>
              <a:defRPr/>
            </a:pPr>
            <a:fld id="{FFA75CE7-0FD3-49A9-9C61-6568851F6972}" type="slidenum">
              <a:rPr lang="en-AU"/>
              <a:pPr>
                <a:defRPr/>
              </a:pPr>
              <a:t>‹#›</a:t>
            </a:fld>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EB831E90-DD8A-4713-9BCC-FFF6B58E5D47}" type="datetimeFigureOut">
              <a:rPr lang="en-US"/>
              <a:pPr>
                <a:defRPr/>
              </a:pPr>
              <a:t>7/17/2012</a:t>
            </a:fld>
            <a:endParaRPr lang="en-AU"/>
          </a:p>
        </p:txBody>
      </p:sp>
      <p:sp>
        <p:nvSpPr>
          <p:cNvPr id="3" name="Footer Placeholder 4"/>
          <p:cNvSpPr>
            <a:spLocks noGrp="1"/>
          </p:cNvSpPr>
          <p:nvPr>
            <p:ph type="ftr" sz="quarter" idx="11"/>
          </p:nvPr>
        </p:nvSpPr>
        <p:spPr/>
        <p:txBody>
          <a:bodyPr/>
          <a:lstStyle>
            <a:lvl1pPr>
              <a:defRPr/>
            </a:lvl1pPr>
          </a:lstStyle>
          <a:p>
            <a:pPr>
              <a:defRPr/>
            </a:pPr>
            <a:endParaRPr lang="en-AU"/>
          </a:p>
        </p:txBody>
      </p:sp>
      <p:sp>
        <p:nvSpPr>
          <p:cNvPr id="4" name="Slide Number Placeholder 5"/>
          <p:cNvSpPr>
            <a:spLocks noGrp="1"/>
          </p:cNvSpPr>
          <p:nvPr>
            <p:ph type="sldNum" sz="quarter" idx="12"/>
          </p:nvPr>
        </p:nvSpPr>
        <p:spPr/>
        <p:txBody>
          <a:bodyPr/>
          <a:lstStyle>
            <a:lvl1pPr>
              <a:defRPr/>
            </a:lvl1pPr>
          </a:lstStyle>
          <a:p>
            <a:pPr>
              <a:defRPr/>
            </a:pPr>
            <a:fld id="{94CAD3B1-1095-4918-8D9F-6BD51774C568}" type="slidenum">
              <a:rPr lang="en-AU"/>
              <a:pPr>
                <a:defRPr/>
              </a:pPr>
              <a:t>‹#›</a:t>
            </a:fld>
            <a:endParaRPr lang="en-A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1D2D6C3A-6C29-4332-9BFC-308AFCB3743C}" type="datetimeFigureOut">
              <a:rPr lang="en-US"/>
              <a:pPr>
                <a:defRPr/>
              </a:pPr>
              <a:t>7/17/2012</a:t>
            </a:fld>
            <a:endParaRPr lang="en-AU"/>
          </a:p>
        </p:txBody>
      </p:sp>
      <p:sp>
        <p:nvSpPr>
          <p:cNvPr id="6" name="Footer Placeholder 4"/>
          <p:cNvSpPr>
            <a:spLocks noGrp="1"/>
          </p:cNvSpPr>
          <p:nvPr>
            <p:ph type="ftr" sz="quarter" idx="11"/>
          </p:nvPr>
        </p:nvSpPr>
        <p:spPr/>
        <p:txBody>
          <a:bodyPr/>
          <a:lstStyle>
            <a:lvl1pPr>
              <a:defRPr/>
            </a:lvl1pPr>
          </a:lstStyle>
          <a:p>
            <a:pPr>
              <a:defRPr/>
            </a:pPr>
            <a:endParaRPr lang="en-AU"/>
          </a:p>
        </p:txBody>
      </p:sp>
      <p:sp>
        <p:nvSpPr>
          <p:cNvPr id="7" name="Slide Number Placeholder 5"/>
          <p:cNvSpPr>
            <a:spLocks noGrp="1"/>
          </p:cNvSpPr>
          <p:nvPr>
            <p:ph type="sldNum" sz="quarter" idx="12"/>
          </p:nvPr>
        </p:nvSpPr>
        <p:spPr/>
        <p:txBody>
          <a:bodyPr/>
          <a:lstStyle>
            <a:lvl1pPr>
              <a:defRPr/>
            </a:lvl1pPr>
          </a:lstStyle>
          <a:p>
            <a:pPr>
              <a:defRPr/>
            </a:pPr>
            <a:fld id="{4E9AFC06-B317-47BA-BC9A-17164D7BEC6D}" type="slidenum">
              <a:rPr lang="en-AU"/>
              <a:pPr>
                <a:defRPr/>
              </a:pPr>
              <a:t>‹#›</a:t>
            </a:fld>
            <a:endParaRPr lang="en-A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AU"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6F536F7-3142-4C4E-B6B4-A4E6AC0263F9}" type="datetimeFigureOut">
              <a:rPr lang="en-US"/>
              <a:pPr>
                <a:defRPr/>
              </a:pPr>
              <a:t>7/17/2012</a:t>
            </a:fld>
            <a:endParaRPr lang="en-AU"/>
          </a:p>
        </p:txBody>
      </p:sp>
      <p:sp>
        <p:nvSpPr>
          <p:cNvPr id="6" name="Footer Placeholder 4"/>
          <p:cNvSpPr>
            <a:spLocks noGrp="1"/>
          </p:cNvSpPr>
          <p:nvPr>
            <p:ph type="ftr" sz="quarter" idx="11"/>
          </p:nvPr>
        </p:nvSpPr>
        <p:spPr/>
        <p:txBody>
          <a:bodyPr/>
          <a:lstStyle>
            <a:lvl1pPr>
              <a:defRPr/>
            </a:lvl1pPr>
          </a:lstStyle>
          <a:p>
            <a:pPr>
              <a:defRPr/>
            </a:pPr>
            <a:endParaRPr lang="en-AU"/>
          </a:p>
        </p:txBody>
      </p:sp>
      <p:sp>
        <p:nvSpPr>
          <p:cNvPr id="7" name="Slide Number Placeholder 5"/>
          <p:cNvSpPr>
            <a:spLocks noGrp="1"/>
          </p:cNvSpPr>
          <p:nvPr>
            <p:ph type="sldNum" sz="quarter" idx="12"/>
          </p:nvPr>
        </p:nvSpPr>
        <p:spPr/>
        <p:txBody>
          <a:bodyPr/>
          <a:lstStyle>
            <a:lvl1pPr>
              <a:defRPr/>
            </a:lvl1pPr>
          </a:lstStyle>
          <a:p>
            <a:pPr>
              <a:defRPr/>
            </a:pPr>
            <a:fld id="{CF13DAB3-09D9-43C6-BAA1-E74DF6A1BDC5}" type="slidenum">
              <a:rPr lang="en-AU"/>
              <a:pPr>
                <a:defRPr/>
              </a:pPr>
              <a:t>‹#›</a:t>
            </a:fld>
            <a:endParaRPr lang="en-A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lvl1pPr>
              <a:defRPr/>
            </a:lvl1pPr>
          </a:lstStyle>
          <a:p>
            <a:pPr>
              <a:defRPr/>
            </a:pPr>
            <a:fld id="{09200F36-AD67-472B-9D0F-148BA995CD93}" type="datetimeFigureOut">
              <a:rPr lang="en-US"/>
              <a:pPr>
                <a:defRPr/>
              </a:pPr>
              <a:t>7/17/2012</a:t>
            </a:fld>
            <a:endParaRPr lang="en-AU"/>
          </a:p>
        </p:txBody>
      </p:sp>
      <p:sp>
        <p:nvSpPr>
          <p:cNvPr id="5" name="Footer Placeholder 4"/>
          <p:cNvSpPr>
            <a:spLocks noGrp="1"/>
          </p:cNvSpPr>
          <p:nvPr>
            <p:ph type="ftr" sz="quarter" idx="11"/>
          </p:nvPr>
        </p:nvSpPr>
        <p:spPr/>
        <p:txBody>
          <a:bodyPr/>
          <a:lstStyle>
            <a:lvl1pPr>
              <a:defRPr/>
            </a:lvl1pPr>
          </a:lstStyle>
          <a:p>
            <a:pPr>
              <a:defRPr/>
            </a:pPr>
            <a:endParaRPr lang="en-AU"/>
          </a:p>
        </p:txBody>
      </p:sp>
      <p:sp>
        <p:nvSpPr>
          <p:cNvPr id="6" name="Slide Number Placeholder 5"/>
          <p:cNvSpPr>
            <a:spLocks noGrp="1"/>
          </p:cNvSpPr>
          <p:nvPr>
            <p:ph type="sldNum" sz="quarter" idx="12"/>
          </p:nvPr>
        </p:nvSpPr>
        <p:spPr/>
        <p:txBody>
          <a:bodyPr/>
          <a:lstStyle>
            <a:lvl1pPr>
              <a:defRPr/>
            </a:lvl1pPr>
          </a:lstStyle>
          <a:p>
            <a:pPr>
              <a:defRPr/>
            </a:pPr>
            <a:fld id="{97ABBD10-416C-4C3B-B5C7-BE6940553AB9}" type="slidenum">
              <a:rPr lang="en-AU"/>
              <a:pPr>
                <a:defRPr/>
              </a:pPr>
              <a:t>‹#›</a:t>
            </a:fld>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lvl1pPr>
              <a:defRPr/>
            </a:lvl1pPr>
          </a:lstStyle>
          <a:p>
            <a:pPr>
              <a:defRPr/>
            </a:pPr>
            <a:fld id="{1B929369-821A-41F5-95CB-AF9D5FCFE913}" type="datetimeFigureOut">
              <a:rPr lang="en-US"/>
              <a:pPr>
                <a:defRPr/>
              </a:pPr>
              <a:t>7/17/2012</a:t>
            </a:fld>
            <a:endParaRPr lang="en-AU"/>
          </a:p>
        </p:txBody>
      </p:sp>
      <p:sp>
        <p:nvSpPr>
          <p:cNvPr id="5" name="Footer Placeholder 4"/>
          <p:cNvSpPr>
            <a:spLocks noGrp="1"/>
          </p:cNvSpPr>
          <p:nvPr>
            <p:ph type="ftr" sz="quarter" idx="11"/>
          </p:nvPr>
        </p:nvSpPr>
        <p:spPr/>
        <p:txBody>
          <a:bodyPr/>
          <a:lstStyle>
            <a:lvl1pPr>
              <a:defRPr/>
            </a:lvl1pPr>
          </a:lstStyle>
          <a:p>
            <a:pPr>
              <a:defRPr/>
            </a:pPr>
            <a:endParaRPr lang="en-AU"/>
          </a:p>
        </p:txBody>
      </p:sp>
      <p:sp>
        <p:nvSpPr>
          <p:cNvPr id="6" name="Slide Number Placeholder 5"/>
          <p:cNvSpPr>
            <a:spLocks noGrp="1"/>
          </p:cNvSpPr>
          <p:nvPr>
            <p:ph type="sldNum" sz="quarter" idx="12"/>
          </p:nvPr>
        </p:nvSpPr>
        <p:spPr/>
        <p:txBody>
          <a:bodyPr/>
          <a:lstStyle>
            <a:lvl1pPr>
              <a:defRPr/>
            </a:lvl1pPr>
          </a:lstStyle>
          <a:p>
            <a:pPr>
              <a:defRPr/>
            </a:pPr>
            <a:fld id="{3F7DBEA4-0411-4248-B4AD-3C61E6B18C4A}" type="slidenum">
              <a:rPr lang="en-AU"/>
              <a:pPr>
                <a:defRPr/>
              </a:pPr>
              <a:t>‹#›</a:t>
            </a:fld>
            <a:endParaRPr lang="en-AU"/>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chart">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685800" y="282575"/>
            <a:ext cx="7772400" cy="579438"/>
          </a:xfrm>
        </p:spPr>
        <p:txBody>
          <a:bodyPr/>
          <a:lstStyle/>
          <a:p>
            <a:r>
              <a:rPr lang="en-US" smtClean="0"/>
              <a:t>Click to edit Master title style</a:t>
            </a:r>
            <a:endParaRPr lang="en-NZ"/>
          </a:p>
        </p:txBody>
      </p:sp>
      <p:sp>
        <p:nvSpPr>
          <p:cNvPr id="3" name="Chart Placeholder 2"/>
          <p:cNvSpPr>
            <a:spLocks noGrp="1"/>
          </p:cNvSpPr>
          <p:nvPr>
            <p:ph type="chart" idx="1"/>
          </p:nvPr>
        </p:nvSpPr>
        <p:spPr>
          <a:xfrm>
            <a:off x="685800" y="1447801"/>
            <a:ext cx="7772400" cy="1990725"/>
          </a:xfrm>
        </p:spPr>
        <p:txBody>
          <a:bodyPr rtlCol="0">
            <a:normAutofit/>
          </a:bodyPr>
          <a:lstStyle/>
          <a:p>
            <a:pPr lvl="0"/>
            <a:endParaRPr lang="en-NZ" noProof="0"/>
          </a:p>
        </p:txBody>
      </p:sp>
      <p:sp>
        <p:nvSpPr>
          <p:cNvPr id="4" name="Date Placeholder 3"/>
          <p:cNvSpPr>
            <a:spLocks noGrp="1"/>
          </p:cNvSpPr>
          <p:nvPr>
            <p:ph type="dt" sz="half" idx="10"/>
          </p:nvPr>
        </p:nvSpPr>
        <p:spPr>
          <a:xfrm>
            <a:off x="0" y="6400800"/>
            <a:ext cx="1905000" cy="457200"/>
          </a:xfrm>
        </p:spPr>
        <p:txBody>
          <a:bodyPr/>
          <a:lstStyle>
            <a:lvl1pPr>
              <a:defRPr/>
            </a:lvl1pPr>
          </a:lstStyle>
          <a:p>
            <a:pPr>
              <a:defRPr/>
            </a:pPr>
            <a:endParaRPr lang="en-US"/>
          </a:p>
        </p:txBody>
      </p:sp>
      <p:sp>
        <p:nvSpPr>
          <p:cNvPr id="5" name="Footer Placeholder 4"/>
          <p:cNvSpPr>
            <a:spLocks noGrp="1"/>
          </p:cNvSpPr>
          <p:nvPr>
            <p:ph type="ftr" sz="quarter" idx="11"/>
          </p:nvPr>
        </p:nvSpPr>
        <p:spPr>
          <a:xfrm>
            <a:off x="3255963" y="6400800"/>
            <a:ext cx="2895600" cy="457200"/>
          </a:xfrm>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7239000" y="6543675"/>
            <a:ext cx="1905000" cy="285750"/>
          </a:xfrm>
        </p:spPr>
        <p:txBody>
          <a:bodyPr/>
          <a:lstStyle>
            <a:lvl1pPr>
              <a:defRPr/>
            </a:lvl1pPr>
          </a:lstStyle>
          <a:p>
            <a:pPr>
              <a:defRPr/>
            </a:pPr>
            <a:r>
              <a:rPr lang="en-US"/>
              <a:t> </a:t>
            </a:r>
            <a:r>
              <a:rPr lang="en-US" sz="1800">
                <a:solidFill>
                  <a:schemeClr val="tx1"/>
                </a:solidFill>
                <a:effectLst>
                  <a:outerShdw blurRad="38100" dist="38100" dir="2700000" algn="tl">
                    <a:srgbClr val="000000"/>
                  </a:outerShdw>
                </a:effectLst>
              </a:rPr>
              <a:t>Module 2</a:t>
            </a:r>
            <a:r>
              <a:rPr lang="en-US"/>
              <a:t>, </a:t>
            </a:r>
            <a:r>
              <a:rPr lang="en-US" sz="1800">
                <a:solidFill>
                  <a:schemeClr val="tx1"/>
                </a:solidFill>
              </a:rPr>
              <a:t>slide </a:t>
            </a:r>
            <a:fld id="{5D89E94D-09A4-450E-A7A4-9A61E754BA0B}" type="slidenum">
              <a:rPr lang="en-US" sz="1800">
                <a:solidFill>
                  <a:schemeClr val="tx1"/>
                </a:solidFill>
              </a:rPr>
              <a:pPr>
                <a:defRPr/>
              </a:pPr>
              <a:t>‹#›</a:t>
            </a:fld>
            <a:endParaRPr lang="en-US" sz="1800">
              <a:solidFill>
                <a:schemeClr val="tx1"/>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530"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endParaRPr lang="en-AU" smtClean="0"/>
          </a:p>
        </p:txBody>
      </p:sp>
      <p:sp>
        <p:nvSpPr>
          <p:cNvPr id="2253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C064C885-0431-4B52-AD66-ECAFCD861DB1}" type="datetimeFigureOut">
              <a:rPr lang="en-US"/>
              <a:pPr>
                <a:defRPr/>
              </a:pPr>
              <a:t>7/17/2012</a:t>
            </a:fld>
            <a:endParaRPr lang="en-AU"/>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en-AU"/>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9B6AFF2F-EC24-489D-93B0-2EA5FC5DFE7A}" type="slidenum">
              <a:rPr lang="en-AU"/>
              <a:pPr>
                <a:defRPr/>
              </a:pPr>
              <a:t>‹#›</a:t>
            </a:fld>
            <a:endParaRPr lang="en-AU"/>
          </a:p>
        </p:txBody>
      </p:sp>
      <p:pic>
        <p:nvPicPr>
          <p:cNvPr id="22535" name="&lt;4D799478-1984-4A80-A2DE-D29DA6C43921&gt;" descr="4D799478-1984-4A80-A2DE-D29DA6C43921"/>
          <p:cNvPicPr>
            <a:picLocks noChangeAspect="1" noChangeArrowheads="1"/>
          </p:cNvPicPr>
          <p:nvPr userDrawn="1"/>
        </p:nvPicPr>
        <p:blipFill>
          <a:blip r:embed="rId14"/>
          <a:srcRect/>
          <a:stretch>
            <a:fillRect/>
          </a:stretch>
        </p:blipFill>
        <p:spPr bwMode="auto">
          <a:xfrm>
            <a:off x="0" y="0"/>
            <a:ext cx="9220200" cy="685800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60" r:id="rId1"/>
    <p:sldLayoutId id="2147483659" r:id="rId2"/>
    <p:sldLayoutId id="2147483658" r:id="rId3"/>
    <p:sldLayoutId id="2147483657" r:id="rId4"/>
    <p:sldLayoutId id="2147483656" r:id="rId5"/>
    <p:sldLayoutId id="2147483655" r:id="rId6"/>
    <p:sldLayoutId id="2147483654" r:id="rId7"/>
    <p:sldLayoutId id="2147483653" r:id="rId8"/>
    <p:sldLayoutId id="2147483652" r:id="rId9"/>
    <p:sldLayoutId id="2147483651" r:id="rId10"/>
    <p:sldLayoutId id="2147483650" r:id="rId11"/>
    <p:sldLayoutId id="2147483661" r:id="rId12"/>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8" Type="http://schemas.openxmlformats.org/officeDocument/2006/relationships/slide" Target="slide30.xml"/><Relationship Id="rId3" Type="http://schemas.openxmlformats.org/officeDocument/2006/relationships/slide" Target="slide3.xml"/><Relationship Id="rId7" Type="http://schemas.openxmlformats.org/officeDocument/2006/relationships/slide" Target="slide20.xml"/><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slide" Target="slide36.xml"/><Relationship Id="rId5" Type="http://schemas.openxmlformats.org/officeDocument/2006/relationships/slide" Target="slide17.xml"/><Relationship Id="rId4" Type="http://schemas.openxmlformats.org/officeDocument/2006/relationships/slide" Target="slide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2.xml"/><Relationship Id="rId1" Type="http://schemas.openxmlformats.org/officeDocument/2006/relationships/vmlDrawing" Target="../drawings/vmlDrawing1.vml"/><Relationship Id="rId4" Type="http://schemas.openxmlformats.org/officeDocument/2006/relationships/oleObject" Target="../embeddings/oleObject2.bin"/></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8313" y="836613"/>
            <a:ext cx="8229600" cy="4525962"/>
          </a:xfrm>
        </p:spPr>
        <p:txBody>
          <a:bodyPr rtlCol="0">
            <a:normAutofit lnSpcReduction="10000"/>
          </a:bodyPr>
          <a:lstStyle/>
          <a:p>
            <a:pPr marL="0" indent="0" algn="ctr" eaLnBrk="1" fontAlgn="auto" hangingPunct="1">
              <a:spcAft>
                <a:spcPts val="0"/>
              </a:spcAft>
              <a:buFont typeface="Arial" pitchFamily="34" charset="0"/>
              <a:buNone/>
              <a:defRPr/>
            </a:pPr>
            <a:r>
              <a:rPr lang="en-AU" b="1" dirty="0" smtClean="0"/>
              <a:t>ENERGY REQUIREMENTS FOR HIGH PRODUCTION COWS</a:t>
            </a:r>
          </a:p>
          <a:p>
            <a:pPr eaLnBrk="1" fontAlgn="auto" hangingPunct="1">
              <a:spcAft>
                <a:spcPts val="0"/>
              </a:spcAft>
              <a:buFont typeface="Arial" pitchFamily="34" charset="0"/>
              <a:buChar char="•"/>
              <a:defRPr/>
            </a:pPr>
            <a:endParaRPr lang="en-AU" dirty="0" smtClean="0"/>
          </a:p>
          <a:p>
            <a:pPr marL="0" indent="0" eaLnBrk="1" fontAlgn="auto" hangingPunct="1">
              <a:spcAft>
                <a:spcPts val="0"/>
              </a:spcAft>
              <a:buFont typeface="Arial" pitchFamily="34" charset="0"/>
              <a:buNone/>
              <a:defRPr/>
            </a:pPr>
            <a:endParaRPr lang="en-AU" dirty="0" smtClean="0"/>
          </a:p>
          <a:p>
            <a:pPr marL="0" indent="0" eaLnBrk="1" fontAlgn="auto" hangingPunct="1">
              <a:spcAft>
                <a:spcPts val="0"/>
              </a:spcAft>
              <a:buFont typeface="Arial" pitchFamily="34" charset="0"/>
              <a:buNone/>
              <a:defRPr/>
            </a:pPr>
            <a:endParaRPr lang="en-AU" dirty="0"/>
          </a:p>
          <a:p>
            <a:pPr marL="0" indent="0" eaLnBrk="1" fontAlgn="auto" hangingPunct="1">
              <a:spcAft>
                <a:spcPts val="0"/>
              </a:spcAft>
              <a:buFont typeface="Arial" pitchFamily="34" charset="0"/>
              <a:buNone/>
              <a:defRPr/>
            </a:pPr>
            <a:endParaRPr lang="en-AU" dirty="0"/>
          </a:p>
          <a:p>
            <a:pPr marL="0" indent="0" algn="ctr" eaLnBrk="1" fontAlgn="auto" hangingPunct="1">
              <a:spcAft>
                <a:spcPts val="0"/>
              </a:spcAft>
              <a:buFont typeface="Arial" pitchFamily="34" charset="0"/>
              <a:buNone/>
              <a:defRPr/>
            </a:pPr>
            <a:r>
              <a:rPr lang="en-AU" sz="2400" dirty="0" smtClean="0"/>
              <a:t>Carolina Diaz Lira</a:t>
            </a:r>
          </a:p>
          <a:p>
            <a:pPr marL="0" indent="0" algn="ctr" eaLnBrk="1" fontAlgn="auto" hangingPunct="1">
              <a:spcAft>
                <a:spcPts val="0"/>
              </a:spcAft>
              <a:buFont typeface="Arial" pitchFamily="34" charset="0"/>
              <a:buNone/>
              <a:defRPr/>
            </a:pPr>
            <a:r>
              <a:rPr lang="en-AU" sz="2400" dirty="0" smtClean="0"/>
              <a:t>ALLFARM NZ</a:t>
            </a:r>
          </a:p>
          <a:p>
            <a:pPr marL="0" indent="0" algn="ctr" eaLnBrk="1" fontAlgn="auto" hangingPunct="1">
              <a:spcAft>
                <a:spcPts val="0"/>
              </a:spcAft>
              <a:buFont typeface="Arial" pitchFamily="34" charset="0"/>
              <a:buNone/>
              <a:defRPr/>
            </a:pPr>
            <a:r>
              <a:rPr lang="en-AU" sz="2400" dirty="0" smtClean="0"/>
              <a:t>carolinad@allfarmnz.co.nz</a:t>
            </a:r>
          </a:p>
          <a:p>
            <a:pPr eaLnBrk="1" fontAlgn="auto" hangingPunct="1">
              <a:spcAft>
                <a:spcPts val="0"/>
              </a:spcAft>
              <a:buFont typeface="Arial" pitchFamily="34" charset="0"/>
              <a:buChar char="•"/>
              <a:defRPr/>
            </a:pPr>
            <a:endParaRPr lang="en-AU"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3"/>
          <p:cNvSpPr>
            <a:spLocks noGrp="1"/>
          </p:cNvSpPr>
          <p:nvPr>
            <p:ph type="title"/>
          </p:nvPr>
        </p:nvSpPr>
        <p:spPr/>
        <p:txBody>
          <a:bodyPr/>
          <a:lstStyle/>
          <a:p>
            <a:pPr eaLnBrk="1" hangingPunct="1"/>
            <a:r>
              <a:rPr lang="en-AU" sz="3200" b="1" smtClean="0"/>
              <a:t>OUTLINE</a:t>
            </a:r>
          </a:p>
        </p:txBody>
      </p:sp>
      <p:sp>
        <p:nvSpPr>
          <p:cNvPr id="16386" name="Text Placeholder 4"/>
          <p:cNvSpPr>
            <a:spLocks noGrp="1"/>
          </p:cNvSpPr>
          <p:nvPr>
            <p:ph type="body" idx="1"/>
          </p:nvPr>
        </p:nvSpPr>
        <p:spPr>
          <a:xfrm>
            <a:off x="1979613" y="4221163"/>
            <a:ext cx="8435975" cy="639762"/>
          </a:xfrm>
        </p:spPr>
        <p:txBody>
          <a:bodyPr/>
          <a:lstStyle/>
          <a:p>
            <a:pPr eaLnBrk="1" hangingPunct="1"/>
            <a:endParaRPr lang="en-AU" smtClean="0"/>
          </a:p>
          <a:p>
            <a:pPr eaLnBrk="1" hangingPunct="1"/>
            <a:endParaRPr lang="en-AU" smtClean="0"/>
          </a:p>
          <a:p>
            <a:pPr eaLnBrk="1" hangingPunct="1"/>
            <a:r>
              <a:rPr lang="en-AU" sz="2000" smtClean="0"/>
              <a:t>BALANCING OF DIET</a:t>
            </a:r>
          </a:p>
          <a:p>
            <a:pPr eaLnBrk="1" hangingPunct="1"/>
            <a:r>
              <a:rPr lang="en-AU" sz="2000" smtClean="0"/>
              <a:t>CHEMICAL COMPOSITION</a:t>
            </a:r>
          </a:p>
          <a:p>
            <a:pPr eaLnBrk="1" hangingPunct="1"/>
            <a:r>
              <a:rPr lang="en-AU" sz="2000" smtClean="0"/>
              <a:t>NDF / NFC</a:t>
            </a:r>
          </a:p>
          <a:p>
            <a:pPr eaLnBrk="1" hangingPunct="1"/>
            <a:r>
              <a:rPr lang="en-AU" sz="2000" smtClean="0"/>
              <a:t>ENERGY UTILIZATION</a:t>
            </a:r>
          </a:p>
          <a:p>
            <a:pPr eaLnBrk="1" hangingPunct="1"/>
            <a:r>
              <a:rPr lang="en-AU" sz="2000" smtClean="0"/>
              <a:t>MILK COMPONENTS</a:t>
            </a:r>
          </a:p>
          <a:p>
            <a:pPr eaLnBrk="1" hangingPunct="1"/>
            <a:r>
              <a:rPr lang="en-AU" sz="2000" smtClean="0"/>
              <a:t>DIGESTION AND PASSAGE</a:t>
            </a:r>
          </a:p>
          <a:p>
            <a:pPr eaLnBrk="1" hangingPunct="1"/>
            <a:r>
              <a:rPr lang="en-AU" sz="2000" smtClean="0"/>
              <a:t>ENERGY EFFICIENCY</a:t>
            </a:r>
          </a:p>
          <a:p>
            <a:pPr eaLnBrk="1" hangingPunct="1"/>
            <a:r>
              <a:rPr lang="en-AU" sz="2000" smtClean="0"/>
              <a:t>FORAGE / CONCENTRATE RATIO</a:t>
            </a:r>
          </a:p>
          <a:p>
            <a:pPr eaLnBrk="1" hangingPunct="1"/>
            <a:endParaRPr lang="en-AU" sz="200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Freeform 2"/>
          <p:cNvSpPr>
            <a:spLocks/>
          </p:cNvSpPr>
          <p:nvPr/>
        </p:nvSpPr>
        <p:spPr bwMode="auto">
          <a:xfrm>
            <a:off x="2916238" y="6021388"/>
            <a:ext cx="3367087" cy="247650"/>
          </a:xfrm>
          <a:custGeom>
            <a:avLst/>
            <a:gdLst>
              <a:gd name="T0" fmla="*/ 0 w 785"/>
              <a:gd name="T1" fmla="*/ 0 h 217"/>
              <a:gd name="T2" fmla="*/ 0 w 785"/>
              <a:gd name="T3" fmla="*/ 2147483647 h 217"/>
              <a:gd name="T4" fmla="*/ 2147483647 w 785"/>
              <a:gd name="T5" fmla="*/ 2147483647 h 217"/>
              <a:gd name="T6" fmla="*/ 2147483647 w 785"/>
              <a:gd name="T7" fmla="*/ 0 h 217"/>
              <a:gd name="T8" fmla="*/ 0 60000 65536"/>
              <a:gd name="T9" fmla="*/ 0 60000 65536"/>
              <a:gd name="T10" fmla="*/ 0 60000 65536"/>
              <a:gd name="T11" fmla="*/ 0 60000 65536"/>
              <a:gd name="T12" fmla="*/ 0 w 785"/>
              <a:gd name="T13" fmla="*/ 0 h 217"/>
              <a:gd name="T14" fmla="*/ 785 w 785"/>
              <a:gd name="T15" fmla="*/ 217 h 217"/>
            </a:gdLst>
            <a:ahLst/>
            <a:cxnLst>
              <a:cxn ang="T8">
                <a:pos x="T0" y="T1"/>
              </a:cxn>
              <a:cxn ang="T9">
                <a:pos x="T2" y="T3"/>
              </a:cxn>
              <a:cxn ang="T10">
                <a:pos x="T4" y="T5"/>
              </a:cxn>
              <a:cxn ang="T11">
                <a:pos x="T6" y="T7"/>
              </a:cxn>
            </a:cxnLst>
            <a:rect l="T12" t="T13" r="T14" b="T15"/>
            <a:pathLst>
              <a:path w="785" h="217">
                <a:moveTo>
                  <a:pt x="0" y="0"/>
                </a:moveTo>
                <a:lnTo>
                  <a:pt x="0" y="216"/>
                </a:lnTo>
                <a:lnTo>
                  <a:pt x="784" y="216"/>
                </a:lnTo>
                <a:lnTo>
                  <a:pt x="784" y="0"/>
                </a:lnTo>
              </a:path>
            </a:pathLst>
          </a:custGeom>
          <a:noFill/>
          <a:ln w="76200" cap="rnd" cmpd="sng">
            <a:solidFill>
              <a:srgbClr val="663300"/>
            </a:solidFill>
            <a:prstDash val="solid"/>
            <a:round/>
            <a:headEnd type="none" w="med" len="med"/>
            <a:tailEnd type="none" w="med" len="med"/>
          </a:ln>
        </p:spPr>
        <p:txBody>
          <a:bodyPr/>
          <a:lstStyle/>
          <a:p>
            <a:endParaRPr lang="en-US"/>
          </a:p>
        </p:txBody>
      </p:sp>
      <p:sp>
        <p:nvSpPr>
          <p:cNvPr id="17410" name="Freeform 3"/>
          <p:cNvSpPr>
            <a:spLocks/>
          </p:cNvSpPr>
          <p:nvPr/>
        </p:nvSpPr>
        <p:spPr bwMode="auto">
          <a:xfrm>
            <a:off x="3702050" y="6361113"/>
            <a:ext cx="1717675" cy="496887"/>
          </a:xfrm>
          <a:custGeom>
            <a:avLst/>
            <a:gdLst>
              <a:gd name="T0" fmla="*/ 2147483647 w 1217"/>
              <a:gd name="T1" fmla="*/ 0 h 313"/>
              <a:gd name="T2" fmla="*/ 2147483647 w 1217"/>
              <a:gd name="T3" fmla="*/ 0 h 313"/>
              <a:gd name="T4" fmla="*/ 0 w 1217"/>
              <a:gd name="T5" fmla="*/ 2147483647 h 313"/>
              <a:gd name="T6" fmla="*/ 2147483647 w 1217"/>
              <a:gd name="T7" fmla="*/ 2147483647 h 313"/>
              <a:gd name="T8" fmla="*/ 2147483647 w 1217"/>
              <a:gd name="T9" fmla="*/ 0 h 313"/>
              <a:gd name="T10" fmla="*/ 0 60000 65536"/>
              <a:gd name="T11" fmla="*/ 0 60000 65536"/>
              <a:gd name="T12" fmla="*/ 0 60000 65536"/>
              <a:gd name="T13" fmla="*/ 0 60000 65536"/>
              <a:gd name="T14" fmla="*/ 0 60000 65536"/>
              <a:gd name="T15" fmla="*/ 0 w 1217"/>
              <a:gd name="T16" fmla="*/ 0 h 313"/>
              <a:gd name="T17" fmla="*/ 1217 w 1217"/>
              <a:gd name="T18" fmla="*/ 313 h 313"/>
            </a:gdLst>
            <a:ahLst/>
            <a:cxnLst>
              <a:cxn ang="T10">
                <a:pos x="T0" y="T1"/>
              </a:cxn>
              <a:cxn ang="T11">
                <a:pos x="T2" y="T3"/>
              </a:cxn>
              <a:cxn ang="T12">
                <a:pos x="T4" y="T5"/>
              </a:cxn>
              <a:cxn ang="T13">
                <a:pos x="T6" y="T7"/>
              </a:cxn>
              <a:cxn ang="T14">
                <a:pos x="T8" y="T9"/>
              </a:cxn>
            </a:cxnLst>
            <a:rect l="T15" t="T16" r="T17" b="T18"/>
            <a:pathLst>
              <a:path w="1217" h="313">
                <a:moveTo>
                  <a:pt x="904" y="0"/>
                </a:moveTo>
                <a:lnTo>
                  <a:pt x="304" y="0"/>
                </a:lnTo>
                <a:lnTo>
                  <a:pt x="0" y="312"/>
                </a:lnTo>
                <a:lnTo>
                  <a:pt x="1216" y="312"/>
                </a:lnTo>
                <a:lnTo>
                  <a:pt x="904" y="0"/>
                </a:lnTo>
              </a:path>
            </a:pathLst>
          </a:custGeom>
          <a:solidFill>
            <a:schemeClr val="folHlink"/>
          </a:solidFill>
          <a:ln w="12700" cap="rnd" cmpd="sng">
            <a:solidFill>
              <a:srgbClr val="000000"/>
            </a:solidFill>
            <a:prstDash val="solid"/>
            <a:round/>
            <a:headEnd type="none" w="med" len="med"/>
            <a:tailEnd type="none" w="med" len="med"/>
          </a:ln>
        </p:spPr>
        <p:txBody>
          <a:bodyPr/>
          <a:lstStyle/>
          <a:p>
            <a:endParaRPr lang="en-US"/>
          </a:p>
        </p:txBody>
      </p:sp>
      <p:sp>
        <p:nvSpPr>
          <p:cNvPr id="17411" name="Text Box 4"/>
          <p:cNvSpPr txBox="1">
            <a:spLocks noChangeArrowheads="1"/>
          </p:cNvSpPr>
          <p:nvPr/>
        </p:nvSpPr>
        <p:spPr bwMode="auto">
          <a:xfrm>
            <a:off x="4048125" y="6391275"/>
            <a:ext cx="1019175" cy="369888"/>
          </a:xfrm>
          <a:prstGeom prst="rect">
            <a:avLst/>
          </a:prstGeom>
          <a:noFill/>
          <a:ln w="9525">
            <a:noFill/>
            <a:miter lim="800000"/>
            <a:headEnd/>
            <a:tailEnd/>
          </a:ln>
        </p:spPr>
        <p:txBody>
          <a:bodyPr wrap="none">
            <a:spAutoFit/>
          </a:bodyPr>
          <a:lstStyle/>
          <a:p>
            <a:pPr algn="ctr"/>
            <a:r>
              <a:rPr lang="en-US"/>
              <a:t>Balance</a:t>
            </a:r>
          </a:p>
        </p:txBody>
      </p:sp>
      <p:sp>
        <p:nvSpPr>
          <p:cNvPr id="17412" name="Line 5"/>
          <p:cNvSpPr>
            <a:spLocks noChangeShapeType="1"/>
          </p:cNvSpPr>
          <p:nvPr/>
        </p:nvSpPr>
        <p:spPr bwMode="auto">
          <a:xfrm>
            <a:off x="4570413" y="6165850"/>
            <a:ext cx="0" cy="209550"/>
          </a:xfrm>
          <a:prstGeom prst="line">
            <a:avLst/>
          </a:prstGeom>
          <a:noFill/>
          <a:ln w="76200">
            <a:solidFill>
              <a:srgbClr val="663300"/>
            </a:solidFill>
            <a:round/>
            <a:headEnd/>
            <a:tailEnd/>
          </a:ln>
        </p:spPr>
        <p:txBody>
          <a:bodyPr wrap="none" anchor="ctr"/>
          <a:lstStyle/>
          <a:p>
            <a:endParaRPr lang="en-US"/>
          </a:p>
        </p:txBody>
      </p:sp>
      <p:sp>
        <p:nvSpPr>
          <p:cNvPr id="17413" name="Rectangle 6"/>
          <p:cNvSpPr>
            <a:spLocks noGrp="1" noChangeArrowheads="1"/>
          </p:cNvSpPr>
          <p:nvPr>
            <p:ph type="title"/>
          </p:nvPr>
        </p:nvSpPr>
        <p:spPr>
          <a:xfrm>
            <a:off x="858838" y="69850"/>
            <a:ext cx="7421562" cy="579438"/>
          </a:xfrm>
        </p:spPr>
        <p:txBody>
          <a:bodyPr/>
          <a:lstStyle/>
          <a:p>
            <a:pPr eaLnBrk="1" hangingPunct="1"/>
            <a:r>
              <a:rPr lang="en-US" sz="3200" b="1" smtClean="0"/>
              <a:t>BALANCING A DAIRY RATION</a:t>
            </a:r>
          </a:p>
        </p:txBody>
      </p:sp>
      <p:pic>
        <p:nvPicPr>
          <p:cNvPr id="17414" name="Picture 7" descr="C:\1-Michel's\cow.pic"/>
          <p:cNvPicPr>
            <a:picLocks noChangeAspect="1" noChangeArrowheads="1"/>
          </p:cNvPicPr>
          <p:nvPr/>
        </p:nvPicPr>
        <p:blipFill>
          <a:blip r:embed="rId2"/>
          <a:srcRect/>
          <a:stretch>
            <a:fillRect/>
          </a:stretch>
        </p:blipFill>
        <p:spPr bwMode="auto">
          <a:xfrm>
            <a:off x="231775" y="1195388"/>
            <a:ext cx="2757488" cy="1798637"/>
          </a:xfrm>
          <a:prstGeom prst="rect">
            <a:avLst/>
          </a:prstGeom>
          <a:noFill/>
          <a:ln w="76200">
            <a:solidFill>
              <a:srgbClr val="996633"/>
            </a:solidFill>
            <a:miter lim="800000"/>
            <a:headEnd/>
            <a:tailEnd/>
          </a:ln>
        </p:spPr>
      </p:pic>
      <p:sp>
        <p:nvSpPr>
          <p:cNvPr id="17415" name="Freeform 12"/>
          <p:cNvSpPr>
            <a:spLocks/>
          </p:cNvSpPr>
          <p:nvPr/>
        </p:nvSpPr>
        <p:spPr bwMode="auto">
          <a:xfrm>
            <a:off x="3332163" y="1195388"/>
            <a:ext cx="2478087" cy="1879600"/>
          </a:xfrm>
          <a:custGeom>
            <a:avLst/>
            <a:gdLst>
              <a:gd name="T0" fmla="*/ 2147483647 w 1209"/>
              <a:gd name="T1" fmla="*/ 2147483647 h 1085"/>
              <a:gd name="T2" fmla="*/ 2147483647 w 1209"/>
              <a:gd name="T3" fmla="*/ 0 h 1085"/>
              <a:gd name="T4" fmla="*/ 0 w 1209"/>
              <a:gd name="T5" fmla="*/ 0 h 1085"/>
              <a:gd name="T6" fmla="*/ 0 w 1209"/>
              <a:gd name="T7" fmla="*/ 2147483647 h 1085"/>
              <a:gd name="T8" fmla="*/ 2147483647 w 1209"/>
              <a:gd name="T9" fmla="*/ 2147483647 h 1085"/>
              <a:gd name="T10" fmla="*/ 0 60000 65536"/>
              <a:gd name="T11" fmla="*/ 0 60000 65536"/>
              <a:gd name="T12" fmla="*/ 0 60000 65536"/>
              <a:gd name="T13" fmla="*/ 0 60000 65536"/>
              <a:gd name="T14" fmla="*/ 0 60000 65536"/>
              <a:gd name="T15" fmla="*/ 0 w 1209"/>
              <a:gd name="T16" fmla="*/ 0 h 1085"/>
              <a:gd name="T17" fmla="*/ 1209 w 1209"/>
              <a:gd name="T18" fmla="*/ 1085 h 1085"/>
            </a:gdLst>
            <a:ahLst/>
            <a:cxnLst>
              <a:cxn ang="T10">
                <a:pos x="T0" y="T1"/>
              </a:cxn>
              <a:cxn ang="T11">
                <a:pos x="T2" y="T3"/>
              </a:cxn>
              <a:cxn ang="T12">
                <a:pos x="T4" y="T5"/>
              </a:cxn>
              <a:cxn ang="T13">
                <a:pos x="T6" y="T7"/>
              </a:cxn>
              <a:cxn ang="T14">
                <a:pos x="T8" y="T9"/>
              </a:cxn>
            </a:cxnLst>
            <a:rect l="T15" t="T16" r="T17" b="T18"/>
            <a:pathLst>
              <a:path w="1209" h="1085">
                <a:moveTo>
                  <a:pt x="1208" y="1084"/>
                </a:moveTo>
                <a:lnTo>
                  <a:pt x="1208" y="0"/>
                </a:lnTo>
                <a:lnTo>
                  <a:pt x="0" y="0"/>
                </a:lnTo>
                <a:lnTo>
                  <a:pt x="0" y="1084"/>
                </a:lnTo>
                <a:lnTo>
                  <a:pt x="1208" y="1084"/>
                </a:lnTo>
              </a:path>
            </a:pathLst>
          </a:custGeom>
          <a:noFill/>
          <a:ln w="25400" cap="rnd" cmpd="sng">
            <a:solidFill>
              <a:srgbClr val="FFFFFF"/>
            </a:solidFill>
            <a:prstDash val="solid"/>
            <a:round/>
            <a:headEnd type="none" w="med" len="med"/>
            <a:tailEnd type="none" w="med" len="med"/>
          </a:ln>
        </p:spPr>
        <p:txBody>
          <a:bodyPr/>
          <a:lstStyle/>
          <a:p>
            <a:endParaRPr lang="en-US"/>
          </a:p>
        </p:txBody>
      </p:sp>
      <p:sp>
        <p:nvSpPr>
          <p:cNvPr id="17416" name="Rectangle 13"/>
          <p:cNvSpPr>
            <a:spLocks noChangeArrowheads="1"/>
          </p:cNvSpPr>
          <p:nvPr/>
        </p:nvSpPr>
        <p:spPr bwMode="auto">
          <a:xfrm>
            <a:off x="4013200" y="2659063"/>
            <a:ext cx="1063625" cy="366712"/>
          </a:xfrm>
          <a:prstGeom prst="rect">
            <a:avLst/>
          </a:prstGeom>
          <a:noFill/>
          <a:ln w="9525">
            <a:noFill/>
            <a:miter lim="800000"/>
            <a:headEnd/>
            <a:tailEnd/>
          </a:ln>
        </p:spPr>
        <p:txBody>
          <a:bodyPr wrap="none" lIns="90488" tIns="44450" rIns="90488" bIns="44450">
            <a:spAutoFit/>
          </a:bodyPr>
          <a:lstStyle/>
          <a:p>
            <a:r>
              <a:rPr lang="en-US"/>
              <a:t>Vitamins</a:t>
            </a:r>
          </a:p>
        </p:txBody>
      </p:sp>
      <p:sp>
        <p:nvSpPr>
          <p:cNvPr id="17417" name="Rectangle 14"/>
          <p:cNvSpPr>
            <a:spLocks noChangeArrowheads="1"/>
          </p:cNvSpPr>
          <p:nvPr/>
        </p:nvSpPr>
        <p:spPr bwMode="auto">
          <a:xfrm>
            <a:off x="3598863" y="1938338"/>
            <a:ext cx="1771650" cy="366712"/>
          </a:xfrm>
          <a:prstGeom prst="rect">
            <a:avLst/>
          </a:prstGeom>
          <a:noFill/>
          <a:ln w="9525">
            <a:noFill/>
            <a:miter lim="800000"/>
            <a:headEnd/>
            <a:tailEnd/>
          </a:ln>
        </p:spPr>
        <p:txBody>
          <a:bodyPr wrap="none" lIns="90488" tIns="44450" rIns="90488" bIns="44450">
            <a:spAutoFit/>
          </a:bodyPr>
          <a:lstStyle/>
          <a:p>
            <a:r>
              <a:rPr lang="en-US"/>
              <a:t>Macro-minerals</a:t>
            </a:r>
          </a:p>
        </p:txBody>
      </p:sp>
      <p:sp>
        <p:nvSpPr>
          <p:cNvPr id="17418" name="Text Box 15"/>
          <p:cNvSpPr txBox="1">
            <a:spLocks noChangeArrowheads="1"/>
          </p:cNvSpPr>
          <p:nvPr/>
        </p:nvSpPr>
        <p:spPr bwMode="auto">
          <a:xfrm>
            <a:off x="3944938" y="646113"/>
            <a:ext cx="1108075" cy="369887"/>
          </a:xfrm>
          <a:prstGeom prst="rect">
            <a:avLst/>
          </a:prstGeom>
          <a:noFill/>
          <a:ln w="9525">
            <a:noFill/>
            <a:miter lim="800000"/>
            <a:headEnd/>
            <a:tailEnd/>
          </a:ln>
        </p:spPr>
        <p:txBody>
          <a:bodyPr wrap="none">
            <a:spAutoFit/>
          </a:bodyPr>
          <a:lstStyle/>
          <a:p>
            <a:r>
              <a:rPr lang="en-US"/>
              <a:t>Nutrients</a:t>
            </a:r>
          </a:p>
        </p:txBody>
      </p:sp>
      <p:sp>
        <p:nvSpPr>
          <p:cNvPr id="17419" name="Rectangle 16"/>
          <p:cNvSpPr>
            <a:spLocks noChangeArrowheads="1"/>
          </p:cNvSpPr>
          <p:nvPr/>
        </p:nvSpPr>
        <p:spPr bwMode="auto">
          <a:xfrm>
            <a:off x="3643313" y="2298700"/>
            <a:ext cx="1695450" cy="366713"/>
          </a:xfrm>
          <a:prstGeom prst="rect">
            <a:avLst/>
          </a:prstGeom>
          <a:noFill/>
          <a:ln w="9525">
            <a:noFill/>
            <a:miter lim="800000"/>
            <a:headEnd/>
            <a:tailEnd/>
          </a:ln>
        </p:spPr>
        <p:txBody>
          <a:bodyPr wrap="none" lIns="90488" tIns="44450" rIns="90488" bIns="44450">
            <a:spAutoFit/>
          </a:bodyPr>
          <a:lstStyle/>
          <a:p>
            <a:r>
              <a:rPr lang="en-US"/>
              <a:t>Micro-minerals</a:t>
            </a:r>
          </a:p>
        </p:txBody>
      </p:sp>
      <p:sp>
        <p:nvSpPr>
          <p:cNvPr id="17420" name="Rectangle 20">
            <a:hlinkClick r:id="rId3" action="ppaction://hlinksldjump"/>
          </p:cNvPr>
          <p:cNvSpPr>
            <a:spLocks noChangeArrowheads="1"/>
          </p:cNvSpPr>
          <p:nvPr/>
        </p:nvSpPr>
        <p:spPr bwMode="auto">
          <a:xfrm>
            <a:off x="6407150" y="1265238"/>
            <a:ext cx="2146300" cy="366712"/>
          </a:xfrm>
          <a:prstGeom prst="rect">
            <a:avLst/>
          </a:prstGeom>
          <a:noFill/>
          <a:ln w="9525">
            <a:noFill/>
            <a:miter lim="800000"/>
            <a:headEnd/>
            <a:tailEnd/>
          </a:ln>
        </p:spPr>
        <p:txBody>
          <a:bodyPr lIns="90488" tIns="44450" rIns="90488" bIns="44450">
            <a:spAutoFit/>
          </a:bodyPr>
          <a:lstStyle/>
          <a:p>
            <a:r>
              <a:rPr lang="en-US" b="1">
                <a:solidFill>
                  <a:schemeClr val="tx2"/>
                </a:solidFill>
              </a:rPr>
              <a:t>1-Composition</a:t>
            </a:r>
          </a:p>
        </p:txBody>
      </p:sp>
      <p:sp>
        <p:nvSpPr>
          <p:cNvPr id="17421" name="Rectangle 21"/>
          <p:cNvSpPr>
            <a:spLocks noChangeArrowheads="1"/>
          </p:cNvSpPr>
          <p:nvPr/>
        </p:nvSpPr>
        <p:spPr bwMode="auto">
          <a:xfrm>
            <a:off x="3749675" y="1217613"/>
            <a:ext cx="1516063" cy="366712"/>
          </a:xfrm>
          <a:prstGeom prst="rect">
            <a:avLst/>
          </a:prstGeom>
          <a:noFill/>
          <a:ln w="9525">
            <a:noFill/>
            <a:miter lim="800000"/>
            <a:headEnd/>
            <a:tailEnd/>
          </a:ln>
        </p:spPr>
        <p:txBody>
          <a:bodyPr wrap="none" lIns="90488" tIns="44450" rIns="90488" bIns="44450">
            <a:spAutoFit/>
          </a:bodyPr>
          <a:lstStyle/>
          <a:p>
            <a:r>
              <a:rPr lang="en-US"/>
              <a:t>Energy-Fiber</a:t>
            </a:r>
          </a:p>
        </p:txBody>
      </p:sp>
      <p:sp>
        <p:nvSpPr>
          <p:cNvPr id="17422" name="Rectangle 22"/>
          <p:cNvSpPr>
            <a:spLocks noChangeArrowheads="1"/>
          </p:cNvSpPr>
          <p:nvPr/>
        </p:nvSpPr>
        <p:spPr bwMode="auto">
          <a:xfrm>
            <a:off x="4103688" y="1577975"/>
            <a:ext cx="912812" cy="366713"/>
          </a:xfrm>
          <a:prstGeom prst="rect">
            <a:avLst/>
          </a:prstGeom>
          <a:noFill/>
          <a:ln w="9525">
            <a:noFill/>
            <a:miter lim="800000"/>
            <a:headEnd/>
            <a:tailEnd/>
          </a:ln>
        </p:spPr>
        <p:txBody>
          <a:bodyPr wrap="none" lIns="90488" tIns="44450" rIns="90488" bIns="44450">
            <a:spAutoFit/>
          </a:bodyPr>
          <a:lstStyle/>
          <a:p>
            <a:r>
              <a:rPr lang="en-US"/>
              <a:t>Protein</a:t>
            </a:r>
          </a:p>
        </p:txBody>
      </p:sp>
      <p:sp>
        <p:nvSpPr>
          <p:cNvPr id="17423" name="Text Box 23"/>
          <p:cNvSpPr txBox="1">
            <a:spLocks noChangeArrowheads="1"/>
          </p:cNvSpPr>
          <p:nvPr/>
        </p:nvSpPr>
        <p:spPr bwMode="auto">
          <a:xfrm>
            <a:off x="1192213" y="4760913"/>
            <a:ext cx="1120775" cy="369887"/>
          </a:xfrm>
          <a:prstGeom prst="rect">
            <a:avLst/>
          </a:prstGeom>
          <a:noFill/>
          <a:ln w="9525">
            <a:noFill/>
            <a:miter lim="800000"/>
            <a:headEnd/>
            <a:tailEnd/>
          </a:ln>
        </p:spPr>
        <p:txBody>
          <a:bodyPr wrap="none">
            <a:spAutoFit/>
          </a:bodyPr>
          <a:lstStyle/>
          <a:p>
            <a:pPr algn="ctr"/>
            <a:r>
              <a:rPr lang="en-US"/>
              <a:t>Required</a:t>
            </a:r>
          </a:p>
        </p:txBody>
      </p:sp>
      <p:sp>
        <p:nvSpPr>
          <p:cNvPr id="17424" name="Text Box 24"/>
          <p:cNvSpPr txBox="1">
            <a:spLocks noChangeArrowheads="1"/>
          </p:cNvSpPr>
          <p:nvPr/>
        </p:nvSpPr>
        <p:spPr bwMode="auto">
          <a:xfrm>
            <a:off x="7364413" y="4760913"/>
            <a:ext cx="890587" cy="369887"/>
          </a:xfrm>
          <a:prstGeom prst="rect">
            <a:avLst/>
          </a:prstGeom>
          <a:noFill/>
          <a:ln w="9525">
            <a:noFill/>
            <a:miter lim="800000"/>
            <a:headEnd/>
            <a:tailEnd/>
          </a:ln>
        </p:spPr>
        <p:txBody>
          <a:bodyPr wrap="none">
            <a:spAutoFit/>
          </a:bodyPr>
          <a:lstStyle/>
          <a:p>
            <a:pPr algn="ctr"/>
            <a:r>
              <a:rPr lang="en-US"/>
              <a:t>Supply</a:t>
            </a:r>
          </a:p>
        </p:txBody>
      </p:sp>
      <p:sp>
        <p:nvSpPr>
          <p:cNvPr id="17425" name="Freeform 25"/>
          <p:cNvSpPr>
            <a:spLocks/>
          </p:cNvSpPr>
          <p:nvPr/>
        </p:nvSpPr>
        <p:spPr bwMode="auto">
          <a:xfrm>
            <a:off x="6391275" y="1195388"/>
            <a:ext cx="2476500" cy="1878012"/>
          </a:xfrm>
          <a:custGeom>
            <a:avLst/>
            <a:gdLst>
              <a:gd name="T0" fmla="*/ 2147483647 w 1755"/>
              <a:gd name="T1" fmla="*/ 2147483647 h 1183"/>
              <a:gd name="T2" fmla="*/ 2147483647 w 1755"/>
              <a:gd name="T3" fmla="*/ 0 h 1183"/>
              <a:gd name="T4" fmla="*/ 0 w 1755"/>
              <a:gd name="T5" fmla="*/ 0 h 1183"/>
              <a:gd name="T6" fmla="*/ 0 w 1755"/>
              <a:gd name="T7" fmla="*/ 2147483647 h 1183"/>
              <a:gd name="T8" fmla="*/ 2147483647 w 1755"/>
              <a:gd name="T9" fmla="*/ 2147483647 h 1183"/>
              <a:gd name="T10" fmla="*/ 2147483647 w 1755"/>
              <a:gd name="T11" fmla="*/ 2147483647 h 1183"/>
              <a:gd name="T12" fmla="*/ 0 60000 65536"/>
              <a:gd name="T13" fmla="*/ 0 60000 65536"/>
              <a:gd name="T14" fmla="*/ 0 60000 65536"/>
              <a:gd name="T15" fmla="*/ 0 60000 65536"/>
              <a:gd name="T16" fmla="*/ 0 60000 65536"/>
              <a:gd name="T17" fmla="*/ 0 60000 65536"/>
              <a:gd name="T18" fmla="*/ 0 w 1755"/>
              <a:gd name="T19" fmla="*/ 0 h 1183"/>
              <a:gd name="T20" fmla="*/ 1755 w 1755"/>
              <a:gd name="T21" fmla="*/ 1183 h 1183"/>
            </a:gdLst>
            <a:ahLst/>
            <a:cxnLst>
              <a:cxn ang="T12">
                <a:pos x="T0" y="T1"/>
              </a:cxn>
              <a:cxn ang="T13">
                <a:pos x="T2" y="T3"/>
              </a:cxn>
              <a:cxn ang="T14">
                <a:pos x="T4" y="T5"/>
              </a:cxn>
              <a:cxn ang="T15">
                <a:pos x="T6" y="T7"/>
              </a:cxn>
              <a:cxn ang="T16">
                <a:pos x="T8" y="T9"/>
              </a:cxn>
              <a:cxn ang="T17">
                <a:pos x="T10" y="T11"/>
              </a:cxn>
            </a:cxnLst>
            <a:rect l="T18" t="T19" r="T20" b="T21"/>
            <a:pathLst>
              <a:path w="1755" h="1183">
                <a:moveTo>
                  <a:pt x="1755" y="1183"/>
                </a:moveTo>
                <a:lnTo>
                  <a:pt x="1755" y="0"/>
                </a:lnTo>
                <a:lnTo>
                  <a:pt x="0" y="0"/>
                </a:lnTo>
                <a:lnTo>
                  <a:pt x="0" y="1183"/>
                </a:lnTo>
                <a:lnTo>
                  <a:pt x="845" y="1183"/>
                </a:lnTo>
                <a:lnTo>
                  <a:pt x="1755" y="1183"/>
                </a:lnTo>
              </a:path>
            </a:pathLst>
          </a:custGeom>
          <a:noFill/>
          <a:ln w="25400" cap="rnd" cmpd="sng">
            <a:solidFill>
              <a:srgbClr val="FFFFFF"/>
            </a:solidFill>
            <a:prstDash val="solid"/>
            <a:round/>
            <a:headEnd type="none" w="med" len="med"/>
            <a:tailEnd type="none" w="med" len="med"/>
          </a:ln>
        </p:spPr>
        <p:txBody>
          <a:bodyPr/>
          <a:lstStyle/>
          <a:p>
            <a:endParaRPr lang="en-US"/>
          </a:p>
        </p:txBody>
      </p:sp>
      <p:sp>
        <p:nvSpPr>
          <p:cNvPr id="17426" name="Rectangle 26"/>
          <p:cNvSpPr>
            <a:spLocks noChangeArrowheads="1"/>
          </p:cNvSpPr>
          <p:nvPr/>
        </p:nvSpPr>
        <p:spPr bwMode="auto">
          <a:xfrm>
            <a:off x="5988050" y="3565525"/>
            <a:ext cx="1450975" cy="560388"/>
          </a:xfrm>
          <a:prstGeom prst="rect">
            <a:avLst/>
          </a:prstGeom>
          <a:noFill/>
          <a:ln w="9525">
            <a:noFill/>
            <a:miter lim="800000"/>
            <a:headEnd/>
            <a:tailEnd/>
          </a:ln>
        </p:spPr>
        <p:txBody>
          <a:bodyPr lIns="90488" tIns="44450" rIns="90488" bIns="44450">
            <a:spAutoFit/>
          </a:bodyPr>
          <a:lstStyle/>
          <a:p>
            <a:pPr algn="ctr">
              <a:lnSpc>
                <a:spcPct val="85000"/>
              </a:lnSpc>
            </a:pPr>
            <a:r>
              <a:rPr lang="en-US"/>
              <a:t>Proportion Mixed </a:t>
            </a:r>
          </a:p>
        </p:txBody>
      </p:sp>
      <p:sp>
        <p:nvSpPr>
          <p:cNvPr id="17427" name="Rectangle 27"/>
          <p:cNvSpPr>
            <a:spLocks noChangeArrowheads="1"/>
          </p:cNvSpPr>
          <p:nvPr/>
        </p:nvSpPr>
        <p:spPr bwMode="auto">
          <a:xfrm>
            <a:off x="7470775" y="3565525"/>
            <a:ext cx="1239838" cy="560388"/>
          </a:xfrm>
          <a:prstGeom prst="rect">
            <a:avLst/>
          </a:prstGeom>
          <a:noFill/>
          <a:ln w="9525">
            <a:noFill/>
            <a:miter lim="800000"/>
            <a:headEnd/>
            <a:tailEnd/>
          </a:ln>
        </p:spPr>
        <p:txBody>
          <a:bodyPr lIns="90488" tIns="44450" rIns="90488" bIns="44450">
            <a:spAutoFit/>
          </a:bodyPr>
          <a:lstStyle/>
          <a:p>
            <a:pPr algn="ctr">
              <a:lnSpc>
                <a:spcPct val="85000"/>
              </a:lnSpc>
            </a:pPr>
            <a:r>
              <a:rPr lang="en-US"/>
              <a:t>Amount Offered</a:t>
            </a:r>
          </a:p>
        </p:txBody>
      </p:sp>
      <p:sp>
        <p:nvSpPr>
          <p:cNvPr id="17428" name="Rectangle 28"/>
          <p:cNvSpPr>
            <a:spLocks noChangeArrowheads="1"/>
          </p:cNvSpPr>
          <p:nvPr/>
        </p:nvSpPr>
        <p:spPr bwMode="auto">
          <a:xfrm>
            <a:off x="1824038" y="3565525"/>
            <a:ext cx="1489075" cy="795338"/>
          </a:xfrm>
          <a:prstGeom prst="rect">
            <a:avLst/>
          </a:prstGeom>
          <a:noFill/>
          <a:ln w="9525">
            <a:noFill/>
            <a:miter lim="800000"/>
            <a:headEnd/>
            <a:tailEnd/>
          </a:ln>
        </p:spPr>
        <p:txBody>
          <a:bodyPr lIns="90488" tIns="44450" rIns="90488" bIns="44450">
            <a:spAutoFit/>
          </a:bodyPr>
          <a:lstStyle/>
          <a:p>
            <a:pPr algn="ctr">
              <a:lnSpc>
                <a:spcPct val="85000"/>
              </a:lnSpc>
            </a:pPr>
            <a:r>
              <a:rPr lang="en-US">
                <a:solidFill>
                  <a:schemeClr val="tx2"/>
                </a:solidFill>
              </a:rPr>
              <a:t>Stage &amp;</a:t>
            </a:r>
          </a:p>
          <a:p>
            <a:pPr algn="ctr">
              <a:lnSpc>
                <a:spcPct val="85000"/>
              </a:lnSpc>
            </a:pPr>
            <a:r>
              <a:rPr lang="en-US">
                <a:solidFill>
                  <a:schemeClr val="tx2"/>
                </a:solidFill>
              </a:rPr>
              <a:t>Level of Production</a:t>
            </a:r>
          </a:p>
        </p:txBody>
      </p:sp>
      <p:sp>
        <p:nvSpPr>
          <p:cNvPr id="17429" name="Rectangle 29"/>
          <p:cNvSpPr>
            <a:spLocks noChangeArrowheads="1"/>
          </p:cNvSpPr>
          <p:nvPr/>
        </p:nvSpPr>
        <p:spPr bwMode="auto">
          <a:xfrm>
            <a:off x="123825" y="3565525"/>
            <a:ext cx="1612900" cy="795338"/>
          </a:xfrm>
          <a:prstGeom prst="rect">
            <a:avLst/>
          </a:prstGeom>
          <a:noFill/>
          <a:ln w="9525">
            <a:noFill/>
            <a:miter lim="800000"/>
            <a:headEnd/>
            <a:tailEnd/>
          </a:ln>
        </p:spPr>
        <p:txBody>
          <a:bodyPr lIns="90488" tIns="44450" rIns="90488" bIns="44450">
            <a:spAutoFit/>
          </a:bodyPr>
          <a:lstStyle/>
          <a:p>
            <a:pPr algn="ctr">
              <a:lnSpc>
                <a:spcPct val="85000"/>
              </a:lnSpc>
            </a:pPr>
            <a:r>
              <a:rPr lang="en-US">
                <a:solidFill>
                  <a:schemeClr val="tx2"/>
                </a:solidFill>
              </a:rPr>
              <a:t>Dry Matter Intake (appetite) </a:t>
            </a:r>
          </a:p>
        </p:txBody>
      </p:sp>
      <p:sp>
        <p:nvSpPr>
          <p:cNvPr id="17430" name="Rectangle 30"/>
          <p:cNvSpPr>
            <a:spLocks noChangeArrowheads="1"/>
          </p:cNvSpPr>
          <p:nvPr/>
        </p:nvSpPr>
        <p:spPr bwMode="auto">
          <a:xfrm>
            <a:off x="184150" y="646113"/>
            <a:ext cx="644525" cy="366712"/>
          </a:xfrm>
          <a:prstGeom prst="rect">
            <a:avLst/>
          </a:prstGeom>
          <a:noFill/>
          <a:ln w="9525">
            <a:noFill/>
            <a:miter lim="800000"/>
            <a:headEnd/>
            <a:tailEnd/>
          </a:ln>
        </p:spPr>
        <p:txBody>
          <a:bodyPr wrap="none" lIns="90488" tIns="44450" rIns="90488" bIns="44450">
            <a:spAutoFit/>
          </a:bodyPr>
          <a:lstStyle/>
          <a:p>
            <a:pPr algn="ctr"/>
            <a:r>
              <a:rPr lang="en-US"/>
              <a:t>Cow</a:t>
            </a:r>
          </a:p>
        </p:txBody>
      </p:sp>
      <p:sp>
        <p:nvSpPr>
          <p:cNvPr id="17431" name="Rectangle 31">
            <a:hlinkClick r:id="rId4" action="ppaction://hlinksldjump"/>
          </p:cNvPr>
          <p:cNvSpPr>
            <a:spLocks noChangeArrowheads="1"/>
          </p:cNvSpPr>
          <p:nvPr/>
        </p:nvSpPr>
        <p:spPr bwMode="auto">
          <a:xfrm>
            <a:off x="8097838" y="646113"/>
            <a:ext cx="927100" cy="366712"/>
          </a:xfrm>
          <a:prstGeom prst="rect">
            <a:avLst/>
          </a:prstGeom>
          <a:noFill/>
          <a:ln w="9525">
            <a:noFill/>
            <a:miter lim="800000"/>
            <a:headEnd/>
            <a:tailEnd/>
          </a:ln>
        </p:spPr>
        <p:txBody>
          <a:bodyPr wrap="none" lIns="90488" tIns="44450" rIns="90488" bIns="44450">
            <a:spAutoFit/>
          </a:bodyPr>
          <a:lstStyle/>
          <a:p>
            <a:r>
              <a:rPr lang="en-US" b="1">
                <a:solidFill>
                  <a:schemeClr val="tx2"/>
                </a:solidFill>
              </a:rPr>
              <a:t>2-Feed</a:t>
            </a:r>
          </a:p>
        </p:txBody>
      </p:sp>
      <p:grpSp>
        <p:nvGrpSpPr>
          <p:cNvPr id="17432" name="Group 32"/>
          <p:cNvGrpSpPr>
            <a:grpSpLocks/>
          </p:cNvGrpSpPr>
          <p:nvPr/>
        </p:nvGrpSpPr>
        <p:grpSpPr bwMode="auto">
          <a:xfrm>
            <a:off x="5540375" y="4570413"/>
            <a:ext cx="1349375" cy="1330325"/>
            <a:chOff x="3273" y="2462"/>
            <a:chExt cx="1087" cy="953"/>
          </a:xfrm>
        </p:grpSpPr>
        <p:grpSp>
          <p:nvGrpSpPr>
            <p:cNvPr id="17694" name="Group 33"/>
            <p:cNvGrpSpPr>
              <a:grpSpLocks/>
            </p:cNvGrpSpPr>
            <p:nvPr/>
          </p:nvGrpSpPr>
          <p:grpSpPr bwMode="auto">
            <a:xfrm>
              <a:off x="3416" y="2745"/>
              <a:ext cx="921" cy="354"/>
              <a:chOff x="1521" y="2626"/>
              <a:chExt cx="653" cy="251"/>
            </a:xfrm>
          </p:grpSpPr>
          <p:sp>
            <p:nvSpPr>
              <p:cNvPr id="17896" name="Freeform 34"/>
              <p:cNvSpPr>
                <a:spLocks/>
              </p:cNvSpPr>
              <p:nvPr/>
            </p:nvSpPr>
            <p:spPr bwMode="auto">
              <a:xfrm>
                <a:off x="1581" y="2666"/>
                <a:ext cx="57" cy="96"/>
              </a:xfrm>
              <a:custGeom>
                <a:avLst/>
                <a:gdLst>
                  <a:gd name="T0" fmla="*/ 0 w 57"/>
                  <a:gd name="T1" fmla="*/ 0 h 96"/>
                  <a:gd name="T2" fmla="*/ 6 w 57"/>
                  <a:gd name="T3" fmla="*/ 0 h 96"/>
                  <a:gd name="T4" fmla="*/ 8 w 57"/>
                  <a:gd name="T5" fmla="*/ 5 h 96"/>
                  <a:gd name="T6" fmla="*/ 14 w 57"/>
                  <a:gd name="T7" fmla="*/ 8 h 96"/>
                  <a:gd name="T8" fmla="*/ 17 w 57"/>
                  <a:gd name="T9" fmla="*/ 13 h 96"/>
                  <a:gd name="T10" fmla="*/ 20 w 57"/>
                  <a:gd name="T11" fmla="*/ 18 h 96"/>
                  <a:gd name="T12" fmla="*/ 28 w 57"/>
                  <a:gd name="T13" fmla="*/ 40 h 96"/>
                  <a:gd name="T14" fmla="*/ 28 w 57"/>
                  <a:gd name="T15" fmla="*/ 50 h 96"/>
                  <a:gd name="T16" fmla="*/ 34 w 57"/>
                  <a:gd name="T17" fmla="*/ 60 h 96"/>
                  <a:gd name="T18" fmla="*/ 34 w 57"/>
                  <a:gd name="T19" fmla="*/ 70 h 96"/>
                  <a:gd name="T20" fmla="*/ 34 w 57"/>
                  <a:gd name="T21" fmla="*/ 80 h 96"/>
                  <a:gd name="T22" fmla="*/ 45 w 57"/>
                  <a:gd name="T23" fmla="*/ 80 h 96"/>
                  <a:gd name="T24" fmla="*/ 45 w 57"/>
                  <a:gd name="T25" fmla="*/ 85 h 96"/>
                  <a:gd name="T26" fmla="*/ 48 w 57"/>
                  <a:gd name="T27" fmla="*/ 90 h 96"/>
                  <a:gd name="T28" fmla="*/ 50 w 57"/>
                  <a:gd name="T29" fmla="*/ 95 h 96"/>
                  <a:gd name="T30" fmla="*/ 56 w 57"/>
                  <a:gd name="T31" fmla="*/ 93 h 9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7"/>
                  <a:gd name="T49" fmla="*/ 0 h 96"/>
                  <a:gd name="T50" fmla="*/ 57 w 57"/>
                  <a:gd name="T51" fmla="*/ 96 h 9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7" h="96">
                    <a:moveTo>
                      <a:pt x="0" y="0"/>
                    </a:moveTo>
                    <a:lnTo>
                      <a:pt x="6" y="0"/>
                    </a:lnTo>
                    <a:lnTo>
                      <a:pt x="8" y="5"/>
                    </a:lnTo>
                    <a:lnTo>
                      <a:pt x="14" y="8"/>
                    </a:lnTo>
                    <a:lnTo>
                      <a:pt x="17" y="13"/>
                    </a:lnTo>
                    <a:lnTo>
                      <a:pt x="20" y="18"/>
                    </a:lnTo>
                    <a:lnTo>
                      <a:pt x="28" y="40"/>
                    </a:lnTo>
                    <a:lnTo>
                      <a:pt x="28" y="50"/>
                    </a:lnTo>
                    <a:lnTo>
                      <a:pt x="34" y="60"/>
                    </a:lnTo>
                    <a:lnTo>
                      <a:pt x="34" y="70"/>
                    </a:lnTo>
                    <a:lnTo>
                      <a:pt x="34" y="80"/>
                    </a:lnTo>
                    <a:lnTo>
                      <a:pt x="45" y="80"/>
                    </a:lnTo>
                    <a:lnTo>
                      <a:pt x="45" y="85"/>
                    </a:lnTo>
                    <a:lnTo>
                      <a:pt x="48" y="90"/>
                    </a:lnTo>
                    <a:lnTo>
                      <a:pt x="50" y="95"/>
                    </a:lnTo>
                    <a:lnTo>
                      <a:pt x="56" y="93"/>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897" name="Freeform 35"/>
              <p:cNvSpPr>
                <a:spLocks/>
              </p:cNvSpPr>
              <p:nvPr/>
            </p:nvSpPr>
            <p:spPr bwMode="auto">
              <a:xfrm>
                <a:off x="1561" y="2649"/>
                <a:ext cx="161" cy="68"/>
              </a:xfrm>
              <a:custGeom>
                <a:avLst/>
                <a:gdLst>
                  <a:gd name="T0" fmla="*/ 0 w 161"/>
                  <a:gd name="T1" fmla="*/ 67 h 68"/>
                  <a:gd name="T2" fmla="*/ 39 w 161"/>
                  <a:gd name="T3" fmla="*/ 57 h 68"/>
                  <a:gd name="T4" fmla="*/ 45 w 161"/>
                  <a:gd name="T5" fmla="*/ 57 h 68"/>
                  <a:gd name="T6" fmla="*/ 51 w 161"/>
                  <a:gd name="T7" fmla="*/ 60 h 68"/>
                  <a:gd name="T8" fmla="*/ 56 w 161"/>
                  <a:gd name="T9" fmla="*/ 60 h 68"/>
                  <a:gd name="T10" fmla="*/ 62 w 161"/>
                  <a:gd name="T11" fmla="*/ 60 h 68"/>
                  <a:gd name="T12" fmla="*/ 67 w 161"/>
                  <a:gd name="T13" fmla="*/ 60 h 68"/>
                  <a:gd name="T14" fmla="*/ 81 w 161"/>
                  <a:gd name="T15" fmla="*/ 55 h 68"/>
                  <a:gd name="T16" fmla="*/ 87 w 161"/>
                  <a:gd name="T17" fmla="*/ 52 h 68"/>
                  <a:gd name="T18" fmla="*/ 121 w 161"/>
                  <a:gd name="T19" fmla="*/ 32 h 68"/>
                  <a:gd name="T20" fmla="*/ 138 w 161"/>
                  <a:gd name="T21" fmla="*/ 17 h 68"/>
                  <a:gd name="T22" fmla="*/ 138 w 161"/>
                  <a:gd name="T23" fmla="*/ 12 h 68"/>
                  <a:gd name="T24" fmla="*/ 143 w 161"/>
                  <a:gd name="T25" fmla="*/ 12 h 68"/>
                  <a:gd name="T26" fmla="*/ 149 w 161"/>
                  <a:gd name="T27" fmla="*/ 7 h 68"/>
                  <a:gd name="T28" fmla="*/ 154 w 161"/>
                  <a:gd name="T29" fmla="*/ 2 h 68"/>
                  <a:gd name="T30" fmla="*/ 160 w 161"/>
                  <a:gd name="T31" fmla="*/ 0 h 6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61"/>
                  <a:gd name="T49" fmla="*/ 0 h 68"/>
                  <a:gd name="T50" fmla="*/ 161 w 161"/>
                  <a:gd name="T51" fmla="*/ 68 h 6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61" h="68">
                    <a:moveTo>
                      <a:pt x="0" y="67"/>
                    </a:moveTo>
                    <a:lnTo>
                      <a:pt x="39" y="57"/>
                    </a:lnTo>
                    <a:lnTo>
                      <a:pt x="45" y="57"/>
                    </a:lnTo>
                    <a:lnTo>
                      <a:pt x="51" y="60"/>
                    </a:lnTo>
                    <a:lnTo>
                      <a:pt x="56" y="60"/>
                    </a:lnTo>
                    <a:lnTo>
                      <a:pt x="62" y="60"/>
                    </a:lnTo>
                    <a:lnTo>
                      <a:pt x="67" y="60"/>
                    </a:lnTo>
                    <a:lnTo>
                      <a:pt x="81" y="55"/>
                    </a:lnTo>
                    <a:lnTo>
                      <a:pt x="87" y="52"/>
                    </a:lnTo>
                    <a:lnTo>
                      <a:pt x="121" y="32"/>
                    </a:lnTo>
                    <a:lnTo>
                      <a:pt x="138" y="17"/>
                    </a:lnTo>
                    <a:lnTo>
                      <a:pt x="138" y="12"/>
                    </a:lnTo>
                    <a:lnTo>
                      <a:pt x="143" y="12"/>
                    </a:lnTo>
                    <a:lnTo>
                      <a:pt x="149" y="7"/>
                    </a:lnTo>
                    <a:lnTo>
                      <a:pt x="154" y="2"/>
                    </a:lnTo>
                    <a:lnTo>
                      <a:pt x="160"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898" name="Freeform 36"/>
              <p:cNvSpPr>
                <a:spLocks/>
              </p:cNvSpPr>
              <p:nvPr/>
            </p:nvSpPr>
            <p:spPr bwMode="auto">
              <a:xfrm>
                <a:off x="1530" y="2759"/>
                <a:ext cx="80" cy="73"/>
              </a:xfrm>
              <a:custGeom>
                <a:avLst/>
                <a:gdLst>
                  <a:gd name="T0" fmla="*/ 0 w 80"/>
                  <a:gd name="T1" fmla="*/ 0 h 73"/>
                  <a:gd name="T2" fmla="*/ 20 w 80"/>
                  <a:gd name="T3" fmla="*/ 10 h 73"/>
                  <a:gd name="T4" fmla="*/ 20 w 80"/>
                  <a:gd name="T5" fmla="*/ 15 h 73"/>
                  <a:gd name="T6" fmla="*/ 23 w 80"/>
                  <a:gd name="T7" fmla="*/ 20 h 73"/>
                  <a:gd name="T8" fmla="*/ 23 w 80"/>
                  <a:gd name="T9" fmla="*/ 25 h 73"/>
                  <a:gd name="T10" fmla="*/ 28 w 80"/>
                  <a:gd name="T11" fmla="*/ 30 h 73"/>
                  <a:gd name="T12" fmla="*/ 34 w 80"/>
                  <a:gd name="T13" fmla="*/ 32 h 73"/>
                  <a:gd name="T14" fmla="*/ 40 w 80"/>
                  <a:gd name="T15" fmla="*/ 35 h 73"/>
                  <a:gd name="T16" fmla="*/ 45 w 80"/>
                  <a:gd name="T17" fmla="*/ 37 h 73"/>
                  <a:gd name="T18" fmla="*/ 51 w 80"/>
                  <a:gd name="T19" fmla="*/ 40 h 73"/>
                  <a:gd name="T20" fmla="*/ 54 w 80"/>
                  <a:gd name="T21" fmla="*/ 45 h 73"/>
                  <a:gd name="T22" fmla="*/ 59 w 80"/>
                  <a:gd name="T23" fmla="*/ 50 h 73"/>
                  <a:gd name="T24" fmla="*/ 62 w 80"/>
                  <a:gd name="T25" fmla="*/ 55 h 73"/>
                  <a:gd name="T26" fmla="*/ 65 w 80"/>
                  <a:gd name="T27" fmla="*/ 60 h 73"/>
                  <a:gd name="T28" fmla="*/ 71 w 80"/>
                  <a:gd name="T29" fmla="*/ 65 h 73"/>
                  <a:gd name="T30" fmla="*/ 76 w 80"/>
                  <a:gd name="T31" fmla="*/ 67 h 73"/>
                  <a:gd name="T32" fmla="*/ 79 w 80"/>
                  <a:gd name="T33" fmla="*/ 72 h 7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0"/>
                  <a:gd name="T52" fmla="*/ 0 h 73"/>
                  <a:gd name="T53" fmla="*/ 80 w 80"/>
                  <a:gd name="T54" fmla="*/ 73 h 7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0" h="73">
                    <a:moveTo>
                      <a:pt x="0" y="0"/>
                    </a:moveTo>
                    <a:lnTo>
                      <a:pt x="20" y="10"/>
                    </a:lnTo>
                    <a:lnTo>
                      <a:pt x="20" y="15"/>
                    </a:lnTo>
                    <a:lnTo>
                      <a:pt x="23" y="20"/>
                    </a:lnTo>
                    <a:lnTo>
                      <a:pt x="23" y="25"/>
                    </a:lnTo>
                    <a:lnTo>
                      <a:pt x="28" y="30"/>
                    </a:lnTo>
                    <a:lnTo>
                      <a:pt x="34" y="32"/>
                    </a:lnTo>
                    <a:lnTo>
                      <a:pt x="40" y="35"/>
                    </a:lnTo>
                    <a:lnTo>
                      <a:pt x="45" y="37"/>
                    </a:lnTo>
                    <a:lnTo>
                      <a:pt x="51" y="40"/>
                    </a:lnTo>
                    <a:lnTo>
                      <a:pt x="54" y="45"/>
                    </a:lnTo>
                    <a:lnTo>
                      <a:pt x="59" y="50"/>
                    </a:lnTo>
                    <a:lnTo>
                      <a:pt x="62" y="55"/>
                    </a:lnTo>
                    <a:lnTo>
                      <a:pt x="65" y="60"/>
                    </a:lnTo>
                    <a:lnTo>
                      <a:pt x="71" y="65"/>
                    </a:lnTo>
                    <a:lnTo>
                      <a:pt x="76" y="67"/>
                    </a:lnTo>
                    <a:lnTo>
                      <a:pt x="79" y="72"/>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899" name="Freeform 37"/>
              <p:cNvSpPr>
                <a:spLocks/>
              </p:cNvSpPr>
              <p:nvPr/>
            </p:nvSpPr>
            <p:spPr bwMode="auto">
              <a:xfrm>
                <a:off x="1521" y="2789"/>
                <a:ext cx="145" cy="33"/>
              </a:xfrm>
              <a:custGeom>
                <a:avLst/>
                <a:gdLst>
                  <a:gd name="T0" fmla="*/ 0 w 145"/>
                  <a:gd name="T1" fmla="*/ 32 h 33"/>
                  <a:gd name="T2" fmla="*/ 11 w 145"/>
                  <a:gd name="T3" fmla="*/ 27 h 33"/>
                  <a:gd name="T4" fmla="*/ 14 w 145"/>
                  <a:gd name="T5" fmla="*/ 22 h 33"/>
                  <a:gd name="T6" fmla="*/ 20 w 145"/>
                  <a:gd name="T7" fmla="*/ 17 h 33"/>
                  <a:gd name="T8" fmla="*/ 25 w 145"/>
                  <a:gd name="T9" fmla="*/ 15 h 33"/>
                  <a:gd name="T10" fmla="*/ 31 w 145"/>
                  <a:gd name="T11" fmla="*/ 12 h 33"/>
                  <a:gd name="T12" fmla="*/ 37 w 145"/>
                  <a:gd name="T13" fmla="*/ 12 h 33"/>
                  <a:gd name="T14" fmla="*/ 48 w 145"/>
                  <a:gd name="T15" fmla="*/ 12 h 33"/>
                  <a:gd name="T16" fmla="*/ 76 w 145"/>
                  <a:gd name="T17" fmla="*/ 12 h 33"/>
                  <a:gd name="T18" fmla="*/ 88 w 145"/>
                  <a:gd name="T19" fmla="*/ 12 h 33"/>
                  <a:gd name="T20" fmla="*/ 99 w 145"/>
                  <a:gd name="T21" fmla="*/ 12 h 33"/>
                  <a:gd name="T22" fmla="*/ 110 w 145"/>
                  <a:gd name="T23" fmla="*/ 2 h 33"/>
                  <a:gd name="T24" fmla="*/ 121 w 145"/>
                  <a:gd name="T25" fmla="*/ 2 h 33"/>
                  <a:gd name="T26" fmla="*/ 133 w 145"/>
                  <a:gd name="T27" fmla="*/ 2 h 33"/>
                  <a:gd name="T28" fmla="*/ 138 w 145"/>
                  <a:gd name="T29" fmla="*/ 2 h 33"/>
                  <a:gd name="T30" fmla="*/ 144 w 145"/>
                  <a:gd name="T31" fmla="*/ 0 h 3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45"/>
                  <a:gd name="T49" fmla="*/ 0 h 33"/>
                  <a:gd name="T50" fmla="*/ 145 w 145"/>
                  <a:gd name="T51" fmla="*/ 33 h 3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45" h="33">
                    <a:moveTo>
                      <a:pt x="0" y="32"/>
                    </a:moveTo>
                    <a:lnTo>
                      <a:pt x="11" y="27"/>
                    </a:lnTo>
                    <a:lnTo>
                      <a:pt x="14" y="22"/>
                    </a:lnTo>
                    <a:lnTo>
                      <a:pt x="20" y="17"/>
                    </a:lnTo>
                    <a:lnTo>
                      <a:pt x="25" y="15"/>
                    </a:lnTo>
                    <a:lnTo>
                      <a:pt x="31" y="12"/>
                    </a:lnTo>
                    <a:lnTo>
                      <a:pt x="37" y="12"/>
                    </a:lnTo>
                    <a:lnTo>
                      <a:pt x="48" y="12"/>
                    </a:lnTo>
                    <a:lnTo>
                      <a:pt x="76" y="12"/>
                    </a:lnTo>
                    <a:lnTo>
                      <a:pt x="88" y="12"/>
                    </a:lnTo>
                    <a:lnTo>
                      <a:pt x="99" y="12"/>
                    </a:lnTo>
                    <a:lnTo>
                      <a:pt x="110" y="2"/>
                    </a:lnTo>
                    <a:lnTo>
                      <a:pt x="121" y="2"/>
                    </a:lnTo>
                    <a:lnTo>
                      <a:pt x="133" y="2"/>
                    </a:lnTo>
                    <a:lnTo>
                      <a:pt x="138" y="2"/>
                    </a:lnTo>
                    <a:lnTo>
                      <a:pt x="144"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900" name="Freeform 38"/>
              <p:cNvSpPr>
                <a:spLocks/>
              </p:cNvSpPr>
              <p:nvPr/>
            </p:nvSpPr>
            <p:spPr bwMode="auto">
              <a:xfrm>
                <a:off x="1547" y="2734"/>
                <a:ext cx="85" cy="53"/>
              </a:xfrm>
              <a:custGeom>
                <a:avLst/>
                <a:gdLst>
                  <a:gd name="T0" fmla="*/ 0 w 85"/>
                  <a:gd name="T1" fmla="*/ 0 h 53"/>
                  <a:gd name="T2" fmla="*/ 22 w 85"/>
                  <a:gd name="T3" fmla="*/ 10 h 53"/>
                  <a:gd name="T4" fmla="*/ 25 w 85"/>
                  <a:gd name="T5" fmla="*/ 15 h 53"/>
                  <a:gd name="T6" fmla="*/ 28 w 85"/>
                  <a:gd name="T7" fmla="*/ 20 h 53"/>
                  <a:gd name="T8" fmla="*/ 34 w 85"/>
                  <a:gd name="T9" fmla="*/ 25 h 53"/>
                  <a:gd name="T10" fmla="*/ 36 w 85"/>
                  <a:gd name="T11" fmla="*/ 30 h 53"/>
                  <a:gd name="T12" fmla="*/ 42 w 85"/>
                  <a:gd name="T13" fmla="*/ 32 h 53"/>
                  <a:gd name="T14" fmla="*/ 45 w 85"/>
                  <a:gd name="T15" fmla="*/ 37 h 53"/>
                  <a:gd name="T16" fmla="*/ 50 w 85"/>
                  <a:gd name="T17" fmla="*/ 40 h 53"/>
                  <a:gd name="T18" fmla="*/ 56 w 85"/>
                  <a:gd name="T19" fmla="*/ 40 h 53"/>
                  <a:gd name="T20" fmla="*/ 62 w 85"/>
                  <a:gd name="T21" fmla="*/ 42 h 53"/>
                  <a:gd name="T22" fmla="*/ 67 w 85"/>
                  <a:gd name="T23" fmla="*/ 45 h 53"/>
                  <a:gd name="T24" fmla="*/ 73 w 85"/>
                  <a:gd name="T25" fmla="*/ 50 h 53"/>
                  <a:gd name="T26" fmla="*/ 78 w 85"/>
                  <a:gd name="T27" fmla="*/ 52 h 53"/>
                  <a:gd name="T28" fmla="*/ 84 w 85"/>
                  <a:gd name="T29" fmla="*/ 52 h 5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5"/>
                  <a:gd name="T46" fmla="*/ 0 h 53"/>
                  <a:gd name="T47" fmla="*/ 85 w 85"/>
                  <a:gd name="T48" fmla="*/ 53 h 5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5" h="53">
                    <a:moveTo>
                      <a:pt x="0" y="0"/>
                    </a:moveTo>
                    <a:lnTo>
                      <a:pt x="22" y="10"/>
                    </a:lnTo>
                    <a:lnTo>
                      <a:pt x="25" y="15"/>
                    </a:lnTo>
                    <a:lnTo>
                      <a:pt x="28" y="20"/>
                    </a:lnTo>
                    <a:lnTo>
                      <a:pt x="34" y="25"/>
                    </a:lnTo>
                    <a:lnTo>
                      <a:pt x="36" y="30"/>
                    </a:lnTo>
                    <a:lnTo>
                      <a:pt x="42" y="32"/>
                    </a:lnTo>
                    <a:lnTo>
                      <a:pt x="45" y="37"/>
                    </a:lnTo>
                    <a:lnTo>
                      <a:pt x="50" y="40"/>
                    </a:lnTo>
                    <a:lnTo>
                      <a:pt x="56" y="40"/>
                    </a:lnTo>
                    <a:lnTo>
                      <a:pt x="62" y="42"/>
                    </a:lnTo>
                    <a:lnTo>
                      <a:pt x="67" y="45"/>
                    </a:lnTo>
                    <a:lnTo>
                      <a:pt x="73" y="50"/>
                    </a:lnTo>
                    <a:lnTo>
                      <a:pt x="78" y="52"/>
                    </a:lnTo>
                    <a:lnTo>
                      <a:pt x="84" y="52"/>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901" name="Freeform 39"/>
              <p:cNvSpPr>
                <a:spLocks/>
              </p:cNvSpPr>
              <p:nvPr/>
            </p:nvSpPr>
            <p:spPr bwMode="auto">
              <a:xfrm>
                <a:off x="1577" y="2636"/>
                <a:ext cx="100" cy="81"/>
              </a:xfrm>
              <a:custGeom>
                <a:avLst/>
                <a:gdLst>
                  <a:gd name="T0" fmla="*/ 0 w 100"/>
                  <a:gd name="T1" fmla="*/ 0 h 81"/>
                  <a:gd name="T2" fmla="*/ 6 w 100"/>
                  <a:gd name="T3" fmla="*/ 0 h 81"/>
                  <a:gd name="T4" fmla="*/ 17 w 100"/>
                  <a:gd name="T5" fmla="*/ 0 h 81"/>
                  <a:gd name="T6" fmla="*/ 31 w 100"/>
                  <a:gd name="T7" fmla="*/ 3 h 81"/>
                  <a:gd name="T8" fmla="*/ 42 w 100"/>
                  <a:gd name="T9" fmla="*/ 8 h 81"/>
                  <a:gd name="T10" fmla="*/ 54 w 100"/>
                  <a:gd name="T11" fmla="*/ 8 h 81"/>
                  <a:gd name="T12" fmla="*/ 65 w 100"/>
                  <a:gd name="T13" fmla="*/ 8 h 81"/>
                  <a:gd name="T14" fmla="*/ 68 w 100"/>
                  <a:gd name="T15" fmla="*/ 13 h 81"/>
                  <a:gd name="T16" fmla="*/ 65 w 100"/>
                  <a:gd name="T17" fmla="*/ 18 h 81"/>
                  <a:gd name="T18" fmla="*/ 65 w 100"/>
                  <a:gd name="T19" fmla="*/ 23 h 81"/>
                  <a:gd name="T20" fmla="*/ 65 w 100"/>
                  <a:gd name="T21" fmla="*/ 28 h 81"/>
                  <a:gd name="T22" fmla="*/ 65 w 100"/>
                  <a:gd name="T23" fmla="*/ 33 h 81"/>
                  <a:gd name="T24" fmla="*/ 65 w 100"/>
                  <a:gd name="T25" fmla="*/ 38 h 81"/>
                  <a:gd name="T26" fmla="*/ 68 w 100"/>
                  <a:gd name="T27" fmla="*/ 43 h 81"/>
                  <a:gd name="T28" fmla="*/ 68 w 100"/>
                  <a:gd name="T29" fmla="*/ 48 h 81"/>
                  <a:gd name="T30" fmla="*/ 74 w 100"/>
                  <a:gd name="T31" fmla="*/ 53 h 81"/>
                  <a:gd name="T32" fmla="*/ 76 w 100"/>
                  <a:gd name="T33" fmla="*/ 58 h 81"/>
                  <a:gd name="T34" fmla="*/ 79 w 100"/>
                  <a:gd name="T35" fmla="*/ 63 h 81"/>
                  <a:gd name="T36" fmla="*/ 85 w 100"/>
                  <a:gd name="T37" fmla="*/ 68 h 81"/>
                  <a:gd name="T38" fmla="*/ 88 w 100"/>
                  <a:gd name="T39" fmla="*/ 73 h 81"/>
                  <a:gd name="T40" fmla="*/ 93 w 100"/>
                  <a:gd name="T41" fmla="*/ 75 h 81"/>
                  <a:gd name="T42" fmla="*/ 99 w 100"/>
                  <a:gd name="T43" fmla="*/ 80 h 8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0"/>
                  <a:gd name="T67" fmla="*/ 0 h 81"/>
                  <a:gd name="T68" fmla="*/ 100 w 100"/>
                  <a:gd name="T69" fmla="*/ 81 h 8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0" h="81">
                    <a:moveTo>
                      <a:pt x="0" y="0"/>
                    </a:moveTo>
                    <a:lnTo>
                      <a:pt x="6" y="0"/>
                    </a:lnTo>
                    <a:lnTo>
                      <a:pt x="17" y="0"/>
                    </a:lnTo>
                    <a:lnTo>
                      <a:pt x="31" y="3"/>
                    </a:lnTo>
                    <a:lnTo>
                      <a:pt x="42" y="8"/>
                    </a:lnTo>
                    <a:lnTo>
                      <a:pt x="54" y="8"/>
                    </a:lnTo>
                    <a:lnTo>
                      <a:pt x="65" y="8"/>
                    </a:lnTo>
                    <a:lnTo>
                      <a:pt x="68" y="13"/>
                    </a:lnTo>
                    <a:lnTo>
                      <a:pt x="65" y="18"/>
                    </a:lnTo>
                    <a:lnTo>
                      <a:pt x="65" y="23"/>
                    </a:lnTo>
                    <a:lnTo>
                      <a:pt x="65" y="28"/>
                    </a:lnTo>
                    <a:lnTo>
                      <a:pt x="65" y="33"/>
                    </a:lnTo>
                    <a:lnTo>
                      <a:pt x="65" y="38"/>
                    </a:lnTo>
                    <a:lnTo>
                      <a:pt x="68" y="43"/>
                    </a:lnTo>
                    <a:lnTo>
                      <a:pt x="68" y="48"/>
                    </a:lnTo>
                    <a:lnTo>
                      <a:pt x="74" y="53"/>
                    </a:lnTo>
                    <a:lnTo>
                      <a:pt x="76" y="58"/>
                    </a:lnTo>
                    <a:lnTo>
                      <a:pt x="79" y="63"/>
                    </a:lnTo>
                    <a:lnTo>
                      <a:pt x="85" y="68"/>
                    </a:lnTo>
                    <a:lnTo>
                      <a:pt x="88" y="73"/>
                    </a:lnTo>
                    <a:lnTo>
                      <a:pt x="93" y="75"/>
                    </a:lnTo>
                    <a:lnTo>
                      <a:pt x="99" y="8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902" name="Freeform 40"/>
              <p:cNvSpPr>
                <a:spLocks/>
              </p:cNvSpPr>
              <p:nvPr/>
            </p:nvSpPr>
            <p:spPr bwMode="auto">
              <a:xfrm>
                <a:off x="1561" y="2676"/>
                <a:ext cx="113" cy="69"/>
              </a:xfrm>
              <a:custGeom>
                <a:avLst/>
                <a:gdLst>
                  <a:gd name="T0" fmla="*/ 0 w 113"/>
                  <a:gd name="T1" fmla="*/ 0 h 69"/>
                  <a:gd name="T2" fmla="*/ 6 w 113"/>
                  <a:gd name="T3" fmla="*/ 0 h 69"/>
                  <a:gd name="T4" fmla="*/ 11 w 113"/>
                  <a:gd name="T5" fmla="*/ 3 h 69"/>
                  <a:gd name="T6" fmla="*/ 17 w 113"/>
                  <a:gd name="T7" fmla="*/ 3 h 69"/>
                  <a:gd name="T8" fmla="*/ 22 w 113"/>
                  <a:gd name="T9" fmla="*/ 5 h 69"/>
                  <a:gd name="T10" fmla="*/ 28 w 113"/>
                  <a:gd name="T11" fmla="*/ 8 h 69"/>
                  <a:gd name="T12" fmla="*/ 34 w 113"/>
                  <a:gd name="T13" fmla="*/ 13 h 69"/>
                  <a:gd name="T14" fmla="*/ 39 w 113"/>
                  <a:gd name="T15" fmla="*/ 18 h 69"/>
                  <a:gd name="T16" fmla="*/ 45 w 113"/>
                  <a:gd name="T17" fmla="*/ 23 h 69"/>
                  <a:gd name="T18" fmla="*/ 48 w 113"/>
                  <a:gd name="T19" fmla="*/ 28 h 69"/>
                  <a:gd name="T20" fmla="*/ 56 w 113"/>
                  <a:gd name="T21" fmla="*/ 38 h 69"/>
                  <a:gd name="T22" fmla="*/ 67 w 113"/>
                  <a:gd name="T23" fmla="*/ 38 h 69"/>
                  <a:gd name="T24" fmla="*/ 73 w 113"/>
                  <a:gd name="T25" fmla="*/ 48 h 69"/>
                  <a:gd name="T26" fmla="*/ 84 w 113"/>
                  <a:gd name="T27" fmla="*/ 58 h 69"/>
                  <a:gd name="T28" fmla="*/ 95 w 113"/>
                  <a:gd name="T29" fmla="*/ 58 h 69"/>
                  <a:gd name="T30" fmla="*/ 95 w 113"/>
                  <a:gd name="T31" fmla="*/ 68 h 69"/>
                  <a:gd name="T32" fmla="*/ 101 w 113"/>
                  <a:gd name="T33" fmla="*/ 68 h 69"/>
                  <a:gd name="T34" fmla="*/ 106 w 113"/>
                  <a:gd name="T35" fmla="*/ 68 h 69"/>
                  <a:gd name="T36" fmla="*/ 112 w 113"/>
                  <a:gd name="T37" fmla="*/ 68 h 6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3"/>
                  <a:gd name="T58" fmla="*/ 0 h 69"/>
                  <a:gd name="T59" fmla="*/ 113 w 113"/>
                  <a:gd name="T60" fmla="*/ 69 h 6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3" h="69">
                    <a:moveTo>
                      <a:pt x="0" y="0"/>
                    </a:moveTo>
                    <a:lnTo>
                      <a:pt x="6" y="0"/>
                    </a:lnTo>
                    <a:lnTo>
                      <a:pt x="11" y="3"/>
                    </a:lnTo>
                    <a:lnTo>
                      <a:pt x="17" y="3"/>
                    </a:lnTo>
                    <a:lnTo>
                      <a:pt x="22" y="5"/>
                    </a:lnTo>
                    <a:lnTo>
                      <a:pt x="28" y="8"/>
                    </a:lnTo>
                    <a:lnTo>
                      <a:pt x="34" y="13"/>
                    </a:lnTo>
                    <a:lnTo>
                      <a:pt x="39" y="18"/>
                    </a:lnTo>
                    <a:lnTo>
                      <a:pt x="45" y="23"/>
                    </a:lnTo>
                    <a:lnTo>
                      <a:pt x="48" y="28"/>
                    </a:lnTo>
                    <a:lnTo>
                      <a:pt x="56" y="38"/>
                    </a:lnTo>
                    <a:lnTo>
                      <a:pt x="67" y="38"/>
                    </a:lnTo>
                    <a:lnTo>
                      <a:pt x="73" y="48"/>
                    </a:lnTo>
                    <a:lnTo>
                      <a:pt x="84" y="58"/>
                    </a:lnTo>
                    <a:lnTo>
                      <a:pt x="95" y="58"/>
                    </a:lnTo>
                    <a:lnTo>
                      <a:pt x="95" y="68"/>
                    </a:lnTo>
                    <a:lnTo>
                      <a:pt x="101" y="68"/>
                    </a:lnTo>
                    <a:lnTo>
                      <a:pt x="106" y="68"/>
                    </a:lnTo>
                    <a:lnTo>
                      <a:pt x="112" y="68"/>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903" name="Freeform 41"/>
              <p:cNvSpPr>
                <a:spLocks/>
              </p:cNvSpPr>
              <p:nvPr/>
            </p:nvSpPr>
            <p:spPr bwMode="auto">
              <a:xfrm>
                <a:off x="1639" y="2784"/>
                <a:ext cx="61" cy="48"/>
              </a:xfrm>
              <a:custGeom>
                <a:avLst/>
                <a:gdLst>
                  <a:gd name="T0" fmla="*/ 0 w 61"/>
                  <a:gd name="T1" fmla="*/ 47 h 48"/>
                  <a:gd name="T2" fmla="*/ 17 w 61"/>
                  <a:gd name="T3" fmla="*/ 25 h 48"/>
                  <a:gd name="T4" fmla="*/ 23 w 61"/>
                  <a:gd name="T5" fmla="*/ 22 h 48"/>
                  <a:gd name="T6" fmla="*/ 29 w 61"/>
                  <a:gd name="T7" fmla="*/ 20 h 48"/>
                  <a:gd name="T8" fmla="*/ 34 w 61"/>
                  <a:gd name="T9" fmla="*/ 17 h 48"/>
                  <a:gd name="T10" fmla="*/ 40 w 61"/>
                  <a:gd name="T11" fmla="*/ 17 h 48"/>
                  <a:gd name="T12" fmla="*/ 46 w 61"/>
                  <a:gd name="T13" fmla="*/ 17 h 48"/>
                  <a:gd name="T14" fmla="*/ 51 w 61"/>
                  <a:gd name="T15" fmla="*/ 17 h 48"/>
                  <a:gd name="T16" fmla="*/ 57 w 61"/>
                  <a:gd name="T17" fmla="*/ 15 h 48"/>
                  <a:gd name="T18" fmla="*/ 57 w 61"/>
                  <a:gd name="T19" fmla="*/ 10 h 48"/>
                  <a:gd name="T20" fmla="*/ 60 w 61"/>
                  <a:gd name="T21" fmla="*/ 5 h 48"/>
                  <a:gd name="T22" fmla="*/ 60 w 61"/>
                  <a:gd name="T23" fmla="*/ 0 h 4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1"/>
                  <a:gd name="T37" fmla="*/ 0 h 48"/>
                  <a:gd name="T38" fmla="*/ 61 w 61"/>
                  <a:gd name="T39" fmla="*/ 48 h 4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1" h="48">
                    <a:moveTo>
                      <a:pt x="0" y="47"/>
                    </a:moveTo>
                    <a:lnTo>
                      <a:pt x="17" y="25"/>
                    </a:lnTo>
                    <a:lnTo>
                      <a:pt x="23" y="22"/>
                    </a:lnTo>
                    <a:lnTo>
                      <a:pt x="29" y="20"/>
                    </a:lnTo>
                    <a:lnTo>
                      <a:pt x="34" y="17"/>
                    </a:lnTo>
                    <a:lnTo>
                      <a:pt x="40" y="17"/>
                    </a:lnTo>
                    <a:lnTo>
                      <a:pt x="46" y="17"/>
                    </a:lnTo>
                    <a:lnTo>
                      <a:pt x="51" y="17"/>
                    </a:lnTo>
                    <a:lnTo>
                      <a:pt x="57" y="15"/>
                    </a:lnTo>
                    <a:lnTo>
                      <a:pt x="57" y="10"/>
                    </a:lnTo>
                    <a:lnTo>
                      <a:pt x="60" y="5"/>
                    </a:lnTo>
                    <a:lnTo>
                      <a:pt x="60"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904" name="Freeform 42"/>
              <p:cNvSpPr>
                <a:spLocks/>
              </p:cNvSpPr>
              <p:nvPr/>
            </p:nvSpPr>
            <p:spPr bwMode="auto">
              <a:xfrm>
                <a:off x="1676" y="2764"/>
                <a:ext cx="60" cy="76"/>
              </a:xfrm>
              <a:custGeom>
                <a:avLst/>
                <a:gdLst>
                  <a:gd name="T0" fmla="*/ 0 w 60"/>
                  <a:gd name="T1" fmla="*/ 0 h 76"/>
                  <a:gd name="T2" fmla="*/ 6 w 60"/>
                  <a:gd name="T3" fmla="*/ 0 h 76"/>
                  <a:gd name="T4" fmla="*/ 11 w 60"/>
                  <a:gd name="T5" fmla="*/ 5 h 76"/>
                  <a:gd name="T6" fmla="*/ 11 w 60"/>
                  <a:gd name="T7" fmla="*/ 10 h 76"/>
                  <a:gd name="T8" fmla="*/ 14 w 60"/>
                  <a:gd name="T9" fmla="*/ 15 h 76"/>
                  <a:gd name="T10" fmla="*/ 14 w 60"/>
                  <a:gd name="T11" fmla="*/ 20 h 76"/>
                  <a:gd name="T12" fmla="*/ 17 w 60"/>
                  <a:gd name="T13" fmla="*/ 25 h 76"/>
                  <a:gd name="T14" fmla="*/ 20 w 60"/>
                  <a:gd name="T15" fmla="*/ 30 h 76"/>
                  <a:gd name="T16" fmla="*/ 25 w 60"/>
                  <a:gd name="T17" fmla="*/ 35 h 76"/>
                  <a:gd name="T18" fmla="*/ 31 w 60"/>
                  <a:gd name="T19" fmla="*/ 40 h 76"/>
                  <a:gd name="T20" fmla="*/ 31 w 60"/>
                  <a:gd name="T21" fmla="*/ 45 h 76"/>
                  <a:gd name="T22" fmla="*/ 37 w 60"/>
                  <a:gd name="T23" fmla="*/ 48 h 76"/>
                  <a:gd name="T24" fmla="*/ 37 w 60"/>
                  <a:gd name="T25" fmla="*/ 53 h 76"/>
                  <a:gd name="T26" fmla="*/ 39 w 60"/>
                  <a:gd name="T27" fmla="*/ 58 h 76"/>
                  <a:gd name="T28" fmla="*/ 42 w 60"/>
                  <a:gd name="T29" fmla="*/ 65 h 76"/>
                  <a:gd name="T30" fmla="*/ 48 w 60"/>
                  <a:gd name="T31" fmla="*/ 70 h 76"/>
                  <a:gd name="T32" fmla="*/ 53 w 60"/>
                  <a:gd name="T33" fmla="*/ 73 h 76"/>
                  <a:gd name="T34" fmla="*/ 59 w 60"/>
                  <a:gd name="T35" fmla="*/ 75 h 7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0"/>
                  <a:gd name="T55" fmla="*/ 0 h 76"/>
                  <a:gd name="T56" fmla="*/ 60 w 60"/>
                  <a:gd name="T57" fmla="*/ 76 h 7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0" h="76">
                    <a:moveTo>
                      <a:pt x="0" y="0"/>
                    </a:moveTo>
                    <a:lnTo>
                      <a:pt x="6" y="0"/>
                    </a:lnTo>
                    <a:lnTo>
                      <a:pt x="11" y="5"/>
                    </a:lnTo>
                    <a:lnTo>
                      <a:pt x="11" y="10"/>
                    </a:lnTo>
                    <a:lnTo>
                      <a:pt x="14" y="15"/>
                    </a:lnTo>
                    <a:lnTo>
                      <a:pt x="14" y="20"/>
                    </a:lnTo>
                    <a:lnTo>
                      <a:pt x="17" y="25"/>
                    </a:lnTo>
                    <a:lnTo>
                      <a:pt x="20" y="30"/>
                    </a:lnTo>
                    <a:lnTo>
                      <a:pt x="25" y="35"/>
                    </a:lnTo>
                    <a:lnTo>
                      <a:pt x="31" y="40"/>
                    </a:lnTo>
                    <a:lnTo>
                      <a:pt x="31" y="45"/>
                    </a:lnTo>
                    <a:lnTo>
                      <a:pt x="37" y="48"/>
                    </a:lnTo>
                    <a:lnTo>
                      <a:pt x="37" y="53"/>
                    </a:lnTo>
                    <a:lnTo>
                      <a:pt x="39" y="58"/>
                    </a:lnTo>
                    <a:lnTo>
                      <a:pt x="42" y="65"/>
                    </a:lnTo>
                    <a:lnTo>
                      <a:pt x="48" y="70"/>
                    </a:lnTo>
                    <a:lnTo>
                      <a:pt x="53" y="73"/>
                    </a:lnTo>
                    <a:lnTo>
                      <a:pt x="59" y="75"/>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905" name="Freeform 43"/>
              <p:cNvSpPr>
                <a:spLocks/>
              </p:cNvSpPr>
              <p:nvPr/>
            </p:nvSpPr>
            <p:spPr bwMode="auto">
              <a:xfrm>
                <a:off x="1649" y="2804"/>
                <a:ext cx="107" cy="48"/>
              </a:xfrm>
              <a:custGeom>
                <a:avLst/>
                <a:gdLst>
                  <a:gd name="T0" fmla="*/ 0 w 107"/>
                  <a:gd name="T1" fmla="*/ 47 h 48"/>
                  <a:gd name="T2" fmla="*/ 42 w 107"/>
                  <a:gd name="T3" fmla="*/ 32 h 48"/>
                  <a:gd name="T4" fmla="*/ 47 w 107"/>
                  <a:gd name="T5" fmla="*/ 32 h 48"/>
                  <a:gd name="T6" fmla="*/ 53 w 107"/>
                  <a:gd name="T7" fmla="*/ 32 h 48"/>
                  <a:gd name="T8" fmla="*/ 59 w 107"/>
                  <a:gd name="T9" fmla="*/ 32 h 48"/>
                  <a:gd name="T10" fmla="*/ 64 w 107"/>
                  <a:gd name="T11" fmla="*/ 30 h 48"/>
                  <a:gd name="T12" fmla="*/ 67 w 107"/>
                  <a:gd name="T13" fmla="*/ 25 h 48"/>
                  <a:gd name="T14" fmla="*/ 70 w 107"/>
                  <a:gd name="T15" fmla="*/ 20 h 48"/>
                  <a:gd name="T16" fmla="*/ 75 w 107"/>
                  <a:gd name="T17" fmla="*/ 17 h 48"/>
                  <a:gd name="T18" fmla="*/ 81 w 107"/>
                  <a:gd name="T19" fmla="*/ 15 h 48"/>
                  <a:gd name="T20" fmla="*/ 86 w 107"/>
                  <a:gd name="T21" fmla="*/ 10 h 48"/>
                  <a:gd name="T22" fmla="*/ 92 w 107"/>
                  <a:gd name="T23" fmla="*/ 10 h 48"/>
                  <a:gd name="T24" fmla="*/ 98 w 107"/>
                  <a:gd name="T25" fmla="*/ 7 h 48"/>
                  <a:gd name="T26" fmla="*/ 100 w 107"/>
                  <a:gd name="T27" fmla="*/ 2 h 48"/>
                  <a:gd name="T28" fmla="*/ 106 w 107"/>
                  <a:gd name="T29" fmla="*/ 0 h 4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7"/>
                  <a:gd name="T46" fmla="*/ 0 h 48"/>
                  <a:gd name="T47" fmla="*/ 107 w 107"/>
                  <a:gd name="T48" fmla="*/ 48 h 4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7" h="48">
                    <a:moveTo>
                      <a:pt x="0" y="47"/>
                    </a:moveTo>
                    <a:lnTo>
                      <a:pt x="42" y="32"/>
                    </a:lnTo>
                    <a:lnTo>
                      <a:pt x="47" y="32"/>
                    </a:lnTo>
                    <a:lnTo>
                      <a:pt x="53" y="32"/>
                    </a:lnTo>
                    <a:lnTo>
                      <a:pt x="59" y="32"/>
                    </a:lnTo>
                    <a:lnTo>
                      <a:pt x="64" y="30"/>
                    </a:lnTo>
                    <a:lnTo>
                      <a:pt x="67" y="25"/>
                    </a:lnTo>
                    <a:lnTo>
                      <a:pt x="70" y="20"/>
                    </a:lnTo>
                    <a:lnTo>
                      <a:pt x="75" y="17"/>
                    </a:lnTo>
                    <a:lnTo>
                      <a:pt x="81" y="15"/>
                    </a:lnTo>
                    <a:lnTo>
                      <a:pt x="86" y="10"/>
                    </a:lnTo>
                    <a:lnTo>
                      <a:pt x="92" y="10"/>
                    </a:lnTo>
                    <a:lnTo>
                      <a:pt x="98" y="7"/>
                    </a:lnTo>
                    <a:lnTo>
                      <a:pt x="100" y="2"/>
                    </a:lnTo>
                    <a:lnTo>
                      <a:pt x="106"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906" name="Freeform 44"/>
              <p:cNvSpPr>
                <a:spLocks/>
              </p:cNvSpPr>
              <p:nvPr/>
            </p:nvSpPr>
            <p:spPr bwMode="auto">
              <a:xfrm>
                <a:off x="1705" y="2749"/>
                <a:ext cx="82" cy="91"/>
              </a:xfrm>
              <a:custGeom>
                <a:avLst/>
                <a:gdLst>
                  <a:gd name="T0" fmla="*/ 0 w 82"/>
                  <a:gd name="T1" fmla="*/ 0 h 91"/>
                  <a:gd name="T2" fmla="*/ 8 w 82"/>
                  <a:gd name="T3" fmla="*/ 3 h 91"/>
                  <a:gd name="T4" fmla="*/ 14 w 82"/>
                  <a:gd name="T5" fmla="*/ 3 h 91"/>
                  <a:gd name="T6" fmla="*/ 20 w 82"/>
                  <a:gd name="T7" fmla="*/ 3 h 91"/>
                  <a:gd name="T8" fmla="*/ 25 w 82"/>
                  <a:gd name="T9" fmla="*/ 8 h 91"/>
                  <a:gd name="T10" fmla="*/ 28 w 82"/>
                  <a:gd name="T11" fmla="*/ 13 h 91"/>
                  <a:gd name="T12" fmla="*/ 28 w 82"/>
                  <a:gd name="T13" fmla="*/ 18 h 91"/>
                  <a:gd name="T14" fmla="*/ 31 w 82"/>
                  <a:gd name="T15" fmla="*/ 23 h 91"/>
                  <a:gd name="T16" fmla="*/ 34 w 82"/>
                  <a:gd name="T17" fmla="*/ 28 h 91"/>
                  <a:gd name="T18" fmla="*/ 42 w 82"/>
                  <a:gd name="T19" fmla="*/ 50 h 91"/>
                  <a:gd name="T20" fmla="*/ 42 w 82"/>
                  <a:gd name="T21" fmla="*/ 60 h 91"/>
                  <a:gd name="T22" fmla="*/ 53 w 82"/>
                  <a:gd name="T23" fmla="*/ 70 h 91"/>
                  <a:gd name="T24" fmla="*/ 53 w 82"/>
                  <a:gd name="T25" fmla="*/ 80 h 91"/>
                  <a:gd name="T26" fmla="*/ 59 w 82"/>
                  <a:gd name="T27" fmla="*/ 83 h 91"/>
                  <a:gd name="T28" fmla="*/ 64 w 82"/>
                  <a:gd name="T29" fmla="*/ 85 h 91"/>
                  <a:gd name="T30" fmla="*/ 70 w 82"/>
                  <a:gd name="T31" fmla="*/ 88 h 91"/>
                  <a:gd name="T32" fmla="*/ 75 w 82"/>
                  <a:gd name="T33" fmla="*/ 90 h 91"/>
                  <a:gd name="T34" fmla="*/ 81 w 82"/>
                  <a:gd name="T35" fmla="*/ 90 h 9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2"/>
                  <a:gd name="T55" fmla="*/ 0 h 91"/>
                  <a:gd name="T56" fmla="*/ 82 w 82"/>
                  <a:gd name="T57" fmla="*/ 91 h 9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2" h="91">
                    <a:moveTo>
                      <a:pt x="0" y="0"/>
                    </a:moveTo>
                    <a:lnTo>
                      <a:pt x="8" y="3"/>
                    </a:lnTo>
                    <a:lnTo>
                      <a:pt x="14" y="3"/>
                    </a:lnTo>
                    <a:lnTo>
                      <a:pt x="20" y="3"/>
                    </a:lnTo>
                    <a:lnTo>
                      <a:pt x="25" y="8"/>
                    </a:lnTo>
                    <a:lnTo>
                      <a:pt x="28" y="13"/>
                    </a:lnTo>
                    <a:lnTo>
                      <a:pt x="28" y="18"/>
                    </a:lnTo>
                    <a:lnTo>
                      <a:pt x="31" y="23"/>
                    </a:lnTo>
                    <a:lnTo>
                      <a:pt x="34" y="28"/>
                    </a:lnTo>
                    <a:lnTo>
                      <a:pt x="42" y="50"/>
                    </a:lnTo>
                    <a:lnTo>
                      <a:pt x="42" y="60"/>
                    </a:lnTo>
                    <a:lnTo>
                      <a:pt x="53" y="70"/>
                    </a:lnTo>
                    <a:lnTo>
                      <a:pt x="53" y="80"/>
                    </a:lnTo>
                    <a:lnTo>
                      <a:pt x="59" y="83"/>
                    </a:lnTo>
                    <a:lnTo>
                      <a:pt x="64" y="85"/>
                    </a:lnTo>
                    <a:lnTo>
                      <a:pt x="70" y="88"/>
                    </a:lnTo>
                    <a:lnTo>
                      <a:pt x="75" y="90"/>
                    </a:lnTo>
                    <a:lnTo>
                      <a:pt x="81" y="9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907" name="Freeform 45"/>
              <p:cNvSpPr>
                <a:spLocks/>
              </p:cNvSpPr>
              <p:nvPr/>
            </p:nvSpPr>
            <p:spPr bwMode="auto">
              <a:xfrm>
                <a:off x="1718" y="2709"/>
                <a:ext cx="51" cy="128"/>
              </a:xfrm>
              <a:custGeom>
                <a:avLst/>
                <a:gdLst>
                  <a:gd name="T0" fmla="*/ 0 w 51"/>
                  <a:gd name="T1" fmla="*/ 0 h 128"/>
                  <a:gd name="T2" fmla="*/ 8 w 51"/>
                  <a:gd name="T3" fmla="*/ 2 h 128"/>
                  <a:gd name="T4" fmla="*/ 33 w 51"/>
                  <a:gd name="T5" fmla="*/ 10 h 128"/>
                  <a:gd name="T6" fmla="*/ 39 w 51"/>
                  <a:gd name="T7" fmla="*/ 15 h 128"/>
                  <a:gd name="T8" fmla="*/ 39 w 51"/>
                  <a:gd name="T9" fmla="*/ 20 h 128"/>
                  <a:gd name="T10" fmla="*/ 39 w 51"/>
                  <a:gd name="T11" fmla="*/ 25 h 128"/>
                  <a:gd name="T12" fmla="*/ 39 w 51"/>
                  <a:gd name="T13" fmla="*/ 30 h 128"/>
                  <a:gd name="T14" fmla="*/ 36 w 51"/>
                  <a:gd name="T15" fmla="*/ 42 h 128"/>
                  <a:gd name="T16" fmla="*/ 36 w 51"/>
                  <a:gd name="T17" fmla="*/ 52 h 128"/>
                  <a:gd name="T18" fmla="*/ 39 w 51"/>
                  <a:gd name="T19" fmla="*/ 57 h 128"/>
                  <a:gd name="T20" fmla="*/ 42 w 51"/>
                  <a:gd name="T21" fmla="*/ 62 h 128"/>
                  <a:gd name="T22" fmla="*/ 47 w 51"/>
                  <a:gd name="T23" fmla="*/ 65 h 128"/>
                  <a:gd name="T24" fmla="*/ 50 w 51"/>
                  <a:gd name="T25" fmla="*/ 70 h 128"/>
                  <a:gd name="T26" fmla="*/ 50 w 51"/>
                  <a:gd name="T27" fmla="*/ 75 h 128"/>
                  <a:gd name="T28" fmla="*/ 50 w 51"/>
                  <a:gd name="T29" fmla="*/ 80 h 128"/>
                  <a:gd name="T30" fmla="*/ 50 w 51"/>
                  <a:gd name="T31" fmla="*/ 85 h 128"/>
                  <a:gd name="T32" fmla="*/ 44 w 51"/>
                  <a:gd name="T33" fmla="*/ 97 h 128"/>
                  <a:gd name="T34" fmla="*/ 39 w 51"/>
                  <a:gd name="T35" fmla="*/ 100 h 128"/>
                  <a:gd name="T36" fmla="*/ 39 w 51"/>
                  <a:gd name="T37" fmla="*/ 105 h 128"/>
                  <a:gd name="T38" fmla="*/ 39 w 51"/>
                  <a:gd name="T39" fmla="*/ 110 h 128"/>
                  <a:gd name="T40" fmla="*/ 42 w 51"/>
                  <a:gd name="T41" fmla="*/ 115 h 128"/>
                  <a:gd name="T42" fmla="*/ 42 w 51"/>
                  <a:gd name="T43" fmla="*/ 120 h 128"/>
                  <a:gd name="T44" fmla="*/ 44 w 51"/>
                  <a:gd name="T45" fmla="*/ 125 h 128"/>
                  <a:gd name="T46" fmla="*/ 42 w 51"/>
                  <a:gd name="T47" fmla="*/ 127 h 12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1"/>
                  <a:gd name="T73" fmla="*/ 0 h 128"/>
                  <a:gd name="T74" fmla="*/ 51 w 51"/>
                  <a:gd name="T75" fmla="*/ 128 h 12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1" h="128">
                    <a:moveTo>
                      <a:pt x="0" y="0"/>
                    </a:moveTo>
                    <a:lnTo>
                      <a:pt x="8" y="2"/>
                    </a:lnTo>
                    <a:lnTo>
                      <a:pt x="33" y="10"/>
                    </a:lnTo>
                    <a:lnTo>
                      <a:pt x="39" y="15"/>
                    </a:lnTo>
                    <a:lnTo>
                      <a:pt x="39" y="20"/>
                    </a:lnTo>
                    <a:lnTo>
                      <a:pt x="39" y="25"/>
                    </a:lnTo>
                    <a:lnTo>
                      <a:pt x="39" y="30"/>
                    </a:lnTo>
                    <a:lnTo>
                      <a:pt x="36" y="42"/>
                    </a:lnTo>
                    <a:lnTo>
                      <a:pt x="36" y="52"/>
                    </a:lnTo>
                    <a:lnTo>
                      <a:pt x="39" y="57"/>
                    </a:lnTo>
                    <a:lnTo>
                      <a:pt x="42" y="62"/>
                    </a:lnTo>
                    <a:lnTo>
                      <a:pt x="47" y="65"/>
                    </a:lnTo>
                    <a:lnTo>
                      <a:pt x="50" y="70"/>
                    </a:lnTo>
                    <a:lnTo>
                      <a:pt x="50" y="75"/>
                    </a:lnTo>
                    <a:lnTo>
                      <a:pt x="50" y="80"/>
                    </a:lnTo>
                    <a:lnTo>
                      <a:pt x="50" y="85"/>
                    </a:lnTo>
                    <a:lnTo>
                      <a:pt x="44" y="97"/>
                    </a:lnTo>
                    <a:lnTo>
                      <a:pt x="39" y="100"/>
                    </a:lnTo>
                    <a:lnTo>
                      <a:pt x="39" y="105"/>
                    </a:lnTo>
                    <a:lnTo>
                      <a:pt x="39" y="110"/>
                    </a:lnTo>
                    <a:lnTo>
                      <a:pt x="42" y="115"/>
                    </a:lnTo>
                    <a:lnTo>
                      <a:pt x="42" y="120"/>
                    </a:lnTo>
                    <a:lnTo>
                      <a:pt x="44" y="125"/>
                    </a:lnTo>
                    <a:lnTo>
                      <a:pt x="42" y="127"/>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908" name="Freeform 46"/>
              <p:cNvSpPr>
                <a:spLocks/>
              </p:cNvSpPr>
              <p:nvPr/>
            </p:nvSpPr>
            <p:spPr bwMode="auto">
              <a:xfrm>
                <a:off x="1694" y="2681"/>
                <a:ext cx="87" cy="24"/>
              </a:xfrm>
              <a:custGeom>
                <a:avLst/>
                <a:gdLst>
                  <a:gd name="T0" fmla="*/ 0 w 87"/>
                  <a:gd name="T1" fmla="*/ 23 h 24"/>
                  <a:gd name="T2" fmla="*/ 6 w 87"/>
                  <a:gd name="T3" fmla="*/ 20 h 24"/>
                  <a:gd name="T4" fmla="*/ 6 w 87"/>
                  <a:gd name="T5" fmla="*/ 13 h 24"/>
                  <a:gd name="T6" fmla="*/ 6 w 87"/>
                  <a:gd name="T7" fmla="*/ 8 h 24"/>
                  <a:gd name="T8" fmla="*/ 11 w 87"/>
                  <a:gd name="T9" fmla="*/ 3 h 24"/>
                  <a:gd name="T10" fmla="*/ 17 w 87"/>
                  <a:gd name="T11" fmla="*/ 3 h 24"/>
                  <a:gd name="T12" fmla="*/ 31 w 87"/>
                  <a:gd name="T13" fmla="*/ 0 h 24"/>
                  <a:gd name="T14" fmla="*/ 42 w 87"/>
                  <a:gd name="T15" fmla="*/ 0 h 24"/>
                  <a:gd name="T16" fmla="*/ 53 w 87"/>
                  <a:gd name="T17" fmla="*/ 0 h 24"/>
                  <a:gd name="T18" fmla="*/ 64 w 87"/>
                  <a:gd name="T19" fmla="*/ 0 h 24"/>
                  <a:gd name="T20" fmla="*/ 69 w 87"/>
                  <a:gd name="T21" fmla="*/ 0 h 24"/>
                  <a:gd name="T22" fmla="*/ 75 w 87"/>
                  <a:gd name="T23" fmla="*/ 3 h 24"/>
                  <a:gd name="T24" fmla="*/ 80 w 87"/>
                  <a:gd name="T25" fmla="*/ 3 h 24"/>
                  <a:gd name="T26" fmla="*/ 86 w 87"/>
                  <a:gd name="T27" fmla="*/ 0 h 2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7"/>
                  <a:gd name="T43" fmla="*/ 0 h 24"/>
                  <a:gd name="T44" fmla="*/ 87 w 87"/>
                  <a:gd name="T45" fmla="*/ 24 h 2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7" h="24">
                    <a:moveTo>
                      <a:pt x="0" y="23"/>
                    </a:moveTo>
                    <a:lnTo>
                      <a:pt x="6" y="20"/>
                    </a:lnTo>
                    <a:lnTo>
                      <a:pt x="6" y="13"/>
                    </a:lnTo>
                    <a:lnTo>
                      <a:pt x="6" y="8"/>
                    </a:lnTo>
                    <a:lnTo>
                      <a:pt x="11" y="3"/>
                    </a:lnTo>
                    <a:lnTo>
                      <a:pt x="17" y="3"/>
                    </a:lnTo>
                    <a:lnTo>
                      <a:pt x="31" y="0"/>
                    </a:lnTo>
                    <a:lnTo>
                      <a:pt x="42" y="0"/>
                    </a:lnTo>
                    <a:lnTo>
                      <a:pt x="53" y="0"/>
                    </a:lnTo>
                    <a:lnTo>
                      <a:pt x="64" y="0"/>
                    </a:lnTo>
                    <a:lnTo>
                      <a:pt x="69" y="0"/>
                    </a:lnTo>
                    <a:lnTo>
                      <a:pt x="75" y="3"/>
                    </a:lnTo>
                    <a:lnTo>
                      <a:pt x="80" y="3"/>
                    </a:lnTo>
                    <a:lnTo>
                      <a:pt x="86"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909" name="Freeform 47"/>
              <p:cNvSpPr>
                <a:spLocks/>
              </p:cNvSpPr>
              <p:nvPr/>
            </p:nvSpPr>
            <p:spPr bwMode="auto">
              <a:xfrm>
                <a:off x="1761" y="2649"/>
                <a:ext cx="71" cy="72"/>
              </a:xfrm>
              <a:custGeom>
                <a:avLst/>
                <a:gdLst>
                  <a:gd name="T0" fmla="*/ 0 w 71"/>
                  <a:gd name="T1" fmla="*/ 0 h 72"/>
                  <a:gd name="T2" fmla="*/ 6 w 71"/>
                  <a:gd name="T3" fmla="*/ 0 h 72"/>
                  <a:gd name="T4" fmla="*/ 11 w 71"/>
                  <a:gd name="T5" fmla="*/ 2 h 72"/>
                  <a:gd name="T6" fmla="*/ 17 w 71"/>
                  <a:gd name="T7" fmla="*/ 7 h 72"/>
                  <a:gd name="T8" fmla="*/ 28 w 71"/>
                  <a:gd name="T9" fmla="*/ 7 h 72"/>
                  <a:gd name="T10" fmla="*/ 31 w 71"/>
                  <a:gd name="T11" fmla="*/ 12 h 72"/>
                  <a:gd name="T12" fmla="*/ 34 w 71"/>
                  <a:gd name="T13" fmla="*/ 17 h 72"/>
                  <a:gd name="T14" fmla="*/ 39 w 71"/>
                  <a:gd name="T15" fmla="*/ 29 h 72"/>
                  <a:gd name="T16" fmla="*/ 39 w 71"/>
                  <a:gd name="T17" fmla="*/ 39 h 72"/>
                  <a:gd name="T18" fmla="*/ 42 w 71"/>
                  <a:gd name="T19" fmla="*/ 44 h 72"/>
                  <a:gd name="T20" fmla="*/ 48 w 71"/>
                  <a:gd name="T21" fmla="*/ 49 h 72"/>
                  <a:gd name="T22" fmla="*/ 53 w 71"/>
                  <a:gd name="T23" fmla="*/ 54 h 72"/>
                  <a:gd name="T24" fmla="*/ 59 w 71"/>
                  <a:gd name="T25" fmla="*/ 56 h 72"/>
                  <a:gd name="T26" fmla="*/ 64 w 71"/>
                  <a:gd name="T27" fmla="*/ 61 h 72"/>
                  <a:gd name="T28" fmla="*/ 64 w 71"/>
                  <a:gd name="T29" fmla="*/ 66 h 72"/>
                  <a:gd name="T30" fmla="*/ 70 w 71"/>
                  <a:gd name="T31" fmla="*/ 71 h 7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1"/>
                  <a:gd name="T49" fmla="*/ 0 h 72"/>
                  <a:gd name="T50" fmla="*/ 71 w 71"/>
                  <a:gd name="T51" fmla="*/ 72 h 7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1" h="72">
                    <a:moveTo>
                      <a:pt x="0" y="0"/>
                    </a:moveTo>
                    <a:lnTo>
                      <a:pt x="6" y="0"/>
                    </a:lnTo>
                    <a:lnTo>
                      <a:pt x="11" y="2"/>
                    </a:lnTo>
                    <a:lnTo>
                      <a:pt x="17" y="7"/>
                    </a:lnTo>
                    <a:lnTo>
                      <a:pt x="28" y="7"/>
                    </a:lnTo>
                    <a:lnTo>
                      <a:pt x="31" y="12"/>
                    </a:lnTo>
                    <a:lnTo>
                      <a:pt x="34" y="17"/>
                    </a:lnTo>
                    <a:lnTo>
                      <a:pt x="39" y="29"/>
                    </a:lnTo>
                    <a:lnTo>
                      <a:pt x="39" y="39"/>
                    </a:lnTo>
                    <a:lnTo>
                      <a:pt x="42" y="44"/>
                    </a:lnTo>
                    <a:lnTo>
                      <a:pt x="48" y="49"/>
                    </a:lnTo>
                    <a:lnTo>
                      <a:pt x="53" y="54"/>
                    </a:lnTo>
                    <a:lnTo>
                      <a:pt x="59" y="56"/>
                    </a:lnTo>
                    <a:lnTo>
                      <a:pt x="64" y="61"/>
                    </a:lnTo>
                    <a:lnTo>
                      <a:pt x="64" y="66"/>
                    </a:lnTo>
                    <a:lnTo>
                      <a:pt x="70" y="71"/>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910" name="Freeform 48"/>
              <p:cNvSpPr>
                <a:spLocks/>
              </p:cNvSpPr>
              <p:nvPr/>
            </p:nvSpPr>
            <p:spPr bwMode="auto">
              <a:xfrm>
                <a:off x="1780" y="2681"/>
                <a:ext cx="91" cy="44"/>
              </a:xfrm>
              <a:custGeom>
                <a:avLst/>
                <a:gdLst>
                  <a:gd name="T0" fmla="*/ 0 w 91"/>
                  <a:gd name="T1" fmla="*/ 43 h 44"/>
                  <a:gd name="T2" fmla="*/ 6 w 91"/>
                  <a:gd name="T3" fmla="*/ 40 h 44"/>
                  <a:gd name="T4" fmla="*/ 11 w 91"/>
                  <a:gd name="T5" fmla="*/ 35 h 44"/>
                  <a:gd name="T6" fmla="*/ 14 w 91"/>
                  <a:gd name="T7" fmla="*/ 30 h 44"/>
                  <a:gd name="T8" fmla="*/ 20 w 91"/>
                  <a:gd name="T9" fmla="*/ 25 h 44"/>
                  <a:gd name="T10" fmla="*/ 34 w 91"/>
                  <a:gd name="T11" fmla="*/ 18 h 44"/>
                  <a:gd name="T12" fmla="*/ 45 w 91"/>
                  <a:gd name="T13" fmla="*/ 18 h 44"/>
                  <a:gd name="T14" fmla="*/ 56 w 91"/>
                  <a:gd name="T15" fmla="*/ 18 h 44"/>
                  <a:gd name="T16" fmla="*/ 68 w 91"/>
                  <a:gd name="T17" fmla="*/ 8 h 44"/>
                  <a:gd name="T18" fmla="*/ 73 w 91"/>
                  <a:gd name="T19" fmla="*/ 8 h 44"/>
                  <a:gd name="T20" fmla="*/ 79 w 91"/>
                  <a:gd name="T21" fmla="*/ 8 h 44"/>
                  <a:gd name="T22" fmla="*/ 84 w 91"/>
                  <a:gd name="T23" fmla="*/ 8 h 44"/>
                  <a:gd name="T24" fmla="*/ 90 w 91"/>
                  <a:gd name="T25" fmla="*/ 5 h 44"/>
                  <a:gd name="T26" fmla="*/ 90 w 91"/>
                  <a:gd name="T27" fmla="*/ 0 h 44"/>
                  <a:gd name="T28" fmla="*/ 90 w 91"/>
                  <a:gd name="T29" fmla="*/ 0 h 4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1"/>
                  <a:gd name="T46" fmla="*/ 0 h 44"/>
                  <a:gd name="T47" fmla="*/ 91 w 91"/>
                  <a:gd name="T48" fmla="*/ 44 h 4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1" h="44">
                    <a:moveTo>
                      <a:pt x="0" y="43"/>
                    </a:moveTo>
                    <a:lnTo>
                      <a:pt x="6" y="40"/>
                    </a:lnTo>
                    <a:lnTo>
                      <a:pt x="11" y="35"/>
                    </a:lnTo>
                    <a:lnTo>
                      <a:pt x="14" y="30"/>
                    </a:lnTo>
                    <a:lnTo>
                      <a:pt x="20" y="25"/>
                    </a:lnTo>
                    <a:lnTo>
                      <a:pt x="34" y="18"/>
                    </a:lnTo>
                    <a:lnTo>
                      <a:pt x="45" y="18"/>
                    </a:lnTo>
                    <a:lnTo>
                      <a:pt x="56" y="18"/>
                    </a:lnTo>
                    <a:lnTo>
                      <a:pt x="68" y="8"/>
                    </a:lnTo>
                    <a:lnTo>
                      <a:pt x="73" y="8"/>
                    </a:lnTo>
                    <a:lnTo>
                      <a:pt x="79" y="8"/>
                    </a:lnTo>
                    <a:lnTo>
                      <a:pt x="84" y="8"/>
                    </a:lnTo>
                    <a:lnTo>
                      <a:pt x="90" y="5"/>
                    </a:lnTo>
                    <a:lnTo>
                      <a:pt x="90"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911" name="Freeform 49"/>
              <p:cNvSpPr>
                <a:spLocks/>
              </p:cNvSpPr>
              <p:nvPr/>
            </p:nvSpPr>
            <p:spPr bwMode="auto">
              <a:xfrm>
                <a:off x="1806" y="2704"/>
                <a:ext cx="108" cy="78"/>
              </a:xfrm>
              <a:custGeom>
                <a:avLst/>
                <a:gdLst>
                  <a:gd name="T0" fmla="*/ 107 w 108"/>
                  <a:gd name="T1" fmla="*/ 0 h 78"/>
                  <a:gd name="T2" fmla="*/ 101 w 108"/>
                  <a:gd name="T3" fmla="*/ 0 h 78"/>
                  <a:gd name="T4" fmla="*/ 96 w 108"/>
                  <a:gd name="T5" fmla="*/ 0 h 78"/>
                  <a:gd name="T6" fmla="*/ 82 w 108"/>
                  <a:gd name="T7" fmla="*/ 5 h 78"/>
                  <a:gd name="T8" fmla="*/ 68 w 108"/>
                  <a:gd name="T9" fmla="*/ 7 h 78"/>
                  <a:gd name="T10" fmla="*/ 56 w 108"/>
                  <a:gd name="T11" fmla="*/ 17 h 78"/>
                  <a:gd name="T12" fmla="*/ 45 w 108"/>
                  <a:gd name="T13" fmla="*/ 27 h 78"/>
                  <a:gd name="T14" fmla="*/ 45 w 108"/>
                  <a:gd name="T15" fmla="*/ 37 h 78"/>
                  <a:gd name="T16" fmla="*/ 45 w 108"/>
                  <a:gd name="T17" fmla="*/ 42 h 78"/>
                  <a:gd name="T18" fmla="*/ 42 w 108"/>
                  <a:gd name="T19" fmla="*/ 47 h 78"/>
                  <a:gd name="T20" fmla="*/ 42 w 108"/>
                  <a:gd name="T21" fmla="*/ 52 h 78"/>
                  <a:gd name="T22" fmla="*/ 42 w 108"/>
                  <a:gd name="T23" fmla="*/ 57 h 78"/>
                  <a:gd name="T24" fmla="*/ 42 w 108"/>
                  <a:gd name="T25" fmla="*/ 62 h 78"/>
                  <a:gd name="T26" fmla="*/ 28 w 108"/>
                  <a:gd name="T27" fmla="*/ 65 h 78"/>
                  <a:gd name="T28" fmla="*/ 23 w 108"/>
                  <a:gd name="T29" fmla="*/ 67 h 78"/>
                  <a:gd name="T30" fmla="*/ 17 w 108"/>
                  <a:gd name="T31" fmla="*/ 70 h 78"/>
                  <a:gd name="T32" fmla="*/ 11 w 108"/>
                  <a:gd name="T33" fmla="*/ 72 h 78"/>
                  <a:gd name="T34" fmla="*/ 6 w 108"/>
                  <a:gd name="T35" fmla="*/ 75 h 78"/>
                  <a:gd name="T36" fmla="*/ 0 w 108"/>
                  <a:gd name="T37" fmla="*/ 77 h 7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8"/>
                  <a:gd name="T58" fmla="*/ 0 h 78"/>
                  <a:gd name="T59" fmla="*/ 108 w 108"/>
                  <a:gd name="T60" fmla="*/ 78 h 7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8" h="78">
                    <a:moveTo>
                      <a:pt x="107" y="0"/>
                    </a:moveTo>
                    <a:lnTo>
                      <a:pt x="101" y="0"/>
                    </a:lnTo>
                    <a:lnTo>
                      <a:pt x="96" y="0"/>
                    </a:lnTo>
                    <a:lnTo>
                      <a:pt x="82" y="5"/>
                    </a:lnTo>
                    <a:lnTo>
                      <a:pt x="68" y="7"/>
                    </a:lnTo>
                    <a:lnTo>
                      <a:pt x="56" y="17"/>
                    </a:lnTo>
                    <a:lnTo>
                      <a:pt x="45" y="27"/>
                    </a:lnTo>
                    <a:lnTo>
                      <a:pt x="45" y="37"/>
                    </a:lnTo>
                    <a:lnTo>
                      <a:pt x="45" y="42"/>
                    </a:lnTo>
                    <a:lnTo>
                      <a:pt x="42" y="47"/>
                    </a:lnTo>
                    <a:lnTo>
                      <a:pt x="42" y="52"/>
                    </a:lnTo>
                    <a:lnTo>
                      <a:pt x="42" y="57"/>
                    </a:lnTo>
                    <a:lnTo>
                      <a:pt x="42" y="62"/>
                    </a:lnTo>
                    <a:lnTo>
                      <a:pt x="28" y="65"/>
                    </a:lnTo>
                    <a:lnTo>
                      <a:pt x="23" y="67"/>
                    </a:lnTo>
                    <a:lnTo>
                      <a:pt x="17" y="70"/>
                    </a:lnTo>
                    <a:lnTo>
                      <a:pt x="11" y="72"/>
                    </a:lnTo>
                    <a:lnTo>
                      <a:pt x="6" y="75"/>
                    </a:lnTo>
                    <a:lnTo>
                      <a:pt x="0" y="77"/>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912" name="Freeform 50"/>
              <p:cNvSpPr>
                <a:spLocks/>
              </p:cNvSpPr>
              <p:nvPr/>
            </p:nvSpPr>
            <p:spPr bwMode="auto">
              <a:xfrm>
                <a:off x="1834" y="2764"/>
                <a:ext cx="82" cy="51"/>
              </a:xfrm>
              <a:custGeom>
                <a:avLst/>
                <a:gdLst>
                  <a:gd name="T0" fmla="*/ 0 w 82"/>
                  <a:gd name="T1" fmla="*/ 50 h 51"/>
                  <a:gd name="T2" fmla="*/ 3 w 82"/>
                  <a:gd name="T3" fmla="*/ 45 h 51"/>
                  <a:gd name="T4" fmla="*/ 8 w 82"/>
                  <a:gd name="T5" fmla="*/ 43 h 51"/>
                  <a:gd name="T6" fmla="*/ 14 w 82"/>
                  <a:gd name="T7" fmla="*/ 38 h 51"/>
                  <a:gd name="T8" fmla="*/ 20 w 82"/>
                  <a:gd name="T9" fmla="*/ 35 h 51"/>
                  <a:gd name="T10" fmla="*/ 25 w 82"/>
                  <a:gd name="T11" fmla="*/ 35 h 51"/>
                  <a:gd name="T12" fmla="*/ 31 w 82"/>
                  <a:gd name="T13" fmla="*/ 33 h 51"/>
                  <a:gd name="T14" fmla="*/ 36 w 82"/>
                  <a:gd name="T15" fmla="*/ 33 h 51"/>
                  <a:gd name="T16" fmla="*/ 42 w 82"/>
                  <a:gd name="T17" fmla="*/ 30 h 51"/>
                  <a:gd name="T18" fmla="*/ 47 w 82"/>
                  <a:gd name="T19" fmla="*/ 28 h 51"/>
                  <a:gd name="T20" fmla="*/ 45 w 82"/>
                  <a:gd name="T21" fmla="*/ 23 h 51"/>
                  <a:gd name="T22" fmla="*/ 47 w 82"/>
                  <a:gd name="T23" fmla="*/ 18 h 51"/>
                  <a:gd name="T24" fmla="*/ 50 w 82"/>
                  <a:gd name="T25" fmla="*/ 13 h 51"/>
                  <a:gd name="T26" fmla="*/ 56 w 82"/>
                  <a:gd name="T27" fmla="*/ 10 h 51"/>
                  <a:gd name="T28" fmla="*/ 61 w 82"/>
                  <a:gd name="T29" fmla="*/ 10 h 51"/>
                  <a:gd name="T30" fmla="*/ 67 w 82"/>
                  <a:gd name="T31" fmla="*/ 8 h 51"/>
                  <a:gd name="T32" fmla="*/ 73 w 82"/>
                  <a:gd name="T33" fmla="*/ 8 h 51"/>
                  <a:gd name="T34" fmla="*/ 78 w 82"/>
                  <a:gd name="T35" fmla="*/ 5 h 51"/>
                  <a:gd name="T36" fmla="*/ 81 w 82"/>
                  <a:gd name="T37" fmla="*/ 0 h 5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2"/>
                  <a:gd name="T58" fmla="*/ 0 h 51"/>
                  <a:gd name="T59" fmla="*/ 82 w 82"/>
                  <a:gd name="T60" fmla="*/ 51 h 5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2" h="51">
                    <a:moveTo>
                      <a:pt x="0" y="50"/>
                    </a:moveTo>
                    <a:lnTo>
                      <a:pt x="3" y="45"/>
                    </a:lnTo>
                    <a:lnTo>
                      <a:pt x="8" y="43"/>
                    </a:lnTo>
                    <a:lnTo>
                      <a:pt x="14" y="38"/>
                    </a:lnTo>
                    <a:lnTo>
                      <a:pt x="20" y="35"/>
                    </a:lnTo>
                    <a:lnTo>
                      <a:pt x="25" y="35"/>
                    </a:lnTo>
                    <a:lnTo>
                      <a:pt x="31" y="33"/>
                    </a:lnTo>
                    <a:lnTo>
                      <a:pt x="36" y="33"/>
                    </a:lnTo>
                    <a:lnTo>
                      <a:pt x="42" y="30"/>
                    </a:lnTo>
                    <a:lnTo>
                      <a:pt x="47" y="28"/>
                    </a:lnTo>
                    <a:lnTo>
                      <a:pt x="45" y="23"/>
                    </a:lnTo>
                    <a:lnTo>
                      <a:pt x="47" y="18"/>
                    </a:lnTo>
                    <a:lnTo>
                      <a:pt x="50" y="13"/>
                    </a:lnTo>
                    <a:lnTo>
                      <a:pt x="56" y="10"/>
                    </a:lnTo>
                    <a:lnTo>
                      <a:pt x="61" y="10"/>
                    </a:lnTo>
                    <a:lnTo>
                      <a:pt x="67" y="8"/>
                    </a:lnTo>
                    <a:lnTo>
                      <a:pt x="73" y="8"/>
                    </a:lnTo>
                    <a:lnTo>
                      <a:pt x="78" y="5"/>
                    </a:lnTo>
                    <a:lnTo>
                      <a:pt x="81"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913" name="Freeform 51"/>
              <p:cNvSpPr>
                <a:spLocks/>
              </p:cNvSpPr>
              <p:nvPr/>
            </p:nvSpPr>
            <p:spPr bwMode="auto">
              <a:xfrm>
                <a:off x="1802" y="2811"/>
                <a:ext cx="123" cy="44"/>
              </a:xfrm>
              <a:custGeom>
                <a:avLst/>
                <a:gdLst>
                  <a:gd name="T0" fmla="*/ 0 w 123"/>
                  <a:gd name="T1" fmla="*/ 0 h 44"/>
                  <a:gd name="T2" fmla="*/ 6 w 123"/>
                  <a:gd name="T3" fmla="*/ 3 h 44"/>
                  <a:gd name="T4" fmla="*/ 11 w 123"/>
                  <a:gd name="T5" fmla="*/ 8 h 44"/>
                  <a:gd name="T6" fmla="*/ 17 w 123"/>
                  <a:gd name="T7" fmla="*/ 13 h 44"/>
                  <a:gd name="T8" fmla="*/ 23 w 123"/>
                  <a:gd name="T9" fmla="*/ 13 h 44"/>
                  <a:gd name="T10" fmla="*/ 28 w 123"/>
                  <a:gd name="T11" fmla="*/ 15 h 44"/>
                  <a:gd name="T12" fmla="*/ 34 w 123"/>
                  <a:gd name="T13" fmla="*/ 15 h 44"/>
                  <a:gd name="T14" fmla="*/ 40 w 123"/>
                  <a:gd name="T15" fmla="*/ 15 h 44"/>
                  <a:gd name="T16" fmla="*/ 68 w 123"/>
                  <a:gd name="T17" fmla="*/ 23 h 44"/>
                  <a:gd name="T18" fmla="*/ 79 w 123"/>
                  <a:gd name="T19" fmla="*/ 23 h 44"/>
                  <a:gd name="T20" fmla="*/ 91 w 123"/>
                  <a:gd name="T21" fmla="*/ 23 h 44"/>
                  <a:gd name="T22" fmla="*/ 91 w 123"/>
                  <a:gd name="T23" fmla="*/ 33 h 44"/>
                  <a:gd name="T24" fmla="*/ 96 w 123"/>
                  <a:gd name="T25" fmla="*/ 33 h 44"/>
                  <a:gd name="T26" fmla="*/ 102 w 123"/>
                  <a:gd name="T27" fmla="*/ 38 h 44"/>
                  <a:gd name="T28" fmla="*/ 116 w 123"/>
                  <a:gd name="T29" fmla="*/ 43 h 44"/>
                  <a:gd name="T30" fmla="*/ 122 w 123"/>
                  <a:gd name="T31" fmla="*/ 43 h 4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23"/>
                  <a:gd name="T49" fmla="*/ 0 h 44"/>
                  <a:gd name="T50" fmla="*/ 123 w 123"/>
                  <a:gd name="T51" fmla="*/ 44 h 4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23" h="44">
                    <a:moveTo>
                      <a:pt x="0" y="0"/>
                    </a:moveTo>
                    <a:lnTo>
                      <a:pt x="6" y="3"/>
                    </a:lnTo>
                    <a:lnTo>
                      <a:pt x="11" y="8"/>
                    </a:lnTo>
                    <a:lnTo>
                      <a:pt x="17" y="13"/>
                    </a:lnTo>
                    <a:lnTo>
                      <a:pt x="23" y="13"/>
                    </a:lnTo>
                    <a:lnTo>
                      <a:pt x="28" y="15"/>
                    </a:lnTo>
                    <a:lnTo>
                      <a:pt x="34" y="15"/>
                    </a:lnTo>
                    <a:lnTo>
                      <a:pt x="40" y="15"/>
                    </a:lnTo>
                    <a:lnTo>
                      <a:pt x="68" y="23"/>
                    </a:lnTo>
                    <a:lnTo>
                      <a:pt x="79" y="23"/>
                    </a:lnTo>
                    <a:lnTo>
                      <a:pt x="91" y="23"/>
                    </a:lnTo>
                    <a:lnTo>
                      <a:pt x="91" y="33"/>
                    </a:lnTo>
                    <a:lnTo>
                      <a:pt x="96" y="33"/>
                    </a:lnTo>
                    <a:lnTo>
                      <a:pt x="102" y="38"/>
                    </a:lnTo>
                    <a:lnTo>
                      <a:pt x="116" y="43"/>
                    </a:lnTo>
                    <a:lnTo>
                      <a:pt x="122" y="43"/>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914" name="Freeform 52"/>
              <p:cNvSpPr>
                <a:spLocks/>
              </p:cNvSpPr>
              <p:nvPr/>
            </p:nvSpPr>
            <p:spPr bwMode="auto">
              <a:xfrm>
                <a:off x="1856" y="2799"/>
                <a:ext cx="116" cy="51"/>
              </a:xfrm>
              <a:custGeom>
                <a:avLst/>
                <a:gdLst>
                  <a:gd name="T0" fmla="*/ 0 w 116"/>
                  <a:gd name="T1" fmla="*/ 50 h 51"/>
                  <a:gd name="T2" fmla="*/ 115 w 116"/>
                  <a:gd name="T3" fmla="*/ 25 h 51"/>
                  <a:gd name="T4" fmla="*/ 115 w 116"/>
                  <a:gd name="T5" fmla="*/ 20 h 51"/>
                  <a:gd name="T6" fmla="*/ 109 w 116"/>
                  <a:gd name="T7" fmla="*/ 18 h 51"/>
                  <a:gd name="T8" fmla="*/ 107 w 116"/>
                  <a:gd name="T9" fmla="*/ 10 h 51"/>
                  <a:gd name="T10" fmla="*/ 104 w 116"/>
                  <a:gd name="T11" fmla="*/ 5 h 51"/>
                  <a:gd name="T12" fmla="*/ 101 w 116"/>
                  <a:gd name="T13" fmla="*/ 0 h 51"/>
                  <a:gd name="T14" fmla="*/ 0 60000 65536"/>
                  <a:gd name="T15" fmla="*/ 0 60000 65536"/>
                  <a:gd name="T16" fmla="*/ 0 60000 65536"/>
                  <a:gd name="T17" fmla="*/ 0 60000 65536"/>
                  <a:gd name="T18" fmla="*/ 0 60000 65536"/>
                  <a:gd name="T19" fmla="*/ 0 60000 65536"/>
                  <a:gd name="T20" fmla="*/ 0 60000 65536"/>
                  <a:gd name="T21" fmla="*/ 0 w 116"/>
                  <a:gd name="T22" fmla="*/ 0 h 51"/>
                  <a:gd name="T23" fmla="*/ 116 w 116"/>
                  <a:gd name="T24" fmla="*/ 51 h 5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6" h="51">
                    <a:moveTo>
                      <a:pt x="0" y="50"/>
                    </a:moveTo>
                    <a:lnTo>
                      <a:pt x="115" y="25"/>
                    </a:lnTo>
                    <a:lnTo>
                      <a:pt x="115" y="20"/>
                    </a:lnTo>
                    <a:lnTo>
                      <a:pt x="109" y="18"/>
                    </a:lnTo>
                    <a:lnTo>
                      <a:pt x="107" y="10"/>
                    </a:lnTo>
                    <a:lnTo>
                      <a:pt x="104" y="5"/>
                    </a:lnTo>
                    <a:lnTo>
                      <a:pt x="101"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915" name="Freeform 53"/>
              <p:cNvSpPr>
                <a:spLocks/>
              </p:cNvSpPr>
              <p:nvPr/>
            </p:nvSpPr>
            <p:spPr bwMode="auto">
              <a:xfrm>
                <a:off x="1874" y="2656"/>
                <a:ext cx="91" cy="49"/>
              </a:xfrm>
              <a:custGeom>
                <a:avLst/>
                <a:gdLst>
                  <a:gd name="T0" fmla="*/ 0 w 91"/>
                  <a:gd name="T1" fmla="*/ 0 h 49"/>
                  <a:gd name="T2" fmla="*/ 17 w 91"/>
                  <a:gd name="T3" fmla="*/ 3 h 49"/>
                  <a:gd name="T4" fmla="*/ 23 w 91"/>
                  <a:gd name="T5" fmla="*/ 3 h 49"/>
                  <a:gd name="T6" fmla="*/ 25 w 91"/>
                  <a:gd name="T7" fmla="*/ 8 h 49"/>
                  <a:gd name="T8" fmla="*/ 31 w 91"/>
                  <a:gd name="T9" fmla="*/ 13 h 49"/>
                  <a:gd name="T10" fmla="*/ 34 w 91"/>
                  <a:gd name="T11" fmla="*/ 18 h 49"/>
                  <a:gd name="T12" fmla="*/ 37 w 91"/>
                  <a:gd name="T13" fmla="*/ 23 h 49"/>
                  <a:gd name="T14" fmla="*/ 45 w 91"/>
                  <a:gd name="T15" fmla="*/ 28 h 49"/>
                  <a:gd name="T16" fmla="*/ 56 w 91"/>
                  <a:gd name="T17" fmla="*/ 33 h 49"/>
                  <a:gd name="T18" fmla="*/ 68 w 91"/>
                  <a:gd name="T19" fmla="*/ 38 h 49"/>
                  <a:gd name="T20" fmla="*/ 79 w 91"/>
                  <a:gd name="T21" fmla="*/ 48 h 49"/>
                  <a:gd name="T22" fmla="*/ 84 w 91"/>
                  <a:gd name="T23" fmla="*/ 48 h 49"/>
                  <a:gd name="T24" fmla="*/ 90 w 91"/>
                  <a:gd name="T25" fmla="*/ 48 h 49"/>
                  <a:gd name="T26" fmla="*/ 87 w 91"/>
                  <a:gd name="T27" fmla="*/ 48 h 4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1"/>
                  <a:gd name="T43" fmla="*/ 0 h 49"/>
                  <a:gd name="T44" fmla="*/ 91 w 91"/>
                  <a:gd name="T45" fmla="*/ 49 h 4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1" h="49">
                    <a:moveTo>
                      <a:pt x="0" y="0"/>
                    </a:moveTo>
                    <a:lnTo>
                      <a:pt x="17" y="3"/>
                    </a:lnTo>
                    <a:lnTo>
                      <a:pt x="23" y="3"/>
                    </a:lnTo>
                    <a:lnTo>
                      <a:pt x="25" y="8"/>
                    </a:lnTo>
                    <a:lnTo>
                      <a:pt x="31" y="13"/>
                    </a:lnTo>
                    <a:lnTo>
                      <a:pt x="34" y="18"/>
                    </a:lnTo>
                    <a:lnTo>
                      <a:pt x="37" y="23"/>
                    </a:lnTo>
                    <a:lnTo>
                      <a:pt x="45" y="28"/>
                    </a:lnTo>
                    <a:lnTo>
                      <a:pt x="56" y="33"/>
                    </a:lnTo>
                    <a:lnTo>
                      <a:pt x="68" y="38"/>
                    </a:lnTo>
                    <a:lnTo>
                      <a:pt x="79" y="48"/>
                    </a:lnTo>
                    <a:lnTo>
                      <a:pt x="84" y="48"/>
                    </a:lnTo>
                    <a:lnTo>
                      <a:pt x="90" y="48"/>
                    </a:lnTo>
                    <a:lnTo>
                      <a:pt x="87" y="48"/>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916" name="Freeform 54"/>
              <p:cNvSpPr>
                <a:spLocks/>
              </p:cNvSpPr>
              <p:nvPr/>
            </p:nvSpPr>
            <p:spPr bwMode="auto">
              <a:xfrm>
                <a:off x="1932" y="2726"/>
                <a:ext cx="78" cy="41"/>
              </a:xfrm>
              <a:custGeom>
                <a:avLst/>
                <a:gdLst>
                  <a:gd name="T0" fmla="*/ 0 w 78"/>
                  <a:gd name="T1" fmla="*/ 40 h 41"/>
                  <a:gd name="T2" fmla="*/ 34 w 78"/>
                  <a:gd name="T3" fmla="*/ 23 h 41"/>
                  <a:gd name="T4" fmla="*/ 40 w 78"/>
                  <a:gd name="T5" fmla="*/ 23 h 41"/>
                  <a:gd name="T6" fmla="*/ 46 w 78"/>
                  <a:gd name="T7" fmla="*/ 23 h 41"/>
                  <a:gd name="T8" fmla="*/ 51 w 78"/>
                  <a:gd name="T9" fmla="*/ 23 h 41"/>
                  <a:gd name="T10" fmla="*/ 57 w 78"/>
                  <a:gd name="T11" fmla="*/ 23 h 41"/>
                  <a:gd name="T12" fmla="*/ 63 w 78"/>
                  <a:gd name="T13" fmla="*/ 20 h 41"/>
                  <a:gd name="T14" fmla="*/ 68 w 78"/>
                  <a:gd name="T15" fmla="*/ 15 h 41"/>
                  <a:gd name="T16" fmla="*/ 71 w 78"/>
                  <a:gd name="T17" fmla="*/ 10 h 41"/>
                  <a:gd name="T18" fmla="*/ 74 w 78"/>
                  <a:gd name="T19" fmla="*/ 5 h 41"/>
                  <a:gd name="T20" fmla="*/ 77 w 78"/>
                  <a:gd name="T21" fmla="*/ 0 h 4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8"/>
                  <a:gd name="T34" fmla="*/ 0 h 41"/>
                  <a:gd name="T35" fmla="*/ 78 w 78"/>
                  <a:gd name="T36" fmla="*/ 41 h 4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8" h="41">
                    <a:moveTo>
                      <a:pt x="0" y="40"/>
                    </a:moveTo>
                    <a:lnTo>
                      <a:pt x="34" y="23"/>
                    </a:lnTo>
                    <a:lnTo>
                      <a:pt x="40" y="23"/>
                    </a:lnTo>
                    <a:lnTo>
                      <a:pt x="46" y="23"/>
                    </a:lnTo>
                    <a:lnTo>
                      <a:pt x="51" y="23"/>
                    </a:lnTo>
                    <a:lnTo>
                      <a:pt x="57" y="23"/>
                    </a:lnTo>
                    <a:lnTo>
                      <a:pt x="63" y="20"/>
                    </a:lnTo>
                    <a:lnTo>
                      <a:pt x="68" y="15"/>
                    </a:lnTo>
                    <a:lnTo>
                      <a:pt x="71" y="10"/>
                    </a:lnTo>
                    <a:lnTo>
                      <a:pt x="74" y="5"/>
                    </a:lnTo>
                    <a:lnTo>
                      <a:pt x="77"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917" name="Freeform 55"/>
              <p:cNvSpPr>
                <a:spLocks/>
              </p:cNvSpPr>
              <p:nvPr/>
            </p:nvSpPr>
            <p:spPr bwMode="auto">
              <a:xfrm>
                <a:off x="1986" y="2799"/>
                <a:ext cx="96" cy="78"/>
              </a:xfrm>
              <a:custGeom>
                <a:avLst/>
                <a:gdLst>
                  <a:gd name="T0" fmla="*/ 0 w 96"/>
                  <a:gd name="T1" fmla="*/ 0 h 78"/>
                  <a:gd name="T2" fmla="*/ 8 w 96"/>
                  <a:gd name="T3" fmla="*/ 2 h 78"/>
                  <a:gd name="T4" fmla="*/ 14 w 96"/>
                  <a:gd name="T5" fmla="*/ 7 h 78"/>
                  <a:gd name="T6" fmla="*/ 22 w 96"/>
                  <a:gd name="T7" fmla="*/ 30 h 78"/>
                  <a:gd name="T8" fmla="*/ 34 w 96"/>
                  <a:gd name="T9" fmla="*/ 40 h 78"/>
                  <a:gd name="T10" fmla="*/ 34 w 96"/>
                  <a:gd name="T11" fmla="*/ 50 h 78"/>
                  <a:gd name="T12" fmla="*/ 45 w 96"/>
                  <a:gd name="T13" fmla="*/ 60 h 78"/>
                  <a:gd name="T14" fmla="*/ 50 w 96"/>
                  <a:gd name="T15" fmla="*/ 70 h 78"/>
                  <a:gd name="T16" fmla="*/ 53 w 96"/>
                  <a:gd name="T17" fmla="*/ 75 h 78"/>
                  <a:gd name="T18" fmla="*/ 59 w 96"/>
                  <a:gd name="T19" fmla="*/ 77 h 78"/>
                  <a:gd name="T20" fmla="*/ 64 w 96"/>
                  <a:gd name="T21" fmla="*/ 75 h 78"/>
                  <a:gd name="T22" fmla="*/ 70 w 96"/>
                  <a:gd name="T23" fmla="*/ 75 h 78"/>
                  <a:gd name="T24" fmla="*/ 73 w 96"/>
                  <a:gd name="T25" fmla="*/ 70 h 78"/>
                  <a:gd name="T26" fmla="*/ 75 w 96"/>
                  <a:gd name="T27" fmla="*/ 65 h 78"/>
                  <a:gd name="T28" fmla="*/ 81 w 96"/>
                  <a:gd name="T29" fmla="*/ 62 h 78"/>
                  <a:gd name="T30" fmla="*/ 87 w 96"/>
                  <a:gd name="T31" fmla="*/ 60 h 78"/>
                  <a:gd name="T32" fmla="*/ 89 w 96"/>
                  <a:gd name="T33" fmla="*/ 55 h 78"/>
                  <a:gd name="T34" fmla="*/ 95 w 96"/>
                  <a:gd name="T35" fmla="*/ 50 h 78"/>
                  <a:gd name="T36" fmla="*/ 95 w 96"/>
                  <a:gd name="T37" fmla="*/ 45 h 7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6"/>
                  <a:gd name="T58" fmla="*/ 0 h 78"/>
                  <a:gd name="T59" fmla="*/ 96 w 96"/>
                  <a:gd name="T60" fmla="*/ 78 h 7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6" h="78">
                    <a:moveTo>
                      <a:pt x="0" y="0"/>
                    </a:moveTo>
                    <a:lnTo>
                      <a:pt x="8" y="2"/>
                    </a:lnTo>
                    <a:lnTo>
                      <a:pt x="14" y="7"/>
                    </a:lnTo>
                    <a:lnTo>
                      <a:pt x="22" y="30"/>
                    </a:lnTo>
                    <a:lnTo>
                      <a:pt x="34" y="40"/>
                    </a:lnTo>
                    <a:lnTo>
                      <a:pt x="34" y="50"/>
                    </a:lnTo>
                    <a:lnTo>
                      <a:pt x="45" y="60"/>
                    </a:lnTo>
                    <a:lnTo>
                      <a:pt x="50" y="70"/>
                    </a:lnTo>
                    <a:lnTo>
                      <a:pt x="53" y="75"/>
                    </a:lnTo>
                    <a:lnTo>
                      <a:pt x="59" y="77"/>
                    </a:lnTo>
                    <a:lnTo>
                      <a:pt x="64" y="75"/>
                    </a:lnTo>
                    <a:lnTo>
                      <a:pt x="70" y="75"/>
                    </a:lnTo>
                    <a:lnTo>
                      <a:pt x="73" y="70"/>
                    </a:lnTo>
                    <a:lnTo>
                      <a:pt x="75" y="65"/>
                    </a:lnTo>
                    <a:lnTo>
                      <a:pt x="81" y="62"/>
                    </a:lnTo>
                    <a:lnTo>
                      <a:pt x="87" y="60"/>
                    </a:lnTo>
                    <a:lnTo>
                      <a:pt x="89" y="55"/>
                    </a:lnTo>
                    <a:lnTo>
                      <a:pt x="95" y="50"/>
                    </a:lnTo>
                    <a:lnTo>
                      <a:pt x="95" y="45"/>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918" name="Freeform 56"/>
              <p:cNvSpPr>
                <a:spLocks/>
              </p:cNvSpPr>
              <p:nvPr/>
            </p:nvSpPr>
            <p:spPr bwMode="auto">
              <a:xfrm>
                <a:off x="2005" y="2776"/>
                <a:ext cx="97" cy="49"/>
              </a:xfrm>
              <a:custGeom>
                <a:avLst/>
                <a:gdLst>
                  <a:gd name="T0" fmla="*/ 0 w 97"/>
                  <a:gd name="T1" fmla="*/ 3 h 49"/>
                  <a:gd name="T2" fmla="*/ 6 w 97"/>
                  <a:gd name="T3" fmla="*/ 3 h 49"/>
                  <a:gd name="T4" fmla="*/ 11 w 97"/>
                  <a:gd name="T5" fmla="*/ 0 h 49"/>
                  <a:gd name="T6" fmla="*/ 17 w 97"/>
                  <a:gd name="T7" fmla="*/ 0 h 49"/>
                  <a:gd name="T8" fmla="*/ 23 w 97"/>
                  <a:gd name="T9" fmla="*/ 3 h 49"/>
                  <a:gd name="T10" fmla="*/ 28 w 97"/>
                  <a:gd name="T11" fmla="*/ 10 h 49"/>
                  <a:gd name="T12" fmla="*/ 40 w 97"/>
                  <a:gd name="T13" fmla="*/ 20 h 49"/>
                  <a:gd name="T14" fmla="*/ 51 w 97"/>
                  <a:gd name="T15" fmla="*/ 25 h 49"/>
                  <a:gd name="T16" fmla="*/ 51 w 97"/>
                  <a:gd name="T17" fmla="*/ 35 h 49"/>
                  <a:gd name="T18" fmla="*/ 62 w 97"/>
                  <a:gd name="T19" fmla="*/ 45 h 49"/>
                  <a:gd name="T20" fmla="*/ 68 w 97"/>
                  <a:gd name="T21" fmla="*/ 45 h 49"/>
                  <a:gd name="T22" fmla="*/ 73 w 97"/>
                  <a:gd name="T23" fmla="*/ 45 h 49"/>
                  <a:gd name="T24" fmla="*/ 79 w 97"/>
                  <a:gd name="T25" fmla="*/ 45 h 49"/>
                  <a:gd name="T26" fmla="*/ 85 w 97"/>
                  <a:gd name="T27" fmla="*/ 45 h 49"/>
                  <a:gd name="T28" fmla="*/ 90 w 97"/>
                  <a:gd name="T29" fmla="*/ 45 h 49"/>
                  <a:gd name="T30" fmla="*/ 96 w 97"/>
                  <a:gd name="T31" fmla="*/ 48 h 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7"/>
                  <a:gd name="T49" fmla="*/ 0 h 49"/>
                  <a:gd name="T50" fmla="*/ 97 w 97"/>
                  <a:gd name="T51" fmla="*/ 49 h 4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7" h="49">
                    <a:moveTo>
                      <a:pt x="0" y="3"/>
                    </a:moveTo>
                    <a:lnTo>
                      <a:pt x="6" y="3"/>
                    </a:lnTo>
                    <a:lnTo>
                      <a:pt x="11" y="0"/>
                    </a:lnTo>
                    <a:lnTo>
                      <a:pt x="17" y="0"/>
                    </a:lnTo>
                    <a:lnTo>
                      <a:pt x="23" y="3"/>
                    </a:lnTo>
                    <a:lnTo>
                      <a:pt x="28" y="10"/>
                    </a:lnTo>
                    <a:lnTo>
                      <a:pt x="40" y="20"/>
                    </a:lnTo>
                    <a:lnTo>
                      <a:pt x="51" y="25"/>
                    </a:lnTo>
                    <a:lnTo>
                      <a:pt x="51" y="35"/>
                    </a:lnTo>
                    <a:lnTo>
                      <a:pt x="62" y="45"/>
                    </a:lnTo>
                    <a:lnTo>
                      <a:pt x="68" y="45"/>
                    </a:lnTo>
                    <a:lnTo>
                      <a:pt x="73" y="45"/>
                    </a:lnTo>
                    <a:lnTo>
                      <a:pt x="79" y="45"/>
                    </a:lnTo>
                    <a:lnTo>
                      <a:pt x="85" y="45"/>
                    </a:lnTo>
                    <a:lnTo>
                      <a:pt x="90" y="45"/>
                    </a:lnTo>
                    <a:lnTo>
                      <a:pt x="96" y="48"/>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919" name="Freeform 57"/>
              <p:cNvSpPr>
                <a:spLocks/>
              </p:cNvSpPr>
              <p:nvPr/>
            </p:nvSpPr>
            <p:spPr bwMode="auto">
              <a:xfrm>
                <a:off x="1958" y="2714"/>
                <a:ext cx="149" cy="36"/>
              </a:xfrm>
              <a:custGeom>
                <a:avLst/>
                <a:gdLst>
                  <a:gd name="T0" fmla="*/ 0 w 149"/>
                  <a:gd name="T1" fmla="*/ 35 h 36"/>
                  <a:gd name="T2" fmla="*/ 6 w 149"/>
                  <a:gd name="T3" fmla="*/ 30 h 36"/>
                  <a:gd name="T4" fmla="*/ 8 w 149"/>
                  <a:gd name="T5" fmla="*/ 25 h 36"/>
                  <a:gd name="T6" fmla="*/ 25 w 149"/>
                  <a:gd name="T7" fmla="*/ 10 h 36"/>
                  <a:gd name="T8" fmla="*/ 50 w 149"/>
                  <a:gd name="T9" fmla="*/ 0 h 36"/>
                  <a:gd name="T10" fmla="*/ 61 w 149"/>
                  <a:gd name="T11" fmla="*/ 0 h 36"/>
                  <a:gd name="T12" fmla="*/ 106 w 149"/>
                  <a:gd name="T13" fmla="*/ 0 h 36"/>
                  <a:gd name="T14" fmla="*/ 131 w 149"/>
                  <a:gd name="T15" fmla="*/ 0 h 36"/>
                  <a:gd name="T16" fmla="*/ 142 w 149"/>
                  <a:gd name="T17" fmla="*/ 0 h 36"/>
                  <a:gd name="T18" fmla="*/ 148 w 149"/>
                  <a:gd name="T19" fmla="*/ 0 h 3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9"/>
                  <a:gd name="T31" fmla="*/ 0 h 36"/>
                  <a:gd name="T32" fmla="*/ 149 w 149"/>
                  <a:gd name="T33" fmla="*/ 36 h 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9" h="36">
                    <a:moveTo>
                      <a:pt x="0" y="35"/>
                    </a:moveTo>
                    <a:lnTo>
                      <a:pt x="6" y="30"/>
                    </a:lnTo>
                    <a:lnTo>
                      <a:pt x="8" y="25"/>
                    </a:lnTo>
                    <a:lnTo>
                      <a:pt x="25" y="10"/>
                    </a:lnTo>
                    <a:lnTo>
                      <a:pt x="50" y="0"/>
                    </a:lnTo>
                    <a:lnTo>
                      <a:pt x="61" y="0"/>
                    </a:lnTo>
                    <a:lnTo>
                      <a:pt x="106" y="0"/>
                    </a:lnTo>
                    <a:lnTo>
                      <a:pt x="131" y="0"/>
                    </a:lnTo>
                    <a:lnTo>
                      <a:pt x="142" y="0"/>
                    </a:lnTo>
                    <a:lnTo>
                      <a:pt x="148"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920" name="Freeform 58"/>
              <p:cNvSpPr>
                <a:spLocks/>
              </p:cNvSpPr>
              <p:nvPr/>
            </p:nvSpPr>
            <p:spPr bwMode="auto">
              <a:xfrm>
                <a:off x="2067" y="2654"/>
                <a:ext cx="46" cy="101"/>
              </a:xfrm>
              <a:custGeom>
                <a:avLst/>
                <a:gdLst>
                  <a:gd name="T0" fmla="*/ 0 w 46"/>
                  <a:gd name="T1" fmla="*/ 0 h 101"/>
                  <a:gd name="T2" fmla="*/ 11 w 46"/>
                  <a:gd name="T3" fmla="*/ 8 h 101"/>
                  <a:gd name="T4" fmla="*/ 17 w 46"/>
                  <a:gd name="T5" fmla="*/ 13 h 101"/>
                  <a:gd name="T6" fmla="*/ 17 w 46"/>
                  <a:gd name="T7" fmla="*/ 18 h 101"/>
                  <a:gd name="T8" fmla="*/ 14 w 46"/>
                  <a:gd name="T9" fmla="*/ 23 h 101"/>
                  <a:gd name="T10" fmla="*/ 14 w 46"/>
                  <a:gd name="T11" fmla="*/ 28 h 101"/>
                  <a:gd name="T12" fmla="*/ 11 w 46"/>
                  <a:gd name="T13" fmla="*/ 33 h 101"/>
                  <a:gd name="T14" fmla="*/ 11 w 46"/>
                  <a:gd name="T15" fmla="*/ 38 h 101"/>
                  <a:gd name="T16" fmla="*/ 11 w 46"/>
                  <a:gd name="T17" fmla="*/ 43 h 101"/>
                  <a:gd name="T18" fmla="*/ 17 w 46"/>
                  <a:gd name="T19" fmla="*/ 53 h 101"/>
                  <a:gd name="T20" fmla="*/ 28 w 46"/>
                  <a:gd name="T21" fmla="*/ 63 h 101"/>
                  <a:gd name="T22" fmla="*/ 34 w 46"/>
                  <a:gd name="T23" fmla="*/ 68 h 101"/>
                  <a:gd name="T24" fmla="*/ 39 w 46"/>
                  <a:gd name="T25" fmla="*/ 70 h 101"/>
                  <a:gd name="T26" fmla="*/ 42 w 46"/>
                  <a:gd name="T27" fmla="*/ 75 h 101"/>
                  <a:gd name="T28" fmla="*/ 45 w 46"/>
                  <a:gd name="T29" fmla="*/ 80 h 101"/>
                  <a:gd name="T30" fmla="*/ 45 w 46"/>
                  <a:gd name="T31" fmla="*/ 85 h 101"/>
                  <a:gd name="T32" fmla="*/ 45 w 46"/>
                  <a:gd name="T33" fmla="*/ 90 h 101"/>
                  <a:gd name="T34" fmla="*/ 45 w 46"/>
                  <a:gd name="T35" fmla="*/ 95 h 101"/>
                  <a:gd name="T36" fmla="*/ 45 w 46"/>
                  <a:gd name="T37" fmla="*/ 100 h 101"/>
                  <a:gd name="T38" fmla="*/ 45 w 46"/>
                  <a:gd name="T39" fmla="*/ 98 h 10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6"/>
                  <a:gd name="T61" fmla="*/ 0 h 101"/>
                  <a:gd name="T62" fmla="*/ 46 w 46"/>
                  <a:gd name="T63" fmla="*/ 101 h 10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6" h="101">
                    <a:moveTo>
                      <a:pt x="0" y="0"/>
                    </a:moveTo>
                    <a:lnTo>
                      <a:pt x="11" y="8"/>
                    </a:lnTo>
                    <a:lnTo>
                      <a:pt x="17" y="13"/>
                    </a:lnTo>
                    <a:lnTo>
                      <a:pt x="17" y="18"/>
                    </a:lnTo>
                    <a:lnTo>
                      <a:pt x="14" y="23"/>
                    </a:lnTo>
                    <a:lnTo>
                      <a:pt x="14" y="28"/>
                    </a:lnTo>
                    <a:lnTo>
                      <a:pt x="11" y="33"/>
                    </a:lnTo>
                    <a:lnTo>
                      <a:pt x="11" y="38"/>
                    </a:lnTo>
                    <a:lnTo>
                      <a:pt x="11" y="43"/>
                    </a:lnTo>
                    <a:lnTo>
                      <a:pt x="17" y="53"/>
                    </a:lnTo>
                    <a:lnTo>
                      <a:pt x="28" y="63"/>
                    </a:lnTo>
                    <a:lnTo>
                      <a:pt x="34" y="68"/>
                    </a:lnTo>
                    <a:lnTo>
                      <a:pt x="39" y="70"/>
                    </a:lnTo>
                    <a:lnTo>
                      <a:pt x="42" y="75"/>
                    </a:lnTo>
                    <a:lnTo>
                      <a:pt x="45" y="80"/>
                    </a:lnTo>
                    <a:lnTo>
                      <a:pt x="45" y="85"/>
                    </a:lnTo>
                    <a:lnTo>
                      <a:pt x="45" y="90"/>
                    </a:lnTo>
                    <a:lnTo>
                      <a:pt x="45" y="95"/>
                    </a:lnTo>
                    <a:lnTo>
                      <a:pt x="45" y="100"/>
                    </a:lnTo>
                    <a:lnTo>
                      <a:pt x="45" y="98"/>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921" name="Freeform 59"/>
              <p:cNvSpPr>
                <a:spLocks/>
              </p:cNvSpPr>
              <p:nvPr/>
            </p:nvSpPr>
            <p:spPr bwMode="auto">
              <a:xfrm>
                <a:off x="2036" y="2691"/>
                <a:ext cx="88" cy="66"/>
              </a:xfrm>
              <a:custGeom>
                <a:avLst/>
                <a:gdLst>
                  <a:gd name="T0" fmla="*/ 87 w 88"/>
                  <a:gd name="T1" fmla="*/ 0 h 66"/>
                  <a:gd name="T2" fmla="*/ 59 w 88"/>
                  <a:gd name="T3" fmla="*/ 23 h 66"/>
                  <a:gd name="T4" fmla="*/ 56 w 88"/>
                  <a:gd name="T5" fmla="*/ 28 h 66"/>
                  <a:gd name="T6" fmla="*/ 51 w 88"/>
                  <a:gd name="T7" fmla="*/ 33 h 66"/>
                  <a:gd name="T8" fmla="*/ 45 w 88"/>
                  <a:gd name="T9" fmla="*/ 38 h 66"/>
                  <a:gd name="T10" fmla="*/ 42 w 88"/>
                  <a:gd name="T11" fmla="*/ 43 h 66"/>
                  <a:gd name="T12" fmla="*/ 36 w 88"/>
                  <a:gd name="T13" fmla="*/ 43 h 66"/>
                  <a:gd name="T14" fmla="*/ 31 w 88"/>
                  <a:gd name="T15" fmla="*/ 48 h 66"/>
                  <a:gd name="T16" fmla="*/ 25 w 88"/>
                  <a:gd name="T17" fmla="*/ 53 h 66"/>
                  <a:gd name="T18" fmla="*/ 11 w 88"/>
                  <a:gd name="T19" fmla="*/ 55 h 66"/>
                  <a:gd name="T20" fmla="*/ 11 w 88"/>
                  <a:gd name="T21" fmla="*/ 65 h 66"/>
                  <a:gd name="T22" fmla="*/ 6 w 88"/>
                  <a:gd name="T23" fmla="*/ 65 h 66"/>
                  <a:gd name="T24" fmla="*/ 0 w 88"/>
                  <a:gd name="T25" fmla="*/ 65 h 66"/>
                  <a:gd name="T26" fmla="*/ 6 w 88"/>
                  <a:gd name="T27" fmla="*/ 63 h 6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8"/>
                  <a:gd name="T43" fmla="*/ 0 h 66"/>
                  <a:gd name="T44" fmla="*/ 88 w 88"/>
                  <a:gd name="T45" fmla="*/ 66 h 6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8" h="66">
                    <a:moveTo>
                      <a:pt x="87" y="0"/>
                    </a:moveTo>
                    <a:lnTo>
                      <a:pt x="59" y="23"/>
                    </a:lnTo>
                    <a:lnTo>
                      <a:pt x="56" y="28"/>
                    </a:lnTo>
                    <a:lnTo>
                      <a:pt x="51" y="33"/>
                    </a:lnTo>
                    <a:lnTo>
                      <a:pt x="45" y="38"/>
                    </a:lnTo>
                    <a:lnTo>
                      <a:pt x="42" y="43"/>
                    </a:lnTo>
                    <a:lnTo>
                      <a:pt x="36" y="43"/>
                    </a:lnTo>
                    <a:lnTo>
                      <a:pt x="31" y="48"/>
                    </a:lnTo>
                    <a:lnTo>
                      <a:pt x="25" y="53"/>
                    </a:lnTo>
                    <a:lnTo>
                      <a:pt x="11" y="55"/>
                    </a:lnTo>
                    <a:lnTo>
                      <a:pt x="11" y="65"/>
                    </a:lnTo>
                    <a:lnTo>
                      <a:pt x="6" y="65"/>
                    </a:lnTo>
                    <a:lnTo>
                      <a:pt x="0" y="65"/>
                    </a:lnTo>
                    <a:lnTo>
                      <a:pt x="6" y="63"/>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922" name="Freeform 60"/>
              <p:cNvSpPr>
                <a:spLocks/>
              </p:cNvSpPr>
              <p:nvPr/>
            </p:nvSpPr>
            <p:spPr bwMode="auto">
              <a:xfrm>
                <a:off x="2115" y="2714"/>
                <a:ext cx="24" cy="88"/>
              </a:xfrm>
              <a:custGeom>
                <a:avLst/>
                <a:gdLst>
                  <a:gd name="T0" fmla="*/ 0 w 24"/>
                  <a:gd name="T1" fmla="*/ 87 h 88"/>
                  <a:gd name="T2" fmla="*/ 23 w 24"/>
                  <a:gd name="T3" fmla="*/ 60 h 88"/>
                  <a:gd name="T4" fmla="*/ 23 w 24"/>
                  <a:gd name="T5" fmla="*/ 55 h 88"/>
                  <a:gd name="T6" fmla="*/ 23 w 24"/>
                  <a:gd name="T7" fmla="*/ 50 h 88"/>
                  <a:gd name="T8" fmla="*/ 23 w 24"/>
                  <a:gd name="T9" fmla="*/ 45 h 88"/>
                  <a:gd name="T10" fmla="*/ 23 w 24"/>
                  <a:gd name="T11" fmla="*/ 40 h 88"/>
                  <a:gd name="T12" fmla="*/ 23 w 24"/>
                  <a:gd name="T13" fmla="*/ 35 h 88"/>
                  <a:gd name="T14" fmla="*/ 23 w 24"/>
                  <a:gd name="T15" fmla="*/ 30 h 88"/>
                  <a:gd name="T16" fmla="*/ 23 w 24"/>
                  <a:gd name="T17" fmla="*/ 25 h 88"/>
                  <a:gd name="T18" fmla="*/ 23 w 24"/>
                  <a:gd name="T19" fmla="*/ 20 h 88"/>
                  <a:gd name="T20" fmla="*/ 23 w 24"/>
                  <a:gd name="T21" fmla="*/ 15 h 88"/>
                  <a:gd name="T22" fmla="*/ 23 w 24"/>
                  <a:gd name="T23" fmla="*/ 10 h 88"/>
                  <a:gd name="T24" fmla="*/ 23 w 24"/>
                  <a:gd name="T25" fmla="*/ 5 h 88"/>
                  <a:gd name="T26" fmla="*/ 23 w 24"/>
                  <a:gd name="T27" fmla="*/ 0 h 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4"/>
                  <a:gd name="T43" fmla="*/ 0 h 88"/>
                  <a:gd name="T44" fmla="*/ 24 w 24"/>
                  <a:gd name="T45" fmla="*/ 88 h 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4" h="88">
                    <a:moveTo>
                      <a:pt x="0" y="87"/>
                    </a:moveTo>
                    <a:lnTo>
                      <a:pt x="23" y="60"/>
                    </a:lnTo>
                    <a:lnTo>
                      <a:pt x="23" y="55"/>
                    </a:lnTo>
                    <a:lnTo>
                      <a:pt x="23" y="50"/>
                    </a:lnTo>
                    <a:lnTo>
                      <a:pt x="23" y="45"/>
                    </a:lnTo>
                    <a:lnTo>
                      <a:pt x="23" y="40"/>
                    </a:lnTo>
                    <a:lnTo>
                      <a:pt x="23" y="35"/>
                    </a:lnTo>
                    <a:lnTo>
                      <a:pt x="23" y="30"/>
                    </a:lnTo>
                    <a:lnTo>
                      <a:pt x="23" y="25"/>
                    </a:lnTo>
                    <a:lnTo>
                      <a:pt x="23" y="20"/>
                    </a:lnTo>
                    <a:lnTo>
                      <a:pt x="23" y="15"/>
                    </a:lnTo>
                    <a:lnTo>
                      <a:pt x="23" y="10"/>
                    </a:lnTo>
                    <a:lnTo>
                      <a:pt x="23" y="5"/>
                    </a:lnTo>
                    <a:lnTo>
                      <a:pt x="23"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923" name="Freeform 61"/>
              <p:cNvSpPr>
                <a:spLocks/>
              </p:cNvSpPr>
              <p:nvPr/>
            </p:nvSpPr>
            <p:spPr bwMode="auto">
              <a:xfrm>
                <a:off x="2048" y="2826"/>
                <a:ext cx="126" cy="19"/>
              </a:xfrm>
              <a:custGeom>
                <a:avLst/>
                <a:gdLst>
                  <a:gd name="T0" fmla="*/ 0 w 126"/>
                  <a:gd name="T1" fmla="*/ 10 h 19"/>
                  <a:gd name="T2" fmla="*/ 36 w 126"/>
                  <a:gd name="T3" fmla="*/ 10 h 19"/>
                  <a:gd name="T4" fmla="*/ 42 w 126"/>
                  <a:gd name="T5" fmla="*/ 13 h 19"/>
                  <a:gd name="T6" fmla="*/ 47 w 126"/>
                  <a:gd name="T7" fmla="*/ 15 h 19"/>
                  <a:gd name="T8" fmla="*/ 61 w 126"/>
                  <a:gd name="T9" fmla="*/ 18 h 19"/>
                  <a:gd name="T10" fmla="*/ 72 w 126"/>
                  <a:gd name="T11" fmla="*/ 18 h 19"/>
                  <a:gd name="T12" fmla="*/ 86 w 126"/>
                  <a:gd name="T13" fmla="*/ 13 h 19"/>
                  <a:gd name="T14" fmla="*/ 92 w 126"/>
                  <a:gd name="T15" fmla="*/ 13 h 19"/>
                  <a:gd name="T16" fmla="*/ 103 w 126"/>
                  <a:gd name="T17" fmla="*/ 8 h 19"/>
                  <a:gd name="T18" fmla="*/ 114 w 126"/>
                  <a:gd name="T19" fmla="*/ 8 h 19"/>
                  <a:gd name="T20" fmla="*/ 119 w 126"/>
                  <a:gd name="T21" fmla="*/ 5 h 19"/>
                  <a:gd name="T22" fmla="*/ 125 w 126"/>
                  <a:gd name="T23" fmla="*/ 0 h 1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6"/>
                  <a:gd name="T37" fmla="*/ 0 h 19"/>
                  <a:gd name="T38" fmla="*/ 126 w 126"/>
                  <a:gd name="T39" fmla="*/ 19 h 1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6" h="19">
                    <a:moveTo>
                      <a:pt x="0" y="10"/>
                    </a:moveTo>
                    <a:lnTo>
                      <a:pt x="36" y="10"/>
                    </a:lnTo>
                    <a:lnTo>
                      <a:pt x="42" y="13"/>
                    </a:lnTo>
                    <a:lnTo>
                      <a:pt x="47" y="15"/>
                    </a:lnTo>
                    <a:lnTo>
                      <a:pt x="61" y="18"/>
                    </a:lnTo>
                    <a:lnTo>
                      <a:pt x="72" y="18"/>
                    </a:lnTo>
                    <a:lnTo>
                      <a:pt x="86" y="13"/>
                    </a:lnTo>
                    <a:lnTo>
                      <a:pt x="92" y="13"/>
                    </a:lnTo>
                    <a:lnTo>
                      <a:pt x="103" y="8"/>
                    </a:lnTo>
                    <a:lnTo>
                      <a:pt x="114" y="8"/>
                    </a:lnTo>
                    <a:lnTo>
                      <a:pt x="119" y="5"/>
                    </a:lnTo>
                    <a:lnTo>
                      <a:pt x="125"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924" name="Freeform 62"/>
              <p:cNvSpPr>
                <a:spLocks/>
              </p:cNvSpPr>
              <p:nvPr/>
            </p:nvSpPr>
            <p:spPr bwMode="auto">
              <a:xfrm>
                <a:off x="1823" y="2651"/>
                <a:ext cx="91" cy="91"/>
              </a:xfrm>
              <a:custGeom>
                <a:avLst/>
                <a:gdLst>
                  <a:gd name="T0" fmla="*/ 0 w 91"/>
                  <a:gd name="T1" fmla="*/ 0 h 91"/>
                  <a:gd name="T2" fmla="*/ 34 w 91"/>
                  <a:gd name="T3" fmla="*/ 25 h 91"/>
                  <a:gd name="T4" fmla="*/ 37 w 91"/>
                  <a:gd name="T5" fmla="*/ 58 h 91"/>
                  <a:gd name="T6" fmla="*/ 42 w 91"/>
                  <a:gd name="T7" fmla="*/ 63 h 91"/>
                  <a:gd name="T8" fmla="*/ 45 w 91"/>
                  <a:gd name="T9" fmla="*/ 68 h 91"/>
                  <a:gd name="T10" fmla="*/ 51 w 91"/>
                  <a:gd name="T11" fmla="*/ 70 h 91"/>
                  <a:gd name="T12" fmla="*/ 56 w 91"/>
                  <a:gd name="T13" fmla="*/ 73 h 91"/>
                  <a:gd name="T14" fmla="*/ 62 w 91"/>
                  <a:gd name="T15" fmla="*/ 75 h 91"/>
                  <a:gd name="T16" fmla="*/ 73 w 91"/>
                  <a:gd name="T17" fmla="*/ 75 h 91"/>
                  <a:gd name="T18" fmla="*/ 84 w 91"/>
                  <a:gd name="T19" fmla="*/ 85 h 91"/>
                  <a:gd name="T20" fmla="*/ 90 w 91"/>
                  <a:gd name="T21" fmla="*/ 90 h 9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1"/>
                  <a:gd name="T34" fmla="*/ 0 h 91"/>
                  <a:gd name="T35" fmla="*/ 91 w 91"/>
                  <a:gd name="T36" fmla="*/ 91 h 9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1" h="91">
                    <a:moveTo>
                      <a:pt x="0" y="0"/>
                    </a:moveTo>
                    <a:lnTo>
                      <a:pt x="34" y="25"/>
                    </a:lnTo>
                    <a:lnTo>
                      <a:pt x="37" y="58"/>
                    </a:lnTo>
                    <a:lnTo>
                      <a:pt x="42" y="63"/>
                    </a:lnTo>
                    <a:lnTo>
                      <a:pt x="45" y="68"/>
                    </a:lnTo>
                    <a:lnTo>
                      <a:pt x="51" y="70"/>
                    </a:lnTo>
                    <a:lnTo>
                      <a:pt x="56" y="73"/>
                    </a:lnTo>
                    <a:lnTo>
                      <a:pt x="62" y="75"/>
                    </a:lnTo>
                    <a:lnTo>
                      <a:pt x="73" y="75"/>
                    </a:lnTo>
                    <a:lnTo>
                      <a:pt x="84" y="85"/>
                    </a:lnTo>
                    <a:lnTo>
                      <a:pt x="90" y="9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925" name="Freeform 63"/>
              <p:cNvSpPr>
                <a:spLocks/>
              </p:cNvSpPr>
              <p:nvPr/>
            </p:nvSpPr>
            <p:spPr bwMode="auto">
              <a:xfrm>
                <a:off x="1665" y="2629"/>
                <a:ext cx="52" cy="106"/>
              </a:xfrm>
              <a:custGeom>
                <a:avLst/>
                <a:gdLst>
                  <a:gd name="T0" fmla="*/ 0 w 52"/>
                  <a:gd name="T1" fmla="*/ 0 h 106"/>
                  <a:gd name="T2" fmla="*/ 31 w 52"/>
                  <a:gd name="T3" fmla="*/ 70 h 106"/>
                  <a:gd name="T4" fmla="*/ 34 w 52"/>
                  <a:gd name="T5" fmla="*/ 75 h 106"/>
                  <a:gd name="T6" fmla="*/ 37 w 52"/>
                  <a:gd name="T7" fmla="*/ 80 h 106"/>
                  <a:gd name="T8" fmla="*/ 37 w 52"/>
                  <a:gd name="T9" fmla="*/ 85 h 106"/>
                  <a:gd name="T10" fmla="*/ 37 w 52"/>
                  <a:gd name="T11" fmla="*/ 90 h 106"/>
                  <a:gd name="T12" fmla="*/ 37 w 52"/>
                  <a:gd name="T13" fmla="*/ 95 h 106"/>
                  <a:gd name="T14" fmla="*/ 40 w 52"/>
                  <a:gd name="T15" fmla="*/ 100 h 106"/>
                  <a:gd name="T16" fmla="*/ 45 w 52"/>
                  <a:gd name="T17" fmla="*/ 105 h 106"/>
                  <a:gd name="T18" fmla="*/ 51 w 52"/>
                  <a:gd name="T19" fmla="*/ 105 h 106"/>
                  <a:gd name="T20" fmla="*/ 48 w 52"/>
                  <a:gd name="T21" fmla="*/ 105 h 10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2"/>
                  <a:gd name="T34" fmla="*/ 0 h 106"/>
                  <a:gd name="T35" fmla="*/ 52 w 52"/>
                  <a:gd name="T36" fmla="*/ 106 h 10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2" h="106">
                    <a:moveTo>
                      <a:pt x="0" y="0"/>
                    </a:moveTo>
                    <a:lnTo>
                      <a:pt x="31" y="70"/>
                    </a:lnTo>
                    <a:lnTo>
                      <a:pt x="34" y="75"/>
                    </a:lnTo>
                    <a:lnTo>
                      <a:pt x="37" y="80"/>
                    </a:lnTo>
                    <a:lnTo>
                      <a:pt x="37" y="85"/>
                    </a:lnTo>
                    <a:lnTo>
                      <a:pt x="37" y="90"/>
                    </a:lnTo>
                    <a:lnTo>
                      <a:pt x="37" y="95"/>
                    </a:lnTo>
                    <a:lnTo>
                      <a:pt x="40" y="100"/>
                    </a:lnTo>
                    <a:lnTo>
                      <a:pt x="45" y="105"/>
                    </a:lnTo>
                    <a:lnTo>
                      <a:pt x="51" y="105"/>
                    </a:lnTo>
                    <a:lnTo>
                      <a:pt x="48" y="105"/>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926" name="Freeform 64"/>
              <p:cNvSpPr>
                <a:spLocks/>
              </p:cNvSpPr>
              <p:nvPr/>
            </p:nvSpPr>
            <p:spPr bwMode="auto">
              <a:xfrm>
                <a:off x="1964" y="2645"/>
                <a:ext cx="79" cy="72"/>
              </a:xfrm>
              <a:custGeom>
                <a:avLst/>
                <a:gdLst>
                  <a:gd name="T0" fmla="*/ 78 w 79"/>
                  <a:gd name="T1" fmla="*/ 0 h 72"/>
                  <a:gd name="T2" fmla="*/ 72 w 79"/>
                  <a:gd name="T3" fmla="*/ 3 h 72"/>
                  <a:gd name="T4" fmla="*/ 67 w 79"/>
                  <a:gd name="T5" fmla="*/ 5 h 72"/>
                  <a:gd name="T6" fmla="*/ 61 w 79"/>
                  <a:gd name="T7" fmla="*/ 8 h 72"/>
                  <a:gd name="T8" fmla="*/ 61 w 79"/>
                  <a:gd name="T9" fmla="*/ 13 h 72"/>
                  <a:gd name="T10" fmla="*/ 61 w 79"/>
                  <a:gd name="T11" fmla="*/ 18 h 72"/>
                  <a:gd name="T12" fmla="*/ 61 w 79"/>
                  <a:gd name="T13" fmla="*/ 23 h 72"/>
                  <a:gd name="T14" fmla="*/ 56 w 79"/>
                  <a:gd name="T15" fmla="*/ 36 h 72"/>
                  <a:gd name="T16" fmla="*/ 45 w 79"/>
                  <a:gd name="T17" fmla="*/ 36 h 72"/>
                  <a:gd name="T18" fmla="*/ 42 w 79"/>
                  <a:gd name="T19" fmla="*/ 41 h 72"/>
                  <a:gd name="T20" fmla="*/ 31 w 79"/>
                  <a:gd name="T21" fmla="*/ 46 h 72"/>
                  <a:gd name="T22" fmla="*/ 25 w 79"/>
                  <a:gd name="T23" fmla="*/ 48 h 72"/>
                  <a:gd name="T24" fmla="*/ 8 w 79"/>
                  <a:gd name="T25" fmla="*/ 63 h 72"/>
                  <a:gd name="T26" fmla="*/ 6 w 79"/>
                  <a:gd name="T27" fmla="*/ 68 h 72"/>
                  <a:gd name="T28" fmla="*/ 0 w 79"/>
                  <a:gd name="T29" fmla="*/ 71 h 7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9"/>
                  <a:gd name="T46" fmla="*/ 0 h 72"/>
                  <a:gd name="T47" fmla="*/ 79 w 79"/>
                  <a:gd name="T48" fmla="*/ 72 h 7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9" h="72">
                    <a:moveTo>
                      <a:pt x="78" y="0"/>
                    </a:moveTo>
                    <a:lnTo>
                      <a:pt x="72" y="3"/>
                    </a:lnTo>
                    <a:lnTo>
                      <a:pt x="67" y="5"/>
                    </a:lnTo>
                    <a:lnTo>
                      <a:pt x="61" y="8"/>
                    </a:lnTo>
                    <a:lnTo>
                      <a:pt x="61" y="13"/>
                    </a:lnTo>
                    <a:lnTo>
                      <a:pt x="61" y="18"/>
                    </a:lnTo>
                    <a:lnTo>
                      <a:pt x="61" y="23"/>
                    </a:lnTo>
                    <a:lnTo>
                      <a:pt x="56" y="36"/>
                    </a:lnTo>
                    <a:lnTo>
                      <a:pt x="45" y="36"/>
                    </a:lnTo>
                    <a:lnTo>
                      <a:pt x="42" y="41"/>
                    </a:lnTo>
                    <a:lnTo>
                      <a:pt x="31" y="46"/>
                    </a:lnTo>
                    <a:lnTo>
                      <a:pt x="25" y="48"/>
                    </a:lnTo>
                    <a:lnTo>
                      <a:pt x="8" y="63"/>
                    </a:lnTo>
                    <a:lnTo>
                      <a:pt x="6" y="68"/>
                    </a:lnTo>
                    <a:lnTo>
                      <a:pt x="0" y="71"/>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927" name="Freeform 65"/>
              <p:cNvSpPr>
                <a:spLocks/>
              </p:cNvSpPr>
              <p:nvPr/>
            </p:nvSpPr>
            <p:spPr bwMode="auto">
              <a:xfrm>
                <a:off x="1901" y="2809"/>
                <a:ext cx="105" cy="46"/>
              </a:xfrm>
              <a:custGeom>
                <a:avLst/>
                <a:gdLst>
                  <a:gd name="T0" fmla="*/ 0 w 105"/>
                  <a:gd name="T1" fmla="*/ 0 h 46"/>
                  <a:gd name="T2" fmla="*/ 42 w 105"/>
                  <a:gd name="T3" fmla="*/ 0 h 46"/>
                  <a:gd name="T4" fmla="*/ 48 w 105"/>
                  <a:gd name="T5" fmla="*/ 0 h 46"/>
                  <a:gd name="T6" fmla="*/ 53 w 105"/>
                  <a:gd name="T7" fmla="*/ 5 h 46"/>
                  <a:gd name="T8" fmla="*/ 56 w 105"/>
                  <a:gd name="T9" fmla="*/ 10 h 46"/>
                  <a:gd name="T10" fmla="*/ 62 w 105"/>
                  <a:gd name="T11" fmla="*/ 13 h 46"/>
                  <a:gd name="T12" fmla="*/ 65 w 105"/>
                  <a:gd name="T13" fmla="*/ 18 h 46"/>
                  <a:gd name="T14" fmla="*/ 70 w 105"/>
                  <a:gd name="T15" fmla="*/ 23 h 46"/>
                  <a:gd name="T16" fmla="*/ 73 w 105"/>
                  <a:gd name="T17" fmla="*/ 28 h 46"/>
                  <a:gd name="T18" fmla="*/ 76 w 105"/>
                  <a:gd name="T19" fmla="*/ 33 h 46"/>
                  <a:gd name="T20" fmla="*/ 82 w 105"/>
                  <a:gd name="T21" fmla="*/ 38 h 46"/>
                  <a:gd name="T22" fmla="*/ 87 w 105"/>
                  <a:gd name="T23" fmla="*/ 40 h 46"/>
                  <a:gd name="T24" fmla="*/ 93 w 105"/>
                  <a:gd name="T25" fmla="*/ 43 h 46"/>
                  <a:gd name="T26" fmla="*/ 98 w 105"/>
                  <a:gd name="T27" fmla="*/ 45 h 46"/>
                  <a:gd name="T28" fmla="*/ 104 w 105"/>
                  <a:gd name="T29" fmla="*/ 45 h 4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5"/>
                  <a:gd name="T46" fmla="*/ 0 h 46"/>
                  <a:gd name="T47" fmla="*/ 105 w 105"/>
                  <a:gd name="T48" fmla="*/ 46 h 4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5" h="46">
                    <a:moveTo>
                      <a:pt x="0" y="0"/>
                    </a:moveTo>
                    <a:lnTo>
                      <a:pt x="42" y="0"/>
                    </a:lnTo>
                    <a:lnTo>
                      <a:pt x="48" y="0"/>
                    </a:lnTo>
                    <a:lnTo>
                      <a:pt x="53" y="5"/>
                    </a:lnTo>
                    <a:lnTo>
                      <a:pt x="56" y="10"/>
                    </a:lnTo>
                    <a:lnTo>
                      <a:pt x="62" y="13"/>
                    </a:lnTo>
                    <a:lnTo>
                      <a:pt x="65" y="18"/>
                    </a:lnTo>
                    <a:lnTo>
                      <a:pt x="70" y="23"/>
                    </a:lnTo>
                    <a:lnTo>
                      <a:pt x="73" y="28"/>
                    </a:lnTo>
                    <a:lnTo>
                      <a:pt x="76" y="33"/>
                    </a:lnTo>
                    <a:lnTo>
                      <a:pt x="82" y="38"/>
                    </a:lnTo>
                    <a:lnTo>
                      <a:pt x="87" y="40"/>
                    </a:lnTo>
                    <a:lnTo>
                      <a:pt x="93" y="43"/>
                    </a:lnTo>
                    <a:lnTo>
                      <a:pt x="98" y="45"/>
                    </a:lnTo>
                    <a:lnTo>
                      <a:pt x="104" y="45"/>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928" name="Freeform 66"/>
              <p:cNvSpPr>
                <a:spLocks/>
              </p:cNvSpPr>
              <p:nvPr/>
            </p:nvSpPr>
            <p:spPr bwMode="auto">
              <a:xfrm>
                <a:off x="1786" y="2774"/>
                <a:ext cx="38" cy="76"/>
              </a:xfrm>
              <a:custGeom>
                <a:avLst/>
                <a:gdLst>
                  <a:gd name="T0" fmla="*/ 0 w 38"/>
                  <a:gd name="T1" fmla="*/ 0 h 76"/>
                  <a:gd name="T2" fmla="*/ 3 w 38"/>
                  <a:gd name="T3" fmla="*/ 5 h 76"/>
                  <a:gd name="T4" fmla="*/ 3 w 38"/>
                  <a:gd name="T5" fmla="*/ 10 h 76"/>
                  <a:gd name="T6" fmla="*/ 3 w 38"/>
                  <a:gd name="T7" fmla="*/ 15 h 76"/>
                  <a:gd name="T8" fmla="*/ 0 w 38"/>
                  <a:gd name="T9" fmla="*/ 20 h 76"/>
                  <a:gd name="T10" fmla="*/ 0 w 38"/>
                  <a:gd name="T11" fmla="*/ 25 h 76"/>
                  <a:gd name="T12" fmla="*/ 0 w 38"/>
                  <a:gd name="T13" fmla="*/ 30 h 76"/>
                  <a:gd name="T14" fmla="*/ 0 w 38"/>
                  <a:gd name="T15" fmla="*/ 35 h 76"/>
                  <a:gd name="T16" fmla="*/ 0 w 38"/>
                  <a:gd name="T17" fmla="*/ 40 h 76"/>
                  <a:gd name="T18" fmla="*/ 6 w 38"/>
                  <a:gd name="T19" fmla="*/ 45 h 76"/>
                  <a:gd name="T20" fmla="*/ 11 w 38"/>
                  <a:gd name="T21" fmla="*/ 50 h 76"/>
                  <a:gd name="T22" fmla="*/ 14 w 38"/>
                  <a:gd name="T23" fmla="*/ 55 h 76"/>
                  <a:gd name="T24" fmla="*/ 20 w 38"/>
                  <a:gd name="T25" fmla="*/ 60 h 76"/>
                  <a:gd name="T26" fmla="*/ 23 w 38"/>
                  <a:gd name="T27" fmla="*/ 65 h 76"/>
                  <a:gd name="T28" fmla="*/ 28 w 38"/>
                  <a:gd name="T29" fmla="*/ 70 h 76"/>
                  <a:gd name="T30" fmla="*/ 31 w 38"/>
                  <a:gd name="T31" fmla="*/ 75 h 76"/>
                  <a:gd name="T32" fmla="*/ 37 w 38"/>
                  <a:gd name="T33" fmla="*/ 75 h 7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8"/>
                  <a:gd name="T52" fmla="*/ 0 h 76"/>
                  <a:gd name="T53" fmla="*/ 38 w 38"/>
                  <a:gd name="T54" fmla="*/ 76 h 7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8" h="76">
                    <a:moveTo>
                      <a:pt x="0" y="0"/>
                    </a:moveTo>
                    <a:lnTo>
                      <a:pt x="3" y="5"/>
                    </a:lnTo>
                    <a:lnTo>
                      <a:pt x="3" y="10"/>
                    </a:lnTo>
                    <a:lnTo>
                      <a:pt x="3" y="15"/>
                    </a:lnTo>
                    <a:lnTo>
                      <a:pt x="0" y="20"/>
                    </a:lnTo>
                    <a:lnTo>
                      <a:pt x="0" y="25"/>
                    </a:lnTo>
                    <a:lnTo>
                      <a:pt x="0" y="30"/>
                    </a:lnTo>
                    <a:lnTo>
                      <a:pt x="0" y="35"/>
                    </a:lnTo>
                    <a:lnTo>
                      <a:pt x="0" y="40"/>
                    </a:lnTo>
                    <a:lnTo>
                      <a:pt x="6" y="45"/>
                    </a:lnTo>
                    <a:lnTo>
                      <a:pt x="11" y="50"/>
                    </a:lnTo>
                    <a:lnTo>
                      <a:pt x="14" y="55"/>
                    </a:lnTo>
                    <a:lnTo>
                      <a:pt x="20" y="60"/>
                    </a:lnTo>
                    <a:lnTo>
                      <a:pt x="23" y="65"/>
                    </a:lnTo>
                    <a:lnTo>
                      <a:pt x="28" y="70"/>
                    </a:lnTo>
                    <a:lnTo>
                      <a:pt x="31" y="75"/>
                    </a:lnTo>
                    <a:lnTo>
                      <a:pt x="37" y="75"/>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929" name="Freeform 67"/>
              <p:cNvSpPr>
                <a:spLocks/>
              </p:cNvSpPr>
              <p:nvPr/>
            </p:nvSpPr>
            <p:spPr bwMode="auto">
              <a:xfrm>
                <a:off x="1943" y="2741"/>
                <a:ext cx="85" cy="51"/>
              </a:xfrm>
              <a:custGeom>
                <a:avLst/>
                <a:gdLst>
                  <a:gd name="T0" fmla="*/ 0 w 85"/>
                  <a:gd name="T1" fmla="*/ 50 h 51"/>
                  <a:gd name="T2" fmla="*/ 17 w 85"/>
                  <a:gd name="T3" fmla="*/ 43 h 51"/>
                  <a:gd name="T4" fmla="*/ 20 w 85"/>
                  <a:gd name="T5" fmla="*/ 38 h 51"/>
                  <a:gd name="T6" fmla="*/ 22 w 85"/>
                  <a:gd name="T7" fmla="*/ 33 h 51"/>
                  <a:gd name="T8" fmla="*/ 28 w 85"/>
                  <a:gd name="T9" fmla="*/ 30 h 51"/>
                  <a:gd name="T10" fmla="*/ 34 w 85"/>
                  <a:gd name="T11" fmla="*/ 30 h 51"/>
                  <a:gd name="T12" fmla="*/ 39 w 85"/>
                  <a:gd name="T13" fmla="*/ 30 h 51"/>
                  <a:gd name="T14" fmla="*/ 45 w 85"/>
                  <a:gd name="T15" fmla="*/ 30 h 51"/>
                  <a:gd name="T16" fmla="*/ 50 w 85"/>
                  <a:gd name="T17" fmla="*/ 30 h 51"/>
                  <a:gd name="T18" fmla="*/ 56 w 85"/>
                  <a:gd name="T19" fmla="*/ 30 h 51"/>
                  <a:gd name="T20" fmla="*/ 62 w 85"/>
                  <a:gd name="T21" fmla="*/ 28 h 51"/>
                  <a:gd name="T22" fmla="*/ 64 w 85"/>
                  <a:gd name="T23" fmla="*/ 23 h 51"/>
                  <a:gd name="T24" fmla="*/ 70 w 85"/>
                  <a:gd name="T25" fmla="*/ 18 h 51"/>
                  <a:gd name="T26" fmla="*/ 76 w 85"/>
                  <a:gd name="T27" fmla="*/ 15 h 51"/>
                  <a:gd name="T28" fmla="*/ 78 w 85"/>
                  <a:gd name="T29" fmla="*/ 10 h 51"/>
                  <a:gd name="T30" fmla="*/ 81 w 85"/>
                  <a:gd name="T31" fmla="*/ 5 h 51"/>
                  <a:gd name="T32" fmla="*/ 84 w 85"/>
                  <a:gd name="T33" fmla="*/ 0 h 5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5"/>
                  <a:gd name="T52" fmla="*/ 0 h 51"/>
                  <a:gd name="T53" fmla="*/ 85 w 85"/>
                  <a:gd name="T54" fmla="*/ 51 h 5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5" h="51">
                    <a:moveTo>
                      <a:pt x="0" y="50"/>
                    </a:moveTo>
                    <a:lnTo>
                      <a:pt x="17" y="43"/>
                    </a:lnTo>
                    <a:lnTo>
                      <a:pt x="20" y="38"/>
                    </a:lnTo>
                    <a:lnTo>
                      <a:pt x="22" y="33"/>
                    </a:lnTo>
                    <a:lnTo>
                      <a:pt x="28" y="30"/>
                    </a:lnTo>
                    <a:lnTo>
                      <a:pt x="34" y="30"/>
                    </a:lnTo>
                    <a:lnTo>
                      <a:pt x="39" y="30"/>
                    </a:lnTo>
                    <a:lnTo>
                      <a:pt x="45" y="30"/>
                    </a:lnTo>
                    <a:lnTo>
                      <a:pt x="50" y="30"/>
                    </a:lnTo>
                    <a:lnTo>
                      <a:pt x="56" y="30"/>
                    </a:lnTo>
                    <a:lnTo>
                      <a:pt x="62" y="28"/>
                    </a:lnTo>
                    <a:lnTo>
                      <a:pt x="64" y="23"/>
                    </a:lnTo>
                    <a:lnTo>
                      <a:pt x="70" y="18"/>
                    </a:lnTo>
                    <a:lnTo>
                      <a:pt x="76" y="15"/>
                    </a:lnTo>
                    <a:lnTo>
                      <a:pt x="78" y="10"/>
                    </a:lnTo>
                    <a:lnTo>
                      <a:pt x="81" y="5"/>
                    </a:lnTo>
                    <a:lnTo>
                      <a:pt x="84"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930" name="Freeform 68"/>
              <p:cNvSpPr>
                <a:spLocks/>
              </p:cNvSpPr>
              <p:nvPr/>
            </p:nvSpPr>
            <p:spPr bwMode="auto">
              <a:xfrm>
                <a:off x="1617" y="2684"/>
                <a:ext cx="145" cy="13"/>
              </a:xfrm>
              <a:custGeom>
                <a:avLst/>
                <a:gdLst>
                  <a:gd name="T0" fmla="*/ 0 w 145"/>
                  <a:gd name="T1" fmla="*/ 2 h 13"/>
                  <a:gd name="T2" fmla="*/ 17 w 145"/>
                  <a:gd name="T3" fmla="*/ 2 h 13"/>
                  <a:gd name="T4" fmla="*/ 23 w 145"/>
                  <a:gd name="T5" fmla="*/ 2 h 13"/>
                  <a:gd name="T6" fmla="*/ 28 w 145"/>
                  <a:gd name="T7" fmla="*/ 0 h 13"/>
                  <a:gd name="T8" fmla="*/ 34 w 145"/>
                  <a:gd name="T9" fmla="*/ 0 h 13"/>
                  <a:gd name="T10" fmla="*/ 40 w 145"/>
                  <a:gd name="T11" fmla="*/ 0 h 13"/>
                  <a:gd name="T12" fmla="*/ 45 w 145"/>
                  <a:gd name="T13" fmla="*/ 0 h 13"/>
                  <a:gd name="T14" fmla="*/ 59 w 145"/>
                  <a:gd name="T15" fmla="*/ 0 h 13"/>
                  <a:gd name="T16" fmla="*/ 71 w 145"/>
                  <a:gd name="T17" fmla="*/ 5 h 13"/>
                  <a:gd name="T18" fmla="*/ 82 w 145"/>
                  <a:gd name="T19" fmla="*/ 5 h 13"/>
                  <a:gd name="T20" fmla="*/ 93 w 145"/>
                  <a:gd name="T21" fmla="*/ 5 h 13"/>
                  <a:gd name="T22" fmla="*/ 104 w 145"/>
                  <a:gd name="T23" fmla="*/ 5 h 13"/>
                  <a:gd name="T24" fmla="*/ 116 w 145"/>
                  <a:gd name="T25" fmla="*/ 10 h 13"/>
                  <a:gd name="T26" fmla="*/ 127 w 145"/>
                  <a:gd name="T27" fmla="*/ 10 h 13"/>
                  <a:gd name="T28" fmla="*/ 133 w 145"/>
                  <a:gd name="T29" fmla="*/ 12 h 13"/>
                  <a:gd name="T30" fmla="*/ 138 w 145"/>
                  <a:gd name="T31" fmla="*/ 12 h 13"/>
                  <a:gd name="T32" fmla="*/ 144 w 145"/>
                  <a:gd name="T33" fmla="*/ 12 h 1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45"/>
                  <a:gd name="T52" fmla="*/ 0 h 13"/>
                  <a:gd name="T53" fmla="*/ 145 w 145"/>
                  <a:gd name="T54" fmla="*/ 13 h 1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45" h="13">
                    <a:moveTo>
                      <a:pt x="0" y="2"/>
                    </a:moveTo>
                    <a:lnTo>
                      <a:pt x="17" y="2"/>
                    </a:lnTo>
                    <a:lnTo>
                      <a:pt x="23" y="2"/>
                    </a:lnTo>
                    <a:lnTo>
                      <a:pt x="28" y="0"/>
                    </a:lnTo>
                    <a:lnTo>
                      <a:pt x="34" y="0"/>
                    </a:lnTo>
                    <a:lnTo>
                      <a:pt x="40" y="0"/>
                    </a:lnTo>
                    <a:lnTo>
                      <a:pt x="45" y="0"/>
                    </a:lnTo>
                    <a:lnTo>
                      <a:pt x="59" y="0"/>
                    </a:lnTo>
                    <a:lnTo>
                      <a:pt x="71" y="5"/>
                    </a:lnTo>
                    <a:lnTo>
                      <a:pt x="82" y="5"/>
                    </a:lnTo>
                    <a:lnTo>
                      <a:pt x="93" y="5"/>
                    </a:lnTo>
                    <a:lnTo>
                      <a:pt x="104" y="5"/>
                    </a:lnTo>
                    <a:lnTo>
                      <a:pt x="116" y="10"/>
                    </a:lnTo>
                    <a:lnTo>
                      <a:pt x="127" y="10"/>
                    </a:lnTo>
                    <a:lnTo>
                      <a:pt x="133" y="12"/>
                    </a:lnTo>
                    <a:lnTo>
                      <a:pt x="138" y="12"/>
                    </a:lnTo>
                    <a:lnTo>
                      <a:pt x="144" y="12"/>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931" name="Freeform 69"/>
              <p:cNvSpPr>
                <a:spLocks/>
              </p:cNvSpPr>
              <p:nvPr/>
            </p:nvSpPr>
            <p:spPr bwMode="auto">
              <a:xfrm>
                <a:off x="2093" y="2626"/>
                <a:ext cx="25" cy="146"/>
              </a:xfrm>
              <a:custGeom>
                <a:avLst/>
                <a:gdLst>
                  <a:gd name="T0" fmla="*/ 19 w 25"/>
                  <a:gd name="T1" fmla="*/ 0 h 146"/>
                  <a:gd name="T2" fmla="*/ 16 w 25"/>
                  <a:gd name="T3" fmla="*/ 5 h 146"/>
                  <a:gd name="T4" fmla="*/ 11 w 25"/>
                  <a:gd name="T5" fmla="*/ 10 h 146"/>
                  <a:gd name="T6" fmla="*/ 8 w 25"/>
                  <a:gd name="T7" fmla="*/ 15 h 146"/>
                  <a:gd name="T8" fmla="*/ 5 w 25"/>
                  <a:gd name="T9" fmla="*/ 20 h 146"/>
                  <a:gd name="T10" fmla="*/ 3 w 25"/>
                  <a:gd name="T11" fmla="*/ 25 h 146"/>
                  <a:gd name="T12" fmla="*/ 3 w 25"/>
                  <a:gd name="T13" fmla="*/ 30 h 146"/>
                  <a:gd name="T14" fmla="*/ 8 w 25"/>
                  <a:gd name="T15" fmla="*/ 43 h 146"/>
                  <a:gd name="T16" fmla="*/ 8 w 25"/>
                  <a:gd name="T17" fmla="*/ 53 h 146"/>
                  <a:gd name="T18" fmla="*/ 11 w 25"/>
                  <a:gd name="T19" fmla="*/ 65 h 146"/>
                  <a:gd name="T20" fmla="*/ 13 w 25"/>
                  <a:gd name="T21" fmla="*/ 78 h 146"/>
                  <a:gd name="T22" fmla="*/ 19 w 25"/>
                  <a:gd name="T23" fmla="*/ 88 h 146"/>
                  <a:gd name="T24" fmla="*/ 19 w 25"/>
                  <a:gd name="T25" fmla="*/ 98 h 146"/>
                  <a:gd name="T26" fmla="*/ 24 w 25"/>
                  <a:gd name="T27" fmla="*/ 108 h 146"/>
                  <a:gd name="T28" fmla="*/ 24 w 25"/>
                  <a:gd name="T29" fmla="*/ 118 h 146"/>
                  <a:gd name="T30" fmla="*/ 24 w 25"/>
                  <a:gd name="T31" fmla="*/ 128 h 146"/>
                  <a:gd name="T32" fmla="*/ 21 w 25"/>
                  <a:gd name="T33" fmla="*/ 133 h 146"/>
                  <a:gd name="T34" fmla="*/ 11 w 25"/>
                  <a:gd name="T35" fmla="*/ 138 h 146"/>
                  <a:gd name="T36" fmla="*/ 5 w 25"/>
                  <a:gd name="T37" fmla="*/ 143 h 146"/>
                  <a:gd name="T38" fmla="*/ 0 w 25"/>
                  <a:gd name="T39" fmla="*/ 145 h 14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5"/>
                  <a:gd name="T61" fmla="*/ 0 h 146"/>
                  <a:gd name="T62" fmla="*/ 25 w 25"/>
                  <a:gd name="T63" fmla="*/ 146 h 14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5" h="146">
                    <a:moveTo>
                      <a:pt x="19" y="0"/>
                    </a:moveTo>
                    <a:lnTo>
                      <a:pt x="16" y="5"/>
                    </a:lnTo>
                    <a:lnTo>
                      <a:pt x="11" y="10"/>
                    </a:lnTo>
                    <a:lnTo>
                      <a:pt x="8" y="15"/>
                    </a:lnTo>
                    <a:lnTo>
                      <a:pt x="5" y="20"/>
                    </a:lnTo>
                    <a:lnTo>
                      <a:pt x="3" y="25"/>
                    </a:lnTo>
                    <a:lnTo>
                      <a:pt x="3" y="30"/>
                    </a:lnTo>
                    <a:lnTo>
                      <a:pt x="8" y="43"/>
                    </a:lnTo>
                    <a:lnTo>
                      <a:pt x="8" y="53"/>
                    </a:lnTo>
                    <a:lnTo>
                      <a:pt x="11" y="65"/>
                    </a:lnTo>
                    <a:lnTo>
                      <a:pt x="13" y="78"/>
                    </a:lnTo>
                    <a:lnTo>
                      <a:pt x="19" y="88"/>
                    </a:lnTo>
                    <a:lnTo>
                      <a:pt x="19" y="98"/>
                    </a:lnTo>
                    <a:lnTo>
                      <a:pt x="24" y="108"/>
                    </a:lnTo>
                    <a:lnTo>
                      <a:pt x="24" y="118"/>
                    </a:lnTo>
                    <a:lnTo>
                      <a:pt x="24" y="128"/>
                    </a:lnTo>
                    <a:lnTo>
                      <a:pt x="21" y="133"/>
                    </a:lnTo>
                    <a:lnTo>
                      <a:pt x="11" y="138"/>
                    </a:lnTo>
                    <a:lnTo>
                      <a:pt x="5" y="143"/>
                    </a:lnTo>
                    <a:lnTo>
                      <a:pt x="0" y="145"/>
                    </a:lnTo>
                  </a:path>
                </a:pathLst>
              </a:custGeom>
              <a:noFill/>
              <a:ln w="12700" cap="rnd" cmpd="sng">
                <a:solidFill>
                  <a:srgbClr val="4BCD00"/>
                </a:solidFill>
                <a:prstDash val="solid"/>
                <a:round/>
                <a:headEnd type="none" w="med" len="med"/>
                <a:tailEnd type="none" w="med" len="med"/>
              </a:ln>
            </p:spPr>
            <p:txBody>
              <a:bodyPr/>
              <a:lstStyle/>
              <a:p>
                <a:endParaRPr lang="en-US"/>
              </a:p>
            </p:txBody>
          </p:sp>
        </p:grpSp>
        <p:grpSp>
          <p:nvGrpSpPr>
            <p:cNvPr id="17695" name="Group 70"/>
            <p:cNvGrpSpPr>
              <a:grpSpLocks/>
            </p:cNvGrpSpPr>
            <p:nvPr/>
          </p:nvGrpSpPr>
          <p:grpSpPr bwMode="auto">
            <a:xfrm>
              <a:off x="3395" y="3024"/>
              <a:ext cx="965" cy="391"/>
              <a:chOff x="4697" y="2982"/>
              <a:chExt cx="965" cy="391"/>
            </a:xfrm>
          </p:grpSpPr>
          <p:sp>
            <p:nvSpPr>
              <p:cNvPr id="17809" name="Oval 71"/>
              <p:cNvSpPr>
                <a:spLocks noChangeArrowheads="1"/>
              </p:cNvSpPr>
              <p:nvPr/>
            </p:nvSpPr>
            <p:spPr bwMode="auto">
              <a:xfrm>
                <a:off x="4745" y="3099"/>
                <a:ext cx="92"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10" name="Oval 72"/>
              <p:cNvSpPr>
                <a:spLocks noChangeArrowheads="1"/>
              </p:cNvSpPr>
              <p:nvPr/>
            </p:nvSpPr>
            <p:spPr bwMode="auto">
              <a:xfrm>
                <a:off x="4701" y="3128"/>
                <a:ext cx="92" cy="40"/>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11" name="Oval 73"/>
              <p:cNvSpPr>
                <a:spLocks noChangeArrowheads="1"/>
              </p:cNvSpPr>
              <p:nvPr/>
            </p:nvSpPr>
            <p:spPr bwMode="auto">
              <a:xfrm>
                <a:off x="4704" y="3177"/>
                <a:ext cx="93"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12" name="Oval 74"/>
              <p:cNvSpPr>
                <a:spLocks noChangeArrowheads="1"/>
              </p:cNvSpPr>
              <p:nvPr/>
            </p:nvSpPr>
            <p:spPr bwMode="auto">
              <a:xfrm rot="6360000">
                <a:off x="4703" y="3206"/>
                <a:ext cx="93"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13" name="Oval 75"/>
              <p:cNvSpPr>
                <a:spLocks noChangeArrowheads="1"/>
              </p:cNvSpPr>
              <p:nvPr/>
            </p:nvSpPr>
            <p:spPr bwMode="auto">
              <a:xfrm>
                <a:off x="4737" y="3257"/>
                <a:ext cx="91" cy="43"/>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14" name="Oval 76"/>
              <p:cNvSpPr>
                <a:spLocks noChangeArrowheads="1"/>
              </p:cNvSpPr>
              <p:nvPr/>
            </p:nvSpPr>
            <p:spPr bwMode="auto">
              <a:xfrm rot="-4800000">
                <a:off x="4682" y="3109"/>
                <a:ext cx="92" cy="42"/>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15" name="Oval 77"/>
              <p:cNvSpPr>
                <a:spLocks noChangeArrowheads="1"/>
              </p:cNvSpPr>
              <p:nvPr/>
            </p:nvSpPr>
            <p:spPr bwMode="auto">
              <a:xfrm>
                <a:off x="4863" y="3307"/>
                <a:ext cx="92" cy="42"/>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16" name="Oval 78"/>
              <p:cNvSpPr>
                <a:spLocks noChangeArrowheads="1"/>
              </p:cNvSpPr>
              <p:nvPr/>
            </p:nvSpPr>
            <p:spPr bwMode="auto">
              <a:xfrm>
                <a:off x="4835" y="3255"/>
                <a:ext cx="93" cy="40"/>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17" name="Oval 79"/>
              <p:cNvSpPr>
                <a:spLocks noChangeArrowheads="1"/>
              </p:cNvSpPr>
              <p:nvPr/>
            </p:nvSpPr>
            <p:spPr bwMode="auto">
              <a:xfrm>
                <a:off x="4835" y="3205"/>
                <a:ext cx="93"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18" name="Oval 80"/>
              <p:cNvSpPr>
                <a:spLocks noChangeArrowheads="1"/>
              </p:cNvSpPr>
              <p:nvPr/>
            </p:nvSpPr>
            <p:spPr bwMode="auto">
              <a:xfrm>
                <a:off x="4942" y="3307"/>
                <a:ext cx="94" cy="42"/>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19" name="Oval 81"/>
              <p:cNvSpPr>
                <a:spLocks noChangeArrowheads="1"/>
              </p:cNvSpPr>
              <p:nvPr/>
            </p:nvSpPr>
            <p:spPr bwMode="auto">
              <a:xfrm>
                <a:off x="4935" y="3269"/>
                <a:ext cx="92"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20" name="Oval 82"/>
              <p:cNvSpPr>
                <a:spLocks noChangeArrowheads="1"/>
              </p:cNvSpPr>
              <p:nvPr/>
            </p:nvSpPr>
            <p:spPr bwMode="auto">
              <a:xfrm>
                <a:off x="4924" y="3226"/>
                <a:ext cx="90"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21" name="Oval 83"/>
              <p:cNvSpPr>
                <a:spLocks noChangeArrowheads="1"/>
              </p:cNvSpPr>
              <p:nvPr/>
            </p:nvSpPr>
            <p:spPr bwMode="auto">
              <a:xfrm>
                <a:off x="4831" y="3170"/>
                <a:ext cx="93"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22" name="Oval 84"/>
              <p:cNvSpPr>
                <a:spLocks noChangeArrowheads="1"/>
              </p:cNvSpPr>
              <p:nvPr/>
            </p:nvSpPr>
            <p:spPr bwMode="auto">
              <a:xfrm>
                <a:off x="4924" y="3180"/>
                <a:ext cx="90" cy="42"/>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23" name="Oval 85"/>
              <p:cNvSpPr>
                <a:spLocks noChangeArrowheads="1"/>
              </p:cNvSpPr>
              <p:nvPr/>
            </p:nvSpPr>
            <p:spPr bwMode="auto">
              <a:xfrm>
                <a:off x="5026" y="3321"/>
                <a:ext cx="93" cy="42"/>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24" name="Oval 86"/>
              <p:cNvSpPr>
                <a:spLocks noChangeArrowheads="1"/>
              </p:cNvSpPr>
              <p:nvPr/>
            </p:nvSpPr>
            <p:spPr bwMode="auto">
              <a:xfrm>
                <a:off x="5542" y="3032"/>
                <a:ext cx="92" cy="42"/>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25" name="Oval 87"/>
              <p:cNvSpPr>
                <a:spLocks noChangeArrowheads="1"/>
              </p:cNvSpPr>
              <p:nvPr/>
            </p:nvSpPr>
            <p:spPr bwMode="auto">
              <a:xfrm>
                <a:off x="5479" y="3071"/>
                <a:ext cx="91"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26" name="Oval 88"/>
              <p:cNvSpPr>
                <a:spLocks noChangeArrowheads="1"/>
              </p:cNvSpPr>
              <p:nvPr/>
            </p:nvSpPr>
            <p:spPr bwMode="auto">
              <a:xfrm>
                <a:off x="5559" y="3078"/>
                <a:ext cx="90"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27" name="Oval 89"/>
              <p:cNvSpPr>
                <a:spLocks noChangeArrowheads="1"/>
              </p:cNvSpPr>
              <p:nvPr/>
            </p:nvSpPr>
            <p:spPr bwMode="auto">
              <a:xfrm>
                <a:off x="5419" y="3116"/>
                <a:ext cx="92" cy="43"/>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28" name="Oval 90"/>
              <p:cNvSpPr>
                <a:spLocks noChangeArrowheads="1"/>
              </p:cNvSpPr>
              <p:nvPr/>
            </p:nvSpPr>
            <p:spPr bwMode="auto">
              <a:xfrm>
                <a:off x="5498" y="3116"/>
                <a:ext cx="92" cy="43"/>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29" name="Oval 91"/>
              <p:cNvSpPr>
                <a:spLocks noChangeArrowheads="1"/>
              </p:cNvSpPr>
              <p:nvPr/>
            </p:nvSpPr>
            <p:spPr bwMode="auto">
              <a:xfrm>
                <a:off x="5596" y="3122"/>
                <a:ext cx="48" cy="79"/>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30" name="Oval 92"/>
              <p:cNvSpPr>
                <a:spLocks noChangeArrowheads="1"/>
              </p:cNvSpPr>
              <p:nvPr/>
            </p:nvSpPr>
            <p:spPr bwMode="auto">
              <a:xfrm>
                <a:off x="5542" y="3212"/>
                <a:ext cx="92"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31" name="Oval 93"/>
              <p:cNvSpPr>
                <a:spLocks noChangeArrowheads="1"/>
              </p:cNvSpPr>
              <p:nvPr/>
            </p:nvSpPr>
            <p:spPr bwMode="auto">
              <a:xfrm>
                <a:off x="5538" y="3257"/>
                <a:ext cx="92" cy="43"/>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32" name="Oval 94"/>
              <p:cNvSpPr>
                <a:spLocks noChangeArrowheads="1"/>
              </p:cNvSpPr>
              <p:nvPr/>
            </p:nvSpPr>
            <p:spPr bwMode="auto">
              <a:xfrm>
                <a:off x="5498" y="3166"/>
                <a:ext cx="92" cy="42"/>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33" name="Oval 95"/>
              <p:cNvSpPr>
                <a:spLocks noChangeArrowheads="1"/>
              </p:cNvSpPr>
              <p:nvPr/>
            </p:nvSpPr>
            <p:spPr bwMode="auto">
              <a:xfrm>
                <a:off x="5463" y="3293"/>
                <a:ext cx="92" cy="42"/>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34" name="Oval 96"/>
              <p:cNvSpPr>
                <a:spLocks noChangeArrowheads="1"/>
              </p:cNvSpPr>
              <p:nvPr/>
            </p:nvSpPr>
            <p:spPr bwMode="auto">
              <a:xfrm>
                <a:off x="5466" y="3250"/>
                <a:ext cx="93" cy="43"/>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35" name="Oval 97"/>
              <p:cNvSpPr>
                <a:spLocks noChangeArrowheads="1"/>
              </p:cNvSpPr>
              <p:nvPr/>
            </p:nvSpPr>
            <p:spPr bwMode="auto">
              <a:xfrm>
                <a:off x="5459" y="3212"/>
                <a:ext cx="92"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36" name="Oval 98"/>
              <p:cNvSpPr>
                <a:spLocks noChangeArrowheads="1"/>
              </p:cNvSpPr>
              <p:nvPr/>
            </p:nvSpPr>
            <p:spPr bwMode="auto">
              <a:xfrm>
                <a:off x="5424" y="3163"/>
                <a:ext cx="91"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37" name="Oval 99"/>
              <p:cNvSpPr>
                <a:spLocks noChangeArrowheads="1"/>
              </p:cNvSpPr>
              <p:nvPr/>
            </p:nvSpPr>
            <p:spPr bwMode="auto">
              <a:xfrm>
                <a:off x="5407" y="3311"/>
                <a:ext cx="93"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38" name="Oval 100"/>
              <p:cNvSpPr>
                <a:spLocks noChangeArrowheads="1"/>
              </p:cNvSpPr>
              <p:nvPr/>
            </p:nvSpPr>
            <p:spPr bwMode="auto">
              <a:xfrm>
                <a:off x="4831" y="3102"/>
                <a:ext cx="93" cy="42"/>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39" name="Oval 101"/>
              <p:cNvSpPr>
                <a:spLocks noChangeArrowheads="1"/>
              </p:cNvSpPr>
              <p:nvPr/>
            </p:nvSpPr>
            <p:spPr bwMode="auto">
              <a:xfrm>
                <a:off x="4895" y="3137"/>
                <a:ext cx="93" cy="43"/>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40" name="Oval 102"/>
              <p:cNvSpPr>
                <a:spLocks noChangeArrowheads="1"/>
              </p:cNvSpPr>
              <p:nvPr/>
            </p:nvSpPr>
            <p:spPr bwMode="auto">
              <a:xfrm>
                <a:off x="4784" y="3057"/>
                <a:ext cx="92"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41" name="Oval 103"/>
              <p:cNvSpPr>
                <a:spLocks noChangeArrowheads="1"/>
              </p:cNvSpPr>
              <p:nvPr/>
            </p:nvSpPr>
            <p:spPr bwMode="auto">
              <a:xfrm>
                <a:off x="4697" y="3022"/>
                <a:ext cx="92"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42" name="Oval 104"/>
              <p:cNvSpPr>
                <a:spLocks noChangeArrowheads="1"/>
              </p:cNvSpPr>
              <p:nvPr/>
            </p:nvSpPr>
            <p:spPr bwMode="auto">
              <a:xfrm>
                <a:off x="5014" y="3201"/>
                <a:ext cx="92" cy="42"/>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43" name="Oval 105"/>
              <p:cNvSpPr>
                <a:spLocks noChangeArrowheads="1"/>
              </p:cNvSpPr>
              <p:nvPr/>
            </p:nvSpPr>
            <p:spPr bwMode="auto">
              <a:xfrm>
                <a:off x="5021" y="3243"/>
                <a:ext cx="94" cy="43"/>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44" name="Oval 106"/>
              <p:cNvSpPr>
                <a:spLocks noChangeArrowheads="1"/>
              </p:cNvSpPr>
              <p:nvPr/>
            </p:nvSpPr>
            <p:spPr bwMode="auto">
              <a:xfrm>
                <a:off x="5019" y="3283"/>
                <a:ext cx="91"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45" name="Oval 107"/>
              <p:cNvSpPr>
                <a:spLocks noChangeArrowheads="1"/>
              </p:cNvSpPr>
              <p:nvPr/>
            </p:nvSpPr>
            <p:spPr bwMode="auto">
              <a:xfrm>
                <a:off x="5369" y="3205"/>
                <a:ext cx="90"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46" name="Oval 108"/>
              <p:cNvSpPr>
                <a:spLocks noChangeArrowheads="1"/>
              </p:cNvSpPr>
              <p:nvPr/>
            </p:nvSpPr>
            <p:spPr bwMode="auto">
              <a:xfrm>
                <a:off x="5380" y="3276"/>
                <a:ext cx="92"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47" name="Oval 109"/>
              <p:cNvSpPr>
                <a:spLocks noChangeArrowheads="1"/>
              </p:cNvSpPr>
              <p:nvPr/>
            </p:nvSpPr>
            <p:spPr bwMode="auto">
              <a:xfrm>
                <a:off x="5323" y="3314"/>
                <a:ext cx="94" cy="42"/>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48" name="Oval 110"/>
              <p:cNvSpPr>
                <a:spLocks noChangeArrowheads="1"/>
              </p:cNvSpPr>
              <p:nvPr/>
            </p:nvSpPr>
            <p:spPr bwMode="auto">
              <a:xfrm>
                <a:off x="4990" y="3152"/>
                <a:ext cx="92" cy="42"/>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49" name="Oval 111"/>
              <p:cNvSpPr>
                <a:spLocks noChangeArrowheads="1"/>
              </p:cNvSpPr>
              <p:nvPr/>
            </p:nvSpPr>
            <p:spPr bwMode="auto">
              <a:xfrm>
                <a:off x="5242" y="3328"/>
                <a:ext cx="90" cy="42"/>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50" name="Oval 112"/>
              <p:cNvSpPr>
                <a:spLocks noChangeArrowheads="1"/>
              </p:cNvSpPr>
              <p:nvPr/>
            </p:nvSpPr>
            <p:spPr bwMode="auto">
              <a:xfrm>
                <a:off x="5082" y="3328"/>
                <a:ext cx="92" cy="42"/>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51" name="Oval 113"/>
              <p:cNvSpPr>
                <a:spLocks noChangeArrowheads="1"/>
              </p:cNvSpPr>
              <p:nvPr/>
            </p:nvSpPr>
            <p:spPr bwMode="auto">
              <a:xfrm>
                <a:off x="5170" y="3332"/>
                <a:ext cx="91"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52" name="Oval 114"/>
              <p:cNvSpPr>
                <a:spLocks noChangeArrowheads="1"/>
              </p:cNvSpPr>
              <p:nvPr/>
            </p:nvSpPr>
            <p:spPr bwMode="auto">
              <a:xfrm>
                <a:off x="5225" y="3290"/>
                <a:ext cx="91"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53" name="Oval 115"/>
              <p:cNvSpPr>
                <a:spLocks noChangeArrowheads="1"/>
              </p:cNvSpPr>
              <p:nvPr/>
            </p:nvSpPr>
            <p:spPr bwMode="auto">
              <a:xfrm>
                <a:off x="5106" y="3269"/>
                <a:ext cx="92"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54" name="Oval 116"/>
              <p:cNvSpPr>
                <a:spLocks noChangeArrowheads="1"/>
              </p:cNvSpPr>
              <p:nvPr/>
            </p:nvSpPr>
            <p:spPr bwMode="auto">
              <a:xfrm>
                <a:off x="5189" y="3255"/>
                <a:ext cx="92" cy="40"/>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55" name="Oval 117"/>
              <p:cNvSpPr>
                <a:spLocks noChangeArrowheads="1"/>
              </p:cNvSpPr>
              <p:nvPr/>
            </p:nvSpPr>
            <p:spPr bwMode="auto">
              <a:xfrm>
                <a:off x="5297" y="3271"/>
                <a:ext cx="91" cy="43"/>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56" name="Oval 118"/>
              <p:cNvSpPr>
                <a:spLocks noChangeArrowheads="1"/>
              </p:cNvSpPr>
              <p:nvPr/>
            </p:nvSpPr>
            <p:spPr bwMode="auto">
              <a:xfrm>
                <a:off x="5280" y="3229"/>
                <a:ext cx="93" cy="42"/>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57" name="Oval 119"/>
              <p:cNvSpPr>
                <a:spLocks noChangeArrowheads="1"/>
              </p:cNvSpPr>
              <p:nvPr/>
            </p:nvSpPr>
            <p:spPr bwMode="auto">
              <a:xfrm>
                <a:off x="5110" y="3226"/>
                <a:ext cx="91"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58" name="Oval 120"/>
              <p:cNvSpPr>
                <a:spLocks noChangeArrowheads="1"/>
              </p:cNvSpPr>
              <p:nvPr/>
            </p:nvSpPr>
            <p:spPr bwMode="auto">
              <a:xfrm>
                <a:off x="5093" y="3180"/>
                <a:ext cx="92" cy="42"/>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59" name="Oval 121"/>
              <p:cNvSpPr>
                <a:spLocks noChangeArrowheads="1"/>
              </p:cNvSpPr>
              <p:nvPr/>
            </p:nvSpPr>
            <p:spPr bwMode="auto">
              <a:xfrm>
                <a:off x="5196" y="3212"/>
                <a:ext cx="94"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60" name="Oval 122"/>
              <p:cNvSpPr>
                <a:spLocks noChangeArrowheads="1"/>
              </p:cNvSpPr>
              <p:nvPr/>
            </p:nvSpPr>
            <p:spPr bwMode="auto">
              <a:xfrm>
                <a:off x="4947" y="3106"/>
                <a:ext cx="93"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61" name="Oval 123"/>
              <p:cNvSpPr>
                <a:spLocks noChangeArrowheads="1"/>
              </p:cNvSpPr>
              <p:nvPr/>
            </p:nvSpPr>
            <p:spPr bwMode="auto">
              <a:xfrm>
                <a:off x="4883" y="3064"/>
                <a:ext cx="93"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62" name="Oval 124"/>
              <p:cNvSpPr>
                <a:spLocks noChangeArrowheads="1"/>
              </p:cNvSpPr>
              <p:nvPr/>
            </p:nvSpPr>
            <p:spPr bwMode="auto">
              <a:xfrm>
                <a:off x="5078" y="3137"/>
                <a:ext cx="92" cy="43"/>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63" name="Oval 125"/>
              <p:cNvSpPr>
                <a:spLocks noChangeArrowheads="1"/>
              </p:cNvSpPr>
              <p:nvPr/>
            </p:nvSpPr>
            <p:spPr bwMode="auto">
              <a:xfrm>
                <a:off x="5178" y="3170"/>
                <a:ext cx="90"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64" name="Oval 126"/>
              <p:cNvSpPr>
                <a:spLocks noChangeArrowheads="1"/>
              </p:cNvSpPr>
              <p:nvPr/>
            </p:nvSpPr>
            <p:spPr bwMode="auto">
              <a:xfrm>
                <a:off x="5253" y="3184"/>
                <a:ext cx="92"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65" name="Oval 127"/>
              <p:cNvSpPr>
                <a:spLocks noChangeArrowheads="1"/>
              </p:cNvSpPr>
              <p:nvPr/>
            </p:nvSpPr>
            <p:spPr bwMode="auto">
              <a:xfrm>
                <a:off x="5332" y="3156"/>
                <a:ext cx="92"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66" name="Oval 128"/>
              <p:cNvSpPr>
                <a:spLocks noChangeArrowheads="1"/>
              </p:cNvSpPr>
              <p:nvPr/>
            </p:nvSpPr>
            <p:spPr bwMode="auto">
              <a:xfrm>
                <a:off x="5321" y="3109"/>
                <a:ext cx="91" cy="43"/>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67" name="Oval 129"/>
              <p:cNvSpPr>
                <a:spLocks noChangeArrowheads="1"/>
              </p:cNvSpPr>
              <p:nvPr/>
            </p:nvSpPr>
            <p:spPr bwMode="auto">
              <a:xfrm>
                <a:off x="5244" y="3130"/>
                <a:ext cx="92" cy="43"/>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68" name="Oval 130"/>
              <p:cNvSpPr>
                <a:spLocks noChangeArrowheads="1"/>
              </p:cNvSpPr>
              <p:nvPr/>
            </p:nvSpPr>
            <p:spPr bwMode="auto">
              <a:xfrm>
                <a:off x="5387" y="3071"/>
                <a:ext cx="93"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69" name="Oval 131"/>
              <p:cNvSpPr>
                <a:spLocks noChangeArrowheads="1"/>
              </p:cNvSpPr>
              <p:nvPr/>
            </p:nvSpPr>
            <p:spPr bwMode="auto">
              <a:xfrm>
                <a:off x="5038" y="3095"/>
                <a:ext cx="92" cy="42"/>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70" name="Oval 132"/>
              <p:cNvSpPr>
                <a:spLocks noChangeArrowheads="1"/>
              </p:cNvSpPr>
              <p:nvPr/>
            </p:nvSpPr>
            <p:spPr bwMode="auto">
              <a:xfrm>
                <a:off x="5126" y="3095"/>
                <a:ext cx="92" cy="42"/>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71" name="Oval 133"/>
              <p:cNvSpPr>
                <a:spLocks noChangeArrowheads="1"/>
              </p:cNvSpPr>
              <p:nvPr/>
            </p:nvSpPr>
            <p:spPr bwMode="auto">
              <a:xfrm>
                <a:off x="5225" y="3095"/>
                <a:ext cx="91" cy="42"/>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72" name="Oval 134"/>
              <p:cNvSpPr>
                <a:spLocks noChangeArrowheads="1"/>
              </p:cNvSpPr>
              <p:nvPr/>
            </p:nvSpPr>
            <p:spPr bwMode="auto">
              <a:xfrm>
                <a:off x="5301" y="3064"/>
                <a:ext cx="90"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73" name="Oval 135"/>
              <p:cNvSpPr>
                <a:spLocks noChangeArrowheads="1"/>
              </p:cNvSpPr>
              <p:nvPr/>
            </p:nvSpPr>
            <p:spPr bwMode="auto">
              <a:xfrm>
                <a:off x="4983" y="3060"/>
                <a:ext cx="91" cy="42"/>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74" name="Oval 136"/>
              <p:cNvSpPr>
                <a:spLocks noChangeArrowheads="1"/>
              </p:cNvSpPr>
              <p:nvPr/>
            </p:nvSpPr>
            <p:spPr bwMode="auto">
              <a:xfrm>
                <a:off x="5082" y="3053"/>
                <a:ext cx="92" cy="42"/>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75" name="Oval 137"/>
              <p:cNvSpPr>
                <a:spLocks noChangeArrowheads="1"/>
              </p:cNvSpPr>
              <p:nvPr/>
            </p:nvSpPr>
            <p:spPr bwMode="auto">
              <a:xfrm>
                <a:off x="5181" y="3057"/>
                <a:ext cx="92"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76" name="Oval 138"/>
              <p:cNvSpPr>
                <a:spLocks noChangeArrowheads="1"/>
              </p:cNvSpPr>
              <p:nvPr/>
            </p:nvSpPr>
            <p:spPr bwMode="auto">
              <a:xfrm>
                <a:off x="5253" y="3029"/>
                <a:ext cx="92"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77" name="Oval 139"/>
              <p:cNvSpPr>
                <a:spLocks noChangeArrowheads="1"/>
              </p:cNvSpPr>
              <p:nvPr/>
            </p:nvSpPr>
            <p:spPr bwMode="auto">
              <a:xfrm>
                <a:off x="5343" y="3018"/>
                <a:ext cx="93" cy="42"/>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78" name="Oval 140"/>
              <p:cNvSpPr>
                <a:spLocks noChangeArrowheads="1"/>
              </p:cNvSpPr>
              <p:nvPr/>
            </p:nvSpPr>
            <p:spPr bwMode="auto">
              <a:xfrm>
                <a:off x="5439" y="3018"/>
                <a:ext cx="92" cy="42"/>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79" name="Oval 141"/>
              <p:cNvSpPr>
                <a:spLocks noChangeArrowheads="1"/>
              </p:cNvSpPr>
              <p:nvPr/>
            </p:nvSpPr>
            <p:spPr bwMode="auto">
              <a:xfrm>
                <a:off x="5141" y="3015"/>
                <a:ext cx="92"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80" name="Oval 142"/>
              <p:cNvSpPr>
                <a:spLocks noChangeArrowheads="1"/>
              </p:cNvSpPr>
              <p:nvPr/>
            </p:nvSpPr>
            <p:spPr bwMode="auto">
              <a:xfrm>
                <a:off x="5054" y="3010"/>
                <a:ext cx="92" cy="43"/>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81" name="Oval 143"/>
              <p:cNvSpPr>
                <a:spLocks noChangeArrowheads="1"/>
              </p:cNvSpPr>
              <p:nvPr/>
            </p:nvSpPr>
            <p:spPr bwMode="auto">
              <a:xfrm>
                <a:off x="4971" y="3018"/>
                <a:ext cx="91" cy="42"/>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82" name="Oval 144"/>
              <p:cNvSpPr>
                <a:spLocks noChangeArrowheads="1"/>
              </p:cNvSpPr>
              <p:nvPr/>
            </p:nvSpPr>
            <p:spPr bwMode="auto">
              <a:xfrm>
                <a:off x="4879" y="3022"/>
                <a:ext cx="93"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83" name="Oval 145"/>
              <p:cNvSpPr>
                <a:spLocks noChangeArrowheads="1"/>
              </p:cNvSpPr>
              <p:nvPr/>
            </p:nvSpPr>
            <p:spPr bwMode="auto">
              <a:xfrm>
                <a:off x="4789" y="3010"/>
                <a:ext cx="91" cy="43"/>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84" name="Oval 146"/>
              <p:cNvSpPr>
                <a:spLocks noChangeArrowheads="1"/>
              </p:cNvSpPr>
              <p:nvPr/>
            </p:nvSpPr>
            <p:spPr bwMode="auto">
              <a:xfrm>
                <a:off x="4701" y="2982"/>
                <a:ext cx="92" cy="43"/>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85" name="Oval 147"/>
              <p:cNvSpPr>
                <a:spLocks noChangeArrowheads="1"/>
              </p:cNvSpPr>
              <p:nvPr/>
            </p:nvSpPr>
            <p:spPr bwMode="auto">
              <a:xfrm>
                <a:off x="4721" y="3056"/>
                <a:ext cx="92" cy="42"/>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86" name="Oval 148"/>
              <p:cNvSpPr>
                <a:spLocks noChangeArrowheads="1"/>
              </p:cNvSpPr>
              <p:nvPr/>
            </p:nvSpPr>
            <p:spPr bwMode="auto">
              <a:xfrm>
                <a:off x="5164" y="3132"/>
                <a:ext cx="92" cy="42"/>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87" name="Oval 149"/>
              <p:cNvSpPr>
                <a:spLocks noChangeArrowheads="1"/>
              </p:cNvSpPr>
              <p:nvPr/>
            </p:nvSpPr>
            <p:spPr bwMode="auto">
              <a:xfrm>
                <a:off x="5373" y="3236"/>
                <a:ext cx="91" cy="43"/>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88" name="Oval 150"/>
              <p:cNvSpPr>
                <a:spLocks noChangeArrowheads="1"/>
              </p:cNvSpPr>
              <p:nvPr/>
            </p:nvSpPr>
            <p:spPr bwMode="auto">
              <a:xfrm>
                <a:off x="5130" y="3295"/>
                <a:ext cx="92" cy="43"/>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89" name="Oval 151"/>
              <p:cNvSpPr>
                <a:spLocks noChangeArrowheads="1"/>
              </p:cNvSpPr>
              <p:nvPr/>
            </p:nvSpPr>
            <p:spPr bwMode="auto">
              <a:xfrm>
                <a:off x="4789" y="3290"/>
                <a:ext cx="91" cy="42"/>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90" name="Oval 152"/>
              <p:cNvSpPr>
                <a:spLocks noChangeArrowheads="1"/>
              </p:cNvSpPr>
              <p:nvPr/>
            </p:nvSpPr>
            <p:spPr bwMode="auto">
              <a:xfrm>
                <a:off x="4777" y="3146"/>
                <a:ext cx="92" cy="42"/>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91" name="Oval 153"/>
              <p:cNvSpPr>
                <a:spLocks noChangeArrowheads="1"/>
              </p:cNvSpPr>
              <p:nvPr/>
            </p:nvSpPr>
            <p:spPr bwMode="auto">
              <a:xfrm>
                <a:off x="4760" y="3197"/>
                <a:ext cx="92" cy="42"/>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92" name="Oval 154"/>
              <p:cNvSpPr>
                <a:spLocks noChangeArrowheads="1"/>
              </p:cNvSpPr>
              <p:nvPr/>
            </p:nvSpPr>
            <p:spPr bwMode="auto">
              <a:xfrm>
                <a:off x="4769" y="3228"/>
                <a:ext cx="92" cy="42"/>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93" name="Oval 155"/>
              <p:cNvSpPr>
                <a:spLocks noChangeArrowheads="1"/>
              </p:cNvSpPr>
              <p:nvPr/>
            </p:nvSpPr>
            <p:spPr bwMode="auto">
              <a:xfrm>
                <a:off x="5570" y="3047"/>
                <a:ext cx="92" cy="42"/>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94" name="Oval 156"/>
              <p:cNvSpPr>
                <a:spLocks noChangeArrowheads="1"/>
              </p:cNvSpPr>
              <p:nvPr/>
            </p:nvSpPr>
            <p:spPr bwMode="auto">
              <a:xfrm>
                <a:off x="5567" y="3188"/>
                <a:ext cx="92" cy="43"/>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895" name="Oval 157"/>
              <p:cNvSpPr>
                <a:spLocks noChangeArrowheads="1"/>
              </p:cNvSpPr>
              <p:nvPr/>
            </p:nvSpPr>
            <p:spPr bwMode="auto">
              <a:xfrm>
                <a:off x="5567" y="3236"/>
                <a:ext cx="92" cy="43"/>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grpSp>
        <p:grpSp>
          <p:nvGrpSpPr>
            <p:cNvPr id="17696" name="Group 158"/>
            <p:cNvGrpSpPr>
              <a:grpSpLocks/>
            </p:cNvGrpSpPr>
            <p:nvPr/>
          </p:nvGrpSpPr>
          <p:grpSpPr bwMode="auto">
            <a:xfrm>
              <a:off x="3431" y="3009"/>
              <a:ext cx="921" cy="354"/>
              <a:chOff x="1521" y="2626"/>
              <a:chExt cx="653" cy="251"/>
            </a:xfrm>
          </p:grpSpPr>
          <p:sp>
            <p:nvSpPr>
              <p:cNvPr id="17773" name="Freeform 159"/>
              <p:cNvSpPr>
                <a:spLocks/>
              </p:cNvSpPr>
              <p:nvPr/>
            </p:nvSpPr>
            <p:spPr bwMode="auto">
              <a:xfrm>
                <a:off x="1581" y="2666"/>
                <a:ext cx="57" cy="96"/>
              </a:xfrm>
              <a:custGeom>
                <a:avLst/>
                <a:gdLst>
                  <a:gd name="T0" fmla="*/ 0 w 57"/>
                  <a:gd name="T1" fmla="*/ 0 h 96"/>
                  <a:gd name="T2" fmla="*/ 6 w 57"/>
                  <a:gd name="T3" fmla="*/ 0 h 96"/>
                  <a:gd name="T4" fmla="*/ 8 w 57"/>
                  <a:gd name="T5" fmla="*/ 5 h 96"/>
                  <a:gd name="T6" fmla="*/ 14 w 57"/>
                  <a:gd name="T7" fmla="*/ 8 h 96"/>
                  <a:gd name="T8" fmla="*/ 17 w 57"/>
                  <a:gd name="T9" fmla="*/ 13 h 96"/>
                  <a:gd name="T10" fmla="*/ 20 w 57"/>
                  <a:gd name="T11" fmla="*/ 18 h 96"/>
                  <a:gd name="T12" fmla="*/ 28 w 57"/>
                  <a:gd name="T13" fmla="*/ 40 h 96"/>
                  <a:gd name="T14" fmla="*/ 28 w 57"/>
                  <a:gd name="T15" fmla="*/ 50 h 96"/>
                  <a:gd name="T16" fmla="*/ 34 w 57"/>
                  <a:gd name="T17" fmla="*/ 60 h 96"/>
                  <a:gd name="T18" fmla="*/ 34 w 57"/>
                  <a:gd name="T19" fmla="*/ 70 h 96"/>
                  <a:gd name="T20" fmla="*/ 34 w 57"/>
                  <a:gd name="T21" fmla="*/ 80 h 96"/>
                  <a:gd name="T22" fmla="*/ 45 w 57"/>
                  <a:gd name="T23" fmla="*/ 80 h 96"/>
                  <a:gd name="T24" fmla="*/ 45 w 57"/>
                  <a:gd name="T25" fmla="*/ 85 h 96"/>
                  <a:gd name="T26" fmla="*/ 48 w 57"/>
                  <a:gd name="T27" fmla="*/ 90 h 96"/>
                  <a:gd name="T28" fmla="*/ 50 w 57"/>
                  <a:gd name="T29" fmla="*/ 95 h 96"/>
                  <a:gd name="T30" fmla="*/ 56 w 57"/>
                  <a:gd name="T31" fmla="*/ 93 h 9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7"/>
                  <a:gd name="T49" fmla="*/ 0 h 96"/>
                  <a:gd name="T50" fmla="*/ 57 w 57"/>
                  <a:gd name="T51" fmla="*/ 96 h 9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7" h="96">
                    <a:moveTo>
                      <a:pt x="0" y="0"/>
                    </a:moveTo>
                    <a:lnTo>
                      <a:pt x="6" y="0"/>
                    </a:lnTo>
                    <a:lnTo>
                      <a:pt x="8" y="5"/>
                    </a:lnTo>
                    <a:lnTo>
                      <a:pt x="14" y="8"/>
                    </a:lnTo>
                    <a:lnTo>
                      <a:pt x="17" y="13"/>
                    </a:lnTo>
                    <a:lnTo>
                      <a:pt x="20" y="18"/>
                    </a:lnTo>
                    <a:lnTo>
                      <a:pt x="28" y="40"/>
                    </a:lnTo>
                    <a:lnTo>
                      <a:pt x="28" y="50"/>
                    </a:lnTo>
                    <a:lnTo>
                      <a:pt x="34" y="60"/>
                    </a:lnTo>
                    <a:lnTo>
                      <a:pt x="34" y="70"/>
                    </a:lnTo>
                    <a:lnTo>
                      <a:pt x="34" y="80"/>
                    </a:lnTo>
                    <a:lnTo>
                      <a:pt x="45" y="80"/>
                    </a:lnTo>
                    <a:lnTo>
                      <a:pt x="45" y="85"/>
                    </a:lnTo>
                    <a:lnTo>
                      <a:pt x="48" y="90"/>
                    </a:lnTo>
                    <a:lnTo>
                      <a:pt x="50" y="95"/>
                    </a:lnTo>
                    <a:lnTo>
                      <a:pt x="56" y="93"/>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74" name="Freeform 160"/>
              <p:cNvSpPr>
                <a:spLocks/>
              </p:cNvSpPr>
              <p:nvPr/>
            </p:nvSpPr>
            <p:spPr bwMode="auto">
              <a:xfrm>
                <a:off x="1561" y="2649"/>
                <a:ext cx="161" cy="68"/>
              </a:xfrm>
              <a:custGeom>
                <a:avLst/>
                <a:gdLst>
                  <a:gd name="T0" fmla="*/ 0 w 161"/>
                  <a:gd name="T1" fmla="*/ 67 h 68"/>
                  <a:gd name="T2" fmla="*/ 39 w 161"/>
                  <a:gd name="T3" fmla="*/ 57 h 68"/>
                  <a:gd name="T4" fmla="*/ 45 w 161"/>
                  <a:gd name="T5" fmla="*/ 57 h 68"/>
                  <a:gd name="T6" fmla="*/ 51 w 161"/>
                  <a:gd name="T7" fmla="*/ 60 h 68"/>
                  <a:gd name="T8" fmla="*/ 56 w 161"/>
                  <a:gd name="T9" fmla="*/ 60 h 68"/>
                  <a:gd name="T10" fmla="*/ 62 w 161"/>
                  <a:gd name="T11" fmla="*/ 60 h 68"/>
                  <a:gd name="T12" fmla="*/ 67 w 161"/>
                  <a:gd name="T13" fmla="*/ 60 h 68"/>
                  <a:gd name="T14" fmla="*/ 81 w 161"/>
                  <a:gd name="T15" fmla="*/ 55 h 68"/>
                  <a:gd name="T16" fmla="*/ 87 w 161"/>
                  <a:gd name="T17" fmla="*/ 52 h 68"/>
                  <a:gd name="T18" fmla="*/ 121 w 161"/>
                  <a:gd name="T19" fmla="*/ 32 h 68"/>
                  <a:gd name="T20" fmla="*/ 138 w 161"/>
                  <a:gd name="T21" fmla="*/ 17 h 68"/>
                  <a:gd name="T22" fmla="*/ 138 w 161"/>
                  <a:gd name="T23" fmla="*/ 12 h 68"/>
                  <a:gd name="T24" fmla="*/ 143 w 161"/>
                  <a:gd name="T25" fmla="*/ 12 h 68"/>
                  <a:gd name="T26" fmla="*/ 149 w 161"/>
                  <a:gd name="T27" fmla="*/ 7 h 68"/>
                  <a:gd name="T28" fmla="*/ 154 w 161"/>
                  <a:gd name="T29" fmla="*/ 2 h 68"/>
                  <a:gd name="T30" fmla="*/ 160 w 161"/>
                  <a:gd name="T31" fmla="*/ 0 h 6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61"/>
                  <a:gd name="T49" fmla="*/ 0 h 68"/>
                  <a:gd name="T50" fmla="*/ 161 w 161"/>
                  <a:gd name="T51" fmla="*/ 68 h 6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61" h="68">
                    <a:moveTo>
                      <a:pt x="0" y="67"/>
                    </a:moveTo>
                    <a:lnTo>
                      <a:pt x="39" y="57"/>
                    </a:lnTo>
                    <a:lnTo>
                      <a:pt x="45" y="57"/>
                    </a:lnTo>
                    <a:lnTo>
                      <a:pt x="51" y="60"/>
                    </a:lnTo>
                    <a:lnTo>
                      <a:pt x="56" y="60"/>
                    </a:lnTo>
                    <a:lnTo>
                      <a:pt x="62" y="60"/>
                    </a:lnTo>
                    <a:lnTo>
                      <a:pt x="67" y="60"/>
                    </a:lnTo>
                    <a:lnTo>
                      <a:pt x="81" y="55"/>
                    </a:lnTo>
                    <a:lnTo>
                      <a:pt x="87" y="52"/>
                    </a:lnTo>
                    <a:lnTo>
                      <a:pt x="121" y="32"/>
                    </a:lnTo>
                    <a:lnTo>
                      <a:pt x="138" y="17"/>
                    </a:lnTo>
                    <a:lnTo>
                      <a:pt x="138" y="12"/>
                    </a:lnTo>
                    <a:lnTo>
                      <a:pt x="143" y="12"/>
                    </a:lnTo>
                    <a:lnTo>
                      <a:pt x="149" y="7"/>
                    </a:lnTo>
                    <a:lnTo>
                      <a:pt x="154" y="2"/>
                    </a:lnTo>
                    <a:lnTo>
                      <a:pt x="160"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75" name="Freeform 161"/>
              <p:cNvSpPr>
                <a:spLocks/>
              </p:cNvSpPr>
              <p:nvPr/>
            </p:nvSpPr>
            <p:spPr bwMode="auto">
              <a:xfrm>
                <a:off x="1530" y="2759"/>
                <a:ext cx="80" cy="73"/>
              </a:xfrm>
              <a:custGeom>
                <a:avLst/>
                <a:gdLst>
                  <a:gd name="T0" fmla="*/ 0 w 80"/>
                  <a:gd name="T1" fmla="*/ 0 h 73"/>
                  <a:gd name="T2" fmla="*/ 20 w 80"/>
                  <a:gd name="T3" fmla="*/ 10 h 73"/>
                  <a:gd name="T4" fmla="*/ 20 w 80"/>
                  <a:gd name="T5" fmla="*/ 15 h 73"/>
                  <a:gd name="T6" fmla="*/ 23 w 80"/>
                  <a:gd name="T7" fmla="*/ 20 h 73"/>
                  <a:gd name="T8" fmla="*/ 23 w 80"/>
                  <a:gd name="T9" fmla="*/ 25 h 73"/>
                  <a:gd name="T10" fmla="*/ 28 w 80"/>
                  <a:gd name="T11" fmla="*/ 30 h 73"/>
                  <a:gd name="T12" fmla="*/ 34 w 80"/>
                  <a:gd name="T13" fmla="*/ 32 h 73"/>
                  <a:gd name="T14" fmla="*/ 40 w 80"/>
                  <a:gd name="T15" fmla="*/ 35 h 73"/>
                  <a:gd name="T16" fmla="*/ 45 w 80"/>
                  <a:gd name="T17" fmla="*/ 37 h 73"/>
                  <a:gd name="T18" fmla="*/ 51 w 80"/>
                  <a:gd name="T19" fmla="*/ 40 h 73"/>
                  <a:gd name="T20" fmla="*/ 54 w 80"/>
                  <a:gd name="T21" fmla="*/ 45 h 73"/>
                  <a:gd name="T22" fmla="*/ 59 w 80"/>
                  <a:gd name="T23" fmla="*/ 50 h 73"/>
                  <a:gd name="T24" fmla="*/ 62 w 80"/>
                  <a:gd name="T25" fmla="*/ 55 h 73"/>
                  <a:gd name="T26" fmla="*/ 65 w 80"/>
                  <a:gd name="T27" fmla="*/ 60 h 73"/>
                  <a:gd name="T28" fmla="*/ 71 w 80"/>
                  <a:gd name="T29" fmla="*/ 65 h 73"/>
                  <a:gd name="T30" fmla="*/ 76 w 80"/>
                  <a:gd name="T31" fmla="*/ 67 h 73"/>
                  <a:gd name="T32" fmla="*/ 79 w 80"/>
                  <a:gd name="T33" fmla="*/ 72 h 7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0"/>
                  <a:gd name="T52" fmla="*/ 0 h 73"/>
                  <a:gd name="T53" fmla="*/ 80 w 80"/>
                  <a:gd name="T54" fmla="*/ 73 h 7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0" h="73">
                    <a:moveTo>
                      <a:pt x="0" y="0"/>
                    </a:moveTo>
                    <a:lnTo>
                      <a:pt x="20" y="10"/>
                    </a:lnTo>
                    <a:lnTo>
                      <a:pt x="20" y="15"/>
                    </a:lnTo>
                    <a:lnTo>
                      <a:pt x="23" y="20"/>
                    </a:lnTo>
                    <a:lnTo>
                      <a:pt x="23" y="25"/>
                    </a:lnTo>
                    <a:lnTo>
                      <a:pt x="28" y="30"/>
                    </a:lnTo>
                    <a:lnTo>
                      <a:pt x="34" y="32"/>
                    </a:lnTo>
                    <a:lnTo>
                      <a:pt x="40" y="35"/>
                    </a:lnTo>
                    <a:lnTo>
                      <a:pt x="45" y="37"/>
                    </a:lnTo>
                    <a:lnTo>
                      <a:pt x="51" y="40"/>
                    </a:lnTo>
                    <a:lnTo>
                      <a:pt x="54" y="45"/>
                    </a:lnTo>
                    <a:lnTo>
                      <a:pt x="59" y="50"/>
                    </a:lnTo>
                    <a:lnTo>
                      <a:pt x="62" y="55"/>
                    </a:lnTo>
                    <a:lnTo>
                      <a:pt x="65" y="60"/>
                    </a:lnTo>
                    <a:lnTo>
                      <a:pt x="71" y="65"/>
                    </a:lnTo>
                    <a:lnTo>
                      <a:pt x="76" y="67"/>
                    </a:lnTo>
                    <a:lnTo>
                      <a:pt x="79" y="72"/>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76" name="Freeform 162"/>
              <p:cNvSpPr>
                <a:spLocks/>
              </p:cNvSpPr>
              <p:nvPr/>
            </p:nvSpPr>
            <p:spPr bwMode="auto">
              <a:xfrm>
                <a:off x="1521" y="2789"/>
                <a:ext cx="145" cy="33"/>
              </a:xfrm>
              <a:custGeom>
                <a:avLst/>
                <a:gdLst>
                  <a:gd name="T0" fmla="*/ 0 w 145"/>
                  <a:gd name="T1" fmla="*/ 32 h 33"/>
                  <a:gd name="T2" fmla="*/ 11 w 145"/>
                  <a:gd name="T3" fmla="*/ 27 h 33"/>
                  <a:gd name="T4" fmla="*/ 14 w 145"/>
                  <a:gd name="T5" fmla="*/ 22 h 33"/>
                  <a:gd name="T6" fmla="*/ 20 w 145"/>
                  <a:gd name="T7" fmla="*/ 17 h 33"/>
                  <a:gd name="T8" fmla="*/ 25 w 145"/>
                  <a:gd name="T9" fmla="*/ 15 h 33"/>
                  <a:gd name="T10" fmla="*/ 31 w 145"/>
                  <a:gd name="T11" fmla="*/ 12 h 33"/>
                  <a:gd name="T12" fmla="*/ 37 w 145"/>
                  <a:gd name="T13" fmla="*/ 12 h 33"/>
                  <a:gd name="T14" fmla="*/ 48 w 145"/>
                  <a:gd name="T15" fmla="*/ 12 h 33"/>
                  <a:gd name="T16" fmla="*/ 76 w 145"/>
                  <a:gd name="T17" fmla="*/ 12 h 33"/>
                  <a:gd name="T18" fmla="*/ 88 w 145"/>
                  <a:gd name="T19" fmla="*/ 12 h 33"/>
                  <a:gd name="T20" fmla="*/ 99 w 145"/>
                  <a:gd name="T21" fmla="*/ 12 h 33"/>
                  <a:gd name="T22" fmla="*/ 110 w 145"/>
                  <a:gd name="T23" fmla="*/ 2 h 33"/>
                  <a:gd name="T24" fmla="*/ 121 w 145"/>
                  <a:gd name="T25" fmla="*/ 2 h 33"/>
                  <a:gd name="T26" fmla="*/ 133 w 145"/>
                  <a:gd name="T27" fmla="*/ 2 h 33"/>
                  <a:gd name="T28" fmla="*/ 138 w 145"/>
                  <a:gd name="T29" fmla="*/ 2 h 33"/>
                  <a:gd name="T30" fmla="*/ 144 w 145"/>
                  <a:gd name="T31" fmla="*/ 0 h 3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45"/>
                  <a:gd name="T49" fmla="*/ 0 h 33"/>
                  <a:gd name="T50" fmla="*/ 145 w 145"/>
                  <a:gd name="T51" fmla="*/ 33 h 3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45" h="33">
                    <a:moveTo>
                      <a:pt x="0" y="32"/>
                    </a:moveTo>
                    <a:lnTo>
                      <a:pt x="11" y="27"/>
                    </a:lnTo>
                    <a:lnTo>
                      <a:pt x="14" y="22"/>
                    </a:lnTo>
                    <a:lnTo>
                      <a:pt x="20" y="17"/>
                    </a:lnTo>
                    <a:lnTo>
                      <a:pt x="25" y="15"/>
                    </a:lnTo>
                    <a:lnTo>
                      <a:pt x="31" y="12"/>
                    </a:lnTo>
                    <a:lnTo>
                      <a:pt x="37" y="12"/>
                    </a:lnTo>
                    <a:lnTo>
                      <a:pt x="48" y="12"/>
                    </a:lnTo>
                    <a:lnTo>
                      <a:pt x="76" y="12"/>
                    </a:lnTo>
                    <a:lnTo>
                      <a:pt x="88" y="12"/>
                    </a:lnTo>
                    <a:lnTo>
                      <a:pt x="99" y="12"/>
                    </a:lnTo>
                    <a:lnTo>
                      <a:pt x="110" y="2"/>
                    </a:lnTo>
                    <a:lnTo>
                      <a:pt x="121" y="2"/>
                    </a:lnTo>
                    <a:lnTo>
                      <a:pt x="133" y="2"/>
                    </a:lnTo>
                    <a:lnTo>
                      <a:pt x="138" y="2"/>
                    </a:lnTo>
                    <a:lnTo>
                      <a:pt x="144"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77" name="Freeform 163"/>
              <p:cNvSpPr>
                <a:spLocks/>
              </p:cNvSpPr>
              <p:nvPr/>
            </p:nvSpPr>
            <p:spPr bwMode="auto">
              <a:xfrm>
                <a:off x="1547" y="2734"/>
                <a:ext cx="85" cy="53"/>
              </a:xfrm>
              <a:custGeom>
                <a:avLst/>
                <a:gdLst>
                  <a:gd name="T0" fmla="*/ 0 w 85"/>
                  <a:gd name="T1" fmla="*/ 0 h 53"/>
                  <a:gd name="T2" fmla="*/ 22 w 85"/>
                  <a:gd name="T3" fmla="*/ 10 h 53"/>
                  <a:gd name="T4" fmla="*/ 25 w 85"/>
                  <a:gd name="T5" fmla="*/ 15 h 53"/>
                  <a:gd name="T6" fmla="*/ 28 w 85"/>
                  <a:gd name="T7" fmla="*/ 20 h 53"/>
                  <a:gd name="T8" fmla="*/ 34 w 85"/>
                  <a:gd name="T9" fmla="*/ 25 h 53"/>
                  <a:gd name="T10" fmla="*/ 36 w 85"/>
                  <a:gd name="T11" fmla="*/ 30 h 53"/>
                  <a:gd name="T12" fmla="*/ 42 w 85"/>
                  <a:gd name="T13" fmla="*/ 32 h 53"/>
                  <a:gd name="T14" fmla="*/ 45 w 85"/>
                  <a:gd name="T15" fmla="*/ 37 h 53"/>
                  <a:gd name="T16" fmla="*/ 50 w 85"/>
                  <a:gd name="T17" fmla="*/ 40 h 53"/>
                  <a:gd name="T18" fmla="*/ 56 w 85"/>
                  <a:gd name="T19" fmla="*/ 40 h 53"/>
                  <a:gd name="T20" fmla="*/ 62 w 85"/>
                  <a:gd name="T21" fmla="*/ 42 h 53"/>
                  <a:gd name="T22" fmla="*/ 67 w 85"/>
                  <a:gd name="T23" fmla="*/ 45 h 53"/>
                  <a:gd name="T24" fmla="*/ 73 w 85"/>
                  <a:gd name="T25" fmla="*/ 50 h 53"/>
                  <a:gd name="T26" fmla="*/ 78 w 85"/>
                  <a:gd name="T27" fmla="*/ 52 h 53"/>
                  <a:gd name="T28" fmla="*/ 84 w 85"/>
                  <a:gd name="T29" fmla="*/ 52 h 5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5"/>
                  <a:gd name="T46" fmla="*/ 0 h 53"/>
                  <a:gd name="T47" fmla="*/ 85 w 85"/>
                  <a:gd name="T48" fmla="*/ 53 h 5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5" h="53">
                    <a:moveTo>
                      <a:pt x="0" y="0"/>
                    </a:moveTo>
                    <a:lnTo>
                      <a:pt x="22" y="10"/>
                    </a:lnTo>
                    <a:lnTo>
                      <a:pt x="25" y="15"/>
                    </a:lnTo>
                    <a:lnTo>
                      <a:pt x="28" y="20"/>
                    </a:lnTo>
                    <a:lnTo>
                      <a:pt x="34" y="25"/>
                    </a:lnTo>
                    <a:lnTo>
                      <a:pt x="36" y="30"/>
                    </a:lnTo>
                    <a:lnTo>
                      <a:pt x="42" y="32"/>
                    </a:lnTo>
                    <a:lnTo>
                      <a:pt x="45" y="37"/>
                    </a:lnTo>
                    <a:lnTo>
                      <a:pt x="50" y="40"/>
                    </a:lnTo>
                    <a:lnTo>
                      <a:pt x="56" y="40"/>
                    </a:lnTo>
                    <a:lnTo>
                      <a:pt x="62" y="42"/>
                    </a:lnTo>
                    <a:lnTo>
                      <a:pt x="67" y="45"/>
                    </a:lnTo>
                    <a:lnTo>
                      <a:pt x="73" y="50"/>
                    </a:lnTo>
                    <a:lnTo>
                      <a:pt x="78" y="52"/>
                    </a:lnTo>
                    <a:lnTo>
                      <a:pt x="84" y="52"/>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78" name="Freeform 164"/>
              <p:cNvSpPr>
                <a:spLocks/>
              </p:cNvSpPr>
              <p:nvPr/>
            </p:nvSpPr>
            <p:spPr bwMode="auto">
              <a:xfrm>
                <a:off x="1577" y="2636"/>
                <a:ext cx="100" cy="81"/>
              </a:xfrm>
              <a:custGeom>
                <a:avLst/>
                <a:gdLst>
                  <a:gd name="T0" fmla="*/ 0 w 100"/>
                  <a:gd name="T1" fmla="*/ 0 h 81"/>
                  <a:gd name="T2" fmla="*/ 6 w 100"/>
                  <a:gd name="T3" fmla="*/ 0 h 81"/>
                  <a:gd name="T4" fmla="*/ 17 w 100"/>
                  <a:gd name="T5" fmla="*/ 0 h 81"/>
                  <a:gd name="T6" fmla="*/ 31 w 100"/>
                  <a:gd name="T7" fmla="*/ 3 h 81"/>
                  <a:gd name="T8" fmla="*/ 42 w 100"/>
                  <a:gd name="T9" fmla="*/ 8 h 81"/>
                  <a:gd name="T10" fmla="*/ 54 w 100"/>
                  <a:gd name="T11" fmla="*/ 8 h 81"/>
                  <a:gd name="T12" fmla="*/ 65 w 100"/>
                  <a:gd name="T13" fmla="*/ 8 h 81"/>
                  <a:gd name="T14" fmla="*/ 68 w 100"/>
                  <a:gd name="T15" fmla="*/ 13 h 81"/>
                  <a:gd name="T16" fmla="*/ 65 w 100"/>
                  <a:gd name="T17" fmla="*/ 18 h 81"/>
                  <a:gd name="T18" fmla="*/ 65 w 100"/>
                  <a:gd name="T19" fmla="*/ 23 h 81"/>
                  <a:gd name="T20" fmla="*/ 65 w 100"/>
                  <a:gd name="T21" fmla="*/ 28 h 81"/>
                  <a:gd name="T22" fmla="*/ 65 w 100"/>
                  <a:gd name="T23" fmla="*/ 33 h 81"/>
                  <a:gd name="T24" fmla="*/ 65 w 100"/>
                  <a:gd name="T25" fmla="*/ 38 h 81"/>
                  <a:gd name="T26" fmla="*/ 68 w 100"/>
                  <a:gd name="T27" fmla="*/ 43 h 81"/>
                  <a:gd name="T28" fmla="*/ 68 w 100"/>
                  <a:gd name="T29" fmla="*/ 48 h 81"/>
                  <a:gd name="T30" fmla="*/ 74 w 100"/>
                  <a:gd name="T31" fmla="*/ 53 h 81"/>
                  <a:gd name="T32" fmla="*/ 76 w 100"/>
                  <a:gd name="T33" fmla="*/ 58 h 81"/>
                  <a:gd name="T34" fmla="*/ 79 w 100"/>
                  <a:gd name="T35" fmla="*/ 63 h 81"/>
                  <a:gd name="T36" fmla="*/ 85 w 100"/>
                  <a:gd name="T37" fmla="*/ 68 h 81"/>
                  <a:gd name="T38" fmla="*/ 88 w 100"/>
                  <a:gd name="T39" fmla="*/ 73 h 81"/>
                  <a:gd name="T40" fmla="*/ 93 w 100"/>
                  <a:gd name="T41" fmla="*/ 75 h 81"/>
                  <a:gd name="T42" fmla="*/ 99 w 100"/>
                  <a:gd name="T43" fmla="*/ 80 h 8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0"/>
                  <a:gd name="T67" fmla="*/ 0 h 81"/>
                  <a:gd name="T68" fmla="*/ 100 w 100"/>
                  <a:gd name="T69" fmla="*/ 81 h 8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0" h="81">
                    <a:moveTo>
                      <a:pt x="0" y="0"/>
                    </a:moveTo>
                    <a:lnTo>
                      <a:pt x="6" y="0"/>
                    </a:lnTo>
                    <a:lnTo>
                      <a:pt x="17" y="0"/>
                    </a:lnTo>
                    <a:lnTo>
                      <a:pt x="31" y="3"/>
                    </a:lnTo>
                    <a:lnTo>
                      <a:pt x="42" y="8"/>
                    </a:lnTo>
                    <a:lnTo>
                      <a:pt x="54" y="8"/>
                    </a:lnTo>
                    <a:lnTo>
                      <a:pt x="65" y="8"/>
                    </a:lnTo>
                    <a:lnTo>
                      <a:pt x="68" y="13"/>
                    </a:lnTo>
                    <a:lnTo>
                      <a:pt x="65" y="18"/>
                    </a:lnTo>
                    <a:lnTo>
                      <a:pt x="65" y="23"/>
                    </a:lnTo>
                    <a:lnTo>
                      <a:pt x="65" y="28"/>
                    </a:lnTo>
                    <a:lnTo>
                      <a:pt x="65" y="33"/>
                    </a:lnTo>
                    <a:lnTo>
                      <a:pt x="65" y="38"/>
                    </a:lnTo>
                    <a:lnTo>
                      <a:pt x="68" y="43"/>
                    </a:lnTo>
                    <a:lnTo>
                      <a:pt x="68" y="48"/>
                    </a:lnTo>
                    <a:lnTo>
                      <a:pt x="74" y="53"/>
                    </a:lnTo>
                    <a:lnTo>
                      <a:pt x="76" y="58"/>
                    </a:lnTo>
                    <a:lnTo>
                      <a:pt x="79" y="63"/>
                    </a:lnTo>
                    <a:lnTo>
                      <a:pt x="85" y="68"/>
                    </a:lnTo>
                    <a:lnTo>
                      <a:pt x="88" y="73"/>
                    </a:lnTo>
                    <a:lnTo>
                      <a:pt x="93" y="75"/>
                    </a:lnTo>
                    <a:lnTo>
                      <a:pt x="99" y="8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79" name="Freeform 165"/>
              <p:cNvSpPr>
                <a:spLocks/>
              </p:cNvSpPr>
              <p:nvPr/>
            </p:nvSpPr>
            <p:spPr bwMode="auto">
              <a:xfrm>
                <a:off x="1561" y="2676"/>
                <a:ext cx="113" cy="69"/>
              </a:xfrm>
              <a:custGeom>
                <a:avLst/>
                <a:gdLst>
                  <a:gd name="T0" fmla="*/ 0 w 113"/>
                  <a:gd name="T1" fmla="*/ 0 h 69"/>
                  <a:gd name="T2" fmla="*/ 6 w 113"/>
                  <a:gd name="T3" fmla="*/ 0 h 69"/>
                  <a:gd name="T4" fmla="*/ 11 w 113"/>
                  <a:gd name="T5" fmla="*/ 3 h 69"/>
                  <a:gd name="T6" fmla="*/ 17 w 113"/>
                  <a:gd name="T7" fmla="*/ 3 h 69"/>
                  <a:gd name="T8" fmla="*/ 22 w 113"/>
                  <a:gd name="T9" fmla="*/ 5 h 69"/>
                  <a:gd name="T10" fmla="*/ 28 w 113"/>
                  <a:gd name="T11" fmla="*/ 8 h 69"/>
                  <a:gd name="T12" fmla="*/ 34 w 113"/>
                  <a:gd name="T13" fmla="*/ 13 h 69"/>
                  <a:gd name="T14" fmla="*/ 39 w 113"/>
                  <a:gd name="T15" fmla="*/ 18 h 69"/>
                  <a:gd name="T16" fmla="*/ 45 w 113"/>
                  <a:gd name="T17" fmla="*/ 23 h 69"/>
                  <a:gd name="T18" fmla="*/ 48 w 113"/>
                  <a:gd name="T19" fmla="*/ 28 h 69"/>
                  <a:gd name="T20" fmla="*/ 56 w 113"/>
                  <a:gd name="T21" fmla="*/ 38 h 69"/>
                  <a:gd name="T22" fmla="*/ 67 w 113"/>
                  <a:gd name="T23" fmla="*/ 38 h 69"/>
                  <a:gd name="T24" fmla="*/ 73 w 113"/>
                  <a:gd name="T25" fmla="*/ 48 h 69"/>
                  <a:gd name="T26" fmla="*/ 84 w 113"/>
                  <a:gd name="T27" fmla="*/ 58 h 69"/>
                  <a:gd name="T28" fmla="*/ 95 w 113"/>
                  <a:gd name="T29" fmla="*/ 58 h 69"/>
                  <a:gd name="T30" fmla="*/ 95 w 113"/>
                  <a:gd name="T31" fmla="*/ 68 h 69"/>
                  <a:gd name="T32" fmla="*/ 101 w 113"/>
                  <a:gd name="T33" fmla="*/ 68 h 69"/>
                  <a:gd name="T34" fmla="*/ 106 w 113"/>
                  <a:gd name="T35" fmla="*/ 68 h 69"/>
                  <a:gd name="T36" fmla="*/ 112 w 113"/>
                  <a:gd name="T37" fmla="*/ 68 h 6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3"/>
                  <a:gd name="T58" fmla="*/ 0 h 69"/>
                  <a:gd name="T59" fmla="*/ 113 w 113"/>
                  <a:gd name="T60" fmla="*/ 69 h 6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3" h="69">
                    <a:moveTo>
                      <a:pt x="0" y="0"/>
                    </a:moveTo>
                    <a:lnTo>
                      <a:pt x="6" y="0"/>
                    </a:lnTo>
                    <a:lnTo>
                      <a:pt x="11" y="3"/>
                    </a:lnTo>
                    <a:lnTo>
                      <a:pt x="17" y="3"/>
                    </a:lnTo>
                    <a:lnTo>
                      <a:pt x="22" y="5"/>
                    </a:lnTo>
                    <a:lnTo>
                      <a:pt x="28" y="8"/>
                    </a:lnTo>
                    <a:lnTo>
                      <a:pt x="34" y="13"/>
                    </a:lnTo>
                    <a:lnTo>
                      <a:pt x="39" y="18"/>
                    </a:lnTo>
                    <a:lnTo>
                      <a:pt x="45" y="23"/>
                    </a:lnTo>
                    <a:lnTo>
                      <a:pt x="48" y="28"/>
                    </a:lnTo>
                    <a:lnTo>
                      <a:pt x="56" y="38"/>
                    </a:lnTo>
                    <a:lnTo>
                      <a:pt x="67" y="38"/>
                    </a:lnTo>
                    <a:lnTo>
                      <a:pt x="73" y="48"/>
                    </a:lnTo>
                    <a:lnTo>
                      <a:pt x="84" y="58"/>
                    </a:lnTo>
                    <a:lnTo>
                      <a:pt x="95" y="58"/>
                    </a:lnTo>
                    <a:lnTo>
                      <a:pt x="95" y="68"/>
                    </a:lnTo>
                    <a:lnTo>
                      <a:pt x="101" y="68"/>
                    </a:lnTo>
                    <a:lnTo>
                      <a:pt x="106" y="68"/>
                    </a:lnTo>
                    <a:lnTo>
                      <a:pt x="112" y="68"/>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80" name="Freeform 166"/>
              <p:cNvSpPr>
                <a:spLocks/>
              </p:cNvSpPr>
              <p:nvPr/>
            </p:nvSpPr>
            <p:spPr bwMode="auto">
              <a:xfrm>
                <a:off x="1639" y="2784"/>
                <a:ext cx="61" cy="48"/>
              </a:xfrm>
              <a:custGeom>
                <a:avLst/>
                <a:gdLst>
                  <a:gd name="T0" fmla="*/ 0 w 61"/>
                  <a:gd name="T1" fmla="*/ 47 h 48"/>
                  <a:gd name="T2" fmla="*/ 17 w 61"/>
                  <a:gd name="T3" fmla="*/ 25 h 48"/>
                  <a:gd name="T4" fmla="*/ 23 w 61"/>
                  <a:gd name="T5" fmla="*/ 22 h 48"/>
                  <a:gd name="T6" fmla="*/ 29 w 61"/>
                  <a:gd name="T7" fmla="*/ 20 h 48"/>
                  <a:gd name="T8" fmla="*/ 34 w 61"/>
                  <a:gd name="T9" fmla="*/ 17 h 48"/>
                  <a:gd name="T10" fmla="*/ 40 w 61"/>
                  <a:gd name="T11" fmla="*/ 17 h 48"/>
                  <a:gd name="T12" fmla="*/ 46 w 61"/>
                  <a:gd name="T13" fmla="*/ 17 h 48"/>
                  <a:gd name="T14" fmla="*/ 51 w 61"/>
                  <a:gd name="T15" fmla="*/ 17 h 48"/>
                  <a:gd name="T16" fmla="*/ 57 w 61"/>
                  <a:gd name="T17" fmla="*/ 15 h 48"/>
                  <a:gd name="T18" fmla="*/ 57 w 61"/>
                  <a:gd name="T19" fmla="*/ 10 h 48"/>
                  <a:gd name="T20" fmla="*/ 60 w 61"/>
                  <a:gd name="T21" fmla="*/ 5 h 48"/>
                  <a:gd name="T22" fmla="*/ 60 w 61"/>
                  <a:gd name="T23" fmla="*/ 0 h 4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1"/>
                  <a:gd name="T37" fmla="*/ 0 h 48"/>
                  <a:gd name="T38" fmla="*/ 61 w 61"/>
                  <a:gd name="T39" fmla="*/ 48 h 4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1" h="48">
                    <a:moveTo>
                      <a:pt x="0" y="47"/>
                    </a:moveTo>
                    <a:lnTo>
                      <a:pt x="17" y="25"/>
                    </a:lnTo>
                    <a:lnTo>
                      <a:pt x="23" y="22"/>
                    </a:lnTo>
                    <a:lnTo>
                      <a:pt x="29" y="20"/>
                    </a:lnTo>
                    <a:lnTo>
                      <a:pt x="34" y="17"/>
                    </a:lnTo>
                    <a:lnTo>
                      <a:pt x="40" y="17"/>
                    </a:lnTo>
                    <a:lnTo>
                      <a:pt x="46" y="17"/>
                    </a:lnTo>
                    <a:lnTo>
                      <a:pt x="51" y="17"/>
                    </a:lnTo>
                    <a:lnTo>
                      <a:pt x="57" y="15"/>
                    </a:lnTo>
                    <a:lnTo>
                      <a:pt x="57" y="10"/>
                    </a:lnTo>
                    <a:lnTo>
                      <a:pt x="60" y="5"/>
                    </a:lnTo>
                    <a:lnTo>
                      <a:pt x="60"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81" name="Freeform 167"/>
              <p:cNvSpPr>
                <a:spLocks/>
              </p:cNvSpPr>
              <p:nvPr/>
            </p:nvSpPr>
            <p:spPr bwMode="auto">
              <a:xfrm>
                <a:off x="1676" y="2764"/>
                <a:ext cx="60" cy="76"/>
              </a:xfrm>
              <a:custGeom>
                <a:avLst/>
                <a:gdLst>
                  <a:gd name="T0" fmla="*/ 0 w 60"/>
                  <a:gd name="T1" fmla="*/ 0 h 76"/>
                  <a:gd name="T2" fmla="*/ 6 w 60"/>
                  <a:gd name="T3" fmla="*/ 0 h 76"/>
                  <a:gd name="T4" fmla="*/ 11 w 60"/>
                  <a:gd name="T5" fmla="*/ 5 h 76"/>
                  <a:gd name="T6" fmla="*/ 11 w 60"/>
                  <a:gd name="T7" fmla="*/ 10 h 76"/>
                  <a:gd name="T8" fmla="*/ 14 w 60"/>
                  <a:gd name="T9" fmla="*/ 15 h 76"/>
                  <a:gd name="T10" fmla="*/ 14 w 60"/>
                  <a:gd name="T11" fmla="*/ 20 h 76"/>
                  <a:gd name="T12" fmla="*/ 17 w 60"/>
                  <a:gd name="T13" fmla="*/ 25 h 76"/>
                  <a:gd name="T14" fmla="*/ 20 w 60"/>
                  <a:gd name="T15" fmla="*/ 30 h 76"/>
                  <a:gd name="T16" fmla="*/ 25 w 60"/>
                  <a:gd name="T17" fmla="*/ 35 h 76"/>
                  <a:gd name="T18" fmla="*/ 31 w 60"/>
                  <a:gd name="T19" fmla="*/ 40 h 76"/>
                  <a:gd name="T20" fmla="*/ 31 w 60"/>
                  <a:gd name="T21" fmla="*/ 45 h 76"/>
                  <a:gd name="T22" fmla="*/ 37 w 60"/>
                  <a:gd name="T23" fmla="*/ 48 h 76"/>
                  <a:gd name="T24" fmla="*/ 37 w 60"/>
                  <a:gd name="T25" fmla="*/ 53 h 76"/>
                  <a:gd name="T26" fmla="*/ 39 w 60"/>
                  <a:gd name="T27" fmla="*/ 58 h 76"/>
                  <a:gd name="T28" fmla="*/ 42 w 60"/>
                  <a:gd name="T29" fmla="*/ 65 h 76"/>
                  <a:gd name="T30" fmla="*/ 48 w 60"/>
                  <a:gd name="T31" fmla="*/ 70 h 76"/>
                  <a:gd name="T32" fmla="*/ 53 w 60"/>
                  <a:gd name="T33" fmla="*/ 73 h 76"/>
                  <a:gd name="T34" fmla="*/ 59 w 60"/>
                  <a:gd name="T35" fmla="*/ 75 h 7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0"/>
                  <a:gd name="T55" fmla="*/ 0 h 76"/>
                  <a:gd name="T56" fmla="*/ 60 w 60"/>
                  <a:gd name="T57" fmla="*/ 76 h 7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0" h="76">
                    <a:moveTo>
                      <a:pt x="0" y="0"/>
                    </a:moveTo>
                    <a:lnTo>
                      <a:pt x="6" y="0"/>
                    </a:lnTo>
                    <a:lnTo>
                      <a:pt x="11" y="5"/>
                    </a:lnTo>
                    <a:lnTo>
                      <a:pt x="11" y="10"/>
                    </a:lnTo>
                    <a:lnTo>
                      <a:pt x="14" y="15"/>
                    </a:lnTo>
                    <a:lnTo>
                      <a:pt x="14" y="20"/>
                    </a:lnTo>
                    <a:lnTo>
                      <a:pt x="17" y="25"/>
                    </a:lnTo>
                    <a:lnTo>
                      <a:pt x="20" y="30"/>
                    </a:lnTo>
                    <a:lnTo>
                      <a:pt x="25" y="35"/>
                    </a:lnTo>
                    <a:lnTo>
                      <a:pt x="31" y="40"/>
                    </a:lnTo>
                    <a:lnTo>
                      <a:pt x="31" y="45"/>
                    </a:lnTo>
                    <a:lnTo>
                      <a:pt x="37" y="48"/>
                    </a:lnTo>
                    <a:lnTo>
                      <a:pt x="37" y="53"/>
                    </a:lnTo>
                    <a:lnTo>
                      <a:pt x="39" y="58"/>
                    </a:lnTo>
                    <a:lnTo>
                      <a:pt x="42" y="65"/>
                    </a:lnTo>
                    <a:lnTo>
                      <a:pt x="48" y="70"/>
                    </a:lnTo>
                    <a:lnTo>
                      <a:pt x="53" y="73"/>
                    </a:lnTo>
                    <a:lnTo>
                      <a:pt x="59" y="75"/>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82" name="Freeform 168"/>
              <p:cNvSpPr>
                <a:spLocks/>
              </p:cNvSpPr>
              <p:nvPr/>
            </p:nvSpPr>
            <p:spPr bwMode="auto">
              <a:xfrm>
                <a:off x="1649" y="2804"/>
                <a:ext cx="107" cy="48"/>
              </a:xfrm>
              <a:custGeom>
                <a:avLst/>
                <a:gdLst>
                  <a:gd name="T0" fmla="*/ 0 w 107"/>
                  <a:gd name="T1" fmla="*/ 47 h 48"/>
                  <a:gd name="T2" fmla="*/ 42 w 107"/>
                  <a:gd name="T3" fmla="*/ 32 h 48"/>
                  <a:gd name="T4" fmla="*/ 47 w 107"/>
                  <a:gd name="T5" fmla="*/ 32 h 48"/>
                  <a:gd name="T6" fmla="*/ 53 w 107"/>
                  <a:gd name="T7" fmla="*/ 32 h 48"/>
                  <a:gd name="T8" fmla="*/ 59 w 107"/>
                  <a:gd name="T9" fmla="*/ 32 h 48"/>
                  <a:gd name="T10" fmla="*/ 64 w 107"/>
                  <a:gd name="T11" fmla="*/ 30 h 48"/>
                  <a:gd name="T12" fmla="*/ 67 w 107"/>
                  <a:gd name="T13" fmla="*/ 25 h 48"/>
                  <a:gd name="T14" fmla="*/ 70 w 107"/>
                  <a:gd name="T15" fmla="*/ 20 h 48"/>
                  <a:gd name="T16" fmla="*/ 75 w 107"/>
                  <a:gd name="T17" fmla="*/ 17 h 48"/>
                  <a:gd name="T18" fmla="*/ 81 w 107"/>
                  <a:gd name="T19" fmla="*/ 15 h 48"/>
                  <a:gd name="T20" fmla="*/ 86 w 107"/>
                  <a:gd name="T21" fmla="*/ 10 h 48"/>
                  <a:gd name="T22" fmla="*/ 92 w 107"/>
                  <a:gd name="T23" fmla="*/ 10 h 48"/>
                  <a:gd name="T24" fmla="*/ 98 w 107"/>
                  <a:gd name="T25" fmla="*/ 7 h 48"/>
                  <a:gd name="T26" fmla="*/ 100 w 107"/>
                  <a:gd name="T27" fmla="*/ 2 h 48"/>
                  <a:gd name="T28" fmla="*/ 106 w 107"/>
                  <a:gd name="T29" fmla="*/ 0 h 4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7"/>
                  <a:gd name="T46" fmla="*/ 0 h 48"/>
                  <a:gd name="T47" fmla="*/ 107 w 107"/>
                  <a:gd name="T48" fmla="*/ 48 h 4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7" h="48">
                    <a:moveTo>
                      <a:pt x="0" y="47"/>
                    </a:moveTo>
                    <a:lnTo>
                      <a:pt x="42" y="32"/>
                    </a:lnTo>
                    <a:lnTo>
                      <a:pt x="47" y="32"/>
                    </a:lnTo>
                    <a:lnTo>
                      <a:pt x="53" y="32"/>
                    </a:lnTo>
                    <a:lnTo>
                      <a:pt x="59" y="32"/>
                    </a:lnTo>
                    <a:lnTo>
                      <a:pt x="64" y="30"/>
                    </a:lnTo>
                    <a:lnTo>
                      <a:pt x="67" y="25"/>
                    </a:lnTo>
                    <a:lnTo>
                      <a:pt x="70" y="20"/>
                    </a:lnTo>
                    <a:lnTo>
                      <a:pt x="75" y="17"/>
                    </a:lnTo>
                    <a:lnTo>
                      <a:pt x="81" y="15"/>
                    </a:lnTo>
                    <a:lnTo>
                      <a:pt x="86" y="10"/>
                    </a:lnTo>
                    <a:lnTo>
                      <a:pt x="92" y="10"/>
                    </a:lnTo>
                    <a:lnTo>
                      <a:pt x="98" y="7"/>
                    </a:lnTo>
                    <a:lnTo>
                      <a:pt x="100" y="2"/>
                    </a:lnTo>
                    <a:lnTo>
                      <a:pt x="106"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83" name="Freeform 169"/>
              <p:cNvSpPr>
                <a:spLocks/>
              </p:cNvSpPr>
              <p:nvPr/>
            </p:nvSpPr>
            <p:spPr bwMode="auto">
              <a:xfrm>
                <a:off x="1705" y="2749"/>
                <a:ext cx="82" cy="91"/>
              </a:xfrm>
              <a:custGeom>
                <a:avLst/>
                <a:gdLst>
                  <a:gd name="T0" fmla="*/ 0 w 82"/>
                  <a:gd name="T1" fmla="*/ 0 h 91"/>
                  <a:gd name="T2" fmla="*/ 8 w 82"/>
                  <a:gd name="T3" fmla="*/ 3 h 91"/>
                  <a:gd name="T4" fmla="*/ 14 w 82"/>
                  <a:gd name="T5" fmla="*/ 3 h 91"/>
                  <a:gd name="T6" fmla="*/ 20 w 82"/>
                  <a:gd name="T7" fmla="*/ 3 h 91"/>
                  <a:gd name="T8" fmla="*/ 25 w 82"/>
                  <a:gd name="T9" fmla="*/ 8 h 91"/>
                  <a:gd name="T10" fmla="*/ 28 w 82"/>
                  <a:gd name="T11" fmla="*/ 13 h 91"/>
                  <a:gd name="T12" fmla="*/ 28 w 82"/>
                  <a:gd name="T13" fmla="*/ 18 h 91"/>
                  <a:gd name="T14" fmla="*/ 31 w 82"/>
                  <a:gd name="T15" fmla="*/ 23 h 91"/>
                  <a:gd name="T16" fmla="*/ 34 w 82"/>
                  <a:gd name="T17" fmla="*/ 28 h 91"/>
                  <a:gd name="T18" fmla="*/ 42 w 82"/>
                  <a:gd name="T19" fmla="*/ 50 h 91"/>
                  <a:gd name="T20" fmla="*/ 42 w 82"/>
                  <a:gd name="T21" fmla="*/ 60 h 91"/>
                  <a:gd name="T22" fmla="*/ 53 w 82"/>
                  <a:gd name="T23" fmla="*/ 70 h 91"/>
                  <a:gd name="T24" fmla="*/ 53 w 82"/>
                  <a:gd name="T25" fmla="*/ 80 h 91"/>
                  <a:gd name="T26" fmla="*/ 59 w 82"/>
                  <a:gd name="T27" fmla="*/ 83 h 91"/>
                  <a:gd name="T28" fmla="*/ 64 w 82"/>
                  <a:gd name="T29" fmla="*/ 85 h 91"/>
                  <a:gd name="T30" fmla="*/ 70 w 82"/>
                  <a:gd name="T31" fmla="*/ 88 h 91"/>
                  <a:gd name="T32" fmla="*/ 75 w 82"/>
                  <a:gd name="T33" fmla="*/ 90 h 91"/>
                  <a:gd name="T34" fmla="*/ 81 w 82"/>
                  <a:gd name="T35" fmla="*/ 90 h 9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2"/>
                  <a:gd name="T55" fmla="*/ 0 h 91"/>
                  <a:gd name="T56" fmla="*/ 82 w 82"/>
                  <a:gd name="T57" fmla="*/ 91 h 9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2" h="91">
                    <a:moveTo>
                      <a:pt x="0" y="0"/>
                    </a:moveTo>
                    <a:lnTo>
                      <a:pt x="8" y="3"/>
                    </a:lnTo>
                    <a:lnTo>
                      <a:pt x="14" y="3"/>
                    </a:lnTo>
                    <a:lnTo>
                      <a:pt x="20" y="3"/>
                    </a:lnTo>
                    <a:lnTo>
                      <a:pt x="25" y="8"/>
                    </a:lnTo>
                    <a:lnTo>
                      <a:pt x="28" y="13"/>
                    </a:lnTo>
                    <a:lnTo>
                      <a:pt x="28" y="18"/>
                    </a:lnTo>
                    <a:lnTo>
                      <a:pt x="31" y="23"/>
                    </a:lnTo>
                    <a:lnTo>
                      <a:pt x="34" y="28"/>
                    </a:lnTo>
                    <a:lnTo>
                      <a:pt x="42" y="50"/>
                    </a:lnTo>
                    <a:lnTo>
                      <a:pt x="42" y="60"/>
                    </a:lnTo>
                    <a:lnTo>
                      <a:pt x="53" y="70"/>
                    </a:lnTo>
                    <a:lnTo>
                      <a:pt x="53" y="80"/>
                    </a:lnTo>
                    <a:lnTo>
                      <a:pt x="59" y="83"/>
                    </a:lnTo>
                    <a:lnTo>
                      <a:pt x="64" y="85"/>
                    </a:lnTo>
                    <a:lnTo>
                      <a:pt x="70" y="88"/>
                    </a:lnTo>
                    <a:lnTo>
                      <a:pt x="75" y="90"/>
                    </a:lnTo>
                    <a:lnTo>
                      <a:pt x="81" y="9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84" name="Freeform 170"/>
              <p:cNvSpPr>
                <a:spLocks/>
              </p:cNvSpPr>
              <p:nvPr/>
            </p:nvSpPr>
            <p:spPr bwMode="auto">
              <a:xfrm>
                <a:off x="1718" y="2709"/>
                <a:ext cx="51" cy="128"/>
              </a:xfrm>
              <a:custGeom>
                <a:avLst/>
                <a:gdLst>
                  <a:gd name="T0" fmla="*/ 0 w 51"/>
                  <a:gd name="T1" fmla="*/ 0 h 128"/>
                  <a:gd name="T2" fmla="*/ 8 w 51"/>
                  <a:gd name="T3" fmla="*/ 2 h 128"/>
                  <a:gd name="T4" fmla="*/ 33 w 51"/>
                  <a:gd name="T5" fmla="*/ 10 h 128"/>
                  <a:gd name="T6" fmla="*/ 39 w 51"/>
                  <a:gd name="T7" fmla="*/ 15 h 128"/>
                  <a:gd name="T8" fmla="*/ 39 w 51"/>
                  <a:gd name="T9" fmla="*/ 20 h 128"/>
                  <a:gd name="T10" fmla="*/ 39 w 51"/>
                  <a:gd name="T11" fmla="*/ 25 h 128"/>
                  <a:gd name="T12" fmla="*/ 39 w 51"/>
                  <a:gd name="T13" fmla="*/ 30 h 128"/>
                  <a:gd name="T14" fmla="*/ 36 w 51"/>
                  <a:gd name="T15" fmla="*/ 42 h 128"/>
                  <a:gd name="T16" fmla="*/ 36 w 51"/>
                  <a:gd name="T17" fmla="*/ 52 h 128"/>
                  <a:gd name="T18" fmla="*/ 39 w 51"/>
                  <a:gd name="T19" fmla="*/ 57 h 128"/>
                  <a:gd name="T20" fmla="*/ 42 w 51"/>
                  <a:gd name="T21" fmla="*/ 62 h 128"/>
                  <a:gd name="T22" fmla="*/ 47 w 51"/>
                  <a:gd name="T23" fmla="*/ 65 h 128"/>
                  <a:gd name="T24" fmla="*/ 50 w 51"/>
                  <a:gd name="T25" fmla="*/ 70 h 128"/>
                  <a:gd name="T26" fmla="*/ 50 w 51"/>
                  <a:gd name="T27" fmla="*/ 75 h 128"/>
                  <a:gd name="T28" fmla="*/ 50 w 51"/>
                  <a:gd name="T29" fmla="*/ 80 h 128"/>
                  <a:gd name="T30" fmla="*/ 50 w 51"/>
                  <a:gd name="T31" fmla="*/ 85 h 128"/>
                  <a:gd name="T32" fmla="*/ 44 w 51"/>
                  <a:gd name="T33" fmla="*/ 97 h 128"/>
                  <a:gd name="T34" fmla="*/ 39 w 51"/>
                  <a:gd name="T35" fmla="*/ 100 h 128"/>
                  <a:gd name="T36" fmla="*/ 39 w 51"/>
                  <a:gd name="T37" fmla="*/ 105 h 128"/>
                  <a:gd name="T38" fmla="*/ 39 w 51"/>
                  <a:gd name="T39" fmla="*/ 110 h 128"/>
                  <a:gd name="T40" fmla="*/ 42 w 51"/>
                  <a:gd name="T41" fmla="*/ 115 h 128"/>
                  <a:gd name="T42" fmla="*/ 42 w 51"/>
                  <a:gd name="T43" fmla="*/ 120 h 128"/>
                  <a:gd name="T44" fmla="*/ 44 w 51"/>
                  <a:gd name="T45" fmla="*/ 125 h 128"/>
                  <a:gd name="T46" fmla="*/ 42 w 51"/>
                  <a:gd name="T47" fmla="*/ 127 h 12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1"/>
                  <a:gd name="T73" fmla="*/ 0 h 128"/>
                  <a:gd name="T74" fmla="*/ 51 w 51"/>
                  <a:gd name="T75" fmla="*/ 128 h 12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1" h="128">
                    <a:moveTo>
                      <a:pt x="0" y="0"/>
                    </a:moveTo>
                    <a:lnTo>
                      <a:pt x="8" y="2"/>
                    </a:lnTo>
                    <a:lnTo>
                      <a:pt x="33" y="10"/>
                    </a:lnTo>
                    <a:lnTo>
                      <a:pt x="39" y="15"/>
                    </a:lnTo>
                    <a:lnTo>
                      <a:pt x="39" y="20"/>
                    </a:lnTo>
                    <a:lnTo>
                      <a:pt x="39" y="25"/>
                    </a:lnTo>
                    <a:lnTo>
                      <a:pt x="39" y="30"/>
                    </a:lnTo>
                    <a:lnTo>
                      <a:pt x="36" y="42"/>
                    </a:lnTo>
                    <a:lnTo>
                      <a:pt x="36" y="52"/>
                    </a:lnTo>
                    <a:lnTo>
                      <a:pt x="39" y="57"/>
                    </a:lnTo>
                    <a:lnTo>
                      <a:pt x="42" y="62"/>
                    </a:lnTo>
                    <a:lnTo>
                      <a:pt x="47" y="65"/>
                    </a:lnTo>
                    <a:lnTo>
                      <a:pt x="50" y="70"/>
                    </a:lnTo>
                    <a:lnTo>
                      <a:pt x="50" y="75"/>
                    </a:lnTo>
                    <a:lnTo>
                      <a:pt x="50" y="80"/>
                    </a:lnTo>
                    <a:lnTo>
                      <a:pt x="50" y="85"/>
                    </a:lnTo>
                    <a:lnTo>
                      <a:pt x="44" y="97"/>
                    </a:lnTo>
                    <a:lnTo>
                      <a:pt x="39" y="100"/>
                    </a:lnTo>
                    <a:lnTo>
                      <a:pt x="39" y="105"/>
                    </a:lnTo>
                    <a:lnTo>
                      <a:pt x="39" y="110"/>
                    </a:lnTo>
                    <a:lnTo>
                      <a:pt x="42" y="115"/>
                    </a:lnTo>
                    <a:lnTo>
                      <a:pt x="42" y="120"/>
                    </a:lnTo>
                    <a:lnTo>
                      <a:pt x="44" y="125"/>
                    </a:lnTo>
                    <a:lnTo>
                      <a:pt x="42" y="127"/>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85" name="Freeform 171"/>
              <p:cNvSpPr>
                <a:spLocks/>
              </p:cNvSpPr>
              <p:nvPr/>
            </p:nvSpPr>
            <p:spPr bwMode="auto">
              <a:xfrm>
                <a:off x="1694" y="2681"/>
                <a:ext cx="87" cy="24"/>
              </a:xfrm>
              <a:custGeom>
                <a:avLst/>
                <a:gdLst>
                  <a:gd name="T0" fmla="*/ 0 w 87"/>
                  <a:gd name="T1" fmla="*/ 23 h 24"/>
                  <a:gd name="T2" fmla="*/ 6 w 87"/>
                  <a:gd name="T3" fmla="*/ 20 h 24"/>
                  <a:gd name="T4" fmla="*/ 6 w 87"/>
                  <a:gd name="T5" fmla="*/ 13 h 24"/>
                  <a:gd name="T6" fmla="*/ 6 w 87"/>
                  <a:gd name="T7" fmla="*/ 8 h 24"/>
                  <a:gd name="T8" fmla="*/ 11 w 87"/>
                  <a:gd name="T9" fmla="*/ 3 h 24"/>
                  <a:gd name="T10" fmla="*/ 17 w 87"/>
                  <a:gd name="T11" fmla="*/ 3 h 24"/>
                  <a:gd name="T12" fmla="*/ 31 w 87"/>
                  <a:gd name="T13" fmla="*/ 0 h 24"/>
                  <a:gd name="T14" fmla="*/ 42 w 87"/>
                  <a:gd name="T15" fmla="*/ 0 h 24"/>
                  <a:gd name="T16" fmla="*/ 53 w 87"/>
                  <a:gd name="T17" fmla="*/ 0 h 24"/>
                  <a:gd name="T18" fmla="*/ 64 w 87"/>
                  <a:gd name="T19" fmla="*/ 0 h 24"/>
                  <a:gd name="T20" fmla="*/ 69 w 87"/>
                  <a:gd name="T21" fmla="*/ 0 h 24"/>
                  <a:gd name="T22" fmla="*/ 75 w 87"/>
                  <a:gd name="T23" fmla="*/ 3 h 24"/>
                  <a:gd name="T24" fmla="*/ 80 w 87"/>
                  <a:gd name="T25" fmla="*/ 3 h 24"/>
                  <a:gd name="T26" fmla="*/ 86 w 87"/>
                  <a:gd name="T27" fmla="*/ 0 h 2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7"/>
                  <a:gd name="T43" fmla="*/ 0 h 24"/>
                  <a:gd name="T44" fmla="*/ 87 w 87"/>
                  <a:gd name="T45" fmla="*/ 24 h 2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7" h="24">
                    <a:moveTo>
                      <a:pt x="0" y="23"/>
                    </a:moveTo>
                    <a:lnTo>
                      <a:pt x="6" y="20"/>
                    </a:lnTo>
                    <a:lnTo>
                      <a:pt x="6" y="13"/>
                    </a:lnTo>
                    <a:lnTo>
                      <a:pt x="6" y="8"/>
                    </a:lnTo>
                    <a:lnTo>
                      <a:pt x="11" y="3"/>
                    </a:lnTo>
                    <a:lnTo>
                      <a:pt x="17" y="3"/>
                    </a:lnTo>
                    <a:lnTo>
                      <a:pt x="31" y="0"/>
                    </a:lnTo>
                    <a:lnTo>
                      <a:pt x="42" y="0"/>
                    </a:lnTo>
                    <a:lnTo>
                      <a:pt x="53" y="0"/>
                    </a:lnTo>
                    <a:lnTo>
                      <a:pt x="64" y="0"/>
                    </a:lnTo>
                    <a:lnTo>
                      <a:pt x="69" y="0"/>
                    </a:lnTo>
                    <a:lnTo>
                      <a:pt x="75" y="3"/>
                    </a:lnTo>
                    <a:lnTo>
                      <a:pt x="80" y="3"/>
                    </a:lnTo>
                    <a:lnTo>
                      <a:pt x="86"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86" name="Freeform 172"/>
              <p:cNvSpPr>
                <a:spLocks/>
              </p:cNvSpPr>
              <p:nvPr/>
            </p:nvSpPr>
            <p:spPr bwMode="auto">
              <a:xfrm>
                <a:off x="1761" y="2649"/>
                <a:ext cx="71" cy="72"/>
              </a:xfrm>
              <a:custGeom>
                <a:avLst/>
                <a:gdLst>
                  <a:gd name="T0" fmla="*/ 0 w 71"/>
                  <a:gd name="T1" fmla="*/ 0 h 72"/>
                  <a:gd name="T2" fmla="*/ 6 w 71"/>
                  <a:gd name="T3" fmla="*/ 0 h 72"/>
                  <a:gd name="T4" fmla="*/ 11 w 71"/>
                  <a:gd name="T5" fmla="*/ 2 h 72"/>
                  <a:gd name="T6" fmla="*/ 17 w 71"/>
                  <a:gd name="T7" fmla="*/ 7 h 72"/>
                  <a:gd name="T8" fmla="*/ 28 w 71"/>
                  <a:gd name="T9" fmla="*/ 7 h 72"/>
                  <a:gd name="T10" fmla="*/ 31 w 71"/>
                  <a:gd name="T11" fmla="*/ 12 h 72"/>
                  <a:gd name="T12" fmla="*/ 34 w 71"/>
                  <a:gd name="T13" fmla="*/ 17 h 72"/>
                  <a:gd name="T14" fmla="*/ 39 w 71"/>
                  <a:gd name="T15" fmla="*/ 29 h 72"/>
                  <a:gd name="T16" fmla="*/ 39 w 71"/>
                  <a:gd name="T17" fmla="*/ 39 h 72"/>
                  <a:gd name="T18" fmla="*/ 42 w 71"/>
                  <a:gd name="T19" fmla="*/ 44 h 72"/>
                  <a:gd name="T20" fmla="*/ 48 w 71"/>
                  <a:gd name="T21" fmla="*/ 49 h 72"/>
                  <a:gd name="T22" fmla="*/ 53 w 71"/>
                  <a:gd name="T23" fmla="*/ 54 h 72"/>
                  <a:gd name="T24" fmla="*/ 59 w 71"/>
                  <a:gd name="T25" fmla="*/ 56 h 72"/>
                  <a:gd name="T26" fmla="*/ 64 w 71"/>
                  <a:gd name="T27" fmla="*/ 61 h 72"/>
                  <a:gd name="T28" fmla="*/ 64 w 71"/>
                  <a:gd name="T29" fmla="*/ 66 h 72"/>
                  <a:gd name="T30" fmla="*/ 70 w 71"/>
                  <a:gd name="T31" fmla="*/ 71 h 7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1"/>
                  <a:gd name="T49" fmla="*/ 0 h 72"/>
                  <a:gd name="T50" fmla="*/ 71 w 71"/>
                  <a:gd name="T51" fmla="*/ 72 h 7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1" h="72">
                    <a:moveTo>
                      <a:pt x="0" y="0"/>
                    </a:moveTo>
                    <a:lnTo>
                      <a:pt x="6" y="0"/>
                    </a:lnTo>
                    <a:lnTo>
                      <a:pt x="11" y="2"/>
                    </a:lnTo>
                    <a:lnTo>
                      <a:pt x="17" y="7"/>
                    </a:lnTo>
                    <a:lnTo>
                      <a:pt x="28" y="7"/>
                    </a:lnTo>
                    <a:lnTo>
                      <a:pt x="31" y="12"/>
                    </a:lnTo>
                    <a:lnTo>
                      <a:pt x="34" y="17"/>
                    </a:lnTo>
                    <a:lnTo>
                      <a:pt x="39" y="29"/>
                    </a:lnTo>
                    <a:lnTo>
                      <a:pt x="39" y="39"/>
                    </a:lnTo>
                    <a:lnTo>
                      <a:pt x="42" y="44"/>
                    </a:lnTo>
                    <a:lnTo>
                      <a:pt x="48" y="49"/>
                    </a:lnTo>
                    <a:lnTo>
                      <a:pt x="53" y="54"/>
                    </a:lnTo>
                    <a:lnTo>
                      <a:pt x="59" y="56"/>
                    </a:lnTo>
                    <a:lnTo>
                      <a:pt x="64" y="61"/>
                    </a:lnTo>
                    <a:lnTo>
                      <a:pt x="64" y="66"/>
                    </a:lnTo>
                    <a:lnTo>
                      <a:pt x="70" y="71"/>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87" name="Freeform 173"/>
              <p:cNvSpPr>
                <a:spLocks/>
              </p:cNvSpPr>
              <p:nvPr/>
            </p:nvSpPr>
            <p:spPr bwMode="auto">
              <a:xfrm>
                <a:off x="1780" y="2681"/>
                <a:ext cx="91" cy="44"/>
              </a:xfrm>
              <a:custGeom>
                <a:avLst/>
                <a:gdLst>
                  <a:gd name="T0" fmla="*/ 0 w 91"/>
                  <a:gd name="T1" fmla="*/ 43 h 44"/>
                  <a:gd name="T2" fmla="*/ 6 w 91"/>
                  <a:gd name="T3" fmla="*/ 40 h 44"/>
                  <a:gd name="T4" fmla="*/ 11 w 91"/>
                  <a:gd name="T5" fmla="*/ 35 h 44"/>
                  <a:gd name="T6" fmla="*/ 14 w 91"/>
                  <a:gd name="T7" fmla="*/ 30 h 44"/>
                  <a:gd name="T8" fmla="*/ 20 w 91"/>
                  <a:gd name="T9" fmla="*/ 25 h 44"/>
                  <a:gd name="T10" fmla="*/ 34 w 91"/>
                  <a:gd name="T11" fmla="*/ 18 h 44"/>
                  <a:gd name="T12" fmla="*/ 45 w 91"/>
                  <a:gd name="T13" fmla="*/ 18 h 44"/>
                  <a:gd name="T14" fmla="*/ 56 w 91"/>
                  <a:gd name="T15" fmla="*/ 18 h 44"/>
                  <a:gd name="T16" fmla="*/ 68 w 91"/>
                  <a:gd name="T17" fmla="*/ 8 h 44"/>
                  <a:gd name="T18" fmla="*/ 73 w 91"/>
                  <a:gd name="T19" fmla="*/ 8 h 44"/>
                  <a:gd name="T20" fmla="*/ 79 w 91"/>
                  <a:gd name="T21" fmla="*/ 8 h 44"/>
                  <a:gd name="T22" fmla="*/ 84 w 91"/>
                  <a:gd name="T23" fmla="*/ 8 h 44"/>
                  <a:gd name="T24" fmla="*/ 90 w 91"/>
                  <a:gd name="T25" fmla="*/ 5 h 44"/>
                  <a:gd name="T26" fmla="*/ 90 w 91"/>
                  <a:gd name="T27" fmla="*/ 0 h 44"/>
                  <a:gd name="T28" fmla="*/ 90 w 91"/>
                  <a:gd name="T29" fmla="*/ 0 h 4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1"/>
                  <a:gd name="T46" fmla="*/ 0 h 44"/>
                  <a:gd name="T47" fmla="*/ 91 w 91"/>
                  <a:gd name="T48" fmla="*/ 44 h 4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1" h="44">
                    <a:moveTo>
                      <a:pt x="0" y="43"/>
                    </a:moveTo>
                    <a:lnTo>
                      <a:pt x="6" y="40"/>
                    </a:lnTo>
                    <a:lnTo>
                      <a:pt x="11" y="35"/>
                    </a:lnTo>
                    <a:lnTo>
                      <a:pt x="14" y="30"/>
                    </a:lnTo>
                    <a:lnTo>
                      <a:pt x="20" y="25"/>
                    </a:lnTo>
                    <a:lnTo>
                      <a:pt x="34" y="18"/>
                    </a:lnTo>
                    <a:lnTo>
                      <a:pt x="45" y="18"/>
                    </a:lnTo>
                    <a:lnTo>
                      <a:pt x="56" y="18"/>
                    </a:lnTo>
                    <a:lnTo>
                      <a:pt x="68" y="8"/>
                    </a:lnTo>
                    <a:lnTo>
                      <a:pt x="73" y="8"/>
                    </a:lnTo>
                    <a:lnTo>
                      <a:pt x="79" y="8"/>
                    </a:lnTo>
                    <a:lnTo>
                      <a:pt x="84" y="8"/>
                    </a:lnTo>
                    <a:lnTo>
                      <a:pt x="90" y="5"/>
                    </a:lnTo>
                    <a:lnTo>
                      <a:pt x="90"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88" name="Freeform 174"/>
              <p:cNvSpPr>
                <a:spLocks/>
              </p:cNvSpPr>
              <p:nvPr/>
            </p:nvSpPr>
            <p:spPr bwMode="auto">
              <a:xfrm>
                <a:off x="1806" y="2704"/>
                <a:ext cx="108" cy="78"/>
              </a:xfrm>
              <a:custGeom>
                <a:avLst/>
                <a:gdLst>
                  <a:gd name="T0" fmla="*/ 107 w 108"/>
                  <a:gd name="T1" fmla="*/ 0 h 78"/>
                  <a:gd name="T2" fmla="*/ 101 w 108"/>
                  <a:gd name="T3" fmla="*/ 0 h 78"/>
                  <a:gd name="T4" fmla="*/ 96 w 108"/>
                  <a:gd name="T5" fmla="*/ 0 h 78"/>
                  <a:gd name="T6" fmla="*/ 82 w 108"/>
                  <a:gd name="T7" fmla="*/ 5 h 78"/>
                  <a:gd name="T8" fmla="*/ 68 w 108"/>
                  <a:gd name="T9" fmla="*/ 7 h 78"/>
                  <a:gd name="T10" fmla="*/ 56 w 108"/>
                  <a:gd name="T11" fmla="*/ 17 h 78"/>
                  <a:gd name="T12" fmla="*/ 45 w 108"/>
                  <a:gd name="T13" fmla="*/ 27 h 78"/>
                  <a:gd name="T14" fmla="*/ 45 w 108"/>
                  <a:gd name="T15" fmla="*/ 37 h 78"/>
                  <a:gd name="T16" fmla="*/ 45 w 108"/>
                  <a:gd name="T17" fmla="*/ 42 h 78"/>
                  <a:gd name="T18" fmla="*/ 42 w 108"/>
                  <a:gd name="T19" fmla="*/ 47 h 78"/>
                  <a:gd name="T20" fmla="*/ 42 w 108"/>
                  <a:gd name="T21" fmla="*/ 52 h 78"/>
                  <a:gd name="T22" fmla="*/ 42 w 108"/>
                  <a:gd name="T23" fmla="*/ 57 h 78"/>
                  <a:gd name="T24" fmla="*/ 42 w 108"/>
                  <a:gd name="T25" fmla="*/ 62 h 78"/>
                  <a:gd name="T26" fmla="*/ 28 w 108"/>
                  <a:gd name="T27" fmla="*/ 65 h 78"/>
                  <a:gd name="T28" fmla="*/ 23 w 108"/>
                  <a:gd name="T29" fmla="*/ 67 h 78"/>
                  <a:gd name="T30" fmla="*/ 17 w 108"/>
                  <a:gd name="T31" fmla="*/ 70 h 78"/>
                  <a:gd name="T32" fmla="*/ 11 w 108"/>
                  <a:gd name="T33" fmla="*/ 72 h 78"/>
                  <a:gd name="T34" fmla="*/ 6 w 108"/>
                  <a:gd name="T35" fmla="*/ 75 h 78"/>
                  <a:gd name="T36" fmla="*/ 0 w 108"/>
                  <a:gd name="T37" fmla="*/ 77 h 7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8"/>
                  <a:gd name="T58" fmla="*/ 0 h 78"/>
                  <a:gd name="T59" fmla="*/ 108 w 108"/>
                  <a:gd name="T60" fmla="*/ 78 h 7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8" h="78">
                    <a:moveTo>
                      <a:pt x="107" y="0"/>
                    </a:moveTo>
                    <a:lnTo>
                      <a:pt x="101" y="0"/>
                    </a:lnTo>
                    <a:lnTo>
                      <a:pt x="96" y="0"/>
                    </a:lnTo>
                    <a:lnTo>
                      <a:pt x="82" y="5"/>
                    </a:lnTo>
                    <a:lnTo>
                      <a:pt x="68" y="7"/>
                    </a:lnTo>
                    <a:lnTo>
                      <a:pt x="56" y="17"/>
                    </a:lnTo>
                    <a:lnTo>
                      <a:pt x="45" y="27"/>
                    </a:lnTo>
                    <a:lnTo>
                      <a:pt x="45" y="37"/>
                    </a:lnTo>
                    <a:lnTo>
                      <a:pt x="45" y="42"/>
                    </a:lnTo>
                    <a:lnTo>
                      <a:pt x="42" y="47"/>
                    </a:lnTo>
                    <a:lnTo>
                      <a:pt x="42" y="52"/>
                    </a:lnTo>
                    <a:lnTo>
                      <a:pt x="42" y="57"/>
                    </a:lnTo>
                    <a:lnTo>
                      <a:pt x="42" y="62"/>
                    </a:lnTo>
                    <a:lnTo>
                      <a:pt x="28" y="65"/>
                    </a:lnTo>
                    <a:lnTo>
                      <a:pt x="23" y="67"/>
                    </a:lnTo>
                    <a:lnTo>
                      <a:pt x="17" y="70"/>
                    </a:lnTo>
                    <a:lnTo>
                      <a:pt x="11" y="72"/>
                    </a:lnTo>
                    <a:lnTo>
                      <a:pt x="6" y="75"/>
                    </a:lnTo>
                    <a:lnTo>
                      <a:pt x="0" y="77"/>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89" name="Freeform 175"/>
              <p:cNvSpPr>
                <a:spLocks/>
              </p:cNvSpPr>
              <p:nvPr/>
            </p:nvSpPr>
            <p:spPr bwMode="auto">
              <a:xfrm>
                <a:off x="1834" y="2764"/>
                <a:ext cx="82" cy="51"/>
              </a:xfrm>
              <a:custGeom>
                <a:avLst/>
                <a:gdLst>
                  <a:gd name="T0" fmla="*/ 0 w 82"/>
                  <a:gd name="T1" fmla="*/ 50 h 51"/>
                  <a:gd name="T2" fmla="*/ 3 w 82"/>
                  <a:gd name="T3" fmla="*/ 45 h 51"/>
                  <a:gd name="T4" fmla="*/ 8 w 82"/>
                  <a:gd name="T5" fmla="*/ 43 h 51"/>
                  <a:gd name="T6" fmla="*/ 14 w 82"/>
                  <a:gd name="T7" fmla="*/ 38 h 51"/>
                  <a:gd name="T8" fmla="*/ 20 w 82"/>
                  <a:gd name="T9" fmla="*/ 35 h 51"/>
                  <a:gd name="T10" fmla="*/ 25 w 82"/>
                  <a:gd name="T11" fmla="*/ 35 h 51"/>
                  <a:gd name="T12" fmla="*/ 31 w 82"/>
                  <a:gd name="T13" fmla="*/ 33 h 51"/>
                  <a:gd name="T14" fmla="*/ 36 w 82"/>
                  <a:gd name="T15" fmla="*/ 33 h 51"/>
                  <a:gd name="T16" fmla="*/ 42 w 82"/>
                  <a:gd name="T17" fmla="*/ 30 h 51"/>
                  <a:gd name="T18" fmla="*/ 47 w 82"/>
                  <a:gd name="T19" fmla="*/ 28 h 51"/>
                  <a:gd name="T20" fmla="*/ 45 w 82"/>
                  <a:gd name="T21" fmla="*/ 23 h 51"/>
                  <a:gd name="T22" fmla="*/ 47 w 82"/>
                  <a:gd name="T23" fmla="*/ 18 h 51"/>
                  <a:gd name="T24" fmla="*/ 50 w 82"/>
                  <a:gd name="T25" fmla="*/ 13 h 51"/>
                  <a:gd name="T26" fmla="*/ 56 w 82"/>
                  <a:gd name="T27" fmla="*/ 10 h 51"/>
                  <a:gd name="T28" fmla="*/ 61 w 82"/>
                  <a:gd name="T29" fmla="*/ 10 h 51"/>
                  <a:gd name="T30" fmla="*/ 67 w 82"/>
                  <a:gd name="T31" fmla="*/ 8 h 51"/>
                  <a:gd name="T32" fmla="*/ 73 w 82"/>
                  <a:gd name="T33" fmla="*/ 8 h 51"/>
                  <a:gd name="T34" fmla="*/ 78 w 82"/>
                  <a:gd name="T35" fmla="*/ 5 h 51"/>
                  <a:gd name="T36" fmla="*/ 81 w 82"/>
                  <a:gd name="T37" fmla="*/ 0 h 5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2"/>
                  <a:gd name="T58" fmla="*/ 0 h 51"/>
                  <a:gd name="T59" fmla="*/ 82 w 82"/>
                  <a:gd name="T60" fmla="*/ 51 h 5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2" h="51">
                    <a:moveTo>
                      <a:pt x="0" y="50"/>
                    </a:moveTo>
                    <a:lnTo>
                      <a:pt x="3" y="45"/>
                    </a:lnTo>
                    <a:lnTo>
                      <a:pt x="8" y="43"/>
                    </a:lnTo>
                    <a:lnTo>
                      <a:pt x="14" y="38"/>
                    </a:lnTo>
                    <a:lnTo>
                      <a:pt x="20" y="35"/>
                    </a:lnTo>
                    <a:lnTo>
                      <a:pt x="25" y="35"/>
                    </a:lnTo>
                    <a:lnTo>
                      <a:pt x="31" y="33"/>
                    </a:lnTo>
                    <a:lnTo>
                      <a:pt x="36" y="33"/>
                    </a:lnTo>
                    <a:lnTo>
                      <a:pt x="42" y="30"/>
                    </a:lnTo>
                    <a:lnTo>
                      <a:pt x="47" y="28"/>
                    </a:lnTo>
                    <a:lnTo>
                      <a:pt x="45" y="23"/>
                    </a:lnTo>
                    <a:lnTo>
                      <a:pt x="47" y="18"/>
                    </a:lnTo>
                    <a:lnTo>
                      <a:pt x="50" y="13"/>
                    </a:lnTo>
                    <a:lnTo>
                      <a:pt x="56" y="10"/>
                    </a:lnTo>
                    <a:lnTo>
                      <a:pt x="61" y="10"/>
                    </a:lnTo>
                    <a:lnTo>
                      <a:pt x="67" y="8"/>
                    </a:lnTo>
                    <a:lnTo>
                      <a:pt x="73" y="8"/>
                    </a:lnTo>
                    <a:lnTo>
                      <a:pt x="78" y="5"/>
                    </a:lnTo>
                    <a:lnTo>
                      <a:pt x="81"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90" name="Freeform 176"/>
              <p:cNvSpPr>
                <a:spLocks/>
              </p:cNvSpPr>
              <p:nvPr/>
            </p:nvSpPr>
            <p:spPr bwMode="auto">
              <a:xfrm>
                <a:off x="1802" y="2811"/>
                <a:ext cx="123" cy="44"/>
              </a:xfrm>
              <a:custGeom>
                <a:avLst/>
                <a:gdLst>
                  <a:gd name="T0" fmla="*/ 0 w 123"/>
                  <a:gd name="T1" fmla="*/ 0 h 44"/>
                  <a:gd name="T2" fmla="*/ 6 w 123"/>
                  <a:gd name="T3" fmla="*/ 3 h 44"/>
                  <a:gd name="T4" fmla="*/ 11 w 123"/>
                  <a:gd name="T5" fmla="*/ 8 h 44"/>
                  <a:gd name="T6" fmla="*/ 17 w 123"/>
                  <a:gd name="T7" fmla="*/ 13 h 44"/>
                  <a:gd name="T8" fmla="*/ 23 w 123"/>
                  <a:gd name="T9" fmla="*/ 13 h 44"/>
                  <a:gd name="T10" fmla="*/ 28 w 123"/>
                  <a:gd name="T11" fmla="*/ 15 h 44"/>
                  <a:gd name="T12" fmla="*/ 34 w 123"/>
                  <a:gd name="T13" fmla="*/ 15 h 44"/>
                  <a:gd name="T14" fmla="*/ 40 w 123"/>
                  <a:gd name="T15" fmla="*/ 15 h 44"/>
                  <a:gd name="T16" fmla="*/ 68 w 123"/>
                  <a:gd name="T17" fmla="*/ 23 h 44"/>
                  <a:gd name="T18" fmla="*/ 79 w 123"/>
                  <a:gd name="T19" fmla="*/ 23 h 44"/>
                  <a:gd name="T20" fmla="*/ 91 w 123"/>
                  <a:gd name="T21" fmla="*/ 23 h 44"/>
                  <a:gd name="T22" fmla="*/ 91 w 123"/>
                  <a:gd name="T23" fmla="*/ 33 h 44"/>
                  <a:gd name="T24" fmla="*/ 96 w 123"/>
                  <a:gd name="T25" fmla="*/ 33 h 44"/>
                  <a:gd name="T26" fmla="*/ 102 w 123"/>
                  <a:gd name="T27" fmla="*/ 38 h 44"/>
                  <a:gd name="T28" fmla="*/ 116 w 123"/>
                  <a:gd name="T29" fmla="*/ 43 h 44"/>
                  <a:gd name="T30" fmla="*/ 122 w 123"/>
                  <a:gd name="T31" fmla="*/ 43 h 4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23"/>
                  <a:gd name="T49" fmla="*/ 0 h 44"/>
                  <a:gd name="T50" fmla="*/ 123 w 123"/>
                  <a:gd name="T51" fmla="*/ 44 h 4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23" h="44">
                    <a:moveTo>
                      <a:pt x="0" y="0"/>
                    </a:moveTo>
                    <a:lnTo>
                      <a:pt x="6" y="3"/>
                    </a:lnTo>
                    <a:lnTo>
                      <a:pt x="11" y="8"/>
                    </a:lnTo>
                    <a:lnTo>
                      <a:pt x="17" y="13"/>
                    </a:lnTo>
                    <a:lnTo>
                      <a:pt x="23" y="13"/>
                    </a:lnTo>
                    <a:lnTo>
                      <a:pt x="28" y="15"/>
                    </a:lnTo>
                    <a:lnTo>
                      <a:pt x="34" y="15"/>
                    </a:lnTo>
                    <a:lnTo>
                      <a:pt x="40" y="15"/>
                    </a:lnTo>
                    <a:lnTo>
                      <a:pt x="68" y="23"/>
                    </a:lnTo>
                    <a:lnTo>
                      <a:pt x="79" y="23"/>
                    </a:lnTo>
                    <a:lnTo>
                      <a:pt x="91" y="23"/>
                    </a:lnTo>
                    <a:lnTo>
                      <a:pt x="91" y="33"/>
                    </a:lnTo>
                    <a:lnTo>
                      <a:pt x="96" y="33"/>
                    </a:lnTo>
                    <a:lnTo>
                      <a:pt x="102" y="38"/>
                    </a:lnTo>
                    <a:lnTo>
                      <a:pt x="116" y="43"/>
                    </a:lnTo>
                    <a:lnTo>
                      <a:pt x="122" y="43"/>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91" name="Freeform 177"/>
              <p:cNvSpPr>
                <a:spLocks/>
              </p:cNvSpPr>
              <p:nvPr/>
            </p:nvSpPr>
            <p:spPr bwMode="auto">
              <a:xfrm>
                <a:off x="1856" y="2799"/>
                <a:ext cx="116" cy="51"/>
              </a:xfrm>
              <a:custGeom>
                <a:avLst/>
                <a:gdLst>
                  <a:gd name="T0" fmla="*/ 0 w 116"/>
                  <a:gd name="T1" fmla="*/ 50 h 51"/>
                  <a:gd name="T2" fmla="*/ 115 w 116"/>
                  <a:gd name="T3" fmla="*/ 25 h 51"/>
                  <a:gd name="T4" fmla="*/ 115 w 116"/>
                  <a:gd name="T5" fmla="*/ 20 h 51"/>
                  <a:gd name="T6" fmla="*/ 109 w 116"/>
                  <a:gd name="T7" fmla="*/ 18 h 51"/>
                  <a:gd name="T8" fmla="*/ 107 w 116"/>
                  <a:gd name="T9" fmla="*/ 10 h 51"/>
                  <a:gd name="T10" fmla="*/ 104 w 116"/>
                  <a:gd name="T11" fmla="*/ 5 h 51"/>
                  <a:gd name="T12" fmla="*/ 101 w 116"/>
                  <a:gd name="T13" fmla="*/ 0 h 51"/>
                  <a:gd name="T14" fmla="*/ 0 60000 65536"/>
                  <a:gd name="T15" fmla="*/ 0 60000 65536"/>
                  <a:gd name="T16" fmla="*/ 0 60000 65536"/>
                  <a:gd name="T17" fmla="*/ 0 60000 65536"/>
                  <a:gd name="T18" fmla="*/ 0 60000 65536"/>
                  <a:gd name="T19" fmla="*/ 0 60000 65536"/>
                  <a:gd name="T20" fmla="*/ 0 60000 65536"/>
                  <a:gd name="T21" fmla="*/ 0 w 116"/>
                  <a:gd name="T22" fmla="*/ 0 h 51"/>
                  <a:gd name="T23" fmla="*/ 116 w 116"/>
                  <a:gd name="T24" fmla="*/ 51 h 5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6" h="51">
                    <a:moveTo>
                      <a:pt x="0" y="50"/>
                    </a:moveTo>
                    <a:lnTo>
                      <a:pt x="115" y="25"/>
                    </a:lnTo>
                    <a:lnTo>
                      <a:pt x="115" y="20"/>
                    </a:lnTo>
                    <a:lnTo>
                      <a:pt x="109" y="18"/>
                    </a:lnTo>
                    <a:lnTo>
                      <a:pt x="107" y="10"/>
                    </a:lnTo>
                    <a:lnTo>
                      <a:pt x="104" y="5"/>
                    </a:lnTo>
                    <a:lnTo>
                      <a:pt x="101"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92" name="Freeform 178"/>
              <p:cNvSpPr>
                <a:spLocks/>
              </p:cNvSpPr>
              <p:nvPr/>
            </p:nvSpPr>
            <p:spPr bwMode="auto">
              <a:xfrm>
                <a:off x="1874" y="2656"/>
                <a:ext cx="91" cy="49"/>
              </a:xfrm>
              <a:custGeom>
                <a:avLst/>
                <a:gdLst>
                  <a:gd name="T0" fmla="*/ 0 w 91"/>
                  <a:gd name="T1" fmla="*/ 0 h 49"/>
                  <a:gd name="T2" fmla="*/ 17 w 91"/>
                  <a:gd name="T3" fmla="*/ 3 h 49"/>
                  <a:gd name="T4" fmla="*/ 23 w 91"/>
                  <a:gd name="T5" fmla="*/ 3 h 49"/>
                  <a:gd name="T6" fmla="*/ 25 w 91"/>
                  <a:gd name="T7" fmla="*/ 8 h 49"/>
                  <a:gd name="T8" fmla="*/ 31 w 91"/>
                  <a:gd name="T9" fmla="*/ 13 h 49"/>
                  <a:gd name="T10" fmla="*/ 34 w 91"/>
                  <a:gd name="T11" fmla="*/ 18 h 49"/>
                  <a:gd name="T12" fmla="*/ 37 w 91"/>
                  <a:gd name="T13" fmla="*/ 23 h 49"/>
                  <a:gd name="T14" fmla="*/ 45 w 91"/>
                  <a:gd name="T15" fmla="*/ 28 h 49"/>
                  <a:gd name="T16" fmla="*/ 56 w 91"/>
                  <a:gd name="T17" fmla="*/ 33 h 49"/>
                  <a:gd name="T18" fmla="*/ 68 w 91"/>
                  <a:gd name="T19" fmla="*/ 38 h 49"/>
                  <a:gd name="T20" fmla="*/ 79 w 91"/>
                  <a:gd name="T21" fmla="*/ 48 h 49"/>
                  <a:gd name="T22" fmla="*/ 84 w 91"/>
                  <a:gd name="T23" fmla="*/ 48 h 49"/>
                  <a:gd name="T24" fmla="*/ 90 w 91"/>
                  <a:gd name="T25" fmla="*/ 48 h 49"/>
                  <a:gd name="T26" fmla="*/ 87 w 91"/>
                  <a:gd name="T27" fmla="*/ 48 h 4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1"/>
                  <a:gd name="T43" fmla="*/ 0 h 49"/>
                  <a:gd name="T44" fmla="*/ 91 w 91"/>
                  <a:gd name="T45" fmla="*/ 49 h 4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1" h="49">
                    <a:moveTo>
                      <a:pt x="0" y="0"/>
                    </a:moveTo>
                    <a:lnTo>
                      <a:pt x="17" y="3"/>
                    </a:lnTo>
                    <a:lnTo>
                      <a:pt x="23" y="3"/>
                    </a:lnTo>
                    <a:lnTo>
                      <a:pt x="25" y="8"/>
                    </a:lnTo>
                    <a:lnTo>
                      <a:pt x="31" y="13"/>
                    </a:lnTo>
                    <a:lnTo>
                      <a:pt x="34" y="18"/>
                    </a:lnTo>
                    <a:lnTo>
                      <a:pt x="37" y="23"/>
                    </a:lnTo>
                    <a:lnTo>
                      <a:pt x="45" y="28"/>
                    </a:lnTo>
                    <a:lnTo>
                      <a:pt x="56" y="33"/>
                    </a:lnTo>
                    <a:lnTo>
                      <a:pt x="68" y="38"/>
                    </a:lnTo>
                    <a:lnTo>
                      <a:pt x="79" y="48"/>
                    </a:lnTo>
                    <a:lnTo>
                      <a:pt x="84" y="48"/>
                    </a:lnTo>
                    <a:lnTo>
                      <a:pt x="90" y="48"/>
                    </a:lnTo>
                    <a:lnTo>
                      <a:pt x="87" y="48"/>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93" name="Freeform 179"/>
              <p:cNvSpPr>
                <a:spLocks/>
              </p:cNvSpPr>
              <p:nvPr/>
            </p:nvSpPr>
            <p:spPr bwMode="auto">
              <a:xfrm>
                <a:off x="1932" y="2726"/>
                <a:ext cx="78" cy="41"/>
              </a:xfrm>
              <a:custGeom>
                <a:avLst/>
                <a:gdLst>
                  <a:gd name="T0" fmla="*/ 0 w 78"/>
                  <a:gd name="T1" fmla="*/ 40 h 41"/>
                  <a:gd name="T2" fmla="*/ 34 w 78"/>
                  <a:gd name="T3" fmla="*/ 23 h 41"/>
                  <a:gd name="T4" fmla="*/ 40 w 78"/>
                  <a:gd name="T5" fmla="*/ 23 h 41"/>
                  <a:gd name="T6" fmla="*/ 46 w 78"/>
                  <a:gd name="T7" fmla="*/ 23 h 41"/>
                  <a:gd name="T8" fmla="*/ 51 w 78"/>
                  <a:gd name="T9" fmla="*/ 23 h 41"/>
                  <a:gd name="T10" fmla="*/ 57 w 78"/>
                  <a:gd name="T11" fmla="*/ 23 h 41"/>
                  <a:gd name="T12" fmla="*/ 63 w 78"/>
                  <a:gd name="T13" fmla="*/ 20 h 41"/>
                  <a:gd name="T14" fmla="*/ 68 w 78"/>
                  <a:gd name="T15" fmla="*/ 15 h 41"/>
                  <a:gd name="T16" fmla="*/ 71 w 78"/>
                  <a:gd name="T17" fmla="*/ 10 h 41"/>
                  <a:gd name="T18" fmla="*/ 74 w 78"/>
                  <a:gd name="T19" fmla="*/ 5 h 41"/>
                  <a:gd name="T20" fmla="*/ 77 w 78"/>
                  <a:gd name="T21" fmla="*/ 0 h 4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8"/>
                  <a:gd name="T34" fmla="*/ 0 h 41"/>
                  <a:gd name="T35" fmla="*/ 78 w 78"/>
                  <a:gd name="T36" fmla="*/ 41 h 4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8" h="41">
                    <a:moveTo>
                      <a:pt x="0" y="40"/>
                    </a:moveTo>
                    <a:lnTo>
                      <a:pt x="34" y="23"/>
                    </a:lnTo>
                    <a:lnTo>
                      <a:pt x="40" y="23"/>
                    </a:lnTo>
                    <a:lnTo>
                      <a:pt x="46" y="23"/>
                    </a:lnTo>
                    <a:lnTo>
                      <a:pt x="51" y="23"/>
                    </a:lnTo>
                    <a:lnTo>
                      <a:pt x="57" y="23"/>
                    </a:lnTo>
                    <a:lnTo>
                      <a:pt x="63" y="20"/>
                    </a:lnTo>
                    <a:lnTo>
                      <a:pt x="68" y="15"/>
                    </a:lnTo>
                    <a:lnTo>
                      <a:pt x="71" y="10"/>
                    </a:lnTo>
                    <a:lnTo>
                      <a:pt x="74" y="5"/>
                    </a:lnTo>
                    <a:lnTo>
                      <a:pt x="77"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94" name="Freeform 180"/>
              <p:cNvSpPr>
                <a:spLocks/>
              </p:cNvSpPr>
              <p:nvPr/>
            </p:nvSpPr>
            <p:spPr bwMode="auto">
              <a:xfrm>
                <a:off x="1986" y="2799"/>
                <a:ext cx="96" cy="78"/>
              </a:xfrm>
              <a:custGeom>
                <a:avLst/>
                <a:gdLst>
                  <a:gd name="T0" fmla="*/ 0 w 96"/>
                  <a:gd name="T1" fmla="*/ 0 h 78"/>
                  <a:gd name="T2" fmla="*/ 8 w 96"/>
                  <a:gd name="T3" fmla="*/ 2 h 78"/>
                  <a:gd name="T4" fmla="*/ 14 w 96"/>
                  <a:gd name="T5" fmla="*/ 7 h 78"/>
                  <a:gd name="T6" fmla="*/ 22 w 96"/>
                  <a:gd name="T7" fmla="*/ 30 h 78"/>
                  <a:gd name="T8" fmla="*/ 34 w 96"/>
                  <a:gd name="T9" fmla="*/ 40 h 78"/>
                  <a:gd name="T10" fmla="*/ 34 w 96"/>
                  <a:gd name="T11" fmla="*/ 50 h 78"/>
                  <a:gd name="T12" fmla="*/ 45 w 96"/>
                  <a:gd name="T13" fmla="*/ 60 h 78"/>
                  <a:gd name="T14" fmla="*/ 50 w 96"/>
                  <a:gd name="T15" fmla="*/ 70 h 78"/>
                  <a:gd name="T16" fmla="*/ 53 w 96"/>
                  <a:gd name="T17" fmla="*/ 75 h 78"/>
                  <a:gd name="T18" fmla="*/ 59 w 96"/>
                  <a:gd name="T19" fmla="*/ 77 h 78"/>
                  <a:gd name="T20" fmla="*/ 64 w 96"/>
                  <a:gd name="T21" fmla="*/ 75 h 78"/>
                  <a:gd name="T22" fmla="*/ 70 w 96"/>
                  <a:gd name="T23" fmla="*/ 75 h 78"/>
                  <a:gd name="T24" fmla="*/ 73 w 96"/>
                  <a:gd name="T25" fmla="*/ 70 h 78"/>
                  <a:gd name="T26" fmla="*/ 75 w 96"/>
                  <a:gd name="T27" fmla="*/ 65 h 78"/>
                  <a:gd name="T28" fmla="*/ 81 w 96"/>
                  <a:gd name="T29" fmla="*/ 62 h 78"/>
                  <a:gd name="T30" fmla="*/ 87 w 96"/>
                  <a:gd name="T31" fmla="*/ 60 h 78"/>
                  <a:gd name="T32" fmla="*/ 89 w 96"/>
                  <a:gd name="T33" fmla="*/ 55 h 78"/>
                  <a:gd name="T34" fmla="*/ 95 w 96"/>
                  <a:gd name="T35" fmla="*/ 50 h 78"/>
                  <a:gd name="T36" fmla="*/ 95 w 96"/>
                  <a:gd name="T37" fmla="*/ 45 h 7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6"/>
                  <a:gd name="T58" fmla="*/ 0 h 78"/>
                  <a:gd name="T59" fmla="*/ 96 w 96"/>
                  <a:gd name="T60" fmla="*/ 78 h 7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6" h="78">
                    <a:moveTo>
                      <a:pt x="0" y="0"/>
                    </a:moveTo>
                    <a:lnTo>
                      <a:pt x="8" y="2"/>
                    </a:lnTo>
                    <a:lnTo>
                      <a:pt x="14" y="7"/>
                    </a:lnTo>
                    <a:lnTo>
                      <a:pt x="22" y="30"/>
                    </a:lnTo>
                    <a:lnTo>
                      <a:pt x="34" y="40"/>
                    </a:lnTo>
                    <a:lnTo>
                      <a:pt x="34" y="50"/>
                    </a:lnTo>
                    <a:lnTo>
                      <a:pt x="45" y="60"/>
                    </a:lnTo>
                    <a:lnTo>
                      <a:pt x="50" y="70"/>
                    </a:lnTo>
                    <a:lnTo>
                      <a:pt x="53" y="75"/>
                    </a:lnTo>
                    <a:lnTo>
                      <a:pt x="59" y="77"/>
                    </a:lnTo>
                    <a:lnTo>
                      <a:pt x="64" y="75"/>
                    </a:lnTo>
                    <a:lnTo>
                      <a:pt x="70" y="75"/>
                    </a:lnTo>
                    <a:lnTo>
                      <a:pt x="73" y="70"/>
                    </a:lnTo>
                    <a:lnTo>
                      <a:pt x="75" y="65"/>
                    </a:lnTo>
                    <a:lnTo>
                      <a:pt x="81" y="62"/>
                    </a:lnTo>
                    <a:lnTo>
                      <a:pt x="87" y="60"/>
                    </a:lnTo>
                    <a:lnTo>
                      <a:pt x="89" y="55"/>
                    </a:lnTo>
                    <a:lnTo>
                      <a:pt x="95" y="50"/>
                    </a:lnTo>
                    <a:lnTo>
                      <a:pt x="95" y="45"/>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95" name="Freeform 181"/>
              <p:cNvSpPr>
                <a:spLocks/>
              </p:cNvSpPr>
              <p:nvPr/>
            </p:nvSpPr>
            <p:spPr bwMode="auto">
              <a:xfrm>
                <a:off x="2005" y="2776"/>
                <a:ext cx="97" cy="49"/>
              </a:xfrm>
              <a:custGeom>
                <a:avLst/>
                <a:gdLst>
                  <a:gd name="T0" fmla="*/ 0 w 97"/>
                  <a:gd name="T1" fmla="*/ 3 h 49"/>
                  <a:gd name="T2" fmla="*/ 6 w 97"/>
                  <a:gd name="T3" fmla="*/ 3 h 49"/>
                  <a:gd name="T4" fmla="*/ 11 w 97"/>
                  <a:gd name="T5" fmla="*/ 0 h 49"/>
                  <a:gd name="T6" fmla="*/ 17 w 97"/>
                  <a:gd name="T7" fmla="*/ 0 h 49"/>
                  <a:gd name="T8" fmla="*/ 23 w 97"/>
                  <a:gd name="T9" fmla="*/ 3 h 49"/>
                  <a:gd name="T10" fmla="*/ 28 w 97"/>
                  <a:gd name="T11" fmla="*/ 10 h 49"/>
                  <a:gd name="T12" fmla="*/ 40 w 97"/>
                  <a:gd name="T13" fmla="*/ 20 h 49"/>
                  <a:gd name="T14" fmla="*/ 51 w 97"/>
                  <a:gd name="T15" fmla="*/ 25 h 49"/>
                  <a:gd name="T16" fmla="*/ 51 w 97"/>
                  <a:gd name="T17" fmla="*/ 35 h 49"/>
                  <a:gd name="T18" fmla="*/ 62 w 97"/>
                  <a:gd name="T19" fmla="*/ 45 h 49"/>
                  <a:gd name="T20" fmla="*/ 68 w 97"/>
                  <a:gd name="T21" fmla="*/ 45 h 49"/>
                  <a:gd name="T22" fmla="*/ 73 w 97"/>
                  <a:gd name="T23" fmla="*/ 45 h 49"/>
                  <a:gd name="T24" fmla="*/ 79 w 97"/>
                  <a:gd name="T25" fmla="*/ 45 h 49"/>
                  <a:gd name="T26" fmla="*/ 85 w 97"/>
                  <a:gd name="T27" fmla="*/ 45 h 49"/>
                  <a:gd name="T28" fmla="*/ 90 w 97"/>
                  <a:gd name="T29" fmla="*/ 45 h 49"/>
                  <a:gd name="T30" fmla="*/ 96 w 97"/>
                  <a:gd name="T31" fmla="*/ 48 h 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7"/>
                  <a:gd name="T49" fmla="*/ 0 h 49"/>
                  <a:gd name="T50" fmla="*/ 97 w 97"/>
                  <a:gd name="T51" fmla="*/ 49 h 4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7" h="49">
                    <a:moveTo>
                      <a:pt x="0" y="3"/>
                    </a:moveTo>
                    <a:lnTo>
                      <a:pt x="6" y="3"/>
                    </a:lnTo>
                    <a:lnTo>
                      <a:pt x="11" y="0"/>
                    </a:lnTo>
                    <a:lnTo>
                      <a:pt x="17" y="0"/>
                    </a:lnTo>
                    <a:lnTo>
                      <a:pt x="23" y="3"/>
                    </a:lnTo>
                    <a:lnTo>
                      <a:pt x="28" y="10"/>
                    </a:lnTo>
                    <a:lnTo>
                      <a:pt x="40" y="20"/>
                    </a:lnTo>
                    <a:lnTo>
                      <a:pt x="51" y="25"/>
                    </a:lnTo>
                    <a:lnTo>
                      <a:pt x="51" y="35"/>
                    </a:lnTo>
                    <a:lnTo>
                      <a:pt x="62" y="45"/>
                    </a:lnTo>
                    <a:lnTo>
                      <a:pt x="68" y="45"/>
                    </a:lnTo>
                    <a:lnTo>
                      <a:pt x="73" y="45"/>
                    </a:lnTo>
                    <a:lnTo>
                      <a:pt x="79" y="45"/>
                    </a:lnTo>
                    <a:lnTo>
                      <a:pt x="85" y="45"/>
                    </a:lnTo>
                    <a:lnTo>
                      <a:pt x="90" y="45"/>
                    </a:lnTo>
                    <a:lnTo>
                      <a:pt x="96" y="48"/>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96" name="Freeform 182"/>
              <p:cNvSpPr>
                <a:spLocks/>
              </p:cNvSpPr>
              <p:nvPr/>
            </p:nvSpPr>
            <p:spPr bwMode="auto">
              <a:xfrm>
                <a:off x="1958" y="2714"/>
                <a:ext cx="149" cy="36"/>
              </a:xfrm>
              <a:custGeom>
                <a:avLst/>
                <a:gdLst>
                  <a:gd name="T0" fmla="*/ 0 w 149"/>
                  <a:gd name="T1" fmla="*/ 35 h 36"/>
                  <a:gd name="T2" fmla="*/ 6 w 149"/>
                  <a:gd name="T3" fmla="*/ 30 h 36"/>
                  <a:gd name="T4" fmla="*/ 8 w 149"/>
                  <a:gd name="T5" fmla="*/ 25 h 36"/>
                  <a:gd name="T6" fmla="*/ 25 w 149"/>
                  <a:gd name="T7" fmla="*/ 10 h 36"/>
                  <a:gd name="T8" fmla="*/ 50 w 149"/>
                  <a:gd name="T9" fmla="*/ 0 h 36"/>
                  <a:gd name="T10" fmla="*/ 61 w 149"/>
                  <a:gd name="T11" fmla="*/ 0 h 36"/>
                  <a:gd name="T12" fmla="*/ 106 w 149"/>
                  <a:gd name="T13" fmla="*/ 0 h 36"/>
                  <a:gd name="T14" fmla="*/ 131 w 149"/>
                  <a:gd name="T15" fmla="*/ 0 h 36"/>
                  <a:gd name="T16" fmla="*/ 142 w 149"/>
                  <a:gd name="T17" fmla="*/ 0 h 36"/>
                  <a:gd name="T18" fmla="*/ 148 w 149"/>
                  <a:gd name="T19" fmla="*/ 0 h 3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9"/>
                  <a:gd name="T31" fmla="*/ 0 h 36"/>
                  <a:gd name="T32" fmla="*/ 149 w 149"/>
                  <a:gd name="T33" fmla="*/ 36 h 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9" h="36">
                    <a:moveTo>
                      <a:pt x="0" y="35"/>
                    </a:moveTo>
                    <a:lnTo>
                      <a:pt x="6" y="30"/>
                    </a:lnTo>
                    <a:lnTo>
                      <a:pt x="8" y="25"/>
                    </a:lnTo>
                    <a:lnTo>
                      <a:pt x="25" y="10"/>
                    </a:lnTo>
                    <a:lnTo>
                      <a:pt x="50" y="0"/>
                    </a:lnTo>
                    <a:lnTo>
                      <a:pt x="61" y="0"/>
                    </a:lnTo>
                    <a:lnTo>
                      <a:pt x="106" y="0"/>
                    </a:lnTo>
                    <a:lnTo>
                      <a:pt x="131" y="0"/>
                    </a:lnTo>
                    <a:lnTo>
                      <a:pt x="142" y="0"/>
                    </a:lnTo>
                    <a:lnTo>
                      <a:pt x="148"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97" name="Freeform 183"/>
              <p:cNvSpPr>
                <a:spLocks/>
              </p:cNvSpPr>
              <p:nvPr/>
            </p:nvSpPr>
            <p:spPr bwMode="auto">
              <a:xfrm>
                <a:off x="2067" y="2654"/>
                <a:ext cx="46" cy="101"/>
              </a:xfrm>
              <a:custGeom>
                <a:avLst/>
                <a:gdLst>
                  <a:gd name="T0" fmla="*/ 0 w 46"/>
                  <a:gd name="T1" fmla="*/ 0 h 101"/>
                  <a:gd name="T2" fmla="*/ 11 w 46"/>
                  <a:gd name="T3" fmla="*/ 8 h 101"/>
                  <a:gd name="T4" fmla="*/ 17 w 46"/>
                  <a:gd name="T5" fmla="*/ 13 h 101"/>
                  <a:gd name="T6" fmla="*/ 17 w 46"/>
                  <a:gd name="T7" fmla="*/ 18 h 101"/>
                  <a:gd name="T8" fmla="*/ 14 w 46"/>
                  <a:gd name="T9" fmla="*/ 23 h 101"/>
                  <a:gd name="T10" fmla="*/ 14 w 46"/>
                  <a:gd name="T11" fmla="*/ 28 h 101"/>
                  <a:gd name="T12" fmla="*/ 11 w 46"/>
                  <a:gd name="T13" fmla="*/ 33 h 101"/>
                  <a:gd name="T14" fmla="*/ 11 w 46"/>
                  <a:gd name="T15" fmla="*/ 38 h 101"/>
                  <a:gd name="T16" fmla="*/ 11 w 46"/>
                  <a:gd name="T17" fmla="*/ 43 h 101"/>
                  <a:gd name="T18" fmla="*/ 17 w 46"/>
                  <a:gd name="T19" fmla="*/ 53 h 101"/>
                  <a:gd name="T20" fmla="*/ 28 w 46"/>
                  <a:gd name="T21" fmla="*/ 63 h 101"/>
                  <a:gd name="T22" fmla="*/ 34 w 46"/>
                  <a:gd name="T23" fmla="*/ 68 h 101"/>
                  <a:gd name="T24" fmla="*/ 39 w 46"/>
                  <a:gd name="T25" fmla="*/ 70 h 101"/>
                  <a:gd name="T26" fmla="*/ 42 w 46"/>
                  <a:gd name="T27" fmla="*/ 75 h 101"/>
                  <a:gd name="T28" fmla="*/ 45 w 46"/>
                  <a:gd name="T29" fmla="*/ 80 h 101"/>
                  <a:gd name="T30" fmla="*/ 45 w 46"/>
                  <a:gd name="T31" fmla="*/ 85 h 101"/>
                  <a:gd name="T32" fmla="*/ 45 w 46"/>
                  <a:gd name="T33" fmla="*/ 90 h 101"/>
                  <a:gd name="T34" fmla="*/ 45 w 46"/>
                  <a:gd name="T35" fmla="*/ 95 h 101"/>
                  <a:gd name="T36" fmla="*/ 45 w 46"/>
                  <a:gd name="T37" fmla="*/ 100 h 101"/>
                  <a:gd name="T38" fmla="*/ 45 w 46"/>
                  <a:gd name="T39" fmla="*/ 98 h 10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6"/>
                  <a:gd name="T61" fmla="*/ 0 h 101"/>
                  <a:gd name="T62" fmla="*/ 46 w 46"/>
                  <a:gd name="T63" fmla="*/ 101 h 10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6" h="101">
                    <a:moveTo>
                      <a:pt x="0" y="0"/>
                    </a:moveTo>
                    <a:lnTo>
                      <a:pt x="11" y="8"/>
                    </a:lnTo>
                    <a:lnTo>
                      <a:pt x="17" y="13"/>
                    </a:lnTo>
                    <a:lnTo>
                      <a:pt x="17" y="18"/>
                    </a:lnTo>
                    <a:lnTo>
                      <a:pt x="14" y="23"/>
                    </a:lnTo>
                    <a:lnTo>
                      <a:pt x="14" y="28"/>
                    </a:lnTo>
                    <a:lnTo>
                      <a:pt x="11" y="33"/>
                    </a:lnTo>
                    <a:lnTo>
                      <a:pt x="11" y="38"/>
                    </a:lnTo>
                    <a:lnTo>
                      <a:pt x="11" y="43"/>
                    </a:lnTo>
                    <a:lnTo>
                      <a:pt x="17" y="53"/>
                    </a:lnTo>
                    <a:lnTo>
                      <a:pt x="28" y="63"/>
                    </a:lnTo>
                    <a:lnTo>
                      <a:pt x="34" y="68"/>
                    </a:lnTo>
                    <a:lnTo>
                      <a:pt x="39" y="70"/>
                    </a:lnTo>
                    <a:lnTo>
                      <a:pt x="42" y="75"/>
                    </a:lnTo>
                    <a:lnTo>
                      <a:pt x="45" y="80"/>
                    </a:lnTo>
                    <a:lnTo>
                      <a:pt x="45" y="85"/>
                    </a:lnTo>
                    <a:lnTo>
                      <a:pt x="45" y="90"/>
                    </a:lnTo>
                    <a:lnTo>
                      <a:pt x="45" y="95"/>
                    </a:lnTo>
                    <a:lnTo>
                      <a:pt x="45" y="100"/>
                    </a:lnTo>
                    <a:lnTo>
                      <a:pt x="45" y="98"/>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98" name="Freeform 184"/>
              <p:cNvSpPr>
                <a:spLocks/>
              </p:cNvSpPr>
              <p:nvPr/>
            </p:nvSpPr>
            <p:spPr bwMode="auto">
              <a:xfrm>
                <a:off x="2036" y="2691"/>
                <a:ext cx="88" cy="66"/>
              </a:xfrm>
              <a:custGeom>
                <a:avLst/>
                <a:gdLst>
                  <a:gd name="T0" fmla="*/ 87 w 88"/>
                  <a:gd name="T1" fmla="*/ 0 h 66"/>
                  <a:gd name="T2" fmla="*/ 59 w 88"/>
                  <a:gd name="T3" fmla="*/ 23 h 66"/>
                  <a:gd name="T4" fmla="*/ 56 w 88"/>
                  <a:gd name="T5" fmla="*/ 28 h 66"/>
                  <a:gd name="T6" fmla="*/ 51 w 88"/>
                  <a:gd name="T7" fmla="*/ 33 h 66"/>
                  <a:gd name="T8" fmla="*/ 45 w 88"/>
                  <a:gd name="T9" fmla="*/ 38 h 66"/>
                  <a:gd name="T10" fmla="*/ 42 w 88"/>
                  <a:gd name="T11" fmla="*/ 43 h 66"/>
                  <a:gd name="T12" fmla="*/ 36 w 88"/>
                  <a:gd name="T13" fmla="*/ 43 h 66"/>
                  <a:gd name="T14" fmla="*/ 31 w 88"/>
                  <a:gd name="T15" fmla="*/ 48 h 66"/>
                  <a:gd name="T16" fmla="*/ 25 w 88"/>
                  <a:gd name="T17" fmla="*/ 53 h 66"/>
                  <a:gd name="T18" fmla="*/ 11 w 88"/>
                  <a:gd name="T19" fmla="*/ 55 h 66"/>
                  <a:gd name="T20" fmla="*/ 11 w 88"/>
                  <a:gd name="T21" fmla="*/ 65 h 66"/>
                  <a:gd name="T22" fmla="*/ 6 w 88"/>
                  <a:gd name="T23" fmla="*/ 65 h 66"/>
                  <a:gd name="T24" fmla="*/ 0 w 88"/>
                  <a:gd name="T25" fmla="*/ 65 h 66"/>
                  <a:gd name="T26" fmla="*/ 6 w 88"/>
                  <a:gd name="T27" fmla="*/ 63 h 6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8"/>
                  <a:gd name="T43" fmla="*/ 0 h 66"/>
                  <a:gd name="T44" fmla="*/ 88 w 88"/>
                  <a:gd name="T45" fmla="*/ 66 h 6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8" h="66">
                    <a:moveTo>
                      <a:pt x="87" y="0"/>
                    </a:moveTo>
                    <a:lnTo>
                      <a:pt x="59" y="23"/>
                    </a:lnTo>
                    <a:lnTo>
                      <a:pt x="56" y="28"/>
                    </a:lnTo>
                    <a:lnTo>
                      <a:pt x="51" y="33"/>
                    </a:lnTo>
                    <a:lnTo>
                      <a:pt x="45" y="38"/>
                    </a:lnTo>
                    <a:lnTo>
                      <a:pt x="42" y="43"/>
                    </a:lnTo>
                    <a:lnTo>
                      <a:pt x="36" y="43"/>
                    </a:lnTo>
                    <a:lnTo>
                      <a:pt x="31" y="48"/>
                    </a:lnTo>
                    <a:lnTo>
                      <a:pt x="25" y="53"/>
                    </a:lnTo>
                    <a:lnTo>
                      <a:pt x="11" y="55"/>
                    </a:lnTo>
                    <a:lnTo>
                      <a:pt x="11" y="65"/>
                    </a:lnTo>
                    <a:lnTo>
                      <a:pt x="6" y="65"/>
                    </a:lnTo>
                    <a:lnTo>
                      <a:pt x="0" y="65"/>
                    </a:lnTo>
                    <a:lnTo>
                      <a:pt x="6" y="63"/>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99" name="Freeform 185"/>
              <p:cNvSpPr>
                <a:spLocks/>
              </p:cNvSpPr>
              <p:nvPr/>
            </p:nvSpPr>
            <p:spPr bwMode="auto">
              <a:xfrm>
                <a:off x="2115" y="2714"/>
                <a:ext cx="24" cy="88"/>
              </a:xfrm>
              <a:custGeom>
                <a:avLst/>
                <a:gdLst>
                  <a:gd name="T0" fmla="*/ 0 w 24"/>
                  <a:gd name="T1" fmla="*/ 87 h 88"/>
                  <a:gd name="T2" fmla="*/ 23 w 24"/>
                  <a:gd name="T3" fmla="*/ 60 h 88"/>
                  <a:gd name="T4" fmla="*/ 23 w 24"/>
                  <a:gd name="T5" fmla="*/ 55 h 88"/>
                  <a:gd name="T6" fmla="*/ 23 w 24"/>
                  <a:gd name="T7" fmla="*/ 50 h 88"/>
                  <a:gd name="T8" fmla="*/ 23 w 24"/>
                  <a:gd name="T9" fmla="*/ 45 h 88"/>
                  <a:gd name="T10" fmla="*/ 23 w 24"/>
                  <a:gd name="T11" fmla="*/ 40 h 88"/>
                  <a:gd name="T12" fmla="*/ 23 w 24"/>
                  <a:gd name="T13" fmla="*/ 35 h 88"/>
                  <a:gd name="T14" fmla="*/ 23 w 24"/>
                  <a:gd name="T15" fmla="*/ 30 h 88"/>
                  <a:gd name="T16" fmla="*/ 23 w 24"/>
                  <a:gd name="T17" fmla="*/ 25 h 88"/>
                  <a:gd name="T18" fmla="*/ 23 w 24"/>
                  <a:gd name="T19" fmla="*/ 20 h 88"/>
                  <a:gd name="T20" fmla="*/ 23 w 24"/>
                  <a:gd name="T21" fmla="*/ 15 h 88"/>
                  <a:gd name="T22" fmla="*/ 23 w 24"/>
                  <a:gd name="T23" fmla="*/ 10 h 88"/>
                  <a:gd name="T24" fmla="*/ 23 w 24"/>
                  <a:gd name="T25" fmla="*/ 5 h 88"/>
                  <a:gd name="T26" fmla="*/ 23 w 24"/>
                  <a:gd name="T27" fmla="*/ 0 h 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4"/>
                  <a:gd name="T43" fmla="*/ 0 h 88"/>
                  <a:gd name="T44" fmla="*/ 24 w 24"/>
                  <a:gd name="T45" fmla="*/ 88 h 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4" h="88">
                    <a:moveTo>
                      <a:pt x="0" y="87"/>
                    </a:moveTo>
                    <a:lnTo>
                      <a:pt x="23" y="60"/>
                    </a:lnTo>
                    <a:lnTo>
                      <a:pt x="23" y="55"/>
                    </a:lnTo>
                    <a:lnTo>
                      <a:pt x="23" y="50"/>
                    </a:lnTo>
                    <a:lnTo>
                      <a:pt x="23" y="45"/>
                    </a:lnTo>
                    <a:lnTo>
                      <a:pt x="23" y="40"/>
                    </a:lnTo>
                    <a:lnTo>
                      <a:pt x="23" y="35"/>
                    </a:lnTo>
                    <a:lnTo>
                      <a:pt x="23" y="30"/>
                    </a:lnTo>
                    <a:lnTo>
                      <a:pt x="23" y="25"/>
                    </a:lnTo>
                    <a:lnTo>
                      <a:pt x="23" y="20"/>
                    </a:lnTo>
                    <a:lnTo>
                      <a:pt x="23" y="15"/>
                    </a:lnTo>
                    <a:lnTo>
                      <a:pt x="23" y="10"/>
                    </a:lnTo>
                    <a:lnTo>
                      <a:pt x="23" y="5"/>
                    </a:lnTo>
                    <a:lnTo>
                      <a:pt x="23"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800" name="Freeform 186"/>
              <p:cNvSpPr>
                <a:spLocks/>
              </p:cNvSpPr>
              <p:nvPr/>
            </p:nvSpPr>
            <p:spPr bwMode="auto">
              <a:xfrm>
                <a:off x="2048" y="2826"/>
                <a:ext cx="126" cy="19"/>
              </a:xfrm>
              <a:custGeom>
                <a:avLst/>
                <a:gdLst>
                  <a:gd name="T0" fmla="*/ 0 w 126"/>
                  <a:gd name="T1" fmla="*/ 10 h 19"/>
                  <a:gd name="T2" fmla="*/ 36 w 126"/>
                  <a:gd name="T3" fmla="*/ 10 h 19"/>
                  <a:gd name="T4" fmla="*/ 42 w 126"/>
                  <a:gd name="T5" fmla="*/ 13 h 19"/>
                  <a:gd name="T6" fmla="*/ 47 w 126"/>
                  <a:gd name="T7" fmla="*/ 15 h 19"/>
                  <a:gd name="T8" fmla="*/ 61 w 126"/>
                  <a:gd name="T9" fmla="*/ 18 h 19"/>
                  <a:gd name="T10" fmla="*/ 72 w 126"/>
                  <a:gd name="T11" fmla="*/ 18 h 19"/>
                  <a:gd name="T12" fmla="*/ 86 w 126"/>
                  <a:gd name="T13" fmla="*/ 13 h 19"/>
                  <a:gd name="T14" fmla="*/ 92 w 126"/>
                  <a:gd name="T15" fmla="*/ 13 h 19"/>
                  <a:gd name="T16" fmla="*/ 103 w 126"/>
                  <a:gd name="T17" fmla="*/ 8 h 19"/>
                  <a:gd name="T18" fmla="*/ 114 w 126"/>
                  <a:gd name="T19" fmla="*/ 8 h 19"/>
                  <a:gd name="T20" fmla="*/ 119 w 126"/>
                  <a:gd name="T21" fmla="*/ 5 h 19"/>
                  <a:gd name="T22" fmla="*/ 125 w 126"/>
                  <a:gd name="T23" fmla="*/ 0 h 1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6"/>
                  <a:gd name="T37" fmla="*/ 0 h 19"/>
                  <a:gd name="T38" fmla="*/ 126 w 126"/>
                  <a:gd name="T39" fmla="*/ 19 h 1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6" h="19">
                    <a:moveTo>
                      <a:pt x="0" y="10"/>
                    </a:moveTo>
                    <a:lnTo>
                      <a:pt x="36" y="10"/>
                    </a:lnTo>
                    <a:lnTo>
                      <a:pt x="42" y="13"/>
                    </a:lnTo>
                    <a:lnTo>
                      <a:pt x="47" y="15"/>
                    </a:lnTo>
                    <a:lnTo>
                      <a:pt x="61" y="18"/>
                    </a:lnTo>
                    <a:lnTo>
                      <a:pt x="72" y="18"/>
                    </a:lnTo>
                    <a:lnTo>
                      <a:pt x="86" y="13"/>
                    </a:lnTo>
                    <a:lnTo>
                      <a:pt x="92" y="13"/>
                    </a:lnTo>
                    <a:lnTo>
                      <a:pt x="103" y="8"/>
                    </a:lnTo>
                    <a:lnTo>
                      <a:pt x="114" y="8"/>
                    </a:lnTo>
                    <a:lnTo>
                      <a:pt x="119" y="5"/>
                    </a:lnTo>
                    <a:lnTo>
                      <a:pt x="125"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801" name="Freeform 187"/>
              <p:cNvSpPr>
                <a:spLocks/>
              </p:cNvSpPr>
              <p:nvPr/>
            </p:nvSpPr>
            <p:spPr bwMode="auto">
              <a:xfrm>
                <a:off x="1823" y="2651"/>
                <a:ext cx="91" cy="91"/>
              </a:xfrm>
              <a:custGeom>
                <a:avLst/>
                <a:gdLst>
                  <a:gd name="T0" fmla="*/ 0 w 91"/>
                  <a:gd name="T1" fmla="*/ 0 h 91"/>
                  <a:gd name="T2" fmla="*/ 34 w 91"/>
                  <a:gd name="T3" fmla="*/ 25 h 91"/>
                  <a:gd name="T4" fmla="*/ 37 w 91"/>
                  <a:gd name="T5" fmla="*/ 58 h 91"/>
                  <a:gd name="T6" fmla="*/ 42 w 91"/>
                  <a:gd name="T7" fmla="*/ 63 h 91"/>
                  <a:gd name="T8" fmla="*/ 45 w 91"/>
                  <a:gd name="T9" fmla="*/ 68 h 91"/>
                  <a:gd name="T10" fmla="*/ 51 w 91"/>
                  <a:gd name="T11" fmla="*/ 70 h 91"/>
                  <a:gd name="T12" fmla="*/ 56 w 91"/>
                  <a:gd name="T13" fmla="*/ 73 h 91"/>
                  <a:gd name="T14" fmla="*/ 62 w 91"/>
                  <a:gd name="T15" fmla="*/ 75 h 91"/>
                  <a:gd name="T16" fmla="*/ 73 w 91"/>
                  <a:gd name="T17" fmla="*/ 75 h 91"/>
                  <a:gd name="T18" fmla="*/ 84 w 91"/>
                  <a:gd name="T19" fmla="*/ 85 h 91"/>
                  <a:gd name="T20" fmla="*/ 90 w 91"/>
                  <a:gd name="T21" fmla="*/ 90 h 9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1"/>
                  <a:gd name="T34" fmla="*/ 0 h 91"/>
                  <a:gd name="T35" fmla="*/ 91 w 91"/>
                  <a:gd name="T36" fmla="*/ 91 h 9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1" h="91">
                    <a:moveTo>
                      <a:pt x="0" y="0"/>
                    </a:moveTo>
                    <a:lnTo>
                      <a:pt x="34" y="25"/>
                    </a:lnTo>
                    <a:lnTo>
                      <a:pt x="37" y="58"/>
                    </a:lnTo>
                    <a:lnTo>
                      <a:pt x="42" y="63"/>
                    </a:lnTo>
                    <a:lnTo>
                      <a:pt x="45" y="68"/>
                    </a:lnTo>
                    <a:lnTo>
                      <a:pt x="51" y="70"/>
                    </a:lnTo>
                    <a:lnTo>
                      <a:pt x="56" y="73"/>
                    </a:lnTo>
                    <a:lnTo>
                      <a:pt x="62" y="75"/>
                    </a:lnTo>
                    <a:lnTo>
                      <a:pt x="73" y="75"/>
                    </a:lnTo>
                    <a:lnTo>
                      <a:pt x="84" y="85"/>
                    </a:lnTo>
                    <a:lnTo>
                      <a:pt x="90" y="9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802" name="Freeform 188"/>
              <p:cNvSpPr>
                <a:spLocks/>
              </p:cNvSpPr>
              <p:nvPr/>
            </p:nvSpPr>
            <p:spPr bwMode="auto">
              <a:xfrm>
                <a:off x="1665" y="2629"/>
                <a:ext cx="52" cy="106"/>
              </a:xfrm>
              <a:custGeom>
                <a:avLst/>
                <a:gdLst>
                  <a:gd name="T0" fmla="*/ 0 w 52"/>
                  <a:gd name="T1" fmla="*/ 0 h 106"/>
                  <a:gd name="T2" fmla="*/ 31 w 52"/>
                  <a:gd name="T3" fmla="*/ 70 h 106"/>
                  <a:gd name="T4" fmla="*/ 34 w 52"/>
                  <a:gd name="T5" fmla="*/ 75 h 106"/>
                  <a:gd name="T6" fmla="*/ 37 w 52"/>
                  <a:gd name="T7" fmla="*/ 80 h 106"/>
                  <a:gd name="T8" fmla="*/ 37 w 52"/>
                  <a:gd name="T9" fmla="*/ 85 h 106"/>
                  <a:gd name="T10" fmla="*/ 37 w 52"/>
                  <a:gd name="T11" fmla="*/ 90 h 106"/>
                  <a:gd name="T12" fmla="*/ 37 w 52"/>
                  <a:gd name="T13" fmla="*/ 95 h 106"/>
                  <a:gd name="T14" fmla="*/ 40 w 52"/>
                  <a:gd name="T15" fmla="*/ 100 h 106"/>
                  <a:gd name="T16" fmla="*/ 45 w 52"/>
                  <a:gd name="T17" fmla="*/ 105 h 106"/>
                  <a:gd name="T18" fmla="*/ 51 w 52"/>
                  <a:gd name="T19" fmla="*/ 105 h 106"/>
                  <a:gd name="T20" fmla="*/ 48 w 52"/>
                  <a:gd name="T21" fmla="*/ 105 h 10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2"/>
                  <a:gd name="T34" fmla="*/ 0 h 106"/>
                  <a:gd name="T35" fmla="*/ 52 w 52"/>
                  <a:gd name="T36" fmla="*/ 106 h 10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2" h="106">
                    <a:moveTo>
                      <a:pt x="0" y="0"/>
                    </a:moveTo>
                    <a:lnTo>
                      <a:pt x="31" y="70"/>
                    </a:lnTo>
                    <a:lnTo>
                      <a:pt x="34" y="75"/>
                    </a:lnTo>
                    <a:lnTo>
                      <a:pt x="37" y="80"/>
                    </a:lnTo>
                    <a:lnTo>
                      <a:pt x="37" y="85"/>
                    </a:lnTo>
                    <a:lnTo>
                      <a:pt x="37" y="90"/>
                    </a:lnTo>
                    <a:lnTo>
                      <a:pt x="37" y="95"/>
                    </a:lnTo>
                    <a:lnTo>
                      <a:pt x="40" y="100"/>
                    </a:lnTo>
                    <a:lnTo>
                      <a:pt x="45" y="105"/>
                    </a:lnTo>
                    <a:lnTo>
                      <a:pt x="51" y="105"/>
                    </a:lnTo>
                    <a:lnTo>
                      <a:pt x="48" y="105"/>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803" name="Freeform 189"/>
              <p:cNvSpPr>
                <a:spLocks/>
              </p:cNvSpPr>
              <p:nvPr/>
            </p:nvSpPr>
            <p:spPr bwMode="auto">
              <a:xfrm>
                <a:off x="1964" y="2645"/>
                <a:ext cx="79" cy="72"/>
              </a:xfrm>
              <a:custGeom>
                <a:avLst/>
                <a:gdLst>
                  <a:gd name="T0" fmla="*/ 78 w 79"/>
                  <a:gd name="T1" fmla="*/ 0 h 72"/>
                  <a:gd name="T2" fmla="*/ 72 w 79"/>
                  <a:gd name="T3" fmla="*/ 3 h 72"/>
                  <a:gd name="T4" fmla="*/ 67 w 79"/>
                  <a:gd name="T5" fmla="*/ 5 h 72"/>
                  <a:gd name="T6" fmla="*/ 61 w 79"/>
                  <a:gd name="T7" fmla="*/ 8 h 72"/>
                  <a:gd name="T8" fmla="*/ 61 w 79"/>
                  <a:gd name="T9" fmla="*/ 13 h 72"/>
                  <a:gd name="T10" fmla="*/ 61 w 79"/>
                  <a:gd name="T11" fmla="*/ 18 h 72"/>
                  <a:gd name="T12" fmla="*/ 61 w 79"/>
                  <a:gd name="T13" fmla="*/ 23 h 72"/>
                  <a:gd name="T14" fmla="*/ 56 w 79"/>
                  <a:gd name="T15" fmla="*/ 36 h 72"/>
                  <a:gd name="T16" fmla="*/ 45 w 79"/>
                  <a:gd name="T17" fmla="*/ 36 h 72"/>
                  <a:gd name="T18" fmla="*/ 42 w 79"/>
                  <a:gd name="T19" fmla="*/ 41 h 72"/>
                  <a:gd name="T20" fmla="*/ 31 w 79"/>
                  <a:gd name="T21" fmla="*/ 46 h 72"/>
                  <a:gd name="T22" fmla="*/ 25 w 79"/>
                  <a:gd name="T23" fmla="*/ 48 h 72"/>
                  <a:gd name="T24" fmla="*/ 8 w 79"/>
                  <a:gd name="T25" fmla="*/ 63 h 72"/>
                  <a:gd name="T26" fmla="*/ 6 w 79"/>
                  <a:gd name="T27" fmla="*/ 68 h 72"/>
                  <a:gd name="T28" fmla="*/ 0 w 79"/>
                  <a:gd name="T29" fmla="*/ 71 h 7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9"/>
                  <a:gd name="T46" fmla="*/ 0 h 72"/>
                  <a:gd name="T47" fmla="*/ 79 w 79"/>
                  <a:gd name="T48" fmla="*/ 72 h 7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9" h="72">
                    <a:moveTo>
                      <a:pt x="78" y="0"/>
                    </a:moveTo>
                    <a:lnTo>
                      <a:pt x="72" y="3"/>
                    </a:lnTo>
                    <a:lnTo>
                      <a:pt x="67" y="5"/>
                    </a:lnTo>
                    <a:lnTo>
                      <a:pt x="61" y="8"/>
                    </a:lnTo>
                    <a:lnTo>
                      <a:pt x="61" y="13"/>
                    </a:lnTo>
                    <a:lnTo>
                      <a:pt x="61" y="18"/>
                    </a:lnTo>
                    <a:lnTo>
                      <a:pt x="61" y="23"/>
                    </a:lnTo>
                    <a:lnTo>
                      <a:pt x="56" y="36"/>
                    </a:lnTo>
                    <a:lnTo>
                      <a:pt x="45" y="36"/>
                    </a:lnTo>
                    <a:lnTo>
                      <a:pt x="42" y="41"/>
                    </a:lnTo>
                    <a:lnTo>
                      <a:pt x="31" y="46"/>
                    </a:lnTo>
                    <a:lnTo>
                      <a:pt x="25" y="48"/>
                    </a:lnTo>
                    <a:lnTo>
                      <a:pt x="8" y="63"/>
                    </a:lnTo>
                    <a:lnTo>
                      <a:pt x="6" y="68"/>
                    </a:lnTo>
                    <a:lnTo>
                      <a:pt x="0" y="71"/>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804" name="Freeform 190"/>
              <p:cNvSpPr>
                <a:spLocks/>
              </p:cNvSpPr>
              <p:nvPr/>
            </p:nvSpPr>
            <p:spPr bwMode="auto">
              <a:xfrm>
                <a:off x="1901" y="2809"/>
                <a:ext cx="105" cy="46"/>
              </a:xfrm>
              <a:custGeom>
                <a:avLst/>
                <a:gdLst>
                  <a:gd name="T0" fmla="*/ 0 w 105"/>
                  <a:gd name="T1" fmla="*/ 0 h 46"/>
                  <a:gd name="T2" fmla="*/ 42 w 105"/>
                  <a:gd name="T3" fmla="*/ 0 h 46"/>
                  <a:gd name="T4" fmla="*/ 48 w 105"/>
                  <a:gd name="T5" fmla="*/ 0 h 46"/>
                  <a:gd name="T6" fmla="*/ 53 w 105"/>
                  <a:gd name="T7" fmla="*/ 5 h 46"/>
                  <a:gd name="T8" fmla="*/ 56 w 105"/>
                  <a:gd name="T9" fmla="*/ 10 h 46"/>
                  <a:gd name="T10" fmla="*/ 62 w 105"/>
                  <a:gd name="T11" fmla="*/ 13 h 46"/>
                  <a:gd name="T12" fmla="*/ 65 w 105"/>
                  <a:gd name="T13" fmla="*/ 18 h 46"/>
                  <a:gd name="T14" fmla="*/ 70 w 105"/>
                  <a:gd name="T15" fmla="*/ 23 h 46"/>
                  <a:gd name="T16" fmla="*/ 73 w 105"/>
                  <a:gd name="T17" fmla="*/ 28 h 46"/>
                  <a:gd name="T18" fmla="*/ 76 w 105"/>
                  <a:gd name="T19" fmla="*/ 33 h 46"/>
                  <a:gd name="T20" fmla="*/ 82 w 105"/>
                  <a:gd name="T21" fmla="*/ 38 h 46"/>
                  <a:gd name="T22" fmla="*/ 87 w 105"/>
                  <a:gd name="T23" fmla="*/ 40 h 46"/>
                  <a:gd name="T24" fmla="*/ 93 w 105"/>
                  <a:gd name="T25" fmla="*/ 43 h 46"/>
                  <a:gd name="T26" fmla="*/ 98 w 105"/>
                  <a:gd name="T27" fmla="*/ 45 h 46"/>
                  <a:gd name="T28" fmla="*/ 104 w 105"/>
                  <a:gd name="T29" fmla="*/ 45 h 4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5"/>
                  <a:gd name="T46" fmla="*/ 0 h 46"/>
                  <a:gd name="T47" fmla="*/ 105 w 105"/>
                  <a:gd name="T48" fmla="*/ 46 h 4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5" h="46">
                    <a:moveTo>
                      <a:pt x="0" y="0"/>
                    </a:moveTo>
                    <a:lnTo>
                      <a:pt x="42" y="0"/>
                    </a:lnTo>
                    <a:lnTo>
                      <a:pt x="48" y="0"/>
                    </a:lnTo>
                    <a:lnTo>
                      <a:pt x="53" y="5"/>
                    </a:lnTo>
                    <a:lnTo>
                      <a:pt x="56" y="10"/>
                    </a:lnTo>
                    <a:lnTo>
                      <a:pt x="62" y="13"/>
                    </a:lnTo>
                    <a:lnTo>
                      <a:pt x="65" y="18"/>
                    </a:lnTo>
                    <a:lnTo>
                      <a:pt x="70" y="23"/>
                    </a:lnTo>
                    <a:lnTo>
                      <a:pt x="73" y="28"/>
                    </a:lnTo>
                    <a:lnTo>
                      <a:pt x="76" y="33"/>
                    </a:lnTo>
                    <a:lnTo>
                      <a:pt x="82" y="38"/>
                    </a:lnTo>
                    <a:lnTo>
                      <a:pt x="87" y="40"/>
                    </a:lnTo>
                    <a:lnTo>
                      <a:pt x="93" y="43"/>
                    </a:lnTo>
                    <a:lnTo>
                      <a:pt x="98" y="45"/>
                    </a:lnTo>
                    <a:lnTo>
                      <a:pt x="104" y="45"/>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805" name="Freeform 191"/>
              <p:cNvSpPr>
                <a:spLocks/>
              </p:cNvSpPr>
              <p:nvPr/>
            </p:nvSpPr>
            <p:spPr bwMode="auto">
              <a:xfrm>
                <a:off x="1786" y="2774"/>
                <a:ext cx="38" cy="76"/>
              </a:xfrm>
              <a:custGeom>
                <a:avLst/>
                <a:gdLst>
                  <a:gd name="T0" fmla="*/ 0 w 38"/>
                  <a:gd name="T1" fmla="*/ 0 h 76"/>
                  <a:gd name="T2" fmla="*/ 3 w 38"/>
                  <a:gd name="T3" fmla="*/ 5 h 76"/>
                  <a:gd name="T4" fmla="*/ 3 w 38"/>
                  <a:gd name="T5" fmla="*/ 10 h 76"/>
                  <a:gd name="T6" fmla="*/ 3 w 38"/>
                  <a:gd name="T7" fmla="*/ 15 h 76"/>
                  <a:gd name="T8" fmla="*/ 0 w 38"/>
                  <a:gd name="T9" fmla="*/ 20 h 76"/>
                  <a:gd name="T10" fmla="*/ 0 w 38"/>
                  <a:gd name="T11" fmla="*/ 25 h 76"/>
                  <a:gd name="T12" fmla="*/ 0 w 38"/>
                  <a:gd name="T13" fmla="*/ 30 h 76"/>
                  <a:gd name="T14" fmla="*/ 0 w 38"/>
                  <a:gd name="T15" fmla="*/ 35 h 76"/>
                  <a:gd name="T16" fmla="*/ 0 w 38"/>
                  <a:gd name="T17" fmla="*/ 40 h 76"/>
                  <a:gd name="T18" fmla="*/ 6 w 38"/>
                  <a:gd name="T19" fmla="*/ 45 h 76"/>
                  <a:gd name="T20" fmla="*/ 11 w 38"/>
                  <a:gd name="T21" fmla="*/ 50 h 76"/>
                  <a:gd name="T22" fmla="*/ 14 w 38"/>
                  <a:gd name="T23" fmla="*/ 55 h 76"/>
                  <a:gd name="T24" fmla="*/ 20 w 38"/>
                  <a:gd name="T25" fmla="*/ 60 h 76"/>
                  <a:gd name="T26" fmla="*/ 23 w 38"/>
                  <a:gd name="T27" fmla="*/ 65 h 76"/>
                  <a:gd name="T28" fmla="*/ 28 w 38"/>
                  <a:gd name="T29" fmla="*/ 70 h 76"/>
                  <a:gd name="T30" fmla="*/ 31 w 38"/>
                  <a:gd name="T31" fmla="*/ 75 h 76"/>
                  <a:gd name="T32" fmla="*/ 37 w 38"/>
                  <a:gd name="T33" fmla="*/ 75 h 7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8"/>
                  <a:gd name="T52" fmla="*/ 0 h 76"/>
                  <a:gd name="T53" fmla="*/ 38 w 38"/>
                  <a:gd name="T54" fmla="*/ 76 h 7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8" h="76">
                    <a:moveTo>
                      <a:pt x="0" y="0"/>
                    </a:moveTo>
                    <a:lnTo>
                      <a:pt x="3" y="5"/>
                    </a:lnTo>
                    <a:lnTo>
                      <a:pt x="3" y="10"/>
                    </a:lnTo>
                    <a:lnTo>
                      <a:pt x="3" y="15"/>
                    </a:lnTo>
                    <a:lnTo>
                      <a:pt x="0" y="20"/>
                    </a:lnTo>
                    <a:lnTo>
                      <a:pt x="0" y="25"/>
                    </a:lnTo>
                    <a:lnTo>
                      <a:pt x="0" y="30"/>
                    </a:lnTo>
                    <a:lnTo>
                      <a:pt x="0" y="35"/>
                    </a:lnTo>
                    <a:lnTo>
                      <a:pt x="0" y="40"/>
                    </a:lnTo>
                    <a:lnTo>
                      <a:pt x="6" y="45"/>
                    </a:lnTo>
                    <a:lnTo>
                      <a:pt x="11" y="50"/>
                    </a:lnTo>
                    <a:lnTo>
                      <a:pt x="14" y="55"/>
                    </a:lnTo>
                    <a:lnTo>
                      <a:pt x="20" y="60"/>
                    </a:lnTo>
                    <a:lnTo>
                      <a:pt x="23" y="65"/>
                    </a:lnTo>
                    <a:lnTo>
                      <a:pt x="28" y="70"/>
                    </a:lnTo>
                    <a:lnTo>
                      <a:pt x="31" y="75"/>
                    </a:lnTo>
                    <a:lnTo>
                      <a:pt x="37" y="75"/>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806" name="Freeform 192"/>
              <p:cNvSpPr>
                <a:spLocks/>
              </p:cNvSpPr>
              <p:nvPr/>
            </p:nvSpPr>
            <p:spPr bwMode="auto">
              <a:xfrm>
                <a:off x="1943" y="2741"/>
                <a:ext cx="85" cy="51"/>
              </a:xfrm>
              <a:custGeom>
                <a:avLst/>
                <a:gdLst>
                  <a:gd name="T0" fmla="*/ 0 w 85"/>
                  <a:gd name="T1" fmla="*/ 50 h 51"/>
                  <a:gd name="T2" fmla="*/ 17 w 85"/>
                  <a:gd name="T3" fmla="*/ 43 h 51"/>
                  <a:gd name="T4" fmla="*/ 20 w 85"/>
                  <a:gd name="T5" fmla="*/ 38 h 51"/>
                  <a:gd name="T6" fmla="*/ 22 w 85"/>
                  <a:gd name="T7" fmla="*/ 33 h 51"/>
                  <a:gd name="T8" fmla="*/ 28 w 85"/>
                  <a:gd name="T9" fmla="*/ 30 h 51"/>
                  <a:gd name="T10" fmla="*/ 34 w 85"/>
                  <a:gd name="T11" fmla="*/ 30 h 51"/>
                  <a:gd name="T12" fmla="*/ 39 w 85"/>
                  <a:gd name="T13" fmla="*/ 30 h 51"/>
                  <a:gd name="T14" fmla="*/ 45 w 85"/>
                  <a:gd name="T15" fmla="*/ 30 h 51"/>
                  <a:gd name="T16" fmla="*/ 50 w 85"/>
                  <a:gd name="T17" fmla="*/ 30 h 51"/>
                  <a:gd name="T18" fmla="*/ 56 w 85"/>
                  <a:gd name="T19" fmla="*/ 30 h 51"/>
                  <a:gd name="T20" fmla="*/ 62 w 85"/>
                  <a:gd name="T21" fmla="*/ 28 h 51"/>
                  <a:gd name="T22" fmla="*/ 64 w 85"/>
                  <a:gd name="T23" fmla="*/ 23 h 51"/>
                  <a:gd name="T24" fmla="*/ 70 w 85"/>
                  <a:gd name="T25" fmla="*/ 18 h 51"/>
                  <a:gd name="T26" fmla="*/ 76 w 85"/>
                  <a:gd name="T27" fmla="*/ 15 h 51"/>
                  <a:gd name="T28" fmla="*/ 78 w 85"/>
                  <a:gd name="T29" fmla="*/ 10 h 51"/>
                  <a:gd name="T30" fmla="*/ 81 w 85"/>
                  <a:gd name="T31" fmla="*/ 5 h 51"/>
                  <a:gd name="T32" fmla="*/ 84 w 85"/>
                  <a:gd name="T33" fmla="*/ 0 h 5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5"/>
                  <a:gd name="T52" fmla="*/ 0 h 51"/>
                  <a:gd name="T53" fmla="*/ 85 w 85"/>
                  <a:gd name="T54" fmla="*/ 51 h 5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5" h="51">
                    <a:moveTo>
                      <a:pt x="0" y="50"/>
                    </a:moveTo>
                    <a:lnTo>
                      <a:pt x="17" y="43"/>
                    </a:lnTo>
                    <a:lnTo>
                      <a:pt x="20" y="38"/>
                    </a:lnTo>
                    <a:lnTo>
                      <a:pt x="22" y="33"/>
                    </a:lnTo>
                    <a:lnTo>
                      <a:pt x="28" y="30"/>
                    </a:lnTo>
                    <a:lnTo>
                      <a:pt x="34" y="30"/>
                    </a:lnTo>
                    <a:lnTo>
                      <a:pt x="39" y="30"/>
                    </a:lnTo>
                    <a:lnTo>
                      <a:pt x="45" y="30"/>
                    </a:lnTo>
                    <a:lnTo>
                      <a:pt x="50" y="30"/>
                    </a:lnTo>
                    <a:lnTo>
                      <a:pt x="56" y="30"/>
                    </a:lnTo>
                    <a:lnTo>
                      <a:pt x="62" y="28"/>
                    </a:lnTo>
                    <a:lnTo>
                      <a:pt x="64" y="23"/>
                    </a:lnTo>
                    <a:lnTo>
                      <a:pt x="70" y="18"/>
                    </a:lnTo>
                    <a:lnTo>
                      <a:pt x="76" y="15"/>
                    </a:lnTo>
                    <a:lnTo>
                      <a:pt x="78" y="10"/>
                    </a:lnTo>
                    <a:lnTo>
                      <a:pt x="81" y="5"/>
                    </a:lnTo>
                    <a:lnTo>
                      <a:pt x="84"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807" name="Freeform 193"/>
              <p:cNvSpPr>
                <a:spLocks/>
              </p:cNvSpPr>
              <p:nvPr/>
            </p:nvSpPr>
            <p:spPr bwMode="auto">
              <a:xfrm>
                <a:off x="1617" y="2684"/>
                <a:ext cx="145" cy="13"/>
              </a:xfrm>
              <a:custGeom>
                <a:avLst/>
                <a:gdLst>
                  <a:gd name="T0" fmla="*/ 0 w 145"/>
                  <a:gd name="T1" fmla="*/ 2 h 13"/>
                  <a:gd name="T2" fmla="*/ 17 w 145"/>
                  <a:gd name="T3" fmla="*/ 2 h 13"/>
                  <a:gd name="T4" fmla="*/ 23 w 145"/>
                  <a:gd name="T5" fmla="*/ 2 h 13"/>
                  <a:gd name="T6" fmla="*/ 28 w 145"/>
                  <a:gd name="T7" fmla="*/ 0 h 13"/>
                  <a:gd name="T8" fmla="*/ 34 w 145"/>
                  <a:gd name="T9" fmla="*/ 0 h 13"/>
                  <a:gd name="T10" fmla="*/ 40 w 145"/>
                  <a:gd name="T11" fmla="*/ 0 h 13"/>
                  <a:gd name="T12" fmla="*/ 45 w 145"/>
                  <a:gd name="T13" fmla="*/ 0 h 13"/>
                  <a:gd name="T14" fmla="*/ 59 w 145"/>
                  <a:gd name="T15" fmla="*/ 0 h 13"/>
                  <a:gd name="T16" fmla="*/ 71 w 145"/>
                  <a:gd name="T17" fmla="*/ 5 h 13"/>
                  <a:gd name="T18" fmla="*/ 82 w 145"/>
                  <a:gd name="T19" fmla="*/ 5 h 13"/>
                  <a:gd name="T20" fmla="*/ 93 w 145"/>
                  <a:gd name="T21" fmla="*/ 5 h 13"/>
                  <a:gd name="T22" fmla="*/ 104 w 145"/>
                  <a:gd name="T23" fmla="*/ 5 h 13"/>
                  <a:gd name="T24" fmla="*/ 116 w 145"/>
                  <a:gd name="T25" fmla="*/ 10 h 13"/>
                  <a:gd name="T26" fmla="*/ 127 w 145"/>
                  <a:gd name="T27" fmla="*/ 10 h 13"/>
                  <a:gd name="T28" fmla="*/ 133 w 145"/>
                  <a:gd name="T29" fmla="*/ 12 h 13"/>
                  <a:gd name="T30" fmla="*/ 138 w 145"/>
                  <a:gd name="T31" fmla="*/ 12 h 13"/>
                  <a:gd name="T32" fmla="*/ 144 w 145"/>
                  <a:gd name="T33" fmla="*/ 12 h 1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45"/>
                  <a:gd name="T52" fmla="*/ 0 h 13"/>
                  <a:gd name="T53" fmla="*/ 145 w 145"/>
                  <a:gd name="T54" fmla="*/ 13 h 1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45" h="13">
                    <a:moveTo>
                      <a:pt x="0" y="2"/>
                    </a:moveTo>
                    <a:lnTo>
                      <a:pt x="17" y="2"/>
                    </a:lnTo>
                    <a:lnTo>
                      <a:pt x="23" y="2"/>
                    </a:lnTo>
                    <a:lnTo>
                      <a:pt x="28" y="0"/>
                    </a:lnTo>
                    <a:lnTo>
                      <a:pt x="34" y="0"/>
                    </a:lnTo>
                    <a:lnTo>
                      <a:pt x="40" y="0"/>
                    </a:lnTo>
                    <a:lnTo>
                      <a:pt x="45" y="0"/>
                    </a:lnTo>
                    <a:lnTo>
                      <a:pt x="59" y="0"/>
                    </a:lnTo>
                    <a:lnTo>
                      <a:pt x="71" y="5"/>
                    </a:lnTo>
                    <a:lnTo>
                      <a:pt x="82" y="5"/>
                    </a:lnTo>
                    <a:lnTo>
                      <a:pt x="93" y="5"/>
                    </a:lnTo>
                    <a:lnTo>
                      <a:pt x="104" y="5"/>
                    </a:lnTo>
                    <a:lnTo>
                      <a:pt x="116" y="10"/>
                    </a:lnTo>
                    <a:lnTo>
                      <a:pt x="127" y="10"/>
                    </a:lnTo>
                    <a:lnTo>
                      <a:pt x="133" y="12"/>
                    </a:lnTo>
                    <a:lnTo>
                      <a:pt x="138" y="12"/>
                    </a:lnTo>
                    <a:lnTo>
                      <a:pt x="144" y="12"/>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808" name="Freeform 194"/>
              <p:cNvSpPr>
                <a:spLocks/>
              </p:cNvSpPr>
              <p:nvPr/>
            </p:nvSpPr>
            <p:spPr bwMode="auto">
              <a:xfrm>
                <a:off x="2093" y="2626"/>
                <a:ext cx="25" cy="146"/>
              </a:xfrm>
              <a:custGeom>
                <a:avLst/>
                <a:gdLst>
                  <a:gd name="T0" fmla="*/ 19 w 25"/>
                  <a:gd name="T1" fmla="*/ 0 h 146"/>
                  <a:gd name="T2" fmla="*/ 16 w 25"/>
                  <a:gd name="T3" fmla="*/ 5 h 146"/>
                  <a:gd name="T4" fmla="*/ 11 w 25"/>
                  <a:gd name="T5" fmla="*/ 10 h 146"/>
                  <a:gd name="T6" fmla="*/ 8 w 25"/>
                  <a:gd name="T7" fmla="*/ 15 h 146"/>
                  <a:gd name="T8" fmla="*/ 5 w 25"/>
                  <a:gd name="T9" fmla="*/ 20 h 146"/>
                  <a:gd name="T10" fmla="*/ 3 w 25"/>
                  <a:gd name="T11" fmla="*/ 25 h 146"/>
                  <a:gd name="T12" fmla="*/ 3 w 25"/>
                  <a:gd name="T13" fmla="*/ 30 h 146"/>
                  <a:gd name="T14" fmla="*/ 8 w 25"/>
                  <a:gd name="T15" fmla="*/ 43 h 146"/>
                  <a:gd name="T16" fmla="*/ 8 w 25"/>
                  <a:gd name="T17" fmla="*/ 53 h 146"/>
                  <a:gd name="T18" fmla="*/ 11 w 25"/>
                  <a:gd name="T19" fmla="*/ 65 h 146"/>
                  <a:gd name="T20" fmla="*/ 13 w 25"/>
                  <a:gd name="T21" fmla="*/ 78 h 146"/>
                  <a:gd name="T22" fmla="*/ 19 w 25"/>
                  <a:gd name="T23" fmla="*/ 88 h 146"/>
                  <a:gd name="T24" fmla="*/ 19 w 25"/>
                  <a:gd name="T25" fmla="*/ 98 h 146"/>
                  <a:gd name="T26" fmla="*/ 24 w 25"/>
                  <a:gd name="T27" fmla="*/ 108 h 146"/>
                  <a:gd name="T28" fmla="*/ 24 w 25"/>
                  <a:gd name="T29" fmla="*/ 118 h 146"/>
                  <a:gd name="T30" fmla="*/ 24 w 25"/>
                  <a:gd name="T31" fmla="*/ 128 h 146"/>
                  <a:gd name="T32" fmla="*/ 21 w 25"/>
                  <a:gd name="T33" fmla="*/ 133 h 146"/>
                  <a:gd name="T34" fmla="*/ 11 w 25"/>
                  <a:gd name="T35" fmla="*/ 138 h 146"/>
                  <a:gd name="T36" fmla="*/ 5 w 25"/>
                  <a:gd name="T37" fmla="*/ 143 h 146"/>
                  <a:gd name="T38" fmla="*/ 0 w 25"/>
                  <a:gd name="T39" fmla="*/ 145 h 14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5"/>
                  <a:gd name="T61" fmla="*/ 0 h 146"/>
                  <a:gd name="T62" fmla="*/ 25 w 25"/>
                  <a:gd name="T63" fmla="*/ 146 h 14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5" h="146">
                    <a:moveTo>
                      <a:pt x="19" y="0"/>
                    </a:moveTo>
                    <a:lnTo>
                      <a:pt x="16" y="5"/>
                    </a:lnTo>
                    <a:lnTo>
                      <a:pt x="11" y="10"/>
                    </a:lnTo>
                    <a:lnTo>
                      <a:pt x="8" y="15"/>
                    </a:lnTo>
                    <a:lnTo>
                      <a:pt x="5" y="20"/>
                    </a:lnTo>
                    <a:lnTo>
                      <a:pt x="3" y="25"/>
                    </a:lnTo>
                    <a:lnTo>
                      <a:pt x="3" y="30"/>
                    </a:lnTo>
                    <a:lnTo>
                      <a:pt x="8" y="43"/>
                    </a:lnTo>
                    <a:lnTo>
                      <a:pt x="8" y="53"/>
                    </a:lnTo>
                    <a:lnTo>
                      <a:pt x="11" y="65"/>
                    </a:lnTo>
                    <a:lnTo>
                      <a:pt x="13" y="78"/>
                    </a:lnTo>
                    <a:lnTo>
                      <a:pt x="19" y="88"/>
                    </a:lnTo>
                    <a:lnTo>
                      <a:pt x="19" y="98"/>
                    </a:lnTo>
                    <a:lnTo>
                      <a:pt x="24" y="108"/>
                    </a:lnTo>
                    <a:lnTo>
                      <a:pt x="24" y="118"/>
                    </a:lnTo>
                    <a:lnTo>
                      <a:pt x="24" y="128"/>
                    </a:lnTo>
                    <a:lnTo>
                      <a:pt x="21" y="133"/>
                    </a:lnTo>
                    <a:lnTo>
                      <a:pt x="11" y="138"/>
                    </a:lnTo>
                    <a:lnTo>
                      <a:pt x="5" y="143"/>
                    </a:lnTo>
                    <a:lnTo>
                      <a:pt x="0" y="145"/>
                    </a:lnTo>
                  </a:path>
                </a:pathLst>
              </a:custGeom>
              <a:noFill/>
              <a:ln w="12700" cap="rnd" cmpd="sng">
                <a:solidFill>
                  <a:srgbClr val="4BCD00"/>
                </a:solidFill>
                <a:prstDash val="solid"/>
                <a:round/>
                <a:headEnd type="none" w="med" len="med"/>
                <a:tailEnd type="none" w="med" len="med"/>
              </a:ln>
            </p:spPr>
            <p:txBody>
              <a:bodyPr/>
              <a:lstStyle/>
              <a:p>
                <a:endParaRPr lang="en-US"/>
              </a:p>
            </p:txBody>
          </p:sp>
        </p:grpSp>
        <p:sp>
          <p:nvSpPr>
            <p:cNvPr id="17697" name="Oval 195"/>
            <p:cNvSpPr>
              <a:spLocks noChangeArrowheads="1"/>
            </p:cNvSpPr>
            <p:nvPr/>
          </p:nvSpPr>
          <p:spPr bwMode="auto">
            <a:xfrm>
              <a:off x="3436" y="2462"/>
              <a:ext cx="209" cy="372"/>
            </a:xfrm>
            <a:prstGeom prst="ellipse">
              <a:avLst/>
            </a:prstGeom>
            <a:noFill/>
            <a:ln w="38100">
              <a:solidFill>
                <a:schemeClr val="tx1"/>
              </a:solidFill>
              <a:round/>
              <a:headEnd/>
              <a:tailEnd/>
            </a:ln>
          </p:spPr>
          <p:txBody>
            <a:bodyPr wrap="none" anchor="ctr">
              <a:spAutoFit/>
            </a:bodyPr>
            <a:lstStyle/>
            <a:p>
              <a:endParaRPr lang="en-NZ">
                <a:latin typeface="Calibri" pitchFamily="34" charset="0"/>
              </a:endParaRPr>
            </a:p>
          </p:txBody>
        </p:sp>
        <p:sp>
          <p:nvSpPr>
            <p:cNvPr id="17698" name="Freeform 196"/>
            <p:cNvSpPr>
              <a:spLocks/>
            </p:cNvSpPr>
            <p:nvPr/>
          </p:nvSpPr>
          <p:spPr bwMode="auto">
            <a:xfrm>
              <a:off x="3273" y="2871"/>
              <a:ext cx="149" cy="264"/>
            </a:xfrm>
            <a:custGeom>
              <a:avLst/>
              <a:gdLst>
                <a:gd name="T0" fmla="*/ 1 w 1204"/>
                <a:gd name="T1" fmla="*/ 0 h 898"/>
                <a:gd name="T2" fmla="*/ 0 w 1204"/>
                <a:gd name="T3" fmla="*/ 2 h 898"/>
                <a:gd name="T4" fmla="*/ 0 w 1204"/>
                <a:gd name="T5" fmla="*/ 11 h 898"/>
                <a:gd name="T6" fmla="*/ 0 w 1204"/>
                <a:gd name="T7" fmla="*/ 21 h 898"/>
                <a:gd name="T8" fmla="*/ 2 w 1204"/>
                <a:gd name="T9" fmla="*/ 21 h 898"/>
                <a:gd name="T10" fmla="*/ 2 w 1204"/>
                <a:gd name="T11" fmla="*/ 11 h 898"/>
                <a:gd name="T12" fmla="*/ 2 w 1204"/>
                <a:gd name="T13" fmla="*/ 2 h 898"/>
                <a:gd name="T14" fmla="*/ 1 w 1204"/>
                <a:gd name="T15" fmla="*/ 0 h 898"/>
                <a:gd name="T16" fmla="*/ 0 60000 65536"/>
                <a:gd name="T17" fmla="*/ 0 60000 65536"/>
                <a:gd name="T18" fmla="*/ 0 60000 65536"/>
                <a:gd name="T19" fmla="*/ 0 60000 65536"/>
                <a:gd name="T20" fmla="*/ 0 60000 65536"/>
                <a:gd name="T21" fmla="*/ 0 60000 65536"/>
                <a:gd name="T22" fmla="*/ 0 60000 65536"/>
                <a:gd name="T23" fmla="*/ 0 60000 65536"/>
                <a:gd name="T24" fmla="*/ 0 w 1204"/>
                <a:gd name="T25" fmla="*/ 0 h 898"/>
                <a:gd name="T26" fmla="*/ 1204 w 1204"/>
                <a:gd name="T27" fmla="*/ 898 h 89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204" h="898">
                  <a:moveTo>
                    <a:pt x="597" y="0"/>
                  </a:moveTo>
                  <a:cubicBezTo>
                    <a:pt x="527" y="11"/>
                    <a:pt x="255" y="3"/>
                    <a:pt x="177" y="72"/>
                  </a:cubicBezTo>
                  <a:cubicBezTo>
                    <a:pt x="99" y="141"/>
                    <a:pt x="132" y="287"/>
                    <a:pt x="129" y="413"/>
                  </a:cubicBezTo>
                  <a:cubicBezTo>
                    <a:pt x="121" y="535"/>
                    <a:pt x="0" y="759"/>
                    <a:pt x="157" y="828"/>
                  </a:cubicBezTo>
                  <a:cubicBezTo>
                    <a:pt x="314" y="897"/>
                    <a:pt x="886" y="898"/>
                    <a:pt x="1045" y="828"/>
                  </a:cubicBezTo>
                  <a:cubicBezTo>
                    <a:pt x="1204" y="758"/>
                    <a:pt x="1084" y="533"/>
                    <a:pt x="1092" y="411"/>
                  </a:cubicBezTo>
                  <a:cubicBezTo>
                    <a:pt x="1064" y="300"/>
                    <a:pt x="1118" y="148"/>
                    <a:pt x="1037" y="80"/>
                  </a:cubicBezTo>
                  <a:cubicBezTo>
                    <a:pt x="956" y="12"/>
                    <a:pt x="695" y="17"/>
                    <a:pt x="605" y="0"/>
                  </a:cubicBezTo>
                </a:path>
              </a:pathLst>
            </a:custGeom>
            <a:noFill/>
            <a:ln w="38100" cap="flat" cmpd="sng">
              <a:solidFill>
                <a:schemeClr val="tx1"/>
              </a:solidFill>
              <a:prstDash val="solid"/>
              <a:round/>
              <a:headEnd/>
              <a:tailEnd/>
            </a:ln>
          </p:spPr>
          <p:txBody>
            <a:bodyPr wrap="none" anchor="ctr">
              <a:spAutoFit/>
            </a:bodyPr>
            <a:lstStyle/>
            <a:p>
              <a:endParaRPr lang="en-US"/>
            </a:p>
          </p:txBody>
        </p:sp>
        <p:grpSp>
          <p:nvGrpSpPr>
            <p:cNvPr id="17699" name="Group 197"/>
            <p:cNvGrpSpPr>
              <a:grpSpLocks/>
            </p:cNvGrpSpPr>
            <p:nvPr/>
          </p:nvGrpSpPr>
          <p:grpSpPr bwMode="auto">
            <a:xfrm>
              <a:off x="3400" y="2617"/>
              <a:ext cx="921" cy="354"/>
              <a:chOff x="1521" y="2626"/>
              <a:chExt cx="653" cy="251"/>
            </a:xfrm>
          </p:grpSpPr>
          <p:sp>
            <p:nvSpPr>
              <p:cNvPr id="17737" name="Freeform 198"/>
              <p:cNvSpPr>
                <a:spLocks/>
              </p:cNvSpPr>
              <p:nvPr/>
            </p:nvSpPr>
            <p:spPr bwMode="auto">
              <a:xfrm>
                <a:off x="1581" y="2666"/>
                <a:ext cx="57" cy="96"/>
              </a:xfrm>
              <a:custGeom>
                <a:avLst/>
                <a:gdLst>
                  <a:gd name="T0" fmla="*/ 0 w 57"/>
                  <a:gd name="T1" fmla="*/ 0 h 96"/>
                  <a:gd name="T2" fmla="*/ 6 w 57"/>
                  <a:gd name="T3" fmla="*/ 0 h 96"/>
                  <a:gd name="T4" fmla="*/ 8 w 57"/>
                  <a:gd name="T5" fmla="*/ 5 h 96"/>
                  <a:gd name="T6" fmla="*/ 14 w 57"/>
                  <a:gd name="T7" fmla="*/ 8 h 96"/>
                  <a:gd name="T8" fmla="*/ 17 w 57"/>
                  <a:gd name="T9" fmla="*/ 13 h 96"/>
                  <a:gd name="T10" fmla="*/ 20 w 57"/>
                  <a:gd name="T11" fmla="*/ 18 h 96"/>
                  <a:gd name="T12" fmla="*/ 28 w 57"/>
                  <a:gd name="T13" fmla="*/ 40 h 96"/>
                  <a:gd name="T14" fmla="*/ 28 w 57"/>
                  <a:gd name="T15" fmla="*/ 50 h 96"/>
                  <a:gd name="T16" fmla="*/ 34 w 57"/>
                  <a:gd name="T17" fmla="*/ 60 h 96"/>
                  <a:gd name="T18" fmla="*/ 34 w 57"/>
                  <a:gd name="T19" fmla="*/ 70 h 96"/>
                  <a:gd name="T20" fmla="*/ 34 w 57"/>
                  <a:gd name="T21" fmla="*/ 80 h 96"/>
                  <a:gd name="T22" fmla="*/ 45 w 57"/>
                  <a:gd name="T23" fmla="*/ 80 h 96"/>
                  <a:gd name="T24" fmla="*/ 45 w 57"/>
                  <a:gd name="T25" fmla="*/ 85 h 96"/>
                  <a:gd name="T26" fmla="*/ 48 w 57"/>
                  <a:gd name="T27" fmla="*/ 90 h 96"/>
                  <a:gd name="T28" fmla="*/ 50 w 57"/>
                  <a:gd name="T29" fmla="*/ 95 h 96"/>
                  <a:gd name="T30" fmla="*/ 56 w 57"/>
                  <a:gd name="T31" fmla="*/ 93 h 9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7"/>
                  <a:gd name="T49" fmla="*/ 0 h 96"/>
                  <a:gd name="T50" fmla="*/ 57 w 57"/>
                  <a:gd name="T51" fmla="*/ 96 h 9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7" h="96">
                    <a:moveTo>
                      <a:pt x="0" y="0"/>
                    </a:moveTo>
                    <a:lnTo>
                      <a:pt x="6" y="0"/>
                    </a:lnTo>
                    <a:lnTo>
                      <a:pt x="8" y="5"/>
                    </a:lnTo>
                    <a:lnTo>
                      <a:pt x="14" y="8"/>
                    </a:lnTo>
                    <a:lnTo>
                      <a:pt x="17" y="13"/>
                    </a:lnTo>
                    <a:lnTo>
                      <a:pt x="20" y="18"/>
                    </a:lnTo>
                    <a:lnTo>
                      <a:pt x="28" y="40"/>
                    </a:lnTo>
                    <a:lnTo>
                      <a:pt x="28" y="50"/>
                    </a:lnTo>
                    <a:lnTo>
                      <a:pt x="34" y="60"/>
                    </a:lnTo>
                    <a:lnTo>
                      <a:pt x="34" y="70"/>
                    </a:lnTo>
                    <a:lnTo>
                      <a:pt x="34" y="80"/>
                    </a:lnTo>
                    <a:lnTo>
                      <a:pt x="45" y="80"/>
                    </a:lnTo>
                    <a:lnTo>
                      <a:pt x="45" y="85"/>
                    </a:lnTo>
                    <a:lnTo>
                      <a:pt x="48" y="90"/>
                    </a:lnTo>
                    <a:lnTo>
                      <a:pt x="50" y="95"/>
                    </a:lnTo>
                    <a:lnTo>
                      <a:pt x="56" y="93"/>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38" name="Freeform 199"/>
              <p:cNvSpPr>
                <a:spLocks/>
              </p:cNvSpPr>
              <p:nvPr/>
            </p:nvSpPr>
            <p:spPr bwMode="auto">
              <a:xfrm>
                <a:off x="1561" y="2649"/>
                <a:ext cx="161" cy="68"/>
              </a:xfrm>
              <a:custGeom>
                <a:avLst/>
                <a:gdLst>
                  <a:gd name="T0" fmla="*/ 0 w 161"/>
                  <a:gd name="T1" fmla="*/ 67 h 68"/>
                  <a:gd name="T2" fmla="*/ 39 w 161"/>
                  <a:gd name="T3" fmla="*/ 57 h 68"/>
                  <a:gd name="T4" fmla="*/ 45 w 161"/>
                  <a:gd name="T5" fmla="*/ 57 h 68"/>
                  <a:gd name="T6" fmla="*/ 51 w 161"/>
                  <a:gd name="T7" fmla="*/ 60 h 68"/>
                  <a:gd name="T8" fmla="*/ 56 w 161"/>
                  <a:gd name="T9" fmla="*/ 60 h 68"/>
                  <a:gd name="T10" fmla="*/ 62 w 161"/>
                  <a:gd name="T11" fmla="*/ 60 h 68"/>
                  <a:gd name="T12" fmla="*/ 67 w 161"/>
                  <a:gd name="T13" fmla="*/ 60 h 68"/>
                  <a:gd name="T14" fmla="*/ 81 w 161"/>
                  <a:gd name="T15" fmla="*/ 55 h 68"/>
                  <a:gd name="T16" fmla="*/ 87 w 161"/>
                  <a:gd name="T17" fmla="*/ 52 h 68"/>
                  <a:gd name="T18" fmla="*/ 121 w 161"/>
                  <a:gd name="T19" fmla="*/ 32 h 68"/>
                  <a:gd name="T20" fmla="*/ 138 w 161"/>
                  <a:gd name="T21" fmla="*/ 17 h 68"/>
                  <a:gd name="T22" fmla="*/ 138 w 161"/>
                  <a:gd name="T23" fmla="*/ 12 h 68"/>
                  <a:gd name="T24" fmla="*/ 143 w 161"/>
                  <a:gd name="T25" fmla="*/ 12 h 68"/>
                  <a:gd name="T26" fmla="*/ 149 w 161"/>
                  <a:gd name="T27" fmla="*/ 7 h 68"/>
                  <a:gd name="T28" fmla="*/ 154 w 161"/>
                  <a:gd name="T29" fmla="*/ 2 h 68"/>
                  <a:gd name="T30" fmla="*/ 160 w 161"/>
                  <a:gd name="T31" fmla="*/ 0 h 6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61"/>
                  <a:gd name="T49" fmla="*/ 0 h 68"/>
                  <a:gd name="T50" fmla="*/ 161 w 161"/>
                  <a:gd name="T51" fmla="*/ 68 h 6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61" h="68">
                    <a:moveTo>
                      <a:pt x="0" y="67"/>
                    </a:moveTo>
                    <a:lnTo>
                      <a:pt x="39" y="57"/>
                    </a:lnTo>
                    <a:lnTo>
                      <a:pt x="45" y="57"/>
                    </a:lnTo>
                    <a:lnTo>
                      <a:pt x="51" y="60"/>
                    </a:lnTo>
                    <a:lnTo>
                      <a:pt x="56" y="60"/>
                    </a:lnTo>
                    <a:lnTo>
                      <a:pt x="62" y="60"/>
                    </a:lnTo>
                    <a:lnTo>
                      <a:pt x="67" y="60"/>
                    </a:lnTo>
                    <a:lnTo>
                      <a:pt x="81" y="55"/>
                    </a:lnTo>
                    <a:lnTo>
                      <a:pt x="87" y="52"/>
                    </a:lnTo>
                    <a:lnTo>
                      <a:pt x="121" y="32"/>
                    </a:lnTo>
                    <a:lnTo>
                      <a:pt x="138" y="17"/>
                    </a:lnTo>
                    <a:lnTo>
                      <a:pt x="138" y="12"/>
                    </a:lnTo>
                    <a:lnTo>
                      <a:pt x="143" y="12"/>
                    </a:lnTo>
                    <a:lnTo>
                      <a:pt x="149" y="7"/>
                    </a:lnTo>
                    <a:lnTo>
                      <a:pt x="154" y="2"/>
                    </a:lnTo>
                    <a:lnTo>
                      <a:pt x="160"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39" name="Freeform 200"/>
              <p:cNvSpPr>
                <a:spLocks/>
              </p:cNvSpPr>
              <p:nvPr/>
            </p:nvSpPr>
            <p:spPr bwMode="auto">
              <a:xfrm>
                <a:off x="1530" y="2759"/>
                <a:ext cx="80" cy="73"/>
              </a:xfrm>
              <a:custGeom>
                <a:avLst/>
                <a:gdLst>
                  <a:gd name="T0" fmla="*/ 0 w 80"/>
                  <a:gd name="T1" fmla="*/ 0 h 73"/>
                  <a:gd name="T2" fmla="*/ 20 w 80"/>
                  <a:gd name="T3" fmla="*/ 10 h 73"/>
                  <a:gd name="T4" fmla="*/ 20 w 80"/>
                  <a:gd name="T5" fmla="*/ 15 h 73"/>
                  <a:gd name="T6" fmla="*/ 23 w 80"/>
                  <a:gd name="T7" fmla="*/ 20 h 73"/>
                  <a:gd name="T8" fmla="*/ 23 w 80"/>
                  <a:gd name="T9" fmla="*/ 25 h 73"/>
                  <a:gd name="T10" fmla="*/ 28 w 80"/>
                  <a:gd name="T11" fmla="*/ 30 h 73"/>
                  <a:gd name="T12" fmla="*/ 34 w 80"/>
                  <a:gd name="T13" fmla="*/ 32 h 73"/>
                  <a:gd name="T14" fmla="*/ 40 w 80"/>
                  <a:gd name="T15" fmla="*/ 35 h 73"/>
                  <a:gd name="T16" fmla="*/ 45 w 80"/>
                  <a:gd name="T17" fmla="*/ 37 h 73"/>
                  <a:gd name="T18" fmla="*/ 51 w 80"/>
                  <a:gd name="T19" fmla="*/ 40 h 73"/>
                  <a:gd name="T20" fmla="*/ 54 w 80"/>
                  <a:gd name="T21" fmla="*/ 45 h 73"/>
                  <a:gd name="T22" fmla="*/ 59 w 80"/>
                  <a:gd name="T23" fmla="*/ 50 h 73"/>
                  <a:gd name="T24" fmla="*/ 62 w 80"/>
                  <a:gd name="T25" fmla="*/ 55 h 73"/>
                  <a:gd name="T26" fmla="*/ 65 w 80"/>
                  <a:gd name="T27" fmla="*/ 60 h 73"/>
                  <a:gd name="T28" fmla="*/ 71 w 80"/>
                  <a:gd name="T29" fmla="*/ 65 h 73"/>
                  <a:gd name="T30" fmla="*/ 76 w 80"/>
                  <a:gd name="T31" fmla="*/ 67 h 73"/>
                  <a:gd name="T32" fmla="*/ 79 w 80"/>
                  <a:gd name="T33" fmla="*/ 72 h 7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0"/>
                  <a:gd name="T52" fmla="*/ 0 h 73"/>
                  <a:gd name="T53" fmla="*/ 80 w 80"/>
                  <a:gd name="T54" fmla="*/ 73 h 7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0" h="73">
                    <a:moveTo>
                      <a:pt x="0" y="0"/>
                    </a:moveTo>
                    <a:lnTo>
                      <a:pt x="20" y="10"/>
                    </a:lnTo>
                    <a:lnTo>
                      <a:pt x="20" y="15"/>
                    </a:lnTo>
                    <a:lnTo>
                      <a:pt x="23" y="20"/>
                    </a:lnTo>
                    <a:lnTo>
                      <a:pt x="23" y="25"/>
                    </a:lnTo>
                    <a:lnTo>
                      <a:pt x="28" y="30"/>
                    </a:lnTo>
                    <a:lnTo>
                      <a:pt x="34" y="32"/>
                    </a:lnTo>
                    <a:lnTo>
                      <a:pt x="40" y="35"/>
                    </a:lnTo>
                    <a:lnTo>
                      <a:pt x="45" y="37"/>
                    </a:lnTo>
                    <a:lnTo>
                      <a:pt x="51" y="40"/>
                    </a:lnTo>
                    <a:lnTo>
                      <a:pt x="54" y="45"/>
                    </a:lnTo>
                    <a:lnTo>
                      <a:pt x="59" y="50"/>
                    </a:lnTo>
                    <a:lnTo>
                      <a:pt x="62" y="55"/>
                    </a:lnTo>
                    <a:lnTo>
                      <a:pt x="65" y="60"/>
                    </a:lnTo>
                    <a:lnTo>
                      <a:pt x="71" y="65"/>
                    </a:lnTo>
                    <a:lnTo>
                      <a:pt x="76" y="67"/>
                    </a:lnTo>
                    <a:lnTo>
                      <a:pt x="79" y="72"/>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40" name="Freeform 201"/>
              <p:cNvSpPr>
                <a:spLocks/>
              </p:cNvSpPr>
              <p:nvPr/>
            </p:nvSpPr>
            <p:spPr bwMode="auto">
              <a:xfrm>
                <a:off x="1521" y="2789"/>
                <a:ext cx="145" cy="33"/>
              </a:xfrm>
              <a:custGeom>
                <a:avLst/>
                <a:gdLst>
                  <a:gd name="T0" fmla="*/ 0 w 145"/>
                  <a:gd name="T1" fmla="*/ 32 h 33"/>
                  <a:gd name="T2" fmla="*/ 11 w 145"/>
                  <a:gd name="T3" fmla="*/ 27 h 33"/>
                  <a:gd name="T4" fmla="*/ 14 w 145"/>
                  <a:gd name="T5" fmla="*/ 22 h 33"/>
                  <a:gd name="T6" fmla="*/ 20 w 145"/>
                  <a:gd name="T7" fmla="*/ 17 h 33"/>
                  <a:gd name="T8" fmla="*/ 25 w 145"/>
                  <a:gd name="T9" fmla="*/ 15 h 33"/>
                  <a:gd name="T10" fmla="*/ 31 w 145"/>
                  <a:gd name="T11" fmla="*/ 12 h 33"/>
                  <a:gd name="T12" fmla="*/ 37 w 145"/>
                  <a:gd name="T13" fmla="*/ 12 h 33"/>
                  <a:gd name="T14" fmla="*/ 48 w 145"/>
                  <a:gd name="T15" fmla="*/ 12 h 33"/>
                  <a:gd name="T16" fmla="*/ 76 w 145"/>
                  <a:gd name="T17" fmla="*/ 12 h 33"/>
                  <a:gd name="T18" fmla="*/ 88 w 145"/>
                  <a:gd name="T19" fmla="*/ 12 h 33"/>
                  <a:gd name="T20" fmla="*/ 99 w 145"/>
                  <a:gd name="T21" fmla="*/ 12 h 33"/>
                  <a:gd name="T22" fmla="*/ 110 w 145"/>
                  <a:gd name="T23" fmla="*/ 2 h 33"/>
                  <a:gd name="T24" fmla="*/ 121 w 145"/>
                  <a:gd name="T25" fmla="*/ 2 h 33"/>
                  <a:gd name="T26" fmla="*/ 133 w 145"/>
                  <a:gd name="T27" fmla="*/ 2 h 33"/>
                  <a:gd name="T28" fmla="*/ 138 w 145"/>
                  <a:gd name="T29" fmla="*/ 2 h 33"/>
                  <a:gd name="T30" fmla="*/ 144 w 145"/>
                  <a:gd name="T31" fmla="*/ 0 h 3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45"/>
                  <a:gd name="T49" fmla="*/ 0 h 33"/>
                  <a:gd name="T50" fmla="*/ 145 w 145"/>
                  <a:gd name="T51" fmla="*/ 33 h 3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45" h="33">
                    <a:moveTo>
                      <a:pt x="0" y="32"/>
                    </a:moveTo>
                    <a:lnTo>
                      <a:pt x="11" y="27"/>
                    </a:lnTo>
                    <a:lnTo>
                      <a:pt x="14" y="22"/>
                    </a:lnTo>
                    <a:lnTo>
                      <a:pt x="20" y="17"/>
                    </a:lnTo>
                    <a:lnTo>
                      <a:pt x="25" y="15"/>
                    </a:lnTo>
                    <a:lnTo>
                      <a:pt x="31" y="12"/>
                    </a:lnTo>
                    <a:lnTo>
                      <a:pt x="37" y="12"/>
                    </a:lnTo>
                    <a:lnTo>
                      <a:pt x="48" y="12"/>
                    </a:lnTo>
                    <a:lnTo>
                      <a:pt x="76" y="12"/>
                    </a:lnTo>
                    <a:lnTo>
                      <a:pt x="88" y="12"/>
                    </a:lnTo>
                    <a:lnTo>
                      <a:pt x="99" y="12"/>
                    </a:lnTo>
                    <a:lnTo>
                      <a:pt x="110" y="2"/>
                    </a:lnTo>
                    <a:lnTo>
                      <a:pt x="121" y="2"/>
                    </a:lnTo>
                    <a:lnTo>
                      <a:pt x="133" y="2"/>
                    </a:lnTo>
                    <a:lnTo>
                      <a:pt x="138" y="2"/>
                    </a:lnTo>
                    <a:lnTo>
                      <a:pt x="144"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41" name="Freeform 202"/>
              <p:cNvSpPr>
                <a:spLocks/>
              </p:cNvSpPr>
              <p:nvPr/>
            </p:nvSpPr>
            <p:spPr bwMode="auto">
              <a:xfrm>
                <a:off x="1547" y="2734"/>
                <a:ext cx="85" cy="53"/>
              </a:xfrm>
              <a:custGeom>
                <a:avLst/>
                <a:gdLst>
                  <a:gd name="T0" fmla="*/ 0 w 85"/>
                  <a:gd name="T1" fmla="*/ 0 h 53"/>
                  <a:gd name="T2" fmla="*/ 22 w 85"/>
                  <a:gd name="T3" fmla="*/ 10 h 53"/>
                  <a:gd name="T4" fmla="*/ 25 w 85"/>
                  <a:gd name="T5" fmla="*/ 15 h 53"/>
                  <a:gd name="T6" fmla="*/ 28 w 85"/>
                  <a:gd name="T7" fmla="*/ 20 h 53"/>
                  <a:gd name="T8" fmla="*/ 34 w 85"/>
                  <a:gd name="T9" fmla="*/ 25 h 53"/>
                  <a:gd name="T10" fmla="*/ 36 w 85"/>
                  <a:gd name="T11" fmla="*/ 30 h 53"/>
                  <a:gd name="T12" fmla="*/ 42 w 85"/>
                  <a:gd name="T13" fmla="*/ 32 h 53"/>
                  <a:gd name="T14" fmla="*/ 45 w 85"/>
                  <a:gd name="T15" fmla="*/ 37 h 53"/>
                  <a:gd name="T16" fmla="*/ 50 w 85"/>
                  <a:gd name="T17" fmla="*/ 40 h 53"/>
                  <a:gd name="T18" fmla="*/ 56 w 85"/>
                  <a:gd name="T19" fmla="*/ 40 h 53"/>
                  <a:gd name="T20" fmla="*/ 62 w 85"/>
                  <a:gd name="T21" fmla="*/ 42 h 53"/>
                  <a:gd name="T22" fmla="*/ 67 w 85"/>
                  <a:gd name="T23" fmla="*/ 45 h 53"/>
                  <a:gd name="T24" fmla="*/ 73 w 85"/>
                  <a:gd name="T25" fmla="*/ 50 h 53"/>
                  <a:gd name="T26" fmla="*/ 78 w 85"/>
                  <a:gd name="T27" fmla="*/ 52 h 53"/>
                  <a:gd name="T28" fmla="*/ 84 w 85"/>
                  <a:gd name="T29" fmla="*/ 52 h 5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5"/>
                  <a:gd name="T46" fmla="*/ 0 h 53"/>
                  <a:gd name="T47" fmla="*/ 85 w 85"/>
                  <a:gd name="T48" fmla="*/ 53 h 5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5" h="53">
                    <a:moveTo>
                      <a:pt x="0" y="0"/>
                    </a:moveTo>
                    <a:lnTo>
                      <a:pt x="22" y="10"/>
                    </a:lnTo>
                    <a:lnTo>
                      <a:pt x="25" y="15"/>
                    </a:lnTo>
                    <a:lnTo>
                      <a:pt x="28" y="20"/>
                    </a:lnTo>
                    <a:lnTo>
                      <a:pt x="34" y="25"/>
                    </a:lnTo>
                    <a:lnTo>
                      <a:pt x="36" y="30"/>
                    </a:lnTo>
                    <a:lnTo>
                      <a:pt x="42" y="32"/>
                    </a:lnTo>
                    <a:lnTo>
                      <a:pt x="45" y="37"/>
                    </a:lnTo>
                    <a:lnTo>
                      <a:pt x="50" y="40"/>
                    </a:lnTo>
                    <a:lnTo>
                      <a:pt x="56" y="40"/>
                    </a:lnTo>
                    <a:lnTo>
                      <a:pt x="62" y="42"/>
                    </a:lnTo>
                    <a:lnTo>
                      <a:pt x="67" y="45"/>
                    </a:lnTo>
                    <a:lnTo>
                      <a:pt x="73" y="50"/>
                    </a:lnTo>
                    <a:lnTo>
                      <a:pt x="78" y="52"/>
                    </a:lnTo>
                    <a:lnTo>
                      <a:pt x="84" y="52"/>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42" name="Freeform 203"/>
              <p:cNvSpPr>
                <a:spLocks/>
              </p:cNvSpPr>
              <p:nvPr/>
            </p:nvSpPr>
            <p:spPr bwMode="auto">
              <a:xfrm>
                <a:off x="1577" y="2636"/>
                <a:ext cx="100" cy="81"/>
              </a:xfrm>
              <a:custGeom>
                <a:avLst/>
                <a:gdLst>
                  <a:gd name="T0" fmla="*/ 0 w 100"/>
                  <a:gd name="T1" fmla="*/ 0 h 81"/>
                  <a:gd name="T2" fmla="*/ 6 w 100"/>
                  <a:gd name="T3" fmla="*/ 0 h 81"/>
                  <a:gd name="T4" fmla="*/ 17 w 100"/>
                  <a:gd name="T5" fmla="*/ 0 h 81"/>
                  <a:gd name="T6" fmla="*/ 31 w 100"/>
                  <a:gd name="T7" fmla="*/ 3 h 81"/>
                  <a:gd name="T8" fmla="*/ 42 w 100"/>
                  <a:gd name="T9" fmla="*/ 8 h 81"/>
                  <a:gd name="T10" fmla="*/ 54 w 100"/>
                  <a:gd name="T11" fmla="*/ 8 h 81"/>
                  <a:gd name="T12" fmla="*/ 65 w 100"/>
                  <a:gd name="T13" fmla="*/ 8 h 81"/>
                  <a:gd name="T14" fmla="*/ 68 w 100"/>
                  <a:gd name="T15" fmla="*/ 13 h 81"/>
                  <a:gd name="T16" fmla="*/ 65 w 100"/>
                  <a:gd name="T17" fmla="*/ 18 h 81"/>
                  <a:gd name="T18" fmla="*/ 65 w 100"/>
                  <a:gd name="T19" fmla="*/ 23 h 81"/>
                  <a:gd name="T20" fmla="*/ 65 w 100"/>
                  <a:gd name="T21" fmla="*/ 28 h 81"/>
                  <a:gd name="T22" fmla="*/ 65 w 100"/>
                  <a:gd name="T23" fmla="*/ 33 h 81"/>
                  <a:gd name="T24" fmla="*/ 65 w 100"/>
                  <a:gd name="T25" fmla="*/ 38 h 81"/>
                  <a:gd name="T26" fmla="*/ 68 w 100"/>
                  <a:gd name="T27" fmla="*/ 43 h 81"/>
                  <a:gd name="T28" fmla="*/ 68 w 100"/>
                  <a:gd name="T29" fmla="*/ 48 h 81"/>
                  <a:gd name="T30" fmla="*/ 74 w 100"/>
                  <a:gd name="T31" fmla="*/ 53 h 81"/>
                  <a:gd name="T32" fmla="*/ 76 w 100"/>
                  <a:gd name="T33" fmla="*/ 58 h 81"/>
                  <a:gd name="T34" fmla="*/ 79 w 100"/>
                  <a:gd name="T35" fmla="*/ 63 h 81"/>
                  <a:gd name="T36" fmla="*/ 85 w 100"/>
                  <a:gd name="T37" fmla="*/ 68 h 81"/>
                  <a:gd name="T38" fmla="*/ 88 w 100"/>
                  <a:gd name="T39" fmla="*/ 73 h 81"/>
                  <a:gd name="T40" fmla="*/ 93 w 100"/>
                  <a:gd name="T41" fmla="*/ 75 h 81"/>
                  <a:gd name="T42" fmla="*/ 99 w 100"/>
                  <a:gd name="T43" fmla="*/ 80 h 8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0"/>
                  <a:gd name="T67" fmla="*/ 0 h 81"/>
                  <a:gd name="T68" fmla="*/ 100 w 100"/>
                  <a:gd name="T69" fmla="*/ 81 h 8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0" h="81">
                    <a:moveTo>
                      <a:pt x="0" y="0"/>
                    </a:moveTo>
                    <a:lnTo>
                      <a:pt x="6" y="0"/>
                    </a:lnTo>
                    <a:lnTo>
                      <a:pt x="17" y="0"/>
                    </a:lnTo>
                    <a:lnTo>
                      <a:pt x="31" y="3"/>
                    </a:lnTo>
                    <a:lnTo>
                      <a:pt x="42" y="8"/>
                    </a:lnTo>
                    <a:lnTo>
                      <a:pt x="54" y="8"/>
                    </a:lnTo>
                    <a:lnTo>
                      <a:pt x="65" y="8"/>
                    </a:lnTo>
                    <a:lnTo>
                      <a:pt x="68" y="13"/>
                    </a:lnTo>
                    <a:lnTo>
                      <a:pt x="65" y="18"/>
                    </a:lnTo>
                    <a:lnTo>
                      <a:pt x="65" y="23"/>
                    </a:lnTo>
                    <a:lnTo>
                      <a:pt x="65" y="28"/>
                    </a:lnTo>
                    <a:lnTo>
                      <a:pt x="65" y="33"/>
                    </a:lnTo>
                    <a:lnTo>
                      <a:pt x="65" y="38"/>
                    </a:lnTo>
                    <a:lnTo>
                      <a:pt x="68" y="43"/>
                    </a:lnTo>
                    <a:lnTo>
                      <a:pt x="68" y="48"/>
                    </a:lnTo>
                    <a:lnTo>
                      <a:pt x="74" y="53"/>
                    </a:lnTo>
                    <a:lnTo>
                      <a:pt x="76" y="58"/>
                    </a:lnTo>
                    <a:lnTo>
                      <a:pt x="79" y="63"/>
                    </a:lnTo>
                    <a:lnTo>
                      <a:pt x="85" y="68"/>
                    </a:lnTo>
                    <a:lnTo>
                      <a:pt x="88" y="73"/>
                    </a:lnTo>
                    <a:lnTo>
                      <a:pt x="93" y="75"/>
                    </a:lnTo>
                    <a:lnTo>
                      <a:pt x="99" y="8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43" name="Freeform 204"/>
              <p:cNvSpPr>
                <a:spLocks/>
              </p:cNvSpPr>
              <p:nvPr/>
            </p:nvSpPr>
            <p:spPr bwMode="auto">
              <a:xfrm>
                <a:off x="1561" y="2676"/>
                <a:ext cx="113" cy="69"/>
              </a:xfrm>
              <a:custGeom>
                <a:avLst/>
                <a:gdLst>
                  <a:gd name="T0" fmla="*/ 0 w 113"/>
                  <a:gd name="T1" fmla="*/ 0 h 69"/>
                  <a:gd name="T2" fmla="*/ 6 w 113"/>
                  <a:gd name="T3" fmla="*/ 0 h 69"/>
                  <a:gd name="T4" fmla="*/ 11 w 113"/>
                  <a:gd name="T5" fmla="*/ 3 h 69"/>
                  <a:gd name="T6" fmla="*/ 17 w 113"/>
                  <a:gd name="T7" fmla="*/ 3 h 69"/>
                  <a:gd name="T8" fmla="*/ 22 w 113"/>
                  <a:gd name="T9" fmla="*/ 5 h 69"/>
                  <a:gd name="T10" fmla="*/ 28 w 113"/>
                  <a:gd name="T11" fmla="*/ 8 h 69"/>
                  <a:gd name="T12" fmla="*/ 34 w 113"/>
                  <a:gd name="T13" fmla="*/ 13 h 69"/>
                  <a:gd name="T14" fmla="*/ 39 w 113"/>
                  <a:gd name="T15" fmla="*/ 18 h 69"/>
                  <a:gd name="T16" fmla="*/ 45 w 113"/>
                  <a:gd name="T17" fmla="*/ 23 h 69"/>
                  <a:gd name="T18" fmla="*/ 48 w 113"/>
                  <a:gd name="T19" fmla="*/ 28 h 69"/>
                  <a:gd name="T20" fmla="*/ 56 w 113"/>
                  <a:gd name="T21" fmla="*/ 38 h 69"/>
                  <a:gd name="T22" fmla="*/ 67 w 113"/>
                  <a:gd name="T23" fmla="*/ 38 h 69"/>
                  <a:gd name="T24" fmla="*/ 73 w 113"/>
                  <a:gd name="T25" fmla="*/ 48 h 69"/>
                  <a:gd name="T26" fmla="*/ 84 w 113"/>
                  <a:gd name="T27" fmla="*/ 58 h 69"/>
                  <a:gd name="T28" fmla="*/ 95 w 113"/>
                  <a:gd name="T29" fmla="*/ 58 h 69"/>
                  <a:gd name="T30" fmla="*/ 95 w 113"/>
                  <a:gd name="T31" fmla="*/ 68 h 69"/>
                  <a:gd name="T32" fmla="*/ 101 w 113"/>
                  <a:gd name="T33" fmla="*/ 68 h 69"/>
                  <a:gd name="T34" fmla="*/ 106 w 113"/>
                  <a:gd name="T35" fmla="*/ 68 h 69"/>
                  <a:gd name="T36" fmla="*/ 112 w 113"/>
                  <a:gd name="T37" fmla="*/ 68 h 6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3"/>
                  <a:gd name="T58" fmla="*/ 0 h 69"/>
                  <a:gd name="T59" fmla="*/ 113 w 113"/>
                  <a:gd name="T60" fmla="*/ 69 h 6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3" h="69">
                    <a:moveTo>
                      <a:pt x="0" y="0"/>
                    </a:moveTo>
                    <a:lnTo>
                      <a:pt x="6" y="0"/>
                    </a:lnTo>
                    <a:lnTo>
                      <a:pt x="11" y="3"/>
                    </a:lnTo>
                    <a:lnTo>
                      <a:pt x="17" y="3"/>
                    </a:lnTo>
                    <a:lnTo>
                      <a:pt x="22" y="5"/>
                    </a:lnTo>
                    <a:lnTo>
                      <a:pt x="28" y="8"/>
                    </a:lnTo>
                    <a:lnTo>
                      <a:pt x="34" y="13"/>
                    </a:lnTo>
                    <a:lnTo>
                      <a:pt x="39" y="18"/>
                    </a:lnTo>
                    <a:lnTo>
                      <a:pt x="45" y="23"/>
                    </a:lnTo>
                    <a:lnTo>
                      <a:pt x="48" y="28"/>
                    </a:lnTo>
                    <a:lnTo>
                      <a:pt x="56" y="38"/>
                    </a:lnTo>
                    <a:lnTo>
                      <a:pt x="67" y="38"/>
                    </a:lnTo>
                    <a:lnTo>
                      <a:pt x="73" y="48"/>
                    </a:lnTo>
                    <a:lnTo>
                      <a:pt x="84" y="58"/>
                    </a:lnTo>
                    <a:lnTo>
                      <a:pt x="95" y="58"/>
                    </a:lnTo>
                    <a:lnTo>
                      <a:pt x="95" y="68"/>
                    </a:lnTo>
                    <a:lnTo>
                      <a:pt x="101" y="68"/>
                    </a:lnTo>
                    <a:lnTo>
                      <a:pt x="106" y="68"/>
                    </a:lnTo>
                    <a:lnTo>
                      <a:pt x="112" y="68"/>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44" name="Freeform 205"/>
              <p:cNvSpPr>
                <a:spLocks/>
              </p:cNvSpPr>
              <p:nvPr/>
            </p:nvSpPr>
            <p:spPr bwMode="auto">
              <a:xfrm>
                <a:off x="1639" y="2784"/>
                <a:ext cx="61" cy="48"/>
              </a:xfrm>
              <a:custGeom>
                <a:avLst/>
                <a:gdLst>
                  <a:gd name="T0" fmla="*/ 0 w 61"/>
                  <a:gd name="T1" fmla="*/ 47 h 48"/>
                  <a:gd name="T2" fmla="*/ 17 w 61"/>
                  <a:gd name="T3" fmla="*/ 25 h 48"/>
                  <a:gd name="T4" fmla="*/ 23 w 61"/>
                  <a:gd name="T5" fmla="*/ 22 h 48"/>
                  <a:gd name="T6" fmla="*/ 29 w 61"/>
                  <a:gd name="T7" fmla="*/ 20 h 48"/>
                  <a:gd name="T8" fmla="*/ 34 w 61"/>
                  <a:gd name="T9" fmla="*/ 17 h 48"/>
                  <a:gd name="T10" fmla="*/ 40 w 61"/>
                  <a:gd name="T11" fmla="*/ 17 h 48"/>
                  <a:gd name="T12" fmla="*/ 46 w 61"/>
                  <a:gd name="T13" fmla="*/ 17 h 48"/>
                  <a:gd name="T14" fmla="*/ 51 w 61"/>
                  <a:gd name="T15" fmla="*/ 17 h 48"/>
                  <a:gd name="T16" fmla="*/ 57 w 61"/>
                  <a:gd name="T17" fmla="*/ 15 h 48"/>
                  <a:gd name="T18" fmla="*/ 57 w 61"/>
                  <a:gd name="T19" fmla="*/ 10 h 48"/>
                  <a:gd name="T20" fmla="*/ 60 w 61"/>
                  <a:gd name="T21" fmla="*/ 5 h 48"/>
                  <a:gd name="T22" fmla="*/ 60 w 61"/>
                  <a:gd name="T23" fmla="*/ 0 h 4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1"/>
                  <a:gd name="T37" fmla="*/ 0 h 48"/>
                  <a:gd name="T38" fmla="*/ 61 w 61"/>
                  <a:gd name="T39" fmla="*/ 48 h 4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1" h="48">
                    <a:moveTo>
                      <a:pt x="0" y="47"/>
                    </a:moveTo>
                    <a:lnTo>
                      <a:pt x="17" y="25"/>
                    </a:lnTo>
                    <a:lnTo>
                      <a:pt x="23" y="22"/>
                    </a:lnTo>
                    <a:lnTo>
                      <a:pt x="29" y="20"/>
                    </a:lnTo>
                    <a:lnTo>
                      <a:pt x="34" y="17"/>
                    </a:lnTo>
                    <a:lnTo>
                      <a:pt x="40" y="17"/>
                    </a:lnTo>
                    <a:lnTo>
                      <a:pt x="46" y="17"/>
                    </a:lnTo>
                    <a:lnTo>
                      <a:pt x="51" y="17"/>
                    </a:lnTo>
                    <a:lnTo>
                      <a:pt x="57" y="15"/>
                    </a:lnTo>
                    <a:lnTo>
                      <a:pt x="57" y="10"/>
                    </a:lnTo>
                    <a:lnTo>
                      <a:pt x="60" y="5"/>
                    </a:lnTo>
                    <a:lnTo>
                      <a:pt x="60"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45" name="Freeform 206"/>
              <p:cNvSpPr>
                <a:spLocks/>
              </p:cNvSpPr>
              <p:nvPr/>
            </p:nvSpPr>
            <p:spPr bwMode="auto">
              <a:xfrm>
                <a:off x="1676" y="2764"/>
                <a:ext cx="60" cy="76"/>
              </a:xfrm>
              <a:custGeom>
                <a:avLst/>
                <a:gdLst>
                  <a:gd name="T0" fmla="*/ 0 w 60"/>
                  <a:gd name="T1" fmla="*/ 0 h 76"/>
                  <a:gd name="T2" fmla="*/ 6 w 60"/>
                  <a:gd name="T3" fmla="*/ 0 h 76"/>
                  <a:gd name="T4" fmla="*/ 11 w 60"/>
                  <a:gd name="T5" fmla="*/ 5 h 76"/>
                  <a:gd name="T6" fmla="*/ 11 w 60"/>
                  <a:gd name="T7" fmla="*/ 10 h 76"/>
                  <a:gd name="T8" fmla="*/ 14 w 60"/>
                  <a:gd name="T9" fmla="*/ 15 h 76"/>
                  <a:gd name="T10" fmla="*/ 14 w 60"/>
                  <a:gd name="T11" fmla="*/ 20 h 76"/>
                  <a:gd name="T12" fmla="*/ 17 w 60"/>
                  <a:gd name="T13" fmla="*/ 25 h 76"/>
                  <a:gd name="T14" fmla="*/ 20 w 60"/>
                  <a:gd name="T15" fmla="*/ 30 h 76"/>
                  <a:gd name="T16" fmla="*/ 25 w 60"/>
                  <a:gd name="T17" fmla="*/ 35 h 76"/>
                  <a:gd name="T18" fmla="*/ 31 w 60"/>
                  <a:gd name="T19" fmla="*/ 40 h 76"/>
                  <a:gd name="T20" fmla="*/ 31 w 60"/>
                  <a:gd name="T21" fmla="*/ 45 h 76"/>
                  <a:gd name="T22" fmla="*/ 37 w 60"/>
                  <a:gd name="T23" fmla="*/ 48 h 76"/>
                  <a:gd name="T24" fmla="*/ 37 w 60"/>
                  <a:gd name="T25" fmla="*/ 53 h 76"/>
                  <a:gd name="T26" fmla="*/ 39 w 60"/>
                  <a:gd name="T27" fmla="*/ 58 h 76"/>
                  <a:gd name="T28" fmla="*/ 42 w 60"/>
                  <a:gd name="T29" fmla="*/ 65 h 76"/>
                  <a:gd name="T30" fmla="*/ 48 w 60"/>
                  <a:gd name="T31" fmla="*/ 70 h 76"/>
                  <a:gd name="T32" fmla="*/ 53 w 60"/>
                  <a:gd name="T33" fmla="*/ 73 h 76"/>
                  <a:gd name="T34" fmla="*/ 59 w 60"/>
                  <a:gd name="T35" fmla="*/ 75 h 7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0"/>
                  <a:gd name="T55" fmla="*/ 0 h 76"/>
                  <a:gd name="T56" fmla="*/ 60 w 60"/>
                  <a:gd name="T57" fmla="*/ 76 h 7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0" h="76">
                    <a:moveTo>
                      <a:pt x="0" y="0"/>
                    </a:moveTo>
                    <a:lnTo>
                      <a:pt x="6" y="0"/>
                    </a:lnTo>
                    <a:lnTo>
                      <a:pt x="11" y="5"/>
                    </a:lnTo>
                    <a:lnTo>
                      <a:pt x="11" y="10"/>
                    </a:lnTo>
                    <a:lnTo>
                      <a:pt x="14" y="15"/>
                    </a:lnTo>
                    <a:lnTo>
                      <a:pt x="14" y="20"/>
                    </a:lnTo>
                    <a:lnTo>
                      <a:pt x="17" y="25"/>
                    </a:lnTo>
                    <a:lnTo>
                      <a:pt x="20" y="30"/>
                    </a:lnTo>
                    <a:lnTo>
                      <a:pt x="25" y="35"/>
                    </a:lnTo>
                    <a:lnTo>
                      <a:pt x="31" y="40"/>
                    </a:lnTo>
                    <a:lnTo>
                      <a:pt x="31" y="45"/>
                    </a:lnTo>
                    <a:lnTo>
                      <a:pt x="37" y="48"/>
                    </a:lnTo>
                    <a:lnTo>
                      <a:pt x="37" y="53"/>
                    </a:lnTo>
                    <a:lnTo>
                      <a:pt x="39" y="58"/>
                    </a:lnTo>
                    <a:lnTo>
                      <a:pt x="42" y="65"/>
                    </a:lnTo>
                    <a:lnTo>
                      <a:pt x="48" y="70"/>
                    </a:lnTo>
                    <a:lnTo>
                      <a:pt x="53" y="73"/>
                    </a:lnTo>
                    <a:lnTo>
                      <a:pt x="59" y="75"/>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46" name="Freeform 207"/>
              <p:cNvSpPr>
                <a:spLocks/>
              </p:cNvSpPr>
              <p:nvPr/>
            </p:nvSpPr>
            <p:spPr bwMode="auto">
              <a:xfrm>
                <a:off x="1649" y="2804"/>
                <a:ext cx="107" cy="48"/>
              </a:xfrm>
              <a:custGeom>
                <a:avLst/>
                <a:gdLst>
                  <a:gd name="T0" fmla="*/ 0 w 107"/>
                  <a:gd name="T1" fmla="*/ 47 h 48"/>
                  <a:gd name="T2" fmla="*/ 42 w 107"/>
                  <a:gd name="T3" fmla="*/ 32 h 48"/>
                  <a:gd name="T4" fmla="*/ 47 w 107"/>
                  <a:gd name="T5" fmla="*/ 32 h 48"/>
                  <a:gd name="T6" fmla="*/ 53 w 107"/>
                  <a:gd name="T7" fmla="*/ 32 h 48"/>
                  <a:gd name="T8" fmla="*/ 59 w 107"/>
                  <a:gd name="T9" fmla="*/ 32 h 48"/>
                  <a:gd name="T10" fmla="*/ 64 w 107"/>
                  <a:gd name="T11" fmla="*/ 30 h 48"/>
                  <a:gd name="T12" fmla="*/ 67 w 107"/>
                  <a:gd name="T13" fmla="*/ 25 h 48"/>
                  <a:gd name="T14" fmla="*/ 70 w 107"/>
                  <a:gd name="T15" fmla="*/ 20 h 48"/>
                  <a:gd name="T16" fmla="*/ 75 w 107"/>
                  <a:gd name="T17" fmla="*/ 17 h 48"/>
                  <a:gd name="T18" fmla="*/ 81 w 107"/>
                  <a:gd name="T19" fmla="*/ 15 h 48"/>
                  <a:gd name="T20" fmla="*/ 86 w 107"/>
                  <a:gd name="T21" fmla="*/ 10 h 48"/>
                  <a:gd name="T22" fmla="*/ 92 w 107"/>
                  <a:gd name="T23" fmla="*/ 10 h 48"/>
                  <a:gd name="T24" fmla="*/ 98 w 107"/>
                  <a:gd name="T25" fmla="*/ 7 h 48"/>
                  <a:gd name="T26" fmla="*/ 100 w 107"/>
                  <a:gd name="T27" fmla="*/ 2 h 48"/>
                  <a:gd name="T28" fmla="*/ 106 w 107"/>
                  <a:gd name="T29" fmla="*/ 0 h 4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7"/>
                  <a:gd name="T46" fmla="*/ 0 h 48"/>
                  <a:gd name="T47" fmla="*/ 107 w 107"/>
                  <a:gd name="T48" fmla="*/ 48 h 4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7" h="48">
                    <a:moveTo>
                      <a:pt x="0" y="47"/>
                    </a:moveTo>
                    <a:lnTo>
                      <a:pt x="42" y="32"/>
                    </a:lnTo>
                    <a:lnTo>
                      <a:pt x="47" y="32"/>
                    </a:lnTo>
                    <a:lnTo>
                      <a:pt x="53" y="32"/>
                    </a:lnTo>
                    <a:lnTo>
                      <a:pt x="59" y="32"/>
                    </a:lnTo>
                    <a:lnTo>
                      <a:pt x="64" y="30"/>
                    </a:lnTo>
                    <a:lnTo>
                      <a:pt x="67" y="25"/>
                    </a:lnTo>
                    <a:lnTo>
                      <a:pt x="70" y="20"/>
                    </a:lnTo>
                    <a:lnTo>
                      <a:pt x="75" y="17"/>
                    </a:lnTo>
                    <a:lnTo>
                      <a:pt x="81" y="15"/>
                    </a:lnTo>
                    <a:lnTo>
                      <a:pt x="86" y="10"/>
                    </a:lnTo>
                    <a:lnTo>
                      <a:pt x="92" y="10"/>
                    </a:lnTo>
                    <a:lnTo>
                      <a:pt x="98" y="7"/>
                    </a:lnTo>
                    <a:lnTo>
                      <a:pt x="100" y="2"/>
                    </a:lnTo>
                    <a:lnTo>
                      <a:pt x="106"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47" name="Freeform 208"/>
              <p:cNvSpPr>
                <a:spLocks/>
              </p:cNvSpPr>
              <p:nvPr/>
            </p:nvSpPr>
            <p:spPr bwMode="auto">
              <a:xfrm>
                <a:off x="1705" y="2749"/>
                <a:ext cx="82" cy="91"/>
              </a:xfrm>
              <a:custGeom>
                <a:avLst/>
                <a:gdLst>
                  <a:gd name="T0" fmla="*/ 0 w 82"/>
                  <a:gd name="T1" fmla="*/ 0 h 91"/>
                  <a:gd name="T2" fmla="*/ 8 w 82"/>
                  <a:gd name="T3" fmla="*/ 3 h 91"/>
                  <a:gd name="T4" fmla="*/ 14 w 82"/>
                  <a:gd name="T5" fmla="*/ 3 h 91"/>
                  <a:gd name="T6" fmla="*/ 20 w 82"/>
                  <a:gd name="T7" fmla="*/ 3 h 91"/>
                  <a:gd name="T8" fmla="*/ 25 w 82"/>
                  <a:gd name="T9" fmla="*/ 8 h 91"/>
                  <a:gd name="T10" fmla="*/ 28 w 82"/>
                  <a:gd name="T11" fmla="*/ 13 h 91"/>
                  <a:gd name="T12" fmla="*/ 28 w 82"/>
                  <a:gd name="T13" fmla="*/ 18 h 91"/>
                  <a:gd name="T14" fmla="*/ 31 w 82"/>
                  <a:gd name="T15" fmla="*/ 23 h 91"/>
                  <a:gd name="T16" fmla="*/ 34 w 82"/>
                  <a:gd name="T17" fmla="*/ 28 h 91"/>
                  <a:gd name="T18" fmla="*/ 42 w 82"/>
                  <a:gd name="T19" fmla="*/ 50 h 91"/>
                  <a:gd name="T20" fmla="*/ 42 w 82"/>
                  <a:gd name="T21" fmla="*/ 60 h 91"/>
                  <a:gd name="T22" fmla="*/ 53 w 82"/>
                  <a:gd name="T23" fmla="*/ 70 h 91"/>
                  <a:gd name="T24" fmla="*/ 53 w 82"/>
                  <a:gd name="T25" fmla="*/ 80 h 91"/>
                  <a:gd name="T26" fmla="*/ 59 w 82"/>
                  <a:gd name="T27" fmla="*/ 83 h 91"/>
                  <a:gd name="T28" fmla="*/ 64 w 82"/>
                  <a:gd name="T29" fmla="*/ 85 h 91"/>
                  <a:gd name="T30" fmla="*/ 70 w 82"/>
                  <a:gd name="T31" fmla="*/ 88 h 91"/>
                  <a:gd name="T32" fmla="*/ 75 w 82"/>
                  <a:gd name="T33" fmla="*/ 90 h 91"/>
                  <a:gd name="T34" fmla="*/ 81 w 82"/>
                  <a:gd name="T35" fmla="*/ 90 h 9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2"/>
                  <a:gd name="T55" fmla="*/ 0 h 91"/>
                  <a:gd name="T56" fmla="*/ 82 w 82"/>
                  <a:gd name="T57" fmla="*/ 91 h 9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2" h="91">
                    <a:moveTo>
                      <a:pt x="0" y="0"/>
                    </a:moveTo>
                    <a:lnTo>
                      <a:pt x="8" y="3"/>
                    </a:lnTo>
                    <a:lnTo>
                      <a:pt x="14" y="3"/>
                    </a:lnTo>
                    <a:lnTo>
                      <a:pt x="20" y="3"/>
                    </a:lnTo>
                    <a:lnTo>
                      <a:pt x="25" y="8"/>
                    </a:lnTo>
                    <a:lnTo>
                      <a:pt x="28" y="13"/>
                    </a:lnTo>
                    <a:lnTo>
                      <a:pt x="28" y="18"/>
                    </a:lnTo>
                    <a:lnTo>
                      <a:pt x="31" y="23"/>
                    </a:lnTo>
                    <a:lnTo>
                      <a:pt x="34" y="28"/>
                    </a:lnTo>
                    <a:lnTo>
                      <a:pt x="42" y="50"/>
                    </a:lnTo>
                    <a:lnTo>
                      <a:pt x="42" y="60"/>
                    </a:lnTo>
                    <a:lnTo>
                      <a:pt x="53" y="70"/>
                    </a:lnTo>
                    <a:lnTo>
                      <a:pt x="53" y="80"/>
                    </a:lnTo>
                    <a:lnTo>
                      <a:pt x="59" y="83"/>
                    </a:lnTo>
                    <a:lnTo>
                      <a:pt x="64" y="85"/>
                    </a:lnTo>
                    <a:lnTo>
                      <a:pt x="70" y="88"/>
                    </a:lnTo>
                    <a:lnTo>
                      <a:pt x="75" y="90"/>
                    </a:lnTo>
                    <a:lnTo>
                      <a:pt x="81" y="9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48" name="Freeform 209"/>
              <p:cNvSpPr>
                <a:spLocks/>
              </p:cNvSpPr>
              <p:nvPr/>
            </p:nvSpPr>
            <p:spPr bwMode="auto">
              <a:xfrm>
                <a:off x="1718" y="2709"/>
                <a:ext cx="51" cy="128"/>
              </a:xfrm>
              <a:custGeom>
                <a:avLst/>
                <a:gdLst>
                  <a:gd name="T0" fmla="*/ 0 w 51"/>
                  <a:gd name="T1" fmla="*/ 0 h 128"/>
                  <a:gd name="T2" fmla="*/ 8 w 51"/>
                  <a:gd name="T3" fmla="*/ 2 h 128"/>
                  <a:gd name="T4" fmla="*/ 33 w 51"/>
                  <a:gd name="T5" fmla="*/ 10 h 128"/>
                  <a:gd name="T6" fmla="*/ 39 w 51"/>
                  <a:gd name="T7" fmla="*/ 15 h 128"/>
                  <a:gd name="T8" fmla="*/ 39 w 51"/>
                  <a:gd name="T9" fmla="*/ 20 h 128"/>
                  <a:gd name="T10" fmla="*/ 39 w 51"/>
                  <a:gd name="T11" fmla="*/ 25 h 128"/>
                  <a:gd name="T12" fmla="*/ 39 w 51"/>
                  <a:gd name="T13" fmla="*/ 30 h 128"/>
                  <a:gd name="T14" fmla="*/ 36 w 51"/>
                  <a:gd name="T15" fmla="*/ 42 h 128"/>
                  <a:gd name="T16" fmla="*/ 36 w 51"/>
                  <a:gd name="T17" fmla="*/ 52 h 128"/>
                  <a:gd name="T18" fmla="*/ 39 w 51"/>
                  <a:gd name="T19" fmla="*/ 57 h 128"/>
                  <a:gd name="T20" fmla="*/ 42 w 51"/>
                  <a:gd name="T21" fmla="*/ 62 h 128"/>
                  <a:gd name="T22" fmla="*/ 47 w 51"/>
                  <a:gd name="T23" fmla="*/ 65 h 128"/>
                  <a:gd name="T24" fmla="*/ 50 w 51"/>
                  <a:gd name="T25" fmla="*/ 70 h 128"/>
                  <a:gd name="T26" fmla="*/ 50 w 51"/>
                  <a:gd name="T27" fmla="*/ 75 h 128"/>
                  <a:gd name="T28" fmla="*/ 50 w 51"/>
                  <a:gd name="T29" fmla="*/ 80 h 128"/>
                  <a:gd name="T30" fmla="*/ 50 w 51"/>
                  <a:gd name="T31" fmla="*/ 85 h 128"/>
                  <a:gd name="T32" fmla="*/ 44 w 51"/>
                  <a:gd name="T33" fmla="*/ 97 h 128"/>
                  <a:gd name="T34" fmla="*/ 39 w 51"/>
                  <a:gd name="T35" fmla="*/ 100 h 128"/>
                  <a:gd name="T36" fmla="*/ 39 w 51"/>
                  <a:gd name="T37" fmla="*/ 105 h 128"/>
                  <a:gd name="T38" fmla="*/ 39 w 51"/>
                  <a:gd name="T39" fmla="*/ 110 h 128"/>
                  <a:gd name="T40" fmla="*/ 42 w 51"/>
                  <a:gd name="T41" fmla="*/ 115 h 128"/>
                  <a:gd name="T42" fmla="*/ 42 w 51"/>
                  <a:gd name="T43" fmla="*/ 120 h 128"/>
                  <a:gd name="T44" fmla="*/ 44 w 51"/>
                  <a:gd name="T45" fmla="*/ 125 h 128"/>
                  <a:gd name="T46" fmla="*/ 42 w 51"/>
                  <a:gd name="T47" fmla="*/ 127 h 12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1"/>
                  <a:gd name="T73" fmla="*/ 0 h 128"/>
                  <a:gd name="T74" fmla="*/ 51 w 51"/>
                  <a:gd name="T75" fmla="*/ 128 h 12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1" h="128">
                    <a:moveTo>
                      <a:pt x="0" y="0"/>
                    </a:moveTo>
                    <a:lnTo>
                      <a:pt x="8" y="2"/>
                    </a:lnTo>
                    <a:lnTo>
                      <a:pt x="33" y="10"/>
                    </a:lnTo>
                    <a:lnTo>
                      <a:pt x="39" y="15"/>
                    </a:lnTo>
                    <a:lnTo>
                      <a:pt x="39" y="20"/>
                    </a:lnTo>
                    <a:lnTo>
                      <a:pt x="39" y="25"/>
                    </a:lnTo>
                    <a:lnTo>
                      <a:pt x="39" y="30"/>
                    </a:lnTo>
                    <a:lnTo>
                      <a:pt x="36" y="42"/>
                    </a:lnTo>
                    <a:lnTo>
                      <a:pt x="36" y="52"/>
                    </a:lnTo>
                    <a:lnTo>
                      <a:pt x="39" y="57"/>
                    </a:lnTo>
                    <a:lnTo>
                      <a:pt x="42" y="62"/>
                    </a:lnTo>
                    <a:lnTo>
                      <a:pt x="47" y="65"/>
                    </a:lnTo>
                    <a:lnTo>
                      <a:pt x="50" y="70"/>
                    </a:lnTo>
                    <a:lnTo>
                      <a:pt x="50" y="75"/>
                    </a:lnTo>
                    <a:lnTo>
                      <a:pt x="50" y="80"/>
                    </a:lnTo>
                    <a:lnTo>
                      <a:pt x="50" y="85"/>
                    </a:lnTo>
                    <a:lnTo>
                      <a:pt x="44" y="97"/>
                    </a:lnTo>
                    <a:lnTo>
                      <a:pt x="39" y="100"/>
                    </a:lnTo>
                    <a:lnTo>
                      <a:pt x="39" y="105"/>
                    </a:lnTo>
                    <a:lnTo>
                      <a:pt x="39" y="110"/>
                    </a:lnTo>
                    <a:lnTo>
                      <a:pt x="42" y="115"/>
                    </a:lnTo>
                    <a:lnTo>
                      <a:pt x="42" y="120"/>
                    </a:lnTo>
                    <a:lnTo>
                      <a:pt x="44" y="125"/>
                    </a:lnTo>
                    <a:lnTo>
                      <a:pt x="42" y="127"/>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49" name="Freeform 210"/>
              <p:cNvSpPr>
                <a:spLocks/>
              </p:cNvSpPr>
              <p:nvPr/>
            </p:nvSpPr>
            <p:spPr bwMode="auto">
              <a:xfrm>
                <a:off x="1694" y="2681"/>
                <a:ext cx="87" cy="24"/>
              </a:xfrm>
              <a:custGeom>
                <a:avLst/>
                <a:gdLst>
                  <a:gd name="T0" fmla="*/ 0 w 87"/>
                  <a:gd name="T1" fmla="*/ 23 h 24"/>
                  <a:gd name="T2" fmla="*/ 6 w 87"/>
                  <a:gd name="T3" fmla="*/ 20 h 24"/>
                  <a:gd name="T4" fmla="*/ 6 w 87"/>
                  <a:gd name="T5" fmla="*/ 13 h 24"/>
                  <a:gd name="T6" fmla="*/ 6 w 87"/>
                  <a:gd name="T7" fmla="*/ 8 h 24"/>
                  <a:gd name="T8" fmla="*/ 11 w 87"/>
                  <a:gd name="T9" fmla="*/ 3 h 24"/>
                  <a:gd name="T10" fmla="*/ 17 w 87"/>
                  <a:gd name="T11" fmla="*/ 3 h 24"/>
                  <a:gd name="T12" fmla="*/ 31 w 87"/>
                  <a:gd name="T13" fmla="*/ 0 h 24"/>
                  <a:gd name="T14" fmla="*/ 42 w 87"/>
                  <a:gd name="T15" fmla="*/ 0 h 24"/>
                  <a:gd name="T16" fmla="*/ 53 w 87"/>
                  <a:gd name="T17" fmla="*/ 0 h 24"/>
                  <a:gd name="T18" fmla="*/ 64 w 87"/>
                  <a:gd name="T19" fmla="*/ 0 h 24"/>
                  <a:gd name="T20" fmla="*/ 69 w 87"/>
                  <a:gd name="T21" fmla="*/ 0 h 24"/>
                  <a:gd name="T22" fmla="*/ 75 w 87"/>
                  <a:gd name="T23" fmla="*/ 3 h 24"/>
                  <a:gd name="T24" fmla="*/ 80 w 87"/>
                  <a:gd name="T25" fmla="*/ 3 h 24"/>
                  <a:gd name="T26" fmla="*/ 86 w 87"/>
                  <a:gd name="T27" fmla="*/ 0 h 2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7"/>
                  <a:gd name="T43" fmla="*/ 0 h 24"/>
                  <a:gd name="T44" fmla="*/ 87 w 87"/>
                  <a:gd name="T45" fmla="*/ 24 h 2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7" h="24">
                    <a:moveTo>
                      <a:pt x="0" y="23"/>
                    </a:moveTo>
                    <a:lnTo>
                      <a:pt x="6" y="20"/>
                    </a:lnTo>
                    <a:lnTo>
                      <a:pt x="6" y="13"/>
                    </a:lnTo>
                    <a:lnTo>
                      <a:pt x="6" y="8"/>
                    </a:lnTo>
                    <a:lnTo>
                      <a:pt x="11" y="3"/>
                    </a:lnTo>
                    <a:lnTo>
                      <a:pt x="17" y="3"/>
                    </a:lnTo>
                    <a:lnTo>
                      <a:pt x="31" y="0"/>
                    </a:lnTo>
                    <a:lnTo>
                      <a:pt x="42" y="0"/>
                    </a:lnTo>
                    <a:lnTo>
                      <a:pt x="53" y="0"/>
                    </a:lnTo>
                    <a:lnTo>
                      <a:pt x="64" y="0"/>
                    </a:lnTo>
                    <a:lnTo>
                      <a:pt x="69" y="0"/>
                    </a:lnTo>
                    <a:lnTo>
                      <a:pt x="75" y="3"/>
                    </a:lnTo>
                    <a:lnTo>
                      <a:pt x="80" y="3"/>
                    </a:lnTo>
                    <a:lnTo>
                      <a:pt x="86"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50" name="Freeform 211"/>
              <p:cNvSpPr>
                <a:spLocks/>
              </p:cNvSpPr>
              <p:nvPr/>
            </p:nvSpPr>
            <p:spPr bwMode="auto">
              <a:xfrm>
                <a:off x="1761" y="2649"/>
                <a:ext cx="71" cy="72"/>
              </a:xfrm>
              <a:custGeom>
                <a:avLst/>
                <a:gdLst>
                  <a:gd name="T0" fmla="*/ 0 w 71"/>
                  <a:gd name="T1" fmla="*/ 0 h 72"/>
                  <a:gd name="T2" fmla="*/ 6 w 71"/>
                  <a:gd name="T3" fmla="*/ 0 h 72"/>
                  <a:gd name="T4" fmla="*/ 11 w 71"/>
                  <a:gd name="T5" fmla="*/ 2 h 72"/>
                  <a:gd name="T6" fmla="*/ 17 w 71"/>
                  <a:gd name="T7" fmla="*/ 7 h 72"/>
                  <a:gd name="T8" fmla="*/ 28 w 71"/>
                  <a:gd name="T9" fmla="*/ 7 h 72"/>
                  <a:gd name="T10" fmla="*/ 31 w 71"/>
                  <a:gd name="T11" fmla="*/ 12 h 72"/>
                  <a:gd name="T12" fmla="*/ 34 w 71"/>
                  <a:gd name="T13" fmla="*/ 17 h 72"/>
                  <a:gd name="T14" fmla="*/ 39 w 71"/>
                  <a:gd name="T15" fmla="*/ 29 h 72"/>
                  <a:gd name="T16" fmla="*/ 39 w 71"/>
                  <a:gd name="T17" fmla="*/ 39 h 72"/>
                  <a:gd name="T18" fmla="*/ 42 w 71"/>
                  <a:gd name="T19" fmla="*/ 44 h 72"/>
                  <a:gd name="T20" fmla="*/ 48 w 71"/>
                  <a:gd name="T21" fmla="*/ 49 h 72"/>
                  <a:gd name="T22" fmla="*/ 53 w 71"/>
                  <a:gd name="T23" fmla="*/ 54 h 72"/>
                  <a:gd name="T24" fmla="*/ 59 w 71"/>
                  <a:gd name="T25" fmla="*/ 56 h 72"/>
                  <a:gd name="T26" fmla="*/ 64 w 71"/>
                  <a:gd name="T27" fmla="*/ 61 h 72"/>
                  <a:gd name="T28" fmla="*/ 64 w 71"/>
                  <a:gd name="T29" fmla="*/ 66 h 72"/>
                  <a:gd name="T30" fmla="*/ 70 w 71"/>
                  <a:gd name="T31" fmla="*/ 71 h 7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1"/>
                  <a:gd name="T49" fmla="*/ 0 h 72"/>
                  <a:gd name="T50" fmla="*/ 71 w 71"/>
                  <a:gd name="T51" fmla="*/ 72 h 7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1" h="72">
                    <a:moveTo>
                      <a:pt x="0" y="0"/>
                    </a:moveTo>
                    <a:lnTo>
                      <a:pt x="6" y="0"/>
                    </a:lnTo>
                    <a:lnTo>
                      <a:pt x="11" y="2"/>
                    </a:lnTo>
                    <a:lnTo>
                      <a:pt x="17" y="7"/>
                    </a:lnTo>
                    <a:lnTo>
                      <a:pt x="28" y="7"/>
                    </a:lnTo>
                    <a:lnTo>
                      <a:pt x="31" y="12"/>
                    </a:lnTo>
                    <a:lnTo>
                      <a:pt x="34" y="17"/>
                    </a:lnTo>
                    <a:lnTo>
                      <a:pt x="39" y="29"/>
                    </a:lnTo>
                    <a:lnTo>
                      <a:pt x="39" y="39"/>
                    </a:lnTo>
                    <a:lnTo>
                      <a:pt x="42" y="44"/>
                    </a:lnTo>
                    <a:lnTo>
                      <a:pt x="48" y="49"/>
                    </a:lnTo>
                    <a:lnTo>
                      <a:pt x="53" y="54"/>
                    </a:lnTo>
                    <a:lnTo>
                      <a:pt x="59" y="56"/>
                    </a:lnTo>
                    <a:lnTo>
                      <a:pt x="64" y="61"/>
                    </a:lnTo>
                    <a:lnTo>
                      <a:pt x="64" y="66"/>
                    </a:lnTo>
                    <a:lnTo>
                      <a:pt x="70" y="71"/>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51" name="Freeform 212"/>
              <p:cNvSpPr>
                <a:spLocks/>
              </p:cNvSpPr>
              <p:nvPr/>
            </p:nvSpPr>
            <p:spPr bwMode="auto">
              <a:xfrm>
                <a:off x="1780" y="2681"/>
                <a:ext cx="91" cy="44"/>
              </a:xfrm>
              <a:custGeom>
                <a:avLst/>
                <a:gdLst>
                  <a:gd name="T0" fmla="*/ 0 w 91"/>
                  <a:gd name="T1" fmla="*/ 43 h 44"/>
                  <a:gd name="T2" fmla="*/ 6 w 91"/>
                  <a:gd name="T3" fmla="*/ 40 h 44"/>
                  <a:gd name="T4" fmla="*/ 11 w 91"/>
                  <a:gd name="T5" fmla="*/ 35 h 44"/>
                  <a:gd name="T6" fmla="*/ 14 w 91"/>
                  <a:gd name="T7" fmla="*/ 30 h 44"/>
                  <a:gd name="T8" fmla="*/ 20 w 91"/>
                  <a:gd name="T9" fmla="*/ 25 h 44"/>
                  <a:gd name="T10" fmla="*/ 34 w 91"/>
                  <a:gd name="T11" fmla="*/ 18 h 44"/>
                  <a:gd name="T12" fmla="*/ 45 w 91"/>
                  <a:gd name="T13" fmla="*/ 18 h 44"/>
                  <a:gd name="T14" fmla="*/ 56 w 91"/>
                  <a:gd name="T15" fmla="*/ 18 h 44"/>
                  <a:gd name="T16" fmla="*/ 68 w 91"/>
                  <a:gd name="T17" fmla="*/ 8 h 44"/>
                  <a:gd name="T18" fmla="*/ 73 w 91"/>
                  <a:gd name="T19" fmla="*/ 8 h 44"/>
                  <a:gd name="T20" fmla="*/ 79 w 91"/>
                  <a:gd name="T21" fmla="*/ 8 h 44"/>
                  <a:gd name="T22" fmla="*/ 84 w 91"/>
                  <a:gd name="T23" fmla="*/ 8 h 44"/>
                  <a:gd name="T24" fmla="*/ 90 w 91"/>
                  <a:gd name="T25" fmla="*/ 5 h 44"/>
                  <a:gd name="T26" fmla="*/ 90 w 91"/>
                  <a:gd name="T27" fmla="*/ 0 h 44"/>
                  <a:gd name="T28" fmla="*/ 90 w 91"/>
                  <a:gd name="T29" fmla="*/ 0 h 4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1"/>
                  <a:gd name="T46" fmla="*/ 0 h 44"/>
                  <a:gd name="T47" fmla="*/ 91 w 91"/>
                  <a:gd name="T48" fmla="*/ 44 h 4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1" h="44">
                    <a:moveTo>
                      <a:pt x="0" y="43"/>
                    </a:moveTo>
                    <a:lnTo>
                      <a:pt x="6" y="40"/>
                    </a:lnTo>
                    <a:lnTo>
                      <a:pt x="11" y="35"/>
                    </a:lnTo>
                    <a:lnTo>
                      <a:pt x="14" y="30"/>
                    </a:lnTo>
                    <a:lnTo>
                      <a:pt x="20" y="25"/>
                    </a:lnTo>
                    <a:lnTo>
                      <a:pt x="34" y="18"/>
                    </a:lnTo>
                    <a:lnTo>
                      <a:pt x="45" y="18"/>
                    </a:lnTo>
                    <a:lnTo>
                      <a:pt x="56" y="18"/>
                    </a:lnTo>
                    <a:lnTo>
                      <a:pt x="68" y="8"/>
                    </a:lnTo>
                    <a:lnTo>
                      <a:pt x="73" y="8"/>
                    </a:lnTo>
                    <a:lnTo>
                      <a:pt x="79" y="8"/>
                    </a:lnTo>
                    <a:lnTo>
                      <a:pt x="84" y="8"/>
                    </a:lnTo>
                    <a:lnTo>
                      <a:pt x="90" y="5"/>
                    </a:lnTo>
                    <a:lnTo>
                      <a:pt x="90"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52" name="Freeform 213"/>
              <p:cNvSpPr>
                <a:spLocks/>
              </p:cNvSpPr>
              <p:nvPr/>
            </p:nvSpPr>
            <p:spPr bwMode="auto">
              <a:xfrm>
                <a:off x="1806" y="2704"/>
                <a:ext cx="108" cy="78"/>
              </a:xfrm>
              <a:custGeom>
                <a:avLst/>
                <a:gdLst>
                  <a:gd name="T0" fmla="*/ 107 w 108"/>
                  <a:gd name="T1" fmla="*/ 0 h 78"/>
                  <a:gd name="T2" fmla="*/ 101 w 108"/>
                  <a:gd name="T3" fmla="*/ 0 h 78"/>
                  <a:gd name="T4" fmla="*/ 96 w 108"/>
                  <a:gd name="T5" fmla="*/ 0 h 78"/>
                  <a:gd name="T6" fmla="*/ 82 w 108"/>
                  <a:gd name="T7" fmla="*/ 5 h 78"/>
                  <a:gd name="T8" fmla="*/ 68 w 108"/>
                  <a:gd name="T9" fmla="*/ 7 h 78"/>
                  <a:gd name="T10" fmla="*/ 56 w 108"/>
                  <a:gd name="T11" fmla="*/ 17 h 78"/>
                  <a:gd name="T12" fmla="*/ 45 w 108"/>
                  <a:gd name="T13" fmla="*/ 27 h 78"/>
                  <a:gd name="T14" fmla="*/ 45 w 108"/>
                  <a:gd name="T15" fmla="*/ 37 h 78"/>
                  <a:gd name="T16" fmla="*/ 45 w 108"/>
                  <a:gd name="T17" fmla="*/ 42 h 78"/>
                  <a:gd name="T18" fmla="*/ 42 w 108"/>
                  <a:gd name="T19" fmla="*/ 47 h 78"/>
                  <a:gd name="T20" fmla="*/ 42 w 108"/>
                  <a:gd name="T21" fmla="*/ 52 h 78"/>
                  <a:gd name="T22" fmla="*/ 42 w 108"/>
                  <a:gd name="T23" fmla="*/ 57 h 78"/>
                  <a:gd name="T24" fmla="*/ 42 w 108"/>
                  <a:gd name="T25" fmla="*/ 62 h 78"/>
                  <a:gd name="T26" fmla="*/ 28 w 108"/>
                  <a:gd name="T27" fmla="*/ 65 h 78"/>
                  <a:gd name="T28" fmla="*/ 23 w 108"/>
                  <a:gd name="T29" fmla="*/ 67 h 78"/>
                  <a:gd name="T30" fmla="*/ 17 w 108"/>
                  <a:gd name="T31" fmla="*/ 70 h 78"/>
                  <a:gd name="T32" fmla="*/ 11 w 108"/>
                  <a:gd name="T33" fmla="*/ 72 h 78"/>
                  <a:gd name="T34" fmla="*/ 6 w 108"/>
                  <a:gd name="T35" fmla="*/ 75 h 78"/>
                  <a:gd name="T36" fmla="*/ 0 w 108"/>
                  <a:gd name="T37" fmla="*/ 77 h 7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8"/>
                  <a:gd name="T58" fmla="*/ 0 h 78"/>
                  <a:gd name="T59" fmla="*/ 108 w 108"/>
                  <a:gd name="T60" fmla="*/ 78 h 7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8" h="78">
                    <a:moveTo>
                      <a:pt x="107" y="0"/>
                    </a:moveTo>
                    <a:lnTo>
                      <a:pt x="101" y="0"/>
                    </a:lnTo>
                    <a:lnTo>
                      <a:pt x="96" y="0"/>
                    </a:lnTo>
                    <a:lnTo>
                      <a:pt x="82" y="5"/>
                    </a:lnTo>
                    <a:lnTo>
                      <a:pt x="68" y="7"/>
                    </a:lnTo>
                    <a:lnTo>
                      <a:pt x="56" y="17"/>
                    </a:lnTo>
                    <a:lnTo>
                      <a:pt x="45" y="27"/>
                    </a:lnTo>
                    <a:lnTo>
                      <a:pt x="45" y="37"/>
                    </a:lnTo>
                    <a:lnTo>
                      <a:pt x="45" y="42"/>
                    </a:lnTo>
                    <a:lnTo>
                      <a:pt x="42" y="47"/>
                    </a:lnTo>
                    <a:lnTo>
                      <a:pt x="42" y="52"/>
                    </a:lnTo>
                    <a:lnTo>
                      <a:pt x="42" y="57"/>
                    </a:lnTo>
                    <a:lnTo>
                      <a:pt x="42" y="62"/>
                    </a:lnTo>
                    <a:lnTo>
                      <a:pt x="28" y="65"/>
                    </a:lnTo>
                    <a:lnTo>
                      <a:pt x="23" y="67"/>
                    </a:lnTo>
                    <a:lnTo>
                      <a:pt x="17" y="70"/>
                    </a:lnTo>
                    <a:lnTo>
                      <a:pt x="11" y="72"/>
                    </a:lnTo>
                    <a:lnTo>
                      <a:pt x="6" y="75"/>
                    </a:lnTo>
                    <a:lnTo>
                      <a:pt x="0" y="77"/>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53" name="Freeform 214"/>
              <p:cNvSpPr>
                <a:spLocks/>
              </p:cNvSpPr>
              <p:nvPr/>
            </p:nvSpPr>
            <p:spPr bwMode="auto">
              <a:xfrm>
                <a:off x="1834" y="2764"/>
                <a:ext cx="82" cy="51"/>
              </a:xfrm>
              <a:custGeom>
                <a:avLst/>
                <a:gdLst>
                  <a:gd name="T0" fmla="*/ 0 w 82"/>
                  <a:gd name="T1" fmla="*/ 50 h 51"/>
                  <a:gd name="T2" fmla="*/ 3 w 82"/>
                  <a:gd name="T3" fmla="*/ 45 h 51"/>
                  <a:gd name="T4" fmla="*/ 8 w 82"/>
                  <a:gd name="T5" fmla="*/ 43 h 51"/>
                  <a:gd name="T6" fmla="*/ 14 w 82"/>
                  <a:gd name="T7" fmla="*/ 38 h 51"/>
                  <a:gd name="T8" fmla="*/ 20 w 82"/>
                  <a:gd name="T9" fmla="*/ 35 h 51"/>
                  <a:gd name="T10" fmla="*/ 25 w 82"/>
                  <a:gd name="T11" fmla="*/ 35 h 51"/>
                  <a:gd name="T12" fmla="*/ 31 w 82"/>
                  <a:gd name="T13" fmla="*/ 33 h 51"/>
                  <a:gd name="T14" fmla="*/ 36 w 82"/>
                  <a:gd name="T15" fmla="*/ 33 h 51"/>
                  <a:gd name="T16" fmla="*/ 42 w 82"/>
                  <a:gd name="T17" fmla="*/ 30 h 51"/>
                  <a:gd name="T18" fmla="*/ 47 w 82"/>
                  <a:gd name="T19" fmla="*/ 28 h 51"/>
                  <a:gd name="T20" fmla="*/ 45 w 82"/>
                  <a:gd name="T21" fmla="*/ 23 h 51"/>
                  <a:gd name="T22" fmla="*/ 47 w 82"/>
                  <a:gd name="T23" fmla="*/ 18 h 51"/>
                  <a:gd name="T24" fmla="*/ 50 w 82"/>
                  <a:gd name="T25" fmla="*/ 13 h 51"/>
                  <a:gd name="T26" fmla="*/ 56 w 82"/>
                  <a:gd name="T27" fmla="*/ 10 h 51"/>
                  <a:gd name="T28" fmla="*/ 61 w 82"/>
                  <a:gd name="T29" fmla="*/ 10 h 51"/>
                  <a:gd name="T30" fmla="*/ 67 w 82"/>
                  <a:gd name="T31" fmla="*/ 8 h 51"/>
                  <a:gd name="T32" fmla="*/ 73 w 82"/>
                  <a:gd name="T33" fmla="*/ 8 h 51"/>
                  <a:gd name="T34" fmla="*/ 78 w 82"/>
                  <a:gd name="T35" fmla="*/ 5 h 51"/>
                  <a:gd name="T36" fmla="*/ 81 w 82"/>
                  <a:gd name="T37" fmla="*/ 0 h 5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2"/>
                  <a:gd name="T58" fmla="*/ 0 h 51"/>
                  <a:gd name="T59" fmla="*/ 82 w 82"/>
                  <a:gd name="T60" fmla="*/ 51 h 5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2" h="51">
                    <a:moveTo>
                      <a:pt x="0" y="50"/>
                    </a:moveTo>
                    <a:lnTo>
                      <a:pt x="3" y="45"/>
                    </a:lnTo>
                    <a:lnTo>
                      <a:pt x="8" y="43"/>
                    </a:lnTo>
                    <a:lnTo>
                      <a:pt x="14" y="38"/>
                    </a:lnTo>
                    <a:lnTo>
                      <a:pt x="20" y="35"/>
                    </a:lnTo>
                    <a:lnTo>
                      <a:pt x="25" y="35"/>
                    </a:lnTo>
                    <a:lnTo>
                      <a:pt x="31" y="33"/>
                    </a:lnTo>
                    <a:lnTo>
                      <a:pt x="36" y="33"/>
                    </a:lnTo>
                    <a:lnTo>
                      <a:pt x="42" y="30"/>
                    </a:lnTo>
                    <a:lnTo>
                      <a:pt x="47" y="28"/>
                    </a:lnTo>
                    <a:lnTo>
                      <a:pt x="45" y="23"/>
                    </a:lnTo>
                    <a:lnTo>
                      <a:pt x="47" y="18"/>
                    </a:lnTo>
                    <a:lnTo>
                      <a:pt x="50" y="13"/>
                    </a:lnTo>
                    <a:lnTo>
                      <a:pt x="56" y="10"/>
                    </a:lnTo>
                    <a:lnTo>
                      <a:pt x="61" y="10"/>
                    </a:lnTo>
                    <a:lnTo>
                      <a:pt x="67" y="8"/>
                    </a:lnTo>
                    <a:lnTo>
                      <a:pt x="73" y="8"/>
                    </a:lnTo>
                    <a:lnTo>
                      <a:pt x="78" y="5"/>
                    </a:lnTo>
                    <a:lnTo>
                      <a:pt x="81"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54" name="Freeform 215"/>
              <p:cNvSpPr>
                <a:spLocks/>
              </p:cNvSpPr>
              <p:nvPr/>
            </p:nvSpPr>
            <p:spPr bwMode="auto">
              <a:xfrm>
                <a:off x="1802" y="2811"/>
                <a:ext cx="123" cy="44"/>
              </a:xfrm>
              <a:custGeom>
                <a:avLst/>
                <a:gdLst>
                  <a:gd name="T0" fmla="*/ 0 w 123"/>
                  <a:gd name="T1" fmla="*/ 0 h 44"/>
                  <a:gd name="T2" fmla="*/ 6 w 123"/>
                  <a:gd name="T3" fmla="*/ 3 h 44"/>
                  <a:gd name="T4" fmla="*/ 11 w 123"/>
                  <a:gd name="T5" fmla="*/ 8 h 44"/>
                  <a:gd name="T6" fmla="*/ 17 w 123"/>
                  <a:gd name="T7" fmla="*/ 13 h 44"/>
                  <a:gd name="T8" fmla="*/ 23 w 123"/>
                  <a:gd name="T9" fmla="*/ 13 h 44"/>
                  <a:gd name="T10" fmla="*/ 28 w 123"/>
                  <a:gd name="T11" fmla="*/ 15 h 44"/>
                  <a:gd name="T12" fmla="*/ 34 w 123"/>
                  <a:gd name="T13" fmla="*/ 15 h 44"/>
                  <a:gd name="T14" fmla="*/ 40 w 123"/>
                  <a:gd name="T15" fmla="*/ 15 h 44"/>
                  <a:gd name="T16" fmla="*/ 68 w 123"/>
                  <a:gd name="T17" fmla="*/ 23 h 44"/>
                  <a:gd name="T18" fmla="*/ 79 w 123"/>
                  <a:gd name="T19" fmla="*/ 23 h 44"/>
                  <a:gd name="T20" fmla="*/ 91 w 123"/>
                  <a:gd name="T21" fmla="*/ 23 h 44"/>
                  <a:gd name="T22" fmla="*/ 91 w 123"/>
                  <a:gd name="T23" fmla="*/ 33 h 44"/>
                  <a:gd name="T24" fmla="*/ 96 w 123"/>
                  <a:gd name="T25" fmla="*/ 33 h 44"/>
                  <a:gd name="T26" fmla="*/ 102 w 123"/>
                  <a:gd name="T27" fmla="*/ 38 h 44"/>
                  <a:gd name="T28" fmla="*/ 116 w 123"/>
                  <a:gd name="T29" fmla="*/ 43 h 44"/>
                  <a:gd name="T30" fmla="*/ 122 w 123"/>
                  <a:gd name="T31" fmla="*/ 43 h 4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23"/>
                  <a:gd name="T49" fmla="*/ 0 h 44"/>
                  <a:gd name="T50" fmla="*/ 123 w 123"/>
                  <a:gd name="T51" fmla="*/ 44 h 4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23" h="44">
                    <a:moveTo>
                      <a:pt x="0" y="0"/>
                    </a:moveTo>
                    <a:lnTo>
                      <a:pt x="6" y="3"/>
                    </a:lnTo>
                    <a:lnTo>
                      <a:pt x="11" y="8"/>
                    </a:lnTo>
                    <a:lnTo>
                      <a:pt x="17" y="13"/>
                    </a:lnTo>
                    <a:lnTo>
                      <a:pt x="23" y="13"/>
                    </a:lnTo>
                    <a:lnTo>
                      <a:pt x="28" y="15"/>
                    </a:lnTo>
                    <a:lnTo>
                      <a:pt x="34" y="15"/>
                    </a:lnTo>
                    <a:lnTo>
                      <a:pt x="40" y="15"/>
                    </a:lnTo>
                    <a:lnTo>
                      <a:pt x="68" y="23"/>
                    </a:lnTo>
                    <a:lnTo>
                      <a:pt x="79" y="23"/>
                    </a:lnTo>
                    <a:lnTo>
                      <a:pt x="91" y="23"/>
                    </a:lnTo>
                    <a:lnTo>
                      <a:pt x="91" y="33"/>
                    </a:lnTo>
                    <a:lnTo>
                      <a:pt x="96" y="33"/>
                    </a:lnTo>
                    <a:lnTo>
                      <a:pt x="102" y="38"/>
                    </a:lnTo>
                    <a:lnTo>
                      <a:pt x="116" y="43"/>
                    </a:lnTo>
                    <a:lnTo>
                      <a:pt x="122" y="43"/>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55" name="Freeform 216"/>
              <p:cNvSpPr>
                <a:spLocks/>
              </p:cNvSpPr>
              <p:nvPr/>
            </p:nvSpPr>
            <p:spPr bwMode="auto">
              <a:xfrm>
                <a:off x="1856" y="2799"/>
                <a:ext cx="116" cy="51"/>
              </a:xfrm>
              <a:custGeom>
                <a:avLst/>
                <a:gdLst>
                  <a:gd name="T0" fmla="*/ 0 w 116"/>
                  <a:gd name="T1" fmla="*/ 50 h 51"/>
                  <a:gd name="T2" fmla="*/ 115 w 116"/>
                  <a:gd name="T3" fmla="*/ 25 h 51"/>
                  <a:gd name="T4" fmla="*/ 115 w 116"/>
                  <a:gd name="T5" fmla="*/ 20 h 51"/>
                  <a:gd name="T6" fmla="*/ 109 w 116"/>
                  <a:gd name="T7" fmla="*/ 18 h 51"/>
                  <a:gd name="T8" fmla="*/ 107 w 116"/>
                  <a:gd name="T9" fmla="*/ 10 h 51"/>
                  <a:gd name="T10" fmla="*/ 104 w 116"/>
                  <a:gd name="T11" fmla="*/ 5 h 51"/>
                  <a:gd name="T12" fmla="*/ 101 w 116"/>
                  <a:gd name="T13" fmla="*/ 0 h 51"/>
                  <a:gd name="T14" fmla="*/ 0 60000 65536"/>
                  <a:gd name="T15" fmla="*/ 0 60000 65536"/>
                  <a:gd name="T16" fmla="*/ 0 60000 65536"/>
                  <a:gd name="T17" fmla="*/ 0 60000 65536"/>
                  <a:gd name="T18" fmla="*/ 0 60000 65536"/>
                  <a:gd name="T19" fmla="*/ 0 60000 65536"/>
                  <a:gd name="T20" fmla="*/ 0 60000 65536"/>
                  <a:gd name="T21" fmla="*/ 0 w 116"/>
                  <a:gd name="T22" fmla="*/ 0 h 51"/>
                  <a:gd name="T23" fmla="*/ 116 w 116"/>
                  <a:gd name="T24" fmla="*/ 51 h 5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6" h="51">
                    <a:moveTo>
                      <a:pt x="0" y="50"/>
                    </a:moveTo>
                    <a:lnTo>
                      <a:pt x="115" y="25"/>
                    </a:lnTo>
                    <a:lnTo>
                      <a:pt x="115" y="20"/>
                    </a:lnTo>
                    <a:lnTo>
                      <a:pt x="109" y="18"/>
                    </a:lnTo>
                    <a:lnTo>
                      <a:pt x="107" y="10"/>
                    </a:lnTo>
                    <a:lnTo>
                      <a:pt x="104" y="5"/>
                    </a:lnTo>
                    <a:lnTo>
                      <a:pt x="101"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56" name="Freeform 217"/>
              <p:cNvSpPr>
                <a:spLocks/>
              </p:cNvSpPr>
              <p:nvPr/>
            </p:nvSpPr>
            <p:spPr bwMode="auto">
              <a:xfrm>
                <a:off x="1874" y="2656"/>
                <a:ext cx="91" cy="49"/>
              </a:xfrm>
              <a:custGeom>
                <a:avLst/>
                <a:gdLst>
                  <a:gd name="T0" fmla="*/ 0 w 91"/>
                  <a:gd name="T1" fmla="*/ 0 h 49"/>
                  <a:gd name="T2" fmla="*/ 17 w 91"/>
                  <a:gd name="T3" fmla="*/ 3 h 49"/>
                  <a:gd name="T4" fmla="*/ 23 w 91"/>
                  <a:gd name="T5" fmla="*/ 3 h 49"/>
                  <a:gd name="T6" fmla="*/ 25 w 91"/>
                  <a:gd name="T7" fmla="*/ 8 h 49"/>
                  <a:gd name="T8" fmla="*/ 31 w 91"/>
                  <a:gd name="T9" fmla="*/ 13 h 49"/>
                  <a:gd name="T10" fmla="*/ 34 w 91"/>
                  <a:gd name="T11" fmla="*/ 18 h 49"/>
                  <a:gd name="T12" fmla="*/ 37 w 91"/>
                  <a:gd name="T13" fmla="*/ 23 h 49"/>
                  <a:gd name="T14" fmla="*/ 45 w 91"/>
                  <a:gd name="T15" fmla="*/ 28 h 49"/>
                  <a:gd name="T16" fmla="*/ 56 w 91"/>
                  <a:gd name="T17" fmla="*/ 33 h 49"/>
                  <a:gd name="T18" fmla="*/ 68 w 91"/>
                  <a:gd name="T19" fmla="*/ 38 h 49"/>
                  <a:gd name="T20" fmla="*/ 79 w 91"/>
                  <a:gd name="T21" fmla="*/ 48 h 49"/>
                  <a:gd name="T22" fmla="*/ 84 w 91"/>
                  <a:gd name="T23" fmla="*/ 48 h 49"/>
                  <a:gd name="T24" fmla="*/ 90 w 91"/>
                  <a:gd name="T25" fmla="*/ 48 h 49"/>
                  <a:gd name="T26" fmla="*/ 87 w 91"/>
                  <a:gd name="T27" fmla="*/ 48 h 4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1"/>
                  <a:gd name="T43" fmla="*/ 0 h 49"/>
                  <a:gd name="T44" fmla="*/ 91 w 91"/>
                  <a:gd name="T45" fmla="*/ 49 h 4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1" h="49">
                    <a:moveTo>
                      <a:pt x="0" y="0"/>
                    </a:moveTo>
                    <a:lnTo>
                      <a:pt x="17" y="3"/>
                    </a:lnTo>
                    <a:lnTo>
                      <a:pt x="23" y="3"/>
                    </a:lnTo>
                    <a:lnTo>
                      <a:pt x="25" y="8"/>
                    </a:lnTo>
                    <a:lnTo>
                      <a:pt x="31" y="13"/>
                    </a:lnTo>
                    <a:lnTo>
                      <a:pt x="34" y="18"/>
                    </a:lnTo>
                    <a:lnTo>
                      <a:pt x="37" y="23"/>
                    </a:lnTo>
                    <a:lnTo>
                      <a:pt x="45" y="28"/>
                    </a:lnTo>
                    <a:lnTo>
                      <a:pt x="56" y="33"/>
                    </a:lnTo>
                    <a:lnTo>
                      <a:pt x="68" y="38"/>
                    </a:lnTo>
                    <a:lnTo>
                      <a:pt x="79" y="48"/>
                    </a:lnTo>
                    <a:lnTo>
                      <a:pt x="84" y="48"/>
                    </a:lnTo>
                    <a:lnTo>
                      <a:pt x="90" y="48"/>
                    </a:lnTo>
                    <a:lnTo>
                      <a:pt x="87" y="48"/>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57" name="Freeform 218"/>
              <p:cNvSpPr>
                <a:spLocks/>
              </p:cNvSpPr>
              <p:nvPr/>
            </p:nvSpPr>
            <p:spPr bwMode="auto">
              <a:xfrm>
                <a:off x="1932" y="2726"/>
                <a:ext cx="78" cy="41"/>
              </a:xfrm>
              <a:custGeom>
                <a:avLst/>
                <a:gdLst>
                  <a:gd name="T0" fmla="*/ 0 w 78"/>
                  <a:gd name="T1" fmla="*/ 40 h 41"/>
                  <a:gd name="T2" fmla="*/ 34 w 78"/>
                  <a:gd name="T3" fmla="*/ 23 h 41"/>
                  <a:gd name="T4" fmla="*/ 40 w 78"/>
                  <a:gd name="T5" fmla="*/ 23 h 41"/>
                  <a:gd name="T6" fmla="*/ 46 w 78"/>
                  <a:gd name="T7" fmla="*/ 23 h 41"/>
                  <a:gd name="T8" fmla="*/ 51 w 78"/>
                  <a:gd name="T9" fmla="*/ 23 h 41"/>
                  <a:gd name="T10" fmla="*/ 57 w 78"/>
                  <a:gd name="T11" fmla="*/ 23 h 41"/>
                  <a:gd name="T12" fmla="*/ 63 w 78"/>
                  <a:gd name="T13" fmla="*/ 20 h 41"/>
                  <a:gd name="T14" fmla="*/ 68 w 78"/>
                  <a:gd name="T15" fmla="*/ 15 h 41"/>
                  <a:gd name="T16" fmla="*/ 71 w 78"/>
                  <a:gd name="T17" fmla="*/ 10 h 41"/>
                  <a:gd name="T18" fmla="*/ 74 w 78"/>
                  <a:gd name="T19" fmla="*/ 5 h 41"/>
                  <a:gd name="T20" fmla="*/ 77 w 78"/>
                  <a:gd name="T21" fmla="*/ 0 h 4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8"/>
                  <a:gd name="T34" fmla="*/ 0 h 41"/>
                  <a:gd name="T35" fmla="*/ 78 w 78"/>
                  <a:gd name="T36" fmla="*/ 41 h 4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8" h="41">
                    <a:moveTo>
                      <a:pt x="0" y="40"/>
                    </a:moveTo>
                    <a:lnTo>
                      <a:pt x="34" y="23"/>
                    </a:lnTo>
                    <a:lnTo>
                      <a:pt x="40" y="23"/>
                    </a:lnTo>
                    <a:lnTo>
                      <a:pt x="46" y="23"/>
                    </a:lnTo>
                    <a:lnTo>
                      <a:pt x="51" y="23"/>
                    </a:lnTo>
                    <a:lnTo>
                      <a:pt x="57" y="23"/>
                    </a:lnTo>
                    <a:lnTo>
                      <a:pt x="63" y="20"/>
                    </a:lnTo>
                    <a:lnTo>
                      <a:pt x="68" y="15"/>
                    </a:lnTo>
                    <a:lnTo>
                      <a:pt x="71" y="10"/>
                    </a:lnTo>
                    <a:lnTo>
                      <a:pt x="74" y="5"/>
                    </a:lnTo>
                    <a:lnTo>
                      <a:pt x="77"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58" name="Freeform 219"/>
              <p:cNvSpPr>
                <a:spLocks/>
              </p:cNvSpPr>
              <p:nvPr/>
            </p:nvSpPr>
            <p:spPr bwMode="auto">
              <a:xfrm>
                <a:off x="1986" y="2799"/>
                <a:ext cx="96" cy="78"/>
              </a:xfrm>
              <a:custGeom>
                <a:avLst/>
                <a:gdLst>
                  <a:gd name="T0" fmla="*/ 0 w 96"/>
                  <a:gd name="T1" fmla="*/ 0 h 78"/>
                  <a:gd name="T2" fmla="*/ 8 w 96"/>
                  <a:gd name="T3" fmla="*/ 2 h 78"/>
                  <a:gd name="T4" fmla="*/ 14 w 96"/>
                  <a:gd name="T5" fmla="*/ 7 h 78"/>
                  <a:gd name="T6" fmla="*/ 22 w 96"/>
                  <a:gd name="T7" fmla="*/ 30 h 78"/>
                  <a:gd name="T8" fmla="*/ 34 w 96"/>
                  <a:gd name="T9" fmla="*/ 40 h 78"/>
                  <a:gd name="T10" fmla="*/ 34 w 96"/>
                  <a:gd name="T11" fmla="*/ 50 h 78"/>
                  <a:gd name="T12" fmla="*/ 45 w 96"/>
                  <a:gd name="T13" fmla="*/ 60 h 78"/>
                  <a:gd name="T14" fmla="*/ 50 w 96"/>
                  <a:gd name="T15" fmla="*/ 70 h 78"/>
                  <a:gd name="T16" fmla="*/ 53 w 96"/>
                  <a:gd name="T17" fmla="*/ 75 h 78"/>
                  <a:gd name="T18" fmla="*/ 59 w 96"/>
                  <a:gd name="T19" fmla="*/ 77 h 78"/>
                  <a:gd name="T20" fmla="*/ 64 w 96"/>
                  <a:gd name="T21" fmla="*/ 75 h 78"/>
                  <a:gd name="T22" fmla="*/ 70 w 96"/>
                  <a:gd name="T23" fmla="*/ 75 h 78"/>
                  <a:gd name="T24" fmla="*/ 73 w 96"/>
                  <a:gd name="T25" fmla="*/ 70 h 78"/>
                  <a:gd name="T26" fmla="*/ 75 w 96"/>
                  <a:gd name="T27" fmla="*/ 65 h 78"/>
                  <a:gd name="T28" fmla="*/ 81 w 96"/>
                  <a:gd name="T29" fmla="*/ 62 h 78"/>
                  <a:gd name="T30" fmla="*/ 87 w 96"/>
                  <a:gd name="T31" fmla="*/ 60 h 78"/>
                  <a:gd name="T32" fmla="*/ 89 w 96"/>
                  <a:gd name="T33" fmla="*/ 55 h 78"/>
                  <a:gd name="T34" fmla="*/ 95 w 96"/>
                  <a:gd name="T35" fmla="*/ 50 h 78"/>
                  <a:gd name="T36" fmla="*/ 95 w 96"/>
                  <a:gd name="T37" fmla="*/ 45 h 7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6"/>
                  <a:gd name="T58" fmla="*/ 0 h 78"/>
                  <a:gd name="T59" fmla="*/ 96 w 96"/>
                  <a:gd name="T60" fmla="*/ 78 h 7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6" h="78">
                    <a:moveTo>
                      <a:pt x="0" y="0"/>
                    </a:moveTo>
                    <a:lnTo>
                      <a:pt x="8" y="2"/>
                    </a:lnTo>
                    <a:lnTo>
                      <a:pt x="14" y="7"/>
                    </a:lnTo>
                    <a:lnTo>
                      <a:pt x="22" y="30"/>
                    </a:lnTo>
                    <a:lnTo>
                      <a:pt x="34" y="40"/>
                    </a:lnTo>
                    <a:lnTo>
                      <a:pt x="34" y="50"/>
                    </a:lnTo>
                    <a:lnTo>
                      <a:pt x="45" y="60"/>
                    </a:lnTo>
                    <a:lnTo>
                      <a:pt x="50" y="70"/>
                    </a:lnTo>
                    <a:lnTo>
                      <a:pt x="53" y="75"/>
                    </a:lnTo>
                    <a:lnTo>
                      <a:pt x="59" y="77"/>
                    </a:lnTo>
                    <a:lnTo>
                      <a:pt x="64" y="75"/>
                    </a:lnTo>
                    <a:lnTo>
                      <a:pt x="70" y="75"/>
                    </a:lnTo>
                    <a:lnTo>
                      <a:pt x="73" y="70"/>
                    </a:lnTo>
                    <a:lnTo>
                      <a:pt x="75" y="65"/>
                    </a:lnTo>
                    <a:lnTo>
                      <a:pt x="81" y="62"/>
                    </a:lnTo>
                    <a:lnTo>
                      <a:pt x="87" y="60"/>
                    </a:lnTo>
                    <a:lnTo>
                      <a:pt x="89" y="55"/>
                    </a:lnTo>
                    <a:lnTo>
                      <a:pt x="95" y="50"/>
                    </a:lnTo>
                    <a:lnTo>
                      <a:pt x="95" y="45"/>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59" name="Freeform 220"/>
              <p:cNvSpPr>
                <a:spLocks/>
              </p:cNvSpPr>
              <p:nvPr/>
            </p:nvSpPr>
            <p:spPr bwMode="auto">
              <a:xfrm>
                <a:off x="2005" y="2776"/>
                <a:ext cx="97" cy="49"/>
              </a:xfrm>
              <a:custGeom>
                <a:avLst/>
                <a:gdLst>
                  <a:gd name="T0" fmla="*/ 0 w 97"/>
                  <a:gd name="T1" fmla="*/ 3 h 49"/>
                  <a:gd name="T2" fmla="*/ 6 w 97"/>
                  <a:gd name="T3" fmla="*/ 3 h 49"/>
                  <a:gd name="T4" fmla="*/ 11 w 97"/>
                  <a:gd name="T5" fmla="*/ 0 h 49"/>
                  <a:gd name="T6" fmla="*/ 17 w 97"/>
                  <a:gd name="T7" fmla="*/ 0 h 49"/>
                  <a:gd name="T8" fmla="*/ 23 w 97"/>
                  <a:gd name="T9" fmla="*/ 3 h 49"/>
                  <a:gd name="T10" fmla="*/ 28 w 97"/>
                  <a:gd name="T11" fmla="*/ 10 h 49"/>
                  <a:gd name="T12" fmla="*/ 40 w 97"/>
                  <a:gd name="T13" fmla="*/ 20 h 49"/>
                  <a:gd name="T14" fmla="*/ 51 w 97"/>
                  <a:gd name="T15" fmla="*/ 25 h 49"/>
                  <a:gd name="T16" fmla="*/ 51 w 97"/>
                  <a:gd name="T17" fmla="*/ 35 h 49"/>
                  <a:gd name="T18" fmla="*/ 62 w 97"/>
                  <a:gd name="T19" fmla="*/ 45 h 49"/>
                  <a:gd name="T20" fmla="*/ 68 w 97"/>
                  <a:gd name="T21" fmla="*/ 45 h 49"/>
                  <a:gd name="T22" fmla="*/ 73 w 97"/>
                  <a:gd name="T23" fmla="*/ 45 h 49"/>
                  <a:gd name="T24" fmla="*/ 79 w 97"/>
                  <a:gd name="T25" fmla="*/ 45 h 49"/>
                  <a:gd name="T26" fmla="*/ 85 w 97"/>
                  <a:gd name="T27" fmla="*/ 45 h 49"/>
                  <a:gd name="T28" fmla="*/ 90 w 97"/>
                  <a:gd name="T29" fmla="*/ 45 h 49"/>
                  <a:gd name="T30" fmla="*/ 96 w 97"/>
                  <a:gd name="T31" fmla="*/ 48 h 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7"/>
                  <a:gd name="T49" fmla="*/ 0 h 49"/>
                  <a:gd name="T50" fmla="*/ 97 w 97"/>
                  <a:gd name="T51" fmla="*/ 49 h 4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7" h="49">
                    <a:moveTo>
                      <a:pt x="0" y="3"/>
                    </a:moveTo>
                    <a:lnTo>
                      <a:pt x="6" y="3"/>
                    </a:lnTo>
                    <a:lnTo>
                      <a:pt x="11" y="0"/>
                    </a:lnTo>
                    <a:lnTo>
                      <a:pt x="17" y="0"/>
                    </a:lnTo>
                    <a:lnTo>
                      <a:pt x="23" y="3"/>
                    </a:lnTo>
                    <a:lnTo>
                      <a:pt x="28" y="10"/>
                    </a:lnTo>
                    <a:lnTo>
                      <a:pt x="40" y="20"/>
                    </a:lnTo>
                    <a:lnTo>
                      <a:pt x="51" y="25"/>
                    </a:lnTo>
                    <a:lnTo>
                      <a:pt x="51" y="35"/>
                    </a:lnTo>
                    <a:lnTo>
                      <a:pt x="62" y="45"/>
                    </a:lnTo>
                    <a:lnTo>
                      <a:pt x="68" y="45"/>
                    </a:lnTo>
                    <a:lnTo>
                      <a:pt x="73" y="45"/>
                    </a:lnTo>
                    <a:lnTo>
                      <a:pt x="79" y="45"/>
                    </a:lnTo>
                    <a:lnTo>
                      <a:pt x="85" y="45"/>
                    </a:lnTo>
                    <a:lnTo>
                      <a:pt x="90" y="45"/>
                    </a:lnTo>
                    <a:lnTo>
                      <a:pt x="96" y="48"/>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60" name="Freeform 221"/>
              <p:cNvSpPr>
                <a:spLocks/>
              </p:cNvSpPr>
              <p:nvPr/>
            </p:nvSpPr>
            <p:spPr bwMode="auto">
              <a:xfrm>
                <a:off x="1958" y="2714"/>
                <a:ext cx="149" cy="36"/>
              </a:xfrm>
              <a:custGeom>
                <a:avLst/>
                <a:gdLst>
                  <a:gd name="T0" fmla="*/ 0 w 149"/>
                  <a:gd name="T1" fmla="*/ 35 h 36"/>
                  <a:gd name="T2" fmla="*/ 6 w 149"/>
                  <a:gd name="T3" fmla="*/ 30 h 36"/>
                  <a:gd name="T4" fmla="*/ 8 w 149"/>
                  <a:gd name="T5" fmla="*/ 25 h 36"/>
                  <a:gd name="T6" fmla="*/ 25 w 149"/>
                  <a:gd name="T7" fmla="*/ 10 h 36"/>
                  <a:gd name="T8" fmla="*/ 50 w 149"/>
                  <a:gd name="T9" fmla="*/ 0 h 36"/>
                  <a:gd name="T10" fmla="*/ 61 w 149"/>
                  <a:gd name="T11" fmla="*/ 0 h 36"/>
                  <a:gd name="T12" fmla="*/ 106 w 149"/>
                  <a:gd name="T13" fmla="*/ 0 h 36"/>
                  <a:gd name="T14" fmla="*/ 131 w 149"/>
                  <a:gd name="T15" fmla="*/ 0 h 36"/>
                  <a:gd name="T16" fmla="*/ 142 w 149"/>
                  <a:gd name="T17" fmla="*/ 0 h 36"/>
                  <a:gd name="T18" fmla="*/ 148 w 149"/>
                  <a:gd name="T19" fmla="*/ 0 h 3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9"/>
                  <a:gd name="T31" fmla="*/ 0 h 36"/>
                  <a:gd name="T32" fmla="*/ 149 w 149"/>
                  <a:gd name="T33" fmla="*/ 36 h 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9" h="36">
                    <a:moveTo>
                      <a:pt x="0" y="35"/>
                    </a:moveTo>
                    <a:lnTo>
                      <a:pt x="6" y="30"/>
                    </a:lnTo>
                    <a:lnTo>
                      <a:pt x="8" y="25"/>
                    </a:lnTo>
                    <a:lnTo>
                      <a:pt x="25" y="10"/>
                    </a:lnTo>
                    <a:lnTo>
                      <a:pt x="50" y="0"/>
                    </a:lnTo>
                    <a:lnTo>
                      <a:pt x="61" y="0"/>
                    </a:lnTo>
                    <a:lnTo>
                      <a:pt x="106" y="0"/>
                    </a:lnTo>
                    <a:lnTo>
                      <a:pt x="131" y="0"/>
                    </a:lnTo>
                    <a:lnTo>
                      <a:pt x="142" y="0"/>
                    </a:lnTo>
                    <a:lnTo>
                      <a:pt x="148"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61" name="Freeform 222"/>
              <p:cNvSpPr>
                <a:spLocks/>
              </p:cNvSpPr>
              <p:nvPr/>
            </p:nvSpPr>
            <p:spPr bwMode="auto">
              <a:xfrm>
                <a:off x="2067" y="2654"/>
                <a:ext cx="46" cy="101"/>
              </a:xfrm>
              <a:custGeom>
                <a:avLst/>
                <a:gdLst>
                  <a:gd name="T0" fmla="*/ 0 w 46"/>
                  <a:gd name="T1" fmla="*/ 0 h 101"/>
                  <a:gd name="T2" fmla="*/ 11 w 46"/>
                  <a:gd name="T3" fmla="*/ 8 h 101"/>
                  <a:gd name="T4" fmla="*/ 17 w 46"/>
                  <a:gd name="T5" fmla="*/ 13 h 101"/>
                  <a:gd name="T6" fmla="*/ 17 w 46"/>
                  <a:gd name="T7" fmla="*/ 18 h 101"/>
                  <a:gd name="T8" fmla="*/ 14 w 46"/>
                  <a:gd name="T9" fmla="*/ 23 h 101"/>
                  <a:gd name="T10" fmla="*/ 14 w 46"/>
                  <a:gd name="T11" fmla="*/ 28 h 101"/>
                  <a:gd name="T12" fmla="*/ 11 w 46"/>
                  <a:gd name="T13" fmla="*/ 33 h 101"/>
                  <a:gd name="T14" fmla="*/ 11 w 46"/>
                  <a:gd name="T15" fmla="*/ 38 h 101"/>
                  <a:gd name="T16" fmla="*/ 11 w 46"/>
                  <a:gd name="T17" fmla="*/ 43 h 101"/>
                  <a:gd name="T18" fmla="*/ 17 w 46"/>
                  <a:gd name="T19" fmla="*/ 53 h 101"/>
                  <a:gd name="T20" fmla="*/ 28 w 46"/>
                  <a:gd name="T21" fmla="*/ 63 h 101"/>
                  <a:gd name="T22" fmla="*/ 34 w 46"/>
                  <a:gd name="T23" fmla="*/ 68 h 101"/>
                  <a:gd name="T24" fmla="*/ 39 w 46"/>
                  <a:gd name="T25" fmla="*/ 70 h 101"/>
                  <a:gd name="T26" fmla="*/ 42 w 46"/>
                  <a:gd name="T27" fmla="*/ 75 h 101"/>
                  <a:gd name="T28" fmla="*/ 45 w 46"/>
                  <a:gd name="T29" fmla="*/ 80 h 101"/>
                  <a:gd name="T30" fmla="*/ 45 w 46"/>
                  <a:gd name="T31" fmla="*/ 85 h 101"/>
                  <a:gd name="T32" fmla="*/ 45 w 46"/>
                  <a:gd name="T33" fmla="*/ 90 h 101"/>
                  <a:gd name="T34" fmla="*/ 45 w 46"/>
                  <a:gd name="T35" fmla="*/ 95 h 101"/>
                  <a:gd name="T36" fmla="*/ 45 w 46"/>
                  <a:gd name="T37" fmla="*/ 100 h 101"/>
                  <a:gd name="T38" fmla="*/ 45 w 46"/>
                  <a:gd name="T39" fmla="*/ 98 h 10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6"/>
                  <a:gd name="T61" fmla="*/ 0 h 101"/>
                  <a:gd name="T62" fmla="*/ 46 w 46"/>
                  <a:gd name="T63" fmla="*/ 101 h 10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6" h="101">
                    <a:moveTo>
                      <a:pt x="0" y="0"/>
                    </a:moveTo>
                    <a:lnTo>
                      <a:pt x="11" y="8"/>
                    </a:lnTo>
                    <a:lnTo>
                      <a:pt x="17" y="13"/>
                    </a:lnTo>
                    <a:lnTo>
                      <a:pt x="17" y="18"/>
                    </a:lnTo>
                    <a:lnTo>
                      <a:pt x="14" y="23"/>
                    </a:lnTo>
                    <a:lnTo>
                      <a:pt x="14" y="28"/>
                    </a:lnTo>
                    <a:lnTo>
                      <a:pt x="11" y="33"/>
                    </a:lnTo>
                    <a:lnTo>
                      <a:pt x="11" y="38"/>
                    </a:lnTo>
                    <a:lnTo>
                      <a:pt x="11" y="43"/>
                    </a:lnTo>
                    <a:lnTo>
                      <a:pt x="17" y="53"/>
                    </a:lnTo>
                    <a:lnTo>
                      <a:pt x="28" y="63"/>
                    </a:lnTo>
                    <a:lnTo>
                      <a:pt x="34" y="68"/>
                    </a:lnTo>
                    <a:lnTo>
                      <a:pt x="39" y="70"/>
                    </a:lnTo>
                    <a:lnTo>
                      <a:pt x="42" y="75"/>
                    </a:lnTo>
                    <a:lnTo>
                      <a:pt x="45" y="80"/>
                    </a:lnTo>
                    <a:lnTo>
                      <a:pt x="45" y="85"/>
                    </a:lnTo>
                    <a:lnTo>
                      <a:pt x="45" y="90"/>
                    </a:lnTo>
                    <a:lnTo>
                      <a:pt x="45" y="95"/>
                    </a:lnTo>
                    <a:lnTo>
                      <a:pt x="45" y="100"/>
                    </a:lnTo>
                    <a:lnTo>
                      <a:pt x="45" y="98"/>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62" name="Freeform 223"/>
              <p:cNvSpPr>
                <a:spLocks/>
              </p:cNvSpPr>
              <p:nvPr/>
            </p:nvSpPr>
            <p:spPr bwMode="auto">
              <a:xfrm>
                <a:off x="2036" y="2691"/>
                <a:ext cx="88" cy="66"/>
              </a:xfrm>
              <a:custGeom>
                <a:avLst/>
                <a:gdLst>
                  <a:gd name="T0" fmla="*/ 87 w 88"/>
                  <a:gd name="T1" fmla="*/ 0 h 66"/>
                  <a:gd name="T2" fmla="*/ 59 w 88"/>
                  <a:gd name="T3" fmla="*/ 23 h 66"/>
                  <a:gd name="T4" fmla="*/ 56 w 88"/>
                  <a:gd name="T5" fmla="*/ 28 h 66"/>
                  <a:gd name="T6" fmla="*/ 51 w 88"/>
                  <a:gd name="T7" fmla="*/ 33 h 66"/>
                  <a:gd name="T8" fmla="*/ 45 w 88"/>
                  <a:gd name="T9" fmla="*/ 38 h 66"/>
                  <a:gd name="T10" fmla="*/ 42 w 88"/>
                  <a:gd name="T11" fmla="*/ 43 h 66"/>
                  <a:gd name="T12" fmla="*/ 36 w 88"/>
                  <a:gd name="T13" fmla="*/ 43 h 66"/>
                  <a:gd name="T14" fmla="*/ 31 w 88"/>
                  <a:gd name="T15" fmla="*/ 48 h 66"/>
                  <a:gd name="T16" fmla="*/ 25 w 88"/>
                  <a:gd name="T17" fmla="*/ 53 h 66"/>
                  <a:gd name="T18" fmla="*/ 11 w 88"/>
                  <a:gd name="T19" fmla="*/ 55 h 66"/>
                  <a:gd name="T20" fmla="*/ 11 w 88"/>
                  <a:gd name="T21" fmla="*/ 65 h 66"/>
                  <a:gd name="T22" fmla="*/ 6 w 88"/>
                  <a:gd name="T23" fmla="*/ 65 h 66"/>
                  <a:gd name="T24" fmla="*/ 0 w 88"/>
                  <a:gd name="T25" fmla="*/ 65 h 66"/>
                  <a:gd name="T26" fmla="*/ 6 w 88"/>
                  <a:gd name="T27" fmla="*/ 63 h 6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8"/>
                  <a:gd name="T43" fmla="*/ 0 h 66"/>
                  <a:gd name="T44" fmla="*/ 88 w 88"/>
                  <a:gd name="T45" fmla="*/ 66 h 6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8" h="66">
                    <a:moveTo>
                      <a:pt x="87" y="0"/>
                    </a:moveTo>
                    <a:lnTo>
                      <a:pt x="59" y="23"/>
                    </a:lnTo>
                    <a:lnTo>
                      <a:pt x="56" y="28"/>
                    </a:lnTo>
                    <a:lnTo>
                      <a:pt x="51" y="33"/>
                    </a:lnTo>
                    <a:lnTo>
                      <a:pt x="45" y="38"/>
                    </a:lnTo>
                    <a:lnTo>
                      <a:pt x="42" y="43"/>
                    </a:lnTo>
                    <a:lnTo>
                      <a:pt x="36" y="43"/>
                    </a:lnTo>
                    <a:lnTo>
                      <a:pt x="31" y="48"/>
                    </a:lnTo>
                    <a:lnTo>
                      <a:pt x="25" y="53"/>
                    </a:lnTo>
                    <a:lnTo>
                      <a:pt x="11" y="55"/>
                    </a:lnTo>
                    <a:lnTo>
                      <a:pt x="11" y="65"/>
                    </a:lnTo>
                    <a:lnTo>
                      <a:pt x="6" y="65"/>
                    </a:lnTo>
                    <a:lnTo>
                      <a:pt x="0" y="65"/>
                    </a:lnTo>
                    <a:lnTo>
                      <a:pt x="6" y="63"/>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63" name="Freeform 224"/>
              <p:cNvSpPr>
                <a:spLocks/>
              </p:cNvSpPr>
              <p:nvPr/>
            </p:nvSpPr>
            <p:spPr bwMode="auto">
              <a:xfrm>
                <a:off x="2115" y="2714"/>
                <a:ext cx="24" cy="88"/>
              </a:xfrm>
              <a:custGeom>
                <a:avLst/>
                <a:gdLst>
                  <a:gd name="T0" fmla="*/ 0 w 24"/>
                  <a:gd name="T1" fmla="*/ 87 h 88"/>
                  <a:gd name="T2" fmla="*/ 23 w 24"/>
                  <a:gd name="T3" fmla="*/ 60 h 88"/>
                  <a:gd name="T4" fmla="*/ 23 w 24"/>
                  <a:gd name="T5" fmla="*/ 55 h 88"/>
                  <a:gd name="T6" fmla="*/ 23 w 24"/>
                  <a:gd name="T7" fmla="*/ 50 h 88"/>
                  <a:gd name="T8" fmla="*/ 23 w 24"/>
                  <a:gd name="T9" fmla="*/ 45 h 88"/>
                  <a:gd name="T10" fmla="*/ 23 w 24"/>
                  <a:gd name="T11" fmla="*/ 40 h 88"/>
                  <a:gd name="T12" fmla="*/ 23 w 24"/>
                  <a:gd name="T13" fmla="*/ 35 h 88"/>
                  <a:gd name="T14" fmla="*/ 23 w 24"/>
                  <a:gd name="T15" fmla="*/ 30 h 88"/>
                  <a:gd name="T16" fmla="*/ 23 w 24"/>
                  <a:gd name="T17" fmla="*/ 25 h 88"/>
                  <a:gd name="T18" fmla="*/ 23 w 24"/>
                  <a:gd name="T19" fmla="*/ 20 h 88"/>
                  <a:gd name="T20" fmla="*/ 23 w 24"/>
                  <a:gd name="T21" fmla="*/ 15 h 88"/>
                  <a:gd name="T22" fmla="*/ 23 w 24"/>
                  <a:gd name="T23" fmla="*/ 10 h 88"/>
                  <a:gd name="T24" fmla="*/ 23 w 24"/>
                  <a:gd name="T25" fmla="*/ 5 h 88"/>
                  <a:gd name="T26" fmla="*/ 23 w 24"/>
                  <a:gd name="T27" fmla="*/ 0 h 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4"/>
                  <a:gd name="T43" fmla="*/ 0 h 88"/>
                  <a:gd name="T44" fmla="*/ 24 w 24"/>
                  <a:gd name="T45" fmla="*/ 88 h 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4" h="88">
                    <a:moveTo>
                      <a:pt x="0" y="87"/>
                    </a:moveTo>
                    <a:lnTo>
                      <a:pt x="23" y="60"/>
                    </a:lnTo>
                    <a:lnTo>
                      <a:pt x="23" y="55"/>
                    </a:lnTo>
                    <a:lnTo>
                      <a:pt x="23" y="50"/>
                    </a:lnTo>
                    <a:lnTo>
                      <a:pt x="23" y="45"/>
                    </a:lnTo>
                    <a:lnTo>
                      <a:pt x="23" y="40"/>
                    </a:lnTo>
                    <a:lnTo>
                      <a:pt x="23" y="35"/>
                    </a:lnTo>
                    <a:lnTo>
                      <a:pt x="23" y="30"/>
                    </a:lnTo>
                    <a:lnTo>
                      <a:pt x="23" y="25"/>
                    </a:lnTo>
                    <a:lnTo>
                      <a:pt x="23" y="20"/>
                    </a:lnTo>
                    <a:lnTo>
                      <a:pt x="23" y="15"/>
                    </a:lnTo>
                    <a:lnTo>
                      <a:pt x="23" y="10"/>
                    </a:lnTo>
                    <a:lnTo>
                      <a:pt x="23" y="5"/>
                    </a:lnTo>
                    <a:lnTo>
                      <a:pt x="23"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64" name="Freeform 225"/>
              <p:cNvSpPr>
                <a:spLocks/>
              </p:cNvSpPr>
              <p:nvPr/>
            </p:nvSpPr>
            <p:spPr bwMode="auto">
              <a:xfrm>
                <a:off x="2048" y="2826"/>
                <a:ext cx="126" cy="19"/>
              </a:xfrm>
              <a:custGeom>
                <a:avLst/>
                <a:gdLst>
                  <a:gd name="T0" fmla="*/ 0 w 126"/>
                  <a:gd name="T1" fmla="*/ 10 h 19"/>
                  <a:gd name="T2" fmla="*/ 36 w 126"/>
                  <a:gd name="T3" fmla="*/ 10 h 19"/>
                  <a:gd name="T4" fmla="*/ 42 w 126"/>
                  <a:gd name="T5" fmla="*/ 13 h 19"/>
                  <a:gd name="T6" fmla="*/ 47 w 126"/>
                  <a:gd name="T7" fmla="*/ 15 h 19"/>
                  <a:gd name="T8" fmla="*/ 61 w 126"/>
                  <a:gd name="T9" fmla="*/ 18 h 19"/>
                  <a:gd name="T10" fmla="*/ 72 w 126"/>
                  <a:gd name="T11" fmla="*/ 18 h 19"/>
                  <a:gd name="T12" fmla="*/ 86 w 126"/>
                  <a:gd name="T13" fmla="*/ 13 h 19"/>
                  <a:gd name="T14" fmla="*/ 92 w 126"/>
                  <a:gd name="T15" fmla="*/ 13 h 19"/>
                  <a:gd name="T16" fmla="*/ 103 w 126"/>
                  <a:gd name="T17" fmla="*/ 8 h 19"/>
                  <a:gd name="T18" fmla="*/ 114 w 126"/>
                  <a:gd name="T19" fmla="*/ 8 h 19"/>
                  <a:gd name="T20" fmla="*/ 119 w 126"/>
                  <a:gd name="T21" fmla="*/ 5 h 19"/>
                  <a:gd name="T22" fmla="*/ 125 w 126"/>
                  <a:gd name="T23" fmla="*/ 0 h 1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6"/>
                  <a:gd name="T37" fmla="*/ 0 h 19"/>
                  <a:gd name="T38" fmla="*/ 126 w 126"/>
                  <a:gd name="T39" fmla="*/ 19 h 1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6" h="19">
                    <a:moveTo>
                      <a:pt x="0" y="10"/>
                    </a:moveTo>
                    <a:lnTo>
                      <a:pt x="36" y="10"/>
                    </a:lnTo>
                    <a:lnTo>
                      <a:pt x="42" y="13"/>
                    </a:lnTo>
                    <a:lnTo>
                      <a:pt x="47" y="15"/>
                    </a:lnTo>
                    <a:lnTo>
                      <a:pt x="61" y="18"/>
                    </a:lnTo>
                    <a:lnTo>
                      <a:pt x="72" y="18"/>
                    </a:lnTo>
                    <a:lnTo>
                      <a:pt x="86" y="13"/>
                    </a:lnTo>
                    <a:lnTo>
                      <a:pt x="92" y="13"/>
                    </a:lnTo>
                    <a:lnTo>
                      <a:pt x="103" y="8"/>
                    </a:lnTo>
                    <a:lnTo>
                      <a:pt x="114" y="8"/>
                    </a:lnTo>
                    <a:lnTo>
                      <a:pt x="119" y="5"/>
                    </a:lnTo>
                    <a:lnTo>
                      <a:pt x="125"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65" name="Freeform 226"/>
              <p:cNvSpPr>
                <a:spLocks/>
              </p:cNvSpPr>
              <p:nvPr/>
            </p:nvSpPr>
            <p:spPr bwMode="auto">
              <a:xfrm>
                <a:off x="1823" y="2651"/>
                <a:ext cx="91" cy="91"/>
              </a:xfrm>
              <a:custGeom>
                <a:avLst/>
                <a:gdLst>
                  <a:gd name="T0" fmla="*/ 0 w 91"/>
                  <a:gd name="T1" fmla="*/ 0 h 91"/>
                  <a:gd name="T2" fmla="*/ 34 w 91"/>
                  <a:gd name="T3" fmla="*/ 25 h 91"/>
                  <a:gd name="T4" fmla="*/ 37 w 91"/>
                  <a:gd name="T5" fmla="*/ 58 h 91"/>
                  <a:gd name="T6" fmla="*/ 42 w 91"/>
                  <a:gd name="T7" fmla="*/ 63 h 91"/>
                  <a:gd name="T8" fmla="*/ 45 w 91"/>
                  <a:gd name="T9" fmla="*/ 68 h 91"/>
                  <a:gd name="T10" fmla="*/ 51 w 91"/>
                  <a:gd name="T11" fmla="*/ 70 h 91"/>
                  <a:gd name="T12" fmla="*/ 56 w 91"/>
                  <a:gd name="T13" fmla="*/ 73 h 91"/>
                  <a:gd name="T14" fmla="*/ 62 w 91"/>
                  <a:gd name="T15" fmla="*/ 75 h 91"/>
                  <a:gd name="T16" fmla="*/ 73 w 91"/>
                  <a:gd name="T17" fmla="*/ 75 h 91"/>
                  <a:gd name="T18" fmla="*/ 84 w 91"/>
                  <a:gd name="T19" fmla="*/ 85 h 91"/>
                  <a:gd name="T20" fmla="*/ 90 w 91"/>
                  <a:gd name="T21" fmla="*/ 90 h 9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1"/>
                  <a:gd name="T34" fmla="*/ 0 h 91"/>
                  <a:gd name="T35" fmla="*/ 91 w 91"/>
                  <a:gd name="T36" fmla="*/ 91 h 9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1" h="91">
                    <a:moveTo>
                      <a:pt x="0" y="0"/>
                    </a:moveTo>
                    <a:lnTo>
                      <a:pt x="34" y="25"/>
                    </a:lnTo>
                    <a:lnTo>
                      <a:pt x="37" y="58"/>
                    </a:lnTo>
                    <a:lnTo>
                      <a:pt x="42" y="63"/>
                    </a:lnTo>
                    <a:lnTo>
                      <a:pt x="45" y="68"/>
                    </a:lnTo>
                    <a:lnTo>
                      <a:pt x="51" y="70"/>
                    </a:lnTo>
                    <a:lnTo>
                      <a:pt x="56" y="73"/>
                    </a:lnTo>
                    <a:lnTo>
                      <a:pt x="62" y="75"/>
                    </a:lnTo>
                    <a:lnTo>
                      <a:pt x="73" y="75"/>
                    </a:lnTo>
                    <a:lnTo>
                      <a:pt x="84" y="85"/>
                    </a:lnTo>
                    <a:lnTo>
                      <a:pt x="90" y="9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66" name="Freeform 227"/>
              <p:cNvSpPr>
                <a:spLocks/>
              </p:cNvSpPr>
              <p:nvPr/>
            </p:nvSpPr>
            <p:spPr bwMode="auto">
              <a:xfrm>
                <a:off x="1665" y="2629"/>
                <a:ext cx="52" cy="106"/>
              </a:xfrm>
              <a:custGeom>
                <a:avLst/>
                <a:gdLst>
                  <a:gd name="T0" fmla="*/ 0 w 52"/>
                  <a:gd name="T1" fmla="*/ 0 h 106"/>
                  <a:gd name="T2" fmla="*/ 31 w 52"/>
                  <a:gd name="T3" fmla="*/ 70 h 106"/>
                  <a:gd name="T4" fmla="*/ 34 w 52"/>
                  <a:gd name="T5" fmla="*/ 75 h 106"/>
                  <a:gd name="T6" fmla="*/ 37 w 52"/>
                  <a:gd name="T7" fmla="*/ 80 h 106"/>
                  <a:gd name="T8" fmla="*/ 37 w 52"/>
                  <a:gd name="T9" fmla="*/ 85 h 106"/>
                  <a:gd name="T10" fmla="*/ 37 w 52"/>
                  <a:gd name="T11" fmla="*/ 90 h 106"/>
                  <a:gd name="T12" fmla="*/ 37 w 52"/>
                  <a:gd name="T13" fmla="*/ 95 h 106"/>
                  <a:gd name="T14" fmla="*/ 40 w 52"/>
                  <a:gd name="T15" fmla="*/ 100 h 106"/>
                  <a:gd name="T16" fmla="*/ 45 w 52"/>
                  <a:gd name="T17" fmla="*/ 105 h 106"/>
                  <a:gd name="T18" fmla="*/ 51 w 52"/>
                  <a:gd name="T19" fmla="*/ 105 h 106"/>
                  <a:gd name="T20" fmla="*/ 48 w 52"/>
                  <a:gd name="T21" fmla="*/ 105 h 10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2"/>
                  <a:gd name="T34" fmla="*/ 0 h 106"/>
                  <a:gd name="T35" fmla="*/ 52 w 52"/>
                  <a:gd name="T36" fmla="*/ 106 h 10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2" h="106">
                    <a:moveTo>
                      <a:pt x="0" y="0"/>
                    </a:moveTo>
                    <a:lnTo>
                      <a:pt x="31" y="70"/>
                    </a:lnTo>
                    <a:lnTo>
                      <a:pt x="34" y="75"/>
                    </a:lnTo>
                    <a:lnTo>
                      <a:pt x="37" y="80"/>
                    </a:lnTo>
                    <a:lnTo>
                      <a:pt x="37" y="85"/>
                    </a:lnTo>
                    <a:lnTo>
                      <a:pt x="37" y="90"/>
                    </a:lnTo>
                    <a:lnTo>
                      <a:pt x="37" y="95"/>
                    </a:lnTo>
                    <a:lnTo>
                      <a:pt x="40" y="100"/>
                    </a:lnTo>
                    <a:lnTo>
                      <a:pt x="45" y="105"/>
                    </a:lnTo>
                    <a:lnTo>
                      <a:pt x="51" y="105"/>
                    </a:lnTo>
                    <a:lnTo>
                      <a:pt x="48" y="105"/>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67" name="Freeform 228"/>
              <p:cNvSpPr>
                <a:spLocks/>
              </p:cNvSpPr>
              <p:nvPr/>
            </p:nvSpPr>
            <p:spPr bwMode="auto">
              <a:xfrm>
                <a:off x="1964" y="2645"/>
                <a:ext cx="79" cy="72"/>
              </a:xfrm>
              <a:custGeom>
                <a:avLst/>
                <a:gdLst>
                  <a:gd name="T0" fmla="*/ 78 w 79"/>
                  <a:gd name="T1" fmla="*/ 0 h 72"/>
                  <a:gd name="T2" fmla="*/ 72 w 79"/>
                  <a:gd name="T3" fmla="*/ 3 h 72"/>
                  <a:gd name="T4" fmla="*/ 67 w 79"/>
                  <a:gd name="T5" fmla="*/ 5 h 72"/>
                  <a:gd name="T6" fmla="*/ 61 w 79"/>
                  <a:gd name="T7" fmla="*/ 8 h 72"/>
                  <a:gd name="T8" fmla="*/ 61 w 79"/>
                  <a:gd name="T9" fmla="*/ 13 h 72"/>
                  <a:gd name="T10" fmla="*/ 61 w 79"/>
                  <a:gd name="T11" fmla="*/ 18 h 72"/>
                  <a:gd name="T12" fmla="*/ 61 w 79"/>
                  <a:gd name="T13" fmla="*/ 23 h 72"/>
                  <a:gd name="T14" fmla="*/ 56 w 79"/>
                  <a:gd name="T15" fmla="*/ 36 h 72"/>
                  <a:gd name="T16" fmla="*/ 45 w 79"/>
                  <a:gd name="T17" fmla="*/ 36 h 72"/>
                  <a:gd name="T18" fmla="*/ 42 w 79"/>
                  <a:gd name="T19" fmla="*/ 41 h 72"/>
                  <a:gd name="T20" fmla="*/ 31 w 79"/>
                  <a:gd name="T21" fmla="*/ 46 h 72"/>
                  <a:gd name="T22" fmla="*/ 25 w 79"/>
                  <a:gd name="T23" fmla="*/ 48 h 72"/>
                  <a:gd name="T24" fmla="*/ 8 w 79"/>
                  <a:gd name="T25" fmla="*/ 63 h 72"/>
                  <a:gd name="T26" fmla="*/ 6 w 79"/>
                  <a:gd name="T27" fmla="*/ 68 h 72"/>
                  <a:gd name="T28" fmla="*/ 0 w 79"/>
                  <a:gd name="T29" fmla="*/ 71 h 7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9"/>
                  <a:gd name="T46" fmla="*/ 0 h 72"/>
                  <a:gd name="T47" fmla="*/ 79 w 79"/>
                  <a:gd name="T48" fmla="*/ 72 h 7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9" h="72">
                    <a:moveTo>
                      <a:pt x="78" y="0"/>
                    </a:moveTo>
                    <a:lnTo>
                      <a:pt x="72" y="3"/>
                    </a:lnTo>
                    <a:lnTo>
                      <a:pt x="67" y="5"/>
                    </a:lnTo>
                    <a:lnTo>
                      <a:pt x="61" y="8"/>
                    </a:lnTo>
                    <a:lnTo>
                      <a:pt x="61" y="13"/>
                    </a:lnTo>
                    <a:lnTo>
                      <a:pt x="61" y="18"/>
                    </a:lnTo>
                    <a:lnTo>
                      <a:pt x="61" y="23"/>
                    </a:lnTo>
                    <a:lnTo>
                      <a:pt x="56" y="36"/>
                    </a:lnTo>
                    <a:lnTo>
                      <a:pt x="45" y="36"/>
                    </a:lnTo>
                    <a:lnTo>
                      <a:pt x="42" y="41"/>
                    </a:lnTo>
                    <a:lnTo>
                      <a:pt x="31" y="46"/>
                    </a:lnTo>
                    <a:lnTo>
                      <a:pt x="25" y="48"/>
                    </a:lnTo>
                    <a:lnTo>
                      <a:pt x="8" y="63"/>
                    </a:lnTo>
                    <a:lnTo>
                      <a:pt x="6" y="68"/>
                    </a:lnTo>
                    <a:lnTo>
                      <a:pt x="0" y="71"/>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68" name="Freeform 229"/>
              <p:cNvSpPr>
                <a:spLocks/>
              </p:cNvSpPr>
              <p:nvPr/>
            </p:nvSpPr>
            <p:spPr bwMode="auto">
              <a:xfrm>
                <a:off x="1901" y="2809"/>
                <a:ext cx="105" cy="46"/>
              </a:xfrm>
              <a:custGeom>
                <a:avLst/>
                <a:gdLst>
                  <a:gd name="T0" fmla="*/ 0 w 105"/>
                  <a:gd name="T1" fmla="*/ 0 h 46"/>
                  <a:gd name="T2" fmla="*/ 42 w 105"/>
                  <a:gd name="T3" fmla="*/ 0 h 46"/>
                  <a:gd name="T4" fmla="*/ 48 w 105"/>
                  <a:gd name="T5" fmla="*/ 0 h 46"/>
                  <a:gd name="T6" fmla="*/ 53 w 105"/>
                  <a:gd name="T7" fmla="*/ 5 h 46"/>
                  <a:gd name="T8" fmla="*/ 56 w 105"/>
                  <a:gd name="T9" fmla="*/ 10 h 46"/>
                  <a:gd name="T10" fmla="*/ 62 w 105"/>
                  <a:gd name="T11" fmla="*/ 13 h 46"/>
                  <a:gd name="T12" fmla="*/ 65 w 105"/>
                  <a:gd name="T13" fmla="*/ 18 h 46"/>
                  <a:gd name="T14" fmla="*/ 70 w 105"/>
                  <a:gd name="T15" fmla="*/ 23 h 46"/>
                  <a:gd name="T16" fmla="*/ 73 w 105"/>
                  <a:gd name="T17" fmla="*/ 28 h 46"/>
                  <a:gd name="T18" fmla="*/ 76 w 105"/>
                  <a:gd name="T19" fmla="*/ 33 h 46"/>
                  <a:gd name="T20" fmla="*/ 82 w 105"/>
                  <a:gd name="T21" fmla="*/ 38 h 46"/>
                  <a:gd name="T22" fmla="*/ 87 w 105"/>
                  <a:gd name="T23" fmla="*/ 40 h 46"/>
                  <a:gd name="T24" fmla="*/ 93 w 105"/>
                  <a:gd name="T25" fmla="*/ 43 h 46"/>
                  <a:gd name="T26" fmla="*/ 98 w 105"/>
                  <a:gd name="T27" fmla="*/ 45 h 46"/>
                  <a:gd name="T28" fmla="*/ 104 w 105"/>
                  <a:gd name="T29" fmla="*/ 45 h 4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5"/>
                  <a:gd name="T46" fmla="*/ 0 h 46"/>
                  <a:gd name="T47" fmla="*/ 105 w 105"/>
                  <a:gd name="T48" fmla="*/ 46 h 4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5" h="46">
                    <a:moveTo>
                      <a:pt x="0" y="0"/>
                    </a:moveTo>
                    <a:lnTo>
                      <a:pt x="42" y="0"/>
                    </a:lnTo>
                    <a:lnTo>
                      <a:pt x="48" y="0"/>
                    </a:lnTo>
                    <a:lnTo>
                      <a:pt x="53" y="5"/>
                    </a:lnTo>
                    <a:lnTo>
                      <a:pt x="56" y="10"/>
                    </a:lnTo>
                    <a:lnTo>
                      <a:pt x="62" y="13"/>
                    </a:lnTo>
                    <a:lnTo>
                      <a:pt x="65" y="18"/>
                    </a:lnTo>
                    <a:lnTo>
                      <a:pt x="70" y="23"/>
                    </a:lnTo>
                    <a:lnTo>
                      <a:pt x="73" y="28"/>
                    </a:lnTo>
                    <a:lnTo>
                      <a:pt x="76" y="33"/>
                    </a:lnTo>
                    <a:lnTo>
                      <a:pt x="82" y="38"/>
                    </a:lnTo>
                    <a:lnTo>
                      <a:pt x="87" y="40"/>
                    </a:lnTo>
                    <a:lnTo>
                      <a:pt x="93" y="43"/>
                    </a:lnTo>
                    <a:lnTo>
                      <a:pt x="98" y="45"/>
                    </a:lnTo>
                    <a:lnTo>
                      <a:pt x="104" y="45"/>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69" name="Freeform 230"/>
              <p:cNvSpPr>
                <a:spLocks/>
              </p:cNvSpPr>
              <p:nvPr/>
            </p:nvSpPr>
            <p:spPr bwMode="auto">
              <a:xfrm>
                <a:off x="1786" y="2774"/>
                <a:ext cx="38" cy="76"/>
              </a:xfrm>
              <a:custGeom>
                <a:avLst/>
                <a:gdLst>
                  <a:gd name="T0" fmla="*/ 0 w 38"/>
                  <a:gd name="T1" fmla="*/ 0 h 76"/>
                  <a:gd name="T2" fmla="*/ 3 w 38"/>
                  <a:gd name="T3" fmla="*/ 5 h 76"/>
                  <a:gd name="T4" fmla="*/ 3 w 38"/>
                  <a:gd name="T5" fmla="*/ 10 h 76"/>
                  <a:gd name="T6" fmla="*/ 3 w 38"/>
                  <a:gd name="T7" fmla="*/ 15 h 76"/>
                  <a:gd name="T8" fmla="*/ 0 w 38"/>
                  <a:gd name="T9" fmla="*/ 20 h 76"/>
                  <a:gd name="T10" fmla="*/ 0 w 38"/>
                  <a:gd name="T11" fmla="*/ 25 h 76"/>
                  <a:gd name="T12" fmla="*/ 0 w 38"/>
                  <a:gd name="T13" fmla="*/ 30 h 76"/>
                  <a:gd name="T14" fmla="*/ 0 w 38"/>
                  <a:gd name="T15" fmla="*/ 35 h 76"/>
                  <a:gd name="T16" fmla="*/ 0 w 38"/>
                  <a:gd name="T17" fmla="*/ 40 h 76"/>
                  <a:gd name="T18" fmla="*/ 6 w 38"/>
                  <a:gd name="T19" fmla="*/ 45 h 76"/>
                  <a:gd name="T20" fmla="*/ 11 w 38"/>
                  <a:gd name="T21" fmla="*/ 50 h 76"/>
                  <a:gd name="T22" fmla="*/ 14 w 38"/>
                  <a:gd name="T23" fmla="*/ 55 h 76"/>
                  <a:gd name="T24" fmla="*/ 20 w 38"/>
                  <a:gd name="T25" fmla="*/ 60 h 76"/>
                  <a:gd name="T26" fmla="*/ 23 w 38"/>
                  <a:gd name="T27" fmla="*/ 65 h 76"/>
                  <a:gd name="T28" fmla="*/ 28 w 38"/>
                  <a:gd name="T29" fmla="*/ 70 h 76"/>
                  <a:gd name="T30" fmla="*/ 31 w 38"/>
                  <a:gd name="T31" fmla="*/ 75 h 76"/>
                  <a:gd name="T32" fmla="*/ 37 w 38"/>
                  <a:gd name="T33" fmla="*/ 75 h 7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8"/>
                  <a:gd name="T52" fmla="*/ 0 h 76"/>
                  <a:gd name="T53" fmla="*/ 38 w 38"/>
                  <a:gd name="T54" fmla="*/ 76 h 7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8" h="76">
                    <a:moveTo>
                      <a:pt x="0" y="0"/>
                    </a:moveTo>
                    <a:lnTo>
                      <a:pt x="3" y="5"/>
                    </a:lnTo>
                    <a:lnTo>
                      <a:pt x="3" y="10"/>
                    </a:lnTo>
                    <a:lnTo>
                      <a:pt x="3" y="15"/>
                    </a:lnTo>
                    <a:lnTo>
                      <a:pt x="0" y="20"/>
                    </a:lnTo>
                    <a:lnTo>
                      <a:pt x="0" y="25"/>
                    </a:lnTo>
                    <a:lnTo>
                      <a:pt x="0" y="30"/>
                    </a:lnTo>
                    <a:lnTo>
                      <a:pt x="0" y="35"/>
                    </a:lnTo>
                    <a:lnTo>
                      <a:pt x="0" y="40"/>
                    </a:lnTo>
                    <a:lnTo>
                      <a:pt x="6" y="45"/>
                    </a:lnTo>
                    <a:lnTo>
                      <a:pt x="11" y="50"/>
                    </a:lnTo>
                    <a:lnTo>
                      <a:pt x="14" y="55"/>
                    </a:lnTo>
                    <a:lnTo>
                      <a:pt x="20" y="60"/>
                    </a:lnTo>
                    <a:lnTo>
                      <a:pt x="23" y="65"/>
                    </a:lnTo>
                    <a:lnTo>
                      <a:pt x="28" y="70"/>
                    </a:lnTo>
                    <a:lnTo>
                      <a:pt x="31" y="75"/>
                    </a:lnTo>
                    <a:lnTo>
                      <a:pt x="37" y="75"/>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70" name="Freeform 231"/>
              <p:cNvSpPr>
                <a:spLocks/>
              </p:cNvSpPr>
              <p:nvPr/>
            </p:nvSpPr>
            <p:spPr bwMode="auto">
              <a:xfrm>
                <a:off x="1943" y="2741"/>
                <a:ext cx="85" cy="51"/>
              </a:xfrm>
              <a:custGeom>
                <a:avLst/>
                <a:gdLst>
                  <a:gd name="T0" fmla="*/ 0 w 85"/>
                  <a:gd name="T1" fmla="*/ 50 h 51"/>
                  <a:gd name="T2" fmla="*/ 17 w 85"/>
                  <a:gd name="T3" fmla="*/ 43 h 51"/>
                  <a:gd name="T4" fmla="*/ 20 w 85"/>
                  <a:gd name="T5" fmla="*/ 38 h 51"/>
                  <a:gd name="T6" fmla="*/ 22 w 85"/>
                  <a:gd name="T7" fmla="*/ 33 h 51"/>
                  <a:gd name="T8" fmla="*/ 28 w 85"/>
                  <a:gd name="T9" fmla="*/ 30 h 51"/>
                  <a:gd name="T10" fmla="*/ 34 w 85"/>
                  <a:gd name="T11" fmla="*/ 30 h 51"/>
                  <a:gd name="T12" fmla="*/ 39 w 85"/>
                  <a:gd name="T13" fmla="*/ 30 h 51"/>
                  <a:gd name="T14" fmla="*/ 45 w 85"/>
                  <a:gd name="T15" fmla="*/ 30 h 51"/>
                  <a:gd name="T16" fmla="*/ 50 w 85"/>
                  <a:gd name="T17" fmla="*/ 30 h 51"/>
                  <a:gd name="T18" fmla="*/ 56 w 85"/>
                  <a:gd name="T19" fmla="*/ 30 h 51"/>
                  <a:gd name="T20" fmla="*/ 62 w 85"/>
                  <a:gd name="T21" fmla="*/ 28 h 51"/>
                  <a:gd name="T22" fmla="*/ 64 w 85"/>
                  <a:gd name="T23" fmla="*/ 23 h 51"/>
                  <a:gd name="T24" fmla="*/ 70 w 85"/>
                  <a:gd name="T25" fmla="*/ 18 h 51"/>
                  <a:gd name="T26" fmla="*/ 76 w 85"/>
                  <a:gd name="T27" fmla="*/ 15 h 51"/>
                  <a:gd name="T28" fmla="*/ 78 w 85"/>
                  <a:gd name="T29" fmla="*/ 10 h 51"/>
                  <a:gd name="T30" fmla="*/ 81 w 85"/>
                  <a:gd name="T31" fmla="*/ 5 h 51"/>
                  <a:gd name="T32" fmla="*/ 84 w 85"/>
                  <a:gd name="T33" fmla="*/ 0 h 5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5"/>
                  <a:gd name="T52" fmla="*/ 0 h 51"/>
                  <a:gd name="T53" fmla="*/ 85 w 85"/>
                  <a:gd name="T54" fmla="*/ 51 h 5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5" h="51">
                    <a:moveTo>
                      <a:pt x="0" y="50"/>
                    </a:moveTo>
                    <a:lnTo>
                      <a:pt x="17" y="43"/>
                    </a:lnTo>
                    <a:lnTo>
                      <a:pt x="20" y="38"/>
                    </a:lnTo>
                    <a:lnTo>
                      <a:pt x="22" y="33"/>
                    </a:lnTo>
                    <a:lnTo>
                      <a:pt x="28" y="30"/>
                    </a:lnTo>
                    <a:lnTo>
                      <a:pt x="34" y="30"/>
                    </a:lnTo>
                    <a:lnTo>
                      <a:pt x="39" y="30"/>
                    </a:lnTo>
                    <a:lnTo>
                      <a:pt x="45" y="30"/>
                    </a:lnTo>
                    <a:lnTo>
                      <a:pt x="50" y="30"/>
                    </a:lnTo>
                    <a:lnTo>
                      <a:pt x="56" y="30"/>
                    </a:lnTo>
                    <a:lnTo>
                      <a:pt x="62" y="28"/>
                    </a:lnTo>
                    <a:lnTo>
                      <a:pt x="64" y="23"/>
                    </a:lnTo>
                    <a:lnTo>
                      <a:pt x="70" y="18"/>
                    </a:lnTo>
                    <a:lnTo>
                      <a:pt x="76" y="15"/>
                    </a:lnTo>
                    <a:lnTo>
                      <a:pt x="78" y="10"/>
                    </a:lnTo>
                    <a:lnTo>
                      <a:pt x="81" y="5"/>
                    </a:lnTo>
                    <a:lnTo>
                      <a:pt x="84"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71" name="Freeform 232"/>
              <p:cNvSpPr>
                <a:spLocks/>
              </p:cNvSpPr>
              <p:nvPr/>
            </p:nvSpPr>
            <p:spPr bwMode="auto">
              <a:xfrm>
                <a:off x="1617" y="2684"/>
                <a:ext cx="145" cy="13"/>
              </a:xfrm>
              <a:custGeom>
                <a:avLst/>
                <a:gdLst>
                  <a:gd name="T0" fmla="*/ 0 w 145"/>
                  <a:gd name="T1" fmla="*/ 2 h 13"/>
                  <a:gd name="T2" fmla="*/ 17 w 145"/>
                  <a:gd name="T3" fmla="*/ 2 h 13"/>
                  <a:gd name="T4" fmla="*/ 23 w 145"/>
                  <a:gd name="T5" fmla="*/ 2 h 13"/>
                  <a:gd name="T6" fmla="*/ 28 w 145"/>
                  <a:gd name="T7" fmla="*/ 0 h 13"/>
                  <a:gd name="T8" fmla="*/ 34 w 145"/>
                  <a:gd name="T9" fmla="*/ 0 h 13"/>
                  <a:gd name="T10" fmla="*/ 40 w 145"/>
                  <a:gd name="T11" fmla="*/ 0 h 13"/>
                  <a:gd name="T12" fmla="*/ 45 w 145"/>
                  <a:gd name="T13" fmla="*/ 0 h 13"/>
                  <a:gd name="T14" fmla="*/ 59 w 145"/>
                  <a:gd name="T15" fmla="*/ 0 h 13"/>
                  <a:gd name="T16" fmla="*/ 71 w 145"/>
                  <a:gd name="T17" fmla="*/ 5 h 13"/>
                  <a:gd name="T18" fmla="*/ 82 w 145"/>
                  <a:gd name="T19" fmla="*/ 5 h 13"/>
                  <a:gd name="T20" fmla="*/ 93 w 145"/>
                  <a:gd name="T21" fmla="*/ 5 h 13"/>
                  <a:gd name="T22" fmla="*/ 104 w 145"/>
                  <a:gd name="T23" fmla="*/ 5 h 13"/>
                  <a:gd name="T24" fmla="*/ 116 w 145"/>
                  <a:gd name="T25" fmla="*/ 10 h 13"/>
                  <a:gd name="T26" fmla="*/ 127 w 145"/>
                  <a:gd name="T27" fmla="*/ 10 h 13"/>
                  <a:gd name="T28" fmla="*/ 133 w 145"/>
                  <a:gd name="T29" fmla="*/ 12 h 13"/>
                  <a:gd name="T30" fmla="*/ 138 w 145"/>
                  <a:gd name="T31" fmla="*/ 12 h 13"/>
                  <a:gd name="T32" fmla="*/ 144 w 145"/>
                  <a:gd name="T33" fmla="*/ 12 h 1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45"/>
                  <a:gd name="T52" fmla="*/ 0 h 13"/>
                  <a:gd name="T53" fmla="*/ 145 w 145"/>
                  <a:gd name="T54" fmla="*/ 13 h 1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45" h="13">
                    <a:moveTo>
                      <a:pt x="0" y="2"/>
                    </a:moveTo>
                    <a:lnTo>
                      <a:pt x="17" y="2"/>
                    </a:lnTo>
                    <a:lnTo>
                      <a:pt x="23" y="2"/>
                    </a:lnTo>
                    <a:lnTo>
                      <a:pt x="28" y="0"/>
                    </a:lnTo>
                    <a:lnTo>
                      <a:pt x="34" y="0"/>
                    </a:lnTo>
                    <a:lnTo>
                      <a:pt x="40" y="0"/>
                    </a:lnTo>
                    <a:lnTo>
                      <a:pt x="45" y="0"/>
                    </a:lnTo>
                    <a:lnTo>
                      <a:pt x="59" y="0"/>
                    </a:lnTo>
                    <a:lnTo>
                      <a:pt x="71" y="5"/>
                    </a:lnTo>
                    <a:lnTo>
                      <a:pt x="82" y="5"/>
                    </a:lnTo>
                    <a:lnTo>
                      <a:pt x="93" y="5"/>
                    </a:lnTo>
                    <a:lnTo>
                      <a:pt x="104" y="5"/>
                    </a:lnTo>
                    <a:lnTo>
                      <a:pt x="116" y="10"/>
                    </a:lnTo>
                    <a:lnTo>
                      <a:pt x="127" y="10"/>
                    </a:lnTo>
                    <a:lnTo>
                      <a:pt x="133" y="12"/>
                    </a:lnTo>
                    <a:lnTo>
                      <a:pt x="138" y="12"/>
                    </a:lnTo>
                    <a:lnTo>
                      <a:pt x="144" y="12"/>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72" name="Freeform 233"/>
              <p:cNvSpPr>
                <a:spLocks/>
              </p:cNvSpPr>
              <p:nvPr/>
            </p:nvSpPr>
            <p:spPr bwMode="auto">
              <a:xfrm>
                <a:off x="2093" y="2626"/>
                <a:ext cx="25" cy="146"/>
              </a:xfrm>
              <a:custGeom>
                <a:avLst/>
                <a:gdLst>
                  <a:gd name="T0" fmla="*/ 19 w 25"/>
                  <a:gd name="T1" fmla="*/ 0 h 146"/>
                  <a:gd name="T2" fmla="*/ 16 w 25"/>
                  <a:gd name="T3" fmla="*/ 5 h 146"/>
                  <a:gd name="T4" fmla="*/ 11 w 25"/>
                  <a:gd name="T5" fmla="*/ 10 h 146"/>
                  <a:gd name="T6" fmla="*/ 8 w 25"/>
                  <a:gd name="T7" fmla="*/ 15 h 146"/>
                  <a:gd name="T8" fmla="*/ 5 w 25"/>
                  <a:gd name="T9" fmla="*/ 20 h 146"/>
                  <a:gd name="T10" fmla="*/ 3 w 25"/>
                  <a:gd name="T11" fmla="*/ 25 h 146"/>
                  <a:gd name="T12" fmla="*/ 3 w 25"/>
                  <a:gd name="T13" fmla="*/ 30 h 146"/>
                  <a:gd name="T14" fmla="*/ 8 w 25"/>
                  <a:gd name="T15" fmla="*/ 43 h 146"/>
                  <a:gd name="T16" fmla="*/ 8 w 25"/>
                  <a:gd name="T17" fmla="*/ 53 h 146"/>
                  <a:gd name="T18" fmla="*/ 11 w 25"/>
                  <a:gd name="T19" fmla="*/ 65 h 146"/>
                  <a:gd name="T20" fmla="*/ 13 w 25"/>
                  <a:gd name="T21" fmla="*/ 78 h 146"/>
                  <a:gd name="T22" fmla="*/ 19 w 25"/>
                  <a:gd name="T23" fmla="*/ 88 h 146"/>
                  <a:gd name="T24" fmla="*/ 19 w 25"/>
                  <a:gd name="T25" fmla="*/ 98 h 146"/>
                  <a:gd name="T26" fmla="*/ 24 w 25"/>
                  <a:gd name="T27" fmla="*/ 108 h 146"/>
                  <a:gd name="T28" fmla="*/ 24 w 25"/>
                  <a:gd name="T29" fmla="*/ 118 h 146"/>
                  <a:gd name="T30" fmla="*/ 24 w 25"/>
                  <a:gd name="T31" fmla="*/ 128 h 146"/>
                  <a:gd name="T32" fmla="*/ 21 w 25"/>
                  <a:gd name="T33" fmla="*/ 133 h 146"/>
                  <a:gd name="T34" fmla="*/ 11 w 25"/>
                  <a:gd name="T35" fmla="*/ 138 h 146"/>
                  <a:gd name="T36" fmla="*/ 5 w 25"/>
                  <a:gd name="T37" fmla="*/ 143 h 146"/>
                  <a:gd name="T38" fmla="*/ 0 w 25"/>
                  <a:gd name="T39" fmla="*/ 145 h 14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5"/>
                  <a:gd name="T61" fmla="*/ 0 h 146"/>
                  <a:gd name="T62" fmla="*/ 25 w 25"/>
                  <a:gd name="T63" fmla="*/ 146 h 14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5" h="146">
                    <a:moveTo>
                      <a:pt x="19" y="0"/>
                    </a:moveTo>
                    <a:lnTo>
                      <a:pt x="16" y="5"/>
                    </a:lnTo>
                    <a:lnTo>
                      <a:pt x="11" y="10"/>
                    </a:lnTo>
                    <a:lnTo>
                      <a:pt x="8" y="15"/>
                    </a:lnTo>
                    <a:lnTo>
                      <a:pt x="5" y="20"/>
                    </a:lnTo>
                    <a:lnTo>
                      <a:pt x="3" y="25"/>
                    </a:lnTo>
                    <a:lnTo>
                      <a:pt x="3" y="30"/>
                    </a:lnTo>
                    <a:lnTo>
                      <a:pt x="8" y="43"/>
                    </a:lnTo>
                    <a:lnTo>
                      <a:pt x="8" y="53"/>
                    </a:lnTo>
                    <a:lnTo>
                      <a:pt x="11" y="65"/>
                    </a:lnTo>
                    <a:lnTo>
                      <a:pt x="13" y="78"/>
                    </a:lnTo>
                    <a:lnTo>
                      <a:pt x="19" y="88"/>
                    </a:lnTo>
                    <a:lnTo>
                      <a:pt x="19" y="98"/>
                    </a:lnTo>
                    <a:lnTo>
                      <a:pt x="24" y="108"/>
                    </a:lnTo>
                    <a:lnTo>
                      <a:pt x="24" y="118"/>
                    </a:lnTo>
                    <a:lnTo>
                      <a:pt x="24" y="128"/>
                    </a:lnTo>
                    <a:lnTo>
                      <a:pt x="21" y="133"/>
                    </a:lnTo>
                    <a:lnTo>
                      <a:pt x="11" y="138"/>
                    </a:lnTo>
                    <a:lnTo>
                      <a:pt x="5" y="143"/>
                    </a:lnTo>
                    <a:lnTo>
                      <a:pt x="0" y="145"/>
                    </a:lnTo>
                  </a:path>
                </a:pathLst>
              </a:custGeom>
              <a:noFill/>
              <a:ln w="12700" cap="rnd" cmpd="sng">
                <a:solidFill>
                  <a:srgbClr val="4BCD00"/>
                </a:solidFill>
                <a:prstDash val="solid"/>
                <a:round/>
                <a:headEnd type="none" w="med" len="med"/>
                <a:tailEnd type="none" w="med" len="med"/>
              </a:ln>
            </p:spPr>
            <p:txBody>
              <a:bodyPr/>
              <a:lstStyle/>
              <a:p>
                <a:endParaRPr lang="en-US"/>
              </a:p>
            </p:txBody>
          </p:sp>
        </p:grpSp>
        <p:grpSp>
          <p:nvGrpSpPr>
            <p:cNvPr id="17700" name="Group 234"/>
            <p:cNvGrpSpPr>
              <a:grpSpLocks/>
            </p:cNvGrpSpPr>
            <p:nvPr/>
          </p:nvGrpSpPr>
          <p:grpSpPr bwMode="auto">
            <a:xfrm>
              <a:off x="3368" y="3017"/>
              <a:ext cx="921" cy="354"/>
              <a:chOff x="1521" y="2626"/>
              <a:chExt cx="653" cy="251"/>
            </a:xfrm>
          </p:grpSpPr>
          <p:sp>
            <p:nvSpPr>
              <p:cNvPr id="17701" name="Freeform 235"/>
              <p:cNvSpPr>
                <a:spLocks/>
              </p:cNvSpPr>
              <p:nvPr/>
            </p:nvSpPr>
            <p:spPr bwMode="auto">
              <a:xfrm>
                <a:off x="1581" y="2666"/>
                <a:ext cx="57" cy="96"/>
              </a:xfrm>
              <a:custGeom>
                <a:avLst/>
                <a:gdLst>
                  <a:gd name="T0" fmla="*/ 0 w 57"/>
                  <a:gd name="T1" fmla="*/ 0 h 96"/>
                  <a:gd name="T2" fmla="*/ 6 w 57"/>
                  <a:gd name="T3" fmla="*/ 0 h 96"/>
                  <a:gd name="T4" fmla="*/ 8 w 57"/>
                  <a:gd name="T5" fmla="*/ 5 h 96"/>
                  <a:gd name="T6" fmla="*/ 14 w 57"/>
                  <a:gd name="T7" fmla="*/ 8 h 96"/>
                  <a:gd name="T8" fmla="*/ 17 w 57"/>
                  <a:gd name="T9" fmla="*/ 13 h 96"/>
                  <a:gd name="T10" fmla="*/ 20 w 57"/>
                  <a:gd name="T11" fmla="*/ 18 h 96"/>
                  <a:gd name="T12" fmla="*/ 28 w 57"/>
                  <a:gd name="T13" fmla="*/ 40 h 96"/>
                  <a:gd name="T14" fmla="*/ 28 w 57"/>
                  <a:gd name="T15" fmla="*/ 50 h 96"/>
                  <a:gd name="T16" fmla="*/ 34 w 57"/>
                  <a:gd name="T17" fmla="*/ 60 h 96"/>
                  <a:gd name="T18" fmla="*/ 34 w 57"/>
                  <a:gd name="T19" fmla="*/ 70 h 96"/>
                  <a:gd name="T20" fmla="*/ 34 w 57"/>
                  <a:gd name="T21" fmla="*/ 80 h 96"/>
                  <a:gd name="T22" fmla="*/ 45 w 57"/>
                  <a:gd name="T23" fmla="*/ 80 h 96"/>
                  <a:gd name="T24" fmla="*/ 45 w 57"/>
                  <a:gd name="T25" fmla="*/ 85 h 96"/>
                  <a:gd name="T26" fmla="*/ 48 w 57"/>
                  <a:gd name="T27" fmla="*/ 90 h 96"/>
                  <a:gd name="T28" fmla="*/ 50 w 57"/>
                  <a:gd name="T29" fmla="*/ 95 h 96"/>
                  <a:gd name="T30" fmla="*/ 56 w 57"/>
                  <a:gd name="T31" fmla="*/ 93 h 9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7"/>
                  <a:gd name="T49" fmla="*/ 0 h 96"/>
                  <a:gd name="T50" fmla="*/ 57 w 57"/>
                  <a:gd name="T51" fmla="*/ 96 h 9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7" h="96">
                    <a:moveTo>
                      <a:pt x="0" y="0"/>
                    </a:moveTo>
                    <a:lnTo>
                      <a:pt x="6" y="0"/>
                    </a:lnTo>
                    <a:lnTo>
                      <a:pt x="8" y="5"/>
                    </a:lnTo>
                    <a:lnTo>
                      <a:pt x="14" y="8"/>
                    </a:lnTo>
                    <a:lnTo>
                      <a:pt x="17" y="13"/>
                    </a:lnTo>
                    <a:lnTo>
                      <a:pt x="20" y="18"/>
                    </a:lnTo>
                    <a:lnTo>
                      <a:pt x="28" y="40"/>
                    </a:lnTo>
                    <a:lnTo>
                      <a:pt x="28" y="50"/>
                    </a:lnTo>
                    <a:lnTo>
                      <a:pt x="34" y="60"/>
                    </a:lnTo>
                    <a:lnTo>
                      <a:pt x="34" y="70"/>
                    </a:lnTo>
                    <a:lnTo>
                      <a:pt x="34" y="80"/>
                    </a:lnTo>
                    <a:lnTo>
                      <a:pt x="45" y="80"/>
                    </a:lnTo>
                    <a:lnTo>
                      <a:pt x="45" y="85"/>
                    </a:lnTo>
                    <a:lnTo>
                      <a:pt x="48" y="90"/>
                    </a:lnTo>
                    <a:lnTo>
                      <a:pt x="50" y="95"/>
                    </a:lnTo>
                    <a:lnTo>
                      <a:pt x="56" y="93"/>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02" name="Freeform 236"/>
              <p:cNvSpPr>
                <a:spLocks/>
              </p:cNvSpPr>
              <p:nvPr/>
            </p:nvSpPr>
            <p:spPr bwMode="auto">
              <a:xfrm>
                <a:off x="1561" y="2649"/>
                <a:ext cx="161" cy="68"/>
              </a:xfrm>
              <a:custGeom>
                <a:avLst/>
                <a:gdLst>
                  <a:gd name="T0" fmla="*/ 0 w 161"/>
                  <a:gd name="T1" fmla="*/ 67 h 68"/>
                  <a:gd name="T2" fmla="*/ 39 w 161"/>
                  <a:gd name="T3" fmla="*/ 57 h 68"/>
                  <a:gd name="T4" fmla="*/ 45 w 161"/>
                  <a:gd name="T5" fmla="*/ 57 h 68"/>
                  <a:gd name="T6" fmla="*/ 51 w 161"/>
                  <a:gd name="T7" fmla="*/ 60 h 68"/>
                  <a:gd name="T8" fmla="*/ 56 w 161"/>
                  <a:gd name="T9" fmla="*/ 60 h 68"/>
                  <a:gd name="T10" fmla="*/ 62 w 161"/>
                  <a:gd name="T11" fmla="*/ 60 h 68"/>
                  <a:gd name="T12" fmla="*/ 67 w 161"/>
                  <a:gd name="T13" fmla="*/ 60 h 68"/>
                  <a:gd name="T14" fmla="*/ 81 w 161"/>
                  <a:gd name="T15" fmla="*/ 55 h 68"/>
                  <a:gd name="T16" fmla="*/ 87 w 161"/>
                  <a:gd name="T17" fmla="*/ 52 h 68"/>
                  <a:gd name="T18" fmla="*/ 121 w 161"/>
                  <a:gd name="T19" fmla="*/ 32 h 68"/>
                  <a:gd name="T20" fmla="*/ 138 w 161"/>
                  <a:gd name="T21" fmla="*/ 17 h 68"/>
                  <a:gd name="T22" fmla="*/ 138 w 161"/>
                  <a:gd name="T23" fmla="*/ 12 h 68"/>
                  <a:gd name="T24" fmla="*/ 143 w 161"/>
                  <a:gd name="T25" fmla="*/ 12 h 68"/>
                  <a:gd name="T26" fmla="*/ 149 w 161"/>
                  <a:gd name="T27" fmla="*/ 7 h 68"/>
                  <a:gd name="T28" fmla="*/ 154 w 161"/>
                  <a:gd name="T29" fmla="*/ 2 h 68"/>
                  <a:gd name="T30" fmla="*/ 160 w 161"/>
                  <a:gd name="T31" fmla="*/ 0 h 6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61"/>
                  <a:gd name="T49" fmla="*/ 0 h 68"/>
                  <a:gd name="T50" fmla="*/ 161 w 161"/>
                  <a:gd name="T51" fmla="*/ 68 h 6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61" h="68">
                    <a:moveTo>
                      <a:pt x="0" y="67"/>
                    </a:moveTo>
                    <a:lnTo>
                      <a:pt x="39" y="57"/>
                    </a:lnTo>
                    <a:lnTo>
                      <a:pt x="45" y="57"/>
                    </a:lnTo>
                    <a:lnTo>
                      <a:pt x="51" y="60"/>
                    </a:lnTo>
                    <a:lnTo>
                      <a:pt x="56" y="60"/>
                    </a:lnTo>
                    <a:lnTo>
                      <a:pt x="62" y="60"/>
                    </a:lnTo>
                    <a:lnTo>
                      <a:pt x="67" y="60"/>
                    </a:lnTo>
                    <a:lnTo>
                      <a:pt x="81" y="55"/>
                    </a:lnTo>
                    <a:lnTo>
                      <a:pt x="87" y="52"/>
                    </a:lnTo>
                    <a:lnTo>
                      <a:pt x="121" y="32"/>
                    </a:lnTo>
                    <a:lnTo>
                      <a:pt x="138" y="17"/>
                    </a:lnTo>
                    <a:lnTo>
                      <a:pt x="138" y="12"/>
                    </a:lnTo>
                    <a:lnTo>
                      <a:pt x="143" y="12"/>
                    </a:lnTo>
                    <a:lnTo>
                      <a:pt x="149" y="7"/>
                    </a:lnTo>
                    <a:lnTo>
                      <a:pt x="154" y="2"/>
                    </a:lnTo>
                    <a:lnTo>
                      <a:pt x="160"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03" name="Freeform 237"/>
              <p:cNvSpPr>
                <a:spLocks/>
              </p:cNvSpPr>
              <p:nvPr/>
            </p:nvSpPr>
            <p:spPr bwMode="auto">
              <a:xfrm>
                <a:off x="1530" y="2759"/>
                <a:ext cx="80" cy="73"/>
              </a:xfrm>
              <a:custGeom>
                <a:avLst/>
                <a:gdLst>
                  <a:gd name="T0" fmla="*/ 0 w 80"/>
                  <a:gd name="T1" fmla="*/ 0 h 73"/>
                  <a:gd name="T2" fmla="*/ 20 w 80"/>
                  <a:gd name="T3" fmla="*/ 10 h 73"/>
                  <a:gd name="T4" fmla="*/ 20 w 80"/>
                  <a:gd name="T5" fmla="*/ 15 h 73"/>
                  <a:gd name="T6" fmla="*/ 23 w 80"/>
                  <a:gd name="T7" fmla="*/ 20 h 73"/>
                  <a:gd name="T8" fmla="*/ 23 w 80"/>
                  <a:gd name="T9" fmla="*/ 25 h 73"/>
                  <a:gd name="T10" fmla="*/ 28 w 80"/>
                  <a:gd name="T11" fmla="*/ 30 h 73"/>
                  <a:gd name="T12" fmla="*/ 34 w 80"/>
                  <a:gd name="T13" fmla="*/ 32 h 73"/>
                  <a:gd name="T14" fmla="*/ 40 w 80"/>
                  <a:gd name="T15" fmla="*/ 35 h 73"/>
                  <a:gd name="T16" fmla="*/ 45 w 80"/>
                  <a:gd name="T17" fmla="*/ 37 h 73"/>
                  <a:gd name="T18" fmla="*/ 51 w 80"/>
                  <a:gd name="T19" fmla="*/ 40 h 73"/>
                  <a:gd name="T20" fmla="*/ 54 w 80"/>
                  <a:gd name="T21" fmla="*/ 45 h 73"/>
                  <a:gd name="T22" fmla="*/ 59 w 80"/>
                  <a:gd name="T23" fmla="*/ 50 h 73"/>
                  <a:gd name="T24" fmla="*/ 62 w 80"/>
                  <a:gd name="T25" fmla="*/ 55 h 73"/>
                  <a:gd name="T26" fmla="*/ 65 w 80"/>
                  <a:gd name="T27" fmla="*/ 60 h 73"/>
                  <a:gd name="T28" fmla="*/ 71 w 80"/>
                  <a:gd name="T29" fmla="*/ 65 h 73"/>
                  <a:gd name="T30" fmla="*/ 76 w 80"/>
                  <a:gd name="T31" fmla="*/ 67 h 73"/>
                  <a:gd name="T32" fmla="*/ 79 w 80"/>
                  <a:gd name="T33" fmla="*/ 72 h 7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0"/>
                  <a:gd name="T52" fmla="*/ 0 h 73"/>
                  <a:gd name="T53" fmla="*/ 80 w 80"/>
                  <a:gd name="T54" fmla="*/ 73 h 7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0" h="73">
                    <a:moveTo>
                      <a:pt x="0" y="0"/>
                    </a:moveTo>
                    <a:lnTo>
                      <a:pt x="20" y="10"/>
                    </a:lnTo>
                    <a:lnTo>
                      <a:pt x="20" y="15"/>
                    </a:lnTo>
                    <a:lnTo>
                      <a:pt x="23" y="20"/>
                    </a:lnTo>
                    <a:lnTo>
                      <a:pt x="23" y="25"/>
                    </a:lnTo>
                    <a:lnTo>
                      <a:pt x="28" y="30"/>
                    </a:lnTo>
                    <a:lnTo>
                      <a:pt x="34" y="32"/>
                    </a:lnTo>
                    <a:lnTo>
                      <a:pt x="40" y="35"/>
                    </a:lnTo>
                    <a:lnTo>
                      <a:pt x="45" y="37"/>
                    </a:lnTo>
                    <a:lnTo>
                      <a:pt x="51" y="40"/>
                    </a:lnTo>
                    <a:lnTo>
                      <a:pt x="54" y="45"/>
                    </a:lnTo>
                    <a:lnTo>
                      <a:pt x="59" y="50"/>
                    </a:lnTo>
                    <a:lnTo>
                      <a:pt x="62" y="55"/>
                    </a:lnTo>
                    <a:lnTo>
                      <a:pt x="65" y="60"/>
                    </a:lnTo>
                    <a:lnTo>
                      <a:pt x="71" y="65"/>
                    </a:lnTo>
                    <a:lnTo>
                      <a:pt x="76" y="67"/>
                    </a:lnTo>
                    <a:lnTo>
                      <a:pt x="79" y="72"/>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04" name="Freeform 238"/>
              <p:cNvSpPr>
                <a:spLocks/>
              </p:cNvSpPr>
              <p:nvPr/>
            </p:nvSpPr>
            <p:spPr bwMode="auto">
              <a:xfrm>
                <a:off x="1521" y="2789"/>
                <a:ext cx="145" cy="33"/>
              </a:xfrm>
              <a:custGeom>
                <a:avLst/>
                <a:gdLst>
                  <a:gd name="T0" fmla="*/ 0 w 145"/>
                  <a:gd name="T1" fmla="*/ 32 h 33"/>
                  <a:gd name="T2" fmla="*/ 11 w 145"/>
                  <a:gd name="T3" fmla="*/ 27 h 33"/>
                  <a:gd name="T4" fmla="*/ 14 w 145"/>
                  <a:gd name="T5" fmla="*/ 22 h 33"/>
                  <a:gd name="T6" fmla="*/ 20 w 145"/>
                  <a:gd name="T7" fmla="*/ 17 h 33"/>
                  <a:gd name="T8" fmla="*/ 25 w 145"/>
                  <a:gd name="T9" fmla="*/ 15 h 33"/>
                  <a:gd name="T10" fmla="*/ 31 w 145"/>
                  <a:gd name="T11" fmla="*/ 12 h 33"/>
                  <a:gd name="T12" fmla="*/ 37 w 145"/>
                  <a:gd name="T13" fmla="*/ 12 h 33"/>
                  <a:gd name="T14" fmla="*/ 48 w 145"/>
                  <a:gd name="T15" fmla="*/ 12 h 33"/>
                  <a:gd name="T16" fmla="*/ 76 w 145"/>
                  <a:gd name="T17" fmla="*/ 12 h 33"/>
                  <a:gd name="T18" fmla="*/ 88 w 145"/>
                  <a:gd name="T19" fmla="*/ 12 h 33"/>
                  <a:gd name="T20" fmla="*/ 99 w 145"/>
                  <a:gd name="T21" fmla="*/ 12 h 33"/>
                  <a:gd name="T22" fmla="*/ 110 w 145"/>
                  <a:gd name="T23" fmla="*/ 2 h 33"/>
                  <a:gd name="T24" fmla="*/ 121 w 145"/>
                  <a:gd name="T25" fmla="*/ 2 h 33"/>
                  <a:gd name="T26" fmla="*/ 133 w 145"/>
                  <a:gd name="T27" fmla="*/ 2 h 33"/>
                  <a:gd name="T28" fmla="*/ 138 w 145"/>
                  <a:gd name="T29" fmla="*/ 2 h 33"/>
                  <a:gd name="T30" fmla="*/ 144 w 145"/>
                  <a:gd name="T31" fmla="*/ 0 h 3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45"/>
                  <a:gd name="T49" fmla="*/ 0 h 33"/>
                  <a:gd name="T50" fmla="*/ 145 w 145"/>
                  <a:gd name="T51" fmla="*/ 33 h 3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45" h="33">
                    <a:moveTo>
                      <a:pt x="0" y="32"/>
                    </a:moveTo>
                    <a:lnTo>
                      <a:pt x="11" y="27"/>
                    </a:lnTo>
                    <a:lnTo>
                      <a:pt x="14" y="22"/>
                    </a:lnTo>
                    <a:lnTo>
                      <a:pt x="20" y="17"/>
                    </a:lnTo>
                    <a:lnTo>
                      <a:pt x="25" y="15"/>
                    </a:lnTo>
                    <a:lnTo>
                      <a:pt x="31" y="12"/>
                    </a:lnTo>
                    <a:lnTo>
                      <a:pt x="37" y="12"/>
                    </a:lnTo>
                    <a:lnTo>
                      <a:pt x="48" y="12"/>
                    </a:lnTo>
                    <a:lnTo>
                      <a:pt x="76" y="12"/>
                    </a:lnTo>
                    <a:lnTo>
                      <a:pt x="88" y="12"/>
                    </a:lnTo>
                    <a:lnTo>
                      <a:pt x="99" y="12"/>
                    </a:lnTo>
                    <a:lnTo>
                      <a:pt x="110" y="2"/>
                    </a:lnTo>
                    <a:lnTo>
                      <a:pt x="121" y="2"/>
                    </a:lnTo>
                    <a:lnTo>
                      <a:pt x="133" y="2"/>
                    </a:lnTo>
                    <a:lnTo>
                      <a:pt x="138" y="2"/>
                    </a:lnTo>
                    <a:lnTo>
                      <a:pt x="144"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05" name="Freeform 239"/>
              <p:cNvSpPr>
                <a:spLocks/>
              </p:cNvSpPr>
              <p:nvPr/>
            </p:nvSpPr>
            <p:spPr bwMode="auto">
              <a:xfrm>
                <a:off x="1547" y="2734"/>
                <a:ext cx="85" cy="53"/>
              </a:xfrm>
              <a:custGeom>
                <a:avLst/>
                <a:gdLst>
                  <a:gd name="T0" fmla="*/ 0 w 85"/>
                  <a:gd name="T1" fmla="*/ 0 h 53"/>
                  <a:gd name="T2" fmla="*/ 22 w 85"/>
                  <a:gd name="T3" fmla="*/ 10 h 53"/>
                  <a:gd name="T4" fmla="*/ 25 w 85"/>
                  <a:gd name="T5" fmla="*/ 15 h 53"/>
                  <a:gd name="T6" fmla="*/ 28 w 85"/>
                  <a:gd name="T7" fmla="*/ 20 h 53"/>
                  <a:gd name="T8" fmla="*/ 34 w 85"/>
                  <a:gd name="T9" fmla="*/ 25 h 53"/>
                  <a:gd name="T10" fmla="*/ 36 w 85"/>
                  <a:gd name="T11" fmla="*/ 30 h 53"/>
                  <a:gd name="T12" fmla="*/ 42 w 85"/>
                  <a:gd name="T13" fmla="*/ 32 h 53"/>
                  <a:gd name="T14" fmla="*/ 45 w 85"/>
                  <a:gd name="T15" fmla="*/ 37 h 53"/>
                  <a:gd name="T16" fmla="*/ 50 w 85"/>
                  <a:gd name="T17" fmla="*/ 40 h 53"/>
                  <a:gd name="T18" fmla="*/ 56 w 85"/>
                  <a:gd name="T19" fmla="*/ 40 h 53"/>
                  <a:gd name="T20" fmla="*/ 62 w 85"/>
                  <a:gd name="T21" fmla="*/ 42 h 53"/>
                  <a:gd name="T22" fmla="*/ 67 w 85"/>
                  <a:gd name="T23" fmla="*/ 45 h 53"/>
                  <a:gd name="T24" fmla="*/ 73 w 85"/>
                  <a:gd name="T25" fmla="*/ 50 h 53"/>
                  <a:gd name="T26" fmla="*/ 78 w 85"/>
                  <a:gd name="T27" fmla="*/ 52 h 53"/>
                  <a:gd name="T28" fmla="*/ 84 w 85"/>
                  <a:gd name="T29" fmla="*/ 52 h 5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5"/>
                  <a:gd name="T46" fmla="*/ 0 h 53"/>
                  <a:gd name="T47" fmla="*/ 85 w 85"/>
                  <a:gd name="T48" fmla="*/ 53 h 5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5" h="53">
                    <a:moveTo>
                      <a:pt x="0" y="0"/>
                    </a:moveTo>
                    <a:lnTo>
                      <a:pt x="22" y="10"/>
                    </a:lnTo>
                    <a:lnTo>
                      <a:pt x="25" y="15"/>
                    </a:lnTo>
                    <a:lnTo>
                      <a:pt x="28" y="20"/>
                    </a:lnTo>
                    <a:lnTo>
                      <a:pt x="34" y="25"/>
                    </a:lnTo>
                    <a:lnTo>
                      <a:pt x="36" y="30"/>
                    </a:lnTo>
                    <a:lnTo>
                      <a:pt x="42" y="32"/>
                    </a:lnTo>
                    <a:lnTo>
                      <a:pt x="45" y="37"/>
                    </a:lnTo>
                    <a:lnTo>
                      <a:pt x="50" y="40"/>
                    </a:lnTo>
                    <a:lnTo>
                      <a:pt x="56" y="40"/>
                    </a:lnTo>
                    <a:lnTo>
                      <a:pt x="62" y="42"/>
                    </a:lnTo>
                    <a:lnTo>
                      <a:pt x="67" y="45"/>
                    </a:lnTo>
                    <a:lnTo>
                      <a:pt x="73" y="50"/>
                    </a:lnTo>
                    <a:lnTo>
                      <a:pt x="78" y="52"/>
                    </a:lnTo>
                    <a:lnTo>
                      <a:pt x="84" y="52"/>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06" name="Freeform 240"/>
              <p:cNvSpPr>
                <a:spLocks/>
              </p:cNvSpPr>
              <p:nvPr/>
            </p:nvSpPr>
            <p:spPr bwMode="auto">
              <a:xfrm>
                <a:off x="1577" y="2636"/>
                <a:ext cx="100" cy="81"/>
              </a:xfrm>
              <a:custGeom>
                <a:avLst/>
                <a:gdLst>
                  <a:gd name="T0" fmla="*/ 0 w 100"/>
                  <a:gd name="T1" fmla="*/ 0 h 81"/>
                  <a:gd name="T2" fmla="*/ 6 w 100"/>
                  <a:gd name="T3" fmla="*/ 0 h 81"/>
                  <a:gd name="T4" fmla="*/ 17 w 100"/>
                  <a:gd name="T5" fmla="*/ 0 h 81"/>
                  <a:gd name="T6" fmla="*/ 31 w 100"/>
                  <a:gd name="T7" fmla="*/ 3 h 81"/>
                  <a:gd name="T8" fmla="*/ 42 w 100"/>
                  <a:gd name="T9" fmla="*/ 8 h 81"/>
                  <a:gd name="T10" fmla="*/ 54 w 100"/>
                  <a:gd name="T11" fmla="*/ 8 h 81"/>
                  <a:gd name="T12" fmla="*/ 65 w 100"/>
                  <a:gd name="T13" fmla="*/ 8 h 81"/>
                  <a:gd name="T14" fmla="*/ 68 w 100"/>
                  <a:gd name="T15" fmla="*/ 13 h 81"/>
                  <a:gd name="T16" fmla="*/ 65 w 100"/>
                  <a:gd name="T17" fmla="*/ 18 h 81"/>
                  <a:gd name="T18" fmla="*/ 65 w 100"/>
                  <a:gd name="T19" fmla="*/ 23 h 81"/>
                  <a:gd name="T20" fmla="*/ 65 w 100"/>
                  <a:gd name="T21" fmla="*/ 28 h 81"/>
                  <a:gd name="T22" fmla="*/ 65 w 100"/>
                  <a:gd name="T23" fmla="*/ 33 h 81"/>
                  <a:gd name="T24" fmla="*/ 65 w 100"/>
                  <a:gd name="T25" fmla="*/ 38 h 81"/>
                  <a:gd name="T26" fmla="*/ 68 w 100"/>
                  <a:gd name="T27" fmla="*/ 43 h 81"/>
                  <a:gd name="T28" fmla="*/ 68 w 100"/>
                  <a:gd name="T29" fmla="*/ 48 h 81"/>
                  <a:gd name="T30" fmla="*/ 74 w 100"/>
                  <a:gd name="T31" fmla="*/ 53 h 81"/>
                  <a:gd name="T32" fmla="*/ 76 w 100"/>
                  <a:gd name="T33" fmla="*/ 58 h 81"/>
                  <a:gd name="T34" fmla="*/ 79 w 100"/>
                  <a:gd name="T35" fmla="*/ 63 h 81"/>
                  <a:gd name="T36" fmla="*/ 85 w 100"/>
                  <a:gd name="T37" fmla="*/ 68 h 81"/>
                  <a:gd name="T38" fmla="*/ 88 w 100"/>
                  <a:gd name="T39" fmla="*/ 73 h 81"/>
                  <a:gd name="T40" fmla="*/ 93 w 100"/>
                  <a:gd name="T41" fmla="*/ 75 h 81"/>
                  <a:gd name="T42" fmla="*/ 99 w 100"/>
                  <a:gd name="T43" fmla="*/ 80 h 8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0"/>
                  <a:gd name="T67" fmla="*/ 0 h 81"/>
                  <a:gd name="T68" fmla="*/ 100 w 100"/>
                  <a:gd name="T69" fmla="*/ 81 h 8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0" h="81">
                    <a:moveTo>
                      <a:pt x="0" y="0"/>
                    </a:moveTo>
                    <a:lnTo>
                      <a:pt x="6" y="0"/>
                    </a:lnTo>
                    <a:lnTo>
                      <a:pt x="17" y="0"/>
                    </a:lnTo>
                    <a:lnTo>
                      <a:pt x="31" y="3"/>
                    </a:lnTo>
                    <a:lnTo>
                      <a:pt x="42" y="8"/>
                    </a:lnTo>
                    <a:lnTo>
                      <a:pt x="54" y="8"/>
                    </a:lnTo>
                    <a:lnTo>
                      <a:pt x="65" y="8"/>
                    </a:lnTo>
                    <a:lnTo>
                      <a:pt x="68" y="13"/>
                    </a:lnTo>
                    <a:lnTo>
                      <a:pt x="65" y="18"/>
                    </a:lnTo>
                    <a:lnTo>
                      <a:pt x="65" y="23"/>
                    </a:lnTo>
                    <a:lnTo>
                      <a:pt x="65" y="28"/>
                    </a:lnTo>
                    <a:lnTo>
                      <a:pt x="65" y="33"/>
                    </a:lnTo>
                    <a:lnTo>
                      <a:pt x="65" y="38"/>
                    </a:lnTo>
                    <a:lnTo>
                      <a:pt x="68" y="43"/>
                    </a:lnTo>
                    <a:lnTo>
                      <a:pt x="68" y="48"/>
                    </a:lnTo>
                    <a:lnTo>
                      <a:pt x="74" y="53"/>
                    </a:lnTo>
                    <a:lnTo>
                      <a:pt x="76" y="58"/>
                    </a:lnTo>
                    <a:lnTo>
                      <a:pt x="79" y="63"/>
                    </a:lnTo>
                    <a:lnTo>
                      <a:pt x="85" y="68"/>
                    </a:lnTo>
                    <a:lnTo>
                      <a:pt x="88" y="73"/>
                    </a:lnTo>
                    <a:lnTo>
                      <a:pt x="93" y="75"/>
                    </a:lnTo>
                    <a:lnTo>
                      <a:pt x="99" y="8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07" name="Freeform 241"/>
              <p:cNvSpPr>
                <a:spLocks/>
              </p:cNvSpPr>
              <p:nvPr/>
            </p:nvSpPr>
            <p:spPr bwMode="auto">
              <a:xfrm>
                <a:off x="1561" y="2676"/>
                <a:ext cx="113" cy="69"/>
              </a:xfrm>
              <a:custGeom>
                <a:avLst/>
                <a:gdLst>
                  <a:gd name="T0" fmla="*/ 0 w 113"/>
                  <a:gd name="T1" fmla="*/ 0 h 69"/>
                  <a:gd name="T2" fmla="*/ 6 w 113"/>
                  <a:gd name="T3" fmla="*/ 0 h 69"/>
                  <a:gd name="T4" fmla="*/ 11 w 113"/>
                  <a:gd name="T5" fmla="*/ 3 h 69"/>
                  <a:gd name="T6" fmla="*/ 17 w 113"/>
                  <a:gd name="T7" fmla="*/ 3 h 69"/>
                  <a:gd name="T8" fmla="*/ 22 w 113"/>
                  <a:gd name="T9" fmla="*/ 5 h 69"/>
                  <a:gd name="T10" fmla="*/ 28 w 113"/>
                  <a:gd name="T11" fmla="*/ 8 h 69"/>
                  <a:gd name="T12" fmla="*/ 34 w 113"/>
                  <a:gd name="T13" fmla="*/ 13 h 69"/>
                  <a:gd name="T14" fmla="*/ 39 w 113"/>
                  <a:gd name="T15" fmla="*/ 18 h 69"/>
                  <a:gd name="T16" fmla="*/ 45 w 113"/>
                  <a:gd name="T17" fmla="*/ 23 h 69"/>
                  <a:gd name="T18" fmla="*/ 48 w 113"/>
                  <a:gd name="T19" fmla="*/ 28 h 69"/>
                  <a:gd name="T20" fmla="*/ 56 w 113"/>
                  <a:gd name="T21" fmla="*/ 38 h 69"/>
                  <a:gd name="T22" fmla="*/ 67 w 113"/>
                  <a:gd name="T23" fmla="*/ 38 h 69"/>
                  <a:gd name="T24" fmla="*/ 73 w 113"/>
                  <a:gd name="T25" fmla="*/ 48 h 69"/>
                  <a:gd name="T26" fmla="*/ 84 w 113"/>
                  <a:gd name="T27" fmla="*/ 58 h 69"/>
                  <a:gd name="T28" fmla="*/ 95 w 113"/>
                  <a:gd name="T29" fmla="*/ 58 h 69"/>
                  <a:gd name="T30" fmla="*/ 95 w 113"/>
                  <a:gd name="T31" fmla="*/ 68 h 69"/>
                  <a:gd name="T32" fmla="*/ 101 w 113"/>
                  <a:gd name="T33" fmla="*/ 68 h 69"/>
                  <a:gd name="T34" fmla="*/ 106 w 113"/>
                  <a:gd name="T35" fmla="*/ 68 h 69"/>
                  <a:gd name="T36" fmla="*/ 112 w 113"/>
                  <a:gd name="T37" fmla="*/ 68 h 6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3"/>
                  <a:gd name="T58" fmla="*/ 0 h 69"/>
                  <a:gd name="T59" fmla="*/ 113 w 113"/>
                  <a:gd name="T60" fmla="*/ 69 h 6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3" h="69">
                    <a:moveTo>
                      <a:pt x="0" y="0"/>
                    </a:moveTo>
                    <a:lnTo>
                      <a:pt x="6" y="0"/>
                    </a:lnTo>
                    <a:lnTo>
                      <a:pt x="11" y="3"/>
                    </a:lnTo>
                    <a:lnTo>
                      <a:pt x="17" y="3"/>
                    </a:lnTo>
                    <a:lnTo>
                      <a:pt x="22" y="5"/>
                    </a:lnTo>
                    <a:lnTo>
                      <a:pt x="28" y="8"/>
                    </a:lnTo>
                    <a:lnTo>
                      <a:pt x="34" y="13"/>
                    </a:lnTo>
                    <a:lnTo>
                      <a:pt x="39" y="18"/>
                    </a:lnTo>
                    <a:lnTo>
                      <a:pt x="45" y="23"/>
                    </a:lnTo>
                    <a:lnTo>
                      <a:pt x="48" y="28"/>
                    </a:lnTo>
                    <a:lnTo>
                      <a:pt x="56" y="38"/>
                    </a:lnTo>
                    <a:lnTo>
                      <a:pt x="67" y="38"/>
                    </a:lnTo>
                    <a:lnTo>
                      <a:pt x="73" y="48"/>
                    </a:lnTo>
                    <a:lnTo>
                      <a:pt x="84" y="58"/>
                    </a:lnTo>
                    <a:lnTo>
                      <a:pt x="95" y="58"/>
                    </a:lnTo>
                    <a:lnTo>
                      <a:pt x="95" y="68"/>
                    </a:lnTo>
                    <a:lnTo>
                      <a:pt x="101" y="68"/>
                    </a:lnTo>
                    <a:lnTo>
                      <a:pt x="106" y="68"/>
                    </a:lnTo>
                    <a:lnTo>
                      <a:pt x="112" y="68"/>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08" name="Freeform 242"/>
              <p:cNvSpPr>
                <a:spLocks/>
              </p:cNvSpPr>
              <p:nvPr/>
            </p:nvSpPr>
            <p:spPr bwMode="auto">
              <a:xfrm>
                <a:off x="1639" y="2784"/>
                <a:ext cx="61" cy="48"/>
              </a:xfrm>
              <a:custGeom>
                <a:avLst/>
                <a:gdLst>
                  <a:gd name="T0" fmla="*/ 0 w 61"/>
                  <a:gd name="T1" fmla="*/ 47 h 48"/>
                  <a:gd name="T2" fmla="*/ 17 w 61"/>
                  <a:gd name="T3" fmla="*/ 25 h 48"/>
                  <a:gd name="T4" fmla="*/ 23 w 61"/>
                  <a:gd name="T5" fmla="*/ 22 h 48"/>
                  <a:gd name="T6" fmla="*/ 29 w 61"/>
                  <a:gd name="T7" fmla="*/ 20 h 48"/>
                  <a:gd name="T8" fmla="*/ 34 w 61"/>
                  <a:gd name="T9" fmla="*/ 17 h 48"/>
                  <a:gd name="T10" fmla="*/ 40 w 61"/>
                  <a:gd name="T11" fmla="*/ 17 h 48"/>
                  <a:gd name="T12" fmla="*/ 46 w 61"/>
                  <a:gd name="T13" fmla="*/ 17 h 48"/>
                  <a:gd name="T14" fmla="*/ 51 w 61"/>
                  <a:gd name="T15" fmla="*/ 17 h 48"/>
                  <a:gd name="T16" fmla="*/ 57 w 61"/>
                  <a:gd name="T17" fmla="*/ 15 h 48"/>
                  <a:gd name="T18" fmla="*/ 57 w 61"/>
                  <a:gd name="T19" fmla="*/ 10 h 48"/>
                  <a:gd name="T20" fmla="*/ 60 w 61"/>
                  <a:gd name="T21" fmla="*/ 5 h 48"/>
                  <a:gd name="T22" fmla="*/ 60 w 61"/>
                  <a:gd name="T23" fmla="*/ 0 h 4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1"/>
                  <a:gd name="T37" fmla="*/ 0 h 48"/>
                  <a:gd name="T38" fmla="*/ 61 w 61"/>
                  <a:gd name="T39" fmla="*/ 48 h 4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1" h="48">
                    <a:moveTo>
                      <a:pt x="0" y="47"/>
                    </a:moveTo>
                    <a:lnTo>
                      <a:pt x="17" y="25"/>
                    </a:lnTo>
                    <a:lnTo>
                      <a:pt x="23" y="22"/>
                    </a:lnTo>
                    <a:lnTo>
                      <a:pt x="29" y="20"/>
                    </a:lnTo>
                    <a:lnTo>
                      <a:pt x="34" y="17"/>
                    </a:lnTo>
                    <a:lnTo>
                      <a:pt x="40" y="17"/>
                    </a:lnTo>
                    <a:lnTo>
                      <a:pt x="46" y="17"/>
                    </a:lnTo>
                    <a:lnTo>
                      <a:pt x="51" y="17"/>
                    </a:lnTo>
                    <a:lnTo>
                      <a:pt x="57" y="15"/>
                    </a:lnTo>
                    <a:lnTo>
                      <a:pt x="57" y="10"/>
                    </a:lnTo>
                    <a:lnTo>
                      <a:pt x="60" y="5"/>
                    </a:lnTo>
                    <a:lnTo>
                      <a:pt x="60"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09" name="Freeform 243"/>
              <p:cNvSpPr>
                <a:spLocks/>
              </p:cNvSpPr>
              <p:nvPr/>
            </p:nvSpPr>
            <p:spPr bwMode="auto">
              <a:xfrm>
                <a:off x="1676" y="2764"/>
                <a:ext cx="60" cy="76"/>
              </a:xfrm>
              <a:custGeom>
                <a:avLst/>
                <a:gdLst>
                  <a:gd name="T0" fmla="*/ 0 w 60"/>
                  <a:gd name="T1" fmla="*/ 0 h 76"/>
                  <a:gd name="T2" fmla="*/ 6 w 60"/>
                  <a:gd name="T3" fmla="*/ 0 h 76"/>
                  <a:gd name="T4" fmla="*/ 11 w 60"/>
                  <a:gd name="T5" fmla="*/ 5 h 76"/>
                  <a:gd name="T6" fmla="*/ 11 w 60"/>
                  <a:gd name="T7" fmla="*/ 10 h 76"/>
                  <a:gd name="T8" fmla="*/ 14 w 60"/>
                  <a:gd name="T9" fmla="*/ 15 h 76"/>
                  <a:gd name="T10" fmla="*/ 14 w 60"/>
                  <a:gd name="T11" fmla="*/ 20 h 76"/>
                  <a:gd name="T12" fmla="*/ 17 w 60"/>
                  <a:gd name="T13" fmla="*/ 25 h 76"/>
                  <a:gd name="T14" fmla="*/ 20 w 60"/>
                  <a:gd name="T15" fmla="*/ 30 h 76"/>
                  <a:gd name="T16" fmla="*/ 25 w 60"/>
                  <a:gd name="T17" fmla="*/ 35 h 76"/>
                  <a:gd name="T18" fmla="*/ 31 w 60"/>
                  <a:gd name="T19" fmla="*/ 40 h 76"/>
                  <a:gd name="T20" fmla="*/ 31 w 60"/>
                  <a:gd name="T21" fmla="*/ 45 h 76"/>
                  <a:gd name="T22" fmla="*/ 37 w 60"/>
                  <a:gd name="T23" fmla="*/ 48 h 76"/>
                  <a:gd name="T24" fmla="*/ 37 w 60"/>
                  <a:gd name="T25" fmla="*/ 53 h 76"/>
                  <a:gd name="T26" fmla="*/ 39 w 60"/>
                  <a:gd name="T27" fmla="*/ 58 h 76"/>
                  <a:gd name="T28" fmla="*/ 42 w 60"/>
                  <a:gd name="T29" fmla="*/ 65 h 76"/>
                  <a:gd name="T30" fmla="*/ 48 w 60"/>
                  <a:gd name="T31" fmla="*/ 70 h 76"/>
                  <a:gd name="T32" fmla="*/ 53 w 60"/>
                  <a:gd name="T33" fmla="*/ 73 h 76"/>
                  <a:gd name="T34" fmla="*/ 59 w 60"/>
                  <a:gd name="T35" fmla="*/ 75 h 7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0"/>
                  <a:gd name="T55" fmla="*/ 0 h 76"/>
                  <a:gd name="T56" fmla="*/ 60 w 60"/>
                  <a:gd name="T57" fmla="*/ 76 h 7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0" h="76">
                    <a:moveTo>
                      <a:pt x="0" y="0"/>
                    </a:moveTo>
                    <a:lnTo>
                      <a:pt x="6" y="0"/>
                    </a:lnTo>
                    <a:lnTo>
                      <a:pt x="11" y="5"/>
                    </a:lnTo>
                    <a:lnTo>
                      <a:pt x="11" y="10"/>
                    </a:lnTo>
                    <a:lnTo>
                      <a:pt x="14" y="15"/>
                    </a:lnTo>
                    <a:lnTo>
                      <a:pt x="14" y="20"/>
                    </a:lnTo>
                    <a:lnTo>
                      <a:pt x="17" y="25"/>
                    </a:lnTo>
                    <a:lnTo>
                      <a:pt x="20" y="30"/>
                    </a:lnTo>
                    <a:lnTo>
                      <a:pt x="25" y="35"/>
                    </a:lnTo>
                    <a:lnTo>
                      <a:pt x="31" y="40"/>
                    </a:lnTo>
                    <a:lnTo>
                      <a:pt x="31" y="45"/>
                    </a:lnTo>
                    <a:lnTo>
                      <a:pt x="37" y="48"/>
                    </a:lnTo>
                    <a:lnTo>
                      <a:pt x="37" y="53"/>
                    </a:lnTo>
                    <a:lnTo>
                      <a:pt x="39" y="58"/>
                    </a:lnTo>
                    <a:lnTo>
                      <a:pt x="42" y="65"/>
                    </a:lnTo>
                    <a:lnTo>
                      <a:pt x="48" y="70"/>
                    </a:lnTo>
                    <a:lnTo>
                      <a:pt x="53" y="73"/>
                    </a:lnTo>
                    <a:lnTo>
                      <a:pt x="59" y="75"/>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10" name="Freeform 244"/>
              <p:cNvSpPr>
                <a:spLocks/>
              </p:cNvSpPr>
              <p:nvPr/>
            </p:nvSpPr>
            <p:spPr bwMode="auto">
              <a:xfrm>
                <a:off x="1649" y="2804"/>
                <a:ext cx="107" cy="48"/>
              </a:xfrm>
              <a:custGeom>
                <a:avLst/>
                <a:gdLst>
                  <a:gd name="T0" fmla="*/ 0 w 107"/>
                  <a:gd name="T1" fmla="*/ 47 h 48"/>
                  <a:gd name="T2" fmla="*/ 42 w 107"/>
                  <a:gd name="T3" fmla="*/ 32 h 48"/>
                  <a:gd name="T4" fmla="*/ 47 w 107"/>
                  <a:gd name="T5" fmla="*/ 32 h 48"/>
                  <a:gd name="T6" fmla="*/ 53 w 107"/>
                  <a:gd name="T7" fmla="*/ 32 h 48"/>
                  <a:gd name="T8" fmla="*/ 59 w 107"/>
                  <a:gd name="T9" fmla="*/ 32 h 48"/>
                  <a:gd name="T10" fmla="*/ 64 w 107"/>
                  <a:gd name="T11" fmla="*/ 30 h 48"/>
                  <a:gd name="T12" fmla="*/ 67 w 107"/>
                  <a:gd name="T13" fmla="*/ 25 h 48"/>
                  <a:gd name="T14" fmla="*/ 70 w 107"/>
                  <a:gd name="T15" fmla="*/ 20 h 48"/>
                  <a:gd name="T16" fmla="*/ 75 w 107"/>
                  <a:gd name="T17" fmla="*/ 17 h 48"/>
                  <a:gd name="T18" fmla="*/ 81 w 107"/>
                  <a:gd name="T19" fmla="*/ 15 h 48"/>
                  <a:gd name="T20" fmla="*/ 86 w 107"/>
                  <a:gd name="T21" fmla="*/ 10 h 48"/>
                  <a:gd name="T22" fmla="*/ 92 w 107"/>
                  <a:gd name="T23" fmla="*/ 10 h 48"/>
                  <a:gd name="T24" fmla="*/ 98 w 107"/>
                  <a:gd name="T25" fmla="*/ 7 h 48"/>
                  <a:gd name="T26" fmla="*/ 100 w 107"/>
                  <a:gd name="T27" fmla="*/ 2 h 48"/>
                  <a:gd name="T28" fmla="*/ 106 w 107"/>
                  <a:gd name="T29" fmla="*/ 0 h 4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7"/>
                  <a:gd name="T46" fmla="*/ 0 h 48"/>
                  <a:gd name="T47" fmla="*/ 107 w 107"/>
                  <a:gd name="T48" fmla="*/ 48 h 4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7" h="48">
                    <a:moveTo>
                      <a:pt x="0" y="47"/>
                    </a:moveTo>
                    <a:lnTo>
                      <a:pt x="42" y="32"/>
                    </a:lnTo>
                    <a:lnTo>
                      <a:pt x="47" y="32"/>
                    </a:lnTo>
                    <a:lnTo>
                      <a:pt x="53" y="32"/>
                    </a:lnTo>
                    <a:lnTo>
                      <a:pt x="59" y="32"/>
                    </a:lnTo>
                    <a:lnTo>
                      <a:pt x="64" y="30"/>
                    </a:lnTo>
                    <a:lnTo>
                      <a:pt x="67" y="25"/>
                    </a:lnTo>
                    <a:lnTo>
                      <a:pt x="70" y="20"/>
                    </a:lnTo>
                    <a:lnTo>
                      <a:pt x="75" y="17"/>
                    </a:lnTo>
                    <a:lnTo>
                      <a:pt x="81" y="15"/>
                    </a:lnTo>
                    <a:lnTo>
                      <a:pt x="86" y="10"/>
                    </a:lnTo>
                    <a:lnTo>
                      <a:pt x="92" y="10"/>
                    </a:lnTo>
                    <a:lnTo>
                      <a:pt x="98" y="7"/>
                    </a:lnTo>
                    <a:lnTo>
                      <a:pt x="100" y="2"/>
                    </a:lnTo>
                    <a:lnTo>
                      <a:pt x="106"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11" name="Freeform 245"/>
              <p:cNvSpPr>
                <a:spLocks/>
              </p:cNvSpPr>
              <p:nvPr/>
            </p:nvSpPr>
            <p:spPr bwMode="auto">
              <a:xfrm>
                <a:off x="1705" y="2749"/>
                <a:ext cx="82" cy="91"/>
              </a:xfrm>
              <a:custGeom>
                <a:avLst/>
                <a:gdLst>
                  <a:gd name="T0" fmla="*/ 0 w 82"/>
                  <a:gd name="T1" fmla="*/ 0 h 91"/>
                  <a:gd name="T2" fmla="*/ 8 w 82"/>
                  <a:gd name="T3" fmla="*/ 3 h 91"/>
                  <a:gd name="T4" fmla="*/ 14 w 82"/>
                  <a:gd name="T5" fmla="*/ 3 h 91"/>
                  <a:gd name="T6" fmla="*/ 20 w 82"/>
                  <a:gd name="T7" fmla="*/ 3 h 91"/>
                  <a:gd name="T8" fmla="*/ 25 w 82"/>
                  <a:gd name="T9" fmla="*/ 8 h 91"/>
                  <a:gd name="T10" fmla="*/ 28 w 82"/>
                  <a:gd name="T11" fmla="*/ 13 h 91"/>
                  <a:gd name="T12" fmla="*/ 28 w 82"/>
                  <a:gd name="T13" fmla="*/ 18 h 91"/>
                  <a:gd name="T14" fmla="*/ 31 w 82"/>
                  <a:gd name="T15" fmla="*/ 23 h 91"/>
                  <a:gd name="T16" fmla="*/ 34 w 82"/>
                  <a:gd name="T17" fmla="*/ 28 h 91"/>
                  <a:gd name="T18" fmla="*/ 42 w 82"/>
                  <a:gd name="T19" fmla="*/ 50 h 91"/>
                  <a:gd name="T20" fmla="*/ 42 w 82"/>
                  <a:gd name="T21" fmla="*/ 60 h 91"/>
                  <a:gd name="T22" fmla="*/ 53 w 82"/>
                  <a:gd name="T23" fmla="*/ 70 h 91"/>
                  <a:gd name="T24" fmla="*/ 53 w 82"/>
                  <a:gd name="T25" fmla="*/ 80 h 91"/>
                  <a:gd name="T26" fmla="*/ 59 w 82"/>
                  <a:gd name="T27" fmla="*/ 83 h 91"/>
                  <a:gd name="T28" fmla="*/ 64 w 82"/>
                  <a:gd name="T29" fmla="*/ 85 h 91"/>
                  <a:gd name="T30" fmla="*/ 70 w 82"/>
                  <a:gd name="T31" fmla="*/ 88 h 91"/>
                  <a:gd name="T32" fmla="*/ 75 w 82"/>
                  <a:gd name="T33" fmla="*/ 90 h 91"/>
                  <a:gd name="T34" fmla="*/ 81 w 82"/>
                  <a:gd name="T35" fmla="*/ 90 h 9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2"/>
                  <a:gd name="T55" fmla="*/ 0 h 91"/>
                  <a:gd name="T56" fmla="*/ 82 w 82"/>
                  <a:gd name="T57" fmla="*/ 91 h 9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2" h="91">
                    <a:moveTo>
                      <a:pt x="0" y="0"/>
                    </a:moveTo>
                    <a:lnTo>
                      <a:pt x="8" y="3"/>
                    </a:lnTo>
                    <a:lnTo>
                      <a:pt x="14" y="3"/>
                    </a:lnTo>
                    <a:lnTo>
                      <a:pt x="20" y="3"/>
                    </a:lnTo>
                    <a:lnTo>
                      <a:pt x="25" y="8"/>
                    </a:lnTo>
                    <a:lnTo>
                      <a:pt x="28" y="13"/>
                    </a:lnTo>
                    <a:lnTo>
                      <a:pt x="28" y="18"/>
                    </a:lnTo>
                    <a:lnTo>
                      <a:pt x="31" y="23"/>
                    </a:lnTo>
                    <a:lnTo>
                      <a:pt x="34" y="28"/>
                    </a:lnTo>
                    <a:lnTo>
                      <a:pt x="42" y="50"/>
                    </a:lnTo>
                    <a:lnTo>
                      <a:pt x="42" y="60"/>
                    </a:lnTo>
                    <a:lnTo>
                      <a:pt x="53" y="70"/>
                    </a:lnTo>
                    <a:lnTo>
                      <a:pt x="53" y="80"/>
                    </a:lnTo>
                    <a:lnTo>
                      <a:pt x="59" y="83"/>
                    </a:lnTo>
                    <a:lnTo>
                      <a:pt x="64" y="85"/>
                    </a:lnTo>
                    <a:lnTo>
                      <a:pt x="70" y="88"/>
                    </a:lnTo>
                    <a:lnTo>
                      <a:pt x="75" y="90"/>
                    </a:lnTo>
                    <a:lnTo>
                      <a:pt x="81" y="9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12" name="Freeform 246"/>
              <p:cNvSpPr>
                <a:spLocks/>
              </p:cNvSpPr>
              <p:nvPr/>
            </p:nvSpPr>
            <p:spPr bwMode="auto">
              <a:xfrm>
                <a:off x="1718" y="2709"/>
                <a:ext cx="51" cy="128"/>
              </a:xfrm>
              <a:custGeom>
                <a:avLst/>
                <a:gdLst>
                  <a:gd name="T0" fmla="*/ 0 w 51"/>
                  <a:gd name="T1" fmla="*/ 0 h 128"/>
                  <a:gd name="T2" fmla="*/ 8 w 51"/>
                  <a:gd name="T3" fmla="*/ 2 h 128"/>
                  <a:gd name="T4" fmla="*/ 33 w 51"/>
                  <a:gd name="T5" fmla="*/ 10 h 128"/>
                  <a:gd name="T6" fmla="*/ 39 w 51"/>
                  <a:gd name="T7" fmla="*/ 15 h 128"/>
                  <a:gd name="T8" fmla="*/ 39 w 51"/>
                  <a:gd name="T9" fmla="*/ 20 h 128"/>
                  <a:gd name="T10" fmla="*/ 39 w 51"/>
                  <a:gd name="T11" fmla="*/ 25 h 128"/>
                  <a:gd name="T12" fmla="*/ 39 w 51"/>
                  <a:gd name="T13" fmla="*/ 30 h 128"/>
                  <a:gd name="T14" fmla="*/ 36 w 51"/>
                  <a:gd name="T15" fmla="*/ 42 h 128"/>
                  <a:gd name="T16" fmla="*/ 36 w 51"/>
                  <a:gd name="T17" fmla="*/ 52 h 128"/>
                  <a:gd name="T18" fmla="*/ 39 w 51"/>
                  <a:gd name="T19" fmla="*/ 57 h 128"/>
                  <a:gd name="T20" fmla="*/ 42 w 51"/>
                  <a:gd name="T21" fmla="*/ 62 h 128"/>
                  <a:gd name="T22" fmla="*/ 47 w 51"/>
                  <a:gd name="T23" fmla="*/ 65 h 128"/>
                  <a:gd name="T24" fmla="*/ 50 w 51"/>
                  <a:gd name="T25" fmla="*/ 70 h 128"/>
                  <a:gd name="T26" fmla="*/ 50 w 51"/>
                  <a:gd name="T27" fmla="*/ 75 h 128"/>
                  <a:gd name="T28" fmla="*/ 50 w 51"/>
                  <a:gd name="T29" fmla="*/ 80 h 128"/>
                  <a:gd name="T30" fmla="*/ 50 w 51"/>
                  <a:gd name="T31" fmla="*/ 85 h 128"/>
                  <a:gd name="T32" fmla="*/ 44 w 51"/>
                  <a:gd name="T33" fmla="*/ 97 h 128"/>
                  <a:gd name="T34" fmla="*/ 39 w 51"/>
                  <a:gd name="T35" fmla="*/ 100 h 128"/>
                  <a:gd name="T36" fmla="*/ 39 w 51"/>
                  <a:gd name="T37" fmla="*/ 105 h 128"/>
                  <a:gd name="T38" fmla="*/ 39 w 51"/>
                  <a:gd name="T39" fmla="*/ 110 h 128"/>
                  <a:gd name="T40" fmla="*/ 42 w 51"/>
                  <a:gd name="T41" fmla="*/ 115 h 128"/>
                  <a:gd name="T42" fmla="*/ 42 w 51"/>
                  <a:gd name="T43" fmla="*/ 120 h 128"/>
                  <a:gd name="T44" fmla="*/ 44 w 51"/>
                  <a:gd name="T45" fmla="*/ 125 h 128"/>
                  <a:gd name="T46" fmla="*/ 42 w 51"/>
                  <a:gd name="T47" fmla="*/ 127 h 12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1"/>
                  <a:gd name="T73" fmla="*/ 0 h 128"/>
                  <a:gd name="T74" fmla="*/ 51 w 51"/>
                  <a:gd name="T75" fmla="*/ 128 h 12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1" h="128">
                    <a:moveTo>
                      <a:pt x="0" y="0"/>
                    </a:moveTo>
                    <a:lnTo>
                      <a:pt x="8" y="2"/>
                    </a:lnTo>
                    <a:lnTo>
                      <a:pt x="33" y="10"/>
                    </a:lnTo>
                    <a:lnTo>
                      <a:pt x="39" y="15"/>
                    </a:lnTo>
                    <a:lnTo>
                      <a:pt x="39" y="20"/>
                    </a:lnTo>
                    <a:lnTo>
                      <a:pt x="39" y="25"/>
                    </a:lnTo>
                    <a:lnTo>
                      <a:pt x="39" y="30"/>
                    </a:lnTo>
                    <a:lnTo>
                      <a:pt x="36" y="42"/>
                    </a:lnTo>
                    <a:lnTo>
                      <a:pt x="36" y="52"/>
                    </a:lnTo>
                    <a:lnTo>
                      <a:pt x="39" y="57"/>
                    </a:lnTo>
                    <a:lnTo>
                      <a:pt x="42" y="62"/>
                    </a:lnTo>
                    <a:lnTo>
                      <a:pt x="47" y="65"/>
                    </a:lnTo>
                    <a:lnTo>
                      <a:pt x="50" y="70"/>
                    </a:lnTo>
                    <a:lnTo>
                      <a:pt x="50" y="75"/>
                    </a:lnTo>
                    <a:lnTo>
                      <a:pt x="50" y="80"/>
                    </a:lnTo>
                    <a:lnTo>
                      <a:pt x="50" y="85"/>
                    </a:lnTo>
                    <a:lnTo>
                      <a:pt x="44" y="97"/>
                    </a:lnTo>
                    <a:lnTo>
                      <a:pt x="39" y="100"/>
                    </a:lnTo>
                    <a:lnTo>
                      <a:pt x="39" y="105"/>
                    </a:lnTo>
                    <a:lnTo>
                      <a:pt x="39" y="110"/>
                    </a:lnTo>
                    <a:lnTo>
                      <a:pt x="42" y="115"/>
                    </a:lnTo>
                    <a:lnTo>
                      <a:pt x="42" y="120"/>
                    </a:lnTo>
                    <a:lnTo>
                      <a:pt x="44" y="125"/>
                    </a:lnTo>
                    <a:lnTo>
                      <a:pt x="42" y="127"/>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13" name="Freeform 247"/>
              <p:cNvSpPr>
                <a:spLocks/>
              </p:cNvSpPr>
              <p:nvPr/>
            </p:nvSpPr>
            <p:spPr bwMode="auto">
              <a:xfrm>
                <a:off x="1694" y="2681"/>
                <a:ext cx="87" cy="24"/>
              </a:xfrm>
              <a:custGeom>
                <a:avLst/>
                <a:gdLst>
                  <a:gd name="T0" fmla="*/ 0 w 87"/>
                  <a:gd name="T1" fmla="*/ 23 h 24"/>
                  <a:gd name="T2" fmla="*/ 6 w 87"/>
                  <a:gd name="T3" fmla="*/ 20 h 24"/>
                  <a:gd name="T4" fmla="*/ 6 w 87"/>
                  <a:gd name="T5" fmla="*/ 13 h 24"/>
                  <a:gd name="T6" fmla="*/ 6 w 87"/>
                  <a:gd name="T7" fmla="*/ 8 h 24"/>
                  <a:gd name="T8" fmla="*/ 11 w 87"/>
                  <a:gd name="T9" fmla="*/ 3 h 24"/>
                  <a:gd name="T10" fmla="*/ 17 w 87"/>
                  <a:gd name="T11" fmla="*/ 3 h 24"/>
                  <a:gd name="T12" fmla="*/ 31 w 87"/>
                  <a:gd name="T13" fmla="*/ 0 h 24"/>
                  <a:gd name="T14" fmla="*/ 42 w 87"/>
                  <a:gd name="T15" fmla="*/ 0 h 24"/>
                  <a:gd name="T16" fmla="*/ 53 w 87"/>
                  <a:gd name="T17" fmla="*/ 0 h 24"/>
                  <a:gd name="T18" fmla="*/ 64 w 87"/>
                  <a:gd name="T19" fmla="*/ 0 h 24"/>
                  <a:gd name="T20" fmla="*/ 69 w 87"/>
                  <a:gd name="T21" fmla="*/ 0 h 24"/>
                  <a:gd name="T22" fmla="*/ 75 w 87"/>
                  <a:gd name="T23" fmla="*/ 3 h 24"/>
                  <a:gd name="T24" fmla="*/ 80 w 87"/>
                  <a:gd name="T25" fmla="*/ 3 h 24"/>
                  <a:gd name="T26" fmla="*/ 86 w 87"/>
                  <a:gd name="T27" fmla="*/ 0 h 2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7"/>
                  <a:gd name="T43" fmla="*/ 0 h 24"/>
                  <a:gd name="T44" fmla="*/ 87 w 87"/>
                  <a:gd name="T45" fmla="*/ 24 h 2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7" h="24">
                    <a:moveTo>
                      <a:pt x="0" y="23"/>
                    </a:moveTo>
                    <a:lnTo>
                      <a:pt x="6" y="20"/>
                    </a:lnTo>
                    <a:lnTo>
                      <a:pt x="6" y="13"/>
                    </a:lnTo>
                    <a:lnTo>
                      <a:pt x="6" y="8"/>
                    </a:lnTo>
                    <a:lnTo>
                      <a:pt x="11" y="3"/>
                    </a:lnTo>
                    <a:lnTo>
                      <a:pt x="17" y="3"/>
                    </a:lnTo>
                    <a:lnTo>
                      <a:pt x="31" y="0"/>
                    </a:lnTo>
                    <a:lnTo>
                      <a:pt x="42" y="0"/>
                    </a:lnTo>
                    <a:lnTo>
                      <a:pt x="53" y="0"/>
                    </a:lnTo>
                    <a:lnTo>
                      <a:pt x="64" y="0"/>
                    </a:lnTo>
                    <a:lnTo>
                      <a:pt x="69" y="0"/>
                    </a:lnTo>
                    <a:lnTo>
                      <a:pt x="75" y="3"/>
                    </a:lnTo>
                    <a:lnTo>
                      <a:pt x="80" y="3"/>
                    </a:lnTo>
                    <a:lnTo>
                      <a:pt x="86"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14" name="Freeform 248"/>
              <p:cNvSpPr>
                <a:spLocks/>
              </p:cNvSpPr>
              <p:nvPr/>
            </p:nvSpPr>
            <p:spPr bwMode="auto">
              <a:xfrm>
                <a:off x="1761" y="2649"/>
                <a:ext cx="71" cy="72"/>
              </a:xfrm>
              <a:custGeom>
                <a:avLst/>
                <a:gdLst>
                  <a:gd name="T0" fmla="*/ 0 w 71"/>
                  <a:gd name="T1" fmla="*/ 0 h 72"/>
                  <a:gd name="T2" fmla="*/ 6 w 71"/>
                  <a:gd name="T3" fmla="*/ 0 h 72"/>
                  <a:gd name="T4" fmla="*/ 11 w 71"/>
                  <a:gd name="T5" fmla="*/ 2 h 72"/>
                  <a:gd name="T6" fmla="*/ 17 w 71"/>
                  <a:gd name="T7" fmla="*/ 7 h 72"/>
                  <a:gd name="T8" fmla="*/ 28 w 71"/>
                  <a:gd name="T9" fmla="*/ 7 h 72"/>
                  <a:gd name="T10" fmla="*/ 31 w 71"/>
                  <a:gd name="T11" fmla="*/ 12 h 72"/>
                  <a:gd name="T12" fmla="*/ 34 w 71"/>
                  <a:gd name="T13" fmla="*/ 17 h 72"/>
                  <a:gd name="T14" fmla="*/ 39 w 71"/>
                  <a:gd name="T15" fmla="*/ 29 h 72"/>
                  <a:gd name="T16" fmla="*/ 39 w 71"/>
                  <a:gd name="T17" fmla="*/ 39 h 72"/>
                  <a:gd name="T18" fmla="*/ 42 w 71"/>
                  <a:gd name="T19" fmla="*/ 44 h 72"/>
                  <a:gd name="T20" fmla="*/ 48 w 71"/>
                  <a:gd name="T21" fmla="*/ 49 h 72"/>
                  <a:gd name="T22" fmla="*/ 53 w 71"/>
                  <a:gd name="T23" fmla="*/ 54 h 72"/>
                  <a:gd name="T24" fmla="*/ 59 w 71"/>
                  <a:gd name="T25" fmla="*/ 56 h 72"/>
                  <a:gd name="T26" fmla="*/ 64 w 71"/>
                  <a:gd name="T27" fmla="*/ 61 h 72"/>
                  <a:gd name="T28" fmla="*/ 64 w 71"/>
                  <a:gd name="T29" fmla="*/ 66 h 72"/>
                  <a:gd name="T30" fmla="*/ 70 w 71"/>
                  <a:gd name="T31" fmla="*/ 71 h 7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1"/>
                  <a:gd name="T49" fmla="*/ 0 h 72"/>
                  <a:gd name="T50" fmla="*/ 71 w 71"/>
                  <a:gd name="T51" fmla="*/ 72 h 7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1" h="72">
                    <a:moveTo>
                      <a:pt x="0" y="0"/>
                    </a:moveTo>
                    <a:lnTo>
                      <a:pt x="6" y="0"/>
                    </a:lnTo>
                    <a:lnTo>
                      <a:pt x="11" y="2"/>
                    </a:lnTo>
                    <a:lnTo>
                      <a:pt x="17" y="7"/>
                    </a:lnTo>
                    <a:lnTo>
                      <a:pt x="28" y="7"/>
                    </a:lnTo>
                    <a:lnTo>
                      <a:pt x="31" y="12"/>
                    </a:lnTo>
                    <a:lnTo>
                      <a:pt x="34" y="17"/>
                    </a:lnTo>
                    <a:lnTo>
                      <a:pt x="39" y="29"/>
                    </a:lnTo>
                    <a:lnTo>
                      <a:pt x="39" y="39"/>
                    </a:lnTo>
                    <a:lnTo>
                      <a:pt x="42" y="44"/>
                    </a:lnTo>
                    <a:lnTo>
                      <a:pt x="48" y="49"/>
                    </a:lnTo>
                    <a:lnTo>
                      <a:pt x="53" y="54"/>
                    </a:lnTo>
                    <a:lnTo>
                      <a:pt x="59" y="56"/>
                    </a:lnTo>
                    <a:lnTo>
                      <a:pt x="64" y="61"/>
                    </a:lnTo>
                    <a:lnTo>
                      <a:pt x="64" y="66"/>
                    </a:lnTo>
                    <a:lnTo>
                      <a:pt x="70" y="71"/>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15" name="Freeform 249"/>
              <p:cNvSpPr>
                <a:spLocks/>
              </p:cNvSpPr>
              <p:nvPr/>
            </p:nvSpPr>
            <p:spPr bwMode="auto">
              <a:xfrm>
                <a:off x="1780" y="2681"/>
                <a:ext cx="91" cy="44"/>
              </a:xfrm>
              <a:custGeom>
                <a:avLst/>
                <a:gdLst>
                  <a:gd name="T0" fmla="*/ 0 w 91"/>
                  <a:gd name="T1" fmla="*/ 43 h 44"/>
                  <a:gd name="T2" fmla="*/ 6 w 91"/>
                  <a:gd name="T3" fmla="*/ 40 h 44"/>
                  <a:gd name="T4" fmla="*/ 11 w 91"/>
                  <a:gd name="T5" fmla="*/ 35 h 44"/>
                  <a:gd name="T6" fmla="*/ 14 w 91"/>
                  <a:gd name="T7" fmla="*/ 30 h 44"/>
                  <a:gd name="T8" fmla="*/ 20 w 91"/>
                  <a:gd name="T9" fmla="*/ 25 h 44"/>
                  <a:gd name="T10" fmla="*/ 34 w 91"/>
                  <a:gd name="T11" fmla="*/ 18 h 44"/>
                  <a:gd name="T12" fmla="*/ 45 w 91"/>
                  <a:gd name="T13" fmla="*/ 18 h 44"/>
                  <a:gd name="T14" fmla="*/ 56 w 91"/>
                  <a:gd name="T15" fmla="*/ 18 h 44"/>
                  <a:gd name="T16" fmla="*/ 68 w 91"/>
                  <a:gd name="T17" fmla="*/ 8 h 44"/>
                  <a:gd name="T18" fmla="*/ 73 w 91"/>
                  <a:gd name="T19" fmla="*/ 8 h 44"/>
                  <a:gd name="T20" fmla="*/ 79 w 91"/>
                  <a:gd name="T21" fmla="*/ 8 h 44"/>
                  <a:gd name="T22" fmla="*/ 84 w 91"/>
                  <a:gd name="T23" fmla="*/ 8 h 44"/>
                  <a:gd name="T24" fmla="*/ 90 w 91"/>
                  <a:gd name="T25" fmla="*/ 5 h 44"/>
                  <a:gd name="T26" fmla="*/ 90 w 91"/>
                  <a:gd name="T27" fmla="*/ 0 h 44"/>
                  <a:gd name="T28" fmla="*/ 90 w 91"/>
                  <a:gd name="T29" fmla="*/ 0 h 4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1"/>
                  <a:gd name="T46" fmla="*/ 0 h 44"/>
                  <a:gd name="T47" fmla="*/ 91 w 91"/>
                  <a:gd name="T48" fmla="*/ 44 h 4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1" h="44">
                    <a:moveTo>
                      <a:pt x="0" y="43"/>
                    </a:moveTo>
                    <a:lnTo>
                      <a:pt x="6" y="40"/>
                    </a:lnTo>
                    <a:lnTo>
                      <a:pt x="11" y="35"/>
                    </a:lnTo>
                    <a:lnTo>
                      <a:pt x="14" y="30"/>
                    </a:lnTo>
                    <a:lnTo>
                      <a:pt x="20" y="25"/>
                    </a:lnTo>
                    <a:lnTo>
                      <a:pt x="34" y="18"/>
                    </a:lnTo>
                    <a:lnTo>
                      <a:pt x="45" y="18"/>
                    </a:lnTo>
                    <a:lnTo>
                      <a:pt x="56" y="18"/>
                    </a:lnTo>
                    <a:lnTo>
                      <a:pt x="68" y="8"/>
                    </a:lnTo>
                    <a:lnTo>
                      <a:pt x="73" y="8"/>
                    </a:lnTo>
                    <a:lnTo>
                      <a:pt x="79" y="8"/>
                    </a:lnTo>
                    <a:lnTo>
                      <a:pt x="84" y="8"/>
                    </a:lnTo>
                    <a:lnTo>
                      <a:pt x="90" y="5"/>
                    </a:lnTo>
                    <a:lnTo>
                      <a:pt x="90"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16" name="Freeform 250"/>
              <p:cNvSpPr>
                <a:spLocks/>
              </p:cNvSpPr>
              <p:nvPr/>
            </p:nvSpPr>
            <p:spPr bwMode="auto">
              <a:xfrm>
                <a:off x="1806" y="2704"/>
                <a:ext cx="108" cy="78"/>
              </a:xfrm>
              <a:custGeom>
                <a:avLst/>
                <a:gdLst>
                  <a:gd name="T0" fmla="*/ 107 w 108"/>
                  <a:gd name="T1" fmla="*/ 0 h 78"/>
                  <a:gd name="T2" fmla="*/ 101 w 108"/>
                  <a:gd name="T3" fmla="*/ 0 h 78"/>
                  <a:gd name="T4" fmla="*/ 96 w 108"/>
                  <a:gd name="T5" fmla="*/ 0 h 78"/>
                  <a:gd name="T6" fmla="*/ 82 w 108"/>
                  <a:gd name="T7" fmla="*/ 5 h 78"/>
                  <a:gd name="T8" fmla="*/ 68 w 108"/>
                  <a:gd name="T9" fmla="*/ 7 h 78"/>
                  <a:gd name="T10" fmla="*/ 56 w 108"/>
                  <a:gd name="T11" fmla="*/ 17 h 78"/>
                  <a:gd name="T12" fmla="*/ 45 w 108"/>
                  <a:gd name="T13" fmla="*/ 27 h 78"/>
                  <a:gd name="T14" fmla="*/ 45 w 108"/>
                  <a:gd name="T15" fmla="*/ 37 h 78"/>
                  <a:gd name="T16" fmla="*/ 45 w 108"/>
                  <a:gd name="T17" fmla="*/ 42 h 78"/>
                  <a:gd name="T18" fmla="*/ 42 w 108"/>
                  <a:gd name="T19" fmla="*/ 47 h 78"/>
                  <a:gd name="T20" fmla="*/ 42 w 108"/>
                  <a:gd name="T21" fmla="*/ 52 h 78"/>
                  <a:gd name="T22" fmla="*/ 42 w 108"/>
                  <a:gd name="T23" fmla="*/ 57 h 78"/>
                  <a:gd name="T24" fmla="*/ 42 w 108"/>
                  <a:gd name="T25" fmla="*/ 62 h 78"/>
                  <a:gd name="T26" fmla="*/ 28 w 108"/>
                  <a:gd name="T27" fmla="*/ 65 h 78"/>
                  <a:gd name="T28" fmla="*/ 23 w 108"/>
                  <a:gd name="T29" fmla="*/ 67 h 78"/>
                  <a:gd name="T30" fmla="*/ 17 w 108"/>
                  <a:gd name="T31" fmla="*/ 70 h 78"/>
                  <a:gd name="T32" fmla="*/ 11 w 108"/>
                  <a:gd name="T33" fmla="*/ 72 h 78"/>
                  <a:gd name="T34" fmla="*/ 6 w 108"/>
                  <a:gd name="T35" fmla="*/ 75 h 78"/>
                  <a:gd name="T36" fmla="*/ 0 w 108"/>
                  <a:gd name="T37" fmla="*/ 77 h 7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8"/>
                  <a:gd name="T58" fmla="*/ 0 h 78"/>
                  <a:gd name="T59" fmla="*/ 108 w 108"/>
                  <a:gd name="T60" fmla="*/ 78 h 7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8" h="78">
                    <a:moveTo>
                      <a:pt x="107" y="0"/>
                    </a:moveTo>
                    <a:lnTo>
                      <a:pt x="101" y="0"/>
                    </a:lnTo>
                    <a:lnTo>
                      <a:pt x="96" y="0"/>
                    </a:lnTo>
                    <a:lnTo>
                      <a:pt x="82" y="5"/>
                    </a:lnTo>
                    <a:lnTo>
                      <a:pt x="68" y="7"/>
                    </a:lnTo>
                    <a:lnTo>
                      <a:pt x="56" y="17"/>
                    </a:lnTo>
                    <a:lnTo>
                      <a:pt x="45" y="27"/>
                    </a:lnTo>
                    <a:lnTo>
                      <a:pt x="45" y="37"/>
                    </a:lnTo>
                    <a:lnTo>
                      <a:pt x="45" y="42"/>
                    </a:lnTo>
                    <a:lnTo>
                      <a:pt x="42" y="47"/>
                    </a:lnTo>
                    <a:lnTo>
                      <a:pt x="42" y="52"/>
                    </a:lnTo>
                    <a:lnTo>
                      <a:pt x="42" y="57"/>
                    </a:lnTo>
                    <a:lnTo>
                      <a:pt x="42" y="62"/>
                    </a:lnTo>
                    <a:lnTo>
                      <a:pt x="28" y="65"/>
                    </a:lnTo>
                    <a:lnTo>
                      <a:pt x="23" y="67"/>
                    </a:lnTo>
                    <a:lnTo>
                      <a:pt x="17" y="70"/>
                    </a:lnTo>
                    <a:lnTo>
                      <a:pt x="11" y="72"/>
                    </a:lnTo>
                    <a:lnTo>
                      <a:pt x="6" y="75"/>
                    </a:lnTo>
                    <a:lnTo>
                      <a:pt x="0" y="77"/>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17" name="Freeform 251"/>
              <p:cNvSpPr>
                <a:spLocks/>
              </p:cNvSpPr>
              <p:nvPr/>
            </p:nvSpPr>
            <p:spPr bwMode="auto">
              <a:xfrm>
                <a:off x="1834" y="2764"/>
                <a:ext cx="82" cy="51"/>
              </a:xfrm>
              <a:custGeom>
                <a:avLst/>
                <a:gdLst>
                  <a:gd name="T0" fmla="*/ 0 w 82"/>
                  <a:gd name="T1" fmla="*/ 50 h 51"/>
                  <a:gd name="T2" fmla="*/ 3 w 82"/>
                  <a:gd name="T3" fmla="*/ 45 h 51"/>
                  <a:gd name="T4" fmla="*/ 8 w 82"/>
                  <a:gd name="T5" fmla="*/ 43 h 51"/>
                  <a:gd name="T6" fmla="*/ 14 w 82"/>
                  <a:gd name="T7" fmla="*/ 38 h 51"/>
                  <a:gd name="T8" fmla="*/ 20 w 82"/>
                  <a:gd name="T9" fmla="*/ 35 h 51"/>
                  <a:gd name="T10" fmla="*/ 25 w 82"/>
                  <a:gd name="T11" fmla="*/ 35 h 51"/>
                  <a:gd name="T12" fmla="*/ 31 w 82"/>
                  <a:gd name="T13" fmla="*/ 33 h 51"/>
                  <a:gd name="T14" fmla="*/ 36 w 82"/>
                  <a:gd name="T15" fmla="*/ 33 h 51"/>
                  <a:gd name="T16" fmla="*/ 42 w 82"/>
                  <a:gd name="T17" fmla="*/ 30 h 51"/>
                  <a:gd name="T18" fmla="*/ 47 w 82"/>
                  <a:gd name="T19" fmla="*/ 28 h 51"/>
                  <a:gd name="T20" fmla="*/ 45 w 82"/>
                  <a:gd name="T21" fmla="*/ 23 h 51"/>
                  <a:gd name="T22" fmla="*/ 47 w 82"/>
                  <a:gd name="T23" fmla="*/ 18 h 51"/>
                  <a:gd name="T24" fmla="*/ 50 w 82"/>
                  <a:gd name="T25" fmla="*/ 13 h 51"/>
                  <a:gd name="T26" fmla="*/ 56 w 82"/>
                  <a:gd name="T27" fmla="*/ 10 h 51"/>
                  <a:gd name="T28" fmla="*/ 61 w 82"/>
                  <a:gd name="T29" fmla="*/ 10 h 51"/>
                  <a:gd name="T30" fmla="*/ 67 w 82"/>
                  <a:gd name="T31" fmla="*/ 8 h 51"/>
                  <a:gd name="T32" fmla="*/ 73 w 82"/>
                  <a:gd name="T33" fmla="*/ 8 h 51"/>
                  <a:gd name="T34" fmla="*/ 78 w 82"/>
                  <a:gd name="T35" fmla="*/ 5 h 51"/>
                  <a:gd name="T36" fmla="*/ 81 w 82"/>
                  <a:gd name="T37" fmla="*/ 0 h 5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2"/>
                  <a:gd name="T58" fmla="*/ 0 h 51"/>
                  <a:gd name="T59" fmla="*/ 82 w 82"/>
                  <a:gd name="T60" fmla="*/ 51 h 5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2" h="51">
                    <a:moveTo>
                      <a:pt x="0" y="50"/>
                    </a:moveTo>
                    <a:lnTo>
                      <a:pt x="3" y="45"/>
                    </a:lnTo>
                    <a:lnTo>
                      <a:pt x="8" y="43"/>
                    </a:lnTo>
                    <a:lnTo>
                      <a:pt x="14" y="38"/>
                    </a:lnTo>
                    <a:lnTo>
                      <a:pt x="20" y="35"/>
                    </a:lnTo>
                    <a:lnTo>
                      <a:pt x="25" y="35"/>
                    </a:lnTo>
                    <a:lnTo>
                      <a:pt x="31" y="33"/>
                    </a:lnTo>
                    <a:lnTo>
                      <a:pt x="36" y="33"/>
                    </a:lnTo>
                    <a:lnTo>
                      <a:pt x="42" y="30"/>
                    </a:lnTo>
                    <a:lnTo>
                      <a:pt x="47" y="28"/>
                    </a:lnTo>
                    <a:lnTo>
                      <a:pt x="45" y="23"/>
                    </a:lnTo>
                    <a:lnTo>
                      <a:pt x="47" y="18"/>
                    </a:lnTo>
                    <a:lnTo>
                      <a:pt x="50" y="13"/>
                    </a:lnTo>
                    <a:lnTo>
                      <a:pt x="56" y="10"/>
                    </a:lnTo>
                    <a:lnTo>
                      <a:pt x="61" y="10"/>
                    </a:lnTo>
                    <a:lnTo>
                      <a:pt x="67" y="8"/>
                    </a:lnTo>
                    <a:lnTo>
                      <a:pt x="73" y="8"/>
                    </a:lnTo>
                    <a:lnTo>
                      <a:pt x="78" y="5"/>
                    </a:lnTo>
                    <a:lnTo>
                      <a:pt x="81"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18" name="Freeform 252"/>
              <p:cNvSpPr>
                <a:spLocks/>
              </p:cNvSpPr>
              <p:nvPr/>
            </p:nvSpPr>
            <p:spPr bwMode="auto">
              <a:xfrm>
                <a:off x="1802" y="2811"/>
                <a:ext cx="123" cy="44"/>
              </a:xfrm>
              <a:custGeom>
                <a:avLst/>
                <a:gdLst>
                  <a:gd name="T0" fmla="*/ 0 w 123"/>
                  <a:gd name="T1" fmla="*/ 0 h 44"/>
                  <a:gd name="T2" fmla="*/ 6 w 123"/>
                  <a:gd name="T3" fmla="*/ 3 h 44"/>
                  <a:gd name="T4" fmla="*/ 11 w 123"/>
                  <a:gd name="T5" fmla="*/ 8 h 44"/>
                  <a:gd name="T6" fmla="*/ 17 w 123"/>
                  <a:gd name="T7" fmla="*/ 13 h 44"/>
                  <a:gd name="T8" fmla="*/ 23 w 123"/>
                  <a:gd name="T9" fmla="*/ 13 h 44"/>
                  <a:gd name="T10" fmla="*/ 28 w 123"/>
                  <a:gd name="T11" fmla="*/ 15 h 44"/>
                  <a:gd name="T12" fmla="*/ 34 w 123"/>
                  <a:gd name="T13" fmla="*/ 15 h 44"/>
                  <a:gd name="T14" fmla="*/ 40 w 123"/>
                  <a:gd name="T15" fmla="*/ 15 h 44"/>
                  <a:gd name="T16" fmla="*/ 68 w 123"/>
                  <a:gd name="T17" fmla="*/ 23 h 44"/>
                  <a:gd name="T18" fmla="*/ 79 w 123"/>
                  <a:gd name="T19" fmla="*/ 23 h 44"/>
                  <a:gd name="T20" fmla="*/ 91 w 123"/>
                  <a:gd name="T21" fmla="*/ 23 h 44"/>
                  <a:gd name="T22" fmla="*/ 91 w 123"/>
                  <a:gd name="T23" fmla="*/ 33 h 44"/>
                  <a:gd name="T24" fmla="*/ 96 w 123"/>
                  <a:gd name="T25" fmla="*/ 33 h 44"/>
                  <a:gd name="T26" fmla="*/ 102 w 123"/>
                  <a:gd name="T27" fmla="*/ 38 h 44"/>
                  <a:gd name="T28" fmla="*/ 116 w 123"/>
                  <a:gd name="T29" fmla="*/ 43 h 44"/>
                  <a:gd name="T30" fmla="*/ 122 w 123"/>
                  <a:gd name="T31" fmla="*/ 43 h 4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23"/>
                  <a:gd name="T49" fmla="*/ 0 h 44"/>
                  <a:gd name="T50" fmla="*/ 123 w 123"/>
                  <a:gd name="T51" fmla="*/ 44 h 4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23" h="44">
                    <a:moveTo>
                      <a:pt x="0" y="0"/>
                    </a:moveTo>
                    <a:lnTo>
                      <a:pt x="6" y="3"/>
                    </a:lnTo>
                    <a:lnTo>
                      <a:pt x="11" y="8"/>
                    </a:lnTo>
                    <a:lnTo>
                      <a:pt x="17" y="13"/>
                    </a:lnTo>
                    <a:lnTo>
                      <a:pt x="23" y="13"/>
                    </a:lnTo>
                    <a:lnTo>
                      <a:pt x="28" y="15"/>
                    </a:lnTo>
                    <a:lnTo>
                      <a:pt x="34" y="15"/>
                    </a:lnTo>
                    <a:lnTo>
                      <a:pt x="40" y="15"/>
                    </a:lnTo>
                    <a:lnTo>
                      <a:pt x="68" y="23"/>
                    </a:lnTo>
                    <a:lnTo>
                      <a:pt x="79" y="23"/>
                    </a:lnTo>
                    <a:lnTo>
                      <a:pt x="91" y="23"/>
                    </a:lnTo>
                    <a:lnTo>
                      <a:pt x="91" y="33"/>
                    </a:lnTo>
                    <a:lnTo>
                      <a:pt x="96" y="33"/>
                    </a:lnTo>
                    <a:lnTo>
                      <a:pt x="102" y="38"/>
                    </a:lnTo>
                    <a:lnTo>
                      <a:pt x="116" y="43"/>
                    </a:lnTo>
                    <a:lnTo>
                      <a:pt x="122" y="43"/>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19" name="Freeform 253"/>
              <p:cNvSpPr>
                <a:spLocks/>
              </p:cNvSpPr>
              <p:nvPr/>
            </p:nvSpPr>
            <p:spPr bwMode="auto">
              <a:xfrm>
                <a:off x="1856" y="2799"/>
                <a:ext cx="116" cy="51"/>
              </a:xfrm>
              <a:custGeom>
                <a:avLst/>
                <a:gdLst>
                  <a:gd name="T0" fmla="*/ 0 w 116"/>
                  <a:gd name="T1" fmla="*/ 50 h 51"/>
                  <a:gd name="T2" fmla="*/ 115 w 116"/>
                  <a:gd name="T3" fmla="*/ 25 h 51"/>
                  <a:gd name="T4" fmla="*/ 115 w 116"/>
                  <a:gd name="T5" fmla="*/ 20 h 51"/>
                  <a:gd name="T6" fmla="*/ 109 w 116"/>
                  <a:gd name="T7" fmla="*/ 18 h 51"/>
                  <a:gd name="T8" fmla="*/ 107 w 116"/>
                  <a:gd name="T9" fmla="*/ 10 h 51"/>
                  <a:gd name="T10" fmla="*/ 104 w 116"/>
                  <a:gd name="T11" fmla="*/ 5 h 51"/>
                  <a:gd name="T12" fmla="*/ 101 w 116"/>
                  <a:gd name="T13" fmla="*/ 0 h 51"/>
                  <a:gd name="T14" fmla="*/ 0 60000 65536"/>
                  <a:gd name="T15" fmla="*/ 0 60000 65536"/>
                  <a:gd name="T16" fmla="*/ 0 60000 65536"/>
                  <a:gd name="T17" fmla="*/ 0 60000 65536"/>
                  <a:gd name="T18" fmla="*/ 0 60000 65536"/>
                  <a:gd name="T19" fmla="*/ 0 60000 65536"/>
                  <a:gd name="T20" fmla="*/ 0 60000 65536"/>
                  <a:gd name="T21" fmla="*/ 0 w 116"/>
                  <a:gd name="T22" fmla="*/ 0 h 51"/>
                  <a:gd name="T23" fmla="*/ 116 w 116"/>
                  <a:gd name="T24" fmla="*/ 51 h 5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6" h="51">
                    <a:moveTo>
                      <a:pt x="0" y="50"/>
                    </a:moveTo>
                    <a:lnTo>
                      <a:pt x="115" y="25"/>
                    </a:lnTo>
                    <a:lnTo>
                      <a:pt x="115" y="20"/>
                    </a:lnTo>
                    <a:lnTo>
                      <a:pt x="109" y="18"/>
                    </a:lnTo>
                    <a:lnTo>
                      <a:pt x="107" y="10"/>
                    </a:lnTo>
                    <a:lnTo>
                      <a:pt x="104" y="5"/>
                    </a:lnTo>
                    <a:lnTo>
                      <a:pt x="101"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20" name="Freeform 254"/>
              <p:cNvSpPr>
                <a:spLocks/>
              </p:cNvSpPr>
              <p:nvPr/>
            </p:nvSpPr>
            <p:spPr bwMode="auto">
              <a:xfrm>
                <a:off x="1874" y="2656"/>
                <a:ext cx="91" cy="49"/>
              </a:xfrm>
              <a:custGeom>
                <a:avLst/>
                <a:gdLst>
                  <a:gd name="T0" fmla="*/ 0 w 91"/>
                  <a:gd name="T1" fmla="*/ 0 h 49"/>
                  <a:gd name="T2" fmla="*/ 17 w 91"/>
                  <a:gd name="T3" fmla="*/ 3 h 49"/>
                  <a:gd name="T4" fmla="*/ 23 w 91"/>
                  <a:gd name="T5" fmla="*/ 3 h 49"/>
                  <a:gd name="T6" fmla="*/ 25 w 91"/>
                  <a:gd name="T7" fmla="*/ 8 h 49"/>
                  <a:gd name="T8" fmla="*/ 31 w 91"/>
                  <a:gd name="T9" fmla="*/ 13 h 49"/>
                  <a:gd name="T10" fmla="*/ 34 w 91"/>
                  <a:gd name="T11" fmla="*/ 18 h 49"/>
                  <a:gd name="T12" fmla="*/ 37 w 91"/>
                  <a:gd name="T13" fmla="*/ 23 h 49"/>
                  <a:gd name="T14" fmla="*/ 45 w 91"/>
                  <a:gd name="T15" fmla="*/ 28 h 49"/>
                  <a:gd name="T16" fmla="*/ 56 w 91"/>
                  <a:gd name="T17" fmla="*/ 33 h 49"/>
                  <a:gd name="T18" fmla="*/ 68 w 91"/>
                  <a:gd name="T19" fmla="*/ 38 h 49"/>
                  <a:gd name="T20" fmla="*/ 79 w 91"/>
                  <a:gd name="T21" fmla="*/ 48 h 49"/>
                  <a:gd name="T22" fmla="*/ 84 w 91"/>
                  <a:gd name="T23" fmla="*/ 48 h 49"/>
                  <a:gd name="T24" fmla="*/ 90 w 91"/>
                  <a:gd name="T25" fmla="*/ 48 h 49"/>
                  <a:gd name="T26" fmla="*/ 87 w 91"/>
                  <a:gd name="T27" fmla="*/ 48 h 4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1"/>
                  <a:gd name="T43" fmla="*/ 0 h 49"/>
                  <a:gd name="T44" fmla="*/ 91 w 91"/>
                  <a:gd name="T45" fmla="*/ 49 h 4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1" h="49">
                    <a:moveTo>
                      <a:pt x="0" y="0"/>
                    </a:moveTo>
                    <a:lnTo>
                      <a:pt x="17" y="3"/>
                    </a:lnTo>
                    <a:lnTo>
                      <a:pt x="23" y="3"/>
                    </a:lnTo>
                    <a:lnTo>
                      <a:pt x="25" y="8"/>
                    </a:lnTo>
                    <a:lnTo>
                      <a:pt x="31" y="13"/>
                    </a:lnTo>
                    <a:lnTo>
                      <a:pt x="34" y="18"/>
                    </a:lnTo>
                    <a:lnTo>
                      <a:pt x="37" y="23"/>
                    </a:lnTo>
                    <a:lnTo>
                      <a:pt x="45" y="28"/>
                    </a:lnTo>
                    <a:lnTo>
                      <a:pt x="56" y="33"/>
                    </a:lnTo>
                    <a:lnTo>
                      <a:pt x="68" y="38"/>
                    </a:lnTo>
                    <a:lnTo>
                      <a:pt x="79" y="48"/>
                    </a:lnTo>
                    <a:lnTo>
                      <a:pt x="84" y="48"/>
                    </a:lnTo>
                    <a:lnTo>
                      <a:pt x="90" y="48"/>
                    </a:lnTo>
                    <a:lnTo>
                      <a:pt x="87" y="48"/>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21" name="Freeform 255"/>
              <p:cNvSpPr>
                <a:spLocks/>
              </p:cNvSpPr>
              <p:nvPr/>
            </p:nvSpPr>
            <p:spPr bwMode="auto">
              <a:xfrm>
                <a:off x="1932" y="2726"/>
                <a:ext cx="78" cy="41"/>
              </a:xfrm>
              <a:custGeom>
                <a:avLst/>
                <a:gdLst>
                  <a:gd name="T0" fmla="*/ 0 w 78"/>
                  <a:gd name="T1" fmla="*/ 40 h 41"/>
                  <a:gd name="T2" fmla="*/ 34 w 78"/>
                  <a:gd name="T3" fmla="*/ 23 h 41"/>
                  <a:gd name="T4" fmla="*/ 40 w 78"/>
                  <a:gd name="T5" fmla="*/ 23 h 41"/>
                  <a:gd name="T6" fmla="*/ 46 w 78"/>
                  <a:gd name="T7" fmla="*/ 23 h 41"/>
                  <a:gd name="T8" fmla="*/ 51 w 78"/>
                  <a:gd name="T9" fmla="*/ 23 h 41"/>
                  <a:gd name="T10" fmla="*/ 57 w 78"/>
                  <a:gd name="T11" fmla="*/ 23 h 41"/>
                  <a:gd name="T12" fmla="*/ 63 w 78"/>
                  <a:gd name="T13" fmla="*/ 20 h 41"/>
                  <a:gd name="T14" fmla="*/ 68 w 78"/>
                  <a:gd name="T15" fmla="*/ 15 h 41"/>
                  <a:gd name="T16" fmla="*/ 71 w 78"/>
                  <a:gd name="T17" fmla="*/ 10 h 41"/>
                  <a:gd name="T18" fmla="*/ 74 w 78"/>
                  <a:gd name="T19" fmla="*/ 5 h 41"/>
                  <a:gd name="T20" fmla="*/ 77 w 78"/>
                  <a:gd name="T21" fmla="*/ 0 h 4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8"/>
                  <a:gd name="T34" fmla="*/ 0 h 41"/>
                  <a:gd name="T35" fmla="*/ 78 w 78"/>
                  <a:gd name="T36" fmla="*/ 41 h 4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8" h="41">
                    <a:moveTo>
                      <a:pt x="0" y="40"/>
                    </a:moveTo>
                    <a:lnTo>
                      <a:pt x="34" y="23"/>
                    </a:lnTo>
                    <a:lnTo>
                      <a:pt x="40" y="23"/>
                    </a:lnTo>
                    <a:lnTo>
                      <a:pt x="46" y="23"/>
                    </a:lnTo>
                    <a:lnTo>
                      <a:pt x="51" y="23"/>
                    </a:lnTo>
                    <a:lnTo>
                      <a:pt x="57" y="23"/>
                    </a:lnTo>
                    <a:lnTo>
                      <a:pt x="63" y="20"/>
                    </a:lnTo>
                    <a:lnTo>
                      <a:pt x="68" y="15"/>
                    </a:lnTo>
                    <a:lnTo>
                      <a:pt x="71" y="10"/>
                    </a:lnTo>
                    <a:lnTo>
                      <a:pt x="74" y="5"/>
                    </a:lnTo>
                    <a:lnTo>
                      <a:pt x="77"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22" name="Freeform 256"/>
              <p:cNvSpPr>
                <a:spLocks/>
              </p:cNvSpPr>
              <p:nvPr/>
            </p:nvSpPr>
            <p:spPr bwMode="auto">
              <a:xfrm>
                <a:off x="1986" y="2799"/>
                <a:ext cx="96" cy="78"/>
              </a:xfrm>
              <a:custGeom>
                <a:avLst/>
                <a:gdLst>
                  <a:gd name="T0" fmla="*/ 0 w 96"/>
                  <a:gd name="T1" fmla="*/ 0 h 78"/>
                  <a:gd name="T2" fmla="*/ 8 w 96"/>
                  <a:gd name="T3" fmla="*/ 2 h 78"/>
                  <a:gd name="T4" fmla="*/ 14 w 96"/>
                  <a:gd name="T5" fmla="*/ 7 h 78"/>
                  <a:gd name="T6" fmla="*/ 22 w 96"/>
                  <a:gd name="T7" fmla="*/ 30 h 78"/>
                  <a:gd name="T8" fmla="*/ 34 w 96"/>
                  <a:gd name="T9" fmla="*/ 40 h 78"/>
                  <a:gd name="T10" fmla="*/ 34 w 96"/>
                  <a:gd name="T11" fmla="*/ 50 h 78"/>
                  <a:gd name="T12" fmla="*/ 45 w 96"/>
                  <a:gd name="T13" fmla="*/ 60 h 78"/>
                  <a:gd name="T14" fmla="*/ 50 w 96"/>
                  <a:gd name="T15" fmla="*/ 70 h 78"/>
                  <a:gd name="T16" fmla="*/ 53 w 96"/>
                  <a:gd name="T17" fmla="*/ 75 h 78"/>
                  <a:gd name="T18" fmla="*/ 59 w 96"/>
                  <a:gd name="T19" fmla="*/ 77 h 78"/>
                  <a:gd name="T20" fmla="*/ 64 w 96"/>
                  <a:gd name="T21" fmla="*/ 75 h 78"/>
                  <a:gd name="T22" fmla="*/ 70 w 96"/>
                  <a:gd name="T23" fmla="*/ 75 h 78"/>
                  <a:gd name="T24" fmla="*/ 73 w 96"/>
                  <a:gd name="T25" fmla="*/ 70 h 78"/>
                  <a:gd name="T26" fmla="*/ 75 w 96"/>
                  <a:gd name="T27" fmla="*/ 65 h 78"/>
                  <a:gd name="T28" fmla="*/ 81 w 96"/>
                  <a:gd name="T29" fmla="*/ 62 h 78"/>
                  <a:gd name="T30" fmla="*/ 87 w 96"/>
                  <a:gd name="T31" fmla="*/ 60 h 78"/>
                  <a:gd name="T32" fmla="*/ 89 w 96"/>
                  <a:gd name="T33" fmla="*/ 55 h 78"/>
                  <a:gd name="T34" fmla="*/ 95 w 96"/>
                  <a:gd name="T35" fmla="*/ 50 h 78"/>
                  <a:gd name="T36" fmla="*/ 95 w 96"/>
                  <a:gd name="T37" fmla="*/ 45 h 7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6"/>
                  <a:gd name="T58" fmla="*/ 0 h 78"/>
                  <a:gd name="T59" fmla="*/ 96 w 96"/>
                  <a:gd name="T60" fmla="*/ 78 h 7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6" h="78">
                    <a:moveTo>
                      <a:pt x="0" y="0"/>
                    </a:moveTo>
                    <a:lnTo>
                      <a:pt x="8" y="2"/>
                    </a:lnTo>
                    <a:lnTo>
                      <a:pt x="14" y="7"/>
                    </a:lnTo>
                    <a:lnTo>
                      <a:pt x="22" y="30"/>
                    </a:lnTo>
                    <a:lnTo>
                      <a:pt x="34" y="40"/>
                    </a:lnTo>
                    <a:lnTo>
                      <a:pt x="34" y="50"/>
                    </a:lnTo>
                    <a:lnTo>
                      <a:pt x="45" y="60"/>
                    </a:lnTo>
                    <a:lnTo>
                      <a:pt x="50" y="70"/>
                    </a:lnTo>
                    <a:lnTo>
                      <a:pt x="53" y="75"/>
                    </a:lnTo>
                    <a:lnTo>
                      <a:pt x="59" y="77"/>
                    </a:lnTo>
                    <a:lnTo>
                      <a:pt x="64" y="75"/>
                    </a:lnTo>
                    <a:lnTo>
                      <a:pt x="70" y="75"/>
                    </a:lnTo>
                    <a:lnTo>
                      <a:pt x="73" y="70"/>
                    </a:lnTo>
                    <a:lnTo>
                      <a:pt x="75" y="65"/>
                    </a:lnTo>
                    <a:lnTo>
                      <a:pt x="81" y="62"/>
                    </a:lnTo>
                    <a:lnTo>
                      <a:pt x="87" y="60"/>
                    </a:lnTo>
                    <a:lnTo>
                      <a:pt x="89" y="55"/>
                    </a:lnTo>
                    <a:lnTo>
                      <a:pt x="95" y="50"/>
                    </a:lnTo>
                    <a:lnTo>
                      <a:pt x="95" y="45"/>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23" name="Freeform 257"/>
              <p:cNvSpPr>
                <a:spLocks/>
              </p:cNvSpPr>
              <p:nvPr/>
            </p:nvSpPr>
            <p:spPr bwMode="auto">
              <a:xfrm>
                <a:off x="2005" y="2776"/>
                <a:ext cx="97" cy="49"/>
              </a:xfrm>
              <a:custGeom>
                <a:avLst/>
                <a:gdLst>
                  <a:gd name="T0" fmla="*/ 0 w 97"/>
                  <a:gd name="T1" fmla="*/ 3 h 49"/>
                  <a:gd name="T2" fmla="*/ 6 w 97"/>
                  <a:gd name="T3" fmla="*/ 3 h 49"/>
                  <a:gd name="T4" fmla="*/ 11 w 97"/>
                  <a:gd name="T5" fmla="*/ 0 h 49"/>
                  <a:gd name="T6" fmla="*/ 17 w 97"/>
                  <a:gd name="T7" fmla="*/ 0 h 49"/>
                  <a:gd name="T8" fmla="*/ 23 w 97"/>
                  <a:gd name="T9" fmla="*/ 3 h 49"/>
                  <a:gd name="T10" fmla="*/ 28 w 97"/>
                  <a:gd name="T11" fmla="*/ 10 h 49"/>
                  <a:gd name="T12" fmla="*/ 40 w 97"/>
                  <a:gd name="T13" fmla="*/ 20 h 49"/>
                  <a:gd name="T14" fmla="*/ 51 w 97"/>
                  <a:gd name="T15" fmla="*/ 25 h 49"/>
                  <a:gd name="T16" fmla="*/ 51 w 97"/>
                  <a:gd name="T17" fmla="*/ 35 h 49"/>
                  <a:gd name="T18" fmla="*/ 62 w 97"/>
                  <a:gd name="T19" fmla="*/ 45 h 49"/>
                  <a:gd name="T20" fmla="*/ 68 w 97"/>
                  <a:gd name="T21" fmla="*/ 45 h 49"/>
                  <a:gd name="T22" fmla="*/ 73 w 97"/>
                  <a:gd name="T23" fmla="*/ 45 h 49"/>
                  <a:gd name="T24" fmla="*/ 79 w 97"/>
                  <a:gd name="T25" fmla="*/ 45 h 49"/>
                  <a:gd name="T26" fmla="*/ 85 w 97"/>
                  <a:gd name="T27" fmla="*/ 45 h 49"/>
                  <a:gd name="T28" fmla="*/ 90 w 97"/>
                  <a:gd name="T29" fmla="*/ 45 h 49"/>
                  <a:gd name="T30" fmla="*/ 96 w 97"/>
                  <a:gd name="T31" fmla="*/ 48 h 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7"/>
                  <a:gd name="T49" fmla="*/ 0 h 49"/>
                  <a:gd name="T50" fmla="*/ 97 w 97"/>
                  <a:gd name="T51" fmla="*/ 49 h 4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7" h="49">
                    <a:moveTo>
                      <a:pt x="0" y="3"/>
                    </a:moveTo>
                    <a:lnTo>
                      <a:pt x="6" y="3"/>
                    </a:lnTo>
                    <a:lnTo>
                      <a:pt x="11" y="0"/>
                    </a:lnTo>
                    <a:lnTo>
                      <a:pt x="17" y="0"/>
                    </a:lnTo>
                    <a:lnTo>
                      <a:pt x="23" y="3"/>
                    </a:lnTo>
                    <a:lnTo>
                      <a:pt x="28" y="10"/>
                    </a:lnTo>
                    <a:lnTo>
                      <a:pt x="40" y="20"/>
                    </a:lnTo>
                    <a:lnTo>
                      <a:pt x="51" y="25"/>
                    </a:lnTo>
                    <a:lnTo>
                      <a:pt x="51" y="35"/>
                    </a:lnTo>
                    <a:lnTo>
                      <a:pt x="62" y="45"/>
                    </a:lnTo>
                    <a:lnTo>
                      <a:pt x="68" y="45"/>
                    </a:lnTo>
                    <a:lnTo>
                      <a:pt x="73" y="45"/>
                    </a:lnTo>
                    <a:lnTo>
                      <a:pt x="79" y="45"/>
                    </a:lnTo>
                    <a:lnTo>
                      <a:pt x="85" y="45"/>
                    </a:lnTo>
                    <a:lnTo>
                      <a:pt x="90" y="45"/>
                    </a:lnTo>
                    <a:lnTo>
                      <a:pt x="96" y="48"/>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24" name="Freeform 258"/>
              <p:cNvSpPr>
                <a:spLocks/>
              </p:cNvSpPr>
              <p:nvPr/>
            </p:nvSpPr>
            <p:spPr bwMode="auto">
              <a:xfrm>
                <a:off x="1958" y="2714"/>
                <a:ext cx="149" cy="36"/>
              </a:xfrm>
              <a:custGeom>
                <a:avLst/>
                <a:gdLst>
                  <a:gd name="T0" fmla="*/ 0 w 149"/>
                  <a:gd name="T1" fmla="*/ 35 h 36"/>
                  <a:gd name="T2" fmla="*/ 6 w 149"/>
                  <a:gd name="T3" fmla="*/ 30 h 36"/>
                  <a:gd name="T4" fmla="*/ 8 w 149"/>
                  <a:gd name="T5" fmla="*/ 25 h 36"/>
                  <a:gd name="T6" fmla="*/ 25 w 149"/>
                  <a:gd name="T7" fmla="*/ 10 h 36"/>
                  <a:gd name="T8" fmla="*/ 50 w 149"/>
                  <a:gd name="T9" fmla="*/ 0 h 36"/>
                  <a:gd name="T10" fmla="*/ 61 w 149"/>
                  <a:gd name="T11" fmla="*/ 0 h 36"/>
                  <a:gd name="T12" fmla="*/ 106 w 149"/>
                  <a:gd name="T13" fmla="*/ 0 h 36"/>
                  <a:gd name="T14" fmla="*/ 131 w 149"/>
                  <a:gd name="T15" fmla="*/ 0 h 36"/>
                  <a:gd name="T16" fmla="*/ 142 w 149"/>
                  <a:gd name="T17" fmla="*/ 0 h 36"/>
                  <a:gd name="T18" fmla="*/ 148 w 149"/>
                  <a:gd name="T19" fmla="*/ 0 h 3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9"/>
                  <a:gd name="T31" fmla="*/ 0 h 36"/>
                  <a:gd name="T32" fmla="*/ 149 w 149"/>
                  <a:gd name="T33" fmla="*/ 36 h 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9" h="36">
                    <a:moveTo>
                      <a:pt x="0" y="35"/>
                    </a:moveTo>
                    <a:lnTo>
                      <a:pt x="6" y="30"/>
                    </a:lnTo>
                    <a:lnTo>
                      <a:pt x="8" y="25"/>
                    </a:lnTo>
                    <a:lnTo>
                      <a:pt x="25" y="10"/>
                    </a:lnTo>
                    <a:lnTo>
                      <a:pt x="50" y="0"/>
                    </a:lnTo>
                    <a:lnTo>
                      <a:pt x="61" y="0"/>
                    </a:lnTo>
                    <a:lnTo>
                      <a:pt x="106" y="0"/>
                    </a:lnTo>
                    <a:lnTo>
                      <a:pt x="131" y="0"/>
                    </a:lnTo>
                    <a:lnTo>
                      <a:pt x="142" y="0"/>
                    </a:lnTo>
                    <a:lnTo>
                      <a:pt x="148"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25" name="Freeform 259"/>
              <p:cNvSpPr>
                <a:spLocks/>
              </p:cNvSpPr>
              <p:nvPr/>
            </p:nvSpPr>
            <p:spPr bwMode="auto">
              <a:xfrm>
                <a:off x="2067" y="2654"/>
                <a:ext cx="46" cy="101"/>
              </a:xfrm>
              <a:custGeom>
                <a:avLst/>
                <a:gdLst>
                  <a:gd name="T0" fmla="*/ 0 w 46"/>
                  <a:gd name="T1" fmla="*/ 0 h 101"/>
                  <a:gd name="T2" fmla="*/ 11 w 46"/>
                  <a:gd name="T3" fmla="*/ 8 h 101"/>
                  <a:gd name="T4" fmla="*/ 17 w 46"/>
                  <a:gd name="T5" fmla="*/ 13 h 101"/>
                  <a:gd name="T6" fmla="*/ 17 w 46"/>
                  <a:gd name="T7" fmla="*/ 18 h 101"/>
                  <a:gd name="T8" fmla="*/ 14 w 46"/>
                  <a:gd name="T9" fmla="*/ 23 h 101"/>
                  <a:gd name="T10" fmla="*/ 14 w 46"/>
                  <a:gd name="T11" fmla="*/ 28 h 101"/>
                  <a:gd name="T12" fmla="*/ 11 w 46"/>
                  <a:gd name="T13" fmla="*/ 33 h 101"/>
                  <a:gd name="T14" fmla="*/ 11 w 46"/>
                  <a:gd name="T15" fmla="*/ 38 h 101"/>
                  <a:gd name="T16" fmla="*/ 11 w 46"/>
                  <a:gd name="T17" fmla="*/ 43 h 101"/>
                  <a:gd name="T18" fmla="*/ 17 w 46"/>
                  <a:gd name="T19" fmla="*/ 53 h 101"/>
                  <a:gd name="T20" fmla="*/ 28 w 46"/>
                  <a:gd name="T21" fmla="*/ 63 h 101"/>
                  <a:gd name="T22" fmla="*/ 34 w 46"/>
                  <a:gd name="T23" fmla="*/ 68 h 101"/>
                  <a:gd name="T24" fmla="*/ 39 w 46"/>
                  <a:gd name="T25" fmla="*/ 70 h 101"/>
                  <a:gd name="T26" fmla="*/ 42 w 46"/>
                  <a:gd name="T27" fmla="*/ 75 h 101"/>
                  <a:gd name="T28" fmla="*/ 45 w 46"/>
                  <a:gd name="T29" fmla="*/ 80 h 101"/>
                  <a:gd name="T30" fmla="*/ 45 w 46"/>
                  <a:gd name="T31" fmla="*/ 85 h 101"/>
                  <a:gd name="T32" fmla="*/ 45 w 46"/>
                  <a:gd name="T33" fmla="*/ 90 h 101"/>
                  <a:gd name="T34" fmla="*/ 45 w 46"/>
                  <a:gd name="T35" fmla="*/ 95 h 101"/>
                  <a:gd name="T36" fmla="*/ 45 w 46"/>
                  <a:gd name="T37" fmla="*/ 100 h 101"/>
                  <a:gd name="T38" fmla="*/ 45 w 46"/>
                  <a:gd name="T39" fmla="*/ 98 h 10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6"/>
                  <a:gd name="T61" fmla="*/ 0 h 101"/>
                  <a:gd name="T62" fmla="*/ 46 w 46"/>
                  <a:gd name="T63" fmla="*/ 101 h 10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6" h="101">
                    <a:moveTo>
                      <a:pt x="0" y="0"/>
                    </a:moveTo>
                    <a:lnTo>
                      <a:pt x="11" y="8"/>
                    </a:lnTo>
                    <a:lnTo>
                      <a:pt x="17" y="13"/>
                    </a:lnTo>
                    <a:lnTo>
                      <a:pt x="17" y="18"/>
                    </a:lnTo>
                    <a:lnTo>
                      <a:pt x="14" y="23"/>
                    </a:lnTo>
                    <a:lnTo>
                      <a:pt x="14" y="28"/>
                    </a:lnTo>
                    <a:lnTo>
                      <a:pt x="11" y="33"/>
                    </a:lnTo>
                    <a:lnTo>
                      <a:pt x="11" y="38"/>
                    </a:lnTo>
                    <a:lnTo>
                      <a:pt x="11" y="43"/>
                    </a:lnTo>
                    <a:lnTo>
                      <a:pt x="17" y="53"/>
                    </a:lnTo>
                    <a:lnTo>
                      <a:pt x="28" y="63"/>
                    </a:lnTo>
                    <a:lnTo>
                      <a:pt x="34" y="68"/>
                    </a:lnTo>
                    <a:lnTo>
                      <a:pt x="39" y="70"/>
                    </a:lnTo>
                    <a:lnTo>
                      <a:pt x="42" y="75"/>
                    </a:lnTo>
                    <a:lnTo>
                      <a:pt x="45" y="80"/>
                    </a:lnTo>
                    <a:lnTo>
                      <a:pt x="45" y="85"/>
                    </a:lnTo>
                    <a:lnTo>
                      <a:pt x="45" y="90"/>
                    </a:lnTo>
                    <a:lnTo>
                      <a:pt x="45" y="95"/>
                    </a:lnTo>
                    <a:lnTo>
                      <a:pt x="45" y="100"/>
                    </a:lnTo>
                    <a:lnTo>
                      <a:pt x="45" y="98"/>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26" name="Freeform 260"/>
              <p:cNvSpPr>
                <a:spLocks/>
              </p:cNvSpPr>
              <p:nvPr/>
            </p:nvSpPr>
            <p:spPr bwMode="auto">
              <a:xfrm>
                <a:off x="2036" y="2691"/>
                <a:ext cx="88" cy="66"/>
              </a:xfrm>
              <a:custGeom>
                <a:avLst/>
                <a:gdLst>
                  <a:gd name="T0" fmla="*/ 87 w 88"/>
                  <a:gd name="T1" fmla="*/ 0 h 66"/>
                  <a:gd name="T2" fmla="*/ 59 w 88"/>
                  <a:gd name="T3" fmla="*/ 23 h 66"/>
                  <a:gd name="T4" fmla="*/ 56 w 88"/>
                  <a:gd name="T5" fmla="*/ 28 h 66"/>
                  <a:gd name="T6" fmla="*/ 51 w 88"/>
                  <a:gd name="T7" fmla="*/ 33 h 66"/>
                  <a:gd name="T8" fmla="*/ 45 w 88"/>
                  <a:gd name="T9" fmla="*/ 38 h 66"/>
                  <a:gd name="T10" fmla="*/ 42 w 88"/>
                  <a:gd name="T11" fmla="*/ 43 h 66"/>
                  <a:gd name="T12" fmla="*/ 36 w 88"/>
                  <a:gd name="T13" fmla="*/ 43 h 66"/>
                  <a:gd name="T14" fmla="*/ 31 w 88"/>
                  <a:gd name="T15" fmla="*/ 48 h 66"/>
                  <a:gd name="T16" fmla="*/ 25 w 88"/>
                  <a:gd name="T17" fmla="*/ 53 h 66"/>
                  <a:gd name="T18" fmla="*/ 11 w 88"/>
                  <a:gd name="T19" fmla="*/ 55 h 66"/>
                  <a:gd name="T20" fmla="*/ 11 w 88"/>
                  <a:gd name="T21" fmla="*/ 65 h 66"/>
                  <a:gd name="T22" fmla="*/ 6 w 88"/>
                  <a:gd name="T23" fmla="*/ 65 h 66"/>
                  <a:gd name="T24" fmla="*/ 0 w 88"/>
                  <a:gd name="T25" fmla="*/ 65 h 66"/>
                  <a:gd name="T26" fmla="*/ 6 w 88"/>
                  <a:gd name="T27" fmla="*/ 63 h 6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8"/>
                  <a:gd name="T43" fmla="*/ 0 h 66"/>
                  <a:gd name="T44" fmla="*/ 88 w 88"/>
                  <a:gd name="T45" fmla="*/ 66 h 6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8" h="66">
                    <a:moveTo>
                      <a:pt x="87" y="0"/>
                    </a:moveTo>
                    <a:lnTo>
                      <a:pt x="59" y="23"/>
                    </a:lnTo>
                    <a:lnTo>
                      <a:pt x="56" y="28"/>
                    </a:lnTo>
                    <a:lnTo>
                      <a:pt x="51" y="33"/>
                    </a:lnTo>
                    <a:lnTo>
                      <a:pt x="45" y="38"/>
                    </a:lnTo>
                    <a:lnTo>
                      <a:pt x="42" y="43"/>
                    </a:lnTo>
                    <a:lnTo>
                      <a:pt x="36" y="43"/>
                    </a:lnTo>
                    <a:lnTo>
                      <a:pt x="31" y="48"/>
                    </a:lnTo>
                    <a:lnTo>
                      <a:pt x="25" y="53"/>
                    </a:lnTo>
                    <a:lnTo>
                      <a:pt x="11" y="55"/>
                    </a:lnTo>
                    <a:lnTo>
                      <a:pt x="11" y="65"/>
                    </a:lnTo>
                    <a:lnTo>
                      <a:pt x="6" y="65"/>
                    </a:lnTo>
                    <a:lnTo>
                      <a:pt x="0" y="65"/>
                    </a:lnTo>
                    <a:lnTo>
                      <a:pt x="6" y="63"/>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27" name="Freeform 261"/>
              <p:cNvSpPr>
                <a:spLocks/>
              </p:cNvSpPr>
              <p:nvPr/>
            </p:nvSpPr>
            <p:spPr bwMode="auto">
              <a:xfrm>
                <a:off x="2115" y="2714"/>
                <a:ext cx="24" cy="88"/>
              </a:xfrm>
              <a:custGeom>
                <a:avLst/>
                <a:gdLst>
                  <a:gd name="T0" fmla="*/ 0 w 24"/>
                  <a:gd name="T1" fmla="*/ 87 h 88"/>
                  <a:gd name="T2" fmla="*/ 23 w 24"/>
                  <a:gd name="T3" fmla="*/ 60 h 88"/>
                  <a:gd name="T4" fmla="*/ 23 w 24"/>
                  <a:gd name="T5" fmla="*/ 55 h 88"/>
                  <a:gd name="T6" fmla="*/ 23 w 24"/>
                  <a:gd name="T7" fmla="*/ 50 h 88"/>
                  <a:gd name="T8" fmla="*/ 23 w 24"/>
                  <a:gd name="T9" fmla="*/ 45 h 88"/>
                  <a:gd name="T10" fmla="*/ 23 w 24"/>
                  <a:gd name="T11" fmla="*/ 40 h 88"/>
                  <a:gd name="T12" fmla="*/ 23 w 24"/>
                  <a:gd name="T13" fmla="*/ 35 h 88"/>
                  <a:gd name="T14" fmla="*/ 23 w 24"/>
                  <a:gd name="T15" fmla="*/ 30 h 88"/>
                  <a:gd name="T16" fmla="*/ 23 w 24"/>
                  <a:gd name="T17" fmla="*/ 25 h 88"/>
                  <a:gd name="T18" fmla="*/ 23 w 24"/>
                  <a:gd name="T19" fmla="*/ 20 h 88"/>
                  <a:gd name="T20" fmla="*/ 23 w 24"/>
                  <a:gd name="T21" fmla="*/ 15 h 88"/>
                  <a:gd name="T22" fmla="*/ 23 w 24"/>
                  <a:gd name="T23" fmla="*/ 10 h 88"/>
                  <a:gd name="T24" fmla="*/ 23 w 24"/>
                  <a:gd name="T25" fmla="*/ 5 h 88"/>
                  <a:gd name="T26" fmla="*/ 23 w 24"/>
                  <a:gd name="T27" fmla="*/ 0 h 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4"/>
                  <a:gd name="T43" fmla="*/ 0 h 88"/>
                  <a:gd name="T44" fmla="*/ 24 w 24"/>
                  <a:gd name="T45" fmla="*/ 88 h 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4" h="88">
                    <a:moveTo>
                      <a:pt x="0" y="87"/>
                    </a:moveTo>
                    <a:lnTo>
                      <a:pt x="23" y="60"/>
                    </a:lnTo>
                    <a:lnTo>
                      <a:pt x="23" y="55"/>
                    </a:lnTo>
                    <a:lnTo>
                      <a:pt x="23" y="50"/>
                    </a:lnTo>
                    <a:lnTo>
                      <a:pt x="23" y="45"/>
                    </a:lnTo>
                    <a:lnTo>
                      <a:pt x="23" y="40"/>
                    </a:lnTo>
                    <a:lnTo>
                      <a:pt x="23" y="35"/>
                    </a:lnTo>
                    <a:lnTo>
                      <a:pt x="23" y="30"/>
                    </a:lnTo>
                    <a:lnTo>
                      <a:pt x="23" y="25"/>
                    </a:lnTo>
                    <a:lnTo>
                      <a:pt x="23" y="20"/>
                    </a:lnTo>
                    <a:lnTo>
                      <a:pt x="23" y="15"/>
                    </a:lnTo>
                    <a:lnTo>
                      <a:pt x="23" y="10"/>
                    </a:lnTo>
                    <a:lnTo>
                      <a:pt x="23" y="5"/>
                    </a:lnTo>
                    <a:lnTo>
                      <a:pt x="23"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28" name="Freeform 262"/>
              <p:cNvSpPr>
                <a:spLocks/>
              </p:cNvSpPr>
              <p:nvPr/>
            </p:nvSpPr>
            <p:spPr bwMode="auto">
              <a:xfrm>
                <a:off x="2048" y="2826"/>
                <a:ext cx="126" cy="19"/>
              </a:xfrm>
              <a:custGeom>
                <a:avLst/>
                <a:gdLst>
                  <a:gd name="T0" fmla="*/ 0 w 126"/>
                  <a:gd name="T1" fmla="*/ 10 h 19"/>
                  <a:gd name="T2" fmla="*/ 36 w 126"/>
                  <a:gd name="T3" fmla="*/ 10 h 19"/>
                  <a:gd name="T4" fmla="*/ 42 w 126"/>
                  <a:gd name="T5" fmla="*/ 13 h 19"/>
                  <a:gd name="T6" fmla="*/ 47 w 126"/>
                  <a:gd name="T7" fmla="*/ 15 h 19"/>
                  <a:gd name="T8" fmla="*/ 61 w 126"/>
                  <a:gd name="T9" fmla="*/ 18 h 19"/>
                  <a:gd name="T10" fmla="*/ 72 w 126"/>
                  <a:gd name="T11" fmla="*/ 18 h 19"/>
                  <a:gd name="T12" fmla="*/ 86 w 126"/>
                  <a:gd name="T13" fmla="*/ 13 h 19"/>
                  <a:gd name="T14" fmla="*/ 92 w 126"/>
                  <a:gd name="T15" fmla="*/ 13 h 19"/>
                  <a:gd name="T16" fmla="*/ 103 w 126"/>
                  <a:gd name="T17" fmla="*/ 8 h 19"/>
                  <a:gd name="T18" fmla="*/ 114 w 126"/>
                  <a:gd name="T19" fmla="*/ 8 h 19"/>
                  <a:gd name="T20" fmla="*/ 119 w 126"/>
                  <a:gd name="T21" fmla="*/ 5 h 19"/>
                  <a:gd name="T22" fmla="*/ 125 w 126"/>
                  <a:gd name="T23" fmla="*/ 0 h 1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6"/>
                  <a:gd name="T37" fmla="*/ 0 h 19"/>
                  <a:gd name="T38" fmla="*/ 126 w 126"/>
                  <a:gd name="T39" fmla="*/ 19 h 1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6" h="19">
                    <a:moveTo>
                      <a:pt x="0" y="10"/>
                    </a:moveTo>
                    <a:lnTo>
                      <a:pt x="36" y="10"/>
                    </a:lnTo>
                    <a:lnTo>
                      <a:pt x="42" y="13"/>
                    </a:lnTo>
                    <a:lnTo>
                      <a:pt x="47" y="15"/>
                    </a:lnTo>
                    <a:lnTo>
                      <a:pt x="61" y="18"/>
                    </a:lnTo>
                    <a:lnTo>
                      <a:pt x="72" y="18"/>
                    </a:lnTo>
                    <a:lnTo>
                      <a:pt x="86" y="13"/>
                    </a:lnTo>
                    <a:lnTo>
                      <a:pt x="92" y="13"/>
                    </a:lnTo>
                    <a:lnTo>
                      <a:pt x="103" y="8"/>
                    </a:lnTo>
                    <a:lnTo>
                      <a:pt x="114" y="8"/>
                    </a:lnTo>
                    <a:lnTo>
                      <a:pt x="119" y="5"/>
                    </a:lnTo>
                    <a:lnTo>
                      <a:pt x="125"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29" name="Freeform 263"/>
              <p:cNvSpPr>
                <a:spLocks/>
              </p:cNvSpPr>
              <p:nvPr/>
            </p:nvSpPr>
            <p:spPr bwMode="auto">
              <a:xfrm>
                <a:off x="1823" y="2651"/>
                <a:ext cx="91" cy="91"/>
              </a:xfrm>
              <a:custGeom>
                <a:avLst/>
                <a:gdLst>
                  <a:gd name="T0" fmla="*/ 0 w 91"/>
                  <a:gd name="T1" fmla="*/ 0 h 91"/>
                  <a:gd name="T2" fmla="*/ 34 w 91"/>
                  <a:gd name="T3" fmla="*/ 25 h 91"/>
                  <a:gd name="T4" fmla="*/ 37 w 91"/>
                  <a:gd name="T5" fmla="*/ 58 h 91"/>
                  <a:gd name="T6" fmla="*/ 42 w 91"/>
                  <a:gd name="T7" fmla="*/ 63 h 91"/>
                  <a:gd name="T8" fmla="*/ 45 w 91"/>
                  <a:gd name="T9" fmla="*/ 68 h 91"/>
                  <a:gd name="T10" fmla="*/ 51 w 91"/>
                  <a:gd name="T11" fmla="*/ 70 h 91"/>
                  <a:gd name="T12" fmla="*/ 56 w 91"/>
                  <a:gd name="T13" fmla="*/ 73 h 91"/>
                  <a:gd name="T14" fmla="*/ 62 w 91"/>
                  <a:gd name="T15" fmla="*/ 75 h 91"/>
                  <a:gd name="T16" fmla="*/ 73 w 91"/>
                  <a:gd name="T17" fmla="*/ 75 h 91"/>
                  <a:gd name="T18" fmla="*/ 84 w 91"/>
                  <a:gd name="T19" fmla="*/ 85 h 91"/>
                  <a:gd name="T20" fmla="*/ 90 w 91"/>
                  <a:gd name="T21" fmla="*/ 90 h 9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1"/>
                  <a:gd name="T34" fmla="*/ 0 h 91"/>
                  <a:gd name="T35" fmla="*/ 91 w 91"/>
                  <a:gd name="T36" fmla="*/ 91 h 9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1" h="91">
                    <a:moveTo>
                      <a:pt x="0" y="0"/>
                    </a:moveTo>
                    <a:lnTo>
                      <a:pt x="34" y="25"/>
                    </a:lnTo>
                    <a:lnTo>
                      <a:pt x="37" y="58"/>
                    </a:lnTo>
                    <a:lnTo>
                      <a:pt x="42" y="63"/>
                    </a:lnTo>
                    <a:lnTo>
                      <a:pt x="45" y="68"/>
                    </a:lnTo>
                    <a:lnTo>
                      <a:pt x="51" y="70"/>
                    </a:lnTo>
                    <a:lnTo>
                      <a:pt x="56" y="73"/>
                    </a:lnTo>
                    <a:lnTo>
                      <a:pt x="62" y="75"/>
                    </a:lnTo>
                    <a:lnTo>
                      <a:pt x="73" y="75"/>
                    </a:lnTo>
                    <a:lnTo>
                      <a:pt x="84" y="85"/>
                    </a:lnTo>
                    <a:lnTo>
                      <a:pt x="90" y="9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30" name="Freeform 264"/>
              <p:cNvSpPr>
                <a:spLocks/>
              </p:cNvSpPr>
              <p:nvPr/>
            </p:nvSpPr>
            <p:spPr bwMode="auto">
              <a:xfrm>
                <a:off x="1665" y="2629"/>
                <a:ext cx="52" cy="106"/>
              </a:xfrm>
              <a:custGeom>
                <a:avLst/>
                <a:gdLst>
                  <a:gd name="T0" fmla="*/ 0 w 52"/>
                  <a:gd name="T1" fmla="*/ 0 h 106"/>
                  <a:gd name="T2" fmla="*/ 31 w 52"/>
                  <a:gd name="T3" fmla="*/ 70 h 106"/>
                  <a:gd name="T4" fmla="*/ 34 w 52"/>
                  <a:gd name="T5" fmla="*/ 75 h 106"/>
                  <a:gd name="T6" fmla="*/ 37 w 52"/>
                  <a:gd name="T7" fmla="*/ 80 h 106"/>
                  <a:gd name="T8" fmla="*/ 37 w 52"/>
                  <a:gd name="T9" fmla="*/ 85 h 106"/>
                  <a:gd name="T10" fmla="*/ 37 w 52"/>
                  <a:gd name="T11" fmla="*/ 90 h 106"/>
                  <a:gd name="T12" fmla="*/ 37 w 52"/>
                  <a:gd name="T13" fmla="*/ 95 h 106"/>
                  <a:gd name="T14" fmla="*/ 40 w 52"/>
                  <a:gd name="T15" fmla="*/ 100 h 106"/>
                  <a:gd name="T16" fmla="*/ 45 w 52"/>
                  <a:gd name="T17" fmla="*/ 105 h 106"/>
                  <a:gd name="T18" fmla="*/ 51 w 52"/>
                  <a:gd name="T19" fmla="*/ 105 h 106"/>
                  <a:gd name="T20" fmla="*/ 48 w 52"/>
                  <a:gd name="T21" fmla="*/ 105 h 10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2"/>
                  <a:gd name="T34" fmla="*/ 0 h 106"/>
                  <a:gd name="T35" fmla="*/ 52 w 52"/>
                  <a:gd name="T36" fmla="*/ 106 h 10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2" h="106">
                    <a:moveTo>
                      <a:pt x="0" y="0"/>
                    </a:moveTo>
                    <a:lnTo>
                      <a:pt x="31" y="70"/>
                    </a:lnTo>
                    <a:lnTo>
                      <a:pt x="34" y="75"/>
                    </a:lnTo>
                    <a:lnTo>
                      <a:pt x="37" y="80"/>
                    </a:lnTo>
                    <a:lnTo>
                      <a:pt x="37" y="85"/>
                    </a:lnTo>
                    <a:lnTo>
                      <a:pt x="37" y="90"/>
                    </a:lnTo>
                    <a:lnTo>
                      <a:pt x="37" y="95"/>
                    </a:lnTo>
                    <a:lnTo>
                      <a:pt x="40" y="100"/>
                    </a:lnTo>
                    <a:lnTo>
                      <a:pt x="45" y="105"/>
                    </a:lnTo>
                    <a:lnTo>
                      <a:pt x="51" y="105"/>
                    </a:lnTo>
                    <a:lnTo>
                      <a:pt x="48" y="105"/>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31" name="Freeform 265"/>
              <p:cNvSpPr>
                <a:spLocks/>
              </p:cNvSpPr>
              <p:nvPr/>
            </p:nvSpPr>
            <p:spPr bwMode="auto">
              <a:xfrm>
                <a:off x="1964" y="2645"/>
                <a:ext cx="79" cy="72"/>
              </a:xfrm>
              <a:custGeom>
                <a:avLst/>
                <a:gdLst>
                  <a:gd name="T0" fmla="*/ 78 w 79"/>
                  <a:gd name="T1" fmla="*/ 0 h 72"/>
                  <a:gd name="T2" fmla="*/ 72 w 79"/>
                  <a:gd name="T3" fmla="*/ 3 h 72"/>
                  <a:gd name="T4" fmla="*/ 67 w 79"/>
                  <a:gd name="T5" fmla="*/ 5 h 72"/>
                  <a:gd name="T6" fmla="*/ 61 w 79"/>
                  <a:gd name="T7" fmla="*/ 8 h 72"/>
                  <a:gd name="T8" fmla="*/ 61 w 79"/>
                  <a:gd name="T9" fmla="*/ 13 h 72"/>
                  <a:gd name="T10" fmla="*/ 61 w 79"/>
                  <a:gd name="T11" fmla="*/ 18 h 72"/>
                  <a:gd name="T12" fmla="*/ 61 w 79"/>
                  <a:gd name="T13" fmla="*/ 23 h 72"/>
                  <a:gd name="T14" fmla="*/ 56 w 79"/>
                  <a:gd name="T15" fmla="*/ 36 h 72"/>
                  <a:gd name="T16" fmla="*/ 45 w 79"/>
                  <a:gd name="T17" fmla="*/ 36 h 72"/>
                  <a:gd name="T18" fmla="*/ 42 w 79"/>
                  <a:gd name="T19" fmla="*/ 41 h 72"/>
                  <a:gd name="T20" fmla="*/ 31 w 79"/>
                  <a:gd name="T21" fmla="*/ 46 h 72"/>
                  <a:gd name="T22" fmla="*/ 25 w 79"/>
                  <a:gd name="T23" fmla="*/ 48 h 72"/>
                  <a:gd name="T24" fmla="*/ 8 w 79"/>
                  <a:gd name="T25" fmla="*/ 63 h 72"/>
                  <a:gd name="T26" fmla="*/ 6 w 79"/>
                  <a:gd name="T27" fmla="*/ 68 h 72"/>
                  <a:gd name="T28" fmla="*/ 0 w 79"/>
                  <a:gd name="T29" fmla="*/ 71 h 7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9"/>
                  <a:gd name="T46" fmla="*/ 0 h 72"/>
                  <a:gd name="T47" fmla="*/ 79 w 79"/>
                  <a:gd name="T48" fmla="*/ 72 h 7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9" h="72">
                    <a:moveTo>
                      <a:pt x="78" y="0"/>
                    </a:moveTo>
                    <a:lnTo>
                      <a:pt x="72" y="3"/>
                    </a:lnTo>
                    <a:lnTo>
                      <a:pt x="67" y="5"/>
                    </a:lnTo>
                    <a:lnTo>
                      <a:pt x="61" y="8"/>
                    </a:lnTo>
                    <a:lnTo>
                      <a:pt x="61" y="13"/>
                    </a:lnTo>
                    <a:lnTo>
                      <a:pt x="61" y="18"/>
                    </a:lnTo>
                    <a:lnTo>
                      <a:pt x="61" y="23"/>
                    </a:lnTo>
                    <a:lnTo>
                      <a:pt x="56" y="36"/>
                    </a:lnTo>
                    <a:lnTo>
                      <a:pt x="45" y="36"/>
                    </a:lnTo>
                    <a:lnTo>
                      <a:pt x="42" y="41"/>
                    </a:lnTo>
                    <a:lnTo>
                      <a:pt x="31" y="46"/>
                    </a:lnTo>
                    <a:lnTo>
                      <a:pt x="25" y="48"/>
                    </a:lnTo>
                    <a:lnTo>
                      <a:pt x="8" y="63"/>
                    </a:lnTo>
                    <a:lnTo>
                      <a:pt x="6" y="68"/>
                    </a:lnTo>
                    <a:lnTo>
                      <a:pt x="0" y="71"/>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32" name="Freeform 266"/>
              <p:cNvSpPr>
                <a:spLocks/>
              </p:cNvSpPr>
              <p:nvPr/>
            </p:nvSpPr>
            <p:spPr bwMode="auto">
              <a:xfrm>
                <a:off x="1901" y="2809"/>
                <a:ext cx="105" cy="46"/>
              </a:xfrm>
              <a:custGeom>
                <a:avLst/>
                <a:gdLst>
                  <a:gd name="T0" fmla="*/ 0 w 105"/>
                  <a:gd name="T1" fmla="*/ 0 h 46"/>
                  <a:gd name="T2" fmla="*/ 42 w 105"/>
                  <a:gd name="T3" fmla="*/ 0 h 46"/>
                  <a:gd name="T4" fmla="*/ 48 w 105"/>
                  <a:gd name="T5" fmla="*/ 0 h 46"/>
                  <a:gd name="T6" fmla="*/ 53 w 105"/>
                  <a:gd name="T7" fmla="*/ 5 h 46"/>
                  <a:gd name="T8" fmla="*/ 56 w 105"/>
                  <a:gd name="T9" fmla="*/ 10 h 46"/>
                  <a:gd name="T10" fmla="*/ 62 w 105"/>
                  <a:gd name="T11" fmla="*/ 13 h 46"/>
                  <a:gd name="T12" fmla="*/ 65 w 105"/>
                  <a:gd name="T13" fmla="*/ 18 h 46"/>
                  <a:gd name="T14" fmla="*/ 70 w 105"/>
                  <a:gd name="T15" fmla="*/ 23 h 46"/>
                  <a:gd name="T16" fmla="*/ 73 w 105"/>
                  <a:gd name="T17" fmla="*/ 28 h 46"/>
                  <a:gd name="T18" fmla="*/ 76 w 105"/>
                  <a:gd name="T19" fmla="*/ 33 h 46"/>
                  <a:gd name="T20" fmla="*/ 82 w 105"/>
                  <a:gd name="T21" fmla="*/ 38 h 46"/>
                  <a:gd name="T22" fmla="*/ 87 w 105"/>
                  <a:gd name="T23" fmla="*/ 40 h 46"/>
                  <a:gd name="T24" fmla="*/ 93 w 105"/>
                  <a:gd name="T25" fmla="*/ 43 h 46"/>
                  <a:gd name="T26" fmla="*/ 98 w 105"/>
                  <a:gd name="T27" fmla="*/ 45 h 46"/>
                  <a:gd name="T28" fmla="*/ 104 w 105"/>
                  <a:gd name="T29" fmla="*/ 45 h 4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5"/>
                  <a:gd name="T46" fmla="*/ 0 h 46"/>
                  <a:gd name="T47" fmla="*/ 105 w 105"/>
                  <a:gd name="T48" fmla="*/ 46 h 4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5" h="46">
                    <a:moveTo>
                      <a:pt x="0" y="0"/>
                    </a:moveTo>
                    <a:lnTo>
                      <a:pt x="42" y="0"/>
                    </a:lnTo>
                    <a:lnTo>
                      <a:pt x="48" y="0"/>
                    </a:lnTo>
                    <a:lnTo>
                      <a:pt x="53" y="5"/>
                    </a:lnTo>
                    <a:lnTo>
                      <a:pt x="56" y="10"/>
                    </a:lnTo>
                    <a:lnTo>
                      <a:pt x="62" y="13"/>
                    </a:lnTo>
                    <a:lnTo>
                      <a:pt x="65" y="18"/>
                    </a:lnTo>
                    <a:lnTo>
                      <a:pt x="70" y="23"/>
                    </a:lnTo>
                    <a:lnTo>
                      <a:pt x="73" y="28"/>
                    </a:lnTo>
                    <a:lnTo>
                      <a:pt x="76" y="33"/>
                    </a:lnTo>
                    <a:lnTo>
                      <a:pt x="82" y="38"/>
                    </a:lnTo>
                    <a:lnTo>
                      <a:pt x="87" y="40"/>
                    </a:lnTo>
                    <a:lnTo>
                      <a:pt x="93" y="43"/>
                    </a:lnTo>
                    <a:lnTo>
                      <a:pt x="98" y="45"/>
                    </a:lnTo>
                    <a:lnTo>
                      <a:pt x="104" y="45"/>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33" name="Freeform 267"/>
              <p:cNvSpPr>
                <a:spLocks/>
              </p:cNvSpPr>
              <p:nvPr/>
            </p:nvSpPr>
            <p:spPr bwMode="auto">
              <a:xfrm>
                <a:off x="1786" y="2774"/>
                <a:ext cx="38" cy="76"/>
              </a:xfrm>
              <a:custGeom>
                <a:avLst/>
                <a:gdLst>
                  <a:gd name="T0" fmla="*/ 0 w 38"/>
                  <a:gd name="T1" fmla="*/ 0 h 76"/>
                  <a:gd name="T2" fmla="*/ 3 w 38"/>
                  <a:gd name="T3" fmla="*/ 5 h 76"/>
                  <a:gd name="T4" fmla="*/ 3 w 38"/>
                  <a:gd name="T5" fmla="*/ 10 h 76"/>
                  <a:gd name="T6" fmla="*/ 3 w 38"/>
                  <a:gd name="T7" fmla="*/ 15 h 76"/>
                  <a:gd name="T8" fmla="*/ 0 w 38"/>
                  <a:gd name="T9" fmla="*/ 20 h 76"/>
                  <a:gd name="T10" fmla="*/ 0 w 38"/>
                  <a:gd name="T11" fmla="*/ 25 h 76"/>
                  <a:gd name="T12" fmla="*/ 0 w 38"/>
                  <a:gd name="T13" fmla="*/ 30 h 76"/>
                  <a:gd name="T14" fmla="*/ 0 w 38"/>
                  <a:gd name="T15" fmla="*/ 35 h 76"/>
                  <a:gd name="T16" fmla="*/ 0 w 38"/>
                  <a:gd name="T17" fmla="*/ 40 h 76"/>
                  <a:gd name="T18" fmla="*/ 6 w 38"/>
                  <a:gd name="T19" fmla="*/ 45 h 76"/>
                  <a:gd name="T20" fmla="*/ 11 w 38"/>
                  <a:gd name="T21" fmla="*/ 50 h 76"/>
                  <a:gd name="T22" fmla="*/ 14 w 38"/>
                  <a:gd name="T23" fmla="*/ 55 h 76"/>
                  <a:gd name="T24" fmla="*/ 20 w 38"/>
                  <a:gd name="T25" fmla="*/ 60 h 76"/>
                  <a:gd name="T26" fmla="*/ 23 w 38"/>
                  <a:gd name="T27" fmla="*/ 65 h 76"/>
                  <a:gd name="T28" fmla="*/ 28 w 38"/>
                  <a:gd name="T29" fmla="*/ 70 h 76"/>
                  <a:gd name="T30" fmla="*/ 31 w 38"/>
                  <a:gd name="T31" fmla="*/ 75 h 76"/>
                  <a:gd name="T32" fmla="*/ 37 w 38"/>
                  <a:gd name="T33" fmla="*/ 75 h 7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8"/>
                  <a:gd name="T52" fmla="*/ 0 h 76"/>
                  <a:gd name="T53" fmla="*/ 38 w 38"/>
                  <a:gd name="T54" fmla="*/ 76 h 7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8" h="76">
                    <a:moveTo>
                      <a:pt x="0" y="0"/>
                    </a:moveTo>
                    <a:lnTo>
                      <a:pt x="3" y="5"/>
                    </a:lnTo>
                    <a:lnTo>
                      <a:pt x="3" y="10"/>
                    </a:lnTo>
                    <a:lnTo>
                      <a:pt x="3" y="15"/>
                    </a:lnTo>
                    <a:lnTo>
                      <a:pt x="0" y="20"/>
                    </a:lnTo>
                    <a:lnTo>
                      <a:pt x="0" y="25"/>
                    </a:lnTo>
                    <a:lnTo>
                      <a:pt x="0" y="30"/>
                    </a:lnTo>
                    <a:lnTo>
                      <a:pt x="0" y="35"/>
                    </a:lnTo>
                    <a:lnTo>
                      <a:pt x="0" y="40"/>
                    </a:lnTo>
                    <a:lnTo>
                      <a:pt x="6" y="45"/>
                    </a:lnTo>
                    <a:lnTo>
                      <a:pt x="11" y="50"/>
                    </a:lnTo>
                    <a:lnTo>
                      <a:pt x="14" y="55"/>
                    </a:lnTo>
                    <a:lnTo>
                      <a:pt x="20" y="60"/>
                    </a:lnTo>
                    <a:lnTo>
                      <a:pt x="23" y="65"/>
                    </a:lnTo>
                    <a:lnTo>
                      <a:pt x="28" y="70"/>
                    </a:lnTo>
                    <a:lnTo>
                      <a:pt x="31" y="75"/>
                    </a:lnTo>
                    <a:lnTo>
                      <a:pt x="37" y="75"/>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34" name="Freeform 268"/>
              <p:cNvSpPr>
                <a:spLocks/>
              </p:cNvSpPr>
              <p:nvPr/>
            </p:nvSpPr>
            <p:spPr bwMode="auto">
              <a:xfrm>
                <a:off x="1943" y="2741"/>
                <a:ext cx="85" cy="51"/>
              </a:xfrm>
              <a:custGeom>
                <a:avLst/>
                <a:gdLst>
                  <a:gd name="T0" fmla="*/ 0 w 85"/>
                  <a:gd name="T1" fmla="*/ 50 h 51"/>
                  <a:gd name="T2" fmla="*/ 17 w 85"/>
                  <a:gd name="T3" fmla="*/ 43 h 51"/>
                  <a:gd name="T4" fmla="*/ 20 w 85"/>
                  <a:gd name="T5" fmla="*/ 38 h 51"/>
                  <a:gd name="T6" fmla="*/ 22 w 85"/>
                  <a:gd name="T7" fmla="*/ 33 h 51"/>
                  <a:gd name="T8" fmla="*/ 28 w 85"/>
                  <a:gd name="T9" fmla="*/ 30 h 51"/>
                  <a:gd name="T10" fmla="*/ 34 w 85"/>
                  <a:gd name="T11" fmla="*/ 30 h 51"/>
                  <a:gd name="T12" fmla="*/ 39 w 85"/>
                  <a:gd name="T13" fmla="*/ 30 h 51"/>
                  <a:gd name="T14" fmla="*/ 45 w 85"/>
                  <a:gd name="T15" fmla="*/ 30 h 51"/>
                  <a:gd name="T16" fmla="*/ 50 w 85"/>
                  <a:gd name="T17" fmla="*/ 30 h 51"/>
                  <a:gd name="T18" fmla="*/ 56 w 85"/>
                  <a:gd name="T19" fmla="*/ 30 h 51"/>
                  <a:gd name="T20" fmla="*/ 62 w 85"/>
                  <a:gd name="T21" fmla="*/ 28 h 51"/>
                  <a:gd name="T22" fmla="*/ 64 w 85"/>
                  <a:gd name="T23" fmla="*/ 23 h 51"/>
                  <a:gd name="T24" fmla="*/ 70 w 85"/>
                  <a:gd name="T25" fmla="*/ 18 h 51"/>
                  <a:gd name="T26" fmla="*/ 76 w 85"/>
                  <a:gd name="T27" fmla="*/ 15 h 51"/>
                  <a:gd name="T28" fmla="*/ 78 w 85"/>
                  <a:gd name="T29" fmla="*/ 10 h 51"/>
                  <a:gd name="T30" fmla="*/ 81 w 85"/>
                  <a:gd name="T31" fmla="*/ 5 h 51"/>
                  <a:gd name="T32" fmla="*/ 84 w 85"/>
                  <a:gd name="T33" fmla="*/ 0 h 5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5"/>
                  <a:gd name="T52" fmla="*/ 0 h 51"/>
                  <a:gd name="T53" fmla="*/ 85 w 85"/>
                  <a:gd name="T54" fmla="*/ 51 h 5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5" h="51">
                    <a:moveTo>
                      <a:pt x="0" y="50"/>
                    </a:moveTo>
                    <a:lnTo>
                      <a:pt x="17" y="43"/>
                    </a:lnTo>
                    <a:lnTo>
                      <a:pt x="20" y="38"/>
                    </a:lnTo>
                    <a:lnTo>
                      <a:pt x="22" y="33"/>
                    </a:lnTo>
                    <a:lnTo>
                      <a:pt x="28" y="30"/>
                    </a:lnTo>
                    <a:lnTo>
                      <a:pt x="34" y="30"/>
                    </a:lnTo>
                    <a:lnTo>
                      <a:pt x="39" y="30"/>
                    </a:lnTo>
                    <a:lnTo>
                      <a:pt x="45" y="30"/>
                    </a:lnTo>
                    <a:lnTo>
                      <a:pt x="50" y="30"/>
                    </a:lnTo>
                    <a:lnTo>
                      <a:pt x="56" y="30"/>
                    </a:lnTo>
                    <a:lnTo>
                      <a:pt x="62" y="28"/>
                    </a:lnTo>
                    <a:lnTo>
                      <a:pt x="64" y="23"/>
                    </a:lnTo>
                    <a:lnTo>
                      <a:pt x="70" y="18"/>
                    </a:lnTo>
                    <a:lnTo>
                      <a:pt x="76" y="15"/>
                    </a:lnTo>
                    <a:lnTo>
                      <a:pt x="78" y="10"/>
                    </a:lnTo>
                    <a:lnTo>
                      <a:pt x="81" y="5"/>
                    </a:lnTo>
                    <a:lnTo>
                      <a:pt x="84"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35" name="Freeform 269"/>
              <p:cNvSpPr>
                <a:spLocks/>
              </p:cNvSpPr>
              <p:nvPr/>
            </p:nvSpPr>
            <p:spPr bwMode="auto">
              <a:xfrm>
                <a:off x="1617" y="2684"/>
                <a:ext cx="145" cy="13"/>
              </a:xfrm>
              <a:custGeom>
                <a:avLst/>
                <a:gdLst>
                  <a:gd name="T0" fmla="*/ 0 w 145"/>
                  <a:gd name="T1" fmla="*/ 2 h 13"/>
                  <a:gd name="T2" fmla="*/ 17 w 145"/>
                  <a:gd name="T3" fmla="*/ 2 h 13"/>
                  <a:gd name="T4" fmla="*/ 23 w 145"/>
                  <a:gd name="T5" fmla="*/ 2 h 13"/>
                  <a:gd name="T6" fmla="*/ 28 w 145"/>
                  <a:gd name="T7" fmla="*/ 0 h 13"/>
                  <a:gd name="T8" fmla="*/ 34 w 145"/>
                  <a:gd name="T9" fmla="*/ 0 h 13"/>
                  <a:gd name="T10" fmla="*/ 40 w 145"/>
                  <a:gd name="T11" fmla="*/ 0 h 13"/>
                  <a:gd name="T12" fmla="*/ 45 w 145"/>
                  <a:gd name="T13" fmla="*/ 0 h 13"/>
                  <a:gd name="T14" fmla="*/ 59 w 145"/>
                  <a:gd name="T15" fmla="*/ 0 h 13"/>
                  <a:gd name="T16" fmla="*/ 71 w 145"/>
                  <a:gd name="T17" fmla="*/ 5 h 13"/>
                  <a:gd name="T18" fmla="*/ 82 w 145"/>
                  <a:gd name="T19" fmla="*/ 5 h 13"/>
                  <a:gd name="T20" fmla="*/ 93 w 145"/>
                  <a:gd name="T21" fmla="*/ 5 h 13"/>
                  <a:gd name="T22" fmla="*/ 104 w 145"/>
                  <a:gd name="T23" fmla="*/ 5 h 13"/>
                  <a:gd name="T24" fmla="*/ 116 w 145"/>
                  <a:gd name="T25" fmla="*/ 10 h 13"/>
                  <a:gd name="T26" fmla="*/ 127 w 145"/>
                  <a:gd name="T27" fmla="*/ 10 h 13"/>
                  <a:gd name="T28" fmla="*/ 133 w 145"/>
                  <a:gd name="T29" fmla="*/ 12 h 13"/>
                  <a:gd name="T30" fmla="*/ 138 w 145"/>
                  <a:gd name="T31" fmla="*/ 12 h 13"/>
                  <a:gd name="T32" fmla="*/ 144 w 145"/>
                  <a:gd name="T33" fmla="*/ 12 h 1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45"/>
                  <a:gd name="T52" fmla="*/ 0 h 13"/>
                  <a:gd name="T53" fmla="*/ 145 w 145"/>
                  <a:gd name="T54" fmla="*/ 13 h 1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45" h="13">
                    <a:moveTo>
                      <a:pt x="0" y="2"/>
                    </a:moveTo>
                    <a:lnTo>
                      <a:pt x="17" y="2"/>
                    </a:lnTo>
                    <a:lnTo>
                      <a:pt x="23" y="2"/>
                    </a:lnTo>
                    <a:lnTo>
                      <a:pt x="28" y="0"/>
                    </a:lnTo>
                    <a:lnTo>
                      <a:pt x="34" y="0"/>
                    </a:lnTo>
                    <a:lnTo>
                      <a:pt x="40" y="0"/>
                    </a:lnTo>
                    <a:lnTo>
                      <a:pt x="45" y="0"/>
                    </a:lnTo>
                    <a:lnTo>
                      <a:pt x="59" y="0"/>
                    </a:lnTo>
                    <a:lnTo>
                      <a:pt x="71" y="5"/>
                    </a:lnTo>
                    <a:lnTo>
                      <a:pt x="82" y="5"/>
                    </a:lnTo>
                    <a:lnTo>
                      <a:pt x="93" y="5"/>
                    </a:lnTo>
                    <a:lnTo>
                      <a:pt x="104" y="5"/>
                    </a:lnTo>
                    <a:lnTo>
                      <a:pt x="116" y="10"/>
                    </a:lnTo>
                    <a:lnTo>
                      <a:pt x="127" y="10"/>
                    </a:lnTo>
                    <a:lnTo>
                      <a:pt x="133" y="12"/>
                    </a:lnTo>
                    <a:lnTo>
                      <a:pt x="138" y="12"/>
                    </a:lnTo>
                    <a:lnTo>
                      <a:pt x="144" y="12"/>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736" name="Freeform 270"/>
              <p:cNvSpPr>
                <a:spLocks/>
              </p:cNvSpPr>
              <p:nvPr/>
            </p:nvSpPr>
            <p:spPr bwMode="auto">
              <a:xfrm>
                <a:off x="2093" y="2626"/>
                <a:ext cx="25" cy="146"/>
              </a:xfrm>
              <a:custGeom>
                <a:avLst/>
                <a:gdLst>
                  <a:gd name="T0" fmla="*/ 19 w 25"/>
                  <a:gd name="T1" fmla="*/ 0 h 146"/>
                  <a:gd name="T2" fmla="*/ 16 w 25"/>
                  <a:gd name="T3" fmla="*/ 5 h 146"/>
                  <a:gd name="T4" fmla="*/ 11 w 25"/>
                  <a:gd name="T5" fmla="*/ 10 h 146"/>
                  <a:gd name="T6" fmla="*/ 8 w 25"/>
                  <a:gd name="T7" fmla="*/ 15 h 146"/>
                  <a:gd name="T8" fmla="*/ 5 w 25"/>
                  <a:gd name="T9" fmla="*/ 20 h 146"/>
                  <a:gd name="T10" fmla="*/ 3 w 25"/>
                  <a:gd name="T11" fmla="*/ 25 h 146"/>
                  <a:gd name="T12" fmla="*/ 3 w 25"/>
                  <a:gd name="T13" fmla="*/ 30 h 146"/>
                  <a:gd name="T14" fmla="*/ 8 w 25"/>
                  <a:gd name="T15" fmla="*/ 43 h 146"/>
                  <a:gd name="T16" fmla="*/ 8 w 25"/>
                  <a:gd name="T17" fmla="*/ 53 h 146"/>
                  <a:gd name="T18" fmla="*/ 11 w 25"/>
                  <a:gd name="T19" fmla="*/ 65 h 146"/>
                  <a:gd name="T20" fmla="*/ 13 w 25"/>
                  <a:gd name="T21" fmla="*/ 78 h 146"/>
                  <a:gd name="T22" fmla="*/ 19 w 25"/>
                  <a:gd name="T23" fmla="*/ 88 h 146"/>
                  <a:gd name="T24" fmla="*/ 19 w 25"/>
                  <a:gd name="T25" fmla="*/ 98 h 146"/>
                  <a:gd name="T26" fmla="*/ 24 w 25"/>
                  <a:gd name="T27" fmla="*/ 108 h 146"/>
                  <a:gd name="T28" fmla="*/ 24 w 25"/>
                  <a:gd name="T29" fmla="*/ 118 h 146"/>
                  <a:gd name="T30" fmla="*/ 24 w 25"/>
                  <a:gd name="T31" fmla="*/ 128 h 146"/>
                  <a:gd name="T32" fmla="*/ 21 w 25"/>
                  <a:gd name="T33" fmla="*/ 133 h 146"/>
                  <a:gd name="T34" fmla="*/ 11 w 25"/>
                  <a:gd name="T35" fmla="*/ 138 h 146"/>
                  <a:gd name="T36" fmla="*/ 5 w 25"/>
                  <a:gd name="T37" fmla="*/ 143 h 146"/>
                  <a:gd name="T38" fmla="*/ 0 w 25"/>
                  <a:gd name="T39" fmla="*/ 145 h 14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5"/>
                  <a:gd name="T61" fmla="*/ 0 h 146"/>
                  <a:gd name="T62" fmla="*/ 25 w 25"/>
                  <a:gd name="T63" fmla="*/ 146 h 14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5" h="146">
                    <a:moveTo>
                      <a:pt x="19" y="0"/>
                    </a:moveTo>
                    <a:lnTo>
                      <a:pt x="16" y="5"/>
                    </a:lnTo>
                    <a:lnTo>
                      <a:pt x="11" y="10"/>
                    </a:lnTo>
                    <a:lnTo>
                      <a:pt x="8" y="15"/>
                    </a:lnTo>
                    <a:lnTo>
                      <a:pt x="5" y="20"/>
                    </a:lnTo>
                    <a:lnTo>
                      <a:pt x="3" y="25"/>
                    </a:lnTo>
                    <a:lnTo>
                      <a:pt x="3" y="30"/>
                    </a:lnTo>
                    <a:lnTo>
                      <a:pt x="8" y="43"/>
                    </a:lnTo>
                    <a:lnTo>
                      <a:pt x="8" y="53"/>
                    </a:lnTo>
                    <a:lnTo>
                      <a:pt x="11" y="65"/>
                    </a:lnTo>
                    <a:lnTo>
                      <a:pt x="13" y="78"/>
                    </a:lnTo>
                    <a:lnTo>
                      <a:pt x="19" y="88"/>
                    </a:lnTo>
                    <a:lnTo>
                      <a:pt x="19" y="98"/>
                    </a:lnTo>
                    <a:lnTo>
                      <a:pt x="24" y="108"/>
                    </a:lnTo>
                    <a:lnTo>
                      <a:pt x="24" y="118"/>
                    </a:lnTo>
                    <a:lnTo>
                      <a:pt x="24" y="128"/>
                    </a:lnTo>
                    <a:lnTo>
                      <a:pt x="21" y="133"/>
                    </a:lnTo>
                    <a:lnTo>
                      <a:pt x="11" y="138"/>
                    </a:lnTo>
                    <a:lnTo>
                      <a:pt x="5" y="143"/>
                    </a:lnTo>
                    <a:lnTo>
                      <a:pt x="0" y="145"/>
                    </a:lnTo>
                  </a:path>
                </a:pathLst>
              </a:custGeom>
              <a:noFill/>
              <a:ln w="12700" cap="rnd" cmpd="sng">
                <a:solidFill>
                  <a:srgbClr val="4BCD00"/>
                </a:solidFill>
                <a:prstDash val="solid"/>
                <a:round/>
                <a:headEnd type="none" w="med" len="med"/>
                <a:tailEnd type="none" w="med" len="med"/>
              </a:ln>
            </p:spPr>
            <p:txBody>
              <a:bodyPr/>
              <a:lstStyle/>
              <a:p>
                <a:endParaRPr lang="en-US"/>
              </a:p>
            </p:txBody>
          </p:sp>
        </p:grpSp>
      </p:grpSp>
      <p:grpSp>
        <p:nvGrpSpPr>
          <p:cNvPr id="17433" name="Group 271"/>
          <p:cNvGrpSpPr>
            <a:grpSpLocks/>
          </p:cNvGrpSpPr>
          <p:nvPr/>
        </p:nvGrpSpPr>
        <p:grpSpPr bwMode="auto">
          <a:xfrm>
            <a:off x="2195513" y="4652963"/>
            <a:ext cx="1350962" cy="1330325"/>
            <a:chOff x="1984" y="2462"/>
            <a:chExt cx="1087" cy="953"/>
          </a:xfrm>
        </p:grpSpPr>
        <p:grpSp>
          <p:nvGrpSpPr>
            <p:cNvPr id="17456" name="Group 272"/>
            <p:cNvGrpSpPr>
              <a:grpSpLocks/>
            </p:cNvGrpSpPr>
            <p:nvPr/>
          </p:nvGrpSpPr>
          <p:grpSpPr bwMode="auto">
            <a:xfrm>
              <a:off x="2127" y="2745"/>
              <a:ext cx="921" cy="354"/>
              <a:chOff x="1521" y="2626"/>
              <a:chExt cx="653" cy="251"/>
            </a:xfrm>
          </p:grpSpPr>
          <p:sp>
            <p:nvSpPr>
              <p:cNvPr id="17658" name="Freeform 273"/>
              <p:cNvSpPr>
                <a:spLocks/>
              </p:cNvSpPr>
              <p:nvPr/>
            </p:nvSpPr>
            <p:spPr bwMode="auto">
              <a:xfrm>
                <a:off x="1581" y="2666"/>
                <a:ext cx="57" cy="96"/>
              </a:xfrm>
              <a:custGeom>
                <a:avLst/>
                <a:gdLst>
                  <a:gd name="T0" fmla="*/ 0 w 57"/>
                  <a:gd name="T1" fmla="*/ 0 h 96"/>
                  <a:gd name="T2" fmla="*/ 6 w 57"/>
                  <a:gd name="T3" fmla="*/ 0 h 96"/>
                  <a:gd name="T4" fmla="*/ 8 w 57"/>
                  <a:gd name="T5" fmla="*/ 5 h 96"/>
                  <a:gd name="T6" fmla="*/ 14 w 57"/>
                  <a:gd name="T7" fmla="*/ 8 h 96"/>
                  <a:gd name="T8" fmla="*/ 17 w 57"/>
                  <a:gd name="T9" fmla="*/ 13 h 96"/>
                  <a:gd name="T10" fmla="*/ 20 w 57"/>
                  <a:gd name="T11" fmla="*/ 18 h 96"/>
                  <a:gd name="T12" fmla="*/ 28 w 57"/>
                  <a:gd name="T13" fmla="*/ 40 h 96"/>
                  <a:gd name="T14" fmla="*/ 28 w 57"/>
                  <a:gd name="T15" fmla="*/ 50 h 96"/>
                  <a:gd name="T16" fmla="*/ 34 w 57"/>
                  <a:gd name="T17" fmla="*/ 60 h 96"/>
                  <a:gd name="T18" fmla="*/ 34 w 57"/>
                  <a:gd name="T19" fmla="*/ 70 h 96"/>
                  <a:gd name="T20" fmla="*/ 34 w 57"/>
                  <a:gd name="T21" fmla="*/ 80 h 96"/>
                  <a:gd name="T22" fmla="*/ 45 w 57"/>
                  <a:gd name="T23" fmla="*/ 80 h 96"/>
                  <a:gd name="T24" fmla="*/ 45 w 57"/>
                  <a:gd name="T25" fmla="*/ 85 h 96"/>
                  <a:gd name="T26" fmla="*/ 48 w 57"/>
                  <a:gd name="T27" fmla="*/ 90 h 96"/>
                  <a:gd name="T28" fmla="*/ 50 w 57"/>
                  <a:gd name="T29" fmla="*/ 95 h 96"/>
                  <a:gd name="T30" fmla="*/ 56 w 57"/>
                  <a:gd name="T31" fmla="*/ 93 h 9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7"/>
                  <a:gd name="T49" fmla="*/ 0 h 96"/>
                  <a:gd name="T50" fmla="*/ 57 w 57"/>
                  <a:gd name="T51" fmla="*/ 96 h 9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7" h="96">
                    <a:moveTo>
                      <a:pt x="0" y="0"/>
                    </a:moveTo>
                    <a:lnTo>
                      <a:pt x="6" y="0"/>
                    </a:lnTo>
                    <a:lnTo>
                      <a:pt x="8" y="5"/>
                    </a:lnTo>
                    <a:lnTo>
                      <a:pt x="14" y="8"/>
                    </a:lnTo>
                    <a:lnTo>
                      <a:pt x="17" y="13"/>
                    </a:lnTo>
                    <a:lnTo>
                      <a:pt x="20" y="18"/>
                    </a:lnTo>
                    <a:lnTo>
                      <a:pt x="28" y="40"/>
                    </a:lnTo>
                    <a:lnTo>
                      <a:pt x="28" y="50"/>
                    </a:lnTo>
                    <a:lnTo>
                      <a:pt x="34" y="60"/>
                    </a:lnTo>
                    <a:lnTo>
                      <a:pt x="34" y="70"/>
                    </a:lnTo>
                    <a:lnTo>
                      <a:pt x="34" y="80"/>
                    </a:lnTo>
                    <a:lnTo>
                      <a:pt x="45" y="80"/>
                    </a:lnTo>
                    <a:lnTo>
                      <a:pt x="45" y="85"/>
                    </a:lnTo>
                    <a:lnTo>
                      <a:pt x="48" y="90"/>
                    </a:lnTo>
                    <a:lnTo>
                      <a:pt x="50" y="95"/>
                    </a:lnTo>
                    <a:lnTo>
                      <a:pt x="56" y="93"/>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659" name="Freeform 274"/>
              <p:cNvSpPr>
                <a:spLocks/>
              </p:cNvSpPr>
              <p:nvPr/>
            </p:nvSpPr>
            <p:spPr bwMode="auto">
              <a:xfrm>
                <a:off x="1561" y="2649"/>
                <a:ext cx="161" cy="68"/>
              </a:xfrm>
              <a:custGeom>
                <a:avLst/>
                <a:gdLst>
                  <a:gd name="T0" fmla="*/ 0 w 161"/>
                  <a:gd name="T1" fmla="*/ 67 h 68"/>
                  <a:gd name="T2" fmla="*/ 39 w 161"/>
                  <a:gd name="T3" fmla="*/ 57 h 68"/>
                  <a:gd name="T4" fmla="*/ 45 w 161"/>
                  <a:gd name="T5" fmla="*/ 57 h 68"/>
                  <a:gd name="T6" fmla="*/ 51 w 161"/>
                  <a:gd name="T7" fmla="*/ 60 h 68"/>
                  <a:gd name="T8" fmla="*/ 56 w 161"/>
                  <a:gd name="T9" fmla="*/ 60 h 68"/>
                  <a:gd name="T10" fmla="*/ 62 w 161"/>
                  <a:gd name="T11" fmla="*/ 60 h 68"/>
                  <a:gd name="T12" fmla="*/ 67 w 161"/>
                  <a:gd name="T13" fmla="*/ 60 h 68"/>
                  <a:gd name="T14" fmla="*/ 81 w 161"/>
                  <a:gd name="T15" fmla="*/ 55 h 68"/>
                  <a:gd name="T16" fmla="*/ 87 w 161"/>
                  <a:gd name="T17" fmla="*/ 52 h 68"/>
                  <a:gd name="T18" fmla="*/ 121 w 161"/>
                  <a:gd name="T19" fmla="*/ 32 h 68"/>
                  <a:gd name="T20" fmla="*/ 138 w 161"/>
                  <a:gd name="T21" fmla="*/ 17 h 68"/>
                  <a:gd name="T22" fmla="*/ 138 w 161"/>
                  <a:gd name="T23" fmla="*/ 12 h 68"/>
                  <a:gd name="T24" fmla="*/ 143 w 161"/>
                  <a:gd name="T25" fmla="*/ 12 h 68"/>
                  <a:gd name="T26" fmla="*/ 149 w 161"/>
                  <a:gd name="T27" fmla="*/ 7 h 68"/>
                  <a:gd name="T28" fmla="*/ 154 w 161"/>
                  <a:gd name="T29" fmla="*/ 2 h 68"/>
                  <a:gd name="T30" fmla="*/ 160 w 161"/>
                  <a:gd name="T31" fmla="*/ 0 h 6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61"/>
                  <a:gd name="T49" fmla="*/ 0 h 68"/>
                  <a:gd name="T50" fmla="*/ 161 w 161"/>
                  <a:gd name="T51" fmla="*/ 68 h 6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61" h="68">
                    <a:moveTo>
                      <a:pt x="0" y="67"/>
                    </a:moveTo>
                    <a:lnTo>
                      <a:pt x="39" y="57"/>
                    </a:lnTo>
                    <a:lnTo>
                      <a:pt x="45" y="57"/>
                    </a:lnTo>
                    <a:lnTo>
                      <a:pt x="51" y="60"/>
                    </a:lnTo>
                    <a:lnTo>
                      <a:pt x="56" y="60"/>
                    </a:lnTo>
                    <a:lnTo>
                      <a:pt x="62" y="60"/>
                    </a:lnTo>
                    <a:lnTo>
                      <a:pt x="67" y="60"/>
                    </a:lnTo>
                    <a:lnTo>
                      <a:pt x="81" y="55"/>
                    </a:lnTo>
                    <a:lnTo>
                      <a:pt x="87" y="52"/>
                    </a:lnTo>
                    <a:lnTo>
                      <a:pt x="121" y="32"/>
                    </a:lnTo>
                    <a:lnTo>
                      <a:pt x="138" y="17"/>
                    </a:lnTo>
                    <a:lnTo>
                      <a:pt x="138" y="12"/>
                    </a:lnTo>
                    <a:lnTo>
                      <a:pt x="143" y="12"/>
                    </a:lnTo>
                    <a:lnTo>
                      <a:pt x="149" y="7"/>
                    </a:lnTo>
                    <a:lnTo>
                      <a:pt x="154" y="2"/>
                    </a:lnTo>
                    <a:lnTo>
                      <a:pt x="160"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660" name="Freeform 275"/>
              <p:cNvSpPr>
                <a:spLocks/>
              </p:cNvSpPr>
              <p:nvPr/>
            </p:nvSpPr>
            <p:spPr bwMode="auto">
              <a:xfrm>
                <a:off x="1530" y="2759"/>
                <a:ext cx="80" cy="73"/>
              </a:xfrm>
              <a:custGeom>
                <a:avLst/>
                <a:gdLst>
                  <a:gd name="T0" fmla="*/ 0 w 80"/>
                  <a:gd name="T1" fmla="*/ 0 h 73"/>
                  <a:gd name="T2" fmla="*/ 20 w 80"/>
                  <a:gd name="T3" fmla="*/ 10 h 73"/>
                  <a:gd name="T4" fmla="*/ 20 w 80"/>
                  <a:gd name="T5" fmla="*/ 15 h 73"/>
                  <a:gd name="T6" fmla="*/ 23 w 80"/>
                  <a:gd name="T7" fmla="*/ 20 h 73"/>
                  <a:gd name="T8" fmla="*/ 23 w 80"/>
                  <a:gd name="T9" fmla="*/ 25 h 73"/>
                  <a:gd name="T10" fmla="*/ 28 w 80"/>
                  <a:gd name="T11" fmla="*/ 30 h 73"/>
                  <a:gd name="T12" fmla="*/ 34 w 80"/>
                  <a:gd name="T13" fmla="*/ 32 h 73"/>
                  <a:gd name="T14" fmla="*/ 40 w 80"/>
                  <a:gd name="T15" fmla="*/ 35 h 73"/>
                  <a:gd name="T16" fmla="*/ 45 w 80"/>
                  <a:gd name="T17" fmla="*/ 37 h 73"/>
                  <a:gd name="T18" fmla="*/ 51 w 80"/>
                  <a:gd name="T19" fmla="*/ 40 h 73"/>
                  <a:gd name="T20" fmla="*/ 54 w 80"/>
                  <a:gd name="T21" fmla="*/ 45 h 73"/>
                  <a:gd name="T22" fmla="*/ 59 w 80"/>
                  <a:gd name="T23" fmla="*/ 50 h 73"/>
                  <a:gd name="T24" fmla="*/ 62 w 80"/>
                  <a:gd name="T25" fmla="*/ 55 h 73"/>
                  <a:gd name="T26" fmla="*/ 65 w 80"/>
                  <a:gd name="T27" fmla="*/ 60 h 73"/>
                  <a:gd name="T28" fmla="*/ 71 w 80"/>
                  <a:gd name="T29" fmla="*/ 65 h 73"/>
                  <a:gd name="T30" fmla="*/ 76 w 80"/>
                  <a:gd name="T31" fmla="*/ 67 h 73"/>
                  <a:gd name="T32" fmla="*/ 79 w 80"/>
                  <a:gd name="T33" fmla="*/ 72 h 7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0"/>
                  <a:gd name="T52" fmla="*/ 0 h 73"/>
                  <a:gd name="T53" fmla="*/ 80 w 80"/>
                  <a:gd name="T54" fmla="*/ 73 h 7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0" h="73">
                    <a:moveTo>
                      <a:pt x="0" y="0"/>
                    </a:moveTo>
                    <a:lnTo>
                      <a:pt x="20" y="10"/>
                    </a:lnTo>
                    <a:lnTo>
                      <a:pt x="20" y="15"/>
                    </a:lnTo>
                    <a:lnTo>
                      <a:pt x="23" y="20"/>
                    </a:lnTo>
                    <a:lnTo>
                      <a:pt x="23" y="25"/>
                    </a:lnTo>
                    <a:lnTo>
                      <a:pt x="28" y="30"/>
                    </a:lnTo>
                    <a:lnTo>
                      <a:pt x="34" y="32"/>
                    </a:lnTo>
                    <a:lnTo>
                      <a:pt x="40" y="35"/>
                    </a:lnTo>
                    <a:lnTo>
                      <a:pt x="45" y="37"/>
                    </a:lnTo>
                    <a:lnTo>
                      <a:pt x="51" y="40"/>
                    </a:lnTo>
                    <a:lnTo>
                      <a:pt x="54" y="45"/>
                    </a:lnTo>
                    <a:lnTo>
                      <a:pt x="59" y="50"/>
                    </a:lnTo>
                    <a:lnTo>
                      <a:pt x="62" y="55"/>
                    </a:lnTo>
                    <a:lnTo>
                      <a:pt x="65" y="60"/>
                    </a:lnTo>
                    <a:lnTo>
                      <a:pt x="71" y="65"/>
                    </a:lnTo>
                    <a:lnTo>
                      <a:pt x="76" y="67"/>
                    </a:lnTo>
                    <a:lnTo>
                      <a:pt x="79" y="72"/>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661" name="Freeform 276"/>
              <p:cNvSpPr>
                <a:spLocks/>
              </p:cNvSpPr>
              <p:nvPr/>
            </p:nvSpPr>
            <p:spPr bwMode="auto">
              <a:xfrm>
                <a:off x="1521" y="2789"/>
                <a:ext cx="145" cy="33"/>
              </a:xfrm>
              <a:custGeom>
                <a:avLst/>
                <a:gdLst>
                  <a:gd name="T0" fmla="*/ 0 w 145"/>
                  <a:gd name="T1" fmla="*/ 32 h 33"/>
                  <a:gd name="T2" fmla="*/ 11 w 145"/>
                  <a:gd name="T3" fmla="*/ 27 h 33"/>
                  <a:gd name="T4" fmla="*/ 14 w 145"/>
                  <a:gd name="T5" fmla="*/ 22 h 33"/>
                  <a:gd name="T6" fmla="*/ 20 w 145"/>
                  <a:gd name="T7" fmla="*/ 17 h 33"/>
                  <a:gd name="T8" fmla="*/ 25 w 145"/>
                  <a:gd name="T9" fmla="*/ 15 h 33"/>
                  <a:gd name="T10" fmla="*/ 31 w 145"/>
                  <a:gd name="T11" fmla="*/ 12 h 33"/>
                  <a:gd name="T12" fmla="*/ 37 w 145"/>
                  <a:gd name="T13" fmla="*/ 12 h 33"/>
                  <a:gd name="T14" fmla="*/ 48 w 145"/>
                  <a:gd name="T15" fmla="*/ 12 h 33"/>
                  <a:gd name="T16" fmla="*/ 76 w 145"/>
                  <a:gd name="T17" fmla="*/ 12 h 33"/>
                  <a:gd name="T18" fmla="*/ 88 w 145"/>
                  <a:gd name="T19" fmla="*/ 12 h 33"/>
                  <a:gd name="T20" fmla="*/ 99 w 145"/>
                  <a:gd name="T21" fmla="*/ 12 h 33"/>
                  <a:gd name="T22" fmla="*/ 110 w 145"/>
                  <a:gd name="T23" fmla="*/ 2 h 33"/>
                  <a:gd name="T24" fmla="*/ 121 w 145"/>
                  <a:gd name="T25" fmla="*/ 2 h 33"/>
                  <a:gd name="T26" fmla="*/ 133 w 145"/>
                  <a:gd name="T27" fmla="*/ 2 h 33"/>
                  <a:gd name="T28" fmla="*/ 138 w 145"/>
                  <a:gd name="T29" fmla="*/ 2 h 33"/>
                  <a:gd name="T30" fmla="*/ 144 w 145"/>
                  <a:gd name="T31" fmla="*/ 0 h 3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45"/>
                  <a:gd name="T49" fmla="*/ 0 h 33"/>
                  <a:gd name="T50" fmla="*/ 145 w 145"/>
                  <a:gd name="T51" fmla="*/ 33 h 3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45" h="33">
                    <a:moveTo>
                      <a:pt x="0" y="32"/>
                    </a:moveTo>
                    <a:lnTo>
                      <a:pt x="11" y="27"/>
                    </a:lnTo>
                    <a:lnTo>
                      <a:pt x="14" y="22"/>
                    </a:lnTo>
                    <a:lnTo>
                      <a:pt x="20" y="17"/>
                    </a:lnTo>
                    <a:lnTo>
                      <a:pt x="25" y="15"/>
                    </a:lnTo>
                    <a:lnTo>
                      <a:pt x="31" y="12"/>
                    </a:lnTo>
                    <a:lnTo>
                      <a:pt x="37" y="12"/>
                    </a:lnTo>
                    <a:lnTo>
                      <a:pt x="48" y="12"/>
                    </a:lnTo>
                    <a:lnTo>
                      <a:pt x="76" y="12"/>
                    </a:lnTo>
                    <a:lnTo>
                      <a:pt x="88" y="12"/>
                    </a:lnTo>
                    <a:lnTo>
                      <a:pt x="99" y="12"/>
                    </a:lnTo>
                    <a:lnTo>
                      <a:pt x="110" y="2"/>
                    </a:lnTo>
                    <a:lnTo>
                      <a:pt x="121" y="2"/>
                    </a:lnTo>
                    <a:lnTo>
                      <a:pt x="133" y="2"/>
                    </a:lnTo>
                    <a:lnTo>
                      <a:pt x="138" y="2"/>
                    </a:lnTo>
                    <a:lnTo>
                      <a:pt x="144"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662" name="Freeform 277"/>
              <p:cNvSpPr>
                <a:spLocks/>
              </p:cNvSpPr>
              <p:nvPr/>
            </p:nvSpPr>
            <p:spPr bwMode="auto">
              <a:xfrm>
                <a:off x="1547" y="2734"/>
                <a:ext cx="85" cy="53"/>
              </a:xfrm>
              <a:custGeom>
                <a:avLst/>
                <a:gdLst>
                  <a:gd name="T0" fmla="*/ 0 w 85"/>
                  <a:gd name="T1" fmla="*/ 0 h 53"/>
                  <a:gd name="T2" fmla="*/ 22 w 85"/>
                  <a:gd name="T3" fmla="*/ 10 h 53"/>
                  <a:gd name="T4" fmla="*/ 25 w 85"/>
                  <a:gd name="T5" fmla="*/ 15 h 53"/>
                  <a:gd name="T6" fmla="*/ 28 w 85"/>
                  <a:gd name="T7" fmla="*/ 20 h 53"/>
                  <a:gd name="T8" fmla="*/ 34 w 85"/>
                  <a:gd name="T9" fmla="*/ 25 h 53"/>
                  <a:gd name="T10" fmla="*/ 36 w 85"/>
                  <a:gd name="T11" fmla="*/ 30 h 53"/>
                  <a:gd name="T12" fmla="*/ 42 w 85"/>
                  <a:gd name="T13" fmla="*/ 32 h 53"/>
                  <a:gd name="T14" fmla="*/ 45 w 85"/>
                  <a:gd name="T15" fmla="*/ 37 h 53"/>
                  <a:gd name="T16" fmla="*/ 50 w 85"/>
                  <a:gd name="T17" fmla="*/ 40 h 53"/>
                  <a:gd name="T18" fmla="*/ 56 w 85"/>
                  <a:gd name="T19" fmla="*/ 40 h 53"/>
                  <a:gd name="T20" fmla="*/ 62 w 85"/>
                  <a:gd name="T21" fmla="*/ 42 h 53"/>
                  <a:gd name="T22" fmla="*/ 67 w 85"/>
                  <a:gd name="T23" fmla="*/ 45 h 53"/>
                  <a:gd name="T24" fmla="*/ 73 w 85"/>
                  <a:gd name="T25" fmla="*/ 50 h 53"/>
                  <a:gd name="T26" fmla="*/ 78 w 85"/>
                  <a:gd name="T27" fmla="*/ 52 h 53"/>
                  <a:gd name="T28" fmla="*/ 84 w 85"/>
                  <a:gd name="T29" fmla="*/ 52 h 5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5"/>
                  <a:gd name="T46" fmla="*/ 0 h 53"/>
                  <a:gd name="T47" fmla="*/ 85 w 85"/>
                  <a:gd name="T48" fmla="*/ 53 h 5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5" h="53">
                    <a:moveTo>
                      <a:pt x="0" y="0"/>
                    </a:moveTo>
                    <a:lnTo>
                      <a:pt x="22" y="10"/>
                    </a:lnTo>
                    <a:lnTo>
                      <a:pt x="25" y="15"/>
                    </a:lnTo>
                    <a:lnTo>
                      <a:pt x="28" y="20"/>
                    </a:lnTo>
                    <a:lnTo>
                      <a:pt x="34" y="25"/>
                    </a:lnTo>
                    <a:lnTo>
                      <a:pt x="36" y="30"/>
                    </a:lnTo>
                    <a:lnTo>
                      <a:pt x="42" y="32"/>
                    </a:lnTo>
                    <a:lnTo>
                      <a:pt x="45" y="37"/>
                    </a:lnTo>
                    <a:lnTo>
                      <a:pt x="50" y="40"/>
                    </a:lnTo>
                    <a:lnTo>
                      <a:pt x="56" y="40"/>
                    </a:lnTo>
                    <a:lnTo>
                      <a:pt x="62" y="42"/>
                    </a:lnTo>
                    <a:lnTo>
                      <a:pt x="67" y="45"/>
                    </a:lnTo>
                    <a:lnTo>
                      <a:pt x="73" y="50"/>
                    </a:lnTo>
                    <a:lnTo>
                      <a:pt x="78" y="52"/>
                    </a:lnTo>
                    <a:lnTo>
                      <a:pt x="84" y="52"/>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663" name="Freeform 278"/>
              <p:cNvSpPr>
                <a:spLocks/>
              </p:cNvSpPr>
              <p:nvPr/>
            </p:nvSpPr>
            <p:spPr bwMode="auto">
              <a:xfrm>
                <a:off x="1577" y="2636"/>
                <a:ext cx="100" cy="81"/>
              </a:xfrm>
              <a:custGeom>
                <a:avLst/>
                <a:gdLst>
                  <a:gd name="T0" fmla="*/ 0 w 100"/>
                  <a:gd name="T1" fmla="*/ 0 h 81"/>
                  <a:gd name="T2" fmla="*/ 6 w 100"/>
                  <a:gd name="T3" fmla="*/ 0 h 81"/>
                  <a:gd name="T4" fmla="*/ 17 w 100"/>
                  <a:gd name="T5" fmla="*/ 0 h 81"/>
                  <a:gd name="T6" fmla="*/ 31 w 100"/>
                  <a:gd name="T7" fmla="*/ 3 h 81"/>
                  <a:gd name="T8" fmla="*/ 42 w 100"/>
                  <a:gd name="T9" fmla="*/ 8 h 81"/>
                  <a:gd name="T10" fmla="*/ 54 w 100"/>
                  <a:gd name="T11" fmla="*/ 8 h 81"/>
                  <a:gd name="T12" fmla="*/ 65 w 100"/>
                  <a:gd name="T13" fmla="*/ 8 h 81"/>
                  <a:gd name="T14" fmla="*/ 68 w 100"/>
                  <a:gd name="T15" fmla="*/ 13 h 81"/>
                  <a:gd name="T16" fmla="*/ 65 w 100"/>
                  <a:gd name="T17" fmla="*/ 18 h 81"/>
                  <a:gd name="T18" fmla="*/ 65 w 100"/>
                  <a:gd name="T19" fmla="*/ 23 h 81"/>
                  <a:gd name="T20" fmla="*/ 65 w 100"/>
                  <a:gd name="T21" fmla="*/ 28 h 81"/>
                  <a:gd name="T22" fmla="*/ 65 w 100"/>
                  <a:gd name="T23" fmla="*/ 33 h 81"/>
                  <a:gd name="T24" fmla="*/ 65 w 100"/>
                  <a:gd name="T25" fmla="*/ 38 h 81"/>
                  <a:gd name="T26" fmla="*/ 68 w 100"/>
                  <a:gd name="T27" fmla="*/ 43 h 81"/>
                  <a:gd name="T28" fmla="*/ 68 w 100"/>
                  <a:gd name="T29" fmla="*/ 48 h 81"/>
                  <a:gd name="T30" fmla="*/ 74 w 100"/>
                  <a:gd name="T31" fmla="*/ 53 h 81"/>
                  <a:gd name="T32" fmla="*/ 76 w 100"/>
                  <a:gd name="T33" fmla="*/ 58 h 81"/>
                  <a:gd name="T34" fmla="*/ 79 w 100"/>
                  <a:gd name="T35" fmla="*/ 63 h 81"/>
                  <a:gd name="T36" fmla="*/ 85 w 100"/>
                  <a:gd name="T37" fmla="*/ 68 h 81"/>
                  <a:gd name="T38" fmla="*/ 88 w 100"/>
                  <a:gd name="T39" fmla="*/ 73 h 81"/>
                  <a:gd name="T40" fmla="*/ 93 w 100"/>
                  <a:gd name="T41" fmla="*/ 75 h 81"/>
                  <a:gd name="T42" fmla="*/ 99 w 100"/>
                  <a:gd name="T43" fmla="*/ 80 h 8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0"/>
                  <a:gd name="T67" fmla="*/ 0 h 81"/>
                  <a:gd name="T68" fmla="*/ 100 w 100"/>
                  <a:gd name="T69" fmla="*/ 81 h 8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0" h="81">
                    <a:moveTo>
                      <a:pt x="0" y="0"/>
                    </a:moveTo>
                    <a:lnTo>
                      <a:pt x="6" y="0"/>
                    </a:lnTo>
                    <a:lnTo>
                      <a:pt x="17" y="0"/>
                    </a:lnTo>
                    <a:lnTo>
                      <a:pt x="31" y="3"/>
                    </a:lnTo>
                    <a:lnTo>
                      <a:pt x="42" y="8"/>
                    </a:lnTo>
                    <a:lnTo>
                      <a:pt x="54" y="8"/>
                    </a:lnTo>
                    <a:lnTo>
                      <a:pt x="65" y="8"/>
                    </a:lnTo>
                    <a:lnTo>
                      <a:pt x="68" y="13"/>
                    </a:lnTo>
                    <a:lnTo>
                      <a:pt x="65" y="18"/>
                    </a:lnTo>
                    <a:lnTo>
                      <a:pt x="65" y="23"/>
                    </a:lnTo>
                    <a:lnTo>
                      <a:pt x="65" y="28"/>
                    </a:lnTo>
                    <a:lnTo>
                      <a:pt x="65" y="33"/>
                    </a:lnTo>
                    <a:lnTo>
                      <a:pt x="65" y="38"/>
                    </a:lnTo>
                    <a:lnTo>
                      <a:pt x="68" y="43"/>
                    </a:lnTo>
                    <a:lnTo>
                      <a:pt x="68" y="48"/>
                    </a:lnTo>
                    <a:lnTo>
                      <a:pt x="74" y="53"/>
                    </a:lnTo>
                    <a:lnTo>
                      <a:pt x="76" y="58"/>
                    </a:lnTo>
                    <a:lnTo>
                      <a:pt x="79" y="63"/>
                    </a:lnTo>
                    <a:lnTo>
                      <a:pt x="85" y="68"/>
                    </a:lnTo>
                    <a:lnTo>
                      <a:pt x="88" y="73"/>
                    </a:lnTo>
                    <a:lnTo>
                      <a:pt x="93" y="75"/>
                    </a:lnTo>
                    <a:lnTo>
                      <a:pt x="99" y="8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664" name="Freeform 279"/>
              <p:cNvSpPr>
                <a:spLocks/>
              </p:cNvSpPr>
              <p:nvPr/>
            </p:nvSpPr>
            <p:spPr bwMode="auto">
              <a:xfrm>
                <a:off x="1561" y="2676"/>
                <a:ext cx="113" cy="69"/>
              </a:xfrm>
              <a:custGeom>
                <a:avLst/>
                <a:gdLst>
                  <a:gd name="T0" fmla="*/ 0 w 113"/>
                  <a:gd name="T1" fmla="*/ 0 h 69"/>
                  <a:gd name="T2" fmla="*/ 6 w 113"/>
                  <a:gd name="T3" fmla="*/ 0 h 69"/>
                  <a:gd name="T4" fmla="*/ 11 w 113"/>
                  <a:gd name="T5" fmla="*/ 3 h 69"/>
                  <a:gd name="T6" fmla="*/ 17 w 113"/>
                  <a:gd name="T7" fmla="*/ 3 h 69"/>
                  <a:gd name="T8" fmla="*/ 22 w 113"/>
                  <a:gd name="T9" fmla="*/ 5 h 69"/>
                  <a:gd name="T10" fmla="*/ 28 w 113"/>
                  <a:gd name="T11" fmla="*/ 8 h 69"/>
                  <a:gd name="T12" fmla="*/ 34 w 113"/>
                  <a:gd name="T13" fmla="*/ 13 h 69"/>
                  <a:gd name="T14" fmla="*/ 39 w 113"/>
                  <a:gd name="T15" fmla="*/ 18 h 69"/>
                  <a:gd name="T16" fmla="*/ 45 w 113"/>
                  <a:gd name="T17" fmla="*/ 23 h 69"/>
                  <a:gd name="T18" fmla="*/ 48 w 113"/>
                  <a:gd name="T19" fmla="*/ 28 h 69"/>
                  <a:gd name="T20" fmla="*/ 56 w 113"/>
                  <a:gd name="T21" fmla="*/ 38 h 69"/>
                  <a:gd name="T22" fmla="*/ 67 w 113"/>
                  <a:gd name="T23" fmla="*/ 38 h 69"/>
                  <a:gd name="T24" fmla="*/ 73 w 113"/>
                  <a:gd name="T25" fmla="*/ 48 h 69"/>
                  <a:gd name="T26" fmla="*/ 84 w 113"/>
                  <a:gd name="T27" fmla="*/ 58 h 69"/>
                  <a:gd name="T28" fmla="*/ 95 w 113"/>
                  <a:gd name="T29" fmla="*/ 58 h 69"/>
                  <a:gd name="T30" fmla="*/ 95 w 113"/>
                  <a:gd name="T31" fmla="*/ 68 h 69"/>
                  <a:gd name="T32" fmla="*/ 101 w 113"/>
                  <a:gd name="T33" fmla="*/ 68 h 69"/>
                  <a:gd name="T34" fmla="*/ 106 w 113"/>
                  <a:gd name="T35" fmla="*/ 68 h 69"/>
                  <a:gd name="T36" fmla="*/ 112 w 113"/>
                  <a:gd name="T37" fmla="*/ 68 h 6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3"/>
                  <a:gd name="T58" fmla="*/ 0 h 69"/>
                  <a:gd name="T59" fmla="*/ 113 w 113"/>
                  <a:gd name="T60" fmla="*/ 69 h 6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3" h="69">
                    <a:moveTo>
                      <a:pt x="0" y="0"/>
                    </a:moveTo>
                    <a:lnTo>
                      <a:pt x="6" y="0"/>
                    </a:lnTo>
                    <a:lnTo>
                      <a:pt x="11" y="3"/>
                    </a:lnTo>
                    <a:lnTo>
                      <a:pt x="17" y="3"/>
                    </a:lnTo>
                    <a:lnTo>
                      <a:pt x="22" y="5"/>
                    </a:lnTo>
                    <a:lnTo>
                      <a:pt x="28" y="8"/>
                    </a:lnTo>
                    <a:lnTo>
                      <a:pt x="34" y="13"/>
                    </a:lnTo>
                    <a:lnTo>
                      <a:pt x="39" y="18"/>
                    </a:lnTo>
                    <a:lnTo>
                      <a:pt x="45" y="23"/>
                    </a:lnTo>
                    <a:lnTo>
                      <a:pt x="48" y="28"/>
                    </a:lnTo>
                    <a:lnTo>
                      <a:pt x="56" y="38"/>
                    </a:lnTo>
                    <a:lnTo>
                      <a:pt x="67" y="38"/>
                    </a:lnTo>
                    <a:lnTo>
                      <a:pt x="73" y="48"/>
                    </a:lnTo>
                    <a:lnTo>
                      <a:pt x="84" y="58"/>
                    </a:lnTo>
                    <a:lnTo>
                      <a:pt x="95" y="58"/>
                    </a:lnTo>
                    <a:lnTo>
                      <a:pt x="95" y="68"/>
                    </a:lnTo>
                    <a:lnTo>
                      <a:pt x="101" y="68"/>
                    </a:lnTo>
                    <a:lnTo>
                      <a:pt x="106" y="68"/>
                    </a:lnTo>
                    <a:lnTo>
                      <a:pt x="112" y="68"/>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665" name="Freeform 280"/>
              <p:cNvSpPr>
                <a:spLocks/>
              </p:cNvSpPr>
              <p:nvPr/>
            </p:nvSpPr>
            <p:spPr bwMode="auto">
              <a:xfrm>
                <a:off x="1639" y="2784"/>
                <a:ext cx="61" cy="48"/>
              </a:xfrm>
              <a:custGeom>
                <a:avLst/>
                <a:gdLst>
                  <a:gd name="T0" fmla="*/ 0 w 61"/>
                  <a:gd name="T1" fmla="*/ 47 h 48"/>
                  <a:gd name="T2" fmla="*/ 17 w 61"/>
                  <a:gd name="T3" fmla="*/ 25 h 48"/>
                  <a:gd name="T4" fmla="*/ 23 w 61"/>
                  <a:gd name="T5" fmla="*/ 22 h 48"/>
                  <a:gd name="T6" fmla="*/ 29 w 61"/>
                  <a:gd name="T7" fmla="*/ 20 h 48"/>
                  <a:gd name="T8" fmla="*/ 34 w 61"/>
                  <a:gd name="T9" fmla="*/ 17 h 48"/>
                  <a:gd name="T10" fmla="*/ 40 w 61"/>
                  <a:gd name="T11" fmla="*/ 17 h 48"/>
                  <a:gd name="T12" fmla="*/ 46 w 61"/>
                  <a:gd name="T13" fmla="*/ 17 h 48"/>
                  <a:gd name="T14" fmla="*/ 51 w 61"/>
                  <a:gd name="T15" fmla="*/ 17 h 48"/>
                  <a:gd name="T16" fmla="*/ 57 w 61"/>
                  <a:gd name="T17" fmla="*/ 15 h 48"/>
                  <a:gd name="T18" fmla="*/ 57 w 61"/>
                  <a:gd name="T19" fmla="*/ 10 h 48"/>
                  <a:gd name="T20" fmla="*/ 60 w 61"/>
                  <a:gd name="T21" fmla="*/ 5 h 48"/>
                  <a:gd name="T22" fmla="*/ 60 w 61"/>
                  <a:gd name="T23" fmla="*/ 0 h 4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1"/>
                  <a:gd name="T37" fmla="*/ 0 h 48"/>
                  <a:gd name="T38" fmla="*/ 61 w 61"/>
                  <a:gd name="T39" fmla="*/ 48 h 4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1" h="48">
                    <a:moveTo>
                      <a:pt x="0" y="47"/>
                    </a:moveTo>
                    <a:lnTo>
                      <a:pt x="17" y="25"/>
                    </a:lnTo>
                    <a:lnTo>
                      <a:pt x="23" y="22"/>
                    </a:lnTo>
                    <a:lnTo>
                      <a:pt x="29" y="20"/>
                    </a:lnTo>
                    <a:lnTo>
                      <a:pt x="34" y="17"/>
                    </a:lnTo>
                    <a:lnTo>
                      <a:pt x="40" y="17"/>
                    </a:lnTo>
                    <a:lnTo>
                      <a:pt x="46" y="17"/>
                    </a:lnTo>
                    <a:lnTo>
                      <a:pt x="51" y="17"/>
                    </a:lnTo>
                    <a:lnTo>
                      <a:pt x="57" y="15"/>
                    </a:lnTo>
                    <a:lnTo>
                      <a:pt x="57" y="10"/>
                    </a:lnTo>
                    <a:lnTo>
                      <a:pt x="60" y="5"/>
                    </a:lnTo>
                    <a:lnTo>
                      <a:pt x="60"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666" name="Freeform 281"/>
              <p:cNvSpPr>
                <a:spLocks/>
              </p:cNvSpPr>
              <p:nvPr/>
            </p:nvSpPr>
            <p:spPr bwMode="auto">
              <a:xfrm>
                <a:off x="1676" y="2764"/>
                <a:ext cx="60" cy="76"/>
              </a:xfrm>
              <a:custGeom>
                <a:avLst/>
                <a:gdLst>
                  <a:gd name="T0" fmla="*/ 0 w 60"/>
                  <a:gd name="T1" fmla="*/ 0 h 76"/>
                  <a:gd name="T2" fmla="*/ 6 w 60"/>
                  <a:gd name="T3" fmla="*/ 0 h 76"/>
                  <a:gd name="T4" fmla="*/ 11 w 60"/>
                  <a:gd name="T5" fmla="*/ 5 h 76"/>
                  <a:gd name="T6" fmla="*/ 11 w 60"/>
                  <a:gd name="T7" fmla="*/ 10 h 76"/>
                  <a:gd name="T8" fmla="*/ 14 w 60"/>
                  <a:gd name="T9" fmla="*/ 15 h 76"/>
                  <a:gd name="T10" fmla="*/ 14 w 60"/>
                  <a:gd name="T11" fmla="*/ 20 h 76"/>
                  <a:gd name="T12" fmla="*/ 17 w 60"/>
                  <a:gd name="T13" fmla="*/ 25 h 76"/>
                  <a:gd name="T14" fmla="*/ 20 w 60"/>
                  <a:gd name="T15" fmla="*/ 30 h 76"/>
                  <a:gd name="T16" fmla="*/ 25 w 60"/>
                  <a:gd name="T17" fmla="*/ 35 h 76"/>
                  <a:gd name="T18" fmla="*/ 31 w 60"/>
                  <a:gd name="T19" fmla="*/ 40 h 76"/>
                  <a:gd name="T20" fmla="*/ 31 w 60"/>
                  <a:gd name="T21" fmla="*/ 45 h 76"/>
                  <a:gd name="T22" fmla="*/ 37 w 60"/>
                  <a:gd name="T23" fmla="*/ 48 h 76"/>
                  <a:gd name="T24" fmla="*/ 37 w 60"/>
                  <a:gd name="T25" fmla="*/ 53 h 76"/>
                  <a:gd name="T26" fmla="*/ 39 w 60"/>
                  <a:gd name="T27" fmla="*/ 58 h 76"/>
                  <a:gd name="T28" fmla="*/ 42 w 60"/>
                  <a:gd name="T29" fmla="*/ 65 h 76"/>
                  <a:gd name="T30" fmla="*/ 48 w 60"/>
                  <a:gd name="T31" fmla="*/ 70 h 76"/>
                  <a:gd name="T32" fmla="*/ 53 w 60"/>
                  <a:gd name="T33" fmla="*/ 73 h 76"/>
                  <a:gd name="T34" fmla="*/ 59 w 60"/>
                  <a:gd name="T35" fmla="*/ 75 h 7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0"/>
                  <a:gd name="T55" fmla="*/ 0 h 76"/>
                  <a:gd name="T56" fmla="*/ 60 w 60"/>
                  <a:gd name="T57" fmla="*/ 76 h 7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0" h="76">
                    <a:moveTo>
                      <a:pt x="0" y="0"/>
                    </a:moveTo>
                    <a:lnTo>
                      <a:pt x="6" y="0"/>
                    </a:lnTo>
                    <a:lnTo>
                      <a:pt x="11" y="5"/>
                    </a:lnTo>
                    <a:lnTo>
                      <a:pt x="11" y="10"/>
                    </a:lnTo>
                    <a:lnTo>
                      <a:pt x="14" y="15"/>
                    </a:lnTo>
                    <a:lnTo>
                      <a:pt x="14" y="20"/>
                    </a:lnTo>
                    <a:lnTo>
                      <a:pt x="17" y="25"/>
                    </a:lnTo>
                    <a:lnTo>
                      <a:pt x="20" y="30"/>
                    </a:lnTo>
                    <a:lnTo>
                      <a:pt x="25" y="35"/>
                    </a:lnTo>
                    <a:lnTo>
                      <a:pt x="31" y="40"/>
                    </a:lnTo>
                    <a:lnTo>
                      <a:pt x="31" y="45"/>
                    </a:lnTo>
                    <a:lnTo>
                      <a:pt x="37" y="48"/>
                    </a:lnTo>
                    <a:lnTo>
                      <a:pt x="37" y="53"/>
                    </a:lnTo>
                    <a:lnTo>
                      <a:pt x="39" y="58"/>
                    </a:lnTo>
                    <a:lnTo>
                      <a:pt x="42" y="65"/>
                    </a:lnTo>
                    <a:lnTo>
                      <a:pt x="48" y="70"/>
                    </a:lnTo>
                    <a:lnTo>
                      <a:pt x="53" y="73"/>
                    </a:lnTo>
                    <a:lnTo>
                      <a:pt x="59" y="75"/>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667" name="Freeform 282"/>
              <p:cNvSpPr>
                <a:spLocks/>
              </p:cNvSpPr>
              <p:nvPr/>
            </p:nvSpPr>
            <p:spPr bwMode="auto">
              <a:xfrm>
                <a:off x="1649" y="2804"/>
                <a:ext cx="107" cy="48"/>
              </a:xfrm>
              <a:custGeom>
                <a:avLst/>
                <a:gdLst>
                  <a:gd name="T0" fmla="*/ 0 w 107"/>
                  <a:gd name="T1" fmla="*/ 47 h 48"/>
                  <a:gd name="T2" fmla="*/ 42 w 107"/>
                  <a:gd name="T3" fmla="*/ 32 h 48"/>
                  <a:gd name="T4" fmla="*/ 47 w 107"/>
                  <a:gd name="T5" fmla="*/ 32 h 48"/>
                  <a:gd name="T6" fmla="*/ 53 w 107"/>
                  <a:gd name="T7" fmla="*/ 32 h 48"/>
                  <a:gd name="T8" fmla="*/ 59 w 107"/>
                  <a:gd name="T9" fmla="*/ 32 h 48"/>
                  <a:gd name="T10" fmla="*/ 64 w 107"/>
                  <a:gd name="T11" fmla="*/ 30 h 48"/>
                  <a:gd name="T12" fmla="*/ 67 w 107"/>
                  <a:gd name="T13" fmla="*/ 25 h 48"/>
                  <a:gd name="T14" fmla="*/ 70 w 107"/>
                  <a:gd name="T15" fmla="*/ 20 h 48"/>
                  <a:gd name="T16" fmla="*/ 75 w 107"/>
                  <a:gd name="T17" fmla="*/ 17 h 48"/>
                  <a:gd name="T18" fmla="*/ 81 w 107"/>
                  <a:gd name="T19" fmla="*/ 15 h 48"/>
                  <a:gd name="T20" fmla="*/ 86 w 107"/>
                  <a:gd name="T21" fmla="*/ 10 h 48"/>
                  <a:gd name="T22" fmla="*/ 92 w 107"/>
                  <a:gd name="T23" fmla="*/ 10 h 48"/>
                  <a:gd name="T24" fmla="*/ 98 w 107"/>
                  <a:gd name="T25" fmla="*/ 7 h 48"/>
                  <a:gd name="T26" fmla="*/ 100 w 107"/>
                  <a:gd name="T27" fmla="*/ 2 h 48"/>
                  <a:gd name="T28" fmla="*/ 106 w 107"/>
                  <a:gd name="T29" fmla="*/ 0 h 4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7"/>
                  <a:gd name="T46" fmla="*/ 0 h 48"/>
                  <a:gd name="T47" fmla="*/ 107 w 107"/>
                  <a:gd name="T48" fmla="*/ 48 h 4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7" h="48">
                    <a:moveTo>
                      <a:pt x="0" y="47"/>
                    </a:moveTo>
                    <a:lnTo>
                      <a:pt x="42" y="32"/>
                    </a:lnTo>
                    <a:lnTo>
                      <a:pt x="47" y="32"/>
                    </a:lnTo>
                    <a:lnTo>
                      <a:pt x="53" y="32"/>
                    </a:lnTo>
                    <a:lnTo>
                      <a:pt x="59" y="32"/>
                    </a:lnTo>
                    <a:lnTo>
                      <a:pt x="64" y="30"/>
                    </a:lnTo>
                    <a:lnTo>
                      <a:pt x="67" y="25"/>
                    </a:lnTo>
                    <a:lnTo>
                      <a:pt x="70" y="20"/>
                    </a:lnTo>
                    <a:lnTo>
                      <a:pt x="75" y="17"/>
                    </a:lnTo>
                    <a:lnTo>
                      <a:pt x="81" y="15"/>
                    </a:lnTo>
                    <a:lnTo>
                      <a:pt x="86" y="10"/>
                    </a:lnTo>
                    <a:lnTo>
                      <a:pt x="92" y="10"/>
                    </a:lnTo>
                    <a:lnTo>
                      <a:pt x="98" y="7"/>
                    </a:lnTo>
                    <a:lnTo>
                      <a:pt x="100" y="2"/>
                    </a:lnTo>
                    <a:lnTo>
                      <a:pt x="106"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668" name="Freeform 283"/>
              <p:cNvSpPr>
                <a:spLocks/>
              </p:cNvSpPr>
              <p:nvPr/>
            </p:nvSpPr>
            <p:spPr bwMode="auto">
              <a:xfrm>
                <a:off x="1705" y="2749"/>
                <a:ext cx="82" cy="91"/>
              </a:xfrm>
              <a:custGeom>
                <a:avLst/>
                <a:gdLst>
                  <a:gd name="T0" fmla="*/ 0 w 82"/>
                  <a:gd name="T1" fmla="*/ 0 h 91"/>
                  <a:gd name="T2" fmla="*/ 8 w 82"/>
                  <a:gd name="T3" fmla="*/ 3 h 91"/>
                  <a:gd name="T4" fmla="*/ 14 w 82"/>
                  <a:gd name="T5" fmla="*/ 3 h 91"/>
                  <a:gd name="T6" fmla="*/ 20 w 82"/>
                  <a:gd name="T7" fmla="*/ 3 h 91"/>
                  <a:gd name="T8" fmla="*/ 25 w 82"/>
                  <a:gd name="T9" fmla="*/ 8 h 91"/>
                  <a:gd name="T10" fmla="*/ 28 w 82"/>
                  <a:gd name="T11" fmla="*/ 13 h 91"/>
                  <a:gd name="T12" fmla="*/ 28 w 82"/>
                  <a:gd name="T13" fmla="*/ 18 h 91"/>
                  <a:gd name="T14" fmla="*/ 31 w 82"/>
                  <a:gd name="T15" fmla="*/ 23 h 91"/>
                  <a:gd name="T16" fmla="*/ 34 w 82"/>
                  <a:gd name="T17" fmla="*/ 28 h 91"/>
                  <a:gd name="T18" fmla="*/ 42 w 82"/>
                  <a:gd name="T19" fmla="*/ 50 h 91"/>
                  <a:gd name="T20" fmla="*/ 42 w 82"/>
                  <a:gd name="T21" fmla="*/ 60 h 91"/>
                  <a:gd name="T22" fmla="*/ 53 w 82"/>
                  <a:gd name="T23" fmla="*/ 70 h 91"/>
                  <a:gd name="T24" fmla="*/ 53 w 82"/>
                  <a:gd name="T25" fmla="*/ 80 h 91"/>
                  <a:gd name="T26" fmla="*/ 59 w 82"/>
                  <a:gd name="T27" fmla="*/ 83 h 91"/>
                  <a:gd name="T28" fmla="*/ 64 w 82"/>
                  <a:gd name="T29" fmla="*/ 85 h 91"/>
                  <a:gd name="T30" fmla="*/ 70 w 82"/>
                  <a:gd name="T31" fmla="*/ 88 h 91"/>
                  <a:gd name="T32" fmla="*/ 75 w 82"/>
                  <a:gd name="T33" fmla="*/ 90 h 91"/>
                  <a:gd name="T34" fmla="*/ 81 w 82"/>
                  <a:gd name="T35" fmla="*/ 90 h 9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2"/>
                  <a:gd name="T55" fmla="*/ 0 h 91"/>
                  <a:gd name="T56" fmla="*/ 82 w 82"/>
                  <a:gd name="T57" fmla="*/ 91 h 9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2" h="91">
                    <a:moveTo>
                      <a:pt x="0" y="0"/>
                    </a:moveTo>
                    <a:lnTo>
                      <a:pt x="8" y="3"/>
                    </a:lnTo>
                    <a:lnTo>
                      <a:pt x="14" y="3"/>
                    </a:lnTo>
                    <a:lnTo>
                      <a:pt x="20" y="3"/>
                    </a:lnTo>
                    <a:lnTo>
                      <a:pt x="25" y="8"/>
                    </a:lnTo>
                    <a:lnTo>
                      <a:pt x="28" y="13"/>
                    </a:lnTo>
                    <a:lnTo>
                      <a:pt x="28" y="18"/>
                    </a:lnTo>
                    <a:lnTo>
                      <a:pt x="31" y="23"/>
                    </a:lnTo>
                    <a:lnTo>
                      <a:pt x="34" y="28"/>
                    </a:lnTo>
                    <a:lnTo>
                      <a:pt x="42" y="50"/>
                    </a:lnTo>
                    <a:lnTo>
                      <a:pt x="42" y="60"/>
                    </a:lnTo>
                    <a:lnTo>
                      <a:pt x="53" y="70"/>
                    </a:lnTo>
                    <a:lnTo>
                      <a:pt x="53" y="80"/>
                    </a:lnTo>
                    <a:lnTo>
                      <a:pt x="59" y="83"/>
                    </a:lnTo>
                    <a:lnTo>
                      <a:pt x="64" y="85"/>
                    </a:lnTo>
                    <a:lnTo>
                      <a:pt x="70" y="88"/>
                    </a:lnTo>
                    <a:lnTo>
                      <a:pt x="75" y="90"/>
                    </a:lnTo>
                    <a:lnTo>
                      <a:pt x="81" y="9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669" name="Freeform 284"/>
              <p:cNvSpPr>
                <a:spLocks/>
              </p:cNvSpPr>
              <p:nvPr/>
            </p:nvSpPr>
            <p:spPr bwMode="auto">
              <a:xfrm>
                <a:off x="1718" y="2709"/>
                <a:ext cx="51" cy="128"/>
              </a:xfrm>
              <a:custGeom>
                <a:avLst/>
                <a:gdLst>
                  <a:gd name="T0" fmla="*/ 0 w 51"/>
                  <a:gd name="T1" fmla="*/ 0 h 128"/>
                  <a:gd name="T2" fmla="*/ 8 w 51"/>
                  <a:gd name="T3" fmla="*/ 2 h 128"/>
                  <a:gd name="T4" fmla="*/ 33 w 51"/>
                  <a:gd name="T5" fmla="*/ 10 h 128"/>
                  <a:gd name="T6" fmla="*/ 39 w 51"/>
                  <a:gd name="T7" fmla="*/ 15 h 128"/>
                  <a:gd name="T8" fmla="*/ 39 w 51"/>
                  <a:gd name="T9" fmla="*/ 20 h 128"/>
                  <a:gd name="T10" fmla="*/ 39 w 51"/>
                  <a:gd name="T11" fmla="*/ 25 h 128"/>
                  <a:gd name="T12" fmla="*/ 39 w 51"/>
                  <a:gd name="T13" fmla="*/ 30 h 128"/>
                  <a:gd name="T14" fmla="*/ 36 w 51"/>
                  <a:gd name="T15" fmla="*/ 42 h 128"/>
                  <a:gd name="T16" fmla="*/ 36 w 51"/>
                  <a:gd name="T17" fmla="*/ 52 h 128"/>
                  <a:gd name="T18" fmla="*/ 39 w 51"/>
                  <a:gd name="T19" fmla="*/ 57 h 128"/>
                  <a:gd name="T20" fmla="*/ 42 w 51"/>
                  <a:gd name="T21" fmla="*/ 62 h 128"/>
                  <a:gd name="T22" fmla="*/ 47 w 51"/>
                  <a:gd name="T23" fmla="*/ 65 h 128"/>
                  <a:gd name="T24" fmla="*/ 50 w 51"/>
                  <a:gd name="T25" fmla="*/ 70 h 128"/>
                  <a:gd name="T26" fmla="*/ 50 w 51"/>
                  <a:gd name="T27" fmla="*/ 75 h 128"/>
                  <a:gd name="T28" fmla="*/ 50 w 51"/>
                  <a:gd name="T29" fmla="*/ 80 h 128"/>
                  <a:gd name="T30" fmla="*/ 50 w 51"/>
                  <a:gd name="T31" fmla="*/ 85 h 128"/>
                  <a:gd name="T32" fmla="*/ 44 w 51"/>
                  <a:gd name="T33" fmla="*/ 97 h 128"/>
                  <a:gd name="T34" fmla="*/ 39 w 51"/>
                  <a:gd name="T35" fmla="*/ 100 h 128"/>
                  <a:gd name="T36" fmla="*/ 39 w 51"/>
                  <a:gd name="T37" fmla="*/ 105 h 128"/>
                  <a:gd name="T38" fmla="*/ 39 w 51"/>
                  <a:gd name="T39" fmla="*/ 110 h 128"/>
                  <a:gd name="T40" fmla="*/ 42 w 51"/>
                  <a:gd name="T41" fmla="*/ 115 h 128"/>
                  <a:gd name="T42" fmla="*/ 42 w 51"/>
                  <a:gd name="T43" fmla="*/ 120 h 128"/>
                  <a:gd name="T44" fmla="*/ 44 w 51"/>
                  <a:gd name="T45" fmla="*/ 125 h 128"/>
                  <a:gd name="T46" fmla="*/ 42 w 51"/>
                  <a:gd name="T47" fmla="*/ 127 h 12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1"/>
                  <a:gd name="T73" fmla="*/ 0 h 128"/>
                  <a:gd name="T74" fmla="*/ 51 w 51"/>
                  <a:gd name="T75" fmla="*/ 128 h 12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1" h="128">
                    <a:moveTo>
                      <a:pt x="0" y="0"/>
                    </a:moveTo>
                    <a:lnTo>
                      <a:pt x="8" y="2"/>
                    </a:lnTo>
                    <a:lnTo>
                      <a:pt x="33" y="10"/>
                    </a:lnTo>
                    <a:lnTo>
                      <a:pt x="39" y="15"/>
                    </a:lnTo>
                    <a:lnTo>
                      <a:pt x="39" y="20"/>
                    </a:lnTo>
                    <a:lnTo>
                      <a:pt x="39" y="25"/>
                    </a:lnTo>
                    <a:lnTo>
                      <a:pt x="39" y="30"/>
                    </a:lnTo>
                    <a:lnTo>
                      <a:pt x="36" y="42"/>
                    </a:lnTo>
                    <a:lnTo>
                      <a:pt x="36" y="52"/>
                    </a:lnTo>
                    <a:lnTo>
                      <a:pt x="39" y="57"/>
                    </a:lnTo>
                    <a:lnTo>
                      <a:pt x="42" y="62"/>
                    </a:lnTo>
                    <a:lnTo>
                      <a:pt x="47" y="65"/>
                    </a:lnTo>
                    <a:lnTo>
                      <a:pt x="50" y="70"/>
                    </a:lnTo>
                    <a:lnTo>
                      <a:pt x="50" y="75"/>
                    </a:lnTo>
                    <a:lnTo>
                      <a:pt x="50" y="80"/>
                    </a:lnTo>
                    <a:lnTo>
                      <a:pt x="50" y="85"/>
                    </a:lnTo>
                    <a:lnTo>
                      <a:pt x="44" y="97"/>
                    </a:lnTo>
                    <a:lnTo>
                      <a:pt x="39" y="100"/>
                    </a:lnTo>
                    <a:lnTo>
                      <a:pt x="39" y="105"/>
                    </a:lnTo>
                    <a:lnTo>
                      <a:pt x="39" y="110"/>
                    </a:lnTo>
                    <a:lnTo>
                      <a:pt x="42" y="115"/>
                    </a:lnTo>
                    <a:lnTo>
                      <a:pt x="42" y="120"/>
                    </a:lnTo>
                    <a:lnTo>
                      <a:pt x="44" y="125"/>
                    </a:lnTo>
                    <a:lnTo>
                      <a:pt x="42" y="127"/>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670" name="Freeform 285"/>
              <p:cNvSpPr>
                <a:spLocks/>
              </p:cNvSpPr>
              <p:nvPr/>
            </p:nvSpPr>
            <p:spPr bwMode="auto">
              <a:xfrm>
                <a:off x="1694" y="2681"/>
                <a:ext cx="87" cy="24"/>
              </a:xfrm>
              <a:custGeom>
                <a:avLst/>
                <a:gdLst>
                  <a:gd name="T0" fmla="*/ 0 w 87"/>
                  <a:gd name="T1" fmla="*/ 23 h 24"/>
                  <a:gd name="T2" fmla="*/ 6 w 87"/>
                  <a:gd name="T3" fmla="*/ 20 h 24"/>
                  <a:gd name="T4" fmla="*/ 6 w 87"/>
                  <a:gd name="T5" fmla="*/ 13 h 24"/>
                  <a:gd name="T6" fmla="*/ 6 w 87"/>
                  <a:gd name="T7" fmla="*/ 8 h 24"/>
                  <a:gd name="T8" fmla="*/ 11 w 87"/>
                  <a:gd name="T9" fmla="*/ 3 h 24"/>
                  <a:gd name="T10" fmla="*/ 17 w 87"/>
                  <a:gd name="T11" fmla="*/ 3 h 24"/>
                  <a:gd name="T12" fmla="*/ 31 w 87"/>
                  <a:gd name="T13" fmla="*/ 0 h 24"/>
                  <a:gd name="T14" fmla="*/ 42 w 87"/>
                  <a:gd name="T15" fmla="*/ 0 h 24"/>
                  <a:gd name="T16" fmla="*/ 53 w 87"/>
                  <a:gd name="T17" fmla="*/ 0 h 24"/>
                  <a:gd name="T18" fmla="*/ 64 w 87"/>
                  <a:gd name="T19" fmla="*/ 0 h 24"/>
                  <a:gd name="T20" fmla="*/ 69 w 87"/>
                  <a:gd name="T21" fmla="*/ 0 h 24"/>
                  <a:gd name="T22" fmla="*/ 75 w 87"/>
                  <a:gd name="T23" fmla="*/ 3 h 24"/>
                  <a:gd name="T24" fmla="*/ 80 w 87"/>
                  <a:gd name="T25" fmla="*/ 3 h 24"/>
                  <a:gd name="T26" fmla="*/ 86 w 87"/>
                  <a:gd name="T27" fmla="*/ 0 h 2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7"/>
                  <a:gd name="T43" fmla="*/ 0 h 24"/>
                  <a:gd name="T44" fmla="*/ 87 w 87"/>
                  <a:gd name="T45" fmla="*/ 24 h 2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7" h="24">
                    <a:moveTo>
                      <a:pt x="0" y="23"/>
                    </a:moveTo>
                    <a:lnTo>
                      <a:pt x="6" y="20"/>
                    </a:lnTo>
                    <a:lnTo>
                      <a:pt x="6" y="13"/>
                    </a:lnTo>
                    <a:lnTo>
                      <a:pt x="6" y="8"/>
                    </a:lnTo>
                    <a:lnTo>
                      <a:pt x="11" y="3"/>
                    </a:lnTo>
                    <a:lnTo>
                      <a:pt x="17" y="3"/>
                    </a:lnTo>
                    <a:lnTo>
                      <a:pt x="31" y="0"/>
                    </a:lnTo>
                    <a:lnTo>
                      <a:pt x="42" y="0"/>
                    </a:lnTo>
                    <a:lnTo>
                      <a:pt x="53" y="0"/>
                    </a:lnTo>
                    <a:lnTo>
                      <a:pt x="64" y="0"/>
                    </a:lnTo>
                    <a:lnTo>
                      <a:pt x="69" y="0"/>
                    </a:lnTo>
                    <a:lnTo>
                      <a:pt x="75" y="3"/>
                    </a:lnTo>
                    <a:lnTo>
                      <a:pt x="80" y="3"/>
                    </a:lnTo>
                    <a:lnTo>
                      <a:pt x="86"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671" name="Freeform 286"/>
              <p:cNvSpPr>
                <a:spLocks/>
              </p:cNvSpPr>
              <p:nvPr/>
            </p:nvSpPr>
            <p:spPr bwMode="auto">
              <a:xfrm>
                <a:off x="1761" y="2649"/>
                <a:ext cx="71" cy="72"/>
              </a:xfrm>
              <a:custGeom>
                <a:avLst/>
                <a:gdLst>
                  <a:gd name="T0" fmla="*/ 0 w 71"/>
                  <a:gd name="T1" fmla="*/ 0 h 72"/>
                  <a:gd name="T2" fmla="*/ 6 w 71"/>
                  <a:gd name="T3" fmla="*/ 0 h 72"/>
                  <a:gd name="T4" fmla="*/ 11 w 71"/>
                  <a:gd name="T5" fmla="*/ 2 h 72"/>
                  <a:gd name="T6" fmla="*/ 17 w 71"/>
                  <a:gd name="T7" fmla="*/ 7 h 72"/>
                  <a:gd name="T8" fmla="*/ 28 w 71"/>
                  <a:gd name="T9" fmla="*/ 7 h 72"/>
                  <a:gd name="T10" fmla="*/ 31 w 71"/>
                  <a:gd name="T11" fmla="*/ 12 h 72"/>
                  <a:gd name="T12" fmla="*/ 34 w 71"/>
                  <a:gd name="T13" fmla="*/ 17 h 72"/>
                  <a:gd name="T14" fmla="*/ 39 w 71"/>
                  <a:gd name="T15" fmla="*/ 29 h 72"/>
                  <a:gd name="T16" fmla="*/ 39 w 71"/>
                  <a:gd name="T17" fmla="*/ 39 h 72"/>
                  <a:gd name="T18" fmla="*/ 42 w 71"/>
                  <a:gd name="T19" fmla="*/ 44 h 72"/>
                  <a:gd name="T20" fmla="*/ 48 w 71"/>
                  <a:gd name="T21" fmla="*/ 49 h 72"/>
                  <a:gd name="T22" fmla="*/ 53 w 71"/>
                  <a:gd name="T23" fmla="*/ 54 h 72"/>
                  <a:gd name="T24" fmla="*/ 59 w 71"/>
                  <a:gd name="T25" fmla="*/ 56 h 72"/>
                  <a:gd name="T26" fmla="*/ 64 w 71"/>
                  <a:gd name="T27" fmla="*/ 61 h 72"/>
                  <a:gd name="T28" fmla="*/ 64 w 71"/>
                  <a:gd name="T29" fmla="*/ 66 h 72"/>
                  <a:gd name="T30" fmla="*/ 70 w 71"/>
                  <a:gd name="T31" fmla="*/ 71 h 7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1"/>
                  <a:gd name="T49" fmla="*/ 0 h 72"/>
                  <a:gd name="T50" fmla="*/ 71 w 71"/>
                  <a:gd name="T51" fmla="*/ 72 h 7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1" h="72">
                    <a:moveTo>
                      <a:pt x="0" y="0"/>
                    </a:moveTo>
                    <a:lnTo>
                      <a:pt x="6" y="0"/>
                    </a:lnTo>
                    <a:lnTo>
                      <a:pt x="11" y="2"/>
                    </a:lnTo>
                    <a:lnTo>
                      <a:pt x="17" y="7"/>
                    </a:lnTo>
                    <a:lnTo>
                      <a:pt x="28" y="7"/>
                    </a:lnTo>
                    <a:lnTo>
                      <a:pt x="31" y="12"/>
                    </a:lnTo>
                    <a:lnTo>
                      <a:pt x="34" y="17"/>
                    </a:lnTo>
                    <a:lnTo>
                      <a:pt x="39" y="29"/>
                    </a:lnTo>
                    <a:lnTo>
                      <a:pt x="39" y="39"/>
                    </a:lnTo>
                    <a:lnTo>
                      <a:pt x="42" y="44"/>
                    </a:lnTo>
                    <a:lnTo>
                      <a:pt x="48" y="49"/>
                    </a:lnTo>
                    <a:lnTo>
                      <a:pt x="53" y="54"/>
                    </a:lnTo>
                    <a:lnTo>
                      <a:pt x="59" y="56"/>
                    </a:lnTo>
                    <a:lnTo>
                      <a:pt x="64" y="61"/>
                    </a:lnTo>
                    <a:lnTo>
                      <a:pt x="64" y="66"/>
                    </a:lnTo>
                    <a:lnTo>
                      <a:pt x="70" y="71"/>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672" name="Freeform 287"/>
              <p:cNvSpPr>
                <a:spLocks/>
              </p:cNvSpPr>
              <p:nvPr/>
            </p:nvSpPr>
            <p:spPr bwMode="auto">
              <a:xfrm>
                <a:off x="1780" y="2681"/>
                <a:ext cx="91" cy="44"/>
              </a:xfrm>
              <a:custGeom>
                <a:avLst/>
                <a:gdLst>
                  <a:gd name="T0" fmla="*/ 0 w 91"/>
                  <a:gd name="T1" fmla="*/ 43 h 44"/>
                  <a:gd name="T2" fmla="*/ 6 w 91"/>
                  <a:gd name="T3" fmla="*/ 40 h 44"/>
                  <a:gd name="T4" fmla="*/ 11 w 91"/>
                  <a:gd name="T5" fmla="*/ 35 h 44"/>
                  <a:gd name="T6" fmla="*/ 14 w 91"/>
                  <a:gd name="T7" fmla="*/ 30 h 44"/>
                  <a:gd name="T8" fmla="*/ 20 w 91"/>
                  <a:gd name="T9" fmla="*/ 25 h 44"/>
                  <a:gd name="T10" fmla="*/ 34 w 91"/>
                  <a:gd name="T11" fmla="*/ 18 h 44"/>
                  <a:gd name="T12" fmla="*/ 45 w 91"/>
                  <a:gd name="T13" fmla="*/ 18 h 44"/>
                  <a:gd name="T14" fmla="*/ 56 w 91"/>
                  <a:gd name="T15" fmla="*/ 18 h 44"/>
                  <a:gd name="T16" fmla="*/ 68 w 91"/>
                  <a:gd name="T17" fmla="*/ 8 h 44"/>
                  <a:gd name="T18" fmla="*/ 73 w 91"/>
                  <a:gd name="T19" fmla="*/ 8 h 44"/>
                  <a:gd name="T20" fmla="*/ 79 w 91"/>
                  <a:gd name="T21" fmla="*/ 8 h 44"/>
                  <a:gd name="T22" fmla="*/ 84 w 91"/>
                  <a:gd name="T23" fmla="*/ 8 h 44"/>
                  <a:gd name="T24" fmla="*/ 90 w 91"/>
                  <a:gd name="T25" fmla="*/ 5 h 44"/>
                  <a:gd name="T26" fmla="*/ 90 w 91"/>
                  <a:gd name="T27" fmla="*/ 0 h 44"/>
                  <a:gd name="T28" fmla="*/ 90 w 91"/>
                  <a:gd name="T29" fmla="*/ 0 h 4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1"/>
                  <a:gd name="T46" fmla="*/ 0 h 44"/>
                  <a:gd name="T47" fmla="*/ 91 w 91"/>
                  <a:gd name="T48" fmla="*/ 44 h 4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1" h="44">
                    <a:moveTo>
                      <a:pt x="0" y="43"/>
                    </a:moveTo>
                    <a:lnTo>
                      <a:pt x="6" y="40"/>
                    </a:lnTo>
                    <a:lnTo>
                      <a:pt x="11" y="35"/>
                    </a:lnTo>
                    <a:lnTo>
                      <a:pt x="14" y="30"/>
                    </a:lnTo>
                    <a:lnTo>
                      <a:pt x="20" y="25"/>
                    </a:lnTo>
                    <a:lnTo>
                      <a:pt x="34" y="18"/>
                    </a:lnTo>
                    <a:lnTo>
                      <a:pt x="45" y="18"/>
                    </a:lnTo>
                    <a:lnTo>
                      <a:pt x="56" y="18"/>
                    </a:lnTo>
                    <a:lnTo>
                      <a:pt x="68" y="8"/>
                    </a:lnTo>
                    <a:lnTo>
                      <a:pt x="73" y="8"/>
                    </a:lnTo>
                    <a:lnTo>
                      <a:pt x="79" y="8"/>
                    </a:lnTo>
                    <a:lnTo>
                      <a:pt x="84" y="8"/>
                    </a:lnTo>
                    <a:lnTo>
                      <a:pt x="90" y="5"/>
                    </a:lnTo>
                    <a:lnTo>
                      <a:pt x="90"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673" name="Freeform 288"/>
              <p:cNvSpPr>
                <a:spLocks/>
              </p:cNvSpPr>
              <p:nvPr/>
            </p:nvSpPr>
            <p:spPr bwMode="auto">
              <a:xfrm>
                <a:off x="1806" y="2704"/>
                <a:ext cx="108" cy="78"/>
              </a:xfrm>
              <a:custGeom>
                <a:avLst/>
                <a:gdLst>
                  <a:gd name="T0" fmla="*/ 107 w 108"/>
                  <a:gd name="T1" fmla="*/ 0 h 78"/>
                  <a:gd name="T2" fmla="*/ 101 w 108"/>
                  <a:gd name="T3" fmla="*/ 0 h 78"/>
                  <a:gd name="T4" fmla="*/ 96 w 108"/>
                  <a:gd name="T5" fmla="*/ 0 h 78"/>
                  <a:gd name="T6" fmla="*/ 82 w 108"/>
                  <a:gd name="T7" fmla="*/ 5 h 78"/>
                  <a:gd name="T8" fmla="*/ 68 w 108"/>
                  <a:gd name="T9" fmla="*/ 7 h 78"/>
                  <a:gd name="T10" fmla="*/ 56 w 108"/>
                  <a:gd name="T11" fmla="*/ 17 h 78"/>
                  <a:gd name="T12" fmla="*/ 45 w 108"/>
                  <a:gd name="T13" fmla="*/ 27 h 78"/>
                  <a:gd name="T14" fmla="*/ 45 w 108"/>
                  <a:gd name="T15" fmla="*/ 37 h 78"/>
                  <a:gd name="T16" fmla="*/ 45 w 108"/>
                  <a:gd name="T17" fmla="*/ 42 h 78"/>
                  <a:gd name="T18" fmla="*/ 42 w 108"/>
                  <a:gd name="T19" fmla="*/ 47 h 78"/>
                  <a:gd name="T20" fmla="*/ 42 w 108"/>
                  <a:gd name="T21" fmla="*/ 52 h 78"/>
                  <a:gd name="T22" fmla="*/ 42 w 108"/>
                  <a:gd name="T23" fmla="*/ 57 h 78"/>
                  <a:gd name="T24" fmla="*/ 42 w 108"/>
                  <a:gd name="T25" fmla="*/ 62 h 78"/>
                  <a:gd name="T26" fmla="*/ 28 w 108"/>
                  <a:gd name="T27" fmla="*/ 65 h 78"/>
                  <a:gd name="T28" fmla="*/ 23 w 108"/>
                  <a:gd name="T29" fmla="*/ 67 h 78"/>
                  <a:gd name="T30" fmla="*/ 17 w 108"/>
                  <a:gd name="T31" fmla="*/ 70 h 78"/>
                  <a:gd name="T32" fmla="*/ 11 w 108"/>
                  <a:gd name="T33" fmla="*/ 72 h 78"/>
                  <a:gd name="T34" fmla="*/ 6 w 108"/>
                  <a:gd name="T35" fmla="*/ 75 h 78"/>
                  <a:gd name="T36" fmla="*/ 0 w 108"/>
                  <a:gd name="T37" fmla="*/ 77 h 7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8"/>
                  <a:gd name="T58" fmla="*/ 0 h 78"/>
                  <a:gd name="T59" fmla="*/ 108 w 108"/>
                  <a:gd name="T60" fmla="*/ 78 h 7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8" h="78">
                    <a:moveTo>
                      <a:pt x="107" y="0"/>
                    </a:moveTo>
                    <a:lnTo>
                      <a:pt x="101" y="0"/>
                    </a:lnTo>
                    <a:lnTo>
                      <a:pt x="96" y="0"/>
                    </a:lnTo>
                    <a:lnTo>
                      <a:pt x="82" y="5"/>
                    </a:lnTo>
                    <a:lnTo>
                      <a:pt x="68" y="7"/>
                    </a:lnTo>
                    <a:lnTo>
                      <a:pt x="56" y="17"/>
                    </a:lnTo>
                    <a:lnTo>
                      <a:pt x="45" y="27"/>
                    </a:lnTo>
                    <a:lnTo>
                      <a:pt x="45" y="37"/>
                    </a:lnTo>
                    <a:lnTo>
                      <a:pt x="45" y="42"/>
                    </a:lnTo>
                    <a:lnTo>
                      <a:pt x="42" y="47"/>
                    </a:lnTo>
                    <a:lnTo>
                      <a:pt x="42" y="52"/>
                    </a:lnTo>
                    <a:lnTo>
                      <a:pt x="42" y="57"/>
                    </a:lnTo>
                    <a:lnTo>
                      <a:pt x="42" y="62"/>
                    </a:lnTo>
                    <a:lnTo>
                      <a:pt x="28" y="65"/>
                    </a:lnTo>
                    <a:lnTo>
                      <a:pt x="23" y="67"/>
                    </a:lnTo>
                    <a:lnTo>
                      <a:pt x="17" y="70"/>
                    </a:lnTo>
                    <a:lnTo>
                      <a:pt x="11" y="72"/>
                    </a:lnTo>
                    <a:lnTo>
                      <a:pt x="6" y="75"/>
                    </a:lnTo>
                    <a:lnTo>
                      <a:pt x="0" y="77"/>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674" name="Freeform 289"/>
              <p:cNvSpPr>
                <a:spLocks/>
              </p:cNvSpPr>
              <p:nvPr/>
            </p:nvSpPr>
            <p:spPr bwMode="auto">
              <a:xfrm>
                <a:off x="1834" y="2764"/>
                <a:ext cx="82" cy="51"/>
              </a:xfrm>
              <a:custGeom>
                <a:avLst/>
                <a:gdLst>
                  <a:gd name="T0" fmla="*/ 0 w 82"/>
                  <a:gd name="T1" fmla="*/ 50 h 51"/>
                  <a:gd name="T2" fmla="*/ 3 w 82"/>
                  <a:gd name="T3" fmla="*/ 45 h 51"/>
                  <a:gd name="T4" fmla="*/ 8 w 82"/>
                  <a:gd name="T5" fmla="*/ 43 h 51"/>
                  <a:gd name="T6" fmla="*/ 14 w 82"/>
                  <a:gd name="T7" fmla="*/ 38 h 51"/>
                  <a:gd name="T8" fmla="*/ 20 w 82"/>
                  <a:gd name="T9" fmla="*/ 35 h 51"/>
                  <a:gd name="T10" fmla="*/ 25 w 82"/>
                  <a:gd name="T11" fmla="*/ 35 h 51"/>
                  <a:gd name="T12" fmla="*/ 31 w 82"/>
                  <a:gd name="T13" fmla="*/ 33 h 51"/>
                  <a:gd name="T14" fmla="*/ 36 w 82"/>
                  <a:gd name="T15" fmla="*/ 33 h 51"/>
                  <a:gd name="T16" fmla="*/ 42 w 82"/>
                  <a:gd name="T17" fmla="*/ 30 h 51"/>
                  <a:gd name="T18" fmla="*/ 47 w 82"/>
                  <a:gd name="T19" fmla="*/ 28 h 51"/>
                  <a:gd name="T20" fmla="*/ 45 w 82"/>
                  <a:gd name="T21" fmla="*/ 23 h 51"/>
                  <a:gd name="T22" fmla="*/ 47 w 82"/>
                  <a:gd name="T23" fmla="*/ 18 h 51"/>
                  <a:gd name="T24" fmla="*/ 50 w 82"/>
                  <a:gd name="T25" fmla="*/ 13 h 51"/>
                  <a:gd name="T26" fmla="*/ 56 w 82"/>
                  <a:gd name="T27" fmla="*/ 10 h 51"/>
                  <a:gd name="T28" fmla="*/ 61 w 82"/>
                  <a:gd name="T29" fmla="*/ 10 h 51"/>
                  <a:gd name="T30" fmla="*/ 67 w 82"/>
                  <a:gd name="T31" fmla="*/ 8 h 51"/>
                  <a:gd name="T32" fmla="*/ 73 w 82"/>
                  <a:gd name="T33" fmla="*/ 8 h 51"/>
                  <a:gd name="T34" fmla="*/ 78 w 82"/>
                  <a:gd name="T35" fmla="*/ 5 h 51"/>
                  <a:gd name="T36" fmla="*/ 81 w 82"/>
                  <a:gd name="T37" fmla="*/ 0 h 5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2"/>
                  <a:gd name="T58" fmla="*/ 0 h 51"/>
                  <a:gd name="T59" fmla="*/ 82 w 82"/>
                  <a:gd name="T60" fmla="*/ 51 h 5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2" h="51">
                    <a:moveTo>
                      <a:pt x="0" y="50"/>
                    </a:moveTo>
                    <a:lnTo>
                      <a:pt x="3" y="45"/>
                    </a:lnTo>
                    <a:lnTo>
                      <a:pt x="8" y="43"/>
                    </a:lnTo>
                    <a:lnTo>
                      <a:pt x="14" y="38"/>
                    </a:lnTo>
                    <a:lnTo>
                      <a:pt x="20" y="35"/>
                    </a:lnTo>
                    <a:lnTo>
                      <a:pt x="25" y="35"/>
                    </a:lnTo>
                    <a:lnTo>
                      <a:pt x="31" y="33"/>
                    </a:lnTo>
                    <a:lnTo>
                      <a:pt x="36" y="33"/>
                    </a:lnTo>
                    <a:lnTo>
                      <a:pt x="42" y="30"/>
                    </a:lnTo>
                    <a:lnTo>
                      <a:pt x="47" y="28"/>
                    </a:lnTo>
                    <a:lnTo>
                      <a:pt x="45" y="23"/>
                    </a:lnTo>
                    <a:lnTo>
                      <a:pt x="47" y="18"/>
                    </a:lnTo>
                    <a:lnTo>
                      <a:pt x="50" y="13"/>
                    </a:lnTo>
                    <a:lnTo>
                      <a:pt x="56" y="10"/>
                    </a:lnTo>
                    <a:lnTo>
                      <a:pt x="61" y="10"/>
                    </a:lnTo>
                    <a:lnTo>
                      <a:pt x="67" y="8"/>
                    </a:lnTo>
                    <a:lnTo>
                      <a:pt x="73" y="8"/>
                    </a:lnTo>
                    <a:lnTo>
                      <a:pt x="78" y="5"/>
                    </a:lnTo>
                    <a:lnTo>
                      <a:pt x="81"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675" name="Freeform 290"/>
              <p:cNvSpPr>
                <a:spLocks/>
              </p:cNvSpPr>
              <p:nvPr/>
            </p:nvSpPr>
            <p:spPr bwMode="auto">
              <a:xfrm>
                <a:off x="1802" y="2811"/>
                <a:ext cx="123" cy="44"/>
              </a:xfrm>
              <a:custGeom>
                <a:avLst/>
                <a:gdLst>
                  <a:gd name="T0" fmla="*/ 0 w 123"/>
                  <a:gd name="T1" fmla="*/ 0 h 44"/>
                  <a:gd name="T2" fmla="*/ 6 w 123"/>
                  <a:gd name="T3" fmla="*/ 3 h 44"/>
                  <a:gd name="T4" fmla="*/ 11 w 123"/>
                  <a:gd name="T5" fmla="*/ 8 h 44"/>
                  <a:gd name="T6" fmla="*/ 17 w 123"/>
                  <a:gd name="T7" fmla="*/ 13 h 44"/>
                  <a:gd name="T8" fmla="*/ 23 w 123"/>
                  <a:gd name="T9" fmla="*/ 13 h 44"/>
                  <a:gd name="T10" fmla="*/ 28 w 123"/>
                  <a:gd name="T11" fmla="*/ 15 h 44"/>
                  <a:gd name="T12" fmla="*/ 34 w 123"/>
                  <a:gd name="T13" fmla="*/ 15 h 44"/>
                  <a:gd name="T14" fmla="*/ 40 w 123"/>
                  <a:gd name="T15" fmla="*/ 15 h 44"/>
                  <a:gd name="T16" fmla="*/ 68 w 123"/>
                  <a:gd name="T17" fmla="*/ 23 h 44"/>
                  <a:gd name="T18" fmla="*/ 79 w 123"/>
                  <a:gd name="T19" fmla="*/ 23 h 44"/>
                  <a:gd name="T20" fmla="*/ 91 w 123"/>
                  <a:gd name="T21" fmla="*/ 23 h 44"/>
                  <a:gd name="T22" fmla="*/ 91 w 123"/>
                  <a:gd name="T23" fmla="*/ 33 h 44"/>
                  <a:gd name="T24" fmla="*/ 96 w 123"/>
                  <a:gd name="T25" fmla="*/ 33 h 44"/>
                  <a:gd name="T26" fmla="*/ 102 w 123"/>
                  <a:gd name="T27" fmla="*/ 38 h 44"/>
                  <a:gd name="T28" fmla="*/ 116 w 123"/>
                  <a:gd name="T29" fmla="*/ 43 h 44"/>
                  <a:gd name="T30" fmla="*/ 122 w 123"/>
                  <a:gd name="T31" fmla="*/ 43 h 4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23"/>
                  <a:gd name="T49" fmla="*/ 0 h 44"/>
                  <a:gd name="T50" fmla="*/ 123 w 123"/>
                  <a:gd name="T51" fmla="*/ 44 h 4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23" h="44">
                    <a:moveTo>
                      <a:pt x="0" y="0"/>
                    </a:moveTo>
                    <a:lnTo>
                      <a:pt x="6" y="3"/>
                    </a:lnTo>
                    <a:lnTo>
                      <a:pt x="11" y="8"/>
                    </a:lnTo>
                    <a:lnTo>
                      <a:pt x="17" y="13"/>
                    </a:lnTo>
                    <a:lnTo>
                      <a:pt x="23" y="13"/>
                    </a:lnTo>
                    <a:lnTo>
                      <a:pt x="28" y="15"/>
                    </a:lnTo>
                    <a:lnTo>
                      <a:pt x="34" y="15"/>
                    </a:lnTo>
                    <a:lnTo>
                      <a:pt x="40" y="15"/>
                    </a:lnTo>
                    <a:lnTo>
                      <a:pt x="68" y="23"/>
                    </a:lnTo>
                    <a:lnTo>
                      <a:pt x="79" y="23"/>
                    </a:lnTo>
                    <a:lnTo>
                      <a:pt x="91" y="23"/>
                    </a:lnTo>
                    <a:lnTo>
                      <a:pt x="91" y="33"/>
                    </a:lnTo>
                    <a:lnTo>
                      <a:pt x="96" y="33"/>
                    </a:lnTo>
                    <a:lnTo>
                      <a:pt x="102" y="38"/>
                    </a:lnTo>
                    <a:lnTo>
                      <a:pt x="116" y="43"/>
                    </a:lnTo>
                    <a:lnTo>
                      <a:pt x="122" y="43"/>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676" name="Freeform 291"/>
              <p:cNvSpPr>
                <a:spLocks/>
              </p:cNvSpPr>
              <p:nvPr/>
            </p:nvSpPr>
            <p:spPr bwMode="auto">
              <a:xfrm>
                <a:off x="1856" y="2799"/>
                <a:ext cx="116" cy="51"/>
              </a:xfrm>
              <a:custGeom>
                <a:avLst/>
                <a:gdLst>
                  <a:gd name="T0" fmla="*/ 0 w 116"/>
                  <a:gd name="T1" fmla="*/ 50 h 51"/>
                  <a:gd name="T2" fmla="*/ 115 w 116"/>
                  <a:gd name="T3" fmla="*/ 25 h 51"/>
                  <a:gd name="T4" fmla="*/ 115 w 116"/>
                  <a:gd name="T5" fmla="*/ 20 h 51"/>
                  <a:gd name="T6" fmla="*/ 109 w 116"/>
                  <a:gd name="T7" fmla="*/ 18 h 51"/>
                  <a:gd name="T8" fmla="*/ 107 w 116"/>
                  <a:gd name="T9" fmla="*/ 10 h 51"/>
                  <a:gd name="T10" fmla="*/ 104 w 116"/>
                  <a:gd name="T11" fmla="*/ 5 h 51"/>
                  <a:gd name="T12" fmla="*/ 101 w 116"/>
                  <a:gd name="T13" fmla="*/ 0 h 51"/>
                  <a:gd name="T14" fmla="*/ 0 60000 65536"/>
                  <a:gd name="T15" fmla="*/ 0 60000 65536"/>
                  <a:gd name="T16" fmla="*/ 0 60000 65536"/>
                  <a:gd name="T17" fmla="*/ 0 60000 65536"/>
                  <a:gd name="T18" fmla="*/ 0 60000 65536"/>
                  <a:gd name="T19" fmla="*/ 0 60000 65536"/>
                  <a:gd name="T20" fmla="*/ 0 60000 65536"/>
                  <a:gd name="T21" fmla="*/ 0 w 116"/>
                  <a:gd name="T22" fmla="*/ 0 h 51"/>
                  <a:gd name="T23" fmla="*/ 116 w 116"/>
                  <a:gd name="T24" fmla="*/ 51 h 5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6" h="51">
                    <a:moveTo>
                      <a:pt x="0" y="50"/>
                    </a:moveTo>
                    <a:lnTo>
                      <a:pt x="115" y="25"/>
                    </a:lnTo>
                    <a:lnTo>
                      <a:pt x="115" y="20"/>
                    </a:lnTo>
                    <a:lnTo>
                      <a:pt x="109" y="18"/>
                    </a:lnTo>
                    <a:lnTo>
                      <a:pt x="107" y="10"/>
                    </a:lnTo>
                    <a:lnTo>
                      <a:pt x="104" y="5"/>
                    </a:lnTo>
                    <a:lnTo>
                      <a:pt x="101"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677" name="Freeform 292"/>
              <p:cNvSpPr>
                <a:spLocks/>
              </p:cNvSpPr>
              <p:nvPr/>
            </p:nvSpPr>
            <p:spPr bwMode="auto">
              <a:xfrm>
                <a:off x="1874" y="2656"/>
                <a:ext cx="91" cy="49"/>
              </a:xfrm>
              <a:custGeom>
                <a:avLst/>
                <a:gdLst>
                  <a:gd name="T0" fmla="*/ 0 w 91"/>
                  <a:gd name="T1" fmla="*/ 0 h 49"/>
                  <a:gd name="T2" fmla="*/ 17 w 91"/>
                  <a:gd name="T3" fmla="*/ 3 h 49"/>
                  <a:gd name="T4" fmla="*/ 23 w 91"/>
                  <a:gd name="T5" fmla="*/ 3 h 49"/>
                  <a:gd name="T6" fmla="*/ 25 w 91"/>
                  <a:gd name="T7" fmla="*/ 8 h 49"/>
                  <a:gd name="T8" fmla="*/ 31 w 91"/>
                  <a:gd name="T9" fmla="*/ 13 h 49"/>
                  <a:gd name="T10" fmla="*/ 34 w 91"/>
                  <a:gd name="T11" fmla="*/ 18 h 49"/>
                  <a:gd name="T12" fmla="*/ 37 w 91"/>
                  <a:gd name="T13" fmla="*/ 23 h 49"/>
                  <a:gd name="T14" fmla="*/ 45 w 91"/>
                  <a:gd name="T15" fmla="*/ 28 h 49"/>
                  <a:gd name="T16" fmla="*/ 56 w 91"/>
                  <a:gd name="T17" fmla="*/ 33 h 49"/>
                  <a:gd name="T18" fmla="*/ 68 w 91"/>
                  <a:gd name="T19" fmla="*/ 38 h 49"/>
                  <a:gd name="T20" fmla="*/ 79 w 91"/>
                  <a:gd name="T21" fmla="*/ 48 h 49"/>
                  <a:gd name="T22" fmla="*/ 84 w 91"/>
                  <a:gd name="T23" fmla="*/ 48 h 49"/>
                  <a:gd name="T24" fmla="*/ 90 w 91"/>
                  <a:gd name="T25" fmla="*/ 48 h 49"/>
                  <a:gd name="T26" fmla="*/ 87 w 91"/>
                  <a:gd name="T27" fmla="*/ 48 h 4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1"/>
                  <a:gd name="T43" fmla="*/ 0 h 49"/>
                  <a:gd name="T44" fmla="*/ 91 w 91"/>
                  <a:gd name="T45" fmla="*/ 49 h 4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1" h="49">
                    <a:moveTo>
                      <a:pt x="0" y="0"/>
                    </a:moveTo>
                    <a:lnTo>
                      <a:pt x="17" y="3"/>
                    </a:lnTo>
                    <a:lnTo>
                      <a:pt x="23" y="3"/>
                    </a:lnTo>
                    <a:lnTo>
                      <a:pt x="25" y="8"/>
                    </a:lnTo>
                    <a:lnTo>
                      <a:pt x="31" y="13"/>
                    </a:lnTo>
                    <a:lnTo>
                      <a:pt x="34" y="18"/>
                    </a:lnTo>
                    <a:lnTo>
                      <a:pt x="37" y="23"/>
                    </a:lnTo>
                    <a:lnTo>
                      <a:pt x="45" y="28"/>
                    </a:lnTo>
                    <a:lnTo>
                      <a:pt x="56" y="33"/>
                    </a:lnTo>
                    <a:lnTo>
                      <a:pt x="68" y="38"/>
                    </a:lnTo>
                    <a:lnTo>
                      <a:pt x="79" y="48"/>
                    </a:lnTo>
                    <a:lnTo>
                      <a:pt x="84" y="48"/>
                    </a:lnTo>
                    <a:lnTo>
                      <a:pt x="90" y="48"/>
                    </a:lnTo>
                    <a:lnTo>
                      <a:pt x="87" y="48"/>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678" name="Freeform 293"/>
              <p:cNvSpPr>
                <a:spLocks/>
              </p:cNvSpPr>
              <p:nvPr/>
            </p:nvSpPr>
            <p:spPr bwMode="auto">
              <a:xfrm>
                <a:off x="1932" y="2726"/>
                <a:ext cx="78" cy="41"/>
              </a:xfrm>
              <a:custGeom>
                <a:avLst/>
                <a:gdLst>
                  <a:gd name="T0" fmla="*/ 0 w 78"/>
                  <a:gd name="T1" fmla="*/ 40 h 41"/>
                  <a:gd name="T2" fmla="*/ 34 w 78"/>
                  <a:gd name="T3" fmla="*/ 23 h 41"/>
                  <a:gd name="T4" fmla="*/ 40 w 78"/>
                  <a:gd name="T5" fmla="*/ 23 h 41"/>
                  <a:gd name="T6" fmla="*/ 46 w 78"/>
                  <a:gd name="T7" fmla="*/ 23 h 41"/>
                  <a:gd name="T8" fmla="*/ 51 w 78"/>
                  <a:gd name="T9" fmla="*/ 23 h 41"/>
                  <a:gd name="T10" fmla="*/ 57 w 78"/>
                  <a:gd name="T11" fmla="*/ 23 h 41"/>
                  <a:gd name="T12" fmla="*/ 63 w 78"/>
                  <a:gd name="T13" fmla="*/ 20 h 41"/>
                  <a:gd name="T14" fmla="*/ 68 w 78"/>
                  <a:gd name="T15" fmla="*/ 15 h 41"/>
                  <a:gd name="T16" fmla="*/ 71 w 78"/>
                  <a:gd name="T17" fmla="*/ 10 h 41"/>
                  <a:gd name="T18" fmla="*/ 74 w 78"/>
                  <a:gd name="T19" fmla="*/ 5 h 41"/>
                  <a:gd name="T20" fmla="*/ 77 w 78"/>
                  <a:gd name="T21" fmla="*/ 0 h 4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8"/>
                  <a:gd name="T34" fmla="*/ 0 h 41"/>
                  <a:gd name="T35" fmla="*/ 78 w 78"/>
                  <a:gd name="T36" fmla="*/ 41 h 4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8" h="41">
                    <a:moveTo>
                      <a:pt x="0" y="40"/>
                    </a:moveTo>
                    <a:lnTo>
                      <a:pt x="34" y="23"/>
                    </a:lnTo>
                    <a:lnTo>
                      <a:pt x="40" y="23"/>
                    </a:lnTo>
                    <a:lnTo>
                      <a:pt x="46" y="23"/>
                    </a:lnTo>
                    <a:lnTo>
                      <a:pt x="51" y="23"/>
                    </a:lnTo>
                    <a:lnTo>
                      <a:pt x="57" y="23"/>
                    </a:lnTo>
                    <a:lnTo>
                      <a:pt x="63" y="20"/>
                    </a:lnTo>
                    <a:lnTo>
                      <a:pt x="68" y="15"/>
                    </a:lnTo>
                    <a:lnTo>
                      <a:pt x="71" y="10"/>
                    </a:lnTo>
                    <a:lnTo>
                      <a:pt x="74" y="5"/>
                    </a:lnTo>
                    <a:lnTo>
                      <a:pt x="77"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679" name="Freeform 294"/>
              <p:cNvSpPr>
                <a:spLocks/>
              </p:cNvSpPr>
              <p:nvPr/>
            </p:nvSpPr>
            <p:spPr bwMode="auto">
              <a:xfrm>
                <a:off x="1986" y="2799"/>
                <a:ext cx="96" cy="78"/>
              </a:xfrm>
              <a:custGeom>
                <a:avLst/>
                <a:gdLst>
                  <a:gd name="T0" fmla="*/ 0 w 96"/>
                  <a:gd name="T1" fmla="*/ 0 h 78"/>
                  <a:gd name="T2" fmla="*/ 8 w 96"/>
                  <a:gd name="T3" fmla="*/ 2 h 78"/>
                  <a:gd name="T4" fmla="*/ 14 w 96"/>
                  <a:gd name="T5" fmla="*/ 7 h 78"/>
                  <a:gd name="T6" fmla="*/ 22 w 96"/>
                  <a:gd name="T7" fmla="*/ 30 h 78"/>
                  <a:gd name="T8" fmla="*/ 34 w 96"/>
                  <a:gd name="T9" fmla="*/ 40 h 78"/>
                  <a:gd name="T10" fmla="*/ 34 w 96"/>
                  <a:gd name="T11" fmla="*/ 50 h 78"/>
                  <a:gd name="T12" fmla="*/ 45 w 96"/>
                  <a:gd name="T13" fmla="*/ 60 h 78"/>
                  <a:gd name="T14" fmla="*/ 50 w 96"/>
                  <a:gd name="T15" fmla="*/ 70 h 78"/>
                  <a:gd name="T16" fmla="*/ 53 w 96"/>
                  <a:gd name="T17" fmla="*/ 75 h 78"/>
                  <a:gd name="T18" fmla="*/ 59 w 96"/>
                  <a:gd name="T19" fmla="*/ 77 h 78"/>
                  <a:gd name="T20" fmla="*/ 64 w 96"/>
                  <a:gd name="T21" fmla="*/ 75 h 78"/>
                  <a:gd name="T22" fmla="*/ 70 w 96"/>
                  <a:gd name="T23" fmla="*/ 75 h 78"/>
                  <a:gd name="T24" fmla="*/ 73 w 96"/>
                  <a:gd name="T25" fmla="*/ 70 h 78"/>
                  <a:gd name="T26" fmla="*/ 75 w 96"/>
                  <a:gd name="T27" fmla="*/ 65 h 78"/>
                  <a:gd name="T28" fmla="*/ 81 w 96"/>
                  <a:gd name="T29" fmla="*/ 62 h 78"/>
                  <a:gd name="T30" fmla="*/ 87 w 96"/>
                  <a:gd name="T31" fmla="*/ 60 h 78"/>
                  <a:gd name="T32" fmla="*/ 89 w 96"/>
                  <a:gd name="T33" fmla="*/ 55 h 78"/>
                  <a:gd name="T34" fmla="*/ 95 w 96"/>
                  <a:gd name="T35" fmla="*/ 50 h 78"/>
                  <a:gd name="T36" fmla="*/ 95 w 96"/>
                  <a:gd name="T37" fmla="*/ 45 h 7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6"/>
                  <a:gd name="T58" fmla="*/ 0 h 78"/>
                  <a:gd name="T59" fmla="*/ 96 w 96"/>
                  <a:gd name="T60" fmla="*/ 78 h 7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6" h="78">
                    <a:moveTo>
                      <a:pt x="0" y="0"/>
                    </a:moveTo>
                    <a:lnTo>
                      <a:pt x="8" y="2"/>
                    </a:lnTo>
                    <a:lnTo>
                      <a:pt x="14" y="7"/>
                    </a:lnTo>
                    <a:lnTo>
                      <a:pt x="22" y="30"/>
                    </a:lnTo>
                    <a:lnTo>
                      <a:pt x="34" y="40"/>
                    </a:lnTo>
                    <a:lnTo>
                      <a:pt x="34" y="50"/>
                    </a:lnTo>
                    <a:lnTo>
                      <a:pt x="45" y="60"/>
                    </a:lnTo>
                    <a:lnTo>
                      <a:pt x="50" y="70"/>
                    </a:lnTo>
                    <a:lnTo>
                      <a:pt x="53" y="75"/>
                    </a:lnTo>
                    <a:lnTo>
                      <a:pt x="59" y="77"/>
                    </a:lnTo>
                    <a:lnTo>
                      <a:pt x="64" y="75"/>
                    </a:lnTo>
                    <a:lnTo>
                      <a:pt x="70" y="75"/>
                    </a:lnTo>
                    <a:lnTo>
                      <a:pt x="73" y="70"/>
                    </a:lnTo>
                    <a:lnTo>
                      <a:pt x="75" y="65"/>
                    </a:lnTo>
                    <a:lnTo>
                      <a:pt x="81" y="62"/>
                    </a:lnTo>
                    <a:lnTo>
                      <a:pt x="87" y="60"/>
                    </a:lnTo>
                    <a:lnTo>
                      <a:pt x="89" y="55"/>
                    </a:lnTo>
                    <a:lnTo>
                      <a:pt x="95" y="50"/>
                    </a:lnTo>
                    <a:lnTo>
                      <a:pt x="95" y="45"/>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680" name="Freeform 295"/>
              <p:cNvSpPr>
                <a:spLocks/>
              </p:cNvSpPr>
              <p:nvPr/>
            </p:nvSpPr>
            <p:spPr bwMode="auto">
              <a:xfrm>
                <a:off x="2005" y="2776"/>
                <a:ext cx="97" cy="49"/>
              </a:xfrm>
              <a:custGeom>
                <a:avLst/>
                <a:gdLst>
                  <a:gd name="T0" fmla="*/ 0 w 97"/>
                  <a:gd name="T1" fmla="*/ 3 h 49"/>
                  <a:gd name="T2" fmla="*/ 6 w 97"/>
                  <a:gd name="T3" fmla="*/ 3 h 49"/>
                  <a:gd name="T4" fmla="*/ 11 w 97"/>
                  <a:gd name="T5" fmla="*/ 0 h 49"/>
                  <a:gd name="T6" fmla="*/ 17 w 97"/>
                  <a:gd name="T7" fmla="*/ 0 h 49"/>
                  <a:gd name="T8" fmla="*/ 23 w 97"/>
                  <a:gd name="T9" fmla="*/ 3 h 49"/>
                  <a:gd name="T10" fmla="*/ 28 w 97"/>
                  <a:gd name="T11" fmla="*/ 10 h 49"/>
                  <a:gd name="T12" fmla="*/ 40 w 97"/>
                  <a:gd name="T13" fmla="*/ 20 h 49"/>
                  <a:gd name="T14" fmla="*/ 51 w 97"/>
                  <a:gd name="T15" fmla="*/ 25 h 49"/>
                  <a:gd name="T16" fmla="*/ 51 w 97"/>
                  <a:gd name="T17" fmla="*/ 35 h 49"/>
                  <a:gd name="T18" fmla="*/ 62 w 97"/>
                  <a:gd name="T19" fmla="*/ 45 h 49"/>
                  <a:gd name="T20" fmla="*/ 68 w 97"/>
                  <a:gd name="T21" fmla="*/ 45 h 49"/>
                  <a:gd name="T22" fmla="*/ 73 w 97"/>
                  <a:gd name="T23" fmla="*/ 45 h 49"/>
                  <a:gd name="T24" fmla="*/ 79 w 97"/>
                  <a:gd name="T25" fmla="*/ 45 h 49"/>
                  <a:gd name="T26" fmla="*/ 85 w 97"/>
                  <a:gd name="T27" fmla="*/ 45 h 49"/>
                  <a:gd name="T28" fmla="*/ 90 w 97"/>
                  <a:gd name="T29" fmla="*/ 45 h 49"/>
                  <a:gd name="T30" fmla="*/ 96 w 97"/>
                  <a:gd name="T31" fmla="*/ 48 h 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7"/>
                  <a:gd name="T49" fmla="*/ 0 h 49"/>
                  <a:gd name="T50" fmla="*/ 97 w 97"/>
                  <a:gd name="T51" fmla="*/ 49 h 4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7" h="49">
                    <a:moveTo>
                      <a:pt x="0" y="3"/>
                    </a:moveTo>
                    <a:lnTo>
                      <a:pt x="6" y="3"/>
                    </a:lnTo>
                    <a:lnTo>
                      <a:pt x="11" y="0"/>
                    </a:lnTo>
                    <a:lnTo>
                      <a:pt x="17" y="0"/>
                    </a:lnTo>
                    <a:lnTo>
                      <a:pt x="23" y="3"/>
                    </a:lnTo>
                    <a:lnTo>
                      <a:pt x="28" y="10"/>
                    </a:lnTo>
                    <a:lnTo>
                      <a:pt x="40" y="20"/>
                    </a:lnTo>
                    <a:lnTo>
                      <a:pt x="51" y="25"/>
                    </a:lnTo>
                    <a:lnTo>
                      <a:pt x="51" y="35"/>
                    </a:lnTo>
                    <a:lnTo>
                      <a:pt x="62" y="45"/>
                    </a:lnTo>
                    <a:lnTo>
                      <a:pt x="68" y="45"/>
                    </a:lnTo>
                    <a:lnTo>
                      <a:pt x="73" y="45"/>
                    </a:lnTo>
                    <a:lnTo>
                      <a:pt x="79" y="45"/>
                    </a:lnTo>
                    <a:lnTo>
                      <a:pt x="85" y="45"/>
                    </a:lnTo>
                    <a:lnTo>
                      <a:pt x="90" y="45"/>
                    </a:lnTo>
                    <a:lnTo>
                      <a:pt x="96" y="48"/>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681" name="Freeform 296"/>
              <p:cNvSpPr>
                <a:spLocks/>
              </p:cNvSpPr>
              <p:nvPr/>
            </p:nvSpPr>
            <p:spPr bwMode="auto">
              <a:xfrm>
                <a:off x="1958" y="2714"/>
                <a:ext cx="149" cy="36"/>
              </a:xfrm>
              <a:custGeom>
                <a:avLst/>
                <a:gdLst>
                  <a:gd name="T0" fmla="*/ 0 w 149"/>
                  <a:gd name="T1" fmla="*/ 35 h 36"/>
                  <a:gd name="T2" fmla="*/ 6 w 149"/>
                  <a:gd name="T3" fmla="*/ 30 h 36"/>
                  <a:gd name="T4" fmla="*/ 8 w 149"/>
                  <a:gd name="T5" fmla="*/ 25 h 36"/>
                  <a:gd name="T6" fmla="*/ 25 w 149"/>
                  <a:gd name="T7" fmla="*/ 10 h 36"/>
                  <a:gd name="T8" fmla="*/ 50 w 149"/>
                  <a:gd name="T9" fmla="*/ 0 h 36"/>
                  <a:gd name="T10" fmla="*/ 61 w 149"/>
                  <a:gd name="T11" fmla="*/ 0 h 36"/>
                  <a:gd name="T12" fmla="*/ 106 w 149"/>
                  <a:gd name="T13" fmla="*/ 0 h 36"/>
                  <a:gd name="T14" fmla="*/ 131 w 149"/>
                  <a:gd name="T15" fmla="*/ 0 h 36"/>
                  <a:gd name="T16" fmla="*/ 142 w 149"/>
                  <a:gd name="T17" fmla="*/ 0 h 36"/>
                  <a:gd name="T18" fmla="*/ 148 w 149"/>
                  <a:gd name="T19" fmla="*/ 0 h 3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9"/>
                  <a:gd name="T31" fmla="*/ 0 h 36"/>
                  <a:gd name="T32" fmla="*/ 149 w 149"/>
                  <a:gd name="T33" fmla="*/ 36 h 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9" h="36">
                    <a:moveTo>
                      <a:pt x="0" y="35"/>
                    </a:moveTo>
                    <a:lnTo>
                      <a:pt x="6" y="30"/>
                    </a:lnTo>
                    <a:lnTo>
                      <a:pt x="8" y="25"/>
                    </a:lnTo>
                    <a:lnTo>
                      <a:pt x="25" y="10"/>
                    </a:lnTo>
                    <a:lnTo>
                      <a:pt x="50" y="0"/>
                    </a:lnTo>
                    <a:lnTo>
                      <a:pt x="61" y="0"/>
                    </a:lnTo>
                    <a:lnTo>
                      <a:pt x="106" y="0"/>
                    </a:lnTo>
                    <a:lnTo>
                      <a:pt x="131" y="0"/>
                    </a:lnTo>
                    <a:lnTo>
                      <a:pt x="142" y="0"/>
                    </a:lnTo>
                    <a:lnTo>
                      <a:pt x="148"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682" name="Freeform 297"/>
              <p:cNvSpPr>
                <a:spLocks/>
              </p:cNvSpPr>
              <p:nvPr/>
            </p:nvSpPr>
            <p:spPr bwMode="auto">
              <a:xfrm>
                <a:off x="2067" y="2654"/>
                <a:ext cx="46" cy="101"/>
              </a:xfrm>
              <a:custGeom>
                <a:avLst/>
                <a:gdLst>
                  <a:gd name="T0" fmla="*/ 0 w 46"/>
                  <a:gd name="T1" fmla="*/ 0 h 101"/>
                  <a:gd name="T2" fmla="*/ 11 w 46"/>
                  <a:gd name="T3" fmla="*/ 8 h 101"/>
                  <a:gd name="T4" fmla="*/ 17 w 46"/>
                  <a:gd name="T5" fmla="*/ 13 h 101"/>
                  <a:gd name="T6" fmla="*/ 17 w 46"/>
                  <a:gd name="T7" fmla="*/ 18 h 101"/>
                  <a:gd name="T8" fmla="*/ 14 w 46"/>
                  <a:gd name="T9" fmla="*/ 23 h 101"/>
                  <a:gd name="T10" fmla="*/ 14 w 46"/>
                  <a:gd name="T11" fmla="*/ 28 h 101"/>
                  <a:gd name="T12" fmla="*/ 11 w 46"/>
                  <a:gd name="T13" fmla="*/ 33 h 101"/>
                  <a:gd name="T14" fmla="*/ 11 w 46"/>
                  <a:gd name="T15" fmla="*/ 38 h 101"/>
                  <a:gd name="T16" fmla="*/ 11 w 46"/>
                  <a:gd name="T17" fmla="*/ 43 h 101"/>
                  <a:gd name="T18" fmla="*/ 17 w 46"/>
                  <a:gd name="T19" fmla="*/ 53 h 101"/>
                  <a:gd name="T20" fmla="*/ 28 w 46"/>
                  <a:gd name="T21" fmla="*/ 63 h 101"/>
                  <a:gd name="T22" fmla="*/ 34 w 46"/>
                  <a:gd name="T23" fmla="*/ 68 h 101"/>
                  <a:gd name="T24" fmla="*/ 39 w 46"/>
                  <a:gd name="T25" fmla="*/ 70 h 101"/>
                  <a:gd name="T26" fmla="*/ 42 w 46"/>
                  <a:gd name="T27" fmla="*/ 75 h 101"/>
                  <a:gd name="T28" fmla="*/ 45 w 46"/>
                  <a:gd name="T29" fmla="*/ 80 h 101"/>
                  <a:gd name="T30" fmla="*/ 45 w 46"/>
                  <a:gd name="T31" fmla="*/ 85 h 101"/>
                  <a:gd name="T32" fmla="*/ 45 w 46"/>
                  <a:gd name="T33" fmla="*/ 90 h 101"/>
                  <a:gd name="T34" fmla="*/ 45 w 46"/>
                  <a:gd name="T35" fmla="*/ 95 h 101"/>
                  <a:gd name="T36" fmla="*/ 45 w 46"/>
                  <a:gd name="T37" fmla="*/ 100 h 101"/>
                  <a:gd name="T38" fmla="*/ 45 w 46"/>
                  <a:gd name="T39" fmla="*/ 98 h 10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6"/>
                  <a:gd name="T61" fmla="*/ 0 h 101"/>
                  <a:gd name="T62" fmla="*/ 46 w 46"/>
                  <a:gd name="T63" fmla="*/ 101 h 10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6" h="101">
                    <a:moveTo>
                      <a:pt x="0" y="0"/>
                    </a:moveTo>
                    <a:lnTo>
                      <a:pt x="11" y="8"/>
                    </a:lnTo>
                    <a:lnTo>
                      <a:pt x="17" y="13"/>
                    </a:lnTo>
                    <a:lnTo>
                      <a:pt x="17" y="18"/>
                    </a:lnTo>
                    <a:lnTo>
                      <a:pt x="14" y="23"/>
                    </a:lnTo>
                    <a:lnTo>
                      <a:pt x="14" y="28"/>
                    </a:lnTo>
                    <a:lnTo>
                      <a:pt x="11" y="33"/>
                    </a:lnTo>
                    <a:lnTo>
                      <a:pt x="11" y="38"/>
                    </a:lnTo>
                    <a:lnTo>
                      <a:pt x="11" y="43"/>
                    </a:lnTo>
                    <a:lnTo>
                      <a:pt x="17" y="53"/>
                    </a:lnTo>
                    <a:lnTo>
                      <a:pt x="28" y="63"/>
                    </a:lnTo>
                    <a:lnTo>
                      <a:pt x="34" y="68"/>
                    </a:lnTo>
                    <a:lnTo>
                      <a:pt x="39" y="70"/>
                    </a:lnTo>
                    <a:lnTo>
                      <a:pt x="42" y="75"/>
                    </a:lnTo>
                    <a:lnTo>
                      <a:pt x="45" y="80"/>
                    </a:lnTo>
                    <a:lnTo>
                      <a:pt x="45" y="85"/>
                    </a:lnTo>
                    <a:lnTo>
                      <a:pt x="45" y="90"/>
                    </a:lnTo>
                    <a:lnTo>
                      <a:pt x="45" y="95"/>
                    </a:lnTo>
                    <a:lnTo>
                      <a:pt x="45" y="100"/>
                    </a:lnTo>
                    <a:lnTo>
                      <a:pt x="45" y="98"/>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683" name="Freeform 298"/>
              <p:cNvSpPr>
                <a:spLocks/>
              </p:cNvSpPr>
              <p:nvPr/>
            </p:nvSpPr>
            <p:spPr bwMode="auto">
              <a:xfrm>
                <a:off x="2036" y="2691"/>
                <a:ext cx="88" cy="66"/>
              </a:xfrm>
              <a:custGeom>
                <a:avLst/>
                <a:gdLst>
                  <a:gd name="T0" fmla="*/ 87 w 88"/>
                  <a:gd name="T1" fmla="*/ 0 h 66"/>
                  <a:gd name="T2" fmla="*/ 59 w 88"/>
                  <a:gd name="T3" fmla="*/ 23 h 66"/>
                  <a:gd name="T4" fmla="*/ 56 w 88"/>
                  <a:gd name="T5" fmla="*/ 28 h 66"/>
                  <a:gd name="T6" fmla="*/ 51 w 88"/>
                  <a:gd name="T7" fmla="*/ 33 h 66"/>
                  <a:gd name="T8" fmla="*/ 45 w 88"/>
                  <a:gd name="T9" fmla="*/ 38 h 66"/>
                  <a:gd name="T10" fmla="*/ 42 w 88"/>
                  <a:gd name="T11" fmla="*/ 43 h 66"/>
                  <a:gd name="T12" fmla="*/ 36 w 88"/>
                  <a:gd name="T13" fmla="*/ 43 h 66"/>
                  <a:gd name="T14" fmla="*/ 31 w 88"/>
                  <a:gd name="T15" fmla="*/ 48 h 66"/>
                  <a:gd name="T16" fmla="*/ 25 w 88"/>
                  <a:gd name="T17" fmla="*/ 53 h 66"/>
                  <a:gd name="T18" fmla="*/ 11 w 88"/>
                  <a:gd name="T19" fmla="*/ 55 h 66"/>
                  <a:gd name="T20" fmla="*/ 11 w 88"/>
                  <a:gd name="T21" fmla="*/ 65 h 66"/>
                  <a:gd name="T22" fmla="*/ 6 w 88"/>
                  <a:gd name="T23" fmla="*/ 65 h 66"/>
                  <a:gd name="T24" fmla="*/ 0 w 88"/>
                  <a:gd name="T25" fmla="*/ 65 h 66"/>
                  <a:gd name="T26" fmla="*/ 6 w 88"/>
                  <a:gd name="T27" fmla="*/ 63 h 6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8"/>
                  <a:gd name="T43" fmla="*/ 0 h 66"/>
                  <a:gd name="T44" fmla="*/ 88 w 88"/>
                  <a:gd name="T45" fmla="*/ 66 h 6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8" h="66">
                    <a:moveTo>
                      <a:pt x="87" y="0"/>
                    </a:moveTo>
                    <a:lnTo>
                      <a:pt x="59" y="23"/>
                    </a:lnTo>
                    <a:lnTo>
                      <a:pt x="56" y="28"/>
                    </a:lnTo>
                    <a:lnTo>
                      <a:pt x="51" y="33"/>
                    </a:lnTo>
                    <a:lnTo>
                      <a:pt x="45" y="38"/>
                    </a:lnTo>
                    <a:lnTo>
                      <a:pt x="42" y="43"/>
                    </a:lnTo>
                    <a:lnTo>
                      <a:pt x="36" y="43"/>
                    </a:lnTo>
                    <a:lnTo>
                      <a:pt x="31" y="48"/>
                    </a:lnTo>
                    <a:lnTo>
                      <a:pt x="25" y="53"/>
                    </a:lnTo>
                    <a:lnTo>
                      <a:pt x="11" y="55"/>
                    </a:lnTo>
                    <a:lnTo>
                      <a:pt x="11" y="65"/>
                    </a:lnTo>
                    <a:lnTo>
                      <a:pt x="6" y="65"/>
                    </a:lnTo>
                    <a:lnTo>
                      <a:pt x="0" y="65"/>
                    </a:lnTo>
                    <a:lnTo>
                      <a:pt x="6" y="63"/>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684" name="Freeform 299"/>
              <p:cNvSpPr>
                <a:spLocks/>
              </p:cNvSpPr>
              <p:nvPr/>
            </p:nvSpPr>
            <p:spPr bwMode="auto">
              <a:xfrm>
                <a:off x="2115" y="2714"/>
                <a:ext cx="24" cy="88"/>
              </a:xfrm>
              <a:custGeom>
                <a:avLst/>
                <a:gdLst>
                  <a:gd name="T0" fmla="*/ 0 w 24"/>
                  <a:gd name="T1" fmla="*/ 87 h 88"/>
                  <a:gd name="T2" fmla="*/ 23 w 24"/>
                  <a:gd name="T3" fmla="*/ 60 h 88"/>
                  <a:gd name="T4" fmla="*/ 23 w 24"/>
                  <a:gd name="T5" fmla="*/ 55 h 88"/>
                  <a:gd name="T6" fmla="*/ 23 w 24"/>
                  <a:gd name="T7" fmla="*/ 50 h 88"/>
                  <a:gd name="T8" fmla="*/ 23 w 24"/>
                  <a:gd name="T9" fmla="*/ 45 h 88"/>
                  <a:gd name="T10" fmla="*/ 23 w 24"/>
                  <a:gd name="T11" fmla="*/ 40 h 88"/>
                  <a:gd name="T12" fmla="*/ 23 w 24"/>
                  <a:gd name="T13" fmla="*/ 35 h 88"/>
                  <a:gd name="T14" fmla="*/ 23 w 24"/>
                  <a:gd name="T15" fmla="*/ 30 h 88"/>
                  <a:gd name="T16" fmla="*/ 23 w 24"/>
                  <a:gd name="T17" fmla="*/ 25 h 88"/>
                  <a:gd name="T18" fmla="*/ 23 w 24"/>
                  <a:gd name="T19" fmla="*/ 20 h 88"/>
                  <a:gd name="T20" fmla="*/ 23 w 24"/>
                  <a:gd name="T21" fmla="*/ 15 h 88"/>
                  <a:gd name="T22" fmla="*/ 23 w 24"/>
                  <a:gd name="T23" fmla="*/ 10 h 88"/>
                  <a:gd name="T24" fmla="*/ 23 w 24"/>
                  <a:gd name="T25" fmla="*/ 5 h 88"/>
                  <a:gd name="T26" fmla="*/ 23 w 24"/>
                  <a:gd name="T27" fmla="*/ 0 h 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4"/>
                  <a:gd name="T43" fmla="*/ 0 h 88"/>
                  <a:gd name="T44" fmla="*/ 24 w 24"/>
                  <a:gd name="T45" fmla="*/ 88 h 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4" h="88">
                    <a:moveTo>
                      <a:pt x="0" y="87"/>
                    </a:moveTo>
                    <a:lnTo>
                      <a:pt x="23" y="60"/>
                    </a:lnTo>
                    <a:lnTo>
                      <a:pt x="23" y="55"/>
                    </a:lnTo>
                    <a:lnTo>
                      <a:pt x="23" y="50"/>
                    </a:lnTo>
                    <a:lnTo>
                      <a:pt x="23" y="45"/>
                    </a:lnTo>
                    <a:lnTo>
                      <a:pt x="23" y="40"/>
                    </a:lnTo>
                    <a:lnTo>
                      <a:pt x="23" y="35"/>
                    </a:lnTo>
                    <a:lnTo>
                      <a:pt x="23" y="30"/>
                    </a:lnTo>
                    <a:lnTo>
                      <a:pt x="23" y="25"/>
                    </a:lnTo>
                    <a:lnTo>
                      <a:pt x="23" y="20"/>
                    </a:lnTo>
                    <a:lnTo>
                      <a:pt x="23" y="15"/>
                    </a:lnTo>
                    <a:lnTo>
                      <a:pt x="23" y="10"/>
                    </a:lnTo>
                    <a:lnTo>
                      <a:pt x="23" y="5"/>
                    </a:lnTo>
                    <a:lnTo>
                      <a:pt x="23"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685" name="Freeform 300"/>
              <p:cNvSpPr>
                <a:spLocks/>
              </p:cNvSpPr>
              <p:nvPr/>
            </p:nvSpPr>
            <p:spPr bwMode="auto">
              <a:xfrm>
                <a:off x="2048" y="2826"/>
                <a:ext cx="126" cy="19"/>
              </a:xfrm>
              <a:custGeom>
                <a:avLst/>
                <a:gdLst>
                  <a:gd name="T0" fmla="*/ 0 w 126"/>
                  <a:gd name="T1" fmla="*/ 10 h 19"/>
                  <a:gd name="T2" fmla="*/ 36 w 126"/>
                  <a:gd name="T3" fmla="*/ 10 h 19"/>
                  <a:gd name="T4" fmla="*/ 42 w 126"/>
                  <a:gd name="T5" fmla="*/ 13 h 19"/>
                  <a:gd name="T6" fmla="*/ 47 w 126"/>
                  <a:gd name="T7" fmla="*/ 15 h 19"/>
                  <a:gd name="T8" fmla="*/ 61 w 126"/>
                  <a:gd name="T9" fmla="*/ 18 h 19"/>
                  <a:gd name="T10" fmla="*/ 72 w 126"/>
                  <a:gd name="T11" fmla="*/ 18 h 19"/>
                  <a:gd name="T12" fmla="*/ 86 w 126"/>
                  <a:gd name="T13" fmla="*/ 13 h 19"/>
                  <a:gd name="T14" fmla="*/ 92 w 126"/>
                  <a:gd name="T15" fmla="*/ 13 h 19"/>
                  <a:gd name="T16" fmla="*/ 103 w 126"/>
                  <a:gd name="T17" fmla="*/ 8 h 19"/>
                  <a:gd name="T18" fmla="*/ 114 w 126"/>
                  <a:gd name="T19" fmla="*/ 8 h 19"/>
                  <a:gd name="T20" fmla="*/ 119 w 126"/>
                  <a:gd name="T21" fmla="*/ 5 h 19"/>
                  <a:gd name="T22" fmla="*/ 125 w 126"/>
                  <a:gd name="T23" fmla="*/ 0 h 1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6"/>
                  <a:gd name="T37" fmla="*/ 0 h 19"/>
                  <a:gd name="T38" fmla="*/ 126 w 126"/>
                  <a:gd name="T39" fmla="*/ 19 h 1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6" h="19">
                    <a:moveTo>
                      <a:pt x="0" y="10"/>
                    </a:moveTo>
                    <a:lnTo>
                      <a:pt x="36" y="10"/>
                    </a:lnTo>
                    <a:lnTo>
                      <a:pt x="42" y="13"/>
                    </a:lnTo>
                    <a:lnTo>
                      <a:pt x="47" y="15"/>
                    </a:lnTo>
                    <a:lnTo>
                      <a:pt x="61" y="18"/>
                    </a:lnTo>
                    <a:lnTo>
                      <a:pt x="72" y="18"/>
                    </a:lnTo>
                    <a:lnTo>
                      <a:pt x="86" y="13"/>
                    </a:lnTo>
                    <a:lnTo>
                      <a:pt x="92" y="13"/>
                    </a:lnTo>
                    <a:lnTo>
                      <a:pt x="103" y="8"/>
                    </a:lnTo>
                    <a:lnTo>
                      <a:pt x="114" y="8"/>
                    </a:lnTo>
                    <a:lnTo>
                      <a:pt x="119" y="5"/>
                    </a:lnTo>
                    <a:lnTo>
                      <a:pt x="125"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686" name="Freeform 301"/>
              <p:cNvSpPr>
                <a:spLocks/>
              </p:cNvSpPr>
              <p:nvPr/>
            </p:nvSpPr>
            <p:spPr bwMode="auto">
              <a:xfrm>
                <a:off x="1823" y="2651"/>
                <a:ext cx="91" cy="91"/>
              </a:xfrm>
              <a:custGeom>
                <a:avLst/>
                <a:gdLst>
                  <a:gd name="T0" fmla="*/ 0 w 91"/>
                  <a:gd name="T1" fmla="*/ 0 h 91"/>
                  <a:gd name="T2" fmla="*/ 34 w 91"/>
                  <a:gd name="T3" fmla="*/ 25 h 91"/>
                  <a:gd name="T4" fmla="*/ 37 w 91"/>
                  <a:gd name="T5" fmla="*/ 58 h 91"/>
                  <a:gd name="T6" fmla="*/ 42 w 91"/>
                  <a:gd name="T7" fmla="*/ 63 h 91"/>
                  <a:gd name="T8" fmla="*/ 45 w 91"/>
                  <a:gd name="T9" fmla="*/ 68 h 91"/>
                  <a:gd name="T10" fmla="*/ 51 w 91"/>
                  <a:gd name="T11" fmla="*/ 70 h 91"/>
                  <a:gd name="T12" fmla="*/ 56 w 91"/>
                  <a:gd name="T13" fmla="*/ 73 h 91"/>
                  <a:gd name="T14" fmla="*/ 62 w 91"/>
                  <a:gd name="T15" fmla="*/ 75 h 91"/>
                  <a:gd name="T16" fmla="*/ 73 w 91"/>
                  <a:gd name="T17" fmla="*/ 75 h 91"/>
                  <a:gd name="T18" fmla="*/ 84 w 91"/>
                  <a:gd name="T19" fmla="*/ 85 h 91"/>
                  <a:gd name="T20" fmla="*/ 90 w 91"/>
                  <a:gd name="T21" fmla="*/ 90 h 9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1"/>
                  <a:gd name="T34" fmla="*/ 0 h 91"/>
                  <a:gd name="T35" fmla="*/ 91 w 91"/>
                  <a:gd name="T36" fmla="*/ 91 h 9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1" h="91">
                    <a:moveTo>
                      <a:pt x="0" y="0"/>
                    </a:moveTo>
                    <a:lnTo>
                      <a:pt x="34" y="25"/>
                    </a:lnTo>
                    <a:lnTo>
                      <a:pt x="37" y="58"/>
                    </a:lnTo>
                    <a:lnTo>
                      <a:pt x="42" y="63"/>
                    </a:lnTo>
                    <a:lnTo>
                      <a:pt x="45" y="68"/>
                    </a:lnTo>
                    <a:lnTo>
                      <a:pt x="51" y="70"/>
                    </a:lnTo>
                    <a:lnTo>
                      <a:pt x="56" y="73"/>
                    </a:lnTo>
                    <a:lnTo>
                      <a:pt x="62" y="75"/>
                    </a:lnTo>
                    <a:lnTo>
                      <a:pt x="73" y="75"/>
                    </a:lnTo>
                    <a:lnTo>
                      <a:pt x="84" y="85"/>
                    </a:lnTo>
                    <a:lnTo>
                      <a:pt x="90" y="9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687" name="Freeform 302"/>
              <p:cNvSpPr>
                <a:spLocks/>
              </p:cNvSpPr>
              <p:nvPr/>
            </p:nvSpPr>
            <p:spPr bwMode="auto">
              <a:xfrm>
                <a:off x="1665" y="2629"/>
                <a:ext cx="52" cy="106"/>
              </a:xfrm>
              <a:custGeom>
                <a:avLst/>
                <a:gdLst>
                  <a:gd name="T0" fmla="*/ 0 w 52"/>
                  <a:gd name="T1" fmla="*/ 0 h 106"/>
                  <a:gd name="T2" fmla="*/ 31 w 52"/>
                  <a:gd name="T3" fmla="*/ 70 h 106"/>
                  <a:gd name="T4" fmla="*/ 34 w 52"/>
                  <a:gd name="T5" fmla="*/ 75 h 106"/>
                  <a:gd name="T6" fmla="*/ 37 w 52"/>
                  <a:gd name="T7" fmla="*/ 80 h 106"/>
                  <a:gd name="T8" fmla="*/ 37 w 52"/>
                  <a:gd name="T9" fmla="*/ 85 h 106"/>
                  <a:gd name="T10" fmla="*/ 37 w 52"/>
                  <a:gd name="T11" fmla="*/ 90 h 106"/>
                  <a:gd name="T12" fmla="*/ 37 w 52"/>
                  <a:gd name="T13" fmla="*/ 95 h 106"/>
                  <a:gd name="T14" fmla="*/ 40 w 52"/>
                  <a:gd name="T15" fmla="*/ 100 h 106"/>
                  <a:gd name="T16" fmla="*/ 45 w 52"/>
                  <a:gd name="T17" fmla="*/ 105 h 106"/>
                  <a:gd name="T18" fmla="*/ 51 w 52"/>
                  <a:gd name="T19" fmla="*/ 105 h 106"/>
                  <a:gd name="T20" fmla="*/ 48 w 52"/>
                  <a:gd name="T21" fmla="*/ 105 h 10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2"/>
                  <a:gd name="T34" fmla="*/ 0 h 106"/>
                  <a:gd name="T35" fmla="*/ 52 w 52"/>
                  <a:gd name="T36" fmla="*/ 106 h 10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2" h="106">
                    <a:moveTo>
                      <a:pt x="0" y="0"/>
                    </a:moveTo>
                    <a:lnTo>
                      <a:pt x="31" y="70"/>
                    </a:lnTo>
                    <a:lnTo>
                      <a:pt x="34" y="75"/>
                    </a:lnTo>
                    <a:lnTo>
                      <a:pt x="37" y="80"/>
                    </a:lnTo>
                    <a:lnTo>
                      <a:pt x="37" y="85"/>
                    </a:lnTo>
                    <a:lnTo>
                      <a:pt x="37" y="90"/>
                    </a:lnTo>
                    <a:lnTo>
                      <a:pt x="37" y="95"/>
                    </a:lnTo>
                    <a:lnTo>
                      <a:pt x="40" y="100"/>
                    </a:lnTo>
                    <a:lnTo>
                      <a:pt x="45" y="105"/>
                    </a:lnTo>
                    <a:lnTo>
                      <a:pt x="51" y="105"/>
                    </a:lnTo>
                    <a:lnTo>
                      <a:pt x="48" y="105"/>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688" name="Freeform 303"/>
              <p:cNvSpPr>
                <a:spLocks/>
              </p:cNvSpPr>
              <p:nvPr/>
            </p:nvSpPr>
            <p:spPr bwMode="auto">
              <a:xfrm>
                <a:off x="1964" y="2645"/>
                <a:ext cx="79" cy="72"/>
              </a:xfrm>
              <a:custGeom>
                <a:avLst/>
                <a:gdLst>
                  <a:gd name="T0" fmla="*/ 78 w 79"/>
                  <a:gd name="T1" fmla="*/ 0 h 72"/>
                  <a:gd name="T2" fmla="*/ 72 w 79"/>
                  <a:gd name="T3" fmla="*/ 3 h 72"/>
                  <a:gd name="T4" fmla="*/ 67 w 79"/>
                  <a:gd name="T5" fmla="*/ 5 h 72"/>
                  <a:gd name="T6" fmla="*/ 61 w 79"/>
                  <a:gd name="T7" fmla="*/ 8 h 72"/>
                  <a:gd name="T8" fmla="*/ 61 w 79"/>
                  <a:gd name="T9" fmla="*/ 13 h 72"/>
                  <a:gd name="T10" fmla="*/ 61 w 79"/>
                  <a:gd name="T11" fmla="*/ 18 h 72"/>
                  <a:gd name="T12" fmla="*/ 61 w 79"/>
                  <a:gd name="T13" fmla="*/ 23 h 72"/>
                  <a:gd name="T14" fmla="*/ 56 w 79"/>
                  <a:gd name="T15" fmla="*/ 36 h 72"/>
                  <a:gd name="T16" fmla="*/ 45 w 79"/>
                  <a:gd name="T17" fmla="*/ 36 h 72"/>
                  <a:gd name="T18" fmla="*/ 42 w 79"/>
                  <a:gd name="T19" fmla="*/ 41 h 72"/>
                  <a:gd name="T20" fmla="*/ 31 w 79"/>
                  <a:gd name="T21" fmla="*/ 46 h 72"/>
                  <a:gd name="T22" fmla="*/ 25 w 79"/>
                  <a:gd name="T23" fmla="*/ 48 h 72"/>
                  <a:gd name="T24" fmla="*/ 8 w 79"/>
                  <a:gd name="T25" fmla="*/ 63 h 72"/>
                  <a:gd name="T26" fmla="*/ 6 w 79"/>
                  <a:gd name="T27" fmla="*/ 68 h 72"/>
                  <a:gd name="T28" fmla="*/ 0 w 79"/>
                  <a:gd name="T29" fmla="*/ 71 h 7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9"/>
                  <a:gd name="T46" fmla="*/ 0 h 72"/>
                  <a:gd name="T47" fmla="*/ 79 w 79"/>
                  <a:gd name="T48" fmla="*/ 72 h 7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9" h="72">
                    <a:moveTo>
                      <a:pt x="78" y="0"/>
                    </a:moveTo>
                    <a:lnTo>
                      <a:pt x="72" y="3"/>
                    </a:lnTo>
                    <a:lnTo>
                      <a:pt x="67" y="5"/>
                    </a:lnTo>
                    <a:lnTo>
                      <a:pt x="61" y="8"/>
                    </a:lnTo>
                    <a:lnTo>
                      <a:pt x="61" y="13"/>
                    </a:lnTo>
                    <a:lnTo>
                      <a:pt x="61" y="18"/>
                    </a:lnTo>
                    <a:lnTo>
                      <a:pt x="61" y="23"/>
                    </a:lnTo>
                    <a:lnTo>
                      <a:pt x="56" y="36"/>
                    </a:lnTo>
                    <a:lnTo>
                      <a:pt x="45" y="36"/>
                    </a:lnTo>
                    <a:lnTo>
                      <a:pt x="42" y="41"/>
                    </a:lnTo>
                    <a:lnTo>
                      <a:pt x="31" y="46"/>
                    </a:lnTo>
                    <a:lnTo>
                      <a:pt x="25" y="48"/>
                    </a:lnTo>
                    <a:lnTo>
                      <a:pt x="8" y="63"/>
                    </a:lnTo>
                    <a:lnTo>
                      <a:pt x="6" y="68"/>
                    </a:lnTo>
                    <a:lnTo>
                      <a:pt x="0" y="71"/>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689" name="Freeform 304"/>
              <p:cNvSpPr>
                <a:spLocks/>
              </p:cNvSpPr>
              <p:nvPr/>
            </p:nvSpPr>
            <p:spPr bwMode="auto">
              <a:xfrm>
                <a:off x="1901" y="2809"/>
                <a:ext cx="105" cy="46"/>
              </a:xfrm>
              <a:custGeom>
                <a:avLst/>
                <a:gdLst>
                  <a:gd name="T0" fmla="*/ 0 w 105"/>
                  <a:gd name="T1" fmla="*/ 0 h 46"/>
                  <a:gd name="T2" fmla="*/ 42 w 105"/>
                  <a:gd name="T3" fmla="*/ 0 h 46"/>
                  <a:gd name="T4" fmla="*/ 48 w 105"/>
                  <a:gd name="T5" fmla="*/ 0 h 46"/>
                  <a:gd name="T6" fmla="*/ 53 w 105"/>
                  <a:gd name="T7" fmla="*/ 5 h 46"/>
                  <a:gd name="T8" fmla="*/ 56 w 105"/>
                  <a:gd name="T9" fmla="*/ 10 h 46"/>
                  <a:gd name="T10" fmla="*/ 62 w 105"/>
                  <a:gd name="T11" fmla="*/ 13 h 46"/>
                  <a:gd name="T12" fmla="*/ 65 w 105"/>
                  <a:gd name="T13" fmla="*/ 18 h 46"/>
                  <a:gd name="T14" fmla="*/ 70 w 105"/>
                  <a:gd name="T15" fmla="*/ 23 h 46"/>
                  <a:gd name="T16" fmla="*/ 73 w 105"/>
                  <a:gd name="T17" fmla="*/ 28 h 46"/>
                  <a:gd name="T18" fmla="*/ 76 w 105"/>
                  <a:gd name="T19" fmla="*/ 33 h 46"/>
                  <a:gd name="T20" fmla="*/ 82 w 105"/>
                  <a:gd name="T21" fmla="*/ 38 h 46"/>
                  <a:gd name="T22" fmla="*/ 87 w 105"/>
                  <a:gd name="T23" fmla="*/ 40 h 46"/>
                  <a:gd name="T24" fmla="*/ 93 w 105"/>
                  <a:gd name="T25" fmla="*/ 43 h 46"/>
                  <a:gd name="T26" fmla="*/ 98 w 105"/>
                  <a:gd name="T27" fmla="*/ 45 h 46"/>
                  <a:gd name="T28" fmla="*/ 104 w 105"/>
                  <a:gd name="T29" fmla="*/ 45 h 4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5"/>
                  <a:gd name="T46" fmla="*/ 0 h 46"/>
                  <a:gd name="T47" fmla="*/ 105 w 105"/>
                  <a:gd name="T48" fmla="*/ 46 h 4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5" h="46">
                    <a:moveTo>
                      <a:pt x="0" y="0"/>
                    </a:moveTo>
                    <a:lnTo>
                      <a:pt x="42" y="0"/>
                    </a:lnTo>
                    <a:lnTo>
                      <a:pt x="48" y="0"/>
                    </a:lnTo>
                    <a:lnTo>
                      <a:pt x="53" y="5"/>
                    </a:lnTo>
                    <a:lnTo>
                      <a:pt x="56" y="10"/>
                    </a:lnTo>
                    <a:lnTo>
                      <a:pt x="62" y="13"/>
                    </a:lnTo>
                    <a:lnTo>
                      <a:pt x="65" y="18"/>
                    </a:lnTo>
                    <a:lnTo>
                      <a:pt x="70" y="23"/>
                    </a:lnTo>
                    <a:lnTo>
                      <a:pt x="73" y="28"/>
                    </a:lnTo>
                    <a:lnTo>
                      <a:pt x="76" y="33"/>
                    </a:lnTo>
                    <a:lnTo>
                      <a:pt x="82" y="38"/>
                    </a:lnTo>
                    <a:lnTo>
                      <a:pt x="87" y="40"/>
                    </a:lnTo>
                    <a:lnTo>
                      <a:pt x="93" y="43"/>
                    </a:lnTo>
                    <a:lnTo>
                      <a:pt x="98" y="45"/>
                    </a:lnTo>
                    <a:lnTo>
                      <a:pt x="104" y="45"/>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690" name="Freeform 305"/>
              <p:cNvSpPr>
                <a:spLocks/>
              </p:cNvSpPr>
              <p:nvPr/>
            </p:nvSpPr>
            <p:spPr bwMode="auto">
              <a:xfrm>
                <a:off x="1786" y="2774"/>
                <a:ext cx="38" cy="76"/>
              </a:xfrm>
              <a:custGeom>
                <a:avLst/>
                <a:gdLst>
                  <a:gd name="T0" fmla="*/ 0 w 38"/>
                  <a:gd name="T1" fmla="*/ 0 h 76"/>
                  <a:gd name="T2" fmla="*/ 3 w 38"/>
                  <a:gd name="T3" fmla="*/ 5 h 76"/>
                  <a:gd name="T4" fmla="*/ 3 w 38"/>
                  <a:gd name="T5" fmla="*/ 10 h 76"/>
                  <a:gd name="T6" fmla="*/ 3 w 38"/>
                  <a:gd name="T7" fmla="*/ 15 h 76"/>
                  <a:gd name="T8" fmla="*/ 0 w 38"/>
                  <a:gd name="T9" fmla="*/ 20 h 76"/>
                  <a:gd name="T10" fmla="*/ 0 w 38"/>
                  <a:gd name="T11" fmla="*/ 25 h 76"/>
                  <a:gd name="T12" fmla="*/ 0 w 38"/>
                  <a:gd name="T13" fmla="*/ 30 h 76"/>
                  <a:gd name="T14" fmla="*/ 0 w 38"/>
                  <a:gd name="T15" fmla="*/ 35 h 76"/>
                  <a:gd name="T16" fmla="*/ 0 w 38"/>
                  <a:gd name="T17" fmla="*/ 40 h 76"/>
                  <a:gd name="T18" fmla="*/ 6 w 38"/>
                  <a:gd name="T19" fmla="*/ 45 h 76"/>
                  <a:gd name="T20" fmla="*/ 11 w 38"/>
                  <a:gd name="T21" fmla="*/ 50 h 76"/>
                  <a:gd name="T22" fmla="*/ 14 w 38"/>
                  <a:gd name="T23" fmla="*/ 55 h 76"/>
                  <a:gd name="T24" fmla="*/ 20 w 38"/>
                  <a:gd name="T25" fmla="*/ 60 h 76"/>
                  <a:gd name="T26" fmla="*/ 23 w 38"/>
                  <a:gd name="T27" fmla="*/ 65 h 76"/>
                  <a:gd name="T28" fmla="*/ 28 w 38"/>
                  <a:gd name="T29" fmla="*/ 70 h 76"/>
                  <a:gd name="T30" fmla="*/ 31 w 38"/>
                  <a:gd name="T31" fmla="*/ 75 h 76"/>
                  <a:gd name="T32" fmla="*/ 37 w 38"/>
                  <a:gd name="T33" fmla="*/ 75 h 7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8"/>
                  <a:gd name="T52" fmla="*/ 0 h 76"/>
                  <a:gd name="T53" fmla="*/ 38 w 38"/>
                  <a:gd name="T54" fmla="*/ 76 h 7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8" h="76">
                    <a:moveTo>
                      <a:pt x="0" y="0"/>
                    </a:moveTo>
                    <a:lnTo>
                      <a:pt x="3" y="5"/>
                    </a:lnTo>
                    <a:lnTo>
                      <a:pt x="3" y="10"/>
                    </a:lnTo>
                    <a:lnTo>
                      <a:pt x="3" y="15"/>
                    </a:lnTo>
                    <a:lnTo>
                      <a:pt x="0" y="20"/>
                    </a:lnTo>
                    <a:lnTo>
                      <a:pt x="0" y="25"/>
                    </a:lnTo>
                    <a:lnTo>
                      <a:pt x="0" y="30"/>
                    </a:lnTo>
                    <a:lnTo>
                      <a:pt x="0" y="35"/>
                    </a:lnTo>
                    <a:lnTo>
                      <a:pt x="0" y="40"/>
                    </a:lnTo>
                    <a:lnTo>
                      <a:pt x="6" y="45"/>
                    </a:lnTo>
                    <a:lnTo>
                      <a:pt x="11" y="50"/>
                    </a:lnTo>
                    <a:lnTo>
                      <a:pt x="14" y="55"/>
                    </a:lnTo>
                    <a:lnTo>
                      <a:pt x="20" y="60"/>
                    </a:lnTo>
                    <a:lnTo>
                      <a:pt x="23" y="65"/>
                    </a:lnTo>
                    <a:lnTo>
                      <a:pt x="28" y="70"/>
                    </a:lnTo>
                    <a:lnTo>
                      <a:pt x="31" y="75"/>
                    </a:lnTo>
                    <a:lnTo>
                      <a:pt x="37" y="75"/>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691" name="Freeform 306"/>
              <p:cNvSpPr>
                <a:spLocks/>
              </p:cNvSpPr>
              <p:nvPr/>
            </p:nvSpPr>
            <p:spPr bwMode="auto">
              <a:xfrm>
                <a:off x="1943" y="2741"/>
                <a:ext cx="85" cy="51"/>
              </a:xfrm>
              <a:custGeom>
                <a:avLst/>
                <a:gdLst>
                  <a:gd name="T0" fmla="*/ 0 w 85"/>
                  <a:gd name="T1" fmla="*/ 50 h 51"/>
                  <a:gd name="T2" fmla="*/ 17 w 85"/>
                  <a:gd name="T3" fmla="*/ 43 h 51"/>
                  <a:gd name="T4" fmla="*/ 20 w 85"/>
                  <a:gd name="T5" fmla="*/ 38 h 51"/>
                  <a:gd name="T6" fmla="*/ 22 w 85"/>
                  <a:gd name="T7" fmla="*/ 33 h 51"/>
                  <a:gd name="T8" fmla="*/ 28 w 85"/>
                  <a:gd name="T9" fmla="*/ 30 h 51"/>
                  <a:gd name="T10" fmla="*/ 34 w 85"/>
                  <a:gd name="T11" fmla="*/ 30 h 51"/>
                  <a:gd name="T12" fmla="*/ 39 w 85"/>
                  <a:gd name="T13" fmla="*/ 30 h 51"/>
                  <a:gd name="T14" fmla="*/ 45 w 85"/>
                  <a:gd name="T15" fmla="*/ 30 h 51"/>
                  <a:gd name="T16" fmla="*/ 50 w 85"/>
                  <a:gd name="T17" fmla="*/ 30 h 51"/>
                  <a:gd name="T18" fmla="*/ 56 w 85"/>
                  <a:gd name="T19" fmla="*/ 30 h 51"/>
                  <a:gd name="T20" fmla="*/ 62 w 85"/>
                  <a:gd name="T21" fmla="*/ 28 h 51"/>
                  <a:gd name="T22" fmla="*/ 64 w 85"/>
                  <a:gd name="T23" fmla="*/ 23 h 51"/>
                  <a:gd name="T24" fmla="*/ 70 w 85"/>
                  <a:gd name="T25" fmla="*/ 18 h 51"/>
                  <a:gd name="T26" fmla="*/ 76 w 85"/>
                  <a:gd name="T27" fmla="*/ 15 h 51"/>
                  <a:gd name="T28" fmla="*/ 78 w 85"/>
                  <a:gd name="T29" fmla="*/ 10 h 51"/>
                  <a:gd name="T30" fmla="*/ 81 w 85"/>
                  <a:gd name="T31" fmla="*/ 5 h 51"/>
                  <a:gd name="T32" fmla="*/ 84 w 85"/>
                  <a:gd name="T33" fmla="*/ 0 h 5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5"/>
                  <a:gd name="T52" fmla="*/ 0 h 51"/>
                  <a:gd name="T53" fmla="*/ 85 w 85"/>
                  <a:gd name="T54" fmla="*/ 51 h 5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5" h="51">
                    <a:moveTo>
                      <a:pt x="0" y="50"/>
                    </a:moveTo>
                    <a:lnTo>
                      <a:pt x="17" y="43"/>
                    </a:lnTo>
                    <a:lnTo>
                      <a:pt x="20" y="38"/>
                    </a:lnTo>
                    <a:lnTo>
                      <a:pt x="22" y="33"/>
                    </a:lnTo>
                    <a:lnTo>
                      <a:pt x="28" y="30"/>
                    </a:lnTo>
                    <a:lnTo>
                      <a:pt x="34" y="30"/>
                    </a:lnTo>
                    <a:lnTo>
                      <a:pt x="39" y="30"/>
                    </a:lnTo>
                    <a:lnTo>
                      <a:pt x="45" y="30"/>
                    </a:lnTo>
                    <a:lnTo>
                      <a:pt x="50" y="30"/>
                    </a:lnTo>
                    <a:lnTo>
                      <a:pt x="56" y="30"/>
                    </a:lnTo>
                    <a:lnTo>
                      <a:pt x="62" y="28"/>
                    </a:lnTo>
                    <a:lnTo>
                      <a:pt x="64" y="23"/>
                    </a:lnTo>
                    <a:lnTo>
                      <a:pt x="70" y="18"/>
                    </a:lnTo>
                    <a:lnTo>
                      <a:pt x="76" y="15"/>
                    </a:lnTo>
                    <a:lnTo>
                      <a:pt x="78" y="10"/>
                    </a:lnTo>
                    <a:lnTo>
                      <a:pt x="81" y="5"/>
                    </a:lnTo>
                    <a:lnTo>
                      <a:pt x="84"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692" name="Freeform 307"/>
              <p:cNvSpPr>
                <a:spLocks/>
              </p:cNvSpPr>
              <p:nvPr/>
            </p:nvSpPr>
            <p:spPr bwMode="auto">
              <a:xfrm>
                <a:off x="1617" y="2684"/>
                <a:ext cx="145" cy="13"/>
              </a:xfrm>
              <a:custGeom>
                <a:avLst/>
                <a:gdLst>
                  <a:gd name="T0" fmla="*/ 0 w 145"/>
                  <a:gd name="T1" fmla="*/ 2 h 13"/>
                  <a:gd name="T2" fmla="*/ 17 w 145"/>
                  <a:gd name="T3" fmla="*/ 2 h 13"/>
                  <a:gd name="T4" fmla="*/ 23 w 145"/>
                  <a:gd name="T5" fmla="*/ 2 h 13"/>
                  <a:gd name="T6" fmla="*/ 28 w 145"/>
                  <a:gd name="T7" fmla="*/ 0 h 13"/>
                  <a:gd name="T8" fmla="*/ 34 w 145"/>
                  <a:gd name="T9" fmla="*/ 0 h 13"/>
                  <a:gd name="T10" fmla="*/ 40 w 145"/>
                  <a:gd name="T11" fmla="*/ 0 h 13"/>
                  <a:gd name="T12" fmla="*/ 45 w 145"/>
                  <a:gd name="T13" fmla="*/ 0 h 13"/>
                  <a:gd name="T14" fmla="*/ 59 w 145"/>
                  <a:gd name="T15" fmla="*/ 0 h 13"/>
                  <a:gd name="T16" fmla="*/ 71 w 145"/>
                  <a:gd name="T17" fmla="*/ 5 h 13"/>
                  <a:gd name="T18" fmla="*/ 82 w 145"/>
                  <a:gd name="T19" fmla="*/ 5 h 13"/>
                  <a:gd name="T20" fmla="*/ 93 w 145"/>
                  <a:gd name="T21" fmla="*/ 5 h 13"/>
                  <a:gd name="T22" fmla="*/ 104 w 145"/>
                  <a:gd name="T23" fmla="*/ 5 h 13"/>
                  <a:gd name="T24" fmla="*/ 116 w 145"/>
                  <a:gd name="T25" fmla="*/ 10 h 13"/>
                  <a:gd name="T26" fmla="*/ 127 w 145"/>
                  <a:gd name="T27" fmla="*/ 10 h 13"/>
                  <a:gd name="T28" fmla="*/ 133 w 145"/>
                  <a:gd name="T29" fmla="*/ 12 h 13"/>
                  <a:gd name="T30" fmla="*/ 138 w 145"/>
                  <a:gd name="T31" fmla="*/ 12 h 13"/>
                  <a:gd name="T32" fmla="*/ 144 w 145"/>
                  <a:gd name="T33" fmla="*/ 12 h 1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45"/>
                  <a:gd name="T52" fmla="*/ 0 h 13"/>
                  <a:gd name="T53" fmla="*/ 145 w 145"/>
                  <a:gd name="T54" fmla="*/ 13 h 1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45" h="13">
                    <a:moveTo>
                      <a:pt x="0" y="2"/>
                    </a:moveTo>
                    <a:lnTo>
                      <a:pt x="17" y="2"/>
                    </a:lnTo>
                    <a:lnTo>
                      <a:pt x="23" y="2"/>
                    </a:lnTo>
                    <a:lnTo>
                      <a:pt x="28" y="0"/>
                    </a:lnTo>
                    <a:lnTo>
                      <a:pt x="34" y="0"/>
                    </a:lnTo>
                    <a:lnTo>
                      <a:pt x="40" y="0"/>
                    </a:lnTo>
                    <a:lnTo>
                      <a:pt x="45" y="0"/>
                    </a:lnTo>
                    <a:lnTo>
                      <a:pt x="59" y="0"/>
                    </a:lnTo>
                    <a:lnTo>
                      <a:pt x="71" y="5"/>
                    </a:lnTo>
                    <a:lnTo>
                      <a:pt x="82" y="5"/>
                    </a:lnTo>
                    <a:lnTo>
                      <a:pt x="93" y="5"/>
                    </a:lnTo>
                    <a:lnTo>
                      <a:pt x="104" y="5"/>
                    </a:lnTo>
                    <a:lnTo>
                      <a:pt x="116" y="10"/>
                    </a:lnTo>
                    <a:lnTo>
                      <a:pt x="127" y="10"/>
                    </a:lnTo>
                    <a:lnTo>
                      <a:pt x="133" y="12"/>
                    </a:lnTo>
                    <a:lnTo>
                      <a:pt x="138" y="12"/>
                    </a:lnTo>
                    <a:lnTo>
                      <a:pt x="144" y="12"/>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693" name="Freeform 308"/>
              <p:cNvSpPr>
                <a:spLocks/>
              </p:cNvSpPr>
              <p:nvPr/>
            </p:nvSpPr>
            <p:spPr bwMode="auto">
              <a:xfrm>
                <a:off x="2093" y="2626"/>
                <a:ext cx="25" cy="146"/>
              </a:xfrm>
              <a:custGeom>
                <a:avLst/>
                <a:gdLst>
                  <a:gd name="T0" fmla="*/ 19 w 25"/>
                  <a:gd name="T1" fmla="*/ 0 h 146"/>
                  <a:gd name="T2" fmla="*/ 16 w 25"/>
                  <a:gd name="T3" fmla="*/ 5 h 146"/>
                  <a:gd name="T4" fmla="*/ 11 w 25"/>
                  <a:gd name="T5" fmla="*/ 10 h 146"/>
                  <a:gd name="T6" fmla="*/ 8 w 25"/>
                  <a:gd name="T7" fmla="*/ 15 h 146"/>
                  <a:gd name="T8" fmla="*/ 5 w 25"/>
                  <a:gd name="T9" fmla="*/ 20 h 146"/>
                  <a:gd name="T10" fmla="*/ 3 w 25"/>
                  <a:gd name="T11" fmla="*/ 25 h 146"/>
                  <a:gd name="T12" fmla="*/ 3 w 25"/>
                  <a:gd name="T13" fmla="*/ 30 h 146"/>
                  <a:gd name="T14" fmla="*/ 8 w 25"/>
                  <a:gd name="T15" fmla="*/ 43 h 146"/>
                  <a:gd name="T16" fmla="*/ 8 w 25"/>
                  <a:gd name="T17" fmla="*/ 53 h 146"/>
                  <a:gd name="T18" fmla="*/ 11 w 25"/>
                  <a:gd name="T19" fmla="*/ 65 h 146"/>
                  <a:gd name="T20" fmla="*/ 13 w 25"/>
                  <a:gd name="T21" fmla="*/ 78 h 146"/>
                  <a:gd name="T22" fmla="*/ 19 w 25"/>
                  <a:gd name="T23" fmla="*/ 88 h 146"/>
                  <a:gd name="T24" fmla="*/ 19 w 25"/>
                  <a:gd name="T25" fmla="*/ 98 h 146"/>
                  <a:gd name="T26" fmla="*/ 24 w 25"/>
                  <a:gd name="T27" fmla="*/ 108 h 146"/>
                  <a:gd name="T28" fmla="*/ 24 w 25"/>
                  <a:gd name="T29" fmla="*/ 118 h 146"/>
                  <a:gd name="T30" fmla="*/ 24 w 25"/>
                  <a:gd name="T31" fmla="*/ 128 h 146"/>
                  <a:gd name="T32" fmla="*/ 21 w 25"/>
                  <a:gd name="T33" fmla="*/ 133 h 146"/>
                  <a:gd name="T34" fmla="*/ 11 w 25"/>
                  <a:gd name="T35" fmla="*/ 138 h 146"/>
                  <a:gd name="T36" fmla="*/ 5 w 25"/>
                  <a:gd name="T37" fmla="*/ 143 h 146"/>
                  <a:gd name="T38" fmla="*/ 0 w 25"/>
                  <a:gd name="T39" fmla="*/ 145 h 14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5"/>
                  <a:gd name="T61" fmla="*/ 0 h 146"/>
                  <a:gd name="T62" fmla="*/ 25 w 25"/>
                  <a:gd name="T63" fmla="*/ 146 h 14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5" h="146">
                    <a:moveTo>
                      <a:pt x="19" y="0"/>
                    </a:moveTo>
                    <a:lnTo>
                      <a:pt x="16" y="5"/>
                    </a:lnTo>
                    <a:lnTo>
                      <a:pt x="11" y="10"/>
                    </a:lnTo>
                    <a:lnTo>
                      <a:pt x="8" y="15"/>
                    </a:lnTo>
                    <a:lnTo>
                      <a:pt x="5" y="20"/>
                    </a:lnTo>
                    <a:lnTo>
                      <a:pt x="3" y="25"/>
                    </a:lnTo>
                    <a:lnTo>
                      <a:pt x="3" y="30"/>
                    </a:lnTo>
                    <a:lnTo>
                      <a:pt x="8" y="43"/>
                    </a:lnTo>
                    <a:lnTo>
                      <a:pt x="8" y="53"/>
                    </a:lnTo>
                    <a:lnTo>
                      <a:pt x="11" y="65"/>
                    </a:lnTo>
                    <a:lnTo>
                      <a:pt x="13" y="78"/>
                    </a:lnTo>
                    <a:lnTo>
                      <a:pt x="19" y="88"/>
                    </a:lnTo>
                    <a:lnTo>
                      <a:pt x="19" y="98"/>
                    </a:lnTo>
                    <a:lnTo>
                      <a:pt x="24" y="108"/>
                    </a:lnTo>
                    <a:lnTo>
                      <a:pt x="24" y="118"/>
                    </a:lnTo>
                    <a:lnTo>
                      <a:pt x="24" y="128"/>
                    </a:lnTo>
                    <a:lnTo>
                      <a:pt x="21" y="133"/>
                    </a:lnTo>
                    <a:lnTo>
                      <a:pt x="11" y="138"/>
                    </a:lnTo>
                    <a:lnTo>
                      <a:pt x="5" y="143"/>
                    </a:lnTo>
                    <a:lnTo>
                      <a:pt x="0" y="145"/>
                    </a:lnTo>
                  </a:path>
                </a:pathLst>
              </a:custGeom>
              <a:noFill/>
              <a:ln w="12700" cap="rnd" cmpd="sng">
                <a:solidFill>
                  <a:srgbClr val="4BCD00"/>
                </a:solidFill>
                <a:prstDash val="solid"/>
                <a:round/>
                <a:headEnd type="none" w="med" len="med"/>
                <a:tailEnd type="none" w="med" len="med"/>
              </a:ln>
            </p:spPr>
            <p:txBody>
              <a:bodyPr/>
              <a:lstStyle/>
              <a:p>
                <a:endParaRPr lang="en-US"/>
              </a:p>
            </p:txBody>
          </p:sp>
        </p:grpSp>
        <p:grpSp>
          <p:nvGrpSpPr>
            <p:cNvPr id="17457" name="Group 309"/>
            <p:cNvGrpSpPr>
              <a:grpSpLocks/>
            </p:cNvGrpSpPr>
            <p:nvPr/>
          </p:nvGrpSpPr>
          <p:grpSpPr bwMode="auto">
            <a:xfrm>
              <a:off x="2106" y="3024"/>
              <a:ext cx="965" cy="391"/>
              <a:chOff x="4697" y="2982"/>
              <a:chExt cx="965" cy="391"/>
            </a:xfrm>
          </p:grpSpPr>
          <p:sp>
            <p:nvSpPr>
              <p:cNvPr id="17571" name="Oval 310"/>
              <p:cNvSpPr>
                <a:spLocks noChangeArrowheads="1"/>
              </p:cNvSpPr>
              <p:nvPr/>
            </p:nvSpPr>
            <p:spPr bwMode="auto">
              <a:xfrm>
                <a:off x="4745" y="3099"/>
                <a:ext cx="92"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572" name="Oval 311"/>
              <p:cNvSpPr>
                <a:spLocks noChangeArrowheads="1"/>
              </p:cNvSpPr>
              <p:nvPr/>
            </p:nvSpPr>
            <p:spPr bwMode="auto">
              <a:xfrm>
                <a:off x="4701" y="3128"/>
                <a:ext cx="92" cy="40"/>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573" name="Oval 312"/>
              <p:cNvSpPr>
                <a:spLocks noChangeArrowheads="1"/>
              </p:cNvSpPr>
              <p:nvPr/>
            </p:nvSpPr>
            <p:spPr bwMode="auto">
              <a:xfrm>
                <a:off x="4704" y="3177"/>
                <a:ext cx="93"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574" name="Oval 313"/>
              <p:cNvSpPr>
                <a:spLocks noChangeArrowheads="1"/>
              </p:cNvSpPr>
              <p:nvPr/>
            </p:nvSpPr>
            <p:spPr bwMode="auto">
              <a:xfrm rot="6360000">
                <a:off x="4703" y="3206"/>
                <a:ext cx="93"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rot="10800000" vert="eaVert" wrap="none" anchor="ctr"/>
              <a:lstStyle/>
              <a:p>
                <a:endParaRPr lang="en-NZ">
                  <a:latin typeface="Calibri" pitchFamily="34" charset="0"/>
                </a:endParaRPr>
              </a:p>
            </p:txBody>
          </p:sp>
          <p:sp>
            <p:nvSpPr>
              <p:cNvPr id="17575" name="Oval 314"/>
              <p:cNvSpPr>
                <a:spLocks noChangeArrowheads="1"/>
              </p:cNvSpPr>
              <p:nvPr/>
            </p:nvSpPr>
            <p:spPr bwMode="auto">
              <a:xfrm>
                <a:off x="4737" y="3257"/>
                <a:ext cx="91" cy="43"/>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576" name="Oval 315"/>
              <p:cNvSpPr>
                <a:spLocks noChangeArrowheads="1"/>
              </p:cNvSpPr>
              <p:nvPr/>
            </p:nvSpPr>
            <p:spPr bwMode="auto">
              <a:xfrm rot="-4800000">
                <a:off x="4682" y="3109"/>
                <a:ext cx="92" cy="42"/>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vert="eaVert" wrap="none" anchor="ctr"/>
              <a:lstStyle/>
              <a:p>
                <a:endParaRPr lang="en-NZ">
                  <a:latin typeface="Calibri" pitchFamily="34" charset="0"/>
                </a:endParaRPr>
              </a:p>
            </p:txBody>
          </p:sp>
          <p:sp>
            <p:nvSpPr>
              <p:cNvPr id="17577" name="Oval 316"/>
              <p:cNvSpPr>
                <a:spLocks noChangeArrowheads="1"/>
              </p:cNvSpPr>
              <p:nvPr/>
            </p:nvSpPr>
            <p:spPr bwMode="auto">
              <a:xfrm>
                <a:off x="4863" y="3307"/>
                <a:ext cx="92" cy="42"/>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578" name="Oval 317"/>
              <p:cNvSpPr>
                <a:spLocks noChangeArrowheads="1"/>
              </p:cNvSpPr>
              <p:nvPr/>
            </p:nvSpPr>
            <p:spPr bwMode="auto">
              <a:xfrm>
                <a:off x="4835" y="3255"/>
                <a:ext cx="93" cy="40"/>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579" name="Oval 318"/>
              <p:cNvSpPr>
                <a:spLocks noChangeArrowheads="1"/>
              </p:cNvSpPr>
              <p:nvPr/>
            </p:nvSpPr>
            <p:spPr bwMode="auto">
              <a:xfrm>
                <a:off x="4835" y="3205"/>
                <a:ext cx="93"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580" name="Oval 319"/>
              <p:cNvSpPr>
                <a:spLocks noChangeArrowheads="1"/>
              </p:cNvSpPr>
              <p:nvPr/>
            </p:nvSpPr>
            <p:spPr bwMode="auto">
              <a:xfrm>
                <a:off x="4942" y="3307"/>
                <a:ext cx="94" cy="42"/>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581" name="Oval 320"/>
              <p:cNvSpPr>
                <a:spLocks noChangeArrowheads="1"/>
              </p:cNvSpPr>
              <p:nvPr/>
            </p:nvSpPr>
            <p:spPr bwMode="auto">
              <a:xfrm>
                <a:off x="4935" y="3269"/>
                <a:ext cx="92"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582" name="Oval 321"/>
              <p:cNvSpPr>
                <a:spLocks noChangeArrowheads="1"/>
              </p:cNvSpPr>
              <p:nvPr/>
            </p:nvSpPr>
            <p:spPr bwMode="auto">
              <a:xfrm>
                <a:off x="4924" y="3226"/>
                <a:ext cx="90"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583" name="Oval 322"/>
              <p:cNvSpPr>
                <a:spLocks noChangeArrowheads="1"/>
              </p:cNvSpPr>
              <p:nvPr/>
            </p:nvSpPr>
            <p:spPr bwMode="auto">
              <a:xfrm>
                <a:off x="4831" y="3170"/>
                <a:ext cx="93"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584" name="Oval 323"/>
              <p:cNvSpPr>
                <a:spLocks noChangeArrowheads="1"/>
              </p:cNvSpPr>
              <p:nvPr/>
            </p:nvSpPr>
            <p:spPr bwMode="auto">
              <a:xfrm>
                <a:off x="4924" y="3180"/>
                <a:ext cx="90" cy="42"/>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585" name="Oval 324"/>
              <p:cNvSpPr>
                <a:spLocks noChangeArrowheads="1"/>
              </p:cNvSpPr>
              <p:nvPr/>
            </p:nvSpPr>
            <p:spPr bwMode="auto">
              <a:xfrm>
                <a:off x="5026" y="3321"/>
                <a:ext cx="93" cy="42"/>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586" name="Oval 325"/>
              <p:cNvSpPr>
                <a:spLocks noChangeArrowheads="1"/>
              </p:cNvSpPr>
              <p:nvPr/>
            </p:nvSpPr>
            <p:spPr bwMode="auto">
              <a:xfrm>
                <a:off x="5542" y="3032"/>
                <a:ext cx="92" cy="42"/>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587" name="Oval 326"/>
              <p:cNvSpPr>
                <a:spLocks noChangeArrowheads="1"/>
              </p:cNvSpPr>
              <p:nvPr/>
            </p:nvSpPr>
            <p:spPr bwMode="auto">
              <a:xfrm>
                <a:off x="5479" y="3071"/>
                <a:ext cx="91"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588" name="Oval 327"/>
              <p:cNvSpPr>
                <a:spLocks noChangeArrowheads="1"/>
              </p:cNvSpPr>
              <p:nvPr/>
            </p:nvSpPr>
            <p:spPr bwMode="auto">
              <a:xfrm>
                <a:off x="5559" y="3078"/>
                <a:ext cx="90"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589" name="Oval 328"/>
              <p:cNvSpPr>
                <a:spLocks noChangeArrowheads="1"/>
              </p:cNvSpPr>
              <p:nvPr/>
            </p:nvSpPr>
            <p:spPr bwMode="auto">
              <a:xfrm>
                <a:off x="5419" y="3116"/>
                <a:ext cx="92" cy="43"/>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590" name="Oval 329"/>
              <p:cNvSpPr>
                <a:spLocks noChangeArrowheads="1"/>
              </p:cNvSpPr>
              <p:nvPr/>
            </p:nvSpPr>
            <p:spPr bwMode="auto">
              <a:xfrm>
                <a:off x="5498" y="3116"/>
                <a:ext cx="92" cy="43"/>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591" name="Oval 330"/>
              <p:cNvSpPr>
                <a:spLocks noChangeArrowheads="1"/>
              </p:cNvSpPr>
              <p:nvPr/>
            </p:nvSpPr>
            <p:spPr bwMode="auto">
              <a:xfrm>
                <a:off x="5596" y="3122"/>
                <a:ext cx="48" cy="79"/>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592" name="Oval 331"/>
              <p:cNvSpPr>
                <a:spLocks noChangeArrowheads="1"/>
              </p:cNvSpPr>
              <p:nvPr/>
            </p:nvSpPr>
            <p:spPr bwMode="auto">
              <a:xfrm>
                <a:off x="5542" y="3212"/>
                <a:ext cx="92"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593" name="Oval 332"/>
              <p:cNvSpPr>
                <a:spLocks noChangeArrowheads="1"/>
              </p:cNvSpPr>
              <p:nvPr/>
            </p:nvSpPr>
            <p:spPr bwMode="auto">
              <a:xfrm>
                <a:off x="5538" y="3257"/>
                <a:ext cx="92" cy="43"/>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594" name="Oval 333"/>
              <p:cNvSpPr>
                <a:spLocks noChangeArrowheads="1"/>
              </p:cNvSpPr>
              <p:nvPr/>
            </p:nvSpPr>
            <p:spPr bwMode="auto">
              <a:xfrm>
                <a:off x="5498" y="3166"/>
                <a:ext cx="92" cy="42"/>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595" name="Oval 334"/>
              <p:cNvSpPr>
                <a:spLocks noChangeArrowheads="1"/>
              </p:cNvSpPr>
              <p:nvPr/>
            </p:nvSpPr>
            <p:spPr bwMode="auto">
              <a:xfrm>
                <a:off x="5463" y="3293"/>
                <a:ext cx="92" cy="42"/>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596" name="Oval 335"/>
              <p:cNvSpPr>
                <a:spLocks noChangeArrowheads="1"/>
              </p:cNvSpPr>
              <p:nvPr/>
            </p:nvSpPr>
            <p:spPr bwMode="auto">
              <a:xfrm>
                <a:off x="5466" y="3250"/>
                <a:ext cx="93" cy="43"/>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597" name="Oval 336"/>
              <p:cNvSpPr>
                <a:spLocks noChangeArrowheads="1"/>
              </p:cNvSpPr>
              <p:nvPr/>
            </p:nvSpPr>
            <p:spPr bwMode="auto">
              <a:xfrm>
                <a:off x="5459" y="3212"/>
                <a:ext cx="92"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598" name="Oval 337"/>
              <p:cNvSpPr>
                <a:spLocks noChangeArrowheads="1"/>
              </p:cNvSpPr>
              <p:nvPr/>
            </p:nvSpPr>
            <p:spPr bwMode="auto">
              <a:xfrm>
                <a:off x="5424" y="3163"/>
                <a:ext cx="91"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599" name="Oval 338"/>
              <p:cNvSpPr>
                <a:spLocks noChangeArrowheads="1"/>
              </p:cNvSpPr>
              <p:nvPr/>
            </p:nvSpPr>
            <p:spPr bwMode="auto">
              <a:xfrm>
                <a:off x="5407" y="3311"/>
                <a:ext cx="93"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600" name="Oval 339"/>
              <p:cNvSpPr>
                <a:spLocks noChangeArrowheads="1"/>
              </p:cNvSpPr>
              <p:nvPr/>
            </p:nvSpPr>
            <p:spPr bwMode="auto">
              <a:xfrm>
                <a:off x="4831" y="3102"/>
                <a:ext cx="93" cy="42"/>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601" name="Oval 340"/>
              <p:cNvSpPr>
                <a:spLocks noChangeArrowheads="1"/>
              </p:cNvSpPr>
              <p:nvPr/>
            </p:nvSpPr>
            <p:spPr bwMode="auto">
              <a:xfrm>
                <a:off x="4895" y="3137"/>
                <a:ext cx="93" cy="43"/>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602" name="Oval 341"/>
              <p:cNvSpPr>
                <a:spLocks noChangeArrowheads="1"/>
              </p:cNvSpPr>
              <p:nvPr/>
            </p:nvSpPr>
            <p:spPr bwMode="auto">
              <a:xfrm>
                <a:off x="4784" y="3057"/>
                <a:ext cx="92"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603" name="Oval 342"/>
              <p:cNvSpPr>
                <a:spLocks noChangeArrowheads="1"/>
              </p:cNvSpPr>
              <p:nvPr/>
            </p:nvSpPr>
            <p:spPr bwMode="auto">
              <a:xfrm>
                <a:off x="4697" y="3022"/>
                <a:ext cx="92"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604" name="Oval 343"/>
              <p:cNvSpPr>
                <a:spLocks noChangeArrowheads="1"/>
              </p:cNvSpPr>
              <p:nvPr/>
            </p:nvSpPr>
            <p:spPr bwMode="auto">
              <a:xfrm>
                <a:off x="5014" y="3201"/>
                <a:ext cx="92" cy="42"/>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605" name="Oval 344"/>
              <p:cNvSpPr>
                <a:spLocks noChangeArrowheads="1"/>
              </p:cNvSpPr>
              <p:nvPr/>
            </p:nvSpPr>
            <p:spPr bwMode="auto">
              <a:xfrm>
                <a:off x="5021" y="3243"/>
                <a:ext cx="94" cy="43"/>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606" name="Oval 345"/>
              <p:cNvSpPr>
                <a:spLocks noChangeArrowheads="1"/>
              </p:cNvSpPr>
              <p:nvPr/>
            </p:nvSpPr>
            <p:spPr bwMode="auto">
              <a:xfrm>
                <a:off x="5019" y="3283"/>
                <a:ext cx="91"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607" name="Oval 346"/>
              <p:cNvSpPr>
                <a:spLocks noChangeArrowheads="1"/>
              </p:cNvSpPr>
              <p:nvPr/>
            </p:nvSpPr>
            <p:spPr bwMode="auto">
              <a:xfrm>
                <a:off x="5369" y="3205"/>
                <a:ext cx="90"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608" name="Oval 347"/>
              <p:cNvSpPr>
                <a:spLocks noChangeArrowheads="1"/>
              </p:cNvSpPr>
              <p:nvPr/>
            </p:nvSpPr>
            <p:spPr bwMode="auto">
              <a:xfrm>
                <a:off x="5380" y="3276"/>
                <a:ext cx="92"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609" name="Oval 348"/>
              <p:cNvSpPr>
                <a:spLocks noChangeArrowheads="1"/>
              </p:cNvSpPr>
              <p:nvPr/>
            </p:nvSpPr>
            <p:spPr bwMode="auto">
              <a:xfrm>
                <a:off x="5323" y="3314"/>
                <a:ext cx="94" cy="42"/>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610" name="Oval 349"/>
              <p:cNvSpPr>
                <a:spLocks noChangeArrowheads="1"/>
              </p:cNvSpPr>
              <p:nvPr/>
            </p:nvSpPr>
            <p:spPr bwMode="auto">
              <a:xfrm>
                <a:off x="4990" y="3152"/>
                <a:ext cx="92" cy="42"/>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611" name="Oval 350"/>
              <p:cNvSpPr>
                <a:spLocks noChangeArrowheads="1"/>
              </p:cNvSpPr>
              <p:nvPr/>
            </p:nvSpPr>
            <p:spPr bwMode="auto">
              <a:xfrm>
                <a:off x="5242" y="3328"/>
                <a:ext cx="90" cy="42"/>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612" name="Oval 351"/>
              <p:cNvSpPr>
                <a:spLocks noChangeArrowheads="1"/>
              </p:cNvSpPr>
              <p:nvPr/>
            </p:nvSpPr>
            <p:spPr bwMode="auto">
              <a:xfrm>
                <a:off x="5082" y="3328"/>
                <a:ext cx="92" cy="42"/>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613" name="Oval 352"/>
              <p:cNvSpPr>
                <a:spLocks noChangeArrowheads="1"/>
              </p:cNvSpPr>
              <p:nvPr/>
            </p:nvSpPr>
            <p:spPr bwMode="auto">
              <a:xfrm>
                <a:off x="5170" y="3332"/>
                <a:ext cx="91"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614" name="Oval 353"/>
              <p:cNvSpPr>
                <a:spLocks noChangeArrowheads="1"/>
              </p:cNvSpPr>
              <p:nvPr/>
            </p:nvSpPr>
            <p:spPr bwMode="auto">
              <a:xfrm>
                <a:off x="5225" y="3290"/>
                <a:ext cx="91"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615" name="Oval 354"/>
              <p:cNvSpPr>
                <a:spLocks noChangeArrowheads="1"/>
              </p:cNvSpPr>
              <p:nvPr/>
            </p:nvSpPr>
            <p:spPr bwMode="auto">
              <a:xfrm>
                <a:off x="5106" y="3269"/>
                <a:ext cx="92"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616" name="Oval 355"/>
              <p:cNvSpPr>
                <a:spLocks noChangeArrowheads="1"/>
              </p:cNvSpPr>
              <p:nvPr/>
            </p:nvSpPr>
            <p:spPr bwMode="auto">
              <a:xfrm>
                <a:off x="5189" y="3255"/>
                <a:ext cx="92" cy="40"/>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617" name="Oval 356"/>
              <p:cNvSpPr>
                <a:spLocks noChangeArrowheads="1"/>
              </p:cNvSpPr>
              <p:nvPr/>
            </p:nvSpPr>
            <p:spPr bwMode="auto">
              <a:xfrm>
                <a:off x="5297" y="3271"/>
                <a:ext cx="91" cy="43"/>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618" name="Oval 357"/>
              <p:cNvSpPr>
                <a:spLocks noChangeArrowheads="1"/>
              </p:cNvSpPr>
              <p:nvPr/>
            </p:nvSpPr>
            <p:spPr bwMode="auto">
              <a:xfrm>
                <a:off x="5280" y="3229"/>
                <a:ext cx="93" cy="42"/>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619" name="Oval 358"/>
              <p:cNvSpPr>
                <a:spLocks noChangeArrowheads="1"/>
              </p:cNvSpPr>
              <p:nvPr/>
            </p:nvSpPr>
            <p:spPr bwMode="auto">
              <a:xfrm>
                <a:off x="5110" y="3226"/>
                <a:ext cx="91"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620" name="Oval 359"/>
              <p:cNvSpPr>
                <a:spLocks noChangeArrowheads="1"/>
              </p:cNvSpPr>
              <p:nvPr/>
            </p:nvSpPr>
            <p:spPr bwMode="auto">
              <a:xfrm>
                <a:off x="5093" y="3180"/>
                <a:ext cx="92" cy="42"/>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621" name="Oval 360"/>
              <p:cNvSpPr>
                <a:spLocks noChangeArrowheads="1"/>
              </p:cNvSpPr>
              <p:nvPr/>
            </p:nvSpPr>
            <p:spPr bwMode="auto">
              <a:xfrm>
                <a:off x="5196" y="3212"/>
                <a:ext cx="94"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622" name="Oval 361"/>
              <p:cNvSpPr>
                <a:spLocks noChangeArrowheads="1"/>
              </p:cNvSpPr>
              <p:nvPr/>
            </p:nvSpPr>
            <p:spPr bwMode="auto">
              <a:xfrm>
                <a:off x="4947" y="3106"/>
                <a:ext cx="93"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623" name="Oval 362"/>
              <p:cNvSpPr>
                <a:spLocks noChangeArrowheads="1"/>
              </p:cNvSpPr>
              <p:nvPr/>
            </p:nvSpPr>
            <p:spPr bwMode="auto">
              <a:xfrm>
                <a:off x="4883" y="3064"/>
                <a:ext cx="93"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624" name="Oval 363"/>
              <p:cNvSpPr>
                <a:spLocks noChangeArrowheads="1"/>
              </p:cNvSpPr>
              <p:nvPr/>
            </p:nvSpPr>
            <p:spPr bwMode="auto">
              <a:xfrm>
                <a:off x="5078" y="3137"/>
                <a:ext cx="92" cy="43"/>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625" name="Oval 364"/>
              <p:cNvSpPr>
                <a:spLocks noChangeArrowheads="1"/>
              </p:cNvSpPr>
              <p:nvPr/>
            </p:nvSpPr>
            <p:spPr bwMode="auto">
              <a:xfrm>
                <a:off x="5178" y="3170"/>
                <a:ext cx="90"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626" name="Oval 365"/>
              <p:cNvSpPr>
                <a:spLocks noChangeArrowheads="1"/>
              </p:cNvSpPr>
              <p:nvPr/>
            </p:nvSpPr>
            <p:spPr bwMode="auto">
              <a:xfrm>
                <a:off x="5253" y="3184"/>
                <a:ext cx="92"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627" name="Oval 366"/>
              <p:cNvSpPr>
                <a:spLocks noChangeArrowheads="1"/>
              </p:cNvSpPr>
              <p:nvPr/>
            </p:nvSpPr>
            <p:spPr bwMode="auto">
              <a:xfrm>
                <a:off x="5332" y="3156"/>
                <a:ext cx="92"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628" name="Oval 367"/>
              <p:cNvSpPr>
                <a:spLocks noChangeArrowheads="1"/>
              </p:cNvSpPr>
              <p:nvPr/>
            </p:nvSpPr>
            <p:spPr bwMode="auto">
              <a:xfrm>
                <a:off x="5321" y="3109"/>
                <a:ext cx="91" cy="43"/>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629" name="Oval 368"/>
              <p:cNvSpPr>
                <a:spLocks noChangeArrowheads="1"/>
              </p:cNvSpPr>
              <p:nvPr/>
            </p:nvSpPr>
            <p:spPr bwMode="auto">
              <a:xfrm>
                <a:off x="5244" y="3130"/>
                <a:ext cx="92" cy="43"/>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630" name="Oval 369"/>
              <p:cNvSpPr>
                <a:spLocks noChangeArrowheads="1"/>
              </p:cNvSpPr>
              <p:nvPr/>
            </p:nvSpPr>
            <p:spPr bwMode="auto">
              <a:xfrm>
                <a:off x="5387" y="3071"/>
                <a:ext cx="93"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631" name="Oval 370"/>
              <p:cNvSpPr>
                <a:spLocks noChangeArrowheads="1"/>
              </p:cNvSpPr>
              <p:nvPr/>
            </p:nvSpPr>
            <p:spPr bwMode="auto">
              <a:xfrm>
                <a:off x="5038" y="3095"/>
                <a:ext cx="92" cy="42"/>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632" name="Oval 371"/>
              <p:cNvSpPr>
                <a:spLocks noChangeArrowheads="1"/>
              </p:cNvSpPr>
              <p:nvPr/>
            </p:nvSpPr>
            <p:spPr bwMode="auto">
              <a:xfrm>
                <a:off x="5126" y="3095"/>
                <a:ext cx="92" cy="42"/>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633" name="Oval 372"/>
              <p:cNvSpPr>
                <a:spLocks noChangeArrowheads="1"/>
              </p:cNvSpPr>
              <p:nvPr/>
            </p:nvSpPr>
            <p:spPr bwMode="auto">
              <a:xfrm>
                <a:off x="5225" y="3095"/>
                <a:ext cx="91" cy="42"/>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634" name="Oval 373"/>
              <p:cNvSpPr>
                <a:spLocks noChangeArrowheads="1"/>
              </p:cNvSpPr>
              <p:nvPr/>
            </p:nvSpPr>
            <p:spPr bwMode="auto">
              <a:xfrm>
                <a:off x="5301" y="3064"/>
                <a:ext cx="90"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635" name="Oval 374"/>
              <p:cNvSpPr>
                <a:spLocks noChangeArrowheads="1"/>
              </p:cNvSpPr>
              <p:nvPr/>
            </p:nvSpPr>
            <p:spPr bwMode="auto">
              <a:xfrm>
                <a:off x="4983" y="3060"/>
                <a:ext cx="91" cy="42"/>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636" name="Oval 375"/>
              <p:cNvSpPr>
                <a:spLocks noChangeArrowheads="1"/>
              </p:cNvSpPr>
              <p:nvPr/>
            </p:nvSpPr>
            <p:spPr bwMode="auto">
              <a:xfrm>
                <a:off x="5082" y="3053"/>
                <a:ext cx="92" cy="42"/>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637" name="Oval 376"/>
              <p:cNvSpPr>
                <a:spLocks noChangeArrowheads="1"/>
              </p:cNvSpPr>
              <p:nvPr/>
            </p:nvSpPr>
            <p:spPr bwMode="auto">
              <a:xfrm>
                <a:off x="5181" y="3057"/>
                <a:ext cx="92"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638" name="Oval 377"/>
              <p:cNvSpPr>
                <a:spLocks noChangeArrowheads="1"/>
              </p:cNvSpPr>
              <p:nvPr/>
            </p:nvSpPr>
            <p:spPr bwMode="auto">
              <a:xfrm>
                <a:off x="5253" y="3029"/>
                <a:ext cx="92"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639" name="Oval 378"/>
              <p:cNvSpPr>
                <a:spLocks noChangeArrowheads="1"/>
              </p:cNvSpPr>
              <p:nvPr/>
            </p:nvSpPr>
            <p:spPr bwMode="auto">
              <a:xfrm>
                <a:off x="5343" y="3018"/>
                <a:ext cx="93" cy="42"/>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640" name="Oval 379"/>
              <p:cNvSpPr>
                <a:spLocks noChangeArrowheads="1"/>
              </p:cNvSpPr>
              <p:nvPr/>
            </p:nvSpPr>
            <p:spPr bwMode="auto">
              <a:xfrm>
                <a:off x="5439" y="3018"/>
                <a:ext cx="92" cy="42"/>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641" name="Oval 380"/>
              <p:cNvSpPr>
                <a:spLocks noChangeArrowheads="1"/>
              </p:cNvSpPr>
              <p:nvPr/>
            </p:nvSpPr>
            <p:spPr bwMode="auto">
              <a:xfrm>
                <a:off x="5141" y="3015"/>
                <a:ext cx="92"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642" name="Oval 381"/>
              <p:cNvSpPr>
                <a:spLocks noChangeArrowheads="1"/>
              </p:cNvSpPr>
              <p:nvPr/>
            </p:nvSpPr>
            <p:spPr bwMode="auto">
              <a:xfrm>
                <a:off x="5054" y="3010"/>
                <a:ext cx="92" cy="43"/>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643" name="Oval 382"/>
              <p:cNvSpPr>
                <a:spLocks noChangeArrowheads="1"/>
              </p:cNvSpPr>
              <p:nvPr/>
            </p:nvSpPr>
            <p:spPr bwMode="auto">
              <a:xfrm>
                <a:off x="4971" y="3018"/>
                <a:ext cx="91" cy="42"/>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644" name="Oval 383"/>
              <p:cNvSpPr>
                <a:spLocks noChangeArrowheads="1"/>
              </p:cNvSpPr>
              <p:nvPr/>
            </p:nvSpPr>
            <p:spPr bwMode="auto">
              <a:xfrm>
                <a:off x="4879" y="3022"/>
                <a:ext cx="93" cy="41"/>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645" name="Oval 384"/>
              <p:cNvSpPr>
                <a:spLocks noChangeArrowheads="1"/>
              </p:cNvSpPr>
              <p:nvPr/>
            </p:nvSpPr>
            <p:spPr bwMode="auto">
              <a:xfrm>
                <a:off x="4789" y="3010"/>
                <a:ext cx="91" cy="43"/>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646" name="Oval 385"/>
              <p:cNvSpPr>
                <a:spLocks noChangeArrowheads="1"/>
              </p:cNvSpPr>
              <p:nvPr/>
            </p:nvSpPr>
            <p:spPr bwMode="auto">
              <a:xfrm>
                <a:off x="4701" y="2982"/>
                <a:ext cx="92" cy="43"/>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647" name="Oval 386"/>
              <p:cNvSpPr>
                <a:spLocks noChangeArrowheads="1"/>
              </p:cNvSpPr>
              <p:nvPr/>
            </p:nvSpPr>
            <p:spPr bwMode="auto">
              <a:xfrm>
                <a:off x="4721" y="3056"/>
                <a:ext cx="92" cy="42"/>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648" name="Oval 387"/>
              <p:cNvSpPr>
                <a:spLocks noChangeArrowheads="1"/>
              </p:cNvSpPr>
              <p:nvPr/>
            </p:nvSpPr>
            <p:spPr bwMode="auto">
              <a:xfrm>
                <a:off x="5164" y="3132"/>
                <a:ext cx="92" cy="42"/>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649" name="Oval 388"/>
              <p:cNvSpPr>
                <a:spLocks noChangeArrowheads="1"/>
              </p:cNvSpPr>
              <p:nvPr/>
            </p:nvSpPr>
            <p:spPr bwMode="auto">
              <a:xfrm>
                <a:off x="5373" y="3236"/>
                <a:ext cx="91" cy="43"/>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650" name="Oval 389"/>
              <p:cNvSpPr>
                <a:spLocks noChangeArrowheads="1"/>
              </p:cNvSpPr>
              <p:nvPr/>
            </p:nvSpPr>
            <p:spPr bwMode="auto">
              <a:xfrm>
                <a:off x="5130" y="3295"/>
                <a:ext cx="92" cy="43"/>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651" name="Oval 390"/>
              <p:cNvSpPr>
                <a:spLocks noChangeArrowheads="1"/>
              </p:cNvSpPr>
              <p:nvPr/>
            </p:nvSpPr>
            <p:spPr bwMode="auto">
              <a:xfrm>
                <a:off x="4789" y="3290"/>
                <a:ext cx="91" cy="42"/>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652" name="Oval 391"/>
              <p:cNvSpPr>
                <a:spLocks noChangeArrowheads="1"/>
              </p:cNvSpPr>
              <p:nvPr/>
            </p:nvSpPr>
            <p:spPr bwMode="auto">
              <a:xfrm>
                <a:off x="4777" y="3146"/>
                <a:ext cx="92" cy="42"/>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653" name="Oval 392"/>
              <p:cNvSpPr>
                <a:spLocks noChangeArrowheads="1"/>
              </p:cNvSpPr>
              <p:nvPr/>
            </p:nvSpPr>
            <p:spPr bwMode="auto">
              <a:xfrm>
                <a:off x="4760" y="3197"/>
                <a:ext cx="92" cy="42"/>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654" name="Oval 393"/>
              <p:cNvSpPr>
                <a:spLocks noChangeArrowheads="1"/>
              </p:cNvSpPr>
              <p:nvPr/>
            </p:nvSpPr>
            <p:spPr bwMode="auto">
              <a:xfrm>
                <a:off x="4769" y="3228"/>
                <a:ext cx="92" cy="42"/>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655" name="Oval 394"/>
              <p:cNvSpPr>
                <a:spLocks noChangeArrowheads="1"/>
              </p:cNvSpPr>
              <p:nvPr/>
            </p:nvSpPr>
            <p:spPr bwMode="auto">
              <a:xfrm>
                <a:off x="5570" y="3047"/>
                <a:ext cx="92" cy="42"/>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656" name="Oval 395"/>
              <p:cNvSpPr>
                <a:spLocks noChangeArrowheads="1"/>
              </p:cNvSpPr>
              <p:nvPr/>
            </p:nvSpPr>
            <p:spPr bwMode="auto">
              <a:xfrm>
                <a:off x="5567" y="3188"/>
                <a:ext cx="92" cy="43"/>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sp>
            <p:nvSpPr>
              <p:cNvPr id="17657" name="Oval 396"/>
              <p:cNvSpPr>
                <a:spLocks noChangeArrowheads="1"/>
              </p:cNvSpPr>
              <p:nvPr/>
            </p:nvSpPr>
            <p:spPr bwMode="auto">
              <a:xfrm>
                <a:off x="5567" y="3236"/>
                <a:ext cx="92" cy="43"/>
              </a:xfrm>
              <a:prstGeom prst="ellipse">
                <a:avLst/>
              </a:prstGeom>
              <a:gradFill rotWithShape="0">
                <a:gsLst>
                  <a:gs pos="0">
                    <a:srgbClr val="EF9100"/>
                  </a:gs>
                  <a:gs pos="100000">
                    <a:srgbClr val="774800"/>
                  </a:gs>
                </a:gsLst>
                <a:lin ang="0" scaled="1"/>
              </a:gradFill>
              <a:ln w="3175">
                <a:solidFill>
                  <a:schemeClr val="bg2"/>
                </a:solidFill>
                <a:round/>
                <a:headEnd/>
                <a:tailEnd/>
              </a:ln>
            </p:spPr>
            <p:txBody>
              <a:bodyPr wrap="none" anchor="ctr"/>
              <a:lstStyle/>
              <a:p>
                <a:endParaRPr lang="en-NZ">
                  <a:latin typeface="Calibri" pitchFamily="34" charset="0"/>
                </a:endParaRPr>
              </a:p>
            </p:txBody>
          </p:sp>
        </p:grpSp>
        <p:grpSp>
          <p:nvGrpSpPr>
            <p:cNvPr id="17458" name="Group 397"/>
            <p:cNvGrpSpPr>
              <a:grpSpLocks/>
            </p:cNvGrpSpPr>
            <p:nvPr/>
          </p:nvGrpSpPr>
          <p:grpSpPr bwMode="auto">
            <a:xfrm>
              <a:off x="2142" y="3009"/>
              <a:ext cx="921" cy="354"/>
              <a:chOff x="1521" y="2626"/>
              <a:chExt cx="653" cy="251"/>
            </a:xfrm>
          </p:grpSpPr>
          <p:sp>
            <p:nvSpPr>
              <p:cNvPr id="17535" name="Freeform 398"/>
              <p:cNvSpPr>
                <a:spLocks/>
              </p:cNvSpPr>
              <p:nvPr/>
            </p:nvSpPr>
            <p:spPr bwMode="auto">
              <a:xfrm>
                <a:off x="1581" y="2666"/>
                <a:ext cx="57" cy="96"/>
              </a:xfrm>
              <a:custGeom>
                <a:avLst/>
                <a:gdLst>
                  <a:gd name="T0" fmla="*/ 0 w 57"/>
                  <a:gd name="T1" fmla="*/ 0 h 96"/>
                  <a:gd name="T2" fmla="*/ 6 w 57"/>
                  <a:gd name="T3" fmla="*/ 0 h 96"/>
                  <a:gd name="T4" fmla="*/ 8 w 57"/>
                  <a:gd name="T5" fmla="*/ 5 h 96"/>
                  <a:gd name="T6" fmla="*/ 14 w 57"/>
                  <a:gd name="T7" fmla="*/ 8 h 96"/>
                  <a:gd name="T8" fmla="*/ 17 w 57"/>
                  <a:gd name="T9" fmla="*/ 13 h 96"/>
                  <a:gd name="T10" fmla="*/ 20 w 57"/>
                  <a:gd name="T11" fmla="*/ 18 h 96"/>
                  <a:gd name="T12" fmla="*/ 28 w 57"/>
                  <a:gd name="T13" fmla="*/ 40 h 96"/>
                  <a:gd name="T14" fmla="*/ 28 w 57"/>
                  <a:gd name="T15" fmla="*/ 50 h 96"/>
                  <a:gd name="T16" fmla="*/ 34 w 57"/>
                  <a:gd name="T17" fmla="*/ 60 h 96"/>
                  <a:gd name="T18" fmla="*/ 34 w 57"/>
                  <a:gd name="T19" fmla="*/ 70 h 96"/>
                  <a:gd name="T20" fmla="*/ 34 w 57"/>
                  <a:gd name="T21" fmla="*/ 80 h 96"/>
                  <a:gd name="T22" fmla="*/ 45 w 57"/>
                  <a:gd name="T23" fmla="*/ 80 h 96"/>
                  <a:gd name="T24" fmla="*/ 45 w 57"/>
                  <a:gd name="T25" fmla="*/ 85 h 96"/>
                  <a:gd name="T26" fmla="*/ 48 w 57"/>
                  <a:gd name="T27" fmla="*/ 90 h 96"/>
                  <a:gd name="T28" fmla="*/ 50 w 57"/>
                  <a:gd name="T29" fmla="*/ 95 h 96"/>
                  <a:gd name="T30" fmla="*/ 56 w 57"/>
                  <a:gd name="T31" fmla="*/ 93 h 9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7"/>
                  <a:gd name="T49" fmla="*/ 0 h 96"/>
                  <a:gd name="T50" fmla="*/ 57 w 57"/>
                  <a:gd name="T51" fmla="*/ 96 h 9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7" h="96">
                    <a:moveTo>
                      <a:pt x="0" y="0"/>
                    </a:moveTo>
                    <a:lnTo>
                      <a:pt x="6" y="0"/>
                    </a:lnTo>
                    <a:lnTo>
                      <a:pt x="8" y="5"/>
                    </a:lnTo>
                    <a:lnTo>
                      <a:pt x="14" y="8"/>
                    </a:lnTo>
                    <a:lnTo>
                      <a:pt x="17" y="13"/>
                    </a:lnTo>
                    <a:lnTo>
                      <a:pt x="20" y="18"/>
                    </a:lnTo>
                    <a:lnTo>
                      <a:pt x="28" y="40"/>
                    </a:lnTo>
                    <a:lnTo>
                      <a:pt x="28" y="50"/>
                    </a:lnTo>
                    <a:lnTo>
                      <a:pt x="34" y="60"/>
                    </a:lnTo>
                    <a:lnTo>
                      <a:pt x="34" y="70"/>
                    </a:lnTo>
                    <a:lnTo>
                      <a:pt x="34" y="80"/>
                    </a:lnTo>
                    <a:lnTo>
                      <a:pt x="45" y="80"/>
                    </a:lnTo>
                    <a:lnTo>
                      <a:pt x="45" y="85"/>
                    </a:lnTo>
                    <a:lnTo>
                      <a:pt x="48" y="90"/>
                    </a:lnTo>
                    <a:lnTo>
                      <a:pt x="50" y="95"/>
                    </a:lnTo>
                    <a:lnTo>
                      <a:pt x="56" y="93"/>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36" name="Freeform 399"/>
              <p:cNvSpPr>
                <a:spLocks/>
              </p:cNvSpPr>
              <p:nvPr/>
            </p:nvSpPr>
            <p:spPr bwMode="auto">
              <a:xfrm>
                <a:off x="1561" y="2649"/>
                <a:ext cx="161" cy="68"/>
              </a:xfrm>
              <a:custGeom>
                <a:avLst/>
                <a:gdLst>
                  <a:gd name="T0" fmla="*/ 0 w 161"/>
                  <a:gd name="T1" fmla="*/ 67 h 68"/>
                  <a:gd name="T2" fmla="*/ 39 w 161"/>
                  <a:gd name="T3" fmla="*/ 57 h 68"/>
                  <a:gd name="T4" fmla="*/ 45 w 161"/>
                  <a:gd name="T5" fmla="*/ 57 h 68"/>
                  <a:gd name="T6" fmla="*/ 51 w 161"/>
                  <a:gd name="T7" fmla="*/ 60 h 68"/>
                  <a:gd name="T8" fmla="*/ 56 w 161"/>
                  <a:gd name="T9" fmla="*/ 60 h 68"/>
                  <a:gd name="T10" fmla="*/ 62 w 161"/>
                  <a:gd name="T11" fmla="*/ 60 h 68"/>
                  <a:gd name="T12" fmla="*/ 67 w 161"/>
                  <a:gd name="T13" fmla="*/ 60 h 68"/>
                  <a:gd name="T14" fmla="*/ 81 w 161"/>
                  <a:gd name="T15" fmla="*/ 55 h 68"/>
                  <a:gd name="T16" fmla="*/ 87 w 161"/>
                  <a:gd name="T17" fmla="*/ 52 h 68"/>
                  <a:gd name="T18" fmla="*/ 121 w 161"/>
                  <a:gd name="T19" fmla="*/ 32 h 68"/>
                  <a:gd name="T20" fmla="*/ 138 w 161"/>
                  <a:gd name="T21" fmla="*/ 17 h 68"/>
                  <a:gd name="T22" fmla="*/ 138 w 161"/>
                  <a:gd name="T23" fmla="*/ 12 h 68"/>
                  <a:gd name="T24" fmla="*/ 143 w 161"/>
                  <a:gd name="T25" fmla="*/ 12 h 68"/>
                  <a:gd name="T26" fmla="*/ 149 w 161"/>
                  <a:gd name="T27" fmla="*/ 7 h 68"/>
                  <a:gd name="T28" fmla="*/ 154 w 161"/>
                  <a:gd name="T29" fmla="*/ 2 h 68"/>
                  <a:gd name="T30" fmla="*/ 160 w 161"/>
                  <a:gd name="T31" fmla="*/ 0 h 6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61"/>
                  <a:gd name="T49" fmla="*/ 0 h 68"/>
                  <a:gd name="T50" fmla="*/ 161 w 161"/>
                  <a:gd name="T51" fmla="*/ 68 h 6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61" h="68">
                    <a:moveTo>
                      <a:pt x="0" y="67"/>
                    </a:moveTo>
                    <a:lnTo>
                      <a:pt x="39" y="57"/>
                    </a:lnTo>
                    <a:lnTo>
                      <a:pt x="45" y="57"/>
                    </a:lnTo>
                    <a:lnTo>
                      <a:pt x="51" y="60"/>
                    </a:lnTo>
                    <a:lnTo>
                      <a:pt x="56" y="60"/>
                    </a:lnTo>
                    <a:lnTo>
                      <a:pt x="62" y="60"/>
                    </a:lnTo>
                    <a:lnTo>
                      <a:pt x="67" y="60"/>
                    </a:lnTo>
                    <a:lnTo>
                      <a:pt x="81" y="55"/>
                    </a:lnTo>
                    <a:lnTo>
                      <a:pt x="87" y="52"/>
                    </a:lnTo>
                    <a:lnTo>
                      <a:pt x="121" y="32"/>
                    </a:lnTo>
                    <a:lnTo>
                      <a:pt x="138" y="17"/>
                    </a:lnTo>
                    <a:lnTo>
                      <a:pt x="138" y="12"/>
                    </a:lnTo>
                    <a:lnTo>
                      <a:pt x="143" y="12"/>
                    </a:lnTo>
                    <a:lnTo>
                      <a:pt x="149" y="7"/>
                    </a:lnTo>
                    <a:lnTo>
                      <a:pt x="154" y="2"/>
                    </a:lnTo>
                    <a:lnTo>
                      <a:pt x="160"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37" name="Freeform 400"/>
              <p:cNvSpPr>
                <a:spLocks/>
              </p:cNvSpPr>
              <p:nvPr/>
            </p:nvSpPr>
            <p:spPr bwMode="auto">
              <a:xfrm>
                <a:off x="1530" y="2759"/>
                <a:ext cx="80" cy="73"/>
              </a:xfrm>
              <a:custGeom>
                <a:avLst/>
                <a:gdLst>
                  <a:gd name="T0" fmla="*/ 0 w 80"/>
                  <a:gd name="T1" fmla="*/ 0 h 73"/>
                  <a:gd name="T2" fmla="*/ 20 w 80"/>
                  <a:gd name="T3" fmla="*/ 10 h 73"/>
                  <a:gd name="T4" fmla="*/ 20 w 80"/>
                  <a:gd name="T5" fmla="*/ 15 h 73"/>
                  <a:gd name="T6" fmla="*/ 23 w 80"/>
                  <a:gd name="T7" fmla="*/ 20 h 73"/>
                  <a:gd name="T8" fmla="*/ 23 w 80"/>
                  <a:gd name="T9" fmla="*/ 25 h 73"/>
                  <a:gd name="T10" fmla="*/ 28 w 80"/>
                  <a:gd name="T11" fmla="*/ 30 h 73"/>
                  <a:gd name="T12" fmla="*/ 34 w 80"/>
                  <a:gd name="T13" fmla="*/ 32 h 73"/>
                  <a:gd name="T14" fmla="*/ 40 w 80"/>
                  <a:gd name="T15" fmla="*/ 35 h 73"/>
                  <a:gd name="T16" fmla="*/ 45 w 80"/>
                  <a:gd name="T17" fmla="*/ 37 h 73"/>
                  <a:gd name="T18" fmla="*/ 51 w 80"/>
                  <a:gd name="T19" fmla="*/ 40 h 73"/>
                  <a:gd name="T20" fmla="*/ 54 w 80"/>
                  <a:gd name="T21" fmla="*/ 45 h 73"/>
                  <a:gd name="T22" fmla="*/ 59 w 80"/>
                  <a:gd name="T23" fmla="*/ 50 h 73"/>
                  <a:gd name="T24" fmla="*/ 62 w 80"/>
                  <a:gd name="T25" fmla="*/ 55 h 73"/>
                  <a:gd name="T26" fmla="*/ 65 w 80"/>
                  <a:gd name="T27" fmla="*/ 60 h 73"/>
                  <a:gd name="T28" fmla="*/ 71 w 80"/>
                  <a:gd name="T29" fmla="*/ 65 h 73"/>
                  <a:gd name="T30" fmla="*/ 76 w 80"/>
                  <a:gd name="T31" fmla="*/ 67 h 73"/>
                  <a:gd name="T32" fmla="*/ 79 w 80"/>
                  <a:gd name="T33" fmla="*/ 72 h 7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0"/>
                  <a:gd name="T52" fmla="*/ 0 h 73"/>
                  <a:gd name="T53" fmla="*/ 80 w 80"/>
                  <a:gd name="T54" fmla="*/ 73 h 7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0" h="73">
                    <a:moveTo>
                      <a:pt x="0" y="0"/>
                    </a:moveTo>
                    <a:lnTo>
                      <a:pt x="20" y="10"/>
                    </a:lnTo>
                    <a:lnTo>
                      <a:pt x="20" y="15"/>
                    </a:lnTo>
                    <a:lnTo>
                      <a:pt x="23" y="20"/>
                    </a:lnTo>
                    <a:lnTo>
                      <a:pt x="23" y="25"/>
                    </a:lnTo>
                    <a:lnTo>
                      <a:pt x="28" y="30"/>
                    </a:lnTo>
                    <a:lnTo>
                      <a:pt x="34" y="32"/>
                    </a:lnTo>
                    <a:lnTo>
                      <a:pt x="40" y="35"/>
                    </a:lnTo>
                    <a:lnTo>
                      <a:pt x="45" y="37"/>
                    </a:lnTo>
                    <a:lnTo>
                      <a:pt x="51" y="40"/>
                    </a:lnTo>
                    <a:lnTo>
                      <a:pt x="54" y="45"/>
                    </a:lnTo>
                    <a:lnTo>
                      <a:pt x="59" y="50"/>
                    </a:lnTo>
                    <a:lnTo>
                      <a:pt x="62" y="55"/>
                    </a:lnTo>
                    <a:lnTo>
                      <a:pt x="65" y="60"/>
                    </a:lnTo>
                    <a:lnTo>
                      <a:pt x="71" y="65"/>
                    </a:lnTo>
                    <a:lnTo>
                      <a:pt x="76" y="67"/>
                    </a:lnTo>
                    <a:lnTo>
                      <a:pt x="79" y="72"/>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38" name="Freeform 401"/>
              <p:cNvSpPr>
                <a:spLocks/>
              </p:cNvSpPr>
              <p:nvPr/>
            </p:nvSpPr>
            <p:spPr bwMode="auto">
              <a:xfrm>
                <a:off x="1521" y="2789"/>
                <a:ext cx="145" cy="33"/>
              </a:xfrm>
              <a:custGeom>
                <a:avLst/>
                <a:gdLst>
                  <a:gd name="T0" fmla="*/ 0 w 145"/>
                  <a:gd name="T1" fmla="*/ 32 h 33"/>
                  <a:gd name="T2" fmla="*/ 11 w 145"/>
                  <a:gd name="T3" fmla="*/ 27 h 33"/>
                  <a:gd name="T4" fmla="*/ 14 w 145"/>
                  <a:gd name="T5" fmla="*/ 22 h 33"/>
                  <a:gd name="T6" fmla="*/ 20 w 145"/>
                  <a:gd name="T7" fmla="*/ 17 h 33"/>
                  <a:gd name="T8" fmla="*/ 25 w 145"/>
                  <a:gd name="T9" fmla="*/ 15 h 33"/>
                  <a:gd name="T10" fmla="*/ 31 w 145"/>
                  <a:gd name="T11" fmla="*/ 12 h 33"/>
                  <a:gd name="T12" fmla="*/ 37 w 145"/>
                  <a:gd name="T13" fmla="*/ 12 h 33"/>
                  <a:gd name="T14" fmla="*/ 48 w 145"/>
                  <a:gd name="T15" fmla="*/ 12 h 33"/>
                  <a:gd name="T16" fmla="*/ 76 w 145"/>
                  <a:gd name="T17" fmla="*/ 12 h 33"/>
                  <a:gd name="T18" fmla="*/ 88 w 145"/>
                  <a:gd name="T19" fmla="*/ 12 h 33"/>
                  <a:gd name="T20" fmla="*/ 99 w 145"/>
                  <a:gd name="T21" fmla="*/ 12 h 33"/>
                  <a:gd name="T22" fmla="*/ 110 w 145"/>
                  <a:gd name="T23" fmla="*/ 2 h 33"/>
                  <a:gd name="T24" fmla="*/ 121 w 145"/>
                  <a:gd name="T25" fmla="*/ 2 h 33"/>
                  <a:gd name="T26" fmla="*/ 133 w 145"/>
                  <a:gd name="T27" fmla="*/ 2 h 33"/>
                  <a:gd name="T28" fmla="*/ 138 w 145"/>
                  <a:gd name="T29" fmla="*/ 2 h 33"/>
                  <a:gd name="T30" fmla="*/ 144 w 145"/>
                  <a:gd name="T31" fmla="*/ 0 h 3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45"/>
                  <a:gd name="T49" fmla="*/ 0 h 33"/>
                  <a:gd name="T50" fmla="*/ 145 w 145"/>
                  <a:gd name="T51" fmla="*/ 33 h 3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45" h="33">
                    <a:moveTo>
                      <a:pt x="0" y="32"/>
                    </a:moveTo>
                    <a:lnTo>
                      <a:pt x="11" y="27"/>
                    </a:lnTo>
                    <a:lnTo>
                      <a:pt x="14" y="22"/>
                    </a:lnTo>
                    <a:lnTo>
                      <a:pt x="20" y="17"/>
                    </a:lnTo>
                    <a:lnTo>
                      <a:pt x="25" y="15"/>
                    </a:lnTo>
                    <a:lnTo>
                      <a:pt x="31" y="12"/>
                    </a:lnTo>
                    <a:lnTo>
                      <a:pt x="37" y="12"/>
                    </a:lnTo>
                    <a:lnTo>
                      <a:pt x="48" y="12"/>
                    </a:lnTo>
                    <a:lnTo>
                      <a:pt x="76" y="12"/>
                    </a:lnTo>
                    <a:lnTo>
                      <a:pt x="88" y="12"/>
                    </a:lnTo>
                    <a:lnTo>
                      <a:pt x="99" y="12"/>
                    </a:lnTo>
                    <a:lnTo>
                      <a:pt x="110" y="2"/>
                    </a:lnTo>
                    <a:lnTo>
                      <a:pt x="121" y="2"/>
                    </a:lnTo>
                    <a:lnTo>
                      <a:pt x="133" y="2"/>
                    </a:lnTo>
                    <a:lnTo>
                      <a:pt x="138" y="2"/>
                    </a:lnTo>
                    <a:lnTo>
                      <a:pt x="144"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39" name="Freeform 402"/>
              <p:cNvSpPr>
                <a:spLocks/>
              </p:cNvSpPr>
              <p:nvPr/>
            </p:nvSpPr>
            <p:spPr bwMode="auto">
              <a:xfrm>
                <a:off x="1547" y="2734"/>
                <a:ext cx="85" cy="53"/>
              </a:xfrm>
              <a:custGeom>
                <a:avLst/>
                <a:gdLst>
                  <a:gd name="T0" fmla="*/ 0 w 85"/>
                  <a:gd name="T1" fmla="*/ 0 h 53"/>
                  <a:gd name="T2" fmla="*/ 22 w 85"/>
                  <a:gd name="T3" fmla="*/ 10 h 53"/>
                  <a:gd name="T4" fmla="*/ 25 w 85"/>
                  <a:gd name="T5" fmla="*/ 15 h 53"/>
                  <a:gd name="T6" fmla="*/ 28 w 85"/>
                  <a:gd name="T7" fmla="*/ 20 h 53"/>
                  <a:gd name="T8" fmla="*/ 34 w 85"/>
                  <a:gd name="T9" fmla="*/ 25 h 53"/>
                  <a:gd name="T10" fmla="*/ 36 w 85"/>
                  <a:gd name="T11" fmla="*/ 30 h 53"/>
                  <a:gd name="T12" fmla="*/ 42 w 85"/>
                  <a:gd name="T13" fmla="*/ 32 h 53"/>
                  <a:gd name="T14" fmla="*/ 45 w 85"/>
                  <a:gd name="T15" fmla="*/ 37 h 53"/>
                  <a:gd name="T16" fmla="*/ 50 w 85"/>
                  <a:gd name="T17" fmla="*/ 40 h 53"/>
                  <a:gd name="T18" fmla="*/ 56 w 85"/>
                  <a:gd name="T19" fmla="*/ 40 h 53"/>
                  <a:gd name="T20" fmla="*/ 62 w 85"/>
                  <a:gd name="T21" fmla="*/ 42 h 53"/>
                  <a:gd name="T22" fmla="*/ 67 w 85"/>
                  <a:gd name="T23" fmla="*/ 45 h 53"/>
                  <a:gd name="T24" fmla="*/ 73 w 85"/>
                  <a:gd name="T25" fmla="*/ 50 h 53"/>
                  <a:gd name="T26" fmla="*/ 78 w 85"/>
                  <a:gd name="T27" fmla="*/ 52 h 53"/>
                  <a:gd name="T28" fmla="*/ 84 w 85"/>
                  <a:gd name="T29" fmla="*/ 52 h 5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5"/>
                  <a:gd name="T46" fmla="*/ 0 h 53"/>
                  <a:gd name="T47" fmla="*/ 85 w 85"/>
                  <a:gd name="T48" fmla="*/ 53 h 5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5" h="53">
                    <a:moveTo>
                      <a:pt x="0" y="0"/>
                    </a:moveTo>
                    <a:lnTo>
                      <a:pt x="22" y="10"/>
                    </a:lnTo>
                    <a:lnTo>
                      <a:pt x="25" y="15"/>
                    </a:lnTo>
                    <a:lnTo>
                      <a:pt x="28" y="20"/>
                    </a:lnTo>
                    <a:lnTo>
                      <a:pt x="34" y="25"/>
                    </a:lnTo>
                    <a:lnTo>
                      <a:pt x="36" y="30"/>
                    </a:lnTo>
                    <a:lnTo>
                      <a:pt x="42" y="32"/>
                    </a:lnTo>
                    <a:lnTo>
                      <a:pt x="45" y="37"/>
                    </a:lnTo>
                    <a:lnTo>
                      <a:pt x="50" y="40"/>
                    </a:lnTo>
                    <a:lnTo>
                      <a:pt x="56" y="40"/>
                    </a:lnTo>
                    <a:lnTo>
                      <a:pt x="62" y="42"/>
                    </a:lnTo>
                    <a:lnTo>
                      <a:pt x="67" y="45"/>
                    </a:lnTo>
                    <a:lnTo>
                      <a:pt x="73" y="50"/>
                    </a:lnTo>
                    <a:lnTo>
                      <a:pt x="78" y="52"/>
                    </a:lnTo>
                    <a:lnTo>
                      <a:pt x="84" y="52"/>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40" name="Freeform 403"/>
              <p:cNvSpPr>
                <a:spLocks/>
              </p:cNvSpPr>
              <p:nvPr/>
            </p:nvSpPr>
            <p:spPr bwMode="auto">
              <a:xfrm>
                <a:off x="1577" y="2636"/>
                <a:ext cx="100" cy="81"/>
              </a:xfrm>
              <a:custGeom>
                <a:avLst/>
                <a:gdLst>
                  <a:gd name="T0" fmla="*/ 0 w 100"/>
                  <a:gd name="T1" fmla="*/ 0 h 81"/>
                  <a:gd name="T2" fmla="*/ 6 w 100"/>
                  <a:gd name="T3" fmla="*/ 0 h 81"/>
                  <a:gd name="T4" fmla="*/ 17 w 100"/>
                  <a:gd name="T5" fmla="*/ 0 h 81"/>
                  <a:gd name="T6" fmla="*/ 31 w 100"/>
                  <a:gd name="T7" fmla="*/ 3 h 81"/>
                  <a:gd name="T8" fmla="*/ 42 w 100"/>
                  <a:gd name="T9" fmla="*/ 8 h 81"/>
                  <a:gd name="T10" fmla="*/ 54 w 100"/>
                  <a:gd name="T11" fmla="*/ 8 h 81"/>
                  <a:gd name="T12" fmla="*/ 65 w 100"/>
                  <a:gd name="T13" fmla="*/ 8 h 81"/>
                  <a:gd name="T14" fmla="*/ 68 w 100"/>
                  <a:gd name="T15" fmla="*/ 13 h 81"/>
                  <a:gd name="T16" fmla="*/ 65 w 100"/>
                  <a:gd name="T17" fmla="*/ 18 h 81"/>
                  <a:gd name="T18" fmla="*/ 65 w 100"/>
                  <a:gd name="T19" fmla="*/ 23 h 81"/>
                  <a:gd name="T20" fmla="*/ 65 w 100"/>
                  <a:gd name="T21" fmla="*/ 28 h 81"/>
                  <a:gd name="T22" fmla="*/ 65 w 100"/>
                  <a:gd name="T23" fmla="*/ 33 h 81"/>
                  <a:gd name="T24" fmla="*/ 65 w 100"/>
                  <a:gd name="T25" fmla="*/ 38 h 81"/>
                  <a:gd name="T26" fmla="*/ 68 w 100"/>
                  <a:gd name="T27" fmla="*/ 43 h 81"/>
                  <a:gd name="T28" fmla="*/ 68 w 100"/>
                  <a:gd name="T29" fmla="*/ 48 h 81"/>
                  <a:gd name="T30" fmla="*/ 74 w 100"/>
                  <a:gd name="T31" fmla="*/ 53 h 81"/>
                  <a:gd name="T32" fmla="*/ 76 w 100"/>
                  <a:gd name="T33" fmla="*/ 58 h 81"/>
                  <a:gd name="T34" fmla="*/ 79 w 100"/>
                  <a:gd name="T35" fmla="*/ 63 h 81"/>
                  <a:gd name="T36" fmla="*/ 85 w 100"/>
                  <a:gd name="T37" fmla="*/ 68 h 81"/>
                  <a:gd name="T38" fmla="*/ 88 w 100"/>
                  <a:gd name="T39" fmla="*/ 73 h 81"/>
                  <a:gd name="T40" fmla="*/ 93 w 100"/>
                  <a:gd name="T41" fmla="*/ 75 h 81"/>
                  <a:gd name="T42" fmla="*/ 99 w 100"/>
                  <a:gd name="T43" fmla="*/ 80 h 8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0"/>
                  <a:gd name="T67" fmla="*/ 0 h 81"/>
                  <a:gd name="T68" fmla="*/ 100 w 100"/>
                  <a:gd name="T69" fmla="*/ 81 h 8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0" h="81">
                    <a:moveTo>
                      <a:pt x="0" y="0"/>
                    </a:moveTo>
                    <a:lnTo>
                      <a:pt x="6" y="0"/>
                    </a:lnTo>
                    <a:lnTo>
                      <a:pt x="17" y="0"/>
                    </a:lnTo>
                    <a:lnTo>
                      <a:pt x="31" y="3"/>
                    </a:lnTo>
                    <a:lnTo>
                      <a:pt x="42" y="8"/>
                    </a:lnTo>
                    <a:lnTo>
                      <a:pt x="54" y="8"/>
                    </a:lnTo>
                    <a:lnTo>
                      <a:pt x="65" y="8"/>
                    </a:lnTo>
                    <a:lnTo>
                      <a:pt x="68" y="13"/>
                    </a:lnTo>
                    <a:lnTo>
                      <a:pt x="65" y="18"/>
                    </a:lnTo>
                    <a:lnTo>
                      <a:pt x="65" y="23"/>
                    </a:lnTo>
                    <a:lnTo>
                      <a:pt x="65" y="28"/>
                    </a:lnTo>
                    <a:lnTo>
                      <a:pt x="65" y="33"/>
                    </a:lnTo>
                    <a:lnTo>
                      <a:pt x="65" y="38"/>
                    </a:lnTo>
                    <a:lnTo>
                      <a:pt x="68" y="43"/>
                    </a:lnTo>
                    <a:lnTo>
                      <a:pt x="68" y="48"/>
                    </a:lnTo>
                    <a:lnTo>
                      <a:pt x="74" y="53"/>
                    </a:lnTo>
                    <a:lnTo>
                      <a:pt x="76" y="58"/>
                    </a:lnTo>
                    <a:lnTo>
                      <a:pt x="79" y="63"/>
                    </a:lnTo>
                    <a:lnTo>
                      <a:pt x="85" y="68"/>
                    </a:lnTo>
                    <a:lnTo>
                      <a:pt x="88" y="73"/>
                    </a:lnTo>
                    <a:lnTo>
                      <a:pt x="93" y="75"/>
                    </a:lnTo>
                    <a:lnTo>
                      <a:pt x="99" y="8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41" name="Freeform 404"/>
              <p:cNvSpPr>
                <a:spLocks/>
              </p:cNvSpPr>
              <p:nvPr/>
            </p:nvSpPr>
            <p:spPr bwMode="auto">
              <a:xfrm>
                <a:off x="1561" y="2676"/>
                <a:ext cx="113" cy="69"/>
              </a:xfrm>
              <a:custGeom>
                <a:avLst/>
                <a:gdLst>
                  <a:gd name="T0" fmla="*/ 0 w 113"/>
                  <a:gd name="T1" fmla="*/ 0 h 69"/>
                  <a:gd name="T2" fmla="*/ 6 w 113"/>
                  <a:gd name="T3" fmla="*/ 0 h 69"/>
                  <a:gd name="T4" fmla="*/ 11 w 113"/>
                  <a:gd name="T5" fmla="*/ 3 h 69"/>
                  <a:gd name="T6" fmla="*/ 17 w 113"/>
                  <a:gd name="T7" fmla="*/ 3 h 69"/>
                  <a:gd name="T8" fmla="*/ 22 w 113"/>
                  <a:gd name="T9" fmla="*/ 5 h 69"/>
                  <a:gd name="T10" fmla="*/ 28 w 113"/>
                  <a:gd name="T11" fmla="*/ 8 h 69"/>
                  <a:gd name="T12" fmla="*/ 34 w 113"/>
                  <a:gd name="T13" fmla="*/ 13 h 69"/>
                  <a:gd name="T14" fmla="*/ 39 w 113"/>
                  <a:gd name="T15" fmla="*/ 18 h 69"/>
                  <a:gd name="T16" fmla="*/ 45 w 113"/>
                  <a:gd name="T17" fmla="*/ 23 h 69"/>
                  <a:gd name="T18" fmla="*/ 48 w 113"/>
                  <a:gd name="T19" fmla="*/ 28 h 69"/>
                  <a:gd name="T20" fmla="*/ 56 w 113"/>
                  <a:gd name="T21" fmla="*/ 38 h 69"/>
                  <a:gd name="T22" fmla="*/ 67 w 113"/>
                  <a:gd name="T23" fmla="*/ 38 h 69"/>
                  <a:gd name="T24" fmla="*/ 73 w 113"/>
                  <a:gd name="T25" fmla="*/ 48 h 69"/>
                  <a:gd name="T26" fmla="*/ 84 w 113"/>
                  <a:gd name="T27" fmla="*/ 58 h 69"/>
                  <a:gd name="T28" fmla="*/ 95 w 113"/>
                  <a:gd name="T29" fmla="*/ 58 h 69"/>
                  <a:gd name="T30" fmla="*/ 95 w 113"/>
                  <a:gd name="T31" fmla="*/ 68 h 69"/>
                  <a:gd name="T32" fmla="*/ 101 w 113"/>
                  <a:gd name="T33" fmla="*/ 68 h 69"/>
                  <a:gd name="T34" fmla="*/ 106 w 113"/>
                  <a:gd name="T35" fmla="*/ 68 h 69"/>
                  <a:gd name="T36" fmla="*/ 112 w 113"/>
                  <a:gd name="T37" fmla="*/ 68 h 6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3"/>
                  <a:gd name="T58" fmla="*/ 0 h 69"/>
                  <a:gd name="T59" fmla="*/ 113 w 113"/>
                  <a:gd name="T60" fmla="*/ 69 h 6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3" h="69">
                    <a:moveTo>
                      <a:pt x="0" y="0"/>
                    </a:moveTo>
                    <a:lnTo>
                      <a:pt x="6" y="0"/>
                    </a:lnTo>
                    <a:lnTo>
                      <a:pt x="11" y="3"/>
                    </a:lnTo>
                    <a:lnTo>
                      <a:pt x="17" y="3"/>
                    </a:lnTo>
                    <a:lnTo>
                      <a:pt x="22" y="5"/>
                    </a:lnTo>
                    <a:lnTo>
                      <a:pt x="28" y="8"/>
                    </a:lnTo>
                    <a:lnTo>
                      <a:pt x="34" y="13"/>
                    </a:lnTo>
                    <a:lnTo>
                      <a:pt x="39" y="18"/>
                    </a:lnTo>
                    <a:lnTo>
                      <a:pt x="45" y="23"/>
                    </a:lnTo>
                    <a:lnTo>
                      <a:pt x="48" y="28"/>
                    </a:lnTo>
                    <a:lnTo>
                      <a:pt x="56" y="38"/>
                    </a:lnTo>
                    <a:lnTo>
                      <a:pt x="67" y="38"/>
                    </a:lnTo>
                    <a:lnTo>
                      <a:pt x="73" y="48"/>
                    </a:lnTo>
                    <a:lnTo>
                      <a:pt x="84" y="58"/>
                    </a:lnTo>
                    <a:lnTo>
                      <a:pt x="95" y="58"/>
                    </a:lnTo>
                    <a:lnTo>
                      <a:pt x="95" y="68"/>
                    </a:lnTo>
                    <a:lnTo>
                      <a:pt x="101" y="68"/>
                    </a:lnTo>
                    <a:lnTo>
                      <a:pt x="106" y="68"/>
                    </a:lnTo>
                    <a:lnTo>
                      <a:pt x="112" y="68"/>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42" name="Freeform 405"/>
              <p:cNvSpPr>
                <a:spLocks/>
              </p:cNvSpPr>
              <p:nvPr/>
            </p:nvSpPr>
            <p:spPr bwMode="auto">
              <a:xfrm>
                <a:off x="1639" y="2784"/>
                <a:ext cx="61" cy="48"/>
              </a:xfrm>
              <a:custGeom>
                <a:avLst/>
                <a:gdLst>
                  <a:gd name="T0" fmla="*/ 0 w 61"/>
                  <a:gd name="T1" fmla="*/ 47 h 48"/>
                  <a:gd name="T2" fmla="*/ 17 w 61"/>
                  <a:gd name="T3" fmla="*/ 25 h 48"/>
                  <a:gd name="T4" fmla="*/ 23 w 61"/>
                  <a:gd name="T5" fmla="*/ 22 h 48"/>
                  <a:gd name="T6" fmla="*/ 29 w 61"/>
                  <a:gd name="T7" fmla="*/ 20 h 48"/>
                  <a:gd name="T8" fmla="*/ 34 w 61"/>
                  <a:gd name="T9" fmla="*/ 17 h 48"/>
                  <a:gd name="T10" fmla="*/ 40 w 61"/>
                  <a:gd name="T11" fmla="*/ 17 h 48"/>
                  <a:gd name="T12" fmla="*/ 46 w 61"/>
                  <a:gd name="T13" fmla="*/ 17 h 48"/>
                  <a:gd name="T14" fmla="*/ 51 w 61"/>
                  <a:gd name="T15" fmla="*/ 17 h 48"/>
                  <a:gd name="T16" fmla="*/ 57 w 61"/>
                  <a:gd name="T17" fmla="*/ 15 h 48"/>
                  <a:gd name="T18" fmla="*/ 57 w 61"/>
                  <a:gd name="T19" fmla="*/ 10 h 48"/>
                  <a:gd name="T20" fmla="*/ 60 w 61"/>
                  <a:gd name="T21" fmla="*/ 5 h 48"/>
                  <a:gd name="T22" fmla="*/ 60 w 61"/>
                  <a:gd name="T23" fmla="*/ 0 h 4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1"/>
                  <a:gd name="T37" fmla="*/ 0 h 48"/>
                  <a:gd name="T38" fmla="*/ 61 w 61"/>
                  <a:gd name="T39" fmla="*/ 48 h 4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1" h="48">
                    <a:moveTo>
                      <a:pt x="0" y="47"/>
                    </a:moveTo>
                    <a:lnTo>
                      <a:pt x="17" y="25"/>
                    </a:lnTo>
                    <a:lnTo>
                      <a:pt x="23" y="22"/>
                    </a:lnTo>
                    <a:lnTo>
                      <a:pt x="29" y="20"/>
                    </a:lnTo>
                    <a:lnTo>
                      <a:pt x="34" y="17"/>
                    </a:lnTo>
                    <a:lnTo>
                      <a:pt x="40" y="17"/>
                    </a:lnTo>
                    <a:lnTo>
                      <a:pt x="46" y="17"/>
                    </a:lnTo>
                    <a:lnTo>
                      <a:pt x="51" y="17"/>
                    </a:lnTo>
                    <a:lnTo>
                      <a:pt x="57" y="15"/>
                    </a:lnTo>
                    <a:lnTo>
                      <a:pt x="57" y="10"/>
                    </a:lnTo>
                    <a:lnTo>
                      <a:pt x="60" y="5"/>
                    </a:lnTo>
                    <a:lnTo>
                      <a:pt x="60"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43" name="Freeform 406"/>
              <p:cNvSpPr>
                <a:spLocks/>
              </p:cNvSpPr>
              <p:nvPr/>
            </p:nvSpPr>
            <p:spPr bwMode="auto">
              <a:xfrm>
                <a:off x="1676" y="2764"/>
                <a:ext cx="60" cy="76"/>
              </a:xfrm>
              <a:custGeom>
                <a:avLst/>
                <a:gdLst>
                  <a:gd name="T0" fmla="*/ 0 w 60"/>
                  <a:gd name="T1" fmla="*/ 0 h 76"/>
                  <a:gd name="T2" fmla="*/ 6 w 60"/>
                  <a:gd name="T3" fmla="*/ 0 h 76"/>
                  <a:gd name="T4" fmla="*/ 11 w 60"/>
                  <a:gd name="T5" fmla="*/ 5 h 76"/>
                  <a:gd name="T6" fmla="*/ 11 w 60"/>
                  <a:gd name="T7" fmla="*/ 10 h 76"/>
                  <a:gd name="T8" fmla="*/ 14 w 60"/>
                  <a:gd name="T9" fmla="*/ 15 h 76"/>
                  <a:gd name="T10" fmla="*/ 14 w 60"/>
                  <a:gd name="T11" fmla="*/ 20 h 76"/>
                  <a:gd name="T12" fmla="*/ 17 w 60"/>
                  <a:gd name="T13" fmla="*/ 25 h 76"/>
                  <a:gd name="T14" fmla="*/ 20 w 60"/>
                  <a:gd name="T15" fmla="*/ 30 h 76"/>
                  <a:gd name="T16" fmla="*/ 25 w 60"/>
                  <a:gd name="T17" fmla="*/ 35 h 76"/>
                  <a:gd name="T18" fmla="*/ 31 w 60"/>
                  <a:gd name="T19" fmla="*/ 40 h 76"/>
                  <a:gd name="T20" fmla="*/ 31 w 60"/>
                  <a:gd name="T21" fmla="*/ 45 h 76"/>
                  <a:gd name="T22" fmla="*/ 37 w 60"/>
                  <a:gd name="T23" fmla="*/ 48 h 76"/>
                  <a:gd name="T24" fmla="*/ 37 w 60"/>
                  <a:gd name="T25" fmla="*/ 53 h 76"/>
                  <a:gd name="T26" fmla="*/ 39 w 60"/>
                  <a:gd name="T27" fmla="*/ 58 h 76"/>
                  <a:gd name="T28" fmla="*/ 42 w 60"/>
                  <a:gd name="T29" fmla="*/ 65 h 76"/>
                  <a:gd name="T30" fmla="*/ 48 w 60"/>
                  <a:gd name="T31" fmla="*/ 70 h 76"/>
                  <a:gd name="T32" fmla="*/ 53 w 60"/>
                  <a:gd name="T33" fmla="*/ 73 h 76"/>
                  <a:gd name="T34" fmla="*/ 59 w 60"/>
                  <a:gd name="T35" fmla="*/ 75 h 7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0"/>
                  <a:gd name="T55" fmla="*/ 0 h 76"/>
                  <a:gd name="T56" fmla="*/ 60 w 60"/>
                  <a:gd name="T57" fmla="*/ 76 h 7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0" h="76">
                    <a:moveTo>
                      <a:pt x="0" y="0"/>
                    </a:moveTo>
                    <a:lnTo>
                      <a:pt x="6" y="0"/>
                    </a:lnTo>
                    <a:lnTo>
                      <a:pt x="11" y="5"/>
                    </a:lnTo>
                    <a:lnTo>
                      <a:pt x="11" y="10"/>
                    </a:lnTo>
                    <a:lnTo>
                      <a:pt x="14" y="15"/>
                    </a:lnTo>
                    <a:lnTo>
                      <a:pt x="14" y="20"/>
                    </a:lnTo>
                    <a:lnTo>
                      <a:pt x="17" y="25"/>
                    </a:lnTo>
                    <a:lnTo>
                      <a:pt x="20" y="30"/>
                    </a:lnTo>
                    <a:lnTo>
                      <a:pt x="25" y="35"/>
                    </a:lnTo>
                    <a:lnTo>
                      <a:pt x="31" y="40"/>
                    </a:lnTo>
                    <a:lnTo>
                      <a:pt x="31" y="45"/>
                    </a:lnTo>
                    <a:lnTo>
                      <a:pt x="37" y="48"/>
                    </a:lnTo>
                    <a:lnTo>
                      <a:pt x="37" y="53"/>
                    </a:lnTo>
                    <a:lnTo>
                      <a:pt x="39" y="58"/>
                    </a:lnTo>
                    <a:lnTo>
                      <a:pt x="42" y="65"/>
                    </a:lnTo>
                    <a:lnTo>
                      <a:pt x="48" y="70"/>
                    </a:lnTo>
                    <a:lnTo>
                      <a:pt x="53" y="73"/>
                    </a:lnTo>
                    <a:lnTo>
                      <a:pt x="59" y="75"/>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44" name="Freeform 407"/>
              <p:cNvSpPr>
                <a:spLocks/>
              </p:cNvSpPr>
              <p:nvPr/>
            </p:nvSpPr>
            <p:spPr bwMode="auto">
              <a:xfrm>
                <a:off x="1649" y="2804"/>
                <a:ext cx="107" cy="48"/>
              </a:xfrm>
              <a:custGeom>
                <a:avLst/>
                <a:gdLst>
                  <a:gd name="T0" fmla="*/ 0 w 107"/>
                  <a:gd name="T1" fmla="*/ 47 h 48"/>
                  <a:gd name="T2" fmla="*/ 42 w 107"/>
                  <a:gd name="T3" fmla="*/ 32 h 48"/>
                  <a:gd name="T4" fmla="*/ 47 w 107"/>
                  <a:gd name="T5" fmla="*/ 32 h 48"/>
                  <a:gd name="T6" fmla="*/ 53 w 107"/>
                  <a:gd name="T7" fmla="*/ 32 h 48"/>
                  <a:gd name="T8" fmla="*/ 59 w 107"/>
                  <a:gd name="T9" fmla="*/ 32 h 48"/>
                  <a:gd name="T10" fmla="*/ 64 w 107"/>
                  <a:gd name="T11" fmla="*/ 30 h 48"/>
                  <a:gd name="T12" fmla="*/ 67 w 107"/>
                  <a:gd name="T13" fmla="*/ 25 h 48"/>
                  <a:gd name="T14" fmla="*/ 70 w 107"/>
                  <a:gd name="T15" fmla="*/ 20 h 48"/>
                  <a:gd name="T16" fmla="*/ 75 w 107"/>
                  <a:gd name="T17" fmla="*/ 17 h 48"/>
                  <a:gd name="T18" fmla="*/ 81 w 107"/>
                  <a:gd name="T19" fmla="*/ 15 h 48"/>
                  <a:gd name="T20" fmla="*/ 86 w 107"/>
                  <a:gd name="T21" fmla="*/ 10 h 48"/>
                  <a:gd name="T22" fmla="*/ 92 w 107"/>
                  <a:gd name="T23" fmla="*/ 10 h 48"/>
                  <a:gd name="T24" fmla="*/ 98 w 107"/>
                  <a:gd name="T25" fmla="*/ 7 h 48"/>
                  <a:gd name="T26" fmla="*/ 100 w 107"/>
                  <a:gd name="T27" fmla="*/ 2 h 48"/>
                  <a:gd name="T28" fmla="*/ 106 w 107"/>
                  <a:gd name="T29" fmla="*/ 0 h 4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7"/>
                  <a:gd name="T46" fmla="*/ 0 h 48"/>
                  <a:gd name="T47" fmla="*/ 107 w 107"/>
                  <a:gd name="T48" fmla="*/ 48 h 4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7" h="48">
                    <a:moveTo>
                      <a:pt x="0" y="47"/>
                    </a:moveTo>
                    <a:lnTo>
                      <a:pt x="42" y="32"/>
                    </a:lnTo>
                    <a:lnTo>
                      <a:pt x="47" y="32"/>
                    </a:lnTo>
                    <a:lnTo>
                      <a:pt x="53" y="32"/>
                    </a:lnTo>
                    <a:lnTo>
                      <a:pt x="59" y="32"/>
                    </a:lnTo>
                    <a:lnTo>
                      <a:pt x="64" y="30"/>
                    </a:lnTo>
                    <a:lnTo>
                      <a:pt x="67" y="25"/>
                    </a:lnTo>
                    <a:lnTo>
                      <a:pt x="70" y="20"/>
                    </a:lnTo>
                    <a:lnTo>
                      <a:pt x="75" y="17"/>
                    </a:lnTo>
                    <a:lnTo>
                      <a:pt x="81" y="15"/>
                    </a:lnTo>
                    <a:lnTo>
                      <a:pt x="86" y="10"/>
                    </a:lnTo>
                    <a:lnTo>
                      <a:pt x="92" y="10"/>
                    </a:lnTo>
                    <a:lnTo>
                      <a:pt x="98" y="7"/>
                    </a:lnTo>
                    <a:lnTo>
                      <a:pt x="100" y="2"/>
                    </a:lnTo>
                    <a:lnTo>
                      <a:pt x="106"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45" name="Freeform 408"/>
              <p:cNvSpPr>
                <a:spLocks/>
              </p:cNvSpPr>
              <p:nvPr/>
            </p:nvSpPr>
            <p:spPr bwMode="auto">
              <a:xfrm>
                <a:off x="1705" y="2749"/>
                <a:ext cx="82" cy="91"/>
              </a:xfrm>
              <a:custGeom>
                <a:avLst/>
                <a:gdLst>
                  <a:gd name="T0" fmla="*/ 0 w 82"/>
                  <a:gd name="T1" fmla="*/ 0 h 91"/>
                  <a:gd name="T2" fmla="*/ 8 w 82"/>
                  <a:gd name="T3" fmla="*/ 3 h 91"/>
                  <a:gd name="T4" fmla="*/ 14 w 82"/>
                  <a:gd name="T5" fmla="*/ 3 h 91"/>
                  <a:gd name="T6" fmla="*/ 20 w 82"/>
                  <a:gd name="T7" fmla="*/ 3 h 91"/>
                  <a:gd name="T8" fmla="*/ 25 w 82"/>
                  <a:gd name="T9" fmla="*/ 8 h 91"/>
                  <a:gd name="T10" fmla="*/ 28 w 82"/>
                  <a:gd name="T11" fmla="*/ 13 h 91"/>
                  <a:gd name="T12" fmla="*/ 28 w 82"/>
                  <a:gd name="T13" fmla="*/ 18 h 91"/>
                  <a:gd name="T14" fmla="*/ 31 w 82"/>
                  <a:gd name="T15" fmla="*/ 23 h 91"/>
                  <a:gd name="T16" fmla="*/ 34 w 82"/>
                  <a:gd name="T17" fmla="*/ 28 h 91"/>
                  <a:gd name="T18" fmla="*/ 42 w 82"/>
                  <a:gd name="T19" fmla="*/ 50 h 91"/>
                  <a:gd name="T20" fmla="*/ 42 w 82"/>
                  <a:gd name="T21" fmla="*/ 60 h 91"/>
                  <a:gd name="T22" fmla="*/ 53 w 82"/>
                  <a:gd name="T23" fmla="*/ 70 h 91"/>
                  <a:gd name="T24" fmla="*/ 53 w 82"/>
                  <a:gd name="T25" fmla="*/ 80 h 91"/>
                  <a:gd name="T26" fmla="*/ 59 w 82"/>
                  <a:gd name="T27" fmla="*/ 83 h 91"/>
                  <a:gd name="T28" fmla="*/ 64 w 82"/>
                  <a:gd name="T29" fmla="*/ 85 h 91"/>
                  <a:gd name="T30" fmla="*/ 70 w 82"/>
                  <a:gd name="T31" fmla="*/ 88 h 91"/>
                  <a:gd name="T32" fmla="*/ 75 w 82"/>
                  <a:gd name="T33" fmla="*/ 90 h 91"/>
                  <a:gd name="T34" fmla="*/ 81 w 82"/>
                  <a:gd name="T35" fmla="*/ 90 h 9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2"/>
                  <a:gd name="T55" fmla="*/ 0 h 91"/>
                  <a:gd name="T56" fmla="*/ 82 w 82"/>
                  <a:gd name="T57" fmla="*/ 91 h 9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2" h="91">
                    <a:moveTo>
                      <a:pt x="0" y="0"/>
                    </a:moveTo>
                    <a:lnTo>
                      <a:pt x="8" y="3"/>
                    </a:lnTo>
                    <a:lnTo>
                      <a:pt x="14" y="3"/>
                    </a:lnTo>
                    <a:lnTo>
                      <a:pt x="20" y="3"/>
                    </a:lnTo>
                    <a:lnTo>
                      <a:pt x="25" y="8"/>
                    </a:lnTo>
                    <a:lnTo>
                      <a:pt x="28" y="13"/>
                    </a:lnTo>
                    <a:lnTo>
                      <a:pt x="28" y="18"/>
                    </a:lnTo>
                    <a:lnTo>
                      <a:pt x="31" y="23"/>
                    </a:lnTo>
                    <a:lnTo>
                      <a:pt x="34" y="28"/>
                    </a:lnTo>
                    <a:lnTo>
                      <a:pt x="42" y="50"/>
                    </a:lnTo>
                    <a:lnTo>
                      <a:pt x="42" y="60"/>
                    </a:lnTo>
                    <a:lnTo>
                      <a:pt x="53" y="70"/>
                    </a:lnTo>
                    <a:lnTo>
                      <a:pt x="53" y="80"/>
                    </a:lnTo>
                    <a:lnTo>
                      <a:pt x="59" y="83"/>
                    </a:lnTo>
                    <a:lnTo>
                      <a:pt x="64" y="85"/>
                    </a:lnTo>
                    <a:lnTo>
                      <a:pt x="70" y="88"/>
                    </a:lnTo>
                    <a:lnTo>
                      <a:pt x="75" y="90"/>
                    </a:lnTo>
                    <a:lnTo>
                      <a:pt x="81" y="9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46" name="Freeform 409"/>
              <p:cNvSpPr>
                <a:spLocks/>
              </p:cNvSpPr>
              <p:nvPr/>
            </p:nvSpPr>
            <p:spPr bwMode="auto">
              <a:xfrm>
                <a:off x="1718" y="2709"/>
                <a:ext cx="51" cy="128"/>
              </a:xfrm>
              <a:custGeom>
                <a:avLst/>
                <a:gdLst>
                  <a:gd name="T0" fmla="*/ 0 w 51"/>
                  <a:gd name="T1" fmla="*/ 0 h 128"/>
                  <a:gd name="T2" fmla="*/ 8 w 51"/>
                  <a:gd name="T3" fmla="*/ 2 h 128"/>
                  <a:gd name="T4" fmla="*/ 33 w 51"/>
                  <a:gd name="T5" fmla="*/ 10 h 128"/>
                  <a:gd name="T6" fmla="*/ 39 w 51"/>
                  <a:gd name="T7" fmla="*/ 15 h 128"/>
                  <a:gd name="T8" fmla="*/ 39 w 51"/>
                  <a:gd name="T9" fmla="*/ 20 h 128"/>
                  <a:gd name="T10" fmla="*/ 39 w 51"/>
                  <a:gd name="T11" fmla="*/ 25 h 128"/>
                  <a:gd name="T12" fmla="*/ 39 w 51"/>
                  <a:gd name="T13" fmla="*/ 30 h 128"/>
                  <a:gd name="T14" fmla="*/ 36 w 51"/>
                  <a:gd name="T15" fmla="*/ 42 h 128"/>
                  <a:gd name="T16" fmla="*/ 36 w 51"/>
                  <a:gd name="T17" fmla="*/ 52 h 128"/>
                  <a:gd name="T18" fmla="*/ 39 w 51"/>
                  <a:gd name="T19" fmla="*/ 57 h 128"/>
                  <a:gd name="T20" fmla="*/ 42 w 51"/>
                  <a:gd name="T21" fmla="*/ 62 h 128"/>
                  <a:gd name="T22" fmla="*/ 47 w 51"/>
                  <a:gd name="T23" fmla="*/ 65 h 128"/>
                  <a:gd name="T24" fmla="*/ 50 w 51"/>
                  <a:gd name="T25" fmla="*/ 70 h 128"/>
                  <a:gd name="T26" fmla="*/ 50 w 51"/>
                  <a:gd name="T27" fmla="*/ 75 h 128"/>
                  <a:gd name="T28" fmla="*/ 50 w 51"/>
                  <a:gd name="T29" fmla="*/ 80 h 128"/>
                  <a:gd name="T30" fmla="*/ 50 w 51"/>
                  <a:gd name="T31" fmla="*/ 85 h 128"/>
                  <a:gd name="T32" fmla="*/ 44 w 51"/>
                  <a:gd name="T33" fmla="*/ 97 h 128"/>
                  <a:gd name="T34" fmla="*/ 39 w 51"/>
                  <a:gd name="T35" fmla="*/ 100 h 128"/>
                  <a:gd name="T36" fmla="*/ 39 w 51"/>
                  <a:gd name="T37" fmla="*/ 105 h 128"/>
                  <a:gd name="T38" fmla="*/ 39 w 51"/>
                  <a:gd name="T39" fmla="*/ 110 h 128"/>
                  <a:gd name="T40" fmla="*/ 42 w 51"/>
                  <a:gd name="T41" fmla="*/ 115 h 128"/>
                  <a:gd name="T42" fmla="*/ 42 w 51"/>
                  <a:gd name="T43" fmla="*/ 120 h 128"/>
                  <a:gd name="T44" fmla="*/ 44 w 51"/>
                  <a:gd name="T45" fmla="*/ 125 h 128"/>
                  <a:gd name="T46" fmla="*/ 42 w 51"/>
                  <a:gd name="T47" fmla="*/ 127 h 12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1"/>
                  <a:gd name="T73" fmla="*/ 0 h 128"/>
                  <a:gd name="T74" fmla="*/ 51 w 51"/>
                  <a:gd name="T75" fmla="*/ 128 h 12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1" h="128">
                    <a:moveTo>
                      <a:pt x="0" y="0"/>
                    </a:moveTo>
                    <a:lnTo>
                      <a:pt x="8" y="2"/>
                    </a:lnTo>
                    <a:lnTo>
                      <a:pt x="33" y="10"/>
                    </a:lnTo>
                    <a:lnTo>
                      <a:pt x="39" y="15"/>
                    </a:lnTo>
                    <a:lnTo>
                      <a:pt x="39" y="20"/>
                    </a:lnTo>
                    <a:lnTo>
                      <a:pt x="39" y="25"/>
                    </a:lnTo>
                    <a:lnTo>
                      <a:pt x="39" y="30"/>
                    </a:lnTo>
                    <a:lnTo>
                      <a:pt x="36" y="42"/>
                    </a:lnTo>
                    <a:lnTo>
                      <a:pt x="36" y="52"/>
                    </a:lnTo>
                    <a:lnTo>
                      <a:pt x="39" y="57"/>
                    </a:lnTo>
                    <a:lnTo>
                      <a:pt x="42" y="62"/>
                    </a:lnTo>
                    <a:lnTo>
                      <a:pt x="47" y="65"/>
                    </a:lnTo>
                    <a:lnTo>
                      <a:pt x="50" y="70"/>
                    </a:lnTo>
                    <a:lnTo>
                      <a:pt x="50" y="75"/>
                    </a:lnTo>
                    <a:lnTo>
                      <a:pt x="50" y="80"/>
                    </a:lnTo>
                    <a:lnTo>
                      <a:pt x="50" y="85"/>
                    </a:lnTo>
                    <a:lnTo>
                      <a:pt x="44" y="97"/>
                    </a:lnTo>
                    <a:lnTo>
                      <a:pt x="39" y="100"/>
                    </a:lnTo>
                    <a:lnTo>
                      <a:pt x="39" y="105"/>
                    </a:lnTo>
                    <a:lnTo>
                      <a:pt x="39" y="110"/>
                    </a:lnTo>
                    <a:lnTo>
                      <a:pt x="42" y="115"/>
                    </a:lnTo>
                    <a:lnTo>
                      <a:pt x="42" y="120"/>
                    </a:lnTo>
                    <a:lnTo>
                      <a:pt x="44" y="125"/>
                    </a:lnTo>
                    <a:lnTo>
                      <a:pt x="42" y="127"/>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47" name="Freeform 410"/>
              <p:cNvSpPr>
                <a:spLocks/>
              </p:cNvSpPr>
              <p:nvPr/>
            </p:nvSpPr>
            <p:spPr bwMode="auto">
              <a:xfrm>
                <a:off x="1694" y="2681"/>
                <a:ext cx="87" cy="24"/>
              </a:xfrm>
              <a:custGeom>
                <a:avLst/>
                <a:gdLst>
                  <a:gd name="T0" fmla="*/ 0 w 87"/>
                  <a:gd name="T1" fmla="*/ 23 h 24"/>
                  <a:gd name="T2" fmla="*/ 6 w 87"/>
                  <a:gd name="T3" fmla="*/ 20 h 24"/>
                  <a:gd name="T4" fmla="*/ 6 w 87"/>
                  <a:gd name="T5" fmla="*/ 13 h 24"/>
                  <a:gd name="T6" fmla="*/ 6 w 87"/>
                  <a:gd name="T7" fmla="*/ 8 h 24"/>
                  <a:gd name="T8" fmla="*/ 11 w 87"/>
                  <a:gd name="T9" fmla="*/ 3 h 24"/>
                  <a:gd name="T10" fmla="*/ 17 w 87"/>
                  <a:gd name="T11" fmla="*/ 3 h 24"/>
                  <a:gd name="T12" fmla="*/ 31 w 87"/>
                  <a:gd name="T13" fmla="*/ 0 h 24"/>
                  <a:gd name="T14" fmla="*/ 42 w 87"/>
                  <a:gd name="T15" fmla="*/ 0 h 24"/>
                  <a:gd name="T16" fmla="*/ 53 w 87"/>
                  <a:gd name="T17" fmla="*/ 0 h 24"/>
                  <a:gd name="T18" fmla="*/ 64 w 87"/>
                  <a:gd name="T19" fmla="*/ 0 h 24"/>
                  <a:gd name="T20" fmla="*/ 69 w 87"/>
                  <a:gd name="T21" fmla="*/ 0 h 24"/>
                  <a:gd name="T22" fmla="*/ 75 w 87"/>
                  <a:gd name="T23" fmla="*/ 3 h 24"/>
                  <a:gd name="T24" fmla="*/ 80 w 87"/>
                  <a:gd name="T25" fmla="*/ 3 h 24"/>
                  <a:gd name="T26" fmla="*/ 86 w 87"/>
                  <a:gd name="T27" fmla="*/ 0 h 2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7"/>
                  <a:gd name="T43" fmla="*/ 0 h 24"/>
                  <a:gd name="T44" fmla="*/ 87 w 87"/>
                  <a:gd name="T45" fmla="*/ 24 h 2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7" h="24">
                    <a:moveTo>
                      <a:pt x="0" y="23"/>
                    </a:moveTo>
                    <a:lnTo>
                      <a:pt x="6" y="20"/>
                    </a:lnTo>
                    <a:lnTo>
                      <a:pt x="6" y="13"/>
                    </a:lnTo>
                    <a:lnTo>
                      <a:pt x="6" y="8"/>
                    </a:lnTo>
                    <a:lnTo>
                      <a:pt x="11" y="3"/>
                    </a:lnTo>
                    <a:lnTo>
                      <a:pt x="17" y="3"/>
                    </a:lnTo>
                    <a:lnTo>
                      <a:pt x="31" y="0"/>
                    </a:lnTo>
                    <a:lnTo>
                      <a:pt x="42" y="0"/>
                    </a:lnTo>
                    <a:lnTo>
                      <a:pt x="53" y="0"/>
                    </a:lnTo>
                    <a:lnTo>
                      <a:pt x="64" y="0"/>
                    </a:lnTo>
                    <a:lnTo>
                      <a:pt x="69" y="0"/>
                    </a:lnTo>
                    <a:lnTo>
                      <a:pt x="75" y="3"/>
                    </a:lnTo>
                    <a:lnTo>
                      <a:pt x="80" y="3"/>
                    </a:lnTo>
                    <a:lnTo>
                      <a:pt x="86"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48" name="Freeform 411"/>
              <p:cNvSpPr>
                <a:spLocks/>
              </p:cNvSpPr>
              <p:nvPr/>
            </p:nvSpPr>
            <p:spPr bwMode="auto">
              <a:xfrm>
                <a:off x="1761" y="2649"/>
                <a:ext cx="71" cy="72"/>
              </a:xfrm>
              <a:custGeom>
                <a:avLst/>
                <a:gdLst>
                  <a:gd name="T0" fmla="*/ 0 w 71"/>
                  <a:gd name="T1" fmla="*/ 0 h 72"/>
                  <a:gd name="T2" fmla="*/ 6 w 71"/>
                  <a:gd name="T3" fmla="*/ 0 h 72"/>
                  <a:gd name="T4" fmla="*/ 11 w 71"/>
                  <a:gd name="T5" fmla="*/ 2 h 72"/>
                  <a:gd name="T6" fmla="*/ 17 w 71"/>
                  <a:gd name="T7" fmla="*/ 7 h 72"/>
                  <a:gd name="T8" fmla="*/ 28 w 71"/>
                  <a:gd name="T9" fmla="*/ 7 h 72"/>
                  <a:gd name="T10" fmla="*/ 31 w 71"/>
                  <a:gd name="T11" fmla="*/ 12 h 72"/>
                  <a:gd name="T12" fmla="*/ 34 w 71"/>
                  <a:gd name="T13" fmla="*/ 17 h 72"/>
                  <a:gd name="T14" fmla="*/ 39 w 71"/>
                  <a:gd name="T15" fmla="*/ 29 h 72"/>
                  <a:gd name="T16" fmla="*/ 39 w 71"/>
                  <a:gd name="T17" fmla="*/ 39 h 72"/>
                  <a:gd name="T18" fmla="*/ 42 w 71"/>
                  <a:gd name="T19" fmla="*/ 44 h 72"/>
                  <a:gd name="T20" fmla="*/ 48 w 71"/>
                  <a:gd name="T21" fmla="*/ 49 h 72"/>
                  <a:gd name="T22" fmla="*/ 53 w 71"/>
                  <a:gd name="T23" fmla="*/ 54 h 72"/>
                  <a:gd name="T24" fmla="*/ 59 w 71"/>
                  <a:gd name="T25" fmla="*/ 56 h 72"/>
                  <a:gd name="T26" fmla="*/ 64 w 71"/>
                  <a:gd name="T27" fmla="*/ 61 h 72"/>
                  <a:gd name="T28" fmla="*/ 64 w 71"/>
                  <a:gd name="T29" fmla="*/ 66 h 72"/>
                  <a:gd name="T30" fmla="*/ 70 w 71"/>
                  <a:gd name="T31" fmla="*/ 71 h 7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1"/>
                  <a:gd name="T49" fmla="*/ 0 h 72"/>
                  <a:gd name="T50" fmla="*/ 71 w 71"/>
                  <a:gd name="T51" fmla="*/ 72 h 7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1" h="72">
                    <a:moveTo>
                      <a:pt x="0" y="0"/>
                    </a:moveTo>
                    <a:lnTo>
                      <a:pt x="6" y="0"/>
                    </a:lnTo>
                    <a:lnTo>
                      <a:pt x="11" y="2"/>
                    </a:lnTo>
                    <a:lnTo>
                      <a:pt x="17" y="7"/>
                    </a:lnTo>
                    <a:lnTo>
                      <a:pt x="28" y="7"/>
                    </a:lnTo>
                    <a:lnTo>
                      <a:pt x="31" y="12"/>
                    </a:lnTo>
                    <a:lnTo>
                      <a:pt x="34" y="17"/>
                    </a:lnTo>
                    <a:lnTo>
                      <a:pt x="39" y="29"/>
                    </a:lnTo>
                    <a:lnTo>
                      <a:pt x="39" y="39"/>
                    </a:lnTo>
                    <a:lnTo>
                      <a:pt x="42" y="44"/>
                    </a:lnTo>
                    <a:lnTo>
                      <a:pt x="48" y="49"/>
                    </a:lnTo>
                    <a:lnTo>
                      <a:pt x="53" y="54"/>
                    </a:lnTo>
                    <a:lnTo>
                      <a:pt x="59" y="56"/>
                    </a:lnTo>
                    <a:lnTo>
                      <a:pt x="64" y="61"/>
                    </a:lnTo>
                    <a:lnTo>
                      <a:pt x="64" y="66"/>
                    </a:lnTo>
                    <a:lnTo>
                      <a:pt x="70" y="71"/>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49" name="Freeform 412"/>
              <p:cNvSpPr>
                <a:spLocks/>
              </p:cNvSpPr>
              <p:nvPr/>
            </p:nvSpPr>
            <p:spPr bwMode="auto">
              <a:xfrm>
                <a:off x="1780" y="2681"/>
                <a:ext cx="91" cy="44"/>
              </a:xfrm>
              <a:custGeom>
                <a:avLst/>
                <a:gdLst>
                  <a:gd name="T0" fmla="*/ 0 w 91"/>
                  <a:gd name="T1" fmla="*/ 43 h 44"/>
                  <a:gd name="T2" fmla="*/ 6 w 91"/>
                  <a:gd name="T3" fmla="*/ 40 h 44"/>
                  <a:gd name="T4" fmla="*/ 11 w 91"/>
                  <a:gd name="T5" fmla="*/ 35 h 44"/>
                  <a:gd name="T6" fmla="*/ 14 w 91"/>
                  <a:gd name="T7" fmla="*/ 30 h 44"/>
                  <a:gd name="T8" fmla="*/ 20 w 91"/>
                  <a:gd name="T9" fmla="*/ 25 h 44"/>
                  <a:gd name="T10" fmla="*/ 34 w 91"/>
                  <a:gd name="T11" fmla="*/ 18 h 44"/>
                  <a:gd name="T12" fmla="*/ 45 w 91"/>
                  <a:gd name="T13" fmla="*/ 18 h 44"/>
                  <a:gd name="T14" fmla="*/ 56 w 91"/>
                  <a:gd name="T15" fmla="*/ 18 h 44"/>
                  <a:gd name="T16" fmla="*/ 68 w 91"/>
                  <a:gd name="T17" fmla="*/ 8 h 44"/>
                  <a:gd name="T18" fmla="*/ 73 w 91"/>
                  <a:gd name="T19" fmla="*/ 8 h 44"/>
                  <a:gd name="T20" fmla="*/ 79 w 91"/>
                  <a:gd name="T21" fmla="*/ 8 h 44"/>
                  <a:gd name="T22" fmla="*/ 84 w 91"/>
                  <a:gd name="T23" fmla="*/ 8 h 44"/>
                  <a:gd name="T24" fmla="*/ 90 w 91"/>
                  <a:gd name="T25" fmla="*/ 5 h 44"/>
                  <a:gd name="T26" fmla="*/ 90 w 91"/>
                  <a:gd name="T27" fmla="*/ 0 h 44"/>
                  <a:gd name="T28" fmla="*/ 90 w 91"/>
                  <a:gd name="T29" fmla="*/ 0 h 4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1"/>
                  <a:gd name="T46" fmla="*/ 0 h 44"/>
                  <a:gd name="T47" fmla="*/ 91 w 91"/>
                  <a:gd name="T48" fmla="*/ 44 h 4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1" h="44">
                    <a:moveTo>
                      <a:pt x="0" y="43"/>
                    </a:moveTo>
                    <a:lnTo>
                      <a:pt x="6" y="40"/>
                    </a:lnTo>
                    <a:lnTo>
                      <a:pt x="11" y="35"/>
                    </a:lnTo>
                    <a:lnTo>
                      <a:pt x="14" y="30"/>
                    </a:lnTo>
                    <a:lnTo>
                      <a:pt x="20" y="25"/>
                    </a:lnTo>
                    <a:lnTo>
                      <a:pt x="34" y="18"/>
                    </a:lnTo>
                    <a:lnTo>
                      <a:pt x="45" y="18"/>
                    </a:lnTo>
                    <a:lnTo>
                      <a:pt x="56" y="18"/>
                    </a:lnTo>
                    <a:lnTo>
                      <a:pt x="68" y="8"/>
                    </a:lnTo>
                    <a:lnTo>
                      <a:pt x="73" y="8"/>
                    </a:lnTo>
                    <a:lnTo>
                      <a:pt x="79" y="8"/>
                    </a:lnTo>
                    <a:lnTo>
                      <a:pt x="84" y="8"/>
                    </a:lnTo>
                    <a:lnTo>
                      <a:pt x="90" y="5"/>
                    </a:lnTo>
                    <a:lnTo>
                      <a:pt x="90"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50" name="Freeform 413"/>
              <p:cNvSpPr>
                <a:spLocks/>
              </p:cNvSpPr>
              <p:nvPr/>
            </p:nvSpPr>
            <p:spPr bwMode="auto">
              <a:xfrm>
                <a:off x="1806" y="2704"/>
                <a:ext cx="108" cy="78"/>
              </a:xfrm>
              <a:custGeom>
                <a:avLst/>
                <a:gdLst>
                  <a:gd name="T0" fmla="*/ 107 w 108"/>
                  <a:gd name="T1" fmla="*/ 0 h 78"/>
                  <a:gd name="T2" fmla="*/ 101 w 108"/>
                  <a:gd name="T3" fmla="*/ 0 h 78"/>
                  <a:gd name="T4" fmla="*/ 96 w 108"/>
                  <a:gd name="T5" fmla="*/ 0 h 78"/>
                  <a:gd name="T6" fmla="*/ 82 w 108"/>
                  <a:gd name="T7" fmla="*/ 5 h 78"/>
                  <a:gd name="T8" fmla="*/ 68 w 108"/>
                  <a:gd name="T9" fmla="*/ 7 h 78"/>
                  <a:gd name="T10" fmla="*/ 56 w 108"/>
                  <a:gd name="T11" fmla="*/ 17 h 78"/>
                  <a:gd name="T12" fmla="*/ 45 w 108"/>
                  <a:gd name="T13" fmla="*/ 27 h 78"/>
                  <a:gd name="T14" fmla="*/ 45 w 108"/>
                  <a:gd name="T15" fmla="*/ 37 h 78"/>
                  <a:gd name="T16" fmla="*/ 45 w 108"/>
                  <a:gd name="T17" fmla="*/ 42 h 78"/>
                  <a:gd name="T18" fmla="*/ 42 w 108"/>
                  <a:gd name="T19" fmla="*/ 47 h 78"/>
                  <a:gd name="T20" fmla="*/ 42 w 108"/>
                  <a:gd name="T21" fmla="*/ 52 h 78"/>
                  <a:gd name="T22" fmla="*/ 42 w 108"/>
                  <a:gd name="T23" fmla="*/ 57 h 78"/>
                  <a:gd name="T24" fmla="*/ 42 w 108"/>
                  <a:gd name="T25" fmla="*/ 62 h 78"/>
                  <a:gd name="T26" fmla="*/ 28 w 108"/>
                  <a:gd name="T27" fmla="*/ 65 h 78"/>
                  <a:gd name="T28" fmla="*/ 23 w 108"/>
                  <a:gd name="T29" fmla="*/ 67 h 78"/>
                  <a:gd name="T30" fmla="*/ 17 w 108"/>
                  <a:gd name="T31" fmla="*/ 70 h 78"/>
                  <a:gd name="T32" fmla="*/ 11 w 108"/>
                  <a:gd name="T33" fmla="*/ 72 h 78"/>
                  <a:gd name="T34" fmla="*/ 6 w 108"/>
                  <a:gd name="T35" fmla="*/ 75 h 78"/>
                  <a:gd name="T36" fmla="*/ 0 w 108"/>
                  <a:gd name="T37" fmla="*/ 77 h 7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8"/>
                  <a:gd name="T58" fmla="*/ 0 h 78"/>
                  <a:gd name="T59" fmla="*/ 108 w 108"/>
                  <a:gd name="T60" fmla="*/ 78 h 7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8" h="78">
                    <a:moveTo>
                      <a:pt x="107" y="0"/>
                    </a:moveTo>
                    <a:lnTo>
                      <a:pt x="101" y="0"/>
                    </a:lnTo>
                    <a:lnTo>
                      <a:pt x="96" y="0"/>
                    </a:lnTo>
                    <a:lnTo>
                      <a:pt x="82" y="5"/>
                    </a:lnTo>
                    <a:lnTo>
                      <a:pt x="68" y="7"/>
                    </a:lnTo>
                    <a:lnTo>
                      <a:pt x="56" y="17"/>
                    </a:lnTo>
                    <a:lnTo>
                      <a:pt x="45" y="27"/>
                    </a:lnTo>
                    <a:lnTo>
                      <a:pt x="45" y="37"/>
                    </a:lnTo>
                    <a:lnTo>
                      <a:pt x="45" y="42"/>
                    </a:lnTo>
                    <a:lnTo>
                      <a:pt x="42" y="47"/>
                    </a:lnTo>
                    <a:lnTo>
                      <a:pt x="42" y="52"/>
                    </a:lnTo>
                    <a:lnTo>
                      <a:pt x="42" y="57"/>
                    </a:lnTo>
                    <a:lnTo>
                      <a:pt x="42" y="62"/>
                    </a:lnTo>
                    <a:lnTo>
                      <a:pt x="28" y="65"/>
                    </a:lnTo>
                    <a:lnTo>
                      <a:pt x="23" y="67"/>
                    </a:lnTo>
                    <a:lnTo>
                      <a:pt x="17" y="70"/>
                    </a:lnTo>
                    <a:lnTo>
                      <a:pt x="11" y="72"/>
                    </a:lnTo>
                    <a:lnTo>
                      <a:pt x="6" y="75"/>
                    </a:lnTo>
                    <a:lnTo>
                      <a:pt x="0" y="77"/>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51" name="Freeform 414"/>
              <p:cNvSpPr>
                <a:spLocks/>
              </p:cNvSpPr>
              <p:nvPr/>
            </p:nvSpPr>
            <p:spPr bwMode="auto">
              <a:xfrm>
                <a:off x="1834" y="2764"/>
                <a:ext cx="82" cy="51"/>
              </a:xfrm>
              <a:custGeom>
                <a:avLst/>
                <a:gdLst>
                  <a:gd name="T0" fmla="*/ 0 w 82"/>
                  <a:gd name="T1" fmla="*/ 50 h 51"/>
                  <a:gd name="T2" fmla="*/ 3 w 82"/>
                  <a:gd name="T3" fmla="*/ 45 h 51"/>
                  <a:gd name="T4" fmla="*/ 8 w 82"/>
                  <a:gd name="T5" fmla="*/ 43 h 51"/>
                  <a:gd name="T6" fmla="*/ 14 w 82"/>
                  <a:gd name="T7" fmla="*/ 38 h 51"/>
                  <a:gd name="T8" fmla="*/ 20 w 82"/>
                  <a:gd name="T9" fmla="*/ 35 h 51"/>
                  <a:gd name="T10" fmla="*/ 25 w 82"/>
                  <a:gd name="T11" fmla="*/ 35 h 51"/>
                  <a:gd name="T12" fmla="*/ 31 w 82"/>
                  <a:gd name="T13" fmla="*/ 33 h 51"/>
                  <a:gd name="T14" fmla="*/ 36 w 82"/>
                  <a:gd name="T15" fmla="*/ 33 h 51"/>
                  <a:gd name="T16" fmla="*/ 42 w 82"/>
                  <a:gd name="T17" fmla="*/ 30 h 51"/>
                  <a:gd name="T18" fmla="*/ 47 w 82"/>
                  <a:gd name="T19" fmla="*/ 28 h 51"/>
                  <a:gd name="T20" fmla="*/ 45 w 82"/>
                  <a:gd name="T21" fmla="*/ 23 h 51"/>
                  <a:gd name="T22" fmla="*/ 47 w 82"/>
                  <a:gd name="T23" fmla="*/ 18 h 51"/>
                  <a:gd name="T24" fmla="*/ 50 w 82"/>
                  <a:gd name="T25" fmla="*/ 13 h 51"/>
                  <a:gd name="T26" fmla="*/ 56 w 82"/>
                  <a:gd name="T27" fmla="*/ 10 h 51"/>
                  <a:gd name="T28" fmla="*/ 61 w 82"/>
                  <a:gd name="T29" fmla="*/ 10 h 51"/>
                  <a:gd name="T30" fmla="*/ 67 w 82"/>
                  <a:gd name="T31" fmla="*/ 8 h 51"/>
                  <a:gd name="T32" fmla="*/ 73 w 82"/>
                  <a:gd name="T33" fmla="*/ 8 h 51"/>
                  <a:gd name="T34" fmla="*/ 78 w 82"/>
                  <a:gd name="T35" fmla="*/ 5 h 51"/>
                  <a:gd name="T36" fmla="*/ 81 w 82"/>
                  <a:gd name="T37" fmla="*/ 0 h 5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2"/>
                  <a:gd name="T58" fmla="*/ 0 h 51"/>
                  <a:gd name="T59" fmla="*/ 82 w 82"/>
                  <a:gd name="T60" fmla="*/ 51 h 5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2" h="51">
                    <a:moveTo>
                      <a:pt x="0" y="50"/>
                    </a:moveTo>
                    <a:lnTo>
                      <a:pt x="3" y="45"/>
                    </a:lnTo>
                    <a:lnTo>
                      <a:pt x="8" y="43"/>
                    </a:lnTo>
                    <a:lnTo>
                      <a:pt x="14" y="38"/>
                    </a:lnTo>
                    <a:lnTo>
                      <a:pt x="20" y="35"/>
                    </a:lnTo>
                    <a:lnTo>
                      <a:pt x="25" y="35"/>
                    </a:lnTo>
                    <a:lnTo>
                      <a:pt x="31" y="33"/>
                    </a:lnTo>
                    <a:lnTo>
                      <a:pt x="36" y="33"/>
                    </a:lnTo>
                    <a:lnTo>
                      <a:pt x="42" y="30"/>
                    </a:lnTo>
                    <a:lnTo>
                      <a:pt x="47" y="28"/>
                    </a:lnTo>
                    <a:lnTo>
                      <a:pt x="45" y="23"/>
                    </a:lnTo>
                    <a:lnTo>
                      <a:pt x="47" y="18"/>
                    </a:lnTo>
                    <a:lnTo>
                      <a:pt x="50" y="13"/>
                    </a:lnTo>
                    <a:lnTo>
                      <a:pt x="56" y="10"/>
                    </a:lnTo>
                    <a:lnTo>
                      <a:pt x="61" y="10"/>
                    </a:lnTo>
                    <a:lnTo>
                      <a:pt x="67" y="8"/>
                    </a:lnTo>
                    <a:lnTo>
                      <a:pt x="73" y="8"/>
                    </a:lnTo>
                    <a:lnTo>
                      <a:pt x="78" y="5"/>
                    </a:lnTo>
                    <a:lnTo>
                      <a:pt x="81"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52" name="Freeform 415"/>
              <p:cNvSpPr>
                <a:spLocks/>
              </p:cNvSpPr>
              <p:nvPr/>
            </p:nvSpPr>
            <p:spPr bwMode="auto">
              <a:xfrm>
                <a:off x="1802" y="2811"/>
                <a:ext cx="123" cy="44"/>
              </a:xfrm>
              <a:custGeom>
                <a:avLst/>
                <a:gdLst>
                  <a:gd name="T0" fmla="*/ 0 w 123"/>
                  <a:gd name="T1" fmla="*/ 0 h 44"/>
                  <a:gd name="T2" fmla="*/ 6 w 123"/>
                  <a:gd name="T3" fmla="*/ 3 h 44"/>
                  <a:gd name="T4" fmla="*/ 11 w 123"/>
                  <a:gd name="T5" fmla="*/ 8 h 44"/>
                  <a:gd name="T6" fmla="*/ 17 w 123"/>
                  <a:gd name="T7" fmla="*/ 13 h 44"/>
                  <a:gd name="T8" fmla="*/ 23 w 123"/>
                  <a:gd name="T9" fmla="*/ 13 h 44"/>
                  <a:gd name="T10" fmla="*/ 28 w 123"/>
                  <a:gd name="T11" fmla="*/ 15 h 44"/>
                  <a:gd name="T12" fmla="*/ 34 w 123"/>
                  <a:gd name="T13" fmla="*/ 15 h 44"/>
                  <a:gd name="T14" fmla="*/ 40 w 123"/>
                  <a:gd name="T15" fmla="*/ 15 h 44"/>
                  <a:gd name="T16" fmla="*/ 68 w 123"/>
                  <a:gd name="T17" fmla="*/ 23 h 44"/>
                  <a:gd name="T18" fmla="*/ 79 w 123"/>
                  <a:gd name="T19" fmla="*/ 23 h 44"/>
                  <a:gd name="T20" fmla="*/ 91 w 123"/>
                  <a:gd name="T21" fmla="*/ 23 h 44"/>
                  <a:gd name="T22" fmla="*/ 91 w 123"/>
                  <a:gd name="T23" fmla="*/ 33 h 44"/>
                  <a:gd name="T24" fmla="*/ 96 w 123"/>
                  <a:gd name="T25" fmla="*/ 33 h 44"/>
                  <a:gd name="T26" fmla="*/ 102 w 123"/>
                  <a:gd name="T27" fmla="*/ 38 h 44"/>
                  <a:gd name="T28" fmla="*/ 116 w 123"/>
                  <a:gd name="T29" fmla="*/ 43 h 44"/>
                  <a:gd name="T30" fmla="*/ 122 w 123"/>
                  <a:gd name="T31" fmla="*/ 43 h 4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23"/>
                  <a:gd name="T49" fmla="*/ 0 h 44"/>
                  <a:gd name="T50" fmla="*/ 123 w 123"/>
                  <a:gd name="T51" fmla="*/ 44 h 4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23" h="44">
                    <a:moveTo>
                      <a:pt x="0" y="0"/>
                    </a:moveTo>
                    <a:lnTo>
                      <a:pt x="6" y="3"/>
                    </a:lnTo>
                    <a:lnTo>
                      <a:pt x="11" y="8"/>
                    </a:lnTo>
                    <a:lnTo>
                      <a:pt x="17" y="13"/>
                    </a:lnTo>
                    <a:lnTo>
                      <a:pt x="23" y="13"/>
                    </a:lnTo>
                    <a:lnTo>
                      <a:pt x="28" y="15"/>
                    </a:lnTo>
                    <a:lnTo>
                      <a:pt x="34" y="15"/>
                    </a:lnTo>
                    <a:lnTo>
                      <a:pt x="40" y="15"/>
                    </a:lnTo>
                    <a:lnTo>
                      <a:pt x="68" y="23"/>
                    </a:lnTo>
                    <a:lnTo>
                      <a:pt x="79" y="23"/>
                    </a:lnTo>
                    <a:lnTo>
                      <a:pt x="91" y="23"/>
                    </a:lnTo>
                    <a:lnTo>
                      <a:pt x="91" y="33"/>
                    </a:lnTo>
                    <a:lnTo>
                      <a:pt x="96" y="33"/>
                    </a:lnTo>
                    <a:lnTo>
                      <a:pt x="102" y="38"/>
                    </a:lnTo>
                    <a:lnTo>
                      <a:pt x="116" y="43"/>
                    </a:lnTo>
                    <a:lnTo>
                      <a:pt x="122" y="43"/>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53" name="Freeform 416"/>
              <p:cNvSpPr>
                <a:spLocks/>
              </p:cNvSpPr>
              <p:nvPr/>
            </p:nvSpPr>
            <p:spPr bwMode="auto">
              <a:xfrm>
                <a:off x="1856" y="2799"/>
                <a:ext cx="116" cy="51"/>
              </a:xfrm>
              <a:custGeom>
                <a:avLst/>
                <a:gdLst>
                  <a:gd name="T0" fmla="*/ 0 w 116"/>
                  <a:gd name="T1" fmla="*/ 50 h 51"/>
                  <a:gd name="T2" fmla="*/ 115 w 116"/>
                  <a:gd name="T3" fmla="*/ 25 h 51"/>
                  <a:gd name="T4" fmla="*/ 115 w 116"/>
                  <a:gd name="T5" fmla="*/ 20 h 51"/>
                  <a:gd name="T6" fmla="*/ 109 w 116"/>
                  <a:gd name="T7" fmla="*/ 18 h 51"/>
                  <a:gd name="T8" fmla="*/ 107 w 116"/>
                  <a:gd name="T9" fmla="*/ 10 h 51"/>
                  <a:gd name="T10" fmla="*/ 104 w 116"/>
                  <a:gd name="T11" fmla="*/ 5 h 51"/>
                  <a:gd name="T12" fmla="*/ 101 w 116"/>
                  <a:gd name="T13" fmla="*/ 0 h 51"/>
                  <a:gd name="T14" fmla="*/ 0 60000 65536"/>
                  <a:gd name="T15" fmla="*/ 0 60000 65536"/>
                  <a:gd name="T16" fmla="*/ 0 60000 65536"/>
                  <a:gd name="T17" fmla="*/ 0 60000 65536"/>
                  <a:gd name="T18" fmla="*/ 0 60000 65536"/>
                  <a:gd name="T19" fmla="*/ 0 60000 65536"/>
                  <a:gd name="T20" fmla="*/ 0 60000 65536"/>
                  <a:gd name="T21" fmla="*/ 0 w 116"/>
                  <a:gd name="T22" fmla="*/ 0 h 51"/>
                  <a:gd name="T23" fmla="*/ 116 w 116"/>
                  <a:gd name="T24" fmla="*/ 51 h 5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6" h="51">
                    <a:moveTo>
                      <a:pt x="0" y="50"/>
                    </a:moveTo>
                    <a:lnTo>
                      <a:pt x="115" y="25"/>
                    </a:lnTo>
                    <a:lnTo>
                      <a:pt x="115" y="20"/>
                    </a:lnTo>
                    <a:lnTo>
                      <a:pt x="109" y="18"/>
                    </a:lnTo>
                    <a:lnTo>
                      <a:pt x="107" y="10"/>
                    </a:lnTo>
                    <a:lnTo>
                      <a:pt x="104" y="5"/>
                    </a:lnTo>
                    <a:lnTo>
                      <a:pt x="101"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54" name="Freeform 417"/>
              <p:cNvSpPr>
                <a:spLocks/>
              </p:cNvSpPr>
              <p:nvPr/>
            </p:nvSpPr>
            <p:spPr bwMode="auto">
              <a:xfrm>
                <a:off x="1874" y="2656"/>
                <a:ext cx="91" cy="49"/>
              </a:xfrm>
              <a:custGeom>
                <a:avLst/>
                <a:gdLst>
                  <a:gd name="T0" fmla="*/ 0 w 91"/>
                  <a:gd name="T1" fmla="*/ 0 h 49"/>
                  <a:gd name="T2" fmla="*/ 17 w 91"/>
                  <a:gd name="T3" fmla="*/ 3 h 49"/>
                  <a:gd name="T4" fmla="*/ 23 w 91"/>
                  <a:gd name="T5" fmla="*/ 3 h 49"/>
                  <a:gd name="T6" fmla="*/ 25 w 91"/>
                  <a:gd name="T7" fmla="*/ 8 h 49"/>
                  <a:gd name="T8" fmla="*/ 31 w 91"/>
                  <a:gd name="T9" fmla="*/ 13 h 49"/>
                  <a:gd name="T10" fmla="*/ 34 w 91"/>
                  <a:gd name="T11" fmla="*/ 18 h 49"/>
                  <a:gd name="T12" fmla="*/ 37 w 91"/>
                  <a:gd name="T13" fmla="*/ 23 h 49"/>
                  <a:gd name="T14" fmla="*/ 45 w 91"/>
                  <a:gd name="T15" fmla="*/ 28 h 49"/>
                  <a:gd name="T16" fmla="*/ 56 w 91"/>
                  <a:gd name="T17" fmla="*/ 33 h 49"/>
                  <a:gd name="T18" fmla="*/ 68 w 91"/>
                  <a:gd name="T19" fmla="*/ 38 h 49"/>
                  <a:gd name="T20" fmla="*/ 79 w 91"/>
                  <a:gd name="T21" fmla="*/ 48 h 49"/>
                  <a:gd name="T22" fmla="*/ 84 w 91"/>
                  <a:gd name="T23" fmla="*/ 48 h 49"/>
                  <a:gd name="T24" fmla="*/ 90 w 91"/>
                  <a:gd name="T25" fmla="*/ 48 h 49"/>
                  <a:gd name="T26" fmla="*/ 87 w 91"/>
                  <a:gd name="T27" fmla="*/ 48 h 4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1"/>
                  <a:gd name="T43" fmla="*/ 0 h 49"/>
                  <a:gd name="T44" fmla="*/ 91 w 91"/>
                  <a:gd name="T45" fmla="*/ 49 h 4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1" h="49">
                    <a:moveTo>
                      <a:pt x="0" y="0"/>
                    </a:moveTo>
                    <a:lnTo>
                      <a:pt x="17" y="3"/>
                    </a:lnTo>
                    <a:lnTo>
                      <a:pt x="23" y="3"/>
                    </a:lnTo>
                    <a:lnTo>
                      <a:pt x="25" y="8"/>
                    </a:lnTo>
                    <a:lnTo>
                      <a:pt x="31" y="13"/>
                    </a:lnTo>
                    <a:lnTo>
                      <a:pt x="34" y="18"/>
                    </a:lnTo>
                    <a:lnTo>
                      <a:pt x="37" y="23"/>
                    </a:lnTo>
                    <a:lnTo>
                      <a:pt x="45" y="28"/>
                    </a:lnTo>
                    <a:lnTo>
                      <a:pt x="56" y="33"/>
                    </a:lnTo>
                    <a:lnTo>
                      <a:pt x="68" y="38"/>
                    </a:lnTo>
                    <a:lnTo>
                      <a:pt x="79" y="48"/>
                    </a:lnTo>
                    <a:lnTo>
                      <a:pt x="84" y="48"/>
                    </a:lnTo>
                    <a:lnTo>
                      <a:pt x="90" y="48"/>
                    </a:lnTo>
                    <a:lnTo>
                      <a:pt x="87" y="48"/>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55" name="Freeform 418"/>
              <p:cNvSpPr>
                <a:spLocks/>
              </p:cNvSpPr>
              <p:nvPr/>
            </p:nvSpPr>
            <p:spPr bwMode="auto">
              <a:xfrm>
                <a:off x="1932" y="2726"/>
                <a:ext cx="78" cy="41"/>
              </a:xfrm>
              <a:custGeom>
                <a:avLst/>
                <a:gdLst>
                  <a:gd name="T0" fmla="*/ 0 w 78"/>
                  <a:gd name="T1" fmla="*/ 40 h 41"/>
                  <a:gd name="T2" fmla="*/ 34 w 78"/>
                  <a:gd name="T3" fmla="*/ 23 h 41"/>
                  <a:gd name="T4" fmla="*/ 40 w 78"/>
                  <a:gd name="T5" fmla="*/ 23 h 41"/>
                  <a:gd name="T6" fmla="*/ 46 w 78"/>
                  <a:gd name="T7" fmla="*/ 23 h 41"/>
                  <a:gd name="T8" fmla="*/ 51 w 78"/>
                  <a:gd name="T9" fmla="*/ 23 h 41"/>
                  <a:gd name="T10" fmla="*/ 57 w 78"/>
                  <a:gd name="T11" fmla="*/ 23 h 41"/>
                  <a:gd name="T12" fmla="*/ 63 w 78"/>
                  <a:gd name="T13" fmla="*/ 20 h 41"/>
                  <a:gd name="T14" fmla="*/ 68 w 78"/>
                  <a:gd name="T15" fmla="*/ 15 h 41"/>
                  <a:gd name="T16" fmla="*/ 71 w 78"/>
                  <a:gd name="T17" fmla="*/ 10 h 41"/>
                  <a:gd name="T18" fmla="*/ 74 w 78"/>
                  <a:gd name="T19" fmla="*/ 5 h 41"/>
                  <a:gd name="T20" fmla="*/ 77 w 78"/>
                  <a:gd name="T21" fmla="*/ 0 h 4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8"/>
                  <a:gd name="T34" fmla="*/ 0 h 41"/>
                  <a:gd name="T35" fmla="*/ 78 w 78"/>
                  <a:gd name="T36" fmla="*/ 41 h 4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8" h="41">
                    <a:moveTo>
                      <a:pt x="0" y="40"/>
                    </a:moveTo>
                    <a:lnTo>
                      <a:pt x="34" y="23"/>
                    </a:lnTo>
                    <a:lnTo>
                      <a:pt x="40" y="23"/>
                    </a:lnTo>
                    <a:lnTo>
                      <a:pt x="46" y="23"/>
                    </a:lnTo>
                    <a:lnTo>
                      <a:pt x="51" y="23"/>
                    </a:lnTo>
                    <a:lnTo>
                      <a:pt x="57" y="23"/>
                    </a:lnTo>
                    <a:lnTo>
                      <a:pt x="63" y="20"/>
                    </a:lnTo>
                    <a:lnTo>
                      <a:pt x="68" y="15"/>
                    </a:lnTo>
                    <a:lnTo>
                      <a:pt x="71" y="10"/>
                    </a:lnTo>
                    <a:lnTo>
                      <a:pt x="74" y="5"/>
                    </a:lnTo>
                    <a:lnTo>
                      <a:pt x="77"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56" name="Freeform 419"/>
              <p:cNvSpPr>
                <a:spLocks/>
              </p:cNvSpPr>
              <p:nvPr/>
            </p:nvSpPr>
            <p:spPr bwMode="auto">
              <a:xfrm>
                <a:off x="1986" y="2799"/>
                <a:ext cx="96" cy="78"/>
              </a:xfrm>
              <a:custGeom>
                <a:avLst/>
                <a:gdLst>
                  <a:gd name="T0" fmla="*/ 0 w 96"/>
                  <a:gd name="T1" fmla="*/ 0 h 78"/>
                  <a:gd name="T2" fmla="*/ 8 w 96"/>
                  <a:gd name="T3" fmla="*/ 2 h 78"/>
                  <a:gd name="T4" fmla="*/ 14 w 96"/>
                  <a:gd name="T5" fmla="*/ 7 h 78"/>
                  <a:gd name="T6" fmla="*/ 22 w 96"/>
                  <a:gd name="T7" fmla="*/ 30 h 78"/>
                  <a:gd name="T8" fmla="*/ 34 w 96"/>
                  <a:gd name="T9" fmla="*/ 40 h 78"/>
                  <a:gd name="T10" fmla="*/ 34 w 96"/>
                  <a:gd name="T11" fmla="*/ 50 h 78"/>
                  <a:gd name="T12" fmla="*/ 45 w 96"/>
                  <a:gd name="T13" fmla="*/ 60 h 78"/>
                  <a:gd name="T14" fmla="*/ 50 w 96"/>
                  <a:gd name="T15" fmla="*/ 70 h 78"/>
                  <a:gd name="T16" fmla="*/ 53 w 96"/>
                  <a:gd name="T17" fmla="*/ 75 h 78"/>
                  <a:gd name="T18" fmla="*/ 59 w 96"/>
                  <a:gd name="T19" fmla="*/ 77 h 78"/>
                  <a:gd name="T20" fmla="*/ 64 w 96"/>
                  <a:gd name="T21" fmla="*/ 75 h 78"/>
                  <a:gd name="T22" fmla="*/ 70 w 96"/>
                  <a:gd name="T23" fmla="*/ 75 h 78"/>
                  <a:gd name="T24" fmla="*/ 73 w 96"/>
                  <a:gd name="T25" fmla="*/ 70 h 78"/>
                  <a:gd name="T26" fmla="*/ 75 w 96"/>
                  <a:gd name="T27" fmla="*/ 65 h 78"/>
                  <a:gd name="T28" fmla="*/ 81 w 96"/>
                  <a:gd name="T29" fmla="*/ 62 h 78"/>
                  <a:gd name="T30" fmla="*/ 87 w 96"/>
                  <a:gd name="T31" fmla="*/ 60 h 78"/>
                  <a:gd name="T32" fmla="*/ 89 w 96"/>
                  <a:gd name="T33" fmla="*/ 55 h 78"/>
                  <a:gd name="T34" fmla="*/ 95 w 96"/>
                  <a:gd name="T35" fmla="*/ 50 h 78"/>
                  <a:gd name="T36" fmla="*/ 95 w 96"/>
                  <a:gd name="T37" fmla="*/ 45 h 7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6"/>
                  <a:gd name="T58" fmla="*/ 0 h 78"/>
                  <a:gd name="T59" fmla="*/ 96 w 96"/>
                  <a:gd name="T60" fmla="*/ 78 h 7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6" h="78">
                    <a:moveTo>
                      <a:pt x="0" y="0"/>
                    </a:moveTo>
                    <a:lnTo>
                      <a:pt x="8" y="2"/>
                    </a:lnTo>
                    <a:lnTo>
                      <a:pt x="14" y="7"/>
                    </a:lnTo>
                    <a:lnTo>
                      <a:pt x="22" y="30"/>
                    </a:lnTo>
                    <a:lnTo>
                      <a:pt x="34" y="40"/>
                    </a:lnTo>
                    <a:lnTo>
                      <a:pt x="34" y="50"/>
                    </a:lnTo>
                    <a:lnTo>
                      <a:pt x="45" y="60"/>
                    </a:lnTo>
                    <a:lnTo>
                      <a:pt x="50" y="70"/>
                    </a:lnTo>
                    <a:lnTo>
                      <a:pt x="53" y="75"/>
                    </a:lnTo>
                    <a:lnTo>
                      <a:pt x="59" y="77"/>
                    </a:lnTo>
                    <a:lnTo>
                      <a:pt x="64" y="75"/>
                    </a:lnTo>
                    <a:lnTo>
                      <a:pt x="70" y="75"/>
                    </a:lnTo>
                    <a:lnTo>
                      <a:pt x="73" y="70"/>
                    </a:lnTo>
                    <a:lnTo>
                      <a:pt x="75" y="65"/>
                    </a:lnTo>
                    <a:lnTo>
                      <a:pt x="81" y="62"/>
                    </a:lnTo>
                    <a:lnTo>
                      <a:pt x="87" y="60"/>
                    </a:lnTo>
                    <a:lnTo>
                      <a:pt x="89" y="55"/>
                    </a:lnTo>
                    <a:lnTo>
                      <a:pt x="95" y="50"/>
                    </a:lnTo>
                    <a:lnTo>
                      <a:pt x="95" y="45"/>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57" name="Freeform 420"/>
              <p:cNvSpPr>
                <a:spLocks/>
              </p:cNvSpPr>
              <p:nvPr/>
            </p:nvSpPr>
            <p:spPr bwMode="auto">
              <a:xfrm>
                <a:off x="2005" y="2776"/>
                <a:ext cx="97" cy="49"/>
              </a:xfrm>
              <a:custGeom>
                <a:avLst/>
                <a:gdLst>
                  <a:gd name="T0" fmla="*/ 0 w 97"/>
                  <a:gd name="T1" fmla="*/ 3 h 49"/>
                  <a:gd name="T2" fmla="*/ 6 w 97"/>
                  <a:gd name="T3" fmla="*/ 3 h 49"/>
                  <a:gd name="T4" fmla="*/ 11 w 97"/>
                  <a:gd name="T5" fmla="*/ 0 h 49"/>
                  <a:gd name="T6" fmla="*/ 17 w 97"/>
                  <a:gd name="T7" fmla="*/ 0 h 49"/>
                  <a:gd name="T8" fmla="*/ 23 w 97"/>
                  <a:gd name="T9" fmla="*/ 3 h 49"/>
                  <a:gd name="T10" fmla="*/ 28 w 97"/>
                  <a:gd name="T11" fmla="*/ 10 h 49"/>
                  <a:gd name="T12" fmla="*/ 40 w 97"/>
                  <a:gd name="T13" fmla="*/ 20 h 49"/>
                  <a:gd name="T14" fmla="*/ 51 w 97"/>
                  <a:gd name="T15" fmla="*/ 25 h 49"/>
                  <a:gd name="T16" fmla="*/ 51 w 97"/>
                  <a:gd name="T17" fmla="*/ 35 h 49"/>
                  <a:gd name="T18" fmla="*/ 62 w 97"/>
                  <a:gd name="T19" fmla="*/ 45 h 49"/>
                  <a:gd name="T20" fmla="*/ 68 w 97"/>
                  <a:gd name="T21" fmla="*/ 45 h 49"/>
                  <a:gd name="T22" fmla="*/ 73 w 97"/>
                  <a:gd name="T23" fmla="*/ 45 h 49"/>
                  <a:gd name="T24" fmla="*/ 79 w 97"/>
                  <a:gd name="T25" fmla="*/ 45 h 49"/>
                  <a:gd name="T26" fmla="*/ 85 w 97"/>
                  <a:gd name="T27" fmla="*/ 45 h 49"/>
                  <a:gd name="T28" fmla="*/ 90 w 97"/>
                  <a:gd name="T29" fmla="*/ 45 h 49"/>
                  <a:gd name="T30" fmla="*/ 96 w 97"/>
                  <a:gd name="T31" fmla="*/ 48 h 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7"/>
                  <a:gd name="T49" fmla="*/ 0 h 49"/>
                  <a:gd name="T50" fmla="*/ 97 w 97"/>
                  <a:gd name="T51" fmla="*/ 49 h 4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7" h="49">
                    <a:moveTo>
                      <a:pt x="0" y="3"/>
                    </a:moveTo>
                    <a:lnTo>
                      <a:pt x="6" y="3"/>
                    </a:lnTo>
                    <a:lnTo>
                      <a:pt x="11" y="0"/>
                    </a:lnTo>
                    <a:lnTo>
                      <a:pt x="17" y="0"/>
                    </a:lnTo>
                    <a:lnTo>
                      <a:pt x="23" y="3"/>
                    </a:lnTo>
                    <a:lnTo>
                      <a:pt x="28" y="10"/>
                    </a:lnTo>
                    <a:lnTo>
                      <a:pt x="40" y="20"/>
                    </a:lnTo>
                    <a:lnTo>
                      <a:pt x="51" y="25"/>
                    </a:lnTo>
                    <a:lnTo>
                      <a:pt x="51" y="35"/>
                    </a:lnTo>
                    <a:lnTo>
                      <a:pt x="62" y="45"/>
                    </a:lnTo>
                    <a:lnTo>
                      <a:pt x="68" y="45"/>
                    </a:lnTo>
                    <a:lnTo>
                      <a:pt x="73" y="45"/>
                    </a:lnTo>
                    <a:lnTo>
                      <a:pt x="79" y="45"/>
                    </a:lnTo>
                    <a:lnTo>
                      <a:pt x="85" y="45"/>
                    </a:lnTo>
                    <a:lnTo>
                      <a:pt x="90" y="45"/>
                    </a:lnTo>
                    <a:lnTo>
                      <a:pt x="96" y="48"/>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58" name="Freeform 421"/>
              <p:cNvSpPr>
                <a:spLocks/>
              </p:cNvSpPr>
              <p:nvPr/>
            </p:nvSpPr>
            <p:spPr bwMode="auto">
              <a:xfrm>
                <a:off x="1958" y="2714"/>
                <a:ext cx="149" cy="36"/>
              </a:xfrm>
              <a:custGeom>
                <a:avLst/>
                <a:gdLst>
                  <a:gd name="T0" fmla="*/ 0 w 149"/>
                  <a:gd name="T1" fmla="*/ 35 h 36"/>
                  <a:gd name="T2" fmla="*/ 6 w 149"/>
                  <a:gd name="T3" fmla="*/ 30 h 36"/>
                  <a:gd name="T4" fmla="*/ 8 w 149"/>
                  <a:gd name="T5" fmla="*/ 25 h 36"/>
                  <a:gd name="T6" fmla="*/ 25 w 149"/>
                  <a:gd name="T7" fmla="*/ 10 h 36"/>
                  <a:gd name="T8" fmla="*/ 50 w 149"/>
                  <a:gd name="T9" fmla="*/ 0 h 36"/>
                  <a:gd name="T10" fmla="*/ 61 w 149"/>
                  <a:gd name="T11" fmla="*/ 0 h 36"/>
                  <a:gd name="T12" fmla="*/ 106 w 149"/>
                  <a:gd name="T13" fmla="*/ 0 h 36"/>
                  <a:gd name="T14" fmla="*/ 131 w 149"/>
                  <a:gd name="T15" fmla="*/ 0 h 36"/>
                  <a:gd name="T16" fmla="*/ 142 w 149"/>
                  <a:gd name="T17" fmla="*/ 0 h 36"/>
                  <a:gd name="T18" fmla="*/ 148 w 149"/>
                  <a:gd name="T19" fmla="*/ 0 h 3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9"/>
                  <a:gd name="T31" fmla="*/ 0 h 36"/>
                  <a:gd name="T32" fmla="*/ 149 w 149"/>
                  <a:gd name="T33" fmla="*/ 36 h 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9" h="36">
                    <a:moveTo>
                      <a:pt x="0" y="35"/>
                    </a:moveTo>
                    <a:lnTo>
                      <a:pt x="6" y="30"/>
                    </a:lnTo>
                    <a:lnTo>
                      <a:pt x="8" y="25"/>
                    </a:lnTo>
                    <a:lnTo>
                      <a:pt x="25" y="10"/>
                    </a:lnTo>
                    <a:lnTo>
                      <a:pt x="50" y="0"/>
                    </a:lnTo>
                    <a:lnTo>
                      <a:pt x="61" y="0"/>
                    </a:lnTo>
                    <a:lnTo>
                      <a:pt x="106" y="0"/>
                    </a:lnTo>
                    <a:lnTo>
                      <a:pt x="131" y="0"/>
                    </a:lnTo>
                    <a:lnTo>
                      <a:pt x="142" y="0"/>
                    </a:lnTo>
                    <a:lnTo>
                      <a:pt x="148"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59" name="Freeform 422"/>
              <p:cNvSpPr>
                <a:spLocks/>
              </p:cNvSpPr>
              <p:nvPr/>
            </p:nvSpPr>
            <p:spPr bwMode="auto">
              <a:xfrm>
                <a:off x="2067" y="2654"/>
                <a:ext cx="46" cy="101"/>
              </a:xfrm>
              <a:custGeom>
                <a:avLst/>
                <a:gdLst>
                  <a:gd name="T0" fmla="*/ 0 w 46"/>
                  <a:gd name="T1" fmla="*/ 0 h 101"/>
                  <a:gd name="T2" fmla="*/ 11 w 46"/>
                  <a:gd name="T3" fmla="*/ 8 h 101"/>
                  <a:gd name="T4" fmla="*/ 17 w 46"/>
                  <a:gd name="T5" fmla="*/ 13 h 101"/>
                  <a:gd name="T6" fmla="*/ 17 w 46"/>
                  <a:gd name="T7" fmla="*/ 18 h 101"/>
                  <a:gd name="T8" fmla="*/ 14 w 46"/>
                  <a:gd name="T9" fmla="*/ 23 h 101"/>
                  <a:gd name="T10" fmla="*/ 14 w 46"/>
                  <a:gd name="T11" fmla="*/ 28 h 101"/>
                  <a:gd name="T12" fmla="*/ 11 w 46"/>
                  <a:gd name="T13" fmla="*/ 33 h 101"/>
                  <a:gd name="T14" fmla="*/ 11 w 46"/>
                  <a:gd name="T15" fmla="*/ 38 h 101"/>
                  <a:gd name="T16" fmla="*/ 11 w 46"/>
                  <a:gd name="T17" fmla="*/ 43 h 101"/>
                  <a:gd name="T18" fmla="*/ 17 w 46"/>
                  <a:gd name="T19" fmla="*/ 53 h 101"/>
                  <a:gd name="T20" fmla="*/ 28 w 46"/>
                  <a:gd name="T21" fmla="*/ 63 h 101"/>
                  <a:gd name="T22" fmla="*/ 34 w 46"/>
                  <a:gd name="T23" fmla="*/ 68 h 101"/>
                  <a:gd name="T24" fmla="*/ 39 w 46"/>
                  <a:gd name="T25" fmla="*/ 70 h 101"/>
                  <a:gd name="T26" fmla="*/ 42 w 46"/>
                  <a:gd name="T27" fmla="*/ 75 h 101"/>
                  <a:gd name="T28" fmla="*/ 45 w 46"/>
                  <a:gd name="T29" fmla="*/ 80 h 101"/>
                  <a:gd name="T30" fmla="*/ 45 w 46"/>
                  <a:gd name="T31" fmla="*/ 85 h 101"/>
                  <a:gd name="T32" fmla="*/ 45 w 46"/>
                  <a:gd name="T33" fmla="*/ 90 h 101"/>
                  <a:gd name="T34" fmla="*/ 45 w 46"/>
                  <a:gd name="T35" fmla="*/ 95 h 101"/>
                  <a:gd name="T36" fmla="*/ 45 w 46"/>
                  <a:gd name="T37" fmla="*/ 100 h 101"/>
                  <a:gd name="T38" fmla="*/ 45 w 46"/>
                  <a:gd name="T39" fmla="*/ 98 h 10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6"/>
                  <a:gd name="T61" fmla="*/ 0 h 101"/>
                  <a:gd name="T62" fmla="*/ 46 w 46"/>
                  <a:gd name="T63" fmla="*/ 101 h 10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6" h="101">
                    <a:moveTo>
                      <a:pt x="0" y="0"/>
                    </a:moveTo>
                    <a:lnTo>
                      <a:pt x="11" y="8"/>
                    </a:lnTo>
                    <a:lnTo>
                      <a:pt x="17" y="13"/>
                    </a:lnTo>
                    <a:lnTo>
                      <a:pt x="17" y="18"/>
                    </a:lnTo>
                    <a:lnTo>
                      <a:pt x="14" y="23"/>
                    </a:lnTo>
                    <a:lnTo>
                      <a:pt x="14" y="28"/>
                    </a:lnTo>
                    <a:lnTo>
                      <a:pt x="11" y="33"/>
                    </a:lnTo>
                    <a:lnTo>
                      <a:pt x="11" y="38"/>
                    </a:lnTo>
                    <a:lnTo>
                      <a:pt x="11" y="43"/>
                    </a:lnTo>
                    <a:lnTo>
                      <a:pt x="17" y="53"/>
                    </a:lnTo>
                    <a:lnTo>
                      <a:pt x="28" y="63"/>
                    </a:lnTo>
                    <a:lnTo>
                      <a:pt x="34" y="68"/>
                    </a:lnTo>
                    <a:lnTo>
                      <a:pt x="39" y="70"/>
                    </a:lnTo>
                    <a:lnTo>
                      <a:pt x="42" y="75"/>
                    </a:lnTo>
                    <a:lnTo>
                      <a:pt x="45" y="80"/>
                    </a:lnTo>
                    <a:lnTo>
                      <a:pt x="45" y="85"/>
                    </a:lnTo>
                    <a:lnTo>
                      <a:pt x="45" y="90"/>
                    </a:lnTo>
                    <a:lnTo>
                      <a:pt x="45" y="95"/>
                    </a:lnTo>
                    <a:lnTo>
                      <a:pt x="45" y="100"/>
                    </a:lnTo>
                    <a:lnTo>
                      <a:pt x="45" y="98"/>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60" name="Freeform 423"/>
              <p:cNvSpPr>
                <a:spLocks/>
              </p:cNvSpPr>
              <p:nvPr/>
            </p:nvSpPr>
            <p:spPr bwMode="auto">
              <a:xfrm>
                <a:off x="2036" y="2691"/>
                <a:ext cx="88" cy="66"/>
              </a:xfrm>
              <a:custGeom>
                <a:avLst/>
                <a:gdLst>
                  <a:gd name="T0" fmla="*/ 87 w 88"/>
                  <a:gd name="T1" fmla="*/ 0 h 66"/>
                  <a:gd name="T2" fmla="*/ 59 w 88"/>
                  <a:gd name="T3" fmla="*/ 23 h 66"/>
                  <a:gd name="T4" fmla="*/ 56 w 88"/>
                  <a:gd name="T5" fmla="*/ 28 h 66"/>
                  <a:gd name="T6" fmla="*/ 51 w 88"/>
                  <a:gd name="T7" fmla="*/ 33 h 66"/>
                  <a:gd name="T8" fmla="*/ 45 w 88"/>
                  <a:gd name="T9" fmla="*/ 38 h 66"/>
                  <a:gd name="T10" fmla="*/ 42 w 88"/>
                  <a:gd name="T11" fmla="*/ 43 h 66"/>
                  <a:gd name="T12" fmla="*/ 36 w 88"/>
                  <a:gd name="T13" fmla="*/ 43 h 66"/>
                  <a:gd name="T14" fmla="*/ 31 w 88"/>
                  <a:gd name="T15" fmla="*/ 48 h 66"/>
                  <a:gd name="T16" fmla="*/ 25 w 88"/>
                  <a:gd name="T17" fmla="*/ 53 h 66"/>
                  <a:gd name="T18" fmla="*/ 11 w 88"/>
                  <a:gd name="T19" fmla="*/ 55 h 66"/>
                  <a:gd name="T20" fmla="*/ 11 w 88"/>
                  <a:gd name="T21" fmla="*/ 65 h 66"/>
                  <a:gd name="T22" fmla="*/ 6 w 88"/>
                  <a:gd name="T23" fmla="*/ 65 h 66"/>
                  <a:gd name="T24" fmla="*/ 0 w 88"/>
                  <a:gd name="T25" fmla="*/ 65 h 66"/>
                  <a:gd name="T26" fmla="*/ 6 w 88"/>
                  <a:gd name="T27" fmla="*/ 63 h 6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8"/>
                  <a:gd name="T43" fmla="*/ 0 h 66"/>
                  <a:gd name="T44" fmla="*/ 88 w 88"/>
                  <a:gd name="T45" fmla="*/ 66 h 6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8" h="66">
                    <a:moveTo>
                      <a:pt x="87" y="0"/>
                    </a:moveTo>
                    <a:lnTo>
                      <a:pt x="59" y="23"/>
                    </a:lnTo>
                    <a:lnTo>
                      <a:pt x="56" y="28"/>
                    </a:lnTo>
                    <a:lnTo>
                      <a:pt x="51" y="33"/>
                    </a:lnTo>
                    <a:lnTo>
                      <a:pt x="45" y="38"/>
                    </a:lnTo>
                    <a:lnTo>
                      <a:pt x="42" y="43"/>
                    </a:lnTo>
                    <a:lnTo>
                      <a:pt x="36" y="43"/>
                    </a:lnTo>
                    <a:lnTo>
                      <a:pt x="31" y="48"/>
                    </a:lnTo>
                    <a:lnTo>
                      <a:pt x="25" y="53"/>
                    </a:lnTo>
                    <a:lnTo>
                      <a:pt x="11" y="55"/>
                    </a:lnTo>
                    <a:lnTo>
                      <a:pt x="11" y="65"/>
                    </a:lnTo>
                    <a:lnTo>
                      <a:pt x="6" y="65"/>
                    </a:lnTo>
                    <a:lnTo>
                      <a:pt x="0" y="65"/>
                    </a:lnTo>
                    <a:lnTo>
                      <a:pt x="6" y="63"/>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61" name="Freeform 424"/>
              <p:cNvSpPr>
                <a:spLocks/>
              </p:cNvSpPr>
              <p:nvPr/>
            </p:nvSpPr>
            <p:spPr bwMode="auto">
              <a:xfrm>
                <a:off x="2115" y="2714"/>
                <a:ext cx="24" cy="88"/>
              </a:xfrm>
              <a:custGeom>
                <a:avLst/>
                <a:gdLst>
                  <a:gd name="T0" fmla="*/ 0 w 24"/>
                  <a:gd name="T1" fmla="*/ 87 h 88"/>
                  <a:gd name="T2" fmla="*/ 23 w 24"/>
                  <a:gd name="T3" fmla="*/ 60 h 88"/>
                  <a:gd name="T4" fmla="*/ 23 w 24"/>
                  <a:gd name="T5" fmla="*/ 55 h 88"/>
                  <a:gd name="T6" fmla="*/ 23 w 24"/>
                  <a:gd name="T7" fmla="*/ 50 h 88"/>
                  <a:gd name="T8" fmla="*/ 23 w 24"/>
                  <a:gd name="T9" fmla="*/ 45 h 88"/>
                  <a:gd name="T10" fmla="*/ 23 w 24"/>
                  <a:gd name="T11" fmla="*/ 40 h 88"/>
                  <a:gd name="T12" fmla="*/ 23 w 24"/>
                  <a:gd name="T13" fmla="*/ 35 h 88"/>
                  <a:gd name="T14" fmla="*/ 23 w 24"/>
                  <a:gd name="T15" fmla="*/ 30 h 88"/>
                  <a:gd name="T16" fmla="*/ 23 w 24"/>
                  <a:gd name="T17" fmla="*/ 25 h 88"/>
                  <a:gd name="T18" fmla="*/ 23 w 24"/>
                  <a:gd name="T19" fmla="*/ 20 h 88"/>
                  <a:gd name="T20" fmla="*/ 23 w 24"/>
                  <a:gd name="T21" fmla="*/ 15 h 88"/>
                  <a:gd name="T22" fmla="*/ 23 w 24"/>
                  <a:gd name="T23" fmla="*/ 10 h 88"/>
                  <a:gd name="T24" fmla="*/ 23 w 24"/>
                  <a:gd name="T25" fmla="*/ 5 h 88"/>
                  <a:gd name="T26" fmla="*/ 23 w 24"/>
                  <a:gd name="T27" fmla="*/ 0 h 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4"/>
                  <a:gd name="T43" fmla="*/ 0 h 88"/>
                  <a:gd name="T44" fmla="*/ 24 w 24"/>
                  <a:gd name="T45" fmla="*/ 88 h 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4" h="88">
                    <a:moveTo>
                      <a:pt x="0" y="87"/>
                    </a:moveTo>
                    <a:lnTo>
                      <a:pt x="23" y="60"/>
                    </a:lnTo>
                    <a:lnTo>
                      <a:pt x="23" y="55"/>
                    </a:lnTo>
                    <a:lnTo>
                      <a:pt x="23" y="50"/>
                    </a:lnTo>
                    <a:lnTo>
                      <a:pt x="23" y="45"/>
                    </a:lnTo>
                    <a:lnTo>
                      <a:pt x="23" y="40"/>
                    </a:lnTo>
                    <a:lnTo>
                      <a:pt x="23" y="35"/>
                    </a:lnTo>
                    <a:lnTo>
                      <a:pt x="23" y="30"/>
                    </a:lnTo>
                    <a:lnTo>
                      <a:pt x="23" y="25"/>
                    </a:lnTo>
                    <a:lnTo>
                      <a:pt x="23" y="20"/>
                    </a:lnTo>
                    <a:lnTo>
                      <a:pt x="23" y="15"/>
                    </a:lnTo>
                    <a:lnTo>
                      <a:pt x="23" y="10"/>
                    </a:lnTo>
                    <a:lnTo>
                      <a:pt x="23" y="5"/>
                    </a:lnTo>
                    <a:lnTo>
                      <a:pt x="23"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62" name="Freeform 425"/>
              <p:cNvSpPr>
                <a:spLocks/>
              </p:cNvSpPr>
              <p:nvPr/>
            </p:nvSpPr>
            <p:spPr bwMode="auto">
              <a:xfrm>
                <a:off x="2048" y="2826"/>
                <a:ext cx="126" cy="19"/>
              </a:xfrm>
              <a:custGeom>
                <a:avLst/>
                <a:gdLst>
                  <a:gd name="T0" fmla="*/ 0 w 126"/>
                  <a:gd name="T1" fmla="*/ 10 h 19"/>
                  <a:gd name="T2" fmla="*/ 36 w 126"/>
                  <a:gd name="T3" fmla="*/ 10 h 19"/>
                  <a:gd name="T4" fmla="*/ 42 w 126"/>
                  <a:gd name="T5" fmla="*/ 13 h 19"/>
                  <a:gd name="T6" fmla="*/ 47 w 126"/>
                  <a:gd name="T7" fmla="*/ 15 h 19"/>
                  <a:gd name="T8" fmla="*/ 61 w 126"/>
                  <a:gd name="T9" fmla="*/ 18 h 19"/>
                  <a:gd name="T10" fmla="*/ 72 w 126"/>
                  <a:gd name="T11" fmla="*/ 18 h 19"/>
                  <a:gd name="T12" fmla="*/ 86 w 126"/>
                  <a:gd name="T13" fmla="*/ 13 h 19"/>
                  <a:gd name="T14" fmla="*/ 92 w 126"/>
                  <a:gd name="T15" fmla="*/ 13 h 19"/>
                  <a:gd name="T16" fmla="*/ 103 w 126"/>
                  <a:gd name="T17" fmla="*/ 8 h 19"/>
                  <a:gd name="T18" fmla="*/ 114 w 126"/>
                  <a:gd name="T19" fmla="*/ 8 h 19"/>
                  <a:gd name="T20" fmla="*/ 119 w 126"/>
                  <a:gd name="T21" fmla="*/ 5 h 19"/>
                  <a:gd name="T22" fmla="*/ 125 w 126"/>
                  <a:gd name="T23" fmla="*/ 0 h 1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6"/>
                  <a:gd name="T37" fmla="*/ 0 h 19"/>
                  <a:gd name="T38" fmla="*/ 126 w 126"/>
                  <a:gd name="T39" fmla="*/ 19 h 1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6" h="19">
                    <a:moveTo>
                      <a:pt x="0" y="10"/>
                    </a:moveTo>
                    <a:lnTo>
                      <a:pt x="36" y="10"/>
                    </a:lnTo>
                    <a:lnTo>
                      <a:pt x="42" y="13"/>
                    </a:lnTo>
                    <a:lnTo>
                      <a:pt x="47" y="15"/>
                    </a:lnTo>
                    <a:lnTo>
                      <a:pt x="61" y="18"/>
                    </a:lnTo>
                    <a:lnTo>
                      <a:pt x="72" y="18"/>
                    </a:lnTo>
                    <a:lnTo>
                      <a:pt x="86" y="13"/>
                    </a:lnTo>
                    <a:lnTo>
                      <a:pt x="92" y="13"/>
                    </a:lnTo>
                    <a:lnTo>
                      <a:pt x="103" y="8"/>
                    </a:lnTo>
                    <a:lnTo>
                      <a:pt x="114" y="8"/>
                    </a:lnTo>
                    <a:lnTo>
                      <a:pt x="119" y="5"/>
                    </a:lnTo>
                    <a:lnTo>
                      <a:pt x="125"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63" name="Freeform 426"/>
              <p:cNvSpPr>
                <a:spLocks/>
              </p:cNvSpPr>
              <p:nvPr/>
            </p:nvSpPr>
            <p:spPr bwMode="auto">
              <a:xfrm>
                <a:off x="1823" y="2651"/>
                <a:ext cx="91" cy="91"/>
              </a:xfrm>
              <a:custGeom>
                <a:avLst/>
                <a:gdLst>
                  <a:gd name="T0" fmla="*/ 0 w 91"/>
                  <a:gd name="T1" fmla="*/ 0 h 91"/>
                  <a:gd name="T2" fmla="*/ 34 w 91"/>
                  <a:gd name="T3" fmla="*/ 25 h 91"/>
                  <a:gd name="T4" fmla="*/ 37 w 91"/>
                  <a:gd name="T5" fmla="*/ 58 h 91"/>
                  <a:gd name="T6" fmla="*/ 42 w 91"/>
                  <a:gd name="T7" fmla="*/ 63 h 91"/>
                  <a:gd name="T8" fmla="*/ 45 w 91"/>
                  <a:gd name="T9" fmla="*/ 68 h 91"/>
                  <a:gd name="T10" fmla="*/ 51 w 91"/>
                  <a:gd name="T11" fmla="*/ 70 h 91"/>
                  <a:gd name="T12" fmla="*/ 56 w 91"/>
                  <a:gd name="T13" fmla="*/ 73 h 91"/>
                  <a:gd name="T14" fmla="*/ 62 w 91"/>
                  <a:gd name="T15" fmla="*/ 75 h 91"/>
                  <a:gd name="T16" fmla="*/ 73 w 91"/>
                  <a:gd name="T17" fmla="*/ 75 h 91"/>
                  <a:gd name="T18" fmla="*/ 84 w 91"/>
                  <a:gd name="T19" fmla="*/ 85 h 91"/>
                  <a:gd name="T20" fmla="*/ 90 w 91"/>
                  <a:gd name="T21" fmla="*/ 90 h 9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1"/>
                  <a:gd name="T34" fmla="*/ 0 h 91"/>
                  <a:gd name="T35" fmla="*/ 91 w 91"/>
                  <a:gd name="T36" fmla="*/ 91 h 9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1" h="91">
                    <a:moveTo>
                      <a:pt x="0" y="0"/>
                    </a:moveTo>
                    <a:lnTo>
                      <a:pt x="34" y="25"/>
                    </a:lnTo>
                    <a:lnTo>
                      <a:pt x="37" y="58"/>
                    </a:lnTo>
                    <a:lnTo>
                      <a:pt x="42" y="63"/>
                    </a:lnTo>
                    <a:lnTo>
                      <a:pt x="45" y="68"/>
                    </a:lnTo>
                    <a:lnTo>
                      <a:pt x="51" y="70"/>
                    </a:lnTo>
                    <a:lnTo>
                      <a:pt x="56" y="73"/>
                    </a:lnTo>
                    <a:lnTo>
                      <a:pt x="62" y="75"/>
                    </a:lnTo>
                    <a:lnTo>
                      <a:pt x="73" y="75"/>
                    </a:lnTo>
                    <a:lnTo>
                      <a:pt x="84" y="85"/>
                    </a:lnTo>
                    <a:lnTo>
                      <a:pt x="90" y="9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64" name="Freeform 427"/>
              <p:cNvSpPr>
                <a:spLocks/>
              </p:cNvSpPr>
              <p:nvPr/>
            </p:nvSpPr>
            <p:spPr bwMode="auto">
              <a:xfrm>
                <a:off x="1665" y="2629"/>
                <a:ext cx="52" cy="106"/>
              </a:xfrm>
              <a:custGeom>
                <a:avLst/>
                <a:gdLst>
                  <a:gd name="T0" fmla="*/ 0 w 52"/>
                  <a:gd name="T1" fmla="*/ 0 h 106"/>
                  <a:gd name="T2" fmla="*/ 31 w 52"/>
                  <a:gd name="T3" fmla="*/ 70 h 106"/>
                  <a:gd name="T4" fmla="*/ 34 w 52"/>
                  <a:gd name="T5" fmla="*/ 75 h 106"/>
                  <a:gd name="T6" fmla="*/ 37 w 52"/>
                  <a:gd name="T7" fmla="*/ 80 h 106"/>
                  <a:gd name="T8" fmla="*/ 37 w 52"/>
                  <a:gd name="T9" fmla="*/ 85 h 106"/>
                  <a:gd name="T10" fmla="*/ 37 w 52"/>
                  <a:gd name="T11" fmla="*/ 90 h 106"/>
                  <a:gd name="T12" fmla="*/ 37 w 52"/>
                  <a:gd name="T13" fmla="*/ 95 h 106"/>
                  <a:gd name="T14" fmla="*/ 40 w 52"/>
                  <a:gd name="T15" fmla="*/ 100 h 106"/>
                  <a:gd name="T16" fmla="*/ 45 w 52"/>
                  <a:gd name="T17" fmla="*/ 105 h 106"/>
                  <a:gd name="T18" fmla="*/ 51 w 52"/>
                  <a:gd name="T19" fmla="*/ 105 h 106"/>
                  <a:gd name="T20" fmla="*/ 48 w 52"/>
                  <a:gd name="T21" fmla="*/ 105 h 10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2"/>
                  <a:gd name="T34" fmla="*/ 0 h 106"/>
                  <a:gd name="T35" fmla="*/ 52 w 52"/>
                  <a:gd name="T36" fmla="*/ 106 h 10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2" h="106">
                    <a:moveTo>
                      <a:pt x="0" y="0"/>
                    </a:moveTo>
                    <a:lnTo>
                      <a:pt x="31" y="70"/>
                    </a:lnTo>
                    <a:lnTo>
                      <a:pt x="34" y="75"/>
                    </a:lnTo>
                    <a:lnTo>
                      <a:pt x="37" y="80"/>
                    </a:lnTo>
                    <a:lnTo>
                      <a:pt x="37" y="85"/>
                    </a:lnTo>
                    <a:lnTo>
                      <a:pt x="37" y="90"/>
                    </a:lnTo>
                    <a:lnTo>
                      <a:pt x="37" y="95"/>
                    </a:lnTo>
                    <a:lnTo>
                      <a:pt x="40" y="100"/>
                    </a:lnTo>
                    <a:lnTo>
                      <a:pt x="45" y="105"/>
                    </a:lnTo>
                    <a:lnTo>
                      <a:pt x="51" y="105"/>
                    </a:lnTo>
                    <a:lnTo>
                      <a:pt x="48" y="105"/>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65" name="Freeform 428"/>
              <p:cNvSpPr>
                <a:spLocks/>
              </p:cNvSpPr>
              <p:nvPr/>
            </p:nvSpPr>
            <p:spPr bwMode="auto">
              <a:xfrm>
                <a:off x="1964" y="2645"/>
                <a:ext cx="79" cy="72"/>
              </a:xfrm>
              <a:custGeom>
                <a:avLst/>
                <a:gdLst>
                  <a:gd name="T0" fmla="*/ 78 w 79"/>
                  <a:gd name="T1" fmla="*/ 0 h 72"/>
                  <a:gd name="T2" fmla="*/ 72 w 79"/>
                  <a:gd name="T3" fmla="*/ 3 h 72"/>
                  <a:gd name="T4" fmla="*/ 67 w 79"/>
                  <a:gd name="T5" fmla="*/ 5 h 72"/>
                  <a:gd name="T6" fmla="*/ 61 w 79"/>
                  <a:gd name="T7" fmla="*/ 8 h 72"/>
                  <a:gd name="T8" fmla="*/ 61 w 79"/>
                  <a:gd name="T9" fmla="*/ 13 h 72"/>
                  <a:gd name="T10" fmla="*/ 61 w 79"/>
                  <a:gd name="T11" fmla="*/ 18 h 72"/>
                  <a:gd name="T12" fmla="*/ 61 w 79"/>
                  <a:gd name="T13" fmla="*/ 23 h 72"/>
                  <a:gd name="T14" fmla="*/ 56 w 79"/>
                  <a:gd name="T15" fmla="*/ 36 h 72"/>
                  <a:gd name="T16" fmla="*/ 45 w 79"/>
                  <a:gd name="T17" fmla="*/ 36 h 72"/>
                  <a:gd name="T18" fmla="*/ 42 w 79"/>
                  <a:gd name="T19" fmla="*/ 41 h 72"/>
                  <a:gd name="T20" fmla="*/ 31 w 79"/>
                  <a:gd name="T21" fmla="*/ 46 h 72"/>
                  <a:gd name="T22" fmla="*/ 25 w 79"/>
                  <a:gd name="T23" fmla="*/ 48 h 72"/>
                  <a:gd name="T24" fmla="*/ 8 w 79"/>
                  <a:gd name="T25" fmla="*/ 63 h 72"/>
                  <a:gd name="T26" fmla="*/ 6 w 79"/>
                  <a:gd name="T27" fmla="*/ 68 h 72"/>
                  <a:gd name="T28" fmla="*/ 0 w 79"/>
                  <a:gd name="T29" fmla="*/ 71 h 7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9"/>
                  <a:gd name="T46" fmla="*/ 0 h 72"/>
                  <a:gd name="T47" fmla="*/ 79 w 79"/>
                  <a:gd name="T48" fmla="*/ 72 h 7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9" h="72">
                    <a:moveTo>
                      <a:pt x="78" y="0"/>
                    </a:moveTo>
                    <a:lnTo>
                      <a:pt x="72" y="3"/>
                    </a:lnTo>
                    <a:lnTo>
                      <a:pt x="67" y="5"/>
                    </a:lnTo>
                    <a:lnTo>
                      <a:pt x="61" y="8"/>
                    </a:lnTo>
                    <a:lnTo>
                      <a:pt x="61" y="13"/>
                    </a:lnTo>
                    <a:lnTo>
                      <a:pt x="61" y="18"/>
                    </a:lnTo>
                    <a:lnTo>
                      <a:pt x="61" y="23"/>
                    </a:lnTo>
                    <a:lnTo>
                      <a:pt x="56" y="36"/>
                    </a:lnTo>
                    <a:lnTo>
                      <a:pt x="45" y="36"/>
                    </a:lnTo>
                    <a:lnTo>
                      <a:pt x="42" y="41"/>
                    </a:lnTo>
                    <a:lnTo>
                      <a:pt x="31" y="46"/>
                    </a:lnTo>
                    <a:lnTo>
                      <a:pt x="25" y="48"/>
                    </a:lnTo>
                    <a:lnTo>
                      <a:pt x="8" y="63"/>
                    </a:lnTo>
                    <a:lnTo>
                      <a:pt x="6" y="68"/>
                    </a:lnTo>
                    <a:lnTo>
                      <a:pt x="0" y="71"/>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66" name="Freeform 429"/>
              <p:cNvSpPr>
                <a:spLocks/>
              </p:cNvSpPr>
              <p:nvPr/>
            </p:nvSpPr>
            <p:spPr bwMode="auto">
              <a:xfrm>
                <a:off x="1901" y="2809"/>
                <a:ext cx="105" cy="46"/>
              </a:xfrm>
              <a:custGeom>
                <a:avLst/>
                <a:gdLst>
                  <a:gd name="T0" fmla="*/ 0 w 105"/>
                  <a:gd name="T1" fmla="*/ 0 h 46"/>
                  <a:gd name="T2" fmla="*/ 42 w 105"/>
                  <a:gd name="T3" fmla="*/ 0 h 46"/>
                  <a:gd name="T4" fmla="*/ 48 w 105"/>
                  <a:gd name="T5" fmla="*/ 0 h 46"/>
                  <a:gd name="T6" fmla="*/ 53 w 105"/>
                  <a:gd name="T7" fmla="*/ 5 h 46"/>
                  <a:gd name="T8" fmla="*/ 56 w 105"/>
                  <a:gd name="T9" fmla="*/ 10 h 46"/>
                  <a:gd name="T10" fmla="*/ 62 w 105"/>
                  <a:gd name="T11" fmla="*/ 13 h 46"/>
                  <a:gd name="T12" fmla="*/ 65 w 105"/>
                  <a:gd name="T13" fmla="*/ 18 h 46"/>
                  <a:gd name="T14" fmla="*/ 70 w 105"/>
                  <a:gd name="T15" fmla="*/ 23 h 46"/>
                  <a:gd name="T16" fmla="*/ 73 w 105"/>
                  <a:gd name="T17" fmla="*/ 28 h 46"/>
                  <a:gd name="T18" fmla="*/ 76 w 105"/>
                  <a:gd name="T19" fmla="*/ 33 h 46"/>
                  <a:gd name="T20" fmla="*/ 82 w 105"/>
                  <a:gd name="T21" fmla="*/ 38 h 46"/>
                  <a:gd name="T22" fmla="*/ 87 w 105"/>
                  <a:gd name="T23" fmla="*/ 40 h 46"/>
                  <a:gd name="T24" fmla="*/ 93 w 105"/>
                  <a:gd name="T25" fmla="*/ 43 h 46"/>
                  <a:gd name="T26" fmla="*/ 98 w 105"/>
                  <a:gd name="T27" fmla="*/ 45 h 46"/>
                  <a:gd name="T28" fmla="*/ 104 w 105"/>
                  <a:gd name="T29" fmla="*/ 45 h 4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5"/>
                  <a:gd name="T46" fmla="*/ 0 h 46"/>
                  <a:gd name="T47" fmla="*/ 105 w 105"/>
                  <a:gd name="T48" fmla="*/ 46 h 4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5" h="46">
                    <a:moveTo>
                      <a:pt x="0" y="0"/>
                    </a:moveTo>
                    <a:lnTo>
                      <a:pt x="42" y="0"/>
                    </a:lnTo>
                    <a:lnTo>
                      <a:pt x="48" y="0"/>
                    </a:lnTo>
                    <a:lnTo>
                      <a:pt x="53" y="5"/>
                    </a:lnTo>
                    <a:lnTo>
                      <a:pt x="56" y="10"/>
                    </a:lnTo>
                    <a:lnTo>
                      <a:pt x="62" y="13"/>
                    </a:lnTo>
                    <a:lnTo>
                      <a:pt x="65" y="18"/>
                    </a:lnTo>
                    <a:lnTo>
                      <a:pt x="70" y="23"/>
                    </a:lnTo>
                    <a:lnTo>
                      <a:pt x="73" y="28"/>
                    </a:lnTo>
                    <a:lnTo>
                      <a:pt x="76" y="33"/>
                    </a:lnTo>
                    <a:lnTo>
                      <a:pt x="82" y="38"/>
                    </a:lnTo>
                    <a:lnTo>
                      <a:pt x="87" y="40"/>
                    </a:lnTo>
                    <a:lnTo>
                      <a:pt x="93" y="43"/>
                    </a:lnTo>
                    <a:lnTo>
                      <a:pt x="98" y="45"/>
                    </a:lnTo>
                    <a:lnTo>
                      <a:pt x="104" y="45"/>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67" name="Freeform 430"/>
              <p:cNvSpPr>
                <a:spLocks/>
              </p:cNvSpPr>
              <p:nvPr/>
            </p:nvSpPr>
            <p:spPr bwMode="auto">
              <a:xfrm>
                <a:off x="1786" y="2774"/>
                <a:ext cx="38" cy="76"/>
              </a:xfrm>
              <a:custGeom>
                <a:avLst/>
                <a:gdLst>
                  <a:gd name="T0" fmla="*/ 0 w 38"/>
                  <a:gd name="T1" fmla="*/ 0 h 76"/>
                  <a:gd name="T2" fmla="*/ 3 w 38"/>
                  <a:gd name="T3" fmla="*/ 5 h 76"/>
                  <a:gd name="T4" fmla="*/ 3 w 38"/>
                  <a:gd name="T5" fmla="*/ 10 h 76"/>
                  <a:gd name="T6" fmla="*/ 3 w 38"/>
                  <a:gd name="T7" fmla="*/ 15 h 76"/>
                  <a:gd name="T8" fmla="*/ 0 w 38"/>
                  <a:gd name="T9" fmla="*/ 20 h 76"/>
                  <a:gd name="T10" fmla="*/ 0 w 38"/>
                  <a:gd name="T11" fmla="*/ 25 h 76"/>
                  <a:gd name="T12" fmla="*/ 0 w 38"/>
                  <a:gd name="T13" fmla="*/ 30 h 76"/>
                  <a:gd name="T14" fmla="*/ 0 w 38"/>
                  <a:gd name="T15" fmla="*/ 35 h 76"/>
                  <a:gd name="T16" fmla="*/ 0 w 38"/>
                  <a:gd name="T17" fmla="*/ 40 h 76"/>
                  <a:gd name="T18" fmla="*/ 6 w 38"/>
                  <a:gd name="T19" fmla="*/ 45 h 76"/>
                  <a:gd name="T20" fmla="*/ 11 w 38"/>
                  <a:gd name="T21" fmla="*/ 50 h 76"/>
                  <a:gd name="T22" fmla="*/ 14 w 38"/>
                  <a:gd name="T23" fmla="*/ 55 h 76"/>
                  <a:gd name="T24" fmla="*/ 20 w 38"/>
                  <a:gd name="T25" fmla="*/ 60 h 76"/>
                  <a:gd name="T26" fmla="*/ 23 w 38"/>
                  <a:gd name="T27" fmla="*/ 65 h 76"/>
                  <a:gd name="T28" fmla="*/ 28 w 38"/>
                  <a:gd name="T29" fmla="*/ 70 h 76"/>
                  <a:gd name="T30" fmla="*/ 31 w 38"/>
                  <a:gd name="T31" fmla="*/ 75 h 76"/>
                  <a:gd name="T32" fmla="*/ 37 w 38"/>
                  <a:gd name="T33" fmla="*/ 75 h 7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8"/>
                  <a:gd name="T52" fmla="*/ 0 h 76"/>
                  <a:gd name="T53" fmla="*/ 38 w 38"/>
                  <a:gd name="T54" fmla="*/ 76 h 7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8" h="76">
                    <a:moveTo>
                      <a:pt x="0" y="0"/>
                    </a:moveTo>
                    <a:lnTo>
                      <a:pt x="3" y="5"/>
                    </a:lnTo>
                    <a:lnTo>
                      <a:pt x="3" y="10"/>
                    </a:lnTo>
                    <a:lnTo>
                      <a:pt x="3" y="15"/>
                    </a:lnTo>
                    <a:lnTo>
                      <a:pt x="0" y="20"/>
                    </a:lnTo>
                    <a:lnTo>
                      <a:pt x="0" y="25"/>
                    </a:lnTo>
                    <a:lnTo>
                      <a:pt x="0" y="30"/>
                    </a:lnTo>
                    <a:lnTo>
                      <a:pt x="0" y="35"/>
                    </a:lnTo>
                    <a:lnTo>
                      <a:pt x="0" y="40"/>
                    </a:lnTo>
                    <a:lnTo>
                      <a:pt x="6" y="45"/>
                    </a:lnTo>
                    <a:lnTo>
                      <a:pt x="11" y="50"/>
                    </a:lnTo>
                    <a:lnTo>
                      <a:pt x="14" y="55"/>
                    </a:lnTo>
                    <a:lnTo>
                      <a:pt x="20" y="60"/>
                    </a:lnTo>
                    <a:lnTo>
                      <a:pt x="23" y="65"/>
                    </a:lnTo>
                    <a:lnTo>
                      <a:pt x="28" y="70"/>
                    </a:lnTo>
                    <a:lnTo>
                      <a:pt x="31" y="75"/>
                    </a:lnTo>
                    <a:lnTo>
                      <a:pt x="37" y="75"/>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68" name="Freeform 431"/>
              <p:cNvSpPr>
                <a:spLocks/>
              </p:cNvSpPr>
              <p:nvPr/>
            </p:nvSpPr>
            <p:spPr bwMode="auto">
              <a:xfrm>
                <a:off x="1943" y="2741"/>
                <a:ext cx="85" cy="51"/>
              </a:xfrm>
              <a:custGeom>
                <a:avLst/>
                <a:gdLst>
                  <a:gd name="T0" fmla="*/ 0 w 85"/>
                  <a:gd name="T1" fmla="*/ 50 h 51"/>
                  <a:gd name="T2" fmla="*/ 17 w 85"/>
                  <a:gd name="T3" fmla="*/ 43 h 51"/>
                  <a:gd name="T4" fmla="*/ 20 w 85"/>
                  <a:gd name="T5" fmla="*/ 38 h 51"/>
                  <a:gd name="T6" fmla="*/ 22 w 85"/>
                  <a:gd name="T7" fmla="*/ 33 h 51"/>
                  <a:gd name="T8" fmla="*/ 28 w 85"/>
                  <a:gd name="T9" fmla="*/ 30 h 51"/>
                  <a:gd name="T10" fmla="*/ 34 w 85"/>
                  <a:gd name="T11" fmla="*/ 30 h 51"/>
                  <a:gd name="T12" fmla="*/ 39 w 85"/>
                  <a:gd name="T13" fmla="*/ 30 h 51"/>
                  <a:gd name="T14" fmla="*/ 45 w 85"/>
                  <a:gd name="T15" fmla="*/ 30 h 51"/>
                  <a:gd name="T16" fmla="*/ 50 w 85"/>
                  <a:gd name="T17" fmla="*/ 30 h 51"/>
                  <a:gd name="T18" fmla="*/ 56 w 85"/>
                  <a:gd name="T19" fmla="*/ 30 h 51"/>
                  <a:gd name="T20" fmla="*/ 62 w 85"/>
                  <a:gd name="T21" fmla="*/ 28 h 51"/>
                  <a:gd name="T22" fmla="*/ 64 w 85"/>
                  <a:gd name="T23" fmla="*/ 23 h 51"/>
                  <a:gd name="T24" fmla="*/ 70 w 85"/>
                  <a:gd name="T25" fmla="*/ 18 h 51"/>
                  <a:gd name="T26" fmla="*/ 76 w 85"/>
                  <a:gd name="T27" fmla="*/ 15 h 51"/>
                  <a:gd name="T28" fmla="*/ 78 w 85"/>
                  <a:gd name="T29" fmla="*/ 10 h 51"/>
                  <a:gd name="T30" fmla="*/ 81 w 85"/>
                  <a:gd name="T31" fmla="*/ 5 h 51"/>
                  <a:gd name="T32" fmla="*/ 84 w 85"/>
                  <a:gd name="T33" fmla="*/ 0 h 5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5"/>
                  <a:gd name="T52" fmla="*/ 0 h 51"/>
                  <a:gd name="T53" fmla="*/ 85 w 85"/>
                  <a:gd name="T54" fmla="*/ 51 h 5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5" h="51">
                    <a:moveTo>
                      <a:pt x="0" y="50"/>
                    </a:moveTo>
                    <a:lnTo>
                      <a:pt x="17" y="43"/>
                    </a:lnTo>
                    <a:lnTo>
                      <a:pt x="20" y="38"/>
                    </a:lnTo>
                    <a:lnTo>
                      <a:pt x="22" y="33"/>
                    </a:lnTo>
                    <a:lnTo>
                      <a:pt x="28" y="30"/>
                    </a:lnTo>
                    <a:lnTo>
                      <a:pt x="34" y="30"/>
                    </a:lnTo>
                    <a:lnTo>
                      <a:pt x="39" y="30"/>
                    </a:lnTo>
                    <a:lnTo>
                      <a:pt x="45" y="30"/>
                    </a:lnTo>
                    <a:lnTo>
                      <a:pt x="50" y="30"/>
                    </a:lnTo>
                    <a:lnTo>
                      <a:pt x="56" y="30"/>
                    </a:lnTo>
                    <a:lnTo>
                      <a:pt x="62" y="28"/>
                    </a:lnTo>
                    <a:lnTo>
                      <a:pt x="64" y="23"/>
                    </a:lnTo>
                    <a:lnTo>
                      <a:pt x="70" y="18"/>
                    </a:lnTo>
                    <a:lnTo>
                      <a:pt x="76" y="15"/>
                    </a:lnTo>
                    <a:lnTo>
                      <a:pt x="78" y="10"/>
                    </a:lnTo>
                    <a:lnTo>
                      <a:pt x="81" y="5"/>
                    </a:lnTo>
                    <a:lnTo>
                      <a:pt x="84"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69" name="Freeform 432"/>
              <p:cNvSpPr>
                <a:spLocks/>
              </p:cNvSpPr>
              <p:nvPr/>
            </p:nvSpPr>
            <p:spPr bwMode="auto">
              <a:xfrm>
                <a:off x="1617" y="2684"/>
                <a:ext cx="145" cy="13"/>
              </a:xfrm>
              <a:custGeom>
                <a:avLst/>
                <a:gdLst>
                  <a:gd name="T0" fmla="*/ 0 w 145"/>
                  <a:gd name="T1" fmla="*/ 2 h 13"/>
                  <a:gd name="T2" fmla="*/ 17 w 145"/>
                  <a:gd name="T3" fmla="*/ 2 h 13"/>
                  <a:gd name="T4" fmla="*/ 23 w 145"/>
                  <a:gd name="T5" fmla="*/ 2 h 13"/>
                  <a:gd name="T6" fmla="*/ 28 w 145"/>
                  <a:gd name="T7" fmla="*/ 0 h 13"/>
                  <a:gd name="T8" fmla="*/ 34 w 145"/>
                  <a:gd name="T9" fmla="*/ 0 h 13"/>
                  <a:gd name="T10" fmla="*/ 40 w 145"/>
                  <a:gd name="T11" fmla="*/ 0 h 13"/>
                  <a:gd name="T12" fmla="*/ 45 w 145"/>
                  <a:gd name="T13" fmla="*/ 0 h 13"/>
                  <a:gd name="T14" fmla="*/ 59 w 145"/>
                  <a:gd name="T15" fmla="*/ 0 h 13"/>
                  <a:gd name="T16" fmla="*/ 71 w 145"/>
                  <a:gd name="T17" fmla="*/ 5 h 13"/>
                  <a:gd name="T18" fmla="*/ 82 w 145"/>
                  <a:gd name="T19" fmla="*/ 5 h 13"/>
                  <a:gd name="T20" fmla="*/ 93 w 145"/>
                  <a:gd name="T21" fmla="*/ 5 h 13"/>
                  <a:gd name="T22" fmla="*/ 104 w 145"/>
                  <a:gd name="T23" fmla="*/ 5 h 13"/>
                  <a:gd name="T24" fmla="*/ 116 w 145"/>
                  <a:gd name="T25" fmla="*/ 10 h 13"/>
                  <a:gd name="T26" fmla="*/ 127 w 145"/>
                  <a:gd name="T27" fmla="*/ 10 h 13"/>
                  <a:gd name="T28" fmla="*/ 133 w 145"/>
                  <a:gd name="T29" fmla="*/ 12 h 13"/>
                  <a:gd name="T30" fmla="*/ 138 w 145"/>
                  <a:gd name="T31" fmla="*/ 12 h 13"/>
                  <a:gd name="T32" fmla="*/ 144 w 145"/>
                  <a:gd name="T33" fmla="*/ 12 h 1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45"/>
                  <a:gd name="T52" fmla="*/ 0 h 13"/>
                  <a:gd name="T53" fmla="*/ 145 w 145"/>
                  <a:gd name="T54" fmla="*/ 13 h 1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45" h="13">
                    <a:moveTo>
                      <a:pt x="0" y="2"/>
                    </a:moveTo>
                    <a:lnTo>
                      <a:pt x="17" y="2"/>
                    </a:lnTo>
                    <a:lnTo>
                      <a:pt x="23" y="2"/>
                    </a:lnTo>
                    <a:lnTo>
                      <a:pt x="28" y="0"/>
                    </a:lnTo>
                    <a:lnTo>
                      <a:pt x="34" y="0"/>
                    </a:lnTo>
                    <a:lnTo>
                      <a:pt x="40" y="0"/>
                    </a:lnTo>
                    <a:lnTo>
                      <a:pt x="45" y="0"/>
                    </a:lnTo>
                    <a:lnTo>
                      <a:pt x="59" y="0"/>
                    </a:lnTo>
                    <a:lnTo>
                      <a:pt x="71" y="5"/>
                    </a:lnTo>
                    <a:lnTo>
                      <a:pt x="82" y="5"/>
                    </a:lnTo>
                    <a:lnTo>
                      <a:pt x="93" y="5"/>
                    </a:lnTo>
                    <a:lnTo>
                      <a:pt x="104" y="5"/>
                    </a:lnTo>
                    <a:lnTo>
                      <a:pt x="116" y="10"/>
                    </a:lnTo>
                    <a:lnTo>
                      <a:pt x="127" y="10"/>
                    </a:lnTo>
                    <a:lnTo>
                      <a:pt x="133" y="12"/>
                    </a:lnTo>
                    <a:lnTo>
                      <a:pt x="138" y="12"/>
                    </a:lnTo>
                    <a:lnTo>
                      <a:pt x="144" y="12"/>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70" name="Freeform 433"/>
              <p:cNvSpPr>
                <a:spLocks/>
              </p:cNvSpPr>
              <p:nvPr/>
            </p:nvSpPr>
            <p:spPr bwMode="auto">
              <a:xfrm>
                <a:off x="2093" y="2626"/>
                <a:ext cx="25" cy="146"/>
              </a:xfrm>
              <a:custGeom>
                <a:avLst/>
                <a:gdLst>
                  <a:gd name="T0" fmla="*/ 19 w 25"/>
                  <a:gd name="T1" fmla="*/ 0 h 146"/>
                  <a:gd name="T2" fmla="*/ 16 w 25"/>
                  <a:gd name="T3" fmla="*/ 5 h 146"/>
                  <a:gd name="T4" fmla="*/ 11 w 25"/>
                  <a:gd name="T5" fmla="*/ 10 h 146"/>
                  <a:gd name="T6" fmla="*/ 8 w 25"/>
                  <a:gd name="T7" fmla="*/ 15 h 146"/>
                  <a:gd name="T8" fmla="*/ 5 w 25"/>
                  <a:gd name="T9" fmla="*/ 20 h 146"/>
                  <a:gd name="T10" fmla="*/ 3 w 25"/>
                  <a:gd name="T11" fmla="*/ 25 h 146"/>
                  <a:gd name="T12" fmla="*/ 3 w 25"/>
                  <a:gd name="T13" fmla="*/ 30 h 146"/>
                  <a:gd name="T14" fmla="*/ 8 w 25"/>
                  <a:gd name="T15" fmla="*/ 43 h 146"/>
                  <a:gd name="T16" fmla="*/ 8 w 25"/>
                  <a:gd name="T17" fmla="*/ 53 h 146"/>
                  <a:gd name="T18" fmla="*/ 11 w 25"/>
                  <a:gd name="T19" fmla="*/ 65 h 146"/>
                  <a:gd name="T20" fmla="*/ 13 w 25"/>
                  <a:gd name="T21" fmla="*/ 78 h 146"/>
                  <a:gd name="T22" fmla="*/ 19 w 25"/>
                  <a:gd name="T23" fmla="*/ 88 h 146"/>
                  <a:gd name="T24" fmla="*/ 19 w 25"/>
                  <a:gd name="T25" fmla="*/ 98 h 146"/>
                  <a:gd name="T26" fmla="*/ 24 w 25"/>
                  <a:gd name="T27" fmla="*/ 108 h 146"/>
                  <a:gd name="T28" fmla="*/ 24 w 25"/>
                  <a:gd name="T29" fmla="*/ 118 h 146"/>
                  <a:gd name="T30" fmla="*/ 24 w 25"/>
                  <a:gd name="T31" fmla="*/ 128 h 146"/>
                  <a:gd name="T32" fmla="*/ 21 w 25"/>
                  <a:gd name="T33" fmla="*/ 133 h 146"/>
                  <a:gd name="T34" fmla="*/ 11 w 25"/>
                  <a:gd name="T35" fmla="*/ 138 h 146"/>
                  <a:gd name="T36" fmla="*/ 5 w 25"/>
                  <a:gd name="T37" fmla="*/ 143 h 146"/>
                  <a:gd name="T38" fmla="*/ 0 w 25"/>
                  <a:gd name="T39" fmla="*/ 145 h 14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5"/>
                  <a:gd name="T61" fmla="*/ 0 h 146"/>
                  <a:gd name="T62" fmla="*/ 25 w 25"/>
                  <a:gd name="T63" fmla="*/ 146 h 14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5" h="146">
                    <a:moveTo>
                      <a:pt x="19" y="0"/>
                    </a:moveTo>
                    <a:lnTo>
                      <a:pt x="16" y="5"/>
                    </a:lnTo>
                    <a:lnTo>
                      <a:pt x="11" y="10"/>
                    </a:lnTo>
                    <a:lnTo>
                      <a:pt x="8" y="15"/>
                    </a:lnTo>
                    <a:lnTo>
                      <a:pt x="5" y="20"/>
                    </a:lnTo>
                    <a:lnTo>
                      <a:pt x="3" y="25"/>
                    </a:lnTo>
                    <a:lnTo>
                      <a:pt x="3" y="30"/>
                    </a:lnTo>
                    <a:lnTo>
                      <a:pt x="8" y="43"/>
                    </a:lnTo>
                    <a:lnTo>
                      <a:pt x="8" y="53"/>
                    </a:lnTo>
                    <a:lnTo>
                      <a:pt x="11" y="65"/>
                    </a:lnTo>
                    <a:lnTo>
                      <a:pt x="13" y="78"/>
                    </a:lnTo>
                    <a:lnTo>
                      <a:pt x="19" y="88"/>
                    </a:lnTo>
                    <a:lnTo>
                      <a:pt x="19" y="98"/>
                    </a:lnTo>
                    <a:lnTo>
                      <a:pt x="24" y="108"/>
                    </a:lnTo>
                    <a:lnTo>
                      <a:pt x="24" y="118"/>
                    </a:lnTo>
                    <a:lnTo>
                      <a:pt x="24" y="128"/>
                    </a:lnTo>
                    <a:lnTo>
                      <a:pt x="21" y="133"/>
                    </a:lnTo>
                    <a:lnTo>
                      <a:pt x="11" y="138"/>
                    </a:lnTo>
                    <a:lnTo>
                      <a:pt x="5" y="143"/>
                    </a:lnTo>
                    <a:lnTo>
                      <a:pt x="0" y="145"/>
                    </a:lnTo>
                  </a:path>
                </a:pathLst>
              </a:custGeom>
              <a:noFill/>
              <a:ln w="12700" cap="rnd" cmpd="sng">
                <a:solidFill>
                  <a:srgbClr val="4BCD00"/>
                </a:solidFill>
                <a:prstDash val="solid"/>
                <a:round/>
                <a:headEnd type="none" w="med" len="med"/>
                <a:tailEnd type="none" w="med" len="med"/>
              </a:ln>
            </p:spPr>
            <p:txBody>
              <a:bodyPr/>
              <a:lstStyle/>
              <a:p>
                <a:endParaRPr lang="en-US"/>
              </a:p>
            </p:txBody>
          </p:sp>
        </p:grpSp>
        <p:sp>
          <p:nvSpPr>
            <p:cNvPr id="17459" name="Oval 434"/>
            <p:cNvSpPr>
              <a:spLocks noChangeArrowheads="1"/>
            </p:cNvSpPr>
            <p:nvPr/>
          </p:nvSpPr>
          <p:spPr bwMode="auto">
            <a:xfrm>
              <a:off x="2153" y="2462"/>
              <a:ext cx="178" cy="372"/>
            </a:xfrm>
            <a:prstGeom prst="ellipse">
              <a:avLst/>
            </a:prstGeom>
            <a:noFill/>
            <a:ln w="38100">
              <a:solidFill>
                <a:schemeClr val="tx1"/>
              </a:solidFill>
              <a:round/>
              <a:headEnd/>
              <a:tailEnd/>
            </a:ln>
          </p:spPr>
          <p:txBody>
            <a:bodyPr wrap="none" anchor="ctr">
              <a:spAutoFit/>
            </a:bodyPr>
            <a:lstStyle/>
            <a:p>
              <a:endParaRPr lang="en-NZ">
                <a:latin typeface="Calibri" pitchFamily="34" charset="0"/>
              </a:endParaRPr>
            </a:p>
          </p:txBody>
        </p:sp>
        <p:sp>
          <p:nvSpPr>
            <p:cNvPr id="17460" name="Freeform 435"/>
            <p:cNvSpPr>
              <a:spLocks/>
            </p:cNvSpPr>
            <p:nvPr/>
          </p:nvSpPr>
          <p:spPr bwMode="auto">
            <a:xfrm>
              <a:off x="1984" y="2871"/>
              <a:ext cx="149" cy="264"/>
            </a:xfrm>
            <a:custGeom>
              <a:avLst/>
              <a:gdLst>
                <a:gd name="T0" fmla="*/ 1 w 1204"/>
                <a:gd name="T1" fmla="*/ 0 h 898"/>
                <a:gd name="T2" fmla="*/ 0 w 1204"/>
                <a:gd name="T3" fmla="*/ 2 h 898"/>
                <a:gd name="T4" fmla="*/ 0 w 1204"/>
                <a:gd name="T5" fmla="*/ 11 h 898"/>
                <a:gd name="T6" fmla="*/ 0 w 1204"/>
                <a:gd name="T7" fmla="*/ 21 h 898"/>
                <a:gd name="T8" fmla="*/ 2 w 1204"/>
                <a:gd name="T9" fmla="*/ 21 h 898"/>
                <a:gd name="T10" fmla="*/ 2 w 1204"/>
                <a:gd name="T11" fmla="*/ 11 h 898"/>
                <a:gd name="T12" fmla="*/ 2 w 1204"/>
                <a:gd name="T13" fmla="*/ 2 h 898"/>
                <a:gd name="T14" fmla="*/ 1 w 1204"/>
                <a:gd name="T15" fmla="*/ 0 h 898"/>
                <a:gd name="T16" fmla="*/ 0 60000 65536"/>
                <a:gd name="T17" fmla="*/ 0 60000 65536"/>
                <a:gd name="T18" fmla="*/ 0 60000 65536"/>
                <a:gd name="T19" fmla="*/ 0 60000 65536"/>
                <a:gd name="T20" fmla="*/ 0 60000 65536"/>
                <a:gd name="T21" fmla="*/ 0 60000 65536"/>
                <a:gd name="T22" fmla="*/ 0 60000 65536"/>
                <a:gd name="T23" fmla="*/ 0 60000 65536"/>
                <a:gd name="T24" fmla="*/ 0 w 1204"/>
                <a:gd name="T25" fmla="*/ 0 h 898"/>
                <a:gd name="T26" fmla="*/ 1204 w 1204"/>
                <a:gd name="T27" fmla="*/ 898 h 89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204" h="898">
                  <a:moveTo>
                    <a:pt x="597" y="0"/>
                  </a:moveTo>
                  <a:cubicBezTo>
                    <a:pt x="527" y="11"/>
                    <a:pt x="255" y="3"/>
                    <a:pt x="177" y="72"/>
                  </a:cubicBezTo>
                  <a:cubicBezTo>
                    <a:pt x="99" y="141"/>
                    <a:pt x="132" y="287"/>
                    <a:pt x="129" y="413"/>
                  </a:cubicBezTo>
                  <a:cubicBezTo>
                    <a:pt x="121" y="535"/>
                    <a:pt x="0" y="759"/>
                    <a:pt x="157" y="828"/>
                  </a:cubicBezTo>
                  <a:cubicBezTo>
                    <a:pt x="314" y="897"/>
                    <a:pt x="886" y="898"/>
                    <a:pt x="1045" y="828"/>
                  </a:cubicBezTo>
                  <a:cubicBezTo>
                    <a:pt x="1204" y="758"/>
                    <a:pt x="1084" y="533"/>
                    <a:pt x="1092" y="411"/>
                  </a:cubicBezTo>
                  <a:cubicBezTo>
                    <a:pt x="1064" y="300"/>
                    <a:pt x="1118" y="148"/>
                    <a:pt x="1037" y="80"/>
                  </a:cubicBezTo>
                  <a:cubicBezTo>
                    <a:pt x="956" y="12"/>
                    <a:pt x="695" y="17"/>
                    <a:pt x="605" y="0"/>
                  </a:cubicBezTo>
                </a:path>
              </a:pathLst>
            </a:custGeom>
            <a:noFill/>
            <a:ln w="38100" cap="flat" cmpd="sng">
              <a:solidFill>
                <a:schemeClr val="tx1"/>
              </a:solidFill>
              <a:prstDash val="solid"/>
              <a:round/>
              <a:headEnd/>
              <a:tailEnd/>
            </a:ln>
          </p:spPr>
          <p:txBody>
            <a:bodyPr wrap="none" anchor="ctr">
              <a:spAutoFit/>
            </a:bodyPr>
            <a:lstStyle/>
            <a:p>
              <a:endParaRPr lang="en-US"/>
            </a:p>
          </p:txBody>
        </p:sp>
        <p:grpSp>
          <p:nvGrpSpPr>
            <p:cNvPr id="17461" name="Group 436"/>
            <p:cNvGrpSpPr>
              <a:grpSpLocks/>
            </p:cNvGrpSpPr>
            <p:nvPr/>
          </p:nvGrpSpPr>
          <p:grpSpPr bwMode="auto">
            <a:xfrm>
              <a:off x="2111" y="2617"/>
              <a:ext cx="921" cy="354"/>
              <a:chOff x="1521" y="2626"/>
              <a:chExt cx="653" cy="251"/>
            </a:xfrm>
          </p:grpSpPr>
          <p:sp>
            <p:nvSpPr>
              <p:cNvPr id="17499" name="Freeform 437"/>
              <p:cNvSpPr>
                <a:spLocks/>
              </p:cNvSpPr>
              <p:nvPr/>
            </p:nvSpPr>
            <p:spPr bwMode="auto">
              <a:xfrm>
                <a:off x="1581" y="2666"/>
                <a:ext cx="57" cy="96"/>
              </a:xfrm>
              <a:custGeom>
                <a:avLst/>
                <a:gdLst>
                  <a:gd name="T0" fmla="*/ 0 w 57"/>
                  <a:gd name="T1" fmla="*/ 0 h 96"/>
                  <a:gd name="T2" fmla="*/ 6 w 57"/>
                  <a:gd name="T3" fmla="*/ 0 h 96"/>
                  <a:gd name="T4" fmla="*/ 8 w 57"/>
                  <a:gd name="T5" fmla="*/ 5 h 96"/>
                  <a:gd name="T6" fmla="*/ 14 w 57"/>
                  <a:gd name="T7" fmla="*/ 8 h 96"/>
                  <a:gd name="T8" fmla="*/ 17 w 57"/>
                  <a:gd name="T9" fmla="*/ 13 h 96"/>
                  <a:gd name="T10" fmla="*/ 20 w 57"/>
                  <a:gd name="T11" fmla="*/ 18 h 96"/>
                  <a:gd name="T12" fmla="*/ 28 w 57"/>
                  <a:gd name="T13" fmla="*/ 40 h 96"/>
                  <a:gd name="T14" fmla="*/ 28 w 57"/>
                  <a:gd name="T15" fmla="*/ 50 h 96"/>
                  <a:gd name="T16" fmla="*/ 34 w 57"/>
                  <a:gd name="T17" fmla="*/ 60 h 96"/>
                  <a:gd name="T18" fmla="*/ 34 w 57"/>
                  <a:gd name="T19" fmla="*/ 70 h 96"/>
                  <a:gd name="T20" fmla="*/ 34 w 57"/>
                  <a:gd name="T21" fmla="*/ 80 h 96"/>
                  <a:gd name="T22" fmla="*/ 45 w 57"/>
                  <a:gd name="T23" fmla="*/ 80 h 96"/>
                  <a:gd name="T24" fmla="*/ 45 w 57"/>
                  <a:gd name="T25" fmla="*/ 85 h 96"/>
                  <a:gd name="T26" fmla="*/ 48 w 57"/>
                  <a:gd name="T27" fmla="*/ 90 h 96"/>
                  <a:gd name="T28" fmla="*/ 50 w 57"/>
                  <a:gd name="T29" fmla="*/ 95 h 96"/>
                  <a:gd name="T30" fmla="*/ 56 w 57"/>
                  <a:gd name="T31" fmla="*/ 93 h 9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7"/>
                  <a:gd name="T49" fmla="*/ 0 h 96"/>
                  <a:gd name="T50" fmla="*/ 57 w 57"/>
                  <a:gd name="T51" fmla="*/ 96 h 9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7" h="96">
                    <a:moveTo>
                      <a:pt x="0" y="0"/>
                    </a:moveTo>
                    <a:lnTo>
                      <a:pt x="6" y="0"/>
                    </a:lnTo>
                    <a:lnTo>
                      <a:pt x="8" y="5"/>
                    </a:lnTo>
                    <a:lnTo>
                      <a:pt x="14" y="8"/>
                    </a:lnTo>
                    <a:lnTo>
                      <a:pt x="17" y="13"/>
                    </a:lnTo>
                    <a:lnTo>
                      <a:pt x="20" y="18"/>
                    </a:lnTo>
                    <a:lnTo>
                      <a:pt x="28" y="40"/>
                    </a:lnTo>
                    <a:lnTo>
                      <a:pt x="28" y="50"/>
                    </a:lnTo>
                    <a:lnTo>
                      <a:pt x="34" y="60"/>
                    </a:lnTo>
                    <a:lnTo>
                      <a:pt x="34" y="70"/>
                    </a:lnTo>
                    <a:lnTo>
                      <a:pt x="34" y="80"/>
                    </a:lnTo>
                    <a:lnTo>
                      <a:pt x="45" y="80"/>
                    </a:lnTo>
                    <a:lnTo>
                      <a:pt x="45" y="85"/>
                    </a:lnTo>
                    <a:lnTo>
                      <a:pt x="48" y="90"/>
                    </a:lnTo>
                    <a:lnTo>
                      <a:pt x="50" y="95"/>
                    </a:lnTo>
                    <a:lnTo>
                      <a:pt x="56" y="93"/>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00" name="Freeform 438"/>
              <p:cNvSpPr>
                <a:spLocks/>
              </p:cNvSpPr>
              <p:nvPr/>
            </p:nvSpPr>
            <p:spPr bwMode="auto">
              <a:xfrm>
                <a:off x="1561" y="2649"/>
                <a:ext cx="161" cy="68"/>
              </a:xfrm>
              <a:custGeom>
                <a:avLst/>
                <a:gdLst>
                  <a:gd name="T0" fmla="*/ 0 w 161"/>
                  <a:gd name="T1" fmla="*/ 67 h 68"/>
                  <a:gd name="T2" fmla="*/ 39 w 161"/>
                  <a:gd name="T3" fmla="*/ 57 h 68"/>
                  <a:gd name="T4" fmla="*/ 45 w 161"/>
                  <a:gd name="T5" fmla="*/ 57 h 68"/>
                  <a:gd name="T6" fmla="*/ 51 w 161"/>
                  <a:gd name="T7" fmla="*/ 60 h 68"/>
                  <a:gd name="T8" fmla="*/ 56 w 161"/>
                  <a:gd name="T9" fmla="*/ 60 h 68"/>
                  <a:gd name="T10" fmla="*/ 62 w 161"/>
                  <a:gd name="T11" fmla="*/ 60 h 68"/>
                  <a:gd name="T12" fmla="*/ 67 w 161"/>
                  <a:gd name="T13" fmla="*/ 60 h 68"/>
                  <a:gd name="T14" fmla="*/ 81 w 161"/>
                  <a:gd name="T15" fmla="*/ 55 h 68"/>
                  <a:gd name="T16" fmla="*/ 87 w 161"/>
                  <a:gd name="T17" fmla="*/ 52 h 68"/>
                  <a:gd name="T18" fmla="*/ 121 w 161"/>
                  <a:gd name="T19" fmla="*/ 32 h 68"/>
                  <a:gd name="T20" fmla="*/ 138 w 161"/>
                  <a:gd name="T21" fmla="*/ 17 h 68"/>
                  <a:gd name="T22" fmla="*/ 138 w 161"/>
                  <a:gd name="T23" fmla="*/ 12 h 68"/>
                  <a:gd name="T24" fmla="*/ 143 w 161"/>
                  <a:gd name="T25" fmla="*/ 12 h 68"/>
                  <a:gd name="T26" fmla="*/ 149 w 161"/>
                  <a:gd name="T27" fmla="*/ 7 h 68"/>
                  <a:gd name="T28" fmla="*/ 154 w 161"/>
                  <a:gd name="T29" fmla="*/ 2 h 68"/>
                  <a:gd name="T30" fmla="*/ 160 w 161"/>
                  <a:gd name="T31" fmla="*/ 0 h 6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61"/>
                  <a:gd name="T49" fmla="*/ 0 h 68"/>
                  <a:gd name="T50" fmla="*/ 161 w 161"/>
                  <a:gd name="T51" fmla="*/ 68 h 6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61" h="68">
                    <a:moveTo>
                      <a:pt x="0" y="67"/>
                    </a:moveTo>
                    <a:lnTo>
                      <a:pt x="39" y="57"/>
                    </a:lnTo>
                    <a:lnTo>
                      <a:pt x="45" y="57"/>
                    </a:lnTo>
                    <a:lnTo>
                      <a:pt x="51" y="60"/>
                    </a:lnTo>
                    <a:lnTo>
                      <a:pt x="56" y="60"/>
                    </a:lnTo>
                    <a:lnTo>
                      <a:pt x="62" y="60"/>
                    </a:lnTo>
                    <a:lnTo>
                      <a:pt x="67" y="60"/>
                    </a:lnTo>
                    <a:lnTo>
                      <a:pt x="81" y="55"/>
                    </a:lnTo>
                    <a:lnTo>
                      <a:pt x="87" y="52"/>
                    </a:lnTo>
                    <a:lnTo>
                      <a:pt x="121" y="32"/>
                    </a:lnTo>
                    <a:lnTo>
                      <a:pt x="138" y="17"/>
                    </a:lnTo>
                    <a:lnTo>
                      <a:pt x="138" y="12"/>
                    </a:lnTo>
                    <a:lnTo>
                      <a:pt x="143" y="12"/>
                    </a:lnTo>
                    <a:lnTo>
                      <a:pt x="149" y="7"/>
                    </a:lnTo>
                    <a:lnTo>
                      <a:pt x="154" y="2"/>
                    </a:lnTo>
                    <a:lnTo>
                      <a:pt x="160"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01" name="Freeform 439"/>
              <p:cNvSpPr>
                <a:spLocks/>
              </p:cNvSpPr>
              <p:nvPr/>
            </p:nvSpPr>
            <p:spPr bwMode="auto">
              <a:xfrm>
                <a:off x="1530" y="2759"/>
                <a:ext cx="80" cy="73"/>
              </a:xfrm>
              <a:custGeom>
                <a:avLst/>
                <a:gdLst>
                  <a:gd name="T0" fmla="*/ 0 w 80"/>
                  <a:gd name="T1" fmla="*/ 0 h 73"/>
                  <a:gd name="T2" fmla="*/ 20 w 80"/>
                  <a:gd name="T3" fmla="*/ 10 h 73"/>
                  <a:gd name="T4" fmla="*/ 20 w 80"/>
                  <a:gd name="T5" fmla="*/ 15 h 73"/>
                  <a:gd name="T6" fmla="*/ 23 w 80"/>
                  <a:gd name="T7" fmla="*/ 20 h 73"/>
                  <a:gd name="T8" fmla="*/ 23 w 80"/>
                  <a:gd name="T9" fmla="*/ 25 h 73"/>
                  <a:gd name="T10" fmla="*/ 28 w 80"/>
                  <a:gd name="T11" fmla="*/ 30 h 73"/>
                  <a:gd name="T12" fmla="*/ 34 w 80"/>
                  <a:gd name="T13" fmla="*/ 32 h 73"/>
                  <a:gd name="T14" fmla="*/ 40 w 80"/>
                  <a:gd name="T15" fmla="*/ 35 h 73"/>
                  <a:gd name="T16" fmla="*/ 45 w 80"/>
                  <a:gd name="T17" fmla="*/ 37 h 73"/>
                  <a:gd name="T18" fmla="*/ 51 w 80"/>
                  <a:gd name="T19" fmla="*/ 40 h 73"/>
                  <a:gd name="T20" fmla="*/ 54 w 80"/>
                  <a:gd name="T21" fmla="*/ 45 h 73"/>
                  <a:gd name="T22" fmla="*/ 59 w 80"/>
                  <a:gd name="T23" fmla="*/ 50 h 73"/>
                  <a:gd name="T24" fmla="*/ 62 w 80"/>
                  <a:gd name="T25" fmla="*/ 55 h 73"/>
                  <a:gd name="T26" fmla="*/ 65 w 80"/>
                  <a:gd name="T27" fmla="*/ 60 h 73"/>
                  <a:gd name="T28" fmla="*/ 71 w 80"/>
                  <a:gd name="T29" fmla="*/ 65 h 73"/>
                  <a:gd name="T30" fmla="*/ 76 w 80"/>
                  <a:gd name="T31" fmla="*/ 67 h 73"/>
                  <a:gd name="T32" fmla="*/ 79 w 80"/>
                  <a:gd name="T33" fmla="*/ 72 h 7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0"/>
                  <a:gd name="T52" fmla="*/ 0 h 73"/>
                  <a:gd name="T53" fmla="*/ 80 w 80"/>
                  <a:gd name="T54" fmla="*/ 73 h 7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0" h="73">
                    <a:moveTo>
                      <a:pt x="0" y="0"/>
                    </a:moveTo>
                    <a:lnTo>
                      <a:pt x="20" y="10"/>
                    </a:lnTo>
                    <a:lnTo>
                      <a:pt x="20" y="15"/>
                    </a:lnTo>
                    <a:lnTo>
                      <a:pt x="23" y="20"/>
                    </a:lnTo>
                    <a:lnTo>
                      <a:pt x="23" y="25"/>
                    </a:lnTo>
                    <a:lnTo>
                      <a:pt x="28" y="30"/>
                    </a:lnTo>
                    <a:lnTo>
                      <a:pt x="34" y="32"/>
                    </a:lnTo>
                    <a:lnTo>
                      <a:pt x="40" y="35"/>
                    </a:lnTo>
                    <a:lnTo>
                      <a:pt x="45" y="37"/>
                    </a:lnTo>
                    <a:lnTo>
                      <a:pt x="51" y="40"/>
                    </a:lnTo>
                    <a:lnTo>
                      <a:pt x="54" y="45"/>
                    </a:lnTo>
                    <a:lnTo>
                      <a:pt x="59" y="50"/>
                    </a:lnTo>
                    <a:lnTo>
                      <a:pt x="62" y="55"/>
                    </a:lnTo>
                    <a:lnTo>
                      <a:pt x="65" y="60"/>
                    </a:lnTo>
                    <a:lnTo>
                      <a:pt x="71" y="65"/>
                    </a:lnTo>
                    <a:lnTo>
                      <a:pt x="76" y="67"/>
                    </a:lnTo>
                    <a:lnTo>
                      <a:pt x="79" y="72"/>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02" name="Freeform 440"/>
              <p:cNvSpPr>
                <a:spLocks/>
              </p:cNvSpPr>
              <p:nvPr/>
            </p:nvSpPr>
            <p:spPr bwMode="auto">
              <a:xfrm>
                <a:off x="1521" y="2789"/>
                <a:ext cx="145" cy="33"/>
              </a:xfrm>
              <a:custGeom>
                <a:avLst/>
                <a:gdLst>
                  <a:gd name="T0" fmla="*/ 0 w 145"/>
                  <a:gd name="T1" fmla="*/ 32 h 33"/>
                  <a:gd name="T2" fmla="*/ 11 w 145"/>
                  <a:gd name="T3" fmla="*/ 27 h 33"/>
                  <a:gd name="T4" fmla="*/ 14 w 145"/>
                  <a:gd name="T5" fmla="*/ 22 h 33"/>
                  <a:gd name="T6" fmla="*/ 20 w 145"/>
                  <a:gd name="T7" fmla="*/ 17 h 33"/>
                  <a:gd name="T8" fmla="*/ 25 w 145"/>
                  <a:gd name="T9" fmla="*/ 15 h 33"/>
                  <a:gd name="T10" fmla="*/ 31 w 145"/>
                  <a:gd name="T11" fmla="*/ 12 h 33"/>
                  <a:gd name="T12" fmla="*/ 37 w 145"/>
                  <a:gd name="T13" fmla="*/ 12 h 33"/>
                  <a:gd name="T14" fmla="*/ 48 w 145"/>
                  <a:gd name="T15" fmla="*/ 12 h 33"/>
                  <a:gd name="T16" fmla="*/ 76 w 145"/>
                  <a:gd name="T17" fmla="*/ 12 h 33"/>
                  <a:gd name="T18" fmla="*/ 88 w 145"/>
                  <a:gd name="T19" fmla="*/ 12 h 33"/>
                  <a:gd name="T20" fmla="*/ 99 w 145"/>
                  <a:gd name="T21" fmla="*/ 12 h 33"/>
                  <a:gd name="T22" fmla="*/ 110 w 145"/>
                  <a:gd name="T23" fmla="*/ 2 h 33"/>
                  <a:gd name="T24" fmla="*/ 121 w 145"/>
                  <a:gd name="T25" fmla="*/ 2 h 33"/>
                  <a:gd name="T26" fmla="*/ 133 w 145"/>
                  <a:gd name="T27" fmla="*/ 2 h 33"/>
                  <a:gd name="T28" fmla="*/ 138 w 145"/>
                  <a:gd name="T29" fmla="*/ 2 h 33"/>
                  <a:gd name="T30" fmla="*/ 144 w 145"/>
                  <a:gd name="T31" fmla="*/ 0 h 3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45"/>
                  <a:gd name="T49" fmla="*/ 0 h 33"/>
                  <a:gd name="T50" fmla="*/ 145 w 145"/>
                  <a:gd name="T51" fmla="*/ 33 h 3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45" h="33">
                    <a:moveTo>
                      <a:pt x="0" y="32"/>
                    </a:moveTo>
                    <a:lnTo>
                      <a:pt x="11" y="27"/>
                    </a:lnTo>
                    <a:lnTo>
                      <a:pt x="14" y="22"/>
                    </a:lnTo>
                    <a:lnTo>
                      <a:pt x="20" y="17"/>
                    </a:lnTo>
                    <a:lnTo>
                      <a:pt x="25" y="15"/>
                    </a:lnTo>
                    <a:lnTo>
                      <a:pt x="31" y="12"/>
                    </a:lnTo>
                    <a:lnTo>
                      <a:pt x="37" y="12"/>
                    </a:lnTo>
                    <a:lnTo>
                      <a:pt x="48" y="12"/>
                    </a:lnTo>
                    <a:lnTo>
                      <a:pt x="76" y="12"/>
                    </a:lnTo>
                    <a:lnTo>
                      <a:pt x="88" y="12"/>
                    </a:lnTo>
                    <a:lnTo>
                      <a:pt x="99" y="12"/>
                    </a:lnTo>
                    <a:lnTo>
                      <a:pt x="110" y="2"/>
                    </a:lnTo>
                    <a:lnTo>
                      <a:pt x="121" y="2"/>
                    </a:lnTo>
                    <a:lnTo>
                      <a:pt x="133" y="2"/>
                    </a:lnTo>
                    <a:lnTo>
                      <a:pt x="138" y="2"/>
                    </a:lnTo>
                    <a:lnTo>
                      <a:pt x="144"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03" name="Freeform 441"/>
              <p:cNvSpPr>
                <a:spLocks/>
              </p:cNvSpPr>
              <p:nvPr/>
            </p:nvSpPr>
            <p:spPr bwMode="auto">
              <a:xfrm>
                <a:off x="1547" y="2734"/>
                <a:ext cx="85" cy="53"/>
              </a:xfrm>
              <a:custGeom>
                <a:avLst/>
                <a:gdLst>
                  <a:gd name="T0" fmla="*/ 0 w 85"/>
                  <a:gd name="T1" fmla="*/ 0 h 53"/>
                  <a:gd name="T2" fmla="*/ 22 w 85"/>
                  <a:gd name="T3" fmla="*/ 10 h 53"/>
                  <a:gd name="T4" fmla="*/ 25 w 85"/>
                  <a:gd name="T5" fmla="*/ 15 h 53"/>
                  <a:gd name="T6" fmla="*/ 28 w 85"/>
                  <a:gd name="T7" fmla="*/ 20 h 53"/>
                  <a:gd name="T8" fmla="*/ 34 w 85"/>
                  <a:gd name="T9" fmla="*/ 25 h 53"/>
                  <a:gd name="T10" fmla="*/ 36 w 85"/>
                  <a:gd name="T11" fmla="*/ 30 h 53"/>
                  <a:gd name="T12" fmla="*/ 42 w 85"/>
                  <a:gd name="T13" fmla="*/ 32 h 53"/>
                  <a:gd name="T14" fmla="*/ 45 w 85"/>
                  <a:gd name="T15" fmla="*/ 37 h 53"/>
                  <a:gd name="T16" fmla="*/ 50 w 85"/>
                  <a:gd name="T17" fmla="*/ 40 h 53"/>
                  <a:gd name="T18" fmla="*/ 56 w 85"/>
                  <a:gd name="T19" fmla="*/ 40 h 53"/>
                  <a:gd name="T20" fmla="*/ 62 w 85"/>
                  <a:gd name="T21" fmla="*/ 42 h 53"/>
                  <a:gd name="T22" fmla="*/ 67 w 85"/>
                  <a:gd name="T23" fmla="*/ 45 h 53"/>
                  <a:gd name="T24" fmla="*/ 73 w 85"/>
                  <a:gd name="T25" fmla="*/ 50 h 53"/>
                  <a:gd name="T26" fmla="*/ 78 w 85"/>
                  <a:gd name="T27" fmla="*/ 52 h 53"/>
                  <a:gd name="T28" fmla="*/ 84 w 85"/>
                  <a:gd name="T29" fmla="*/ 52 h 5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5"/>
                  <a:gd name="T46" fmla="*/ 0 h 53"/>
                  <a:gd name="T47" fmla="*/ 85 w 85"/>
                  <a:gd name="T48" fmla="*/ 53 h 5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5" h="53">
                    <a:moveTo>
                      <a:pt x="0" y="0"/>
                    </a:moveTo>
                    <a:lnTo>
                      <a:pt x="22" y="10"/>
                    </a:lnTo>
                    <a:lnTo>
                      <a:pt x="25" y="15"/>
                    </a:lnTo>
                    <a:lnTo>
                      <a:pt x="28" y="20"/>
                    </a:lnTo>
                    <a:lnTo>
                      <a:pt x="34" y="25"/>
                    </a:lnTo>
                    <a:lnTo>
                      <a:pt x="36" y="30"/>
                    </a:lnTo>
                    <a:lnTo>
                      <a:pt x="42" y="32"/>
                    </a:lnTo>
                    <a:lnTo>
                      <a:pt x="45" y="37"/>
                    </a:lnTo>
                    <a:lnTo>
                      <a:pt x="50" y="40"/>
                    </a:lnTo>
                    <a:lnTo>
                      <a:pt x="56" y="40"/>
                    </a:lnTo>
                    <a:lnTo>
                      <a:pt x="62" y="42"/>
                    </a:lnTo>
                    <a:lnTo>
                      <a:pt x="67" y="45"/>
                    </a:lnTo>
                    <a:lnTo>
                      <a:pt x="73" y="50"/>
                    </a:lnTo>
                    <a:lnTo>
                      <a:pt x="78" y="52"/>
                    </a:lnTo>
                    <a:lnTo>
                      <a:pt x="84" y="52"/>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04" name="Freeform 442"/>
              <p:cNvSpPr>
                <a:spLocks/>
              </p:cNvSpPr>
              <p:nvPr/>
            </p:nvSpPr>
            <p:spPr bwMode="auto">
              <a:xfrm>
                <a:off x="1577" y="2636"/>
                <a:ext cx="100" cy="81"/>
              </a:xfrm>
              <a:custGeom>
                <a:avLst/>
                <a:gdLst>
                  <a:gd name="T0" fmla="*/ 0 w 100"/>
                  <a:gd name="T1" fmla="*/ 0 h 81"/>
                  <a:gd name="T2" fmla="*/ 6 w 100"/>
                  <a:gd name="T3" fmla="*/ 0 h 81"/>
                  <a:gd name="T4" fmla="*/ 17 w 100"/>
                  <a:gd name="T5" fmla="*/ 0 h 81"/>
                  <a:gd name="T6" fmla="*/ 31 w 100"/>
                  <a:gd name="T7" fmla="*/ 3 h 81"/>
                  <a:gd name="T8" fmla="*/ 42 w 100"/>
                  <a:gd name="T9" fmla="*/ 8 h 81"/>
                  <a:gd name="T10" fmla="*/ 54 w 100"/>
                  <a:gd name="T11" fmla="*/ 8 h 81"/>
                  <a:gd name="T12" fmla="*/ 65 w 100"/>
                  <a:gd name="T13" fmla="*/ 8 h 81"/>
                  <a:gd name="T14" fmla="*/ 68 w 100"/>
                  <a:gd name="T15" fmla="*/ 13 h 81"/>
                  <a:gd name="T16" fmla="*/ 65 w 100"/>
                  <a:gd name="T17" fmla="*/ 18 h 81"/>
                  <a:gd name="T18" fmla="*/ 65 w 100"/>
                  <a:gd name="T19" fmla="*/ 23 h 81"/>
                  <a:gd name="T20" fmla="*/ 65 w 100"/>
                  <a:gd name="T21" fmla="*/ 28 h 81"/>
                  <a:gd name="T22" fmla="*/ 65 w 100"/>
                  <a:gd name="T23" fmla="*/ 33 h 81"/>
                  <a:gd name="T24" fmla="*/ 65 w 100"/>
                  <a:gd name="T25" fmla="*/ 38 h 81"/>
                  <a:gd name="T26" fmla="*/ 68 w 100"/>
                  <a:gd name="T27" fmla="*/ 43 h 81"/>
                  <a:gd name="T28" fmla="*/ 68 w 100"/>
                  <a:gd name="T29" fmla="*/ 48 h 81"/>
                  <a:gd name="T30" fmla="*/ 74 w 100"/>
                  <a:gd name="T31" fmla="*/ 53 h 81"/>
                  <a:gd name="T32" fmla="*/ 76 w 100"/>
                  <a:gd name="T33" fmla="*/ 58 h 81"/>
                  <a:gd name="T34" fmla="*/ 79 w 100"/>
                  <a:gd name="T35" fmla="*/ 63 h 81"/>
                  <a:gd name="T36" fmla="*/ 85 w 100"/>
                  <a:gd name="T37" fmla="*/ 68 h 81"/>
                  <a:gd name="T38" fmla="*/ 88 w 100"/>
                  <a:gd name="T39" fmla="*/ 73 h 81"/>
                  <a:gd name="T40" fmla="*/ 93 w 100"/>
                  <a:gd name="T41" fmla="*/ 75 h 81"/>
                  <a:gd name="T42" fmla="*/ 99 w 100"/>
                  <a:gd name="T43" fmla="*/ 80 h 8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0"/>
                  <a:gd name="T67" fmla="*/ 0 h 81"/>
                  <a:gd name="T68" fmla="*/ 100 w 100"/>
                  <a:gd name="T69" fmla="*/ 81 h 8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0" h="81">
                    <a:moveTo>
                      <a:pt x="0" y="0"/>
                    </a:moveTo>
                    <a:lnTo>
                      <a:pt x="6" y="0"/>
                    </a:lnTo>
                    <a:lnTo>
                      <a:pt x="17" y="0"/>
                    </a:lnTo>
                    <a:lnTo>
                      <a:pt x="31" y="3"/>
                    </a:lnTo>
                    <a:lnTo>
                      <a:pt x="42" y="8"/>
                    </a:lnTo>
                    <a:lnTo>
                      <a:pt x="54" y="8"/>
                    </a:lnTo>
                    <a:lnTo>
                      <a:pt x="65" y="8"/>
                    </a:lnTo>
                    <a:lnTo>
                      <a:pt x="68" y="13"/>
                    </a:lnTo>
                    <a:lnTo>
                      <a:pt x="65" y="18"/>
                    </a:lnTo>
                    <a:lnTo>
                      <a:pt x="65" y="23"/>
                    </a:lnTo>
                    <a:lnTo>
                      <a:pt x="65" y="28"/>
                    </a:lnTo>
                    <a:lnTo>
                      <a:pt x="65" y="33"/>
                    </a:lnTo>
                    <a:lnTo>
                      <a:pt x="65" y="38"/>
                    </a:lnTo>
                    <a:lnTo>
                      <a:pt x="68" y="43"/>
                    </a:lnTo>
                    <a:lnTo>
                      <a:pt x="68" y="48"/>
                    </a:lnTo>
                    <a:lnTo>
                      <a:pt x="74" y="53"/>
                    </a:lnTo>
                    <a:lnTo>
                      <a:pt x="76" y="58"/>
                    </a:lnTo>
                    <a:lnTo>
                      <a:pt x="79" y="63"/>
                    </a:lnTo>
                    <a:lnTo>
                      <a:pt x="85" y="68"/>
                    </a:lnTo>
                    <a:lnTo>
                      <a:pt x="88" y="73"/>
                    </a:lnTo>
                    <a:lnTo>
                      <a:pt x="93" y="75"/>
                    </a:lnTo>
                    <a:lnTo>
                      <a:pt x="99" y="8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05" name="Freeform 443"/>
              <p:cNvSpPr>
                <a:spLocks/>
              </p:cNvSpPr>
              <p:nvPr/>
            </p:nvSpPr>
            <p:spPr bwMode="auto">
              <a:xfrm>
                <a:off x="1561" y="2676"/>
                <a:ext cx="113" cy="69"/>
              </a:xfrm>
              <a:custGeom>
                <a:avLst/>
                <a:gdLst>
                  <a:gd name="T0" fmla="*/ 0 w 113"/>
                  <a:gd name="T1" fmla="*/ 0 h 69"/>
                  <a:gd name="T2" fmla="*/ 6 w 113"/>
                  <a:gd name="T3" fmla="*/ 0 h 69"/>
                  <a:gd name="T4" fmla="*/ 11 w 113"/>
                  <a:gd name="T5" fmla="*/ 3 h 69"/>
                  <a:gd name="T6" fmla="*/ 17 w 113"/>
                  <a:gd name="T7" fmla="*/ 3 h 69"/>
                  <a:gd name="T8" fmla="*/ 22 w 113"/>
                  <a:gd name="T9" fmla="*/ 5 h 69"/>
                  <a:gd name="T10" fmla="*/ 28 w 113"/>
                  <a:gd name="T11" fmla="*/ 8 h 69"/>
                  <a:gd name="T12" fmla="*/ 34 w 113"/>
                  <a:gd name="T13" fmla="*/ 13 h 69"/>
                  <a:gd name="T14" fmla="*/ 39 w 113"/>
                  <a:gd name="T15" fmla="*/ 18 h 69"/>
                  <a:gd name="T16" fmla="*/ 45 w 113"/>
                  <a:gd name="T17" fmla="*/ 23 h 69"/>
                  <a:gd name="T18" fmla="*/ 48 w 113"/>
                  <a:gd name="T19" fmla="*/ 28 h 69"/>
                  <a:gd name="T20" fmla="*/ 56 w 113"/>
                  <a:gd name="T21" fmla="*/ 38 h 69"/>
                  <a:gd name="T22" fmla="*/ 67 w 113"/>
                  <a:gd name="T23" fmla="*/ 38 h 69"/>
                  <a:gd name="T24" fmla="*/ 73 w 113"/>
                  <a:gd name="T25" fmla="*/ 48 h 69"/>
                  <a:gd name="T26" fmla="*/ 84 w 113"/>
                  <a:gd name="T27" fmla="*/ 58 h 69"/>
                  <a:gd name="T28" fmla="*/ 95 w 113"/>
                  <a:gd name="T29" fmla="*/ 58 h 69"/>
                  <a:gd name="T30" fmla="*/ 95 w 113"/>
                  <a:gd name="T31" fmla="*/ 68 h 69"/>
                  <a:gd name="T32" fmla="*/ 101 w 113"/>
                  <a:gd name="T33" fmla="*/ 68 h 69"/>
                  <a:gd name="T34" fmla="*/ 106 w 113"/>
                  <a:gd name="T35" fmla="*/ 68 h 69"/>
                  <a:gd name="T36" fmla="*/ 112 w 113"/>
                  <a:gd name="T37" fmla="*/ 68 h 6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3"/>
                  <a:gd name="T58" fmla="*/ 0 h 69"/>
                  <a:gd name="T59" fmla="*/ 113 w 113"/>
                  <a:gd name="T60" fmla="*/ 69 h 6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3" h="69">
                    <a:moveTo>
                      <a:pt x="0" y="0"/>
                    </a:moveTo>
                    <a:lnTo>
                      <a:pt x="6" y="0"/>
                    </a:lnTo>
                    <a:lnTo>
                      <a:pt x="11" y="3"/>
                    </a:lnTo>
                    <a:lnTo>
                      <a:pt x="17" y="3"/>
                    </a:lnTo>
                    <a:lnTo>
                      <a:pt x="22" y="5"/>
                    </a:lnTo>
                    <a:lnTo>
                      <a:pt x="28" y="8"/>
                    </a:lnTo>
                    <a:lnTo>
                      <a:pt x="34" y="13"/>
                    </a:lnTo>
                    <a:lnTo>
                      <a:pt x="39" y="18"/>
                    </a:lnTo>
                    <a:lnTo>
                      <a:pt x="45" y="23"/>
                    </a:lnTo>
                    <a:lnTo>
                      <a:pt x="48" y="28"/>
                    </a:lnTo>
                    <a:lnTo>
                      <a:pt x="56" y="38"/>
                    </a:lnTo>
                    <a:lnTo>
                      <a:pt x="67" y="38"/>
                    </a:lnTo>
                    <a:lnTo>
                      <a:pt x="73" y="48"/>
                    </a:lnTo>
                    <a:lnTo>
                      <a:pt x="84" y="58"/>
                    </a:lnTo>
                    <a:lnTo>
                      <a:pt x="95" y="58"/>
                    </a:lnTo>
                    <a:lnTo>
                      <a:pt x="95" y="68"/>
                    </a:lnTo>
                    <a:lnTo>
                      <a:pt x="101" y="68"/>
                    </a:lnTo>
                    <a:lnTo>
                      <a:pt x="106" y="68"/>
                    </a:lnTo>
                    <a:lnTo>
                      <a:pt x="112" y="68"/>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06" name="Freeform 444"/>
              <p:cNvSpPr>
                <a:spLocks/>
              </p:cNvSpPr>
              <p:nvPr/>
            </p:nvSpPr>
            <p:spPr bwMode="auto">
              <a:xfrm>
                <a:off x="1639" y="2784"/>
                <a:ext cx="61" cy="48"/>
              </a:xfrm>
              <a:custGeom>
                <a:avLst/>
                <a:gdLst>
                  <a:gd name="T0" fmla="*/ 0 w 61"/>
                  <a:gd name="T1" fmla="*/ 47 h 48"/>
                  <a:gd name="T2" fmla="*/ 17 w 61"/>
                  <a:gd name="T3" fmla="*/ 25 h 48"/>
                  <a:gd name="T4" fmla="*/ 23 w 61"/>
                  <a:gd name="T5" fmla="*/ 22 h 48"/>
                  <a:gd name="T6" fmla="*/ 29 w 61"/>
                  <a:gd name="T7" fmla="*/ 20 h 48"/>
                  <a:gd name="T8" fmla="*/ 34 w 61"/>
                  <a:gd name="T9" fmla="*/ 17 h 48"/>
                  <a:gd name="T10" fmla="*/ 40 w 61"/>
                  <a:gd name="T11" fmla="*/ 17 h 48"/>
                  <a:gd name="T12" fmla="*/ 46 w 61"/>
                  <a:gd name="T13" fmla="*/ 17 h 48"/>
                  <a:gd name="T14" fmla="*/ 51 w 61"/>
                  <a:gd name="T15" fmla="*/ 17 h 48"/>
                  <a:gd name="T16" fmla="*/ 57 w 61"/>
                  <a:gd name="T17" fmla="*/ 15 h 48"/>
                  <a:gd name="T18" fmla="*/ 57 w 61"/>
                  <a:gd name="T19" fmla="*/ 10 h 48"/>
                  <a:gd name="T20" fmla="*/ 60 w 61"/>
                  <a:gd name="T21" fmla="*/ 5 h 48"/>
                  <a:gd name="T22" fmla="*/ 60 w 61"/>
                  <a:gd name="T23" fmla="*/ 0 h 4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1"/>
                  <a:gd name="T37" fmla="*/ 0 h 48"/>
                  <a:gd name="T38" fmla="*/ 61 w 61"/>
                  <a:gd name="T39" fmla="*/ 48 h 4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1" h="48">
                    <a:moveTo>
                      <a:pt x="0" y="47"/>
                    </a:moveTo>
                    <a:lnTo>
                      <a:pt x="17" y="25"/>
                    </a:lnTo>
                    <a:lnTo>
                      <a:pt x="23" y="22"/>
                    </a:lnTo>
                    <a:lnTo>
                      <a:pt x="29" y="20"/>
                    </a:lnTo>
                    <a:lnTo>
                      <a:pt x="34" y="17"/>
                    </a:lnTo>
                    <a:lnTo>
                      <a:pt x="40" y="17"/>
                    </a:lnTo>
                    <a:lnTo>
                      <a:pt x="46" y="17"/>
                    </a:lnTo>
                    <a:lnTo>
                      <a:pt x="51" y="17"/>
                    </a:lnTo>
                    <a:lnTo>
                      <a:pt x="57" y="15"/>
                    </a:lnTo>
                    <a:lnTo>
                      <a:pt x="57" y="10"/>
                    </a:lnTo>
                    <a:lnTo>
                      <a:pt x="60" y="5"/>
                    </a:lnTo>
                    <a:lnTo>
                      <a:pt x="60"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07" name="Freeform 445"/>
              <p:cNvSpPr>
                <a:spLocks/>
              </p:cNvSpPr>
              <p:nvPr/>
            </p:nvSpPr>
            <p:spPr bwMode="auto">
              <a:xfrm>
                <a:off x="1676" y="2764"/>
                <a:ext cx="60" cy="76"/>
              </a:xfrm>
              <a:custGeom>
                <a:avLst/>
                <a:gdLst>
                  <a:gd name="T0" fmla="*/ 0 w 60"/>
                  <a:gd name="T1" fmla="*/ 0 h 76"/>
                  <a:gd name="T2" fmla="*/ 6 w 60"/>
                  <a:gd name="T3" fmla="*/ 0 h 76"/>
                  <a:gd name="T4" fmla="*/ 11 w 60"/>
                  <a:gd name="T5" fmla="*/ 5 h 76"/>
                  <a:gd name="T6" fmla="*/ 11 w 60"/>
                  <a:gd name="T7" fmla="*/ 10 h 76"/>
                  <a:gd name="T8" fmla="*/ 14 w 60"/>
                  <a:gd name="T9" fmla="*/ 15 h 76"/>
                  <a:gd name="T10" fmla="*/ 14 w 60"/>
                  <a:gd name="T11" fmla="*/ 20 h 76"/>
                  <a:gd name="T12" fmla="*/ 17 w 60"/>
                  <a:gd name="T13" fmla="*/ 25 h 76"/>
                  <a:gd name="T14" fmla="*/ 20 w 60"/>
                  <a:gd name="T15" fmla="*/ 30 h 76"/>
                  <a:gd name="T16" fmla="*/ 25 w 60"/>
                  <a:gd name="T17" fmla="*/ 35 h 76"/>
                  <a:gd name="T18" fmla="*/ 31 w 60"/>
                  <a:gd name="T19" fmla="*/ 40 h 76"/>
                  <a:gd name="T20" fmla="*/ 31 w 60"/>
                  <a:gd name="T21" fmla="*/ 45 h 76"/>
                  <a:gd name="T22" fmla="*/ 37 w 60"/>
                  <a:gd name="T23" fmla="*/ 48 h 76"/>
                  <a:gd name="T24" fmla="*/ 37 w 60"/>
                  <a:gd name="T25" fmla="*/ 53 h 76"/>
                  <a:gd name="T26" fmla="*/ 39 w 60"/>
                  <a:gd name="T27" fmla="*/ 58 h 76"/>
                  <a:gd name="T28" fmla="*/ 42 w 60"/>
                  <a:gd name="T29" fmla="*/ 65 h 76"/>
                  <a:gd name="T30" fmla="*/ 48 w 60"/>
                  <a:gd name="T31" fmla="*/ 70 h 76"/>
                  <a:gd name="T32" fmla="*/ 53 w 60"/>
                  <a:gd name="T33" fmla="*/ 73 h 76"/>
                  <a:gd name="T34" fmla="*/ 59 w 60"/>
                  <a:gd name="T35" fmla="*/ 75 h 7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0"/>
                  <a:gd name="T55" fmla="*/ 0 h 76"/>
                  <a:gd name="T56" fmla="*/ 60 w 60"/>
                  <a:gd name="T57" fmla="*/ 76 h 7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0" h="76">
                    <a:moveTo>
                      <a:pt x="0" y="0"/>
                    </a:moveTo>
                    <a:lnTo>
                      <a:pt x="6" y="0"/>
                    </a:lnTo>
                    <a:lnTo>
                      <a:pt x="11" y="5"/>
                    </a:lnTo>
                    <a:lnTo>
                      <a:pt x="11" y="10"/>
                    </a:lnTo>
                    <a:lnTo>
                      <a:pt x="14" y="15"/>
                    </a:lnTo>
                    <a:lnTo>
                      <a:pt x="14" y="20"/>
                    </a:lnTo>
                    <a:lnTo>
                      <a:pt x="17" y="25"/>
                    </a:lnTo>
                    <a:lnTo>
                      <a:pt x="20" y="30"/>
                    </a:lnTo>
                    <a:lnTo>
                      <a:pt x="25" y="35"/>
                    </a:lnTo>
                    <a:lnTo>
                      <a:pt x="31" y="40"/>
                    </a:lnTo>
                    <a:lnTo>
                      <a:pt x="31" y="45"/>
                    </a:lnTo>
                    <a:lnTo>
                      <a:pt x="37" y="48"/>
                    </a:lnTo>
                    <a:lnTo>
                      <a:pt x="37" y="53"/>
                    </a:lnTo>
                    <a:lnTo>
                      <a:pt x="39" y="58"/>
                    </a:lnTo>
                    <a:lnTo>
                      <a:pt x="42" y="65"/>
                    </a:lnTo>
                    <a:lnTo>
                      <a:pt x="48" y="70"/>
                    </a:lnTo>
                    <a:lnTo>
                      <a:pt x="53" y="73"/>
                    </a:lnTo>
                    <a:lnTo>
                      <a:pt x="59" y="75"/>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08" name="Freeform 446"/>
              <p:cNvSpPr>
                <a:spLocks/>
              </p:cNvSpPr>
              <p:nvPr/>
            </p:nvSpPr>
            <p:spPr bwMode="auto">
              <a:xfrm>
                <a:off x="1649" y="2804"/>
                <a:ext cx="107" cy="48"/>
              </a:xfrm>
              <a:custGeom>
                <a:avLst/>
                <a:gdLst>
                  <a:gd name="T0" fmla="*/ 0 w 107"/>
                  <a:gd name="T1" fmla="*/ 47 h 48"/>
                  <a:gd name="T2" fmla="*/ 42 w 107"/>
                  <a:gd name="T3" fmla="*/ 32 h 48"/>
                  <a:gd name="T4" fmla="*/ 47 w 107"/>
                  <a:gd name="T5" fmla="*/ 32 h 48"/>
                  <a:gd name="T6" fmla="*/ 53 w 107"/>
                  <a:gd name="T7" fmla="*/ 32 h 48"/>
                  <a:gd name="T8" fmla="*/ 59 w 107"/>
                  <a:gd name="T9" fmla="*/ 32 h 48"/>
                  <a:gd name="T10" fmla="*/ 64 w 107"/>
                  <a:gd name="T11" fmla="*/ 30 h 48"/>
                  <a:gd name="T12" fmla="*/ 67 w 107"/>
                  <a:gd name="T13" fmla="*/ 25 h 48"/>
                  <a:gd name="T14" fmla="*/ 70 w 107"/>
                  <a:gd name="T15" fmla="*/ 20 h 48"/>
                  <a:gd name="T16" fmla="*/ 75 w 107"/>
                  <a:gd name="T17" fmla="*/ 17 h 48"/>
                  <a:gd name="T18" fmla="*/ 81 w 107"/>
                  <a:gd name="T19" fmla="*/ 15 h 48"/>
                  <a:gd name="T20" fmla="*/ 86 w 107"/>
                  <a:gd name="T21" fmla="*/ 10 h 48"/>
                  <a:gd name="T22" fmla="*/ 92 w 107"/>
                  <a:gd name="T23" fmla="*/ 10 h 48"/>
                  <a:gd name="T24" fmla="*/ 98 w 107"/>
                  <a:gd name="T25" fmla="*/ 7 h 48"/>
                  <a:gd name="T26" fmla="*/ 100 w 107"/>
                  <a:gd name="T27" fmla="*/ 2 h 48"/>
                  <a:gd name="T28" fmla="*/ 106 w 107"/>
                  <a:gd name="T29" fmla="*/ 0 h 4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7"/>
                  <a:gd name="T46" fmla="*/ 0 h 48"/>
                  <a:gd name="T47" fmla="*/ 107 w 107"/>
                  <a:gd name="T48" fmla="*/ 48 h 4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7" h="48">
                    <a:moveTo>
                      <a:pt x="0" y="47"/>
                    </a:moveTo>
                    <a:lnTo>
                      <a:pt x="42" y="32"/>
                    </a:lnTo>
                    <a:lnTo>
                      <a:pt x="47" y="32"/>
                    </a:lnTo>
                    <a:lnTo>
                      <a:pt x="53" y="32"/>
                    </a:lnTo>
                    <a:lnTo>
                      <a:pt x="59" y="32"/>
                    </a:lnTo>
                    <a:lnTo>
                      <a:pt x="64" y="30"/>
                    </a:lnTo>
                    <a:lnTo>
                      <a:pt x="67" y="25"/>
                    </a:lnTo>
                    <a:lnTo>
                      <a:pt x="70" y="20"/>
                    </a:lnTo>
                    <a:lnTo>
                      <a:pt x="75" y="17"/>
                    </a:lnTo>
                    <a:lnTo>
                      <a:pt x="81" y="15"/>
                    </a:lnTo>
                    <a:lnTo>
                      <a:pt x="86" y="10"/>
                    </a:lnTo>
                    <a:lnTo>
                      <a:pt x="92" y="10"/>
                    </a:lnTo>
                    <a:lnTo>
                      <a:pt x="98" y="7"/>
                    </a:lnTo>
                    <a:lnTo>
                      <a:pt x="100" y="2"/>
                    </a:lnTo>
                    <a:lnTo>
                      <a:pt x="106"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09" name="Freeform 447"/>
              <p:cNvSpPr>
                <a:spLocks/>
              </p:cNvSpPr>
              <p:nvPr/>
            </p:nvSpPr>
            <p:spPr bwMode="auto">
              <a:xfrm>
                <a:off x="1705" y="2749"/>
                <a:ext cx="82" cy="91"/>
              </a:xfrm>
              <a:custGeom>
                <a:avLst/>
                <a:gdLst>
                  <a:gd name="T0" fmla="*/ 0 w 82"/>
                  <a:gd name="T1" fmla="*/ 0 h 91"/>
                  <a:gd name="T2" fmla="*/ 8 w 82"/>
                  <a:gd name="T3" fmla="*/ 3 h 91"/>
                  <a:gd name="T4" fmla="*/ 14 w 82"/>
                  <a:gd name="T5" fmla="*/ 3 h 91"/>
                  <a:gd name="T6" fmla="*/ 20 w 82"/>
                  <a:gd name="T7" fmla="*/ 3 h 91"/>
                  <a:gd name="T8" fmla="*/ 25 w 82"/>
                  <a:gd name="T9" fmla="*/ 8 h 91"/>
                  <a:gd name="T10" fmla="*/ 28 w 82"/>
                  <a:gd name="T11" fmla="*/ 13 h 91"/>
                  <a:gd name="T12" fmla="*/ 28 w 82"/>
                  <a:gd name="T13" fmla="*/ 18 h 91"/>
                  <a:gd name="T14" fmla="*/ 31 w 82"/>
                  <a:gd name="T15" fmla="*/ 23 h 91"/>
                  <a:gd name="T16" fmla="*/ 34 w 82"/>
                  <a:gd name="T17" fmla="*/ 28 h 91"/>
                  <a:gd name="T18" fmla="*/ 42 w 82"/>
                  <a:gd name="T19" fmla="*/ 50 h 91"/>
                  <a:gd name="T20" fmla="*/ 42 w 82"/>
                  <a:gd name="T21" fmla="*/ 60 h 91"/>
                  <a:gd name="T22" fmla="*/ 53 w 82"/>
                  <a:gd name="T23" fmla="*/ 70 h 91"/>
                  <a:gd name="T24" fmla="*/ 53 w 82"/>
                  <a:gd name="T25" fmla="*/ 80 h 91"/>
                  <a:gd name="T26" fmla="*/ 59 w 82"/>
                  <a:gd name="T27" fmla="*/ 83 h 91"/>
                  <a:gd name="T28" fmla="*/ 64 w 82"/>
                  <a:gd name="T29" fmla="*/ 85 h 91"/>
                  <a:gd name="T30" fmla="*/ 70 w 82"/>
                  <a:gd name="T31" fmla="*/ 88 h 91"/>
                  <a:gd name="T32" fmla="*/ 75 w 82"/>
                  <a:gd name="T33" fmla="*/ 90 h 91"/>
                  <a:gd name="T34" fmla="*/ 81 w 82"/>
                  <a:gd name="T35" fmla="*/ 90 h 9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2"/>
                  <a:gd name="T55" fmla="*/ 0 h 91"/>
                  <a:gd name="T56" fmla="*/ 82 w 82"/>
                  <a:gd name="T57" fmla="*/ 91 h 9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2" h="91">
                    <a:moveTo>
                      <a:pt x="0" y="0"/>
                    </a:moveTo>
                    <a:lnTo>
                      <a:pt x="8" y="3"/>
                    </a:lnTo>
                    <a:lnTo>
                      <a:pt x="14" y="3"/>
                    </a:lnTo>
                    <a:lnTo>
                      <a:pt x="20" y="3"/>
                    </a:lnTo>
                    <a:lnTo>
                      <a:pt x="25" y="8"/>
                    </a:lnTo>
                    <a:lnTo>
                      <a:pt x="28" y="13"/>
                    </a:lnTo>
                    <a:lnTo>
                      <a:pt x="28" y="18"/>
                    </a:lnTo>
                    <a:lnTo>
                      <a:pt x="31" y="23"/>
                    </a:lnTo>
                    <a:lnTo>
                      <a:pt x="34" y="28"/>
                    </a:lnTo>
                    <a:lnTo>
                      <a:pt x="42" y="50"/>
                    </a:lnTo>
                    <a:lnTo>
                      <a:pt x="42" y="60"/>
                    </a:lnTo>
                    <a:lnTo>
                      <a:pt x="53" y="70"/>
                    </a:lnTo>
                    <a:lnTo>
                      <a:pt x="53" y="80"/>
                    </a:lnTo>
                    <a:lnTo>
                      <a:pt x="59" y="83"/>
                    </a:lnTo>
                    <a:lnTo>
                      <a:pt x="64" y="85"/>
                    </a:lnTo>
                    <a:lnTo>
                      <a:pt x="70" y="88"/>
                    </a:lnTo>
                    <a:lnTo>
                      <a:pt x="75" y="90"/>
                    </a:lnTo>
                    <a:lnTo>
                      <a:pt x="81" y="9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10" name="Freeform 448"/>
              <p:cNvSpPr>
                <a:spLocks/>
              </p:cNvSpPr>
              <p:nvPr/>
            </p:nvSpPr>
            <p:spPr bwMode="auto">
              <a:xfrm>
                <a:off x="1718" y="2709"/>
                <a:ext cx="51" cy="128"/>
              </a:xfrm>
              <a:custGeom>
                <a:avLst/>
                <a:gdLst>
                  <a:gd name="T0" fmla="*/ 0 w 51"/>
                  <a:gd name="T1" fmla="*/ 0 h 128"/>
                  <a:gd name="T2" fmla="*/ 8 w 51"/>
                  <a:gd name="T3" fmla="*/ 2 h 128"/>
                  <a:gd name="T4" fmla="*/ 33 w 51"/>
                  <a:gd name="T5" fmla="*/ 10 h 128"/>
                  <a:gd name="T6" fmla="*/ 39 w 51"/>
                  <a:gd name="T7" fmla="*/ 15 h 128"/>
                  <a:gd name="T8" fmla="*/ 39 w 51"/>
                  <a:gd name="T9" fmla="*/ 20 h 128"/>
                  <a:gd name="T10" fmla="*/ 39 w 51"/>
                  <a:gd name="T11" fmla="*/ 25 h 128"/>
                  <a:gd name="T12" fmla="*/ 39 w 51"/>
                  <a:gd name="T13" fmla="*/ 30 h 128"/>
                  <a:gd name="T14" fmla="*/ 36 w 51"/>
                  <a:gd name="T15" fmla="*/ 42 h 128"/>
                  <a:gd name="T16" fmla="*/ 36 w 51"/>
                  <a:gd name="T17" fmla="*/ 52 h 128"/>
                  <a:gd name="T18" fmla="*/ 39 w 51"/>
                  <a:gd name="T19" fmla="*/ 57 h 128"/>
                  <a:gd name="T20" fmla="*/ 42 w 51"/>
                  <a:gd name="T21" fmla="*/ 62 h 128"/>
                  <a:gd name="T22" fmla="*/ 47 w 51"/>
                  <a:gd name="T23" fmla="*/ 65 h 128"/>
                  <a:gd name="T24" fmla="*/ 50 w 51"/>
                  <a:gd name="T25" fmla="*/ 70 h 128"/>
                  <a:gd name="T26" fmla="*/ 50 w 51"/>
                  <a:gd name="T27" fmla="*/ 75 h 128"/>
                  <a:gd name="T28" fmla="*/ 50 w 51"/>
                  <a:gd name="T29" fmla="*/ 80 h 128"/>
                  <a:gd name="T30" fmla="*/ 50 w 51"/>
                  <a:gd name="T31" fmla="*/ 85 h 128"/>
                  <a:gd name="T32" fmla="*/ 44 w 51"/>
                  <a:gd name="T33" fmla="*/ 97 h 128"/>
                  <a:gd name="T34" fmla="*/ 39 w 51"/>
                  <a:gd name="T35" fmla="*/ 100 h 128"/>
                  <a:gd name="T36" fmla="*/ 39 w 51"/>
                  <a:gd name="T37" fmla="*/ 105 h 128"/>
                  <a:gd name="T38" fmla="*/ 39 w 51"/>
                  <a:gd name="T39" fmla="*/ 110 h 128"/>
                  <a:gd name="T40" fmla="*/ 42 w 51"/>
                  <a:gd name="T41" fmla="*/ 115 h 128"/>
                  <a:gd name="T42" fmla="*/ 42 w 51"/>
                  <a:gd name="T43" fmla="*/ 120 h 128"/>
                  <a:gd name="T44" fmla="*/ 44 w 51"/>
                  <a:gd name="T45" fmla="*/ 125 h 128"/>
                  <a:gd name="T46" fmla="*/ 42 w 51"/>
                  <a:gd name="T47" fmla="*/ 127 h 12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1"/>
                  <a:gd name="T73" fmla="*/ 0 h 128"/>
                  <a:gd name="T74" fmla="*/ 51 w 51"/>
                  <a:gd name="T75" fmla="*/ 128 h 12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1" h="128">
                    <a:moveTo>
                      <a:pt x="0" y="0"/>
                    </a:moveTo>
                    <a:lnTo>
                      <a:pt x="8" y="2"/>
                    </a:lnTo>
                    <a:lnTo>
                      <a:pt x="33" y="10"/>
                    </a:lnTo>
                    <a:lnTo>
                      <a:pt x="39" y="15"/>
                    </a:lnTo>
                    <a:lnTo>
                      <a:pt x="39" y="20"/>
                    </a:lnTo>
                    <a:lnTo>
                      <a:pt x="39" y="25"/>
                    </a:lnTo>
                    <a:lnTo>
                      <a:pt x="39" y="30"/>
                    </a:lnTo>
                    <a:lnTo>
                      <a:pt x="36" y="42"/>
                    </a:lnTo>
                    <a:lnTo>
                      <a:pt x="36" y="52"/>
                    </a:lnTo>
                    <a:lnTo>
                      <a:pt x="39" y="57"/>
                    </a:lnTo>
                    <a:lnTo>
                      <a:pt x="42" y="62"/>
                    </a:lnTo>
                    <a:lnTo>
                      <a:pt x="47" y="65"/>
                    </a:lnTo>
                    <a:lnTo>
                      <a:pt x="50" y="70"/>
                    </a:lnTo>
                    <a:lnTo>
                      <a:pt x="50" y="75"/>
                    </a:lnTo>
                    <a:lnTo>
                      <a:pt x="50" y="80"/>
                    </a:lnTo>
                    <a:lnTo>
                      <a:pt x="50" y="85"/>
                    </a:lnTo>
                    <a:lnTo>
                      <a:pt x="44" y="97"/>
                    </a:lnTo>
                    <a:lnTo>
                      <a:pt x="39" y="100"/>
                    </a:lnTo>
                    <a:lnTo>
                      <a:pt x="39" y="105"/>
                    </a:lnTo>
                    <a:lnTo>
                      <a:pt x="39" y="110"/>
                    </a:lnTo>
                    <a:lnTo>
                      <a:pt x="42" y="115"/>
                    </a:lnTo>
                    <a:lnTo>
                      <a:pt x="42" y="120"/>
                    </a:lnTo>
                    <a:lnTo>
                      <a:pt x="44" y="125"/>
                    </a:lnTo>
                    <a:lnTo>
                      <a:pt x="42" y="127"/>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11" name="Freeform 449"/>
              <p:cNvSpPr>
                <a:spLocks/>
              </p:cNvSpPr>
              <p:nvPr/>
            </p:nvSpPr>
            <p:spPr bwMode="auto">
              <a:xfrm>
                <a:off x="1694" y="2681"/>
                <a:ext cx="87" cy="24"/>
              </a:xfrm>
              <a:custGeom>
                <a:avLst/>
                <a:gdLst>
                  <a:gd name="T0" fmla="*/ 0 w 87"/>
                  <a:gd name="T1" fmla="*/ 23 h 24"/>
                  <a:gd name="T2" fmla="*/ 6 w 87"/>
                  <a:gd name="T3" fmla="*/ 20 h 24"/>
                  <a:gd name="T4" fmla="*/ 6 w 87"/>
                  <a:gd name="T5" fmla="*/ 13 h 24"/>
                  <a:gd name="T6" fmla="*/ 6 w 87"/>
                  <a:gd name="T7" fmla="*/ 8 h 24"/>
                  <a:gd name="T8" fmla="*/ 11 w 87"/>
                  <a:gd name="T9" fmla="*/ 3 h 24"/>
                  <a:gd name="T10" fmla="*/ 17 w 87"/>
                  <a:gd name="T11" fmla="*/ 3 h 24"/>
                  <a:gd name="T12" fmla="*/ 31 w 87"/>
                  <a:gd name="T13" fmla="*/ 0 h 24"/>
                  <a:gd name="T14" fmla="*/ 42 w 87"/>
                  <a:gd name="T15" fmla="*/ 0 h 24"/>
                  <a:gd name="T16" fmla="*/ 53 w 87"/>
                  <a:gd name="T17" fmla="*/ 0 h 24"/>
                  <a:gd name="T18" fmla="*/ 64 w 87"/>
                  <a:gd name="T19" fmla="*/ 0 h 24"/>
                  <a:gd name="T20" fmla="*/ 69 w 87"/>
                  <a:gd name="T21" fmla="*/ 0 h 24"/>
                  <a:gd name="T22" fmla="*/ 75 w 87"/>
                  <a:gd name="T23" fmla="*/ 3 h 24"/>
                  <a:gd name="T24" fmla="*/ 80 w 87"/>
                  <a:gd name="T25" fmla="*/ 3 h 24"/>
                  <a:gd name="T26" fmla="*/ 86 w 87"/>
                  <a:gd name="T27" fmla="*/ 0 h 2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7"/>
                  <a:gd name="T43" fmla="*/ 0 h 24"/>
                  <a:gd name="T44" fmla="*/ 87 w 87"/>
                  <a:gd name="T45" fmla="*/ 24 h 2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7" h="24">
                    <a:moveTo>
                      <a:pt x="0" y="23"/>
                    </a:moveTo>
                    <a:lnTo>
                      <a:pt x="6" y="20"/>
                    </a:lnTo>
                    <a:lnTo>
                      <a:pt x="6" y="13"/>
                    </a:lnTo>
                    <a:lnTo>
                      <a:pt x="6" y="8"/>
                    </a:lnTo>
                    <a:lnTo>
                      <a:pt x="11" y="3"/>
                    </a:lnTo>
                    <a:lnTo>
                      <a:pt x="17" y="3"/>
                    </a:lnTo>
                    <a:lnTo>
                      <a:pt x="31" y="0"/>
                    </a:lnTo>
                    <a:lnTo>
                      <a:pt x="42" y="0"/>
                    </a:lnTo>
                    <a:lnTo>
                      <a:pt x="53" y="0"/>
                    </a:lnTo>
                    <a:lnTo>
                      <a:pt x="64" y="0"/>
                    </a:lnTo>
                    <a:lnTo>
                      <a:pt x="69" y="0"/>
                    </a:lnTo>
                    <a:lnTo>
                      <a:pt x="75" y="3"/>
                    </a:lnTo>
                    <a:lnTo>
                      <a:pt x="80" y="3"/>
                    </a:lnTo>
                    <a:lnTo>
                      <a:pt x="86"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12" name="Freeform 450"/>
              <p:cNvSpPr>
                <a:spLocks/>
              </p:cNvSpPr>
              <p:nvPr/>
            </p:nvSpPr>
            <p:spPr bwMode="auto">
              <a:xfrm>
                <a:off x="1761" y="2649"/>
                <a:ext cx="71" cy="72"/>
              </a:xfrm>
              <a:custGeom>
                <a:avLst/>
                <a:gdLst>
                  <a:gd name="T0" fmla="*/ 0 w 71"/>
                  <a:gd name="T1" fmla="*/ 0 h 72"/>
                  <a:gd name="T2" fmla="*/ 6 w 71"/>
                  <a:gd name="T3" fmla="*/ 0 h 72"/>
                  <a:gd name="T4" fmla="*/ 11 w 71"/>
                  <a:gd name="T5" fmla="*/ 2 h 72"/>
                  <a:gd name="T6" fmla="*/ 17 w 71"/>
                  <a:gd name="T7" fmla="*/ 7 h 72"/>
                  <a:gd name="T8" fmla="*/ 28 w 71"/>
                  <a:gd name="T9" fmla="*/ 7 h 72"/>
                  <a:gd name="T10" fmla="*/ 31 w 71"/>
                  <a:gd name="T11" fmla="*/ 12 h 72"/>
                  <a:gd name="T12" fmla="*/ 34 w 71"/>
                  <a:gd name="T13" fmla="*/ 17 h 72"/>
                  <a:gd name="T14" fmla="*/ 39 w 71"/>
                  <a:gd name="T15" fmla="*/ 29 h 72"/>
                  <a:gd name="T16" fmla="*/ 39 w 71"/>
                  <a:gd name="T17" fmla="*/ 39 h 72"/>
                  <a:gd name="T18" fmla="*/ 42 w 71"/>
                  <a:gd name="T19" fmla="*/ 44 h 72"/>
                  <a:gd name="T20" fmla="*/ 48 w 71"/>
                  <a:gd name="T21" fmla="*/ 49 h 72"/>
                  <a:gd name="T22" fmla="*/ 53 w 71"/>
                  <a:gd name="T23" fmla="*/ 54 h 72"/>
                  <a:gd name="T24" fmla="*/ 59 w 71"/>
                  <a:gd name="T25" fmla="*/ 56 h 72"/>
                  <a:gd name="T26" fmla="*/ 64 w 71"/>
                  <a:gd name="T27" fmla="*/ 61 h 72"/>
                  <a:gd name="T28" fmla="*/ 64 w 71"/>
                  <a:gd name="T29" fmla="*/ 66 h 72"/>
                  <a:gd name="T30" fmla="*/ 70 w 71"/>
                  <a:gd name="T31" fmla="*/ 71 h 7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1"/>
                  <a:gd name="T49" fmla="*/ 0 h 72"/>
                  <a:gd name="T50" fmla="*/ 71 w 71"/>
                  <a:gd name="T51" fmla="*/ 72 h 7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1" h="72">
                    <a:moveTo>
                      <a:pt x="0" y="0"/>
                    </a:moveTo>
                    <a:lnTo>
                      <a:pt x="6" y="0"/>
                    </a:lnTo>
                    <a:lnTo>
                      <a:pt x="11" y="2"/>
                    </a:lnTo>
                    <a:lnTo>
                      <a:pt x="17" y="7"/>
                    </a:lnTo>
                    <a:lnTo>
                      <a:pt x="28" y="7"/>
                    </a:lnTo>
                    <a:lnTo>
                      <a:pt x="31" y="12"/>
                    </a:lnTo>
                    <a:lnTo>
                      <a:pt x="34" y="17"/>
                    </a:lnTo>
                    <a:lnTo>
                      <a:pt x="39" y="29"/>
                    </a:lnTo>
                    <a:lnTo>
                      <a:pt x="39" y="39"/>
                    </a:lnTo>
                    <a:lnTo>
                      <a:pt x="42" y="44"/>
                    </a:lnTo>
                    <a:lnTo>
                      <a:pt x="48" y="49"/>
                    </a:lnTo>
                    <a:lnTo>
                      <a:pt x="53" y="54"/>
                    </a:lnTo>
                    <a:lnTo>
                      <a:pt x="59" y="56"/>
                    </a:lnTo>
                    <a:lnTo>
                      <a:pt x="64" y="61"/>
                    </a:lnTo>
                    <a:lnTo>
                      <a:pt x="64" y="66"/>
                    </a:lnTo>
                    <a:lnTo>
                      <a:pt x="70" y="71"/>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13" name="Freeform 451"/>
              <p:cNvSpPr>
                <a:spLocks/>
              </p:cNvSpPr>
              <p:nvPr/>
            </p:nvSpPr>
            <p:spPr bwMode="auto">
              <a:xfrm>
                <a:off x="1780" y="2681"/>
                <a:ext cx="91" cy="44"/>
              </a:xfrm>
              <a:custGeom>
                <a:avLst/>
                <a:gdLst>
                  <a:gd name="T0" fmla="*/ 0 w 91"/>
                  <a:gd name="T1" fmla="*/ 43 h 44"/>
                  <a:gd name="T2" fmla="*/ 6 w 91"/>
                  <a:gd name="T3" fmla="*/ 40 h 44"/>
                  <a:gd name="T4" fmla="*/ 11 w 91"/>
                  <a:gd name="T5" fmla="*/ 35 h 44"/>
                  <a:gd name="T6" fmla="*/ 14 w 91"/>
                  <a:gd name="T7" fmla="*/ 30 h 44"/>
                  <a:gd name="T8" fmla="*/ 20 w 91"/>
                  <a:gd name="T9" fmla="*/ 25 h 44"/>
                  <a:gd name="T10" fmla="*/ 34 w 91"/>
                  <a:gd name="T11" fmla="*/ 18 h 44"/>
                  <a:gd name="T12" fmla="*/ 45 w 91"/>
                  <a:gd name="T13" fmla="*/ 18 h 44"/>
                  <a:gd name="T14" fmla="*/ 56 w 91"/>
                  <a:gd name="T15" fmla="*/ 18 h 44"/>
                  <a:gd name="T16" fmla="*/ 68 w 91"/>
                  <a:gd name="T17" fmla="*/ 8 h 44"/>
                  <a:gd name="T18" fmla="*/ 73 w 91"/>
                  <a:gd name="T19" fmla="*/ 8 h 44"/>
                  <a:gd name="T20" fmla="*/ 79 w 91"/>
                  <a:gd name="T21" fmla="*/ 8 h 44"/>
                  <a:gd name="T22" fmla="*/ 84 w 91"/>
                  <a:gd name="T23" fmla="*/ 8 h 44"/>
                  <a:gd name="T24" fmla="*/ 90 w 91"/>
                  <a:gd name="T25" fmla="*/ 5 h 44"/>
                  <a:gd name="T26" fmla="*/ 90 w 91"/>
                  <a:gd name="T27" fmla="*/ 0 h 44"/>
                  <a:gd name="T28" fmla="*/ 90 w 91"/>
                  <a:gd name="T29" fmla="*/ 0 h 4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1"/>
                  <a:gd name="T46" fmla="*/ 0 h 44"/>
                  <a:gd name="T47" fmla="*/ 91 w 91"/>
                  <a:gd name="T48" fmla="*/ 44 h 4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1" h="44">
                    <a:moveTo>
                      <a:pt x="0" y="43"/>
                    </a:moveTo>
                    <a:lnTo>
                      <a:pt x="6" y="40"/>
                    </a:lnTo>
                    <a:lnTo>
                      <a:pt x="11" y="35"/>
                    </a:lnTo>
                    <a:lnTo>
                      <a:pt x="14" y="30"/>
                    </a:lnTo>
                    <a:lnTo>
                      <a:pt x="20" y="25"/>
                    </a:lnTo>
                    <a:lnTo>
                      <a:pt x="34" y="18"/>
                    </a:lnTo>
                    <a:lnTo>
                      <a:pt x="45" y="18"/>
                    </a:lnTo>
                    <a:lnTo>
                      <a:pt x="56" y="18"/>
                    </a:lnTo>
                    <a:lnTo>
                      <a:pt x="68" y="8"/>
                    </a:lnTo>
                    <a:lnTo>
                      <a:pt x="73" y="8"/>
                    </a:lnTo>
                    <a:lnTo>
                      <a:pt x="79" y="8"/>
                    </a:lnTo>
                    <a:lnTo>
                      <a:pt x="84" y="8"/>
                    </a:lnTo>
                    <a:lnTo>
                      <a:pt x="90" y="5"/>
                    </a:lnTo>
                    <a:lnTo>
                      <a:pt x="90"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14" name="Freeform 452"/>
              <p:cNvSpPr>
                <a:spLocks/>
              </p:cNvSpPr>
              <p:nvPr/>
            </p:nvSpPr>
            <p:spPr bwMode="auto">
              <a:xfrm>
                <a:off x="1806" y="2704"/>
                <a:ext cx="108" cy="78"/>
              </a:xfrm>
              <a:custGeom>
                <a:avLst/>
                <a:gdLst>
                  <a:gd name="T0" fmla="*/ 107 w 108"/>
                  <a:gd name="T1" fmla="*/ 0 h 78"/>
                  <a:gd name="T2" fmla="*/ 101 w 108"/>
                  <a:gd name="T3" fmla="*/ 0 h 78"/>
                  <a:gd name="T4" fmla="*/ 96 w 108"/>
                  <a:gd name="T5" fmla="*/ 0 h 78"/>
                  <a:gd name="T6" fmla="*/ 82 w 108"/>
                  <a:gd name="T7" fmla="*/ 5 h 78"/>
                  <a:gd name="T8" fmla="*/ 68 w 108"/>
                  <a:gd name="T9" fmla="*/ 7 h 78"/>
                  <a:gd name="T10" fmla="*/ 56 w 108"/>
                  <a:gd name="T11" fmla="*/ 17 h 78"/>
                  <a:gd name="T12" fmla="*/ 45 w 108"/>
                  <a:gd name="T13" fmla="*/ 27 h 78"/>
                  <a:gd name="T14" fmla="*/ 45 w 108"/>
                  <a:gd name="T15" fmla="*/ 37 h 78"/>
                  <a:gd name="T16" fmla="*/ 45 w 108"/>
                  <a:gd name="T17" fmla="*/ 42 h 78"/>
                  <a:gd name="T18" fmla="*/ 42 w 108"/>
                  <a:gd name="T19" fmla="*/ 47 h 78"/>
                  <a:gd name="T20" fmla="*/ 42 w 108"/>
                  <a:gd name="T21" fmla="*/ 52 h 78"/>
                  <a:gd name="T22" fmla="*/ 42 w 108"/>
                  <a:gd name="T23" fmla="*/ 57 h 78"/>
                  <a:gd name="T24" fmla="*/ 42 w 108"/>
                  <a:gd name="T25" fmla="*/ 62 h 78"/>
                  <a:gd name="T26" fmla="*/ 28 w 108"/>
                  <a:gd name="T27" fmla="*/ 65 h 78"/>
                  <a:gd name="T28" fmla="*/ 23 w 108"/>
                  <a:gd name="T29" fmla="*/ 67 h 78"/>
                  <a:gd name="T30" fmla="*/ 17 w 108"/>
                  <a:gd name="T31" fmla="*/ 70 h 78"/>
                  <a:gd name="T32" fmla="*/ 11 w 108"/>
                  <a:gd name="T33" fmla="*/ 72 h 78"/>
                  <a:gd name="T34" fmla="*/ 6 w 108"/>
                  <a:gd name="T35" fmla="*/ 75 h 78"/>
                  <a:gd name="T36" fmla="*/ 0 w 108"/>
                  <a:gd name="T37" fmla="*/ 77 h 7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8"/>
                  <a:gd name="T58" fmla="*/ 0 h 78"/>
                  <a:gd name="T59" fmla="*/ 108 w 108"/>
                  <a:gd name="T60" fmla="*/ 78 h 7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8" h="78">
                    <a:moveTo>
                      <a:pt x="107" y="0"/>
                    </a:moveTo>
                    <a:lnTo>
                      <a:pt x="101" y="0"/>
                    </a:lnTo>
                    <a:lnTo>
                      <a:pt x="96" y="0"/>
                    </a:lnTo>
                    <a:lnTo>
                      <a:pt x="82" y="5"/>
                    </a:lnTo>
                    <a:lnTo>
                      <a:pt x="68" y="7"/>
                    </a:lnTo>
                    <a:lnTo>
                      <a:pt x="56" y="17"/>
                    </a:lnTo>
                    <a:lnTo>
                      <a:pt x="45" y="27"/>
                    </a:lnTo>
                    <a:lnTo>
                      <a:pt x="45" y="37"/>
                    </a:lnTo>
                    <a:lnTo>
                      <a:pt x="45" y="42"/>
                    </a:lnTo>
                    <a:lnTo>
                      <a:pt x="42" y="47"/>
                    </a:lnTo>
                    <a:lnTo>
                      <a:pt x="42" y="52"/>
                    </a:lnTo>
                    <a:lnTo>
                      <a:pt x="42" y="57"/>
                    </a:lnTo>
                    <a:lnTo>
                      <a:pt x="42" y="62"/>
                    </a:lnTo>
                    <a:lnTo>
                      <a:pt x="28" y="65"/>
                    </a:lnTo>
                    <a:lnTo>
                      <a:pt x="23" y="67"/>
                    </a:lnTo>
                    <a:lnTo>
                      <a:pt x="17" y="70"/>
                    </a:lnTo>
                    <a:lnTo>
                      <a:pt x="11" y="72"/>
                    </a:lnTo>
                    <a:lnTo>
                      <a:pt x="6" y="75"/>
                    </a:lnTo>
                    <a:lnTo>
                      <a:pt x="0" y="77"/>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15" name="Freeform 453"/>
              <p:cNvSpPr>
                <a:spLocks/>
              </p:cNvSpPr>
              <p:nvPr/>
            </p:nvSpPr>
            <p:spPr bwMode="auto">
              <a:xfrm>
                <a:off x="1834" y="2764"/>
                <a:ext cx="82" cy="51"/>
              </a:xfrm>
              <a:custGeom>
                <a:avLst/>
                <a:gdLst>
                  <a:gd name="T0" fmla="*/ 0 w 82"/>
                  <a:gd name="T1" fmla="*/ 50 h 51"/>
                  <a:gd name="T2" fmla="*/ 3 w 82"/>
                  <a:gd name="T3" fmla="*/ 45 h 51"/>
                  <a:gd name="T4" fmla="*/ 8 w 82"/>
                  <a:gd name="T5" fmla="*/ 43 h 51"/>
                  <a:gd name="T6" fmla="*/ 14 w 82"/>
                  <a:gd name="T7" fmla="*/ 38 h 51"/>
                  <a:gd name="T8" fmla="*/ 20 w 82"/>
                  <a:gd name="T9" fmla="*/ 35 h 51"/>
                  <a:gd name="T10" fmla="*/ 25 w 82"/>
                  <a:gd name="T11" fmla="*/ 35 h 51"/>
                  <a:gd name="T12" fmla="*/ 31 w 82"/>
                  <a:gd name="T13" fmla="*/ 33 h 51"/>
                  <a:gd name="T14" fmla="*/ 36 w 82"/>
                  <a:gd name="T15" fmla="*/ 33 h 51"/>
                  <a:gd name="T16" fmla="*/ 42 w 82"/>
                  <a:gd name="T17" fmla="*/ 30 h 51"/>
                  <a:gd name="T18" fmla="*/ 47 w 82"/>
                  <a:gd name="T19" fmla="*/ 28 h 51"/>
                  <a:gd name="T20" fmla="*/ 45 w 82"/>
                  <a:gd name="T21" fmla="*/ 23 h 51"/>
                  <a:gd name="T22" fmla="*/ 47 w 82"/>
                  <a:gd name="T23" fmla="*/ 18 h 51"/>
                  <a:gd name="T24" fmla="*/ 50 w 82"/>
                  <a:gd name="T25" fmla="*/ 13 h 51"/>
                  <a:gd name="T26" fmla="*/ 56 w 82"/>
                  <a:gd name="T27" fmla="*/ 10 h 51"/>
                  <a:gd name="T28" fmla="*/ 61 w 82"/>
                  <a:gd name="T29" fmla="*/ 10 h 51"/>
                  <a:gd name="T30" fmla="*/ 67 w 82"/>
                  <a:gd name="T31" fmla="*/ 8 h 51"/>
                  <a:gd name="T32" fmla="*/ 73 w 82"/>
                  <a:gd name="T33" fmla="*/ 8 h 51"/>
                  <a:gd name="T34" fmla="*/ 78 w 82"/>
                  <a:gd name="T35" fmla="*/ 5 h 51"/>
                  <a:gd name="T36" fmla="*/ 81 w 82"/>
                  <a:gd name="T37" fmla="*/ 0 h 5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2"/>
                  <a:gd name="T58" fmla="*/ 0 h 51"/>
                  <a:gd name="T59" fmla="*/ 82 w 82"/>
                  <a:gd name="T60" fmla="*/ 51 h 5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2" h="51">
                    <a:moveTo>
                      <a:pt x="0" y="50"/>
                    </a:moveTo>
                    <a:lnTo>
                      <a:pt x="3" y="45"/>
                    </a:lnTo>
                    <a:lnTo>
                      <a:pt x="8" y="43"/>
                    </a:lnTo>
                    <a:lnTo>
                      <a:pt x="14" y="38"/>
                    </a:lnTo>
                    <a:lnTo>
                      <a:pt x="20" y="35"/>
                    </a:lnTo>
                    <a:lnTo>
                      <a:pt x="25" y="35"/>
                    </a:lnTo>
                    <a:lnTo>
                      <a:pt x="31" y="33"/>
                    </a:lnTo>
                    <a:lnTo>
                      <a:pt x="36" y="33"/>
                    </a:lnTo>
                    <a:lnTo>
                      <a:pt x="42" y="30"/>
                    </a:lnTo>
                    <a:lnTo>
                      <a:pt x="47" y="28"/>
                    </a:lnTo>
                    <a:lnTo>
                      <a:pt x="45" y="23"/>
                    </a:lnTo>
                    <a:lnTo>
                      <a:pt x="47" y="18"/>
                    </a:lnTo>
                    <a:lnTo>
                      <a:pt x="50" y="13"/>
                    </a:lnTo>
                    <a:lnTo>
                      <a:pt x="56" y="10"/>
                    </a:lnTo>
                    <a:lnTo>
                      <a:pt x="61" y="10"/>
                    </a:lnTo>
                    <a:lnTo>
                      <a:pt x="67" y="8"/>
                    </a:lnTo>
                    <a:lnTo>
                      <a:pt x="73" y="8"/>
                    </a:lnTo>
                    <a:lnTo>
                      <a:pt x="78" y="5"/>
                    </a:lnTo>
                    <a:lnTo>
                      <a:pt x="81"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16" name="Freeform 454"/>
              <p:cNvSpPr>
                <a:spLocks/>
              </p:cNvSpPr>
              <p:nvPr/>
            </p:nvSpPr>
            <p:spPr bwMode="auto">
              <a:xfrm>
                <a:off x="1802" y="2811"/>
                <a:ext cx="123" cy="44"/>
              </a:xfrm>
              <a:custGeom>
                <a:avLst/>
                <a:gdLst>
                  <a:gd name="T0" fmla="*/ 0 w 123"/>
                  <a:gd name="T1" fmla="*/ 0 h 44"/>
                  <a:gd name="T2" fmla="*/ 6 w 123"/>
                  <a:gd name="T3" fmla="*/ 3 h 44"/>
                  <a:gd name="T4" fmla="*/ 11 w 123"/>
                  <a:gd name="T5" fmla="*/ 8 h 44"/>
                  <a:gd name="T6" fmla="*/ 17 w 123"/>
                  <a:gd name="T7" fmla="*/ 13 h 44"/>
                  <a:gd name="T8" fmla="*/ 23 w 123"/>
                  <a:gd name="T9" fmla="*/ 13 h 44"/>
                  <a:gd name="T10" fmla="*/ 28 w 123"/>
                  <a:gd name="T11" fmla="*/ 15 h 44"/>
                  <a:gd name="T12" fmla="*/ 34 w 123"/>
                  <a:gd name="T13" fmla="*/ 15 h 44"/>
                  <a:gd name="T14" fmla="*/ 40 w 123"/>
                  <a:gd name="T15" fmla="*/ 15 h 44"/>
                  <a:gd name="T16" fmla="*/ 68 w 123"/>
                  <a:gd name="T17" fmla="*/ 23 h 44"/>
                  <a:gd name="T18" fmla="*/ 79 w 123"/>
                  <a:gd name="T19" fmla="*/ 23 h 44"/>
                  <a:gd name="T20" fmla="*/ 91 w 123"/>
                  <a:gd name="T21" fmla="*/ 23 h 44"/>
                  <a:gd name="T22" fmla="*/ 91 w 123"/>
                  <a:gd name="T23" fmla="*/ 33 h 44"/>
                  <a:gd name="T24" fmla="*/ 96 w 123"/>
                  <a:gd name="T25" fmla="*/ 33 h 44"/>
                  <a:gd name="T26" fmla="*/ 102 w 123"/>
                  <a:gd name="T27" fmla="*/ 38 h 44"/>
                  <a:gd name="T28" fmla="*/ 116 w 123"/>
                  <a:gd name="T29" fmla="*/ 43 h 44"/>
                  <a:gd name="T30" fmla="*/ 122 w 123"/>
                  <a:gd name="T31" fmla="*/ 43 h 4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23"/>
                  <a:gd name="T49" fmla="*/ 0 h 44"/>
                  <a:gd name="T50" fmla="*/ 123 w 123"/>
                  <a:gd name="T51" fmla="*/ 44 h 4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23" h="44">
                    <a:moveTo>
                      <a:pt x="0" y="0"/>
                    </a:moveTo>
                    <a:lnTo>
                      <a:pt x="6" y="3"/>
                    </a:lnTo>
                    <a:lnTo>
                      <a:pt x="11" y="8"/>
                    </a:lnTo>
                    <a:lnTo>
                      <a:pt x="17" y="13"/>
                    </a:lnTo>
                    <a:lnTo>
                      <a:pt x="23" y="13"/>
                    </a:lnTo>
                    <a:lnTo>
                      <a:pt x="28" y="15"/>
                    </a:lnTo>
                    <a:lnTo>
                      <a:pt x="34" y="15"/>
                    </a:lnTo>
                    <a:lnTo>
                      <a:pt x="40" y="15"/>
                    </a:lnTo>
                    <a:lnTo>
                      <a:pt x="68" y="23"/>
                    </a:lnTo>
                    <a:lnTo>
                      <a:pt x="79" y="23"/>
                    </a:lnTo>
                    <a:lnTo>
                      <a:pt x="91" y="23"/>
                    </a:lnTo>
                    <a:lnTo>
                      <a:pt x="91" y="33"/>
                    </a:lnTo>
                    <a:lnTo>
                      <a:pt x="96" y="33"/>
                    </a:lnTo>
                    <a:lnTo>
                      <a:pt x="102" y="38"/>
                    </a:lnTo>
                    <a:lnTo>
                      <a:pt x="116" y="43"/>
                    </a:lnTo>
                    <a:lnTo>
                      <a:pt x="122" y="43"/>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17" name="Freeform 455"/>
              <p:cNvSpPr>
                <a:spLocks/>
              </p:cNvSpPr>
              <p:nvPr/>
            </p:nvSpPr>
            <p:spPr bwMode="auto">
              <a:xfrm>
                <a:off x="1856" y="2799"/>
                <a:ext cx="116" cy="51"/>
              </a:xfrm>
              <a:custGeom>
                <a:avLst/>
                <a:gdLst>
                  <a:gd name="T0" fmla="*/ 0 w 116"/>
                  <a:gd name="T1" fmla="*/ 50 h 51"/>
                  <a:gd name="T2" fmla="*/ 115 w 116"/>
                  <a:gd name="T3" fmla="*/ 25 h 51"/>
                  <a:gd name="T4" fmla="*/ 115 w 116"/>
                  <a:gd name="T5" fmla="*/ 20 h 51"/>
                  <a:gd name="T6" fmla="*/ 109 w 116"/>
                  <a:gd name="T7" fmla="*/ 18 h 51"/>
                  <a:gd name="T8" fmla="*/ 107 w 116"/>
                  <a:gd name="T9" fmla="*/ 10 h 51"/>
                  <a:gd name="T10" fmla="*/ 104 w 116"/>
                  <a:gd name="T11" fmla="*/ 5 h 51"/>
                  <a:gd name="T12" fmla="*/ 101 w 116"/>
                  <a:gd name="T13" fmla="*/ 0 h 51"/>
                  <a:gd name="T14" fmla="*/ 0 60000 65536"/>
                  <a:gd name="T15" fmla="*/ 0 60000 65536"/>
                  <a:gd name="T16" fmla="*/ 0 60000 65536"/>
                  <a:gd name="T17" fmla="*/ 0 60000 65536"/>
                  <a:gd name="T18" fmla="*/ 0 60000 65536"/>
                  <a:gd name="T19" fmla="*/ 0 60000 65536"/>
                  <a:gd name="T20" fmla="*/ 0 60000 65536"/>
                  <a:gd name="T21" fmla="*/ 0 w 116"/>
                  <a:gd name="T22" fmla="*/ 0 h 51"/>
                  <a:gd name="T23" fmla="*/ 116 w 116"/>
                  <a:gd name="T24" fmla="*/ 51 h 5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6" h="51">
                    <a:moveTo>
                      <a:pt x="0" y="50"/>
                    </a:moveTo>
                    <a:lnTo>
                      <a:pt x="115" y="25"/>
                    </a:lnTo>
                    <a:lnTo>
                      <a:pt x="115" y="20"/>
                    </a:lnTo>
                    <a:lnTo>
                      <a:pt x="109" y="18"/>
                    </a:lnTo>
                    <a:lnTo>
                      <a:pt x="107" y="10"/>
                    </a:lnTo>
                    <a:lnTo>
                      <a:pt x="104" y="5"/>
                    </a:lnTo>
                    <a:lnTo>
                      <a:pt x="101"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18" name="Freeform 456"/>
              <p:cNvSpPr>
                <a:spLocks/>
              </p:cNvSpPr>
              <p:nvPr/>
            </p:nvSpPr>
            <p:spPr bwMode="auto">
              <a:xfrm>
                <a:off x="1874" y="2656"/>
                <a:ext cx="91" cy="49"/>
              </a:xfrm>
              <a:custGeom>
                <a:avLst/>
                <a:gdLst>
                  <a:gd name="T0" fmla="*/ 0 w 91"/>
                  <a:gd name="T1" fmla="*/ 0 h 49"/>
                  <a:gd name="T2" fmla="*/ 17 w 91"/>
                  <a:gd name="T3" fmla="*/ 3 h 49"/>
                  <a:gd name="T4" fmla="*/ 23 w 91"/>
                  <a:gd name="T5" fmla="*/ 3 h 49"/>
                  <a:gd name="T6" fmla="*/ 25 w 91"/>
                  <a:gd name="T7" fmla="*/ 8 h 49"/>
                  <a:gd name="T8" fmla="*/ 31 w 91"/>
                  <a:gd name="T9" fmla="*/ 13 h 49"/>
                  <a:gd name="T10" fmla="*/ 34 w 91"/>
                  <a:gd name="T11" fmla="*/ 18 h 49"/>
                  <a:gd name="T12" fmla="*/ 37 w 91"/>
                  <a:gd name="T13" fmla="*/ 23 h 49"/>
                  <a:gd name="T14" fmla="*/ 45 w 91"/>
                  <a:gd name="T15" fmla="*/ 28 h 49"/>
                  <a:gd name="T16" fmla="*/ 56 w 91"/>
                  <a:gd name="T17" fmla="*/ 33 h 49"/>
                  <a:gd name="T18" fmla="*/ 68 w 91"/>
                  <a:gd name="T19" fmla="*/ 38 h 49"/>
                  <a:gd name="T20" fmla="*/ 79 w 91"/>
                  <a:gd name="T21" fmla="*/ 48 h 49"/>
                  <a:gd name="T22" fmla="*/ 84 w 91"/>
                  <a:gd name="T23" fmla="*/ 48 h 49"/>
                  <a:gd name="T24" fmla="*/ 90 w 91"/>
                  <a:gd name="T25" fmla="*/ 48 h 49"/>
                  <a:gd name="T26" fmla="*/ 87 w 91"/>
                  <a:gd name="T27" fmla="*/ 48 h 4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1"/>
                  <a:gd name="T43" fmla="*/ 0 h 49"/>
                  <a:gd name="T44" fmla="*/ 91 w 91"/>
                  <a:gd name="T45" fmla="*/ 49 h 4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1" h="49">
                    <a:moveTo>
                      <a:pt x="0" y="0"/>
                    </a:moveTo>
                    <a:lnTo>
                      <a:pt x="17" y="3"/>
                    </a:lnTo>
                    <a:lnTo>
                      <a:pt x="23" y="3"/>
                    </a:lnTo>
                    <a:lnTo>
                      <a:pt x="25" y="8"/>
                    </a:lnTo>
                    <a:lnTo>
                      <a:pt x="31" y="13"/>
                    </a:lnTo>
                    <a:lnTo>
                      <a:pt x="34" y="18"/>
                    </a:lnTo>
                    <a:lnTo>
                      <a:pt x="37" y="23"/>
                    </a:lnTo>
                    <a:lnTo>
                      <a:pt x="45" y="28"/>
                    </a:lnTo>
                    <a:lnTo>
                      <a:pt x="56" y="33"/>
                    </a:lnTo>
                    <a:lnTo>
                      <a:pt x="68" y="38"/>
                    </a:lnTo>
                    <a:lnTo>
                      <a:pt x="79" y="48"/>
                    </a:lnTo>
                    <a:lnTo>
                      <a:pt x="84" y="48"/>
                    </a:lnTo>
                    <a:lnTo>
                      <a:pt x="90" y="48"/>
                    </a:lnTo>
                    <a:lnTo>
                      <a:pt x="87" y="48"/>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19" name="Freeform 457"/>
              <p:cNvSpPr>
                <a:spLocks/>
              </p:cNvSpPr>
              <p:nvPr/>
            </p:nvSpPr>
            <p:spPr bwMode="auto">
              <a:xfrm>
                <a:off x="1932" y="2726"/>
                <a:ext cx="78" cy="41"/>
              </a:xfrm>
              <a:custGeom>
                <a:avLst/>
                <a:gdLst>
                  <a:gd name="T0" fmla="*/ 0 w 78"/>
                  <a:gd name="T1" fmla="*/ 40 h 41"/>
                  <a:gd name="T2" fmla="*/ 34 w 78"/>
                  <a:gd name="T3" fmla="*/ 23 h 41"/>
                  <a:gd name="T4" fmla="*/ 40 w 78"/>
                  <a:gd name="T5" fmla="*/ 23 h 41"/>
                  <a:gd name="T6" fmla="*/ 46 w 78"/>
                  <a:gd name="T7" fmla="*/ 23 h 41"/>
                  <a:gd name="T8" fmla="*/ 51 w 78"/>
                  <a:gd name="T9" fmla="*/ 23 h 41"/>
                  <a:gd name="T10" fmla="*/ 57 w 78"/>
                  <a:gd name="T11" fmla="*/ 23 h 41"/>
                  <a:gd name="T12" fmla="*/ 63 w 78"/>
                  <a:gd name="T13" fmla="*/ 20 h 41"/>
                  <a:gd name="T14" fmla="*/ 68 w 78"/>
                  <a:gd name="T15" fmla="*/ 15 h 41"/>
                  <a:gd name="T16" fmla="*/ 71 w 78"/>
                  <a:gd name="T17" fmla="*/ 10 h 41"/>
                  <a:gd name="T18" fmla="*/ 74 w 78"/>
                  <a:gd name="T19" fmla="*/ 5 h 41"/>
                  <a:gd name="T20" fmla="*/ 77 w 78"/>
                  <a:gd name="T21" fmla="*/ 0 h 4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8"/>
                  <a:gd name="T34" fmla="*/ 0 h 41"/>
                  <a:gd name="T35" fmla="*/ 78 w 78"/>
                  <a:gd name="T36" fmla="*/ 41 h 4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8" h="41">
                    <a:moveTo>
                      <a:pt x="0" y="40"/>
                    </a:moveTo>
                    <a:lnTo>
                      <a:pt x="34" y="23"/>
                    </a:lnTo>
                    <a:lnTo>
                      <a:pt x="40" y="23"/>
                    </a:lnTo>
                    <a:lnTo>
                      <a:pt x="46" y="23"/>
                    </a:lnTo>
                    <a:lnTo>
                      <a:pt x="51" y="23"/>
                    </a:lnTo>
                    <a:lnTo>
                      <a:pt x="57" y="23"/>
                    </a:lnTo>
                    <a:lnTo>
                      <a:pt x="63" y="20"/>
                    </a:lnTo>
                    <a:lnTo>
                      <a:pt x="68" y="15"/>
                    </a:lnTo>
                    <a:lnTo>
                      <a:pt x="71" y="10"/>
                    </a:lnTo>
                    <a:lnTo>
                      <a:pt x="74" y="5"/>
                    </a:lnTo>
                    <a:lnTo>
                      <a:pt x="77"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20" name="Freeform 458"/>
              <p:cNvSpPr>
                <a:spLocks/>
              </p:cNvSpPr>
              <p:nvPr/>
            </p:nvSpPr>
            <p:spPr bwMode="auto">
              <a:xfrm>
                <a:off x="1986" y="2799"/>
                <a:ext cx="96" cy="78"/>
              </a:xfrm>
              <a:custGeom>
                <a:avLst/>
                <a:gdLst>
                  <a:gd name="T0" fmla="*/ 0 w 96"/>
                  <a:gd name="T1" fmla="*/ 0 h 78"/>
                  <a:gd name="T2" fmla="*/ 8 w 96"/>
                  <a:gd name="T3" fmla="*/ 2 h 78"/>
                  <a:gd name="T4" fmla="*/ 14 w 96"/>
                  <a:gd name="T5" fmla="*/ 7 h 78"/>
                  <a:gd name="T6" fmla="*/ 22 w 96"/>
                  <a:gd name="T7" fmla="*/ 30 h 78"/>
                  <a:gd name="T8" fmla="*/ 34 w 96"/>
                  <a:gd name="T9" fmla="*/ 40 h 78"/>
                  <a:gd name="T10" fmla="*/ 34 w 96"/>
                  <a:gd name="T11" fmla="*/ 50 h 78"/>
                  <a:gd name="T12" fmla="*/ 45 w 96"/>
                  <a:gd name="T13" fmla="*/ 60 h 78"/>
                  <a:gd name="T14" fmla="*/ 50 w 96"/>
                  <a:gd name="T15" fmla="*/ 70 h 78"/>
                  <a:gd name="T16" fmla="*/ 53 w 96"/>
                  <a:gd name="T17" fmla="*/ 75 h 78"/>
                  <a:gd name="T18" fmla="*/ 59 w 96"/>
                  <a:gd name="T19" fmla="*/ 77 h 78"/>
                  <a:gd name="T20" fmla="*/ 64 w 96"/>
                  <a:gd name="T21" fmla="*/ 75 h 78"/>
                  <a:gd name="T22" fmla="*/ 70 w 96"/>
                  <a:gd name="T23" fmla="*/ 75 h 78"/>
                  <a:gd name="T24" fmla="*/ 73 w 96"/>
                  <a:gd name="T25" fmla="*/ 70 h 78"/>
                  <a:gd name="T26" fmla="*/ 75 w 96"/>
                  <a:gd name="T27" fmla="*/ 65 h 78"/>
                  <a:gd name="T28" fmla="*/ 81 w 96"/>
                  <a:gd name="T29" fmla="*/ 62 h 78"/>
                  <a:gd name="T30" fmla="*/ 87 w 96"/>
                  <a:gd name="T31" fmla="*/ 60 h 78"/>
                  <a:gd name="T32" fmla="*/ 89 w 96"/>
                  <a:gd name="T33" fmla="*/ 55 h 78"/>
                  <a:gd name="T34" fmla="*/ 95 w 96"/>
                  <a:gd name="T35" fmla="*/ 50 h 78"/>
                  <a:gd name="T36" fmla="*/ 95 w 96"/>
                  <a:gd name="T37" fmla="*/ 45 h 7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6"/>
                  <a:gd name="T58" fmla="*/ 0 h 78"/>
                  <a:gd name="T59" fmla="*/ 96 w 96"/>
                  <a:gd name="T60" fmla="*/ 78 h 7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6" h="78">
                    <a:moveTo>
                      <a:pt x="0" y="0"/>
                    </a:moveTo>
                    <a:lnTo>
                      <a:pt x="8" y="2"/>
                    </a:lnTo>
                    <a:lnTo>
                      <a:pt x="14" y="7"/>
                    </a:lnTo>
                    <a:lnTo>
                      <a:pt x="22" y="30"/>
                    </a:lnTo>
                    <a:lnTo>
                      <a:pt x="34" y="40"/>
                    </a:lnTo>
                    <a:lnTo>
                      <a:pt x="34" y="50"/>
                    </a:lnTo>
                    <a:lnTo>
                      <a:pt x="45" y="60"/>
                    </a:lnTo>
                    <a:lnTo>
                      <a:pt x="50" y="70"/>
                    </a:lnTo>
                    <a:lnTo>
                      <a:pt x="53" y="75"/>
                    </a:lnTo>
                    <a:lnTo>
                      <a:pt x="59" y="77"/>
                    </a:lnTo>
                    <a:lnTo>
                      <a:pt x="64" y="75"/>
                    </a:lnTo>
                    <a:lnTo>
                      <a:pt x="70" y="75"/>
                    </a:lnTo>
                    <a:lnTo>
                      <a:pt x="73" y="70"/>
                    </a:lnTo>
                    <a:lnTo>
                      <a:pt x="75" y="65"/>
                    </a:lnTo>
                    <a:lnTo>
                      <a:pt x="81" y="62"/>
                    </a:lnTo>
                    <a:lnTo>
                      <a:pt x="87" y="60"/>
                    </a:lnTo>
                    <a:lnTo>
                      <a:pt x="89" y="55"/>
                    </a:lnTo>
                    <a:lnTo>
                      <a:pt x="95" y="50"/>
                    </a:lnTo>
                    <a:lnTo>
                      <a:pt x="95" y="45"/>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21" name="Freeform 459"/>
              <p:cNvSpPr>
                <a:spLocks/>
              </p:cNvSpPr>
              <p:nvPr/>
            </p:nvSpPr>
            <p:spPr bwMode="auto">
              <a:xfrm>
                <a:off x="2005" y="2776"/>
                <a:ext cx="97" cy="49"/>
              </a:xfrm>
              <a:custGeom>
                <a:avLst/>
                <a:gdLst>
                  <a:gd name="T0" fmla="*/ 0 w 97"/>
                  <a:gd name="T1" fmla="*/ 3 h 49"/>
                  <a:gd name="T2" fmla="*/ 6 w 97"/>
                  <a:gd name="T3" fmla="*/ 3 h 49"/>
                  <a:gd name="T4" fmla="*/ 11 w 97"/>
                  <a:gd name="T5" fmla="*/ 0 h 49"/>
                  <a:gd name="T6" fmla="*/ 17 w 97"/>
                  <a:gd name="T7" fmla="*/ 0 h 49"/>
                  <a:gd name="T8" fmla="*/ 23 w 97"/>
                  <a:gd name="T9" fmla="*/ 3 h 49"/>
                  <a:gd name="T10" fmla="*/ 28 w 97"/>
                  <a:gd name="T11" fmla="*/ 10 h 49"/>
                  <a:gd name="T12" fmla="*/ 40 w 97"/>
                  <a:gd name="T13" fmla="*/ 20 h 49"/>
                  <a:gd name="T14" fmla="*/ 51 w 97"/>
                  <a:gd name="T15" fmla="*/ 25 h 49"/>
                  <a:gd name="T16" fmla="*/ 51 w 97"/>
                  <a:gd name="T17" fmla="*/ 35 h 49"/>
                  <a:gd name="T18" fmla="*/ 62 w 97"/>
                  <a:gd name="T19" fmla="*/ 45 h 49"/>
                  <a:gd name="T20" fmla="*/ 68 w 97"/>
                  <a:gd name="T21" fmla="*/ 45 h 49"/>
                  <a:gd name="T22" fmla="*/ 73 w 97"/>
                  <a:gd name="T23" fmla="*/ 45 h 49"/>
                  <a:gd name="T24" fmla="*/ 79 w 97"/>
                  <a:gd name="T25" fmla="*/ 45 h 49"/>
                  <a:gd name="T26" fmla="*/ 85 w 97"/>
                  <a:gd name="T27" fmla="*/ 45 h 49"/>
                  <a:gd name="T28" fmla="*/ 90 w 97"/>
                  <a:gd name="T29" fmla="*/ 45 h 49"/>
                  <a:gd name="T30" fmla="*/ 96 w 97"/>
                  <a:gd name="T31" fmla="*/ 48 h 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7"/>
                  <a:gd name="T49" fmla="*/ 0 h 49"/>
                  <a:gd name="T50" fmla="*/ 97 w 97"/>
                  <a:gd name="T51" fmla="*/ 49 h 4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7" h="49">
                    <a:moveTo>
                      <a:pt x="0" y="3"/>
                    </a:moveTo>
                    <a:lnTo>
                      <a:pt x="6" y="3"/>
                    </a:lnTo>
                    <a:lnTo>
                      <a:pt x="11" y="0"/>
                    </a:lnTo>
                    <a:lnTo>
                      <a:pt x="17" y="0"/>
                    </a:lnTo>
                    <a:lnTo>
                      <a:pt x="23" y="3"/>
                    </a:lnTo>
                    <a:lnTo>
                      <a:pt x="28" y="10"/>
                    </a:lnTo>
                    <a:lnTo>
                      <a:pt x="40" y="20"/>
                    </a:lnTo>
                    <a:lnTo>
                      <a:pt x="51" y="25"/>
                    </a:lnTo>
                    <a:lnTo>
                      <a:pt x="51" y="35"/>
                    </a:lnTo>
                    <a:lnTo>
                      <a:pt x="62" y="45"/>
                    </a:lnTo>
                    <a:lnTo>
                      <a:pt x="68" y="45"/>
                    </a:lnTo>
                    <a:lnTo>
                      <a:pt x="73" y="45"/>
                    </a:lnTo>
                    <a:lnTo>
                      <a:pt x="79" y="45"/>
                    </a:lnTo>
                    <a:lnTo>
                      <a:pt x="85" y="45"/>
                    </a:lnTo>
                    <a:lnTo>
                      <a:pt x="90" y="45"/>
                    </a:lnTo>
                    <a:lnTo>
                      <a:pt x="96" y="48"/>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22" name="Freeform 460"/>
              <p:cNvSpPr>
                <a:spLocks/>
              </p:cNvSpPr>
              <p:nvPr/>
            </p:nvSpPr>
            <p:spPr bwMode="auto">
              <a:xfrm>
                <a:off x="1958" y="2714"/>
                <a:ext cx="149" cy="36"/>
              </a:xfrm>
              <a:custGeom>
                <a:avLst/>
                <a:gdLst>
                  <a:gd name="T0" fmla="*/ 0 w 149"/>
                  <a:gd name="T1" fmla="*/ 35 h 36"/>
                  <a:gd name="T2" fmla="*/ 6 w 149"/>
                  <a:gd name="T3" fmla="*/ 30 h 36"/>
                  <a:gd name="T4" fmla="*/ 8 w 149"/>
                  <a:gd name="T5" fmla="*/ 25 h 36"/>
                  <a:gd name="T6" fmla="*/ 25 w 149"/>
                  <a:gd name="T7" fmla="*/ 10 h 36"/>
                  <a:gd name="T8" fmla="*/ 50 w 149"/>
                  <a:gd name="T9" fmla="*/ 0 h 36"/>
                  <a:gd name="T10" fmla="*/ 61 w 149"/>
                  <a:gd name="T11" fmla="*/ 0 h 36"/>
                  <a:gd name="T12" fmla="*/ 106 w 149"/>
                  <a:gd name="T13" fmla="*/ 0 h 36"/>
                  <a:gd name="T14" fmla="*/ 131 w 149"/>
                  <a:gd name="T15" fmla="*/ 0 h 36"/>
                  <a:gd name="T16" fmla="*/ 142 w 149"/>
                  <a:gd name="T17" fmla="*/ 0 h 36"/>
                  <a:gd name="T18" fmla="*/ 148 w 149"/>
                  <a:gd name="T19" fmla="*/ 0 h 3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9"/>
                  <a:gd name="T31" fmla="*/ 0 h 36"/>
                  <a:gd name="T32" fmla="*/ 149 w 149"/>
                  <a:gd name="T33" fmla="*/ 36 h 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9" h="36">
                    <a:moveTo>
                      <a:pt x="0" y="35"/>
                    </a:moveTo>
                    <a:lnTo>
                      <a:pt x="6" y="30"/>
                    </a:lnTo>
                    <a:lnTo>
                      <a:pt x="8" y="25"/>
                    </a:lnTo>
                    <a:lnTo>
                      <a:pt x="25" y="10"/>
                    </a:lnTo>
                    <a:lnTo>
                      <a:pt x="50" y="0"/>
                    </a:lnTo>
                    <a:lnTo>
                      <a:pt x="61" y="0"/>
                    </a:lnTo>
                    <a:lnTo>
                      <a:pt x="106" y="0"/>
                    </a:lnTo>
                    <a:lnTo>
                      <a:pt x="131" y="0"/>
                    </a:lnTo>
                    <a:lnTo>
                      <a:pt x="142" y="0"/>
                    </a:lnTo>
                    <a:lnTo>
                      <a:pt x="148"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23" name="Freeform 461"/>
              <p:cNvSpPr>
                <a:spLocks/>
              </p:cNvSpPr>
              <p:nvPr/>
            </p:nvSpPr>
            <p:spPr bwMode="auto">
              <a:xfrm>
                <a:off x="2067" y="2654"/>
                <a:ext cx="46" cy="101"/>
              </a:xfrm>
              <a:custGeom>
                <a:avLst/>
                <a:gdLst>
                  <a:gd name="T0" fmla="*/ 0 w 46"/>
                  <a:gd name="T1" fmla="*/ 0 h 101"/>
                  <a:gd name="T2" fmla="*/ 11 w 46"/>
                  <a:gd name="T3" fmla="*/ 8 h 101"/>
                  <a:gd name="T4" fmla="*/ 17 w 46"/>
                  <a:gd name="T5" fmla="*/ 13 h 101"/>
                  <a:gd name="T6" fmla="*/ 17 w 46"/>
                  <a:gd name="T7" fmla="*/ 18 h 101"/>
                  <a:gd name="T8" fmla="*/ 14 w 46"/>
                  <a:gd name="T9" fmla="*/ 23 h 101"/>
                  <a:gd name="T10" fmla="*/ 14 w 46"/>
                  <a:gd name="T11" fmla="*/ 28 h 101"/>
                  <a:gd name="T12" fmla="*/ 11 w 46"/>
                  <a:gd name="T13" fmla="*/ 33 h 101"/>
                  <a:gd name="T14" fmla="*/ 11 w 46"/>
                  <a:gd name="T15" fmla="*/ 38 h 101"/>
                  <a:gd name="T16" fmla="*/ 11 w 46"/>
                  <a:gd name="T17" fmla="*/ 43 h 101"/>
                  <a:gd name="T18" fmla="*/ 17 w 46"/>
                  <a:gd name="T19" fmla="*/ 53 h 101"/>
                  <a:gd name="T20" fmla="*/ 28 w 46"/>
                  <a:gd name="T21" fmla="*/ 63 h 101"/>
                  <a:gd name="T22" fmla="*/ 34 w 46"/>
                  <a:gd name="T23" fmla="*/ 68 h 101"/>
                  <a:gd name="T24" fmla="*/ 39 w 46"/>
                  <a:gd name="T25" fmla="*/ 70 h 101"/>
                  <a:gd name="T26" fmla="*/ 42 w 46"/>
                  <a:gd name="T27" fmla="*/ 75 h 101"/>
                  <a:gd name="T28" fmla="*/ 45 w 46"/>
                  <a:gd name="T29" fmla="*/ 80 h 101"/>
                  <a:gd name="T30" fmla="*/ 45 w 46"/>
                  <a:gd name="T31" fmla="*/ 85 h 101"/>
                  <a:gd name="T32" fmla="*/ 45 w 46"/>
                  <a:gd name="T33" fmla="*/ 90 h 101"/>
                  <a:gd name="T34" fmla="*/ 45 w 46"/>
                  <a:gd name="T35" fmla="*/ 95 h 101"/>
                  <a:gd name="T36" fmla="*/ 45 w 46"/>
                  <a:gd name="T37" fmla="*/ 100 h 101"/>
                  <a:gd name="T38" fmla="*/ 45 w 46"/>
                  <a:gd name="T39" fmla="*/ 98 h 10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6"/>
                  <a:gd name="T61" fmla="*/ 0 h 101"/>
                  <a:gd name="T62" fmla="*/ 46 w 46"/>
                  <a:gd name="T63" fmla="*/ 101 h 10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6" h="101">
                    <a:moveTo>
                      <a:pt x="0" y="0"/>
                    </a:moveTo>
                    <a:lnTo>
                      <a:pt x="11" y="8"/>
                    </a:lnTo>
                    <a:lnTo>
                      <a:pt x="17" y="13"/>
                    </a:lnTo>
                    <a:lnTo>
                      <a:pt x="17" y="18"/>
                    </a:lnTo>
                    <a:lnTo>
                      <a:pt x="14" y="23"/>
                    </a:lnTo>
                    <a:lnTo>
                      <a:pt x="14" y="28"/>
                    </a:lnTo>
                    <a:lnTo>
                      <a:pt x="11" y="33"/>
                    </a:lnTo>
                    <a:lnTo>
                      <a:pt x="11" y="38"/>
                    </a:lnTo>
                    <a:lnTo>
                      <a:pt x="11" y="43"/>
                    </a:lnTo>
                    <a:lnTo>
                      <a:pt x="17" y="53"/>
                    </a:lnTo>
                    <a:lnTo>
                      <a:pt x="28" y="63"/>
                    </a:lnTo>
                    <a:lnTo>
                      <a:pt x="34" y="68"/>
                    </a:lnTo>
                    <a:lnTo>
                      <a:pt x="39" y="70"/>
                    </a:lnTo>
                    <a:lnTo>
                      <a:pt x="42" y="75"/>
                    </a:lnTo>
                    <a:lnTo>
                      <a:pt x="45" y="80"/>
                    </a:lnTo>
                    <a:lnTo>
                      <a:pt x="45" y="85"/>
                    </a:lnTo>
                    <a:lnTo>
                      <a:pt x="45" y="90"/>
                    </a:lnTo>
                    <a:lnTo>
                      <a:pt x="45" y="95"/>
                    </a:lnTo>
                    <a:lnTo>
                      <a:pt x="45" y="100"/>
                    </a:lnTo>
                    <a:lnTo>
                      <a:pt x="45" y="98"/>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24" name="Freeform 462"/>
              <p:cNvSpPr>
                <a:spLocks/>
              </p:cNvSpPr>
              <p:nvPr/>
            </p:nvSpPr>
            <p:spPr bwMode="auto">
              <a:xfrm>
                <a:off x="2036" y="2691"/>
                <a:ext cx="88" cy="66"/>
              </a:xfrm>
              <a:custGeom>
                <a:avLst/>
                <a:gdLst>
                  <a:gd name="T0" fmla="*/ 87 w 88"/>
                  <a:gd name="T1" fmla="*/ 0 h 66"/>
                  <a:gd name="T2" fmla="*/ 59 w 88"/>
                  <a:gd name="T3" fmla="*/ 23 h 66"/>
                  <a:gd name="T4" fmla="*/ 56 w 88"/>
                  <a:gd name="T5" fmla="*/ 28 h 66"/>
                  <a:gd name="T6" fmla="*/ 51 w 88"/>
                  <a:gd name="T7" fmla="*/ 33 h 66"/>
                  <a:gd name="T8" fmla="*/ 45 w 88"/>
                  <a:gd name="T9" fmla="*/ 38 h 66"/>
                  <a:gd name="T10" fmla="*/ 42 w 88"/>
                  <a:gd name="T11" fmla="*/ 43 h 66"/>
                  <a:gd name="T12" fmla="*/ 36 w 88"/>
                  <a:gd name="T13" fmla="*/ 43 h 66"/>
                  <a:gd name="T14" fmla="*/ 31 w 88"/>
                  <a:gd name="T15" fmla="*/ 48 h 66"/>
                  <a:gd name="T16" fmla="*/ 25 w 88"/>
                  <a:gd name="T17" fmla="*/ 53 h 66"/>
                  <a:gd name="T18" fmla="*/ 11 w 88"/>
                  <a:gd name="T19" fmla="*/ 55 h 66"/>
                  <a:gd name="T20" fmla="*/ 11 w 88"/>
                  <a:gd name="T21" fmla="*/ 65 h 66"/>
                  <a:gd name="T22" fmla="*/ 6 w 88"/>
                  <a:gd name="T23" fmla="*/ 65 h 66"/>
                  <a:gd name="T24" fmla="*/ 0 w 88"/>
                  <a:gd name="T25" fmla="*/ 65 h 66"/>
                  <a:gd name="T26" fmla="*/ 6 w 88"/>
                  <a:gd name="T27" fmla="*/ 63 h 6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8"/>
                  <a:gd name="T43" fmla="*/ 0 h 66"/>
                  <a:gd name="T44" fmla="*/ 88 w 88"/>
                  <a:gd name="T45" fmla="*/ 66 h 6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8" h="66">
                    <a:moveTo>
                      <a:pt x="87" y="0"/>
                    </a:moveTo>
                    <a:lnTo>
                      <a:pt x="59" y="23"/>
                    </a:lnTo>
                    <a:lnTo>
                      <a:pt x="56" y="28"/>
                    </a:lnTo>
                    <a:lnTo>
                      <a:pt x="51" y="33"/>
                    </a:lnTo>
                    <a:lnTo>
                      <a:pt x="45" y="38"/>
                    </a:lnTo>
                    <a:lnTo>
                      <a:pt x="42" y="43"/>
                    </a:lnTo>
                    <a:lnTo>
                      <a:pt x="36" y="43"/>
                    </a:lnTo>
                    <a:lnTo>
                      <a:pt x="31" y="48"/>
                    </a:lnTo>
                    <a:lnTo>
                      <a:pt x="25" y="53"/>
                    </a:lnTo>
                    <a:lnTo>
                      <a:pt x="11" y="55"/>
                    </a:lnTo>
                    <a:lnTo>
                      <a:pt x="11" y="65"/>
                    </a:lnTo>
                    <a:lnTo>
                      <a:pt x="6" y="65"/>
                    </a:lnTo>
                    <a:lnTo>
                      <a:pt x="0" y="65"/>
                    </a:lnTo>
                    <a:lnTo>
                      <a:pt x="6" y="63"/>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25" name="Freeform 463"/>
              <p:cNvSpPr>
                <a:spLocks/>
              </p:cNvSpPr>
              <p:nvPr/>
            </p:nvSpPr>
            <p:spPr bwMode="auto">
              <a:xfrm>
                <a:off x="2115" y="2714"/>
                <a:ext cx="24" cy="88"/>
              </a:xfrm>
              <a:custGeom>
                <a:avLst/>
                <a:gdLst>
                  <a:gd name="T0" fmla="*/ 0 w 24"/>
                  <a:gd name="T1" fmla="*/ 87 h 88"/>
                  <a:gd name="T2" fmla="*/ 23 w 24"/>
                  <a:gd name="T3" fmla="*/ 60 h 88"/>
                  <a:gd name="T4" fmla="*/ 23 w 24"/>
                  <a:gd name="T5" fmla="*/ 55 h 88"/>
                  <a:gd name="T6" fmla="*/ 23 w 24"/>
                  <a:gd name="T7" fmla="*/ 50 h 88"/>
                  <a:gd name="T8" fmla="*/ 23 w 24"/>
                  <a:gd name="T9" fmla="*/ 45 h 88"/>
                  <a:gd name="T10" fmla="*/ 23 w 24"/>
                  <a:gd name="T11" fmla="*/ 40 h 88"/>
                  <a:gd name="T12" fmla="*/ 23 w 24"/>
                  <a:gd name="T13" fmla="*/ 35 h 88"/>
                  <a:gd name="T14" fmla="*/ 23 w 24"/>
                  <a:gd name="T15" fmla="*/ 30 h 88"/>
                  <a:gd name="T16" fmla="*/ 23 w 24"/>
                  <a:gd name="T17" fmla="*/ 25 h 88"/>
                  <a:gd name="T18" fmla="*/ 23 w 24"/>
                  <a:gd name="T19" fmla="*/ 20 h 88"/>
                  <a:gd name="T20" fmla="*/ 23 w 24"/>
                  <a:gd name="T21" fmla="*/ 15 h 88"/>
                  <a:gd name="T22" fmla="*/ 23 w 24"/>
                  <a:gd name="T23" fmla="*/ 10 h 88"/>
                  <a:gd name="T24" fmla="*/ 23 w 24"/>
                  <a:gd name="T25" fmla="*/ 5 h 88"/>
                  <a:gd name="T26" fmla="*/ 23 w 24"/>
                  <a:gd name="T27" fmla="*/ 0 h 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4"/>
                  <a:gd name="T43" fmla="*/ 0 h 88"/>
                  <a:gd name="T44" fmla="*/ 24 w 24"/>
                  <a:gd name="T45" fmla="*/ 88 h 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4" h="88">
                    <a:moveTo>
                      <a:pt x="0" y="87"/>
                    </a:moveTo>
                    <a:lnTo>
                      <a:pt x="23" y="60"/>
                    </a:lnTo>
                    <a:lnTo>
                      <a:pt x="23" y="55"/>
                    </a:lnTo>
                    <a:lnTo>
                      <a:pt x="23" y="50"/>
                    </a:lnTo>
                    <a:lnTo>
                      <a:pt x="23" y="45"/>
                    </a:lnTo>
                    <a:lnTo>
                      <a:pt x="23" y="40"/>
                    </a:lnTo>
                    <a:lnTo>
                      <a:pt x="23" y="35"/>
                    </a:lnTo>
                    <a:lnTo>
                      <a:pt x="23" y="30"/>
                    </a:lnTo>
                    <a:lnTo>
                      <a:pt x="23" y="25"/>
                    </a:lnTo>
                    <a:lnTo>
                      <a:pt x="23" y="20"/>
                    </a:lnTo>
                    <a:lnTo>
                      <a:pt x="23" y="15"/>
                    </a:lnTo>
                    <a:lnTo>
                      <a:pt x="23" y="10"/>
                    </a:lnTo>
                    <a:lnTo>
                      <a:pt x="23" y="5"/>
                    </a:lnTo>
                    <a:lnTo>
                      <a:pt x="23"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26" name="Freeform 464"/>
              <p:cNvSpPr>
                <a:spLocks/>
              </p:cNvSpPr>
              <p:nvPr/>
            </p:nvSpPr>
            <p:spPr bwMode="auto">
              <a:xfrm>
                <a:off x="2048" y="2826"/>
                <a:ext cx="126" cy="19"/>
              </a:xfrm>
              <a:custGeom>
                <a:avLst/>
                <a:gdLst>
                  <a:gd name="T0" fmla="*/ 0 w 126"/>
                  <a:gd name="T1" fmla="*/ 10 h 19"/>
                  <a:gd name="T2" fmla="*/ 36 w 126"/>
                  <a:gd name="T3" fmla="*/ 10 h 19"/>
                  <a:gd name="T4" fmla="*/ 42 w 126"/>
                  <a:gd name="T5" fmla="*/ 13 h 19"/>
                  <a:gd name="T6" fmla="*/ 47 w 126"/>
                  <a:gd name="T7" fmla="*/ 15 h 19"/>
                  <a:gd name="T8" fmla="*/ 61 w 126"/>
                  <a:gd name="T9" fmla="*/ 18 h 19"/>
                  <a:gd name="T10" fmla="*/ 72 w 126"/>
                  <a:gd name="T11" fmla="*/ 18 h 19"/>
                  <a:gd name="T12" fmla="*/ 86 w 126"/>
                  <a:gd name="T13" fmla="*/ 13 h 19"/>
                  <a:gd name="T14" fmla="*/ 92 w 126"/>
                  <a:gd name="T15" fmla="*/ 13 h 19"/>
                  <a:gd name="T16" fmla="*/ 103 w 126"/>
                  <a:gd name="T17" fmla="*/ 8 h 19"/>
                  <a:gd name="T18" fmla="*/ 114 w 126"/>
                  <a:gd name="T19" fmla="*/ 8 h 19"/>
                  <a:gd name="T20" fmla="*/ 119 w 126"/>
                  <a:gd name="T21" fmla="*/ 5 h 19"/>
                  <a:gd name="T22" fmla="*/ 125 w 126"/>
                  <a:gd name="T23" fmla="*/ 0 h 1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6"/>
                  <a:gd name="T37" fmla="*/ 0 h 19"/>
                  <a:gd name="T38" fmla="*/ 126 w 126"/>
                  <a:gd name="T39" fmla="*/ 19 h 1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6" h="19">
                    <a:moveTo>
                      <a:pt x="0" y="10"/>
                    </a:moveTo>
                    <a:lnTo>
                      <a:pt x="36" y="10"/>
                    </a:lnTo>
                    <a:lnTo>
                      <a:pt x="42" y="13"/>
                    </a:lnTo>
                    <a:lnTo>
                      <a:pt x="47" y="15"/>
                    </a:lnTo>
                    <a:lnTo>
                      <a:pt x="61" y="18"/>
                    </a:lnTo>
                    <a:lnTo>
                      <a:pt x="72" y="18"/>
                    </a:lnTo>
                    <a:lnTo>
                      <a:pt x="86" y="13"/>
                    </a:lnTo>
                    <a:lnTo>
                      <a:pt x="92" y="13"/>
                    </a:lnTo>
                    <a:lnTo>
                      <a:pt x="103" y="8"/>
                    </a:lnTo>
                    <a:lnTo>
                      <a:pt x="114" y="8"/>
                    </a:lnTo>
                    <a:lnTo>
                      <a:pt x="119" y="5"/>
                    </a:lnTo>
                    <a:lnTo>
                      <a:pt x="125"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27" name="Freeform 465"/>
              <p:cNvSpPr>
                <a:spLocks/>
              </p:cNvSpPr>
              <p:nvPr/>
            </p:nvSpPr>
            <p:spPr bwMode="auto">
              <a:xfrm>
                <a:off x="1823" y="2651"/>
                <a:ext cx="91" cy="91"/>
              </a:xfrm>
              <a:custGeom>
                <a:avLst/>
                <a:gdLst>
                  <a:gd name="T0" fmla="*/ 0 w 91"/>
                  <a:gd name="T1" fmla="*/ 0 h 91"/>
                  <a:gd name="T2" fmla="*/ 34 w 91"/>
                  <a:gd name="T3" fmla="*/ 25 h 91"/>
                  <a:gd name="T4" fmla="*/ 37 w 91"/>
                  <a:gd name="T5" fmla="*/ 58 h 91"/>
                  <a:gd name="T6" fmla="*/ 42 w 91"/>
                  <a:gd name="T7" fmla="*/ 63 h 91"/>
                  <a:gd name="T8" fmla="*/ 45 w 91"/>
                  <a:gd name="T9" fmla="*/ 68 h 91"/>
                  <a:gd name="T10" fmla="*/ 51 w 91"/>
                  <a:gd name="T11" fmla="*/ 70 h 91"/>
                  <a:gd name="T12" fmla="*/ 56 w 91"/>
                  <a:gd name="T13" fmla="*/ 73 h 91"/>
                  <a:gd name="T14" fmla="*/ 62 w 91"/>
                  <a:gd name="T15" fmla="*/ 75 h 91"/>
                  <a:gd name="T16" fmla="*/ 73 w 91"/>
                  <a:gd name="T17" fmla="*/ 75 h 91"/>
                  <a:gd name="T18" fmla="*/ 84 w 91"/>
                  <a:gd name="T19" fmla="*/ 85 h 91"/>
                  <a:gd name="T20" fmla="*/ 90 w 91"/>
                  <a:gd name="T21" fmla="*/ 90 h 9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1"/>
                  <a:gd name="T34" fmla="*/ 0 h 91"/>
                  <a:gd name="T35" fmla="*/ 91 w 91"/>
                  <a:gd name="T36" fmla="*/ 91 h 9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1" h="91">
                    <a:moveTo>
                      <a:pt x="0" y="0"/>
                    </a:moveTo>
                    <a:lnTo>
                      <a:pt x="34" y="25"/>
                    </a:lnTo>
                    <a:lnTo>
                      <a:pt x="37" y="58"/>
                    </a:lnTo>
                    <a:lnTo>
                      <a:pt x="42" y="63"/>
                    </a:lnTo>
                    <a:lnTo>
                      <a:pt x="45" y="68"/>
                    </a:lnTo>
                    <a:lnTo>
                      <a:pt x="51" y="70"/>
                    </a:lnTo>
                    <a:lnTo>
                      <a:pt x="56" y="73"/>
                    </a:lnTo>
                    <a:lnTo>
                      <a:pt x="62" y="75"/>
                    </a:lnTo>
                    <a:lnTo>
                      <a:pt x="73" y="75"/>
                    </a:lnTo>
                    <a:lnTo>
                      <a:pt x="84" y="85"/>
                    </a:lnTo>
                    <a:lnTo>
                      <a:pt x="90" y="9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28" name="Freeform 466"/>
              <p:cNvSpPr>
                <a:spLocks/>
              </p:cNvSpPr>
              <p:nvPr/>
            </p:nvSpPr>
            <p:spPr bwMode="auto">
              <a:xfrm>
                <a:off x="1665" y="2629"/>
                <a:ext cx="52" cy="106"/>
              </a:xfrm>
              <a:custGeom>
                <a:avLst/>
                <a:gdLst>
                  <a:gd name="T0" fmla="*/ 0 w 52"/>
                  <a:gd name="T1" fmla="*/ 0 h 106"/>
                  <a:gd name="T2" fmla="*/ 31 w 52"/>
                  <a:gd name="T3" fmla="*/ 70 h 106"/>
                  <a:gd name="T4" fmla="*/ 34 w 52"/>
                  <a:gd name="T5" fmla="*/ 75 h 106"/>
                  <a:gd name="T6" fmla="*/ 37 w 52"/>
                  <a:gd name="T7" fmla="*/ 80 h 106"/>
                  <a:gd name="T8" fmla="*/ 37 w 52"/>
                  <a:gd name="T9" fmla="*/ 85 h 106"/>
                  <a:gd name="T10" fmla="*/ 37 w 52"/>
                  <a:gd name="T11" fmla="*/ 90 h 106"/>
                  <a:gd name="T12" fmla="*/ 37 w 52"/>
                  <a:gd name="T13" fmla="*/ 95 h 106"/>
                  <a:gd name="T14" fmla="*/ 40 w 52"/>
                  <a:gd name="T15" fmla="*/ 100 h 106"/>
                  <a:gd name="T16" fmla="*/ 45 w 52"/>
                  <a:gd name="T17" fmla="*/ 105 h 106"/>
                  <a:gd name="T18" fmla="*/ 51 w 52"/>
                  <a:gd name="T19" fmla="*/ 105 h 106"/>
                  <a:gd name="T20" fmla="*/ 48 w 52"/>
                  <a:gd name="T21" fmla="*/ 105 h 10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2"/>
                  <a:gd name="T34" fmla="*/ 0 h 106"/>
                  <a:gd name="T35" fmla="*/ 52 w 52"/>
                  <a:gd name="T36" fmla="*/ 106 h 10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2" h="106">
                    <a:moveTo>
                      <a:pt x="0" y="0"/>
                    </a:moveTo>
                    <a:lnTo>
                      <a:pt x="31" y="70"/>
                    </a:lnTo>
                    <a:lnTo>
                      <a:pt x="34" y="75"/>
                    </a:lnTo>
                    <a:lnTo>
                      <a:pt x="37" y="80"/>
                    </a:lnTo>
                    <a:lnTo>
                      <a:pt x="37" y="85"/>
                    </a:lnTo>
                    <a:lnTo>
                      <a:pt x="37" y="90"/>
                    </a:lnTo>
                    <a:lnTo>
                      <a:pt x="37" y="95"/>
                    </a:lnTo>
                    <a:lnTo>
                      <a:pt x="40" y="100"/>
                    </a:lnTo>
                    <a:lnTo>
                      <a:pt x="45" y="105"/>
                    </a:lnTo>
                    <a:lnTo>
                      <a:pt x="51" y="105"/>
                    </a:lnTo>
                    <a:lnTo>
                      <a:pt x="48" y="105"/>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29" name="Freeform 467"/>
              <p:cNvSpPr>
                <a:spLocks/>
              </p:cNvSpPr>
              <p:nvPr/>
            </p:nvSpPr>
            <p:spPr bwMode="auto">
              <a:xfrm>
                <a:off x="1964" y="2645"/>
                <a:ext cx="79" cy="72"/>
              </a:xfrm>
              <a:custGeom>
                <a:avLst/>
                <a:gdLst>
                  <a:gd name="T0" fmla="*/ 78 w 79"/>
                  <a:gd name="T1" fmla="*/ 0 h 72"/>
                  <a:gd name="T2" fmla="*/ 72 w 79"/>
                  <a:gd name="T3" fmla="*/ 3 h 72"/>
                  <a:gd name="T4" fmla="*/ 67 w 79"/>
                  <a:gd name="T5" fmla="*/ 5 h 72"/>
                  <a:gd name="T6" fmla="*/ 61 w 79"/>
                  <a:gd name="T7" fmla="*/ 8 h 72"/>
                  <a:gd name="T8" fmla="*/ 61 w 79"/>
                  <a:gd name="T9" fmla="*/ 13 h 72"/>
                  <a:gd name="T10" fmla="*/ 61 w 79"/>
                  <a:gd name="T11" fmla="*/ 18 h 72"/>
                  <a:gd name="T12" fmla="*/ 61 w 79"/>
                  <a:gd name="T13" fmla="*/ 23 h 72"/>
                  <a:gd name="T14" fmla="*/ 56 w 79"/>
                  <a:gd name="T15" fmla="*/ 36 h 72"/>
                  <a:gd name="T16" fmla="*/ 45 w 79"/>
                  <a:gd name="T17" fmla="*/ 36 h 72"/>
                  <a:gd name="T18" fmla="*/ 42 w 79"/>
                  <a:gd name="T19" fmla="*/ 41 h 72"/>
                  <a:gd name="T20" fmla="*/ 31 w 79"/>
                  <a:gd name="T21" fmla="*/ 46 h 72"/>
                  <a:gd name="T22" fmla="*/ 25 w 79"/>
                  <a:gd name="T23" fmla="*/ 48 h 72"/>
                  <a:gd name="T24" fmla="*/ 8 w 79"/>
                  <a:gd name="T25" fmla="*/ 63 h 72"/>
                  <a:gd name="T26" fmla="*/ 6 w 79"/>
                  <a:gd name="T27" fmla="*/ 68 h 72"/>
                  <a:gd name="T28" fmla="*/ 0 w 79"/>
                  <a:gd name="T29" fmla="*/ 71 h 7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9"/>
                  <a:gd name="T46" fmla="*/ 0 h 72"/>
                  <a:gd name="T47" fmla="*/ 79 w 79"/>
                  <a:gd name="T48" fmla="*/ 72 h 7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9" h="72">
                    <a:moveTo>
                      <a:pt x="78" y="0"/>
                    </a:moveTo>
                    <a:lnTo>
                      <a:pt x="72" y="3"/>
                    </a:lnTo>
                    <a:lnTo>
                      <a:pt x="67" y="5"/>
                    </a:lnTo>
                    <a:lnTo>
                      <a:pt x="61" y="8"/>
                    </a:lnTo>
                    <a:lnTo>
                      <a:pt x="61" y="13"/>
                    </a:lnTo>
                    <a:lnTo>
                      <a:pt x="61" y="18"/>
                    </a:lnTo>
                    <a:lnTo>
                      <a:pt x="61" y="23"/>
                    </a:lnTo>
                    <a:lnTo>
                      <a:pt x="56" y="36"/>
                    </a:lnTo>
                    <a:lnTo>
                      <a:pt x="45" y="36"/>
                    </a:lnTo>
                    <a:lnTo>
                      <a:pt x="42" y="41"/>
                    </a:lnTo>
                    <a:lnTo>
                      <a:pt x="31" y="46"/>
                    </a:lnTo>
                    <a:lnTo>
                      <a:pt x="25" y="48"/>
                    </a:lnTo>
                    <a:lnTo>
                      <a:pt x="8" y="63"/>
                    </a:lnTo>
                    <a:lnTo>
                      <a:pt x="6" y="68"/>
                    </a:lnTo>
                    <a:lnTo>
                      <a:pt x="0" y="71"/>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30" name="Freeform 468"/>
              <p:cNvSpPr>
                <a:spLocks/>
              </p:cNvSpPr>
              <p:nvPr/>
            </p:nvSpPr>
            <p:spPr bwMode="auto">
              <a:xfrm>
                <a:off x="1901" y="2809"/>
                <a:ext cx="105" cy="46"/>
              </a:xfrm>
              <a:custGeom>
                <a:avLst/>
                <a:gdLst>
                  <a:gd name="T0" fmla="*/ 0 w 105"/>
                  <a:gd name="T1" fmla="*/ 0 h 46"/>
                  <a:gd name="T2" fmla="*/ 42 w 105"/>
                  <a:gd name="T3" fmla="*/ 0 h 46"/>
                  <a:gd name="T4" fmla="*/ 48 w 105"/>
                  <a:gd name="T5" fmla="*/ 0 h 46"/>
                  <a:gd name="T6" fmla="*/ 53 w 105"/>
                  <a:gd name="T7" fmla="*/ 5 h 46"/>
                  <a:gd name="T8" fmla="*/ 56 w 105"/>
                  <a:gd name="T9" fmla="*/ 10 h 46"/>
                  <a:gd name="T10" fmla="*/ 62 w 105"/>
                  <a:gd name="T11" fmla="*/ 13 h 46"/>
                  <a:gd name="T12" fmla="*/ 65 w 105"/>
                  <a:gd name="T13" fmla="*/ 18 h 46"/>
                  <a:gd name="T14" fmla="*/ 70 w 105"/>
                  <a:gd name="T15" fmla="*/ 23 h 46"/>
                  <a:gd name="T16" fmla="*/ 73 w 105"/>
                  <a:gd name="T17" fmla="*/ 28 h 46"/>
                  <a:gd name="T18" fmla="*/ 76 w 105"/>
                  <a:gd name="T19" fmla="*/ 33 h 46"/>
                  <a:gd name="T20" fmla="*/ 82 w 105"/>
                  <a:gd name="T21" fmla="*/ 38 h 46"/>
                  <a:gd name="T22" fmla="*/ 87 w 105"/>
                  <a:gd name="T23" fmla="*/ 40 h 46"/>
                  <a:gd name="T24" fmla="*/ 93 w 105"/>
                  <a:gd name="T25" fmla="*/ 43 h 46"/>
                  <a:gd name="T26" fmla="*/ 98 w 105"/>
                  <a:gd name="T27" fmla="*/ 45 h 46"/>
                  <a:gd name="T28" fmla="*/ 104 w 105"/>
                  <a:gd name="T29" fmla="*/ 45 h 4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5"/>
                  <a:gd name="T46" fmla="*/ 0 h 46"/>
                  <a:gd name="T47" fmla="*/ 105 w 105"/>
                  <a:gd name="T48" fmla="*/ 46 h 4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5" h="46">
                    <a:moveTo>
                      <a:pt x="0" y="0"/>
                    </a:moveTo>
                    <a:lnTo>
                      <a:pt x="42" y="0"/>
                    </a:lnTo>
                    <a:lnTo>
                      <a:pt x="48" y="0"/>
                    </a:lnTo>
                    <a:lnTo>
                      <a:pt x="53" y="5"/>
                    </a:lnTo>
                    <a:lnTo>
                      <a:pt x="56" y="10"/>
                    </a:lnTo>
                    <a:lnTo>
                      <a:pt x="62" y="13"/>
                    </a:lnTo>
                    <a:lnTo>
                      <a:pt x="65" y="18"/>
                    </a:lnTo>
                    <a:lnTo>
                      <a:pt x="70" y="23"/>
                    </a:lnTo>
                    <a:lnTo>
                      <a:pt x="73" y="28"/>
                    </a:lnTo>
                    <a:lnTo>
                      <a:pt x="76" y="33"/>
                    </a:lnTo>
                    <a:lnTo>
                      <a:pt x="82" y="38"/>
                    </a:lnTo>
                    <a:lnTo>
                      <a:pt x="87" y="40"/>
                    </a:lnTo>
                    <a:lnTo>
                      <a:pt x="93" y="43"/>
                    </a:lnTo>
                    <a:lnTo>
                      <a:pt x="98" y="45"/>
                    </a:lnTo>
                    <a:lnTo>
                      <a:pt x="104" y="45"/>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31" name="Freeform 469"/>
              <p:cNvSpPr>
                <a:spLocks/>
              </p:cNvSpPr>
              <p:nvPr/>
            </p:nvSpPr>
            <p:spPr bwMode="auto">
              <a:xfrm>
                <a:off x="1786" y="2774"/>
                <a:ext cx="38" cy="76"/>
              </a:xfrm>
              <a:custGeom>
                <a:avLst/>
                <a:gdLst>
                  <a:gd name="T0" fmla="*/ 0 w 38"/>
                  <a:gd name="T1" fmla="*/ 0 h 76"/>
                  <a:gd name="T2" fmla="*/ 3 w 38"/>
                  <a:gd name="T3" fmla="*/ 5 h 76"/>
                  <a:gd name="T4" fmla="*/ 3 w 38"/>
                  <a:gd name="T5" fmla="*/ 10 h 76"/>
                  <a:gd name="T6" fmla="*/ 3 w 38"/>
                  <a:gd name="T7" fmla="*/ 15 h 76"/>
                  <a:gd name="T8" fmla="*/ 0 w 38"/>
                  <a:gd name="T9" fmla="*/ 20 h 76"/>
                  <a:gd name="T10" fmla="*/ 0 w 38"/>
                  <a:gd name="T11" fmla="*/ 25 h 76"/>
                  <a:gd name="T12" fmla="*/ 0 w 38"/>
                  <a:gd name="T13" fmla="*/ 30 h 76"/>
                  <a:gd name="T14" fmla="*/ 0 w 38"/>
                  <a:gd name="T15" fmla="*/ 35 h 76"/>
                  <a:gd name="T16" fmla="*/ 0 w 38"/>
                  <a:gd name="T17" fmla="*/ 40 h 76"/>
                  <a:gd name="T18" fmla="*/ 6 w 38"/>
                  <a:gd name="T19" fmla="*/ 45 h 76"/>
                  <a:gd name="T20" fmla="*/ 11 w 38"/>
                  <a:gd name="T21" fmla="*/ 50 h 76"/>
                  <a:gd name="T22" fmla="*/ 14 w 38"/>
                  <a:gd name="T23" fmla="*/ 55 h 76"/>
                  <a:gd name="T24" fmla="*/ 20 w 38"/>
                  <a:gd name="T25" fmla="*/ 60 h 76"/>
                  <a:gd name="T26" fmla="*/ 23 w 38"/>
                  <a:gd name="T27" fmla="*/ 65 h 76"/>
                  <a:gd name="T28" fmla="*/ 28 w 38"/>
                  <a:gd name="T29" fmla="*/ 70 h 76"/>
                  <a:gd name="T30" fmla="*/ 31 w 38"/>
                  <a:gd name="T31" fmla="*/ 75 h 76"/>
                  <a:gd name="T32" fmla="*/ 37 w 38"/>
                  <a:gd name="T33" fmla="*/ 75 h 7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8"/>
                  <a:gd name="T52" fmla="*/ 0 h 76"/>
                  <a:gd name="T53" fmla="*/ 38 w 38"/>
                  <a:gd name="T54" fmla="*/ 76 h 7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8" h="76">
                    <a:moveTo>
                      <a:pt x="0" y="0"/>
                    </a:moveTo>
                    <a:lnTo>
                      <a:pt x="3" y="5"/>
                    </a:lnTo>
                    <a:lnTo>
                      <a:pt x="3" y="10"/>
                    </a:lnTo>
                    <a:lnTo>
                      <a:pt x="3" y="15"/>
                    </a:lnTo>
                    <a:lnTo>
                      <a:pt x="0" y="20"/>
                    </a:lnTo>
                    <a:lnTo>
                      <a:pt x="0" y="25"/>
                    </a:lnTo>
                    <a:lnTo>
                      <a:pt x="0" y="30"/>
                    </a:lnTo>
                    <a:lnTo>
                      <a:pt x="0" y="35"/>
                    </a:lnTo>
                    <a:lnTo>
                      <a:pt x="0" y="40"/>
                    </a:lnTo>
                    <a:lnTo>
                      <a:pt x="6" y="45"/>
                    </a:lnTo>
                    <a:lnTo>
                      <a:pt x="11" y="50"/>
                    </a:lnTo>
                    <a:lnTo>
                      <a:pt x="14" y="55"/>
                    </a:lnTo>
                    <a:lnTo>
                      <a:pt x="20" y="60"/>
                    </a:lnTo>
                    <a:lnTo>
                      <a:pt x="23" y="65"/>
                    </a:lnTo>
                    <a:lnTo>
                      <a:pt x="28" y="70"/>
                    </a:lnTo>
                    <a:lnTo>
                      <a:pt x="31" y="75"/>
                    </a:lnTo>
                    <a:lnTo>
                      <a:pt x="37" y="75"/>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32" name="Freeform 470"/>
              <p:cNvSpPr>
                <a:spLocks/>
              </p:cNvSpPr>
              <p:nvPr/>
            </p:nvSpPr>
            <p:spPr bwMode="auto">
              <a:xfrm>
                <a:off x="1943" y="2741"/>
                <a:ext cx="85" cy="51"/>
              </a:xfrm>
              <a:custGeom>
                <a:avLst/>
                <a:gdLst>
                  <a:gd name="T0" fmla="*/ 0 w 85"/>
                  <a:gd name="T1" fmla="*/ 50 h 51"/>
                  <a:gd name="T2" fmla="*/ 17 w 85"/>
                  <a:gd name="T3" fmla="*/ 43 h 51"/>
                  <a:gd name="T4" fmla="*/ 20 w 85"/>
                  <a:gd name="T5" fmla="*/ 38 h 51"/>
                  <a:gd name="T6" fmla="*/ 22 w 85"/>
                  <a:gd name="T7" fmla="*/ 33 h 51"/>
                  <a:gd name="T8" fmla="*/ 28 w 85"/>
                  <a:gd name="T9" fmla="*/ 30 h 51"/>
                  <a:gd name="T10" fmla="*/ 34 w 85"/>
                  <a:gd name="T11" fmla="*/ 30 h 51"/>
                  <a:gd name="T12" fmla="*/ 39 w 85"/>
                  <a:gd name="T13" fmla="*/ 30 h 51"/>
                  <a:gd name="T14" fmla="*/ 45 w 85"/>
                  <a:gd name="T15" fmla="*/ 30 h 51"/>
                  <a:gd name="T16" fmla="*/ 50 w 85"/>
                  <a:gd name="T17" fmla="*/ 30 h 51"/>
                  <a:gd name="T18" fmla="*/ 56 w 85"/>
                  <a:gd name="T19" fmla="*/ 30 h 51"/>
                  <a:gd name="T20" fmla="*/ 62 w 85"/>
                  <a:gd name="T21" fmla="*/ 28 h 51"/>
                  <a:gd name="T22" fmla="*/ 64 w 85"/>
                  <a:gd name="T23" fmla="*/ 23 h 51"/>
                  <a:gd name="T24" fmla="*/ 70 w 85"/>
                  <a:gd name="T25" fmla="*/ 18 h 51"/>
                  <a:gd name="T26" fmla="*/ 76 w 85"/>
                  <a:gd name="T27" fmla="*/ 15 h 51"/>
                  <a:gd name="T28" fmla="*/ 78 w 85"/>
                  <a:gd name="T29" fmla="*/ 10 h 51"/>
                  <a:gd name="T30" fmla="*/ 81 w 85"/>
                  <a:gd name="T31" fmla="*/ 5 h 51"/>
                  <a:gd name="T32" fmla="*/ 84 w 85"/>
                  <a:gd name="T33" fmla="*/ 0 h 5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5"/>
                  <a:gd name="T52" fmla="*/ 0 h 51"/>
                  <a:gd name="T53" fmla="*/ 85 w 85"/>
                  <a:gd name="T54" fmla="*/ 51 h 5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5" h="51">
                    <a:moveTo>
                      <a:pt x="0" y="50"/>
                    </a:moveTo>
                    <a:lnTo>
                      <a:pt x="17" y="43"/>
                    </a:lnTo>
                    <a:lnTo>
                      <a:pt x="20" y="38"/>
                    </a:lnTo>
                    <a:lnTo>
                      <a:pt x="22" y="33"/>
                    </a:lnTo>
                    <a:lnTo>
                      <a:pt x="28" y="30"/>
                    </a:lnTo>
                    <a:lnTo>
                      <a:pt x="34" y="30"/>
                    </a:lnTo>
                    <a:lnTo>
                      <a:pt x="39" y="30"/>
                    </a:lnTo>
                    <a:lnTo>
                      <a:pt x="45" y="30"/>
                    </a:lnTo>
                    <a:lnTo>
                      <a:pt x="50" y="30"/>
                    </a:lnTo>
                    <a:lnTo>
                      <a:pt x="56" y="30"/>
                    </a:lnTo>
                    <a:lnTo>
                      <a:pt x="62" y="28"/>
                    </a:lnTo>
                    <a:lnTo>
                      <a:pt x="64" y="23"/>
                    </a:lnTo>
                    <a:lnTo>
                      <a:pt x="70" y="18"/>
                    </a:lnTo>
                    <a:lnTo>
                      <a:pt x="76" y="15"/>
                    </a:lnTo>
                    <a:lnTo>
                      <a:pt x="78" y="10"/>
                    </a:lnTo>
                    <a:lnTo>
                      <a:pt x="81" y="5"/>
                    </a:lnTo>
                    <a:lnTo>
                      <a:pt x="84"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33" name="Freeform 471"/>
              <p:cNvSpPr>
                <a:spLocks/>
              </p:cNvSpPr>
              <p:nvPr/>
            </p:nvSpPr>
            <p:spPr bwMode="auto">
              <a:xfrm>
                <a:off x="1617" y="2684"/>
                <a:ext cx="145" cy="13"/>
              </a:xfrm>
              <a:custGeom>
                <a:avLst/>
                <a:gdLst>
                  <a:gd name="T0" fmla="*/ 0 w 145"/>
                  <a:gd name="T1" fmla="*/ 2 h 13"/>
                  <a:gd name="T2" fmla="*/ 17 w 145"/>
                  <a:gd name="T3" fmla="*/ 2 h 13"/>
                  <a:gd name="T4" fmla="*/ 23 w 145"/>
                  <a:gd name="T5" fmla="*/ 2 h 13"/>
                  <a:gd name="T6" fmla="*/ 28 w 145"/>
                  <a:gd name="T7" fmla="*/ 0 h 13"/>
                  <a:gd name="T8" fmla="*/ 34 w 145"/>
                  <a:gd name="T9" fmla="*/ 0 h 13"/>
                  <a:gd name="T10" fmla="*/ 40 w 145"/>
                  <a:gd name="T11" fmla="*/ 0 h 13"/>
                  <a:gd name="T12" fmla="*/ 45 w 145"/>
                  <a:gd name="T13" fmla="*/ 0 h 13"/>
                  <a:gd name="T14" fmla="*/ 59 w 145"/>
                  <a:gd name="T15" fmla="*/ 0 h 13"/>
                  <a:gd name="T16" fmla="*/ 71 w 145"/>
                  <a:gd name="T17" fmla="*/ 5 h 13"/>
                  <a:gd name="T18" fmla="*/ 82 w 145"/>
                  <a:gd name="T19" fmla="*/ 5 h 13"/>
                  <a:gd name="T20" fmla="*/ 93 w 145"/>
                  <a:gd name="T21" fmla="*/ 5 h 13"/>
                  <a:gd name="T22" fmla="*/ 104 w 145"/>
                  <a:gd name="T23" fmla="*/ 5 h 13"/>
                  <a:gd name="T24" fmla="*/ 116 w 145"/>
                  <a:gd name="T25" fmla="*/ 10 h 13"/>
                  <a:gd name="T26" fmla="*/ 127 w 145"/>
                  <a:gd name="T27" fmla="*/ 10 h 13"/>
                  <a:gd name="T28" fmla="*/ 133 w 145"/>
                  <a:gd name="T29" fmla="*/ 12 h 13"/>
                  <a:gd name="T30" fmla="*/ 138 w 145"/>
                  <a:gd name="T31" fmla="*/ 12 h 13"/>
                  <a:gd name="T32" fmla="*/ 144 w 145"/>
                  <a:gd name="T33" fmla="*/ 12 h 1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45"/>
                  <a:gd name="T52" fmla="*/ 0 h 13"/>
                  <a:gd name="T53" fmla="*/ 145 w 145"/>
                  <a:gd name="T54" fmla="*/ 13 h 1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45" h="13">
                    <a:moveTo>
                      <a:pt x="0" y="2"/>
                    </a:moveTo>
                    <a:lnTo>
                      <a:pt x="17" y="2"/>
                    </a:lnTo>
                    <a:lnTo>
                      <a:pt x="23" y="2"/>
                    </a:lnTo>
                    <a:lnTo>
                      <a:pt x="28" y="0"/>
                    </a:lnTo>
                    <a:lnTo>
                      <a:pt x="34" y="0"/>
                    </a:lnTo>
                    <a:lnTo>
                      <a:pt x="40" y="0"/>
                    </a:lnTo>
                    <a:lnTo>
                      <a:pt x="45" y="0"/>
                    </a:lnTo>
                    <a:lnTo>
                      <a:pt x="59" y="0"/>
                    </a:lnTo>
                    <a:lnTo>
                      <a:pt x="71" y="5"/>
                    </a:lnTo>
                    <a:lnTo>
                      <a:pt x="82" y="5"/>
                    </a:lnTo>
                    <a:lnTo>
                      <a:pt x="93" y="5"/>
                    </a:lnTo>
                    <a:lnTo>
                      <a:pt x="104" y="5"/>
                    </a:lnTo>
                    <a:lnTo>
                      <a:pt x="116" y="10"/>
                    </a:lnTo>
                    <a:lnTo>
                      <a:pt x="127" y="10"/>
                    </a:lnTo>
                    <a:lnTo>
                      <a:pt x="133" y="12"/>
                    </a:lnTo>
                    <a:lnTo>
                      <a:pt x="138" y="12"/>
                    </a:lnTo>
                    <a:lnTo>
                      <a:pt x="144" y="12"/>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534" name="Freeform 472"/>
              <p:cNvSpPr>
                <a:spLocks/>
              </p:cNvSpPr>
              <p:nvPr/>
            </p:nvSpPr>
            <p:spPr bwMode="auto">
              <a:xfrm>
                <a:off x="2093" y="2626"/>
                <a:ext cx="25" cy="146"/>
              </a:xfrm>
              <a:custGeom>
                <a:avLst/>
                <a:gdLst>
                  <a:gd name="T0" fmla="*/ 19 w 25"/>
                  <a:gd name="T1" fmla="*/ 0 h 146"/>
                  <a:gd name="T2" fmla="*/ 16 w 25"/>
                  <a:gd name="T3" fmla="*/ 5 h 146"/>
                  <a:gd name="T4" fmla="*/ 11 w 25"/>
                  <a:gd name="T5" fmla="*/ 10 h 146"/>
                  <a:gd name="T6" fmla="*/ 8 w 25"/>
                  <a:gd name="T7" fmla="*/ 15 h 146"/>
                  <a:gd name="T8" fmla="*/ 5 w 25"/>
                  <a:gd name="T9" fmla="*/ 20 h 146"/>
                  <a:gd name="T10" fmla="*/ 3 w 25"/>
                  <a:gd name="T11" fmla="*/ 25 h 146"/>
                  <a:gd name="T12" fmla="*/ 3 w 25"/>
                  <a:gd name="T13" fmla="*/ 30 h 146"/>
                  <a:gd name="T14" fmla="*/ 8 w 25"/>
                  <a:gd name="T15" fmla="*/ 43 h 146"/>
                  <a:gd name="T16" fmla="*/ 8 w 25"/>
                  <a:gd name="T17" fmla="*/ 53 h 146"/>
                  <a:gd name="T18" fmla="*/ 11 w 25"/>
                  <a:gd name="T19" fmla="*/ 65 h 146"/>
                  <a:gd name="T20" fmla="*/ 13 w 25"/>
                  <a:gd name="T21" fmla="*/ 78 h 146"/>
                  <a:gd name="T22" fmla="*/ 19 w 25"/>
                  <a:gd name="T23" fmla="*/ 88 h 146"/>
                  <a:gd name="T24" fmla="*/ 19 w 25"/>
                  <a:gd name="T25" fmla="*/ 98 h 146"/>
                  <a:gd name="T26" fmla="*/ 24 w 25"/>
                  <a:gd name="T27" fmla="*/ 108 h 146"/>
                  <a:gd name="T28" fmla="*/ 24 w 25"/>
                  <a:gd name="T29" fmla="*/ 118 h 146"/>
                  <a:gd name="T30" fmla="*/ 24 w 25"/>
                  <a:gd name="T31" fmla="*/ 128 h 146"/>
                  <a:gd name="T32" fmla="*/ 21 w 25"/>
                  <a:gd name="T33" fmla="*/ 133 h 146"/>
                  <a:gd name="T34" fmla="*/ 11 w 25"/>
                  <a:gd name="T35" fmla="*/ 138 h 146"/>
                  <a:gd name="T36" fmla="*/ 5 w 25"/>
                  <a:gd name="T37" fmla="*/ 143 h 146"/>
                  <a:gd name="T38" fmla="*/ 0 w 25"/>
                  <a:gd name="T39" fmla="*/ 145 h 14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5"/>
                  <a:gd name="T61" fmla="*/ 0 h 146"/>
                  <a:gd name="T62" fmla="*/ 25 w 25"/>
                  <a:gd name="T63" fmla="*/ 146 h 14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5" h="146">
                    <a:moveTo>
                      <a:pt x="19" y="0"/>
                    </a:moveTo>
                    <a:lnTo>
                      <a:pt x="16" y="5"/>
                    </a:lnTo>
                    <a:lnTo>
                      <a:pt x="11" y="10"/>
                    </a:lnTo>
                    <a:lnTo>
                      <a:pt x="8" y="15"/>
                    </a:lnTo>
                    <a:lnTo>
                      <a:pt x="5" y="20"/>
                    </a:lnTo>
                    <a:lnTo>
                      <a:pt x="3" y="25"/>
                    </a:lnTo>
                    <a:lnTo>
                      <a:pt x="3" y="30"/>
                    </a:lnTo>
                    <a:lnTo>
                      <a:pt x="8" y="43"/>
                    </a:lnTo>
                    <a:lnTo>
                      <a:pt x="8" y="53"/>
                    </a:lnTo>
                    <a:lnTo>
                      <a:pt x="11" y="65"/>
                    </a:lnTo>
                    <a:lnTo>
                      <a:pt x="13" y="78"/>
                    </a:lnTo>
                    <a:lnTo>
                      <a:pt x="19" y="88"/>
                    </a:lnTo>
                    <a:lnTo>
                      <a:pt x="19" y="98"/>
                    </a:lnTo>
                    <a:lnTo>
                      <a:pt x="24" y="108"/>
                    </a:lnTo>
                    <a:lnTo>
                      <a:pt x="24" y="118"/>
                    </a:lnTo>
                    <a:lnTo>
                      <a:pt x="24" y="128"/>
                    </a:lnTo>
                    <a:lnTo>
                      <a:pt x="21" y="133"/>
                    </a:lnTo>
                    <a:lnTo>
                      <a:pt x="11" y="138"/>
                    </a:lnTo>
                    <a:lnTo>
                      <a:pt x="5" y="143"/>
                    </a:lnTo>
                    <a:lnTo>
                      <a:pt x="0" y="145"/>
                    </a:lnTo>
                  </a:path>
                </a:pathLst>
              </a:custGeom>
              <a:noFill/>
              <a:ln w="12700" cap="rnd" cmpd="sng">
                <a:solidFill>
                  <a:srgbClr val="4BCD00"/>
                </a:solidFill>
                <a:prstDash val="solid"/>
                <a:round/>
                <a:headEnd type="none" w="med" len="med"/>
                <a:tailEnd type="none" w="med" len="med"/>
              </a:ln>
            </p:spPr>
            <p:txBody>
              <a:bodyPr/>
              <a:lstStyle/>
              <a:p>
                <a:endParaRPr lang="en-US"/>
              </a:p>
            </p:txBody>
          </p:sp>
        </p:grpSp>
        <p:grpSp>
          <p:nvGrpSpPr>
            <p:cNvPr id="17462" name="Group 473"/>
            <p:cNvGrpSpPr>
              <a:grpSpLocks/>
            </p:cNvGrpSpPr>
            <p:nvPr/>
          </p:nvGrpSpPr>
          <p:grpSpPr bwMode="auto">
            <a:xfrm>
              <a:off x="2079" y="3017"/>
              <a:ext cx="921" cy="354"/>
              <a:chOff x="1521" y="2626"/>
              <a:chExt cx="653" cy="251"/>
            </a:xfrm>
          </p:grpSpPr>
          <p:sp>
            <p:nvSpPr>
              <p:cNvPr id="17463" name="Freeform 474"/>
              <p:cNvSpPr>
                <a:spLocks/>
              </p:cNvSpPr>
              <p:nvPr/>
            </p:nvSpPr>
            <p:spPr bwMode="auto">
              <a:xfrm>
                <a:off x="1581" y="2666"/>
                <a:ext cx="57" cy="96"/>
              </a:xfrm>
              <a:custGeom>
                <a:avLst/>
                <a:gdLst>
                  <a:gd name="T0" fmla="*/ 0 w 57"/>
                  <a:gd name="T1" fmla="*/ 0 h 96"/>
                  <a:gd name="T2" fmla="*/ 6 w 57"/>
                  <a:gd name="T3" fmla="*/ 0 h 96"/>
                  <a:gd name="T4" fmla="*/ 8 w 57"/>
                  <a:gd name="T5" fmla="*/ 5 h 96"/>
                  <a:gd name="T6" fmla="*/ 14 w 57"/>
                  <a:gd name="T7" fmla="*/ 8 h 96"/>
                  <a:gd name="T8" fmla="*/ 17 w 57"/>
                  <a:gd name="T9" fmla="*/ 13 h 96"/>
                  <a:gd name="T10" fmla="*/ 20 w 57"/>
                  <a:gd name="T11" fmla="*/ 18 h 96"/>
                  <a:gd name="T12" fmla="*/ 28 w 57"/>
                  <a:gd name="T13" fmla="*/ 40 h 96"/>
                  <a:gd name="T14" fmla="*/ 28 w 57"/>
                  <a:gd name="T15" fmla="*/ 50 h 96"/>
                  <a:gd name="T16" fmla="*/ 34 w 57"/>
                  <a:gd name="T17" fmla="*/ 60 h 96"/>
                  <a:gd name="T18" fmla="*/ 34 w 57"/>
                  <a:gd name="T19" fmla="*/ 70 h 96"/>
                  <a:gd name="T20" fmla="*/ 34 w 57"/>
                  <a:gd name="T21" fmla="*/ 80 h 96"/>
                  <a:gd name="T22" fmla="*/ 45 w 57"/>
                  <a:gd name="T23" fmla="*/ 80 h 96"/>
                  <a:gd name="T24" fmla="*/ 45 w 57"/>
                  <a:gd name="T25" fmla="*/ 85 h 96"/>
                  <a:gd name="T26" fmla="*/ 48 w 57"/>
                  <a:gd name="T27" fmla="*/ 90 h 96"/>
                  <a:gd name="T28" fmla="*/ 50 w 57"/>
                  <a:gd name="T29" fmla="*/ 95 h 96"/>
                  <a:gd name="T30" fmla="*/ 56 w 57"/>
                  <a:gd name="T31" fmla="*/ 93 h 9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7"/>
                  <a:gd name="T49" fmla="*/ 0 h 96"/>
                  <a:gd name="T50" fmla="*/ 57 w 57"/>
                  <a:gd name="T51" fmla="*/ 96 h 9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7" h="96">
                    <a:moveTo>
                      <a:pt x="0" y="0"/>
                    </a:moveTo>
                    <a:lnTo>
                      <a:pt x="6" y="0"/>
                    </a:lnTo>
                    <a:lnTo>
                      <a:pt x="8" y="5"/>
                    </a:lnTo>
                    <a:lnTo>
                      <a:pt x="14" y="8"/>
                    </a:lnTo>
                    <a:lnTo>
                      <a:pt x="17" y="13"/>
                    </a:lnTo>
                    <a:lnTo>
                      <a:pt x="20" y="18"/>
                    </a:lnTo>
                    <a:lnTo>
                      <a:pt x="28" y="40"/>
                    </a:lnTo>
                    <a:lnTo>
                      <a:pt x="28" y="50"/>
                    </a:lnTo>
                    <a:lnTo>
                      <a:pt x="34" y="60"/>
                    </a:lnTo>
                    <a:lnTo>
                      <a:pt x="34" y="70"/>
                    </a:lnTo>
                    <a:lnTo>
                      <a:pt x="34" y="80"/>
                    </a:lnTo>
                    <a:lnTo>
                      <a:pt x="45" y="80"/>
                    </a:lnTo>
                    <a:lnTo>
                      <a:pt x="45" y="85"/>
                    </a:lnTo>
                    <a:lnTo>
                      <a:pt x="48" y="90"/>
                    </a:lnTo>
                    <a:lnTo>
                      <a:pt x="50" y="95"/>
                    </a:lnTo>
                    <a:lnTo>
                      <a:pt x="56" y="93"/>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464" name="Freeform 475"/>
              <p:cNvSpPr>
                <a:spLocks/>
              </p:cNvSpPr>
              <p:nvPr/>
            </p:nvSpPr>
            <p:spPr bwMode="auto">
              <a:xfrm>
                <a:off x="1561" y="2649"/>
                <a:ext cx="161" cy="68"/>
              </a:xfrm>
              <a:custGeom>
                <a:avLst/>
                <a:gdLst>
                  <a:gd name="T0" fmla="*/ 0 w 161"/>
                  <a:gd name="T1" fmla="*/ 67 h 68"/>
                  <a:gd name="T2" fmla="*/ 39 w 161"/>
                  <a:gd name="T3" fmla="*/ 57 h 68"/>
                  <a:gd name="T4" fmla="*/ 45 w 161"/>
                  <a:gd name="T5" fmla="*/ 57 h 68"/>
                  <a:gd name="T6" fmla="*/ 51 w 161"/>
                  <a:gd name="T7" fmla="*/ 60 h 68"/>
                  <a:gd name="T8" fmla="*/ 56 w 161"/>
                  <a:gd name="T9" fmla="*/ 60 h 68"/>
                  <a:gd name="T10" fmla="*/ 62 w 161"/>
                  <a:gd name="T11" fmla="*/ 60 h 68"/>
                  <a:gd name="T12" fmla="*/ 67 w 161"/>
                  <a:gd name="T13" fmla="*/ 60 h 68"/>
                  <a:gd name="T14" fmla="*/ 81 w 161"/>
                  <a:gd name="T15" fmla="*/ 55 h 68"/>
                  <a:gd name="T16" fmla="*/ 87 w 161"/>
                  <a:gd name="T17" fmla="*/ 52 h 68"/>
                  <a:gd name="T18" fmla="*/ 121 w 161"/>
                  <a:gd name="T19" fmla="*/ 32 h 68"/>
                  <a:gd name="T20" fmla="*/ 138 w 161"/>
                  <a:gd name="T21" fmla="*/ 17 h 68"/>
                  <a:gd name="T22" fmla="*/ 138 w 161"/>
                  <a:gd name="T23" fmla="*/ 12 h 68"/>
                  <a:gd name="T24" fmla="*/ 143 w 161"/>
                  <a:gd name="T25" fmla="*/ 12 h 68"/>
                  <a:gd name="T26" fmla="*/ 149 w 161"/>
                  <a:gd name="T27" fmla="*/ 7 h 68"/>
                  <a:gd name="T28" fmla="*/ 154 w 161"/>
                  <a:gd name="T29" fmla="*/ 2 h 68"/>
                  <a:gd name="T30" fmla="*/ 160 w 161"/>
                  <a:gd name="T31" fmla="*/ 0 h 6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61"/>
                  <a:gd name="T49" fmla="*/ 0 h 68"/>
                  <a:gd name="T50" fmla="*/ 161 w 161"/>
                  <a:gd name="T51" fmla="*/ 68 h 6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61" h="68">
                    <a:moveTo>
                      <a:pt x="0" y="67"/>
                    </a:moveTo>
                    <a:lnTo>
                      <a:pt x="39" y="57"/>
                    </a:lnTo>
                    <a:lnTo>
                      <a:pt x="45" y="57"/>
                    </a:lnTo>
                    <a:lnTo>
                      <a:pt x="51" y="60"/>
                    </a:lnTo>
                    <a:lnTo>
                      <a:pt x="56" y="60"/>
                    </a:lnTo>
                    <a:lnTo>
                      <a:pt x="62" y="60"/>
                    </a:lnTo>
                    <a:lnTo>
                      <a:pt x="67" y="60"/>
                    </a:lnTo>
                    <a:lnTo>
                      <a:pt x="81" y="55"/>
                    </a:lnTo>
                    <a:lnTo>
                      <a:pt x="87" y="52"/>
                    </a:lnTo>
                    <a:lnTo>
                      <a:pt x="121" y="32"/>
                    </a:lnTo>
                    <a:lnTo>
                      <a:pt x="138" y="17"/>
                    </a:lnTo>
                    <a:lnTo>
                      <a:pt x="138" y="12"/>
                    </a:lnTo>
                    <a:lnTo>
                      <a:pt x="143" y="12"/>
                    </a:lnTo>
                    <a:lnTo>
                      <a:pt x="149" y="7"/>
                    </a:lnTo>
                    <a:lnTo>
                      <a:pt x="154" y="2"/>
                    </a:lnTo>
                    <a:lnTo>
                      <a:pt x="160"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465" name="Freeform 476"/>
              <p:cNvSpPr>
                <a:spLocks/>
              </p:cNvSpPr>
              <p:nvPr/>
            </p:nvSpPr>
            <p:spPr bwMode="auto">
              <a:xfrm>
                <a:off x="1530" y="2759"/>
                <a:ext cx="80" cy="73"/>
              </a:xfrm>
              <a:custGeom>
                <a:avLst/>
                <a:gdLst>
                  <a:gd name="T0" fmla="*/ 0 w 80"/>
                  <a:gd name="T1" fmla="*/ 0 h 73"/>
                  <a:gd name="T2" fmla="*/ 20 w 80"/>
                  <a:gd name="T3" fmla="*/ 10 h 73"/>
                  <a:gd name="T4" fmla="*/ 20 w 80"/>
                  <a:gd name="T5" fmla="*/ 15 h 73"/>
                  <a:gd name="T6" fmla="*/ 23 w 80"/>
                  <a:gd name="T7" fmla="*/ 20 h 73"/>
                  <a:gd name="T8" fmla="*/ 23 w 80"/>
                  <a:gd name="T9" fmla="*/ 25 h 73"/>
                  <a:gd name="T10" fmla="*/ 28 w 80"/>
                  <a:gd name="T11" fmla="*/ 30 h 73"/>
                  <a:gd name="T12" fmla="*/ 34 w 80"/>
                  <a:gd name="T13" fmla="*/ 32 h 73"/>
                  <a:gd name="T14" fmla="*/ 40 w 80"/>
                  <a:gd name="T15" fmla="*/ 35 h 73"/>
                  <a:gd name="T16" fmla="*/ 45 w 80"/>
                  <a:gd name="T17" fmla="*/ 37 h 73"/>
                  <a:gd name="T18" fmla="*/ 51 w 80"/>
                  <a:gd name="T19" fmla="*/ 40 h 73"/>
                  <a:gd name="T20" fmla="*/ 54 w 80"/>
                  <a:gd name="T21" fmla="*/ 45 h 73"/>
                  <a:gd name="T22" fmla="*/ 59 w 80"/>
                  <a:gd name="T23" fmla="*/ 50 h 73"/>
                  <a:gd name="T24" fmla="*/ 62 w 80"/>
                  <a:gd name="T25" fmla="*/ 55 h 73"/>
                  <a:gd name="T26" fmla="*/ 65 w 80"/>
                  <a:gd name="T27" fmla="*/ 60 h 73"/>
                  <a:gd name="T28" fmla="*/ 71 w 80"/>
                  <a:gd name="T29" fmla="*/ 65 h 73"/>
                  <a:gd name="T30" fmla="*/ 76 w 80"/>
                  <a:gd name="T31" fmla="*/ 67 h 73"/>
                  <a:gd name="T32" fmla="*/ 79 w 80"/>
                  <a:gd name="T33" fmla="*/ 72 h 7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0"/>
                  <a:gd name="T52" fmla="*/ 0 h 73"/>
                  <a:gd name="T53" fmla="*/ 80 w 80"/>
                  <a:gd name="T54" fmla="*/ 73 h 7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0" h="73">
                    <a:moveTo>
                      <a:pt x="0" y="0"/>
                    </a:moveTo>
                    <a:lnTo>
                      <a:pt x="20" y="10"/>
                    </a:lnTo>
                    <a:lnTo>
                      <a:pt x="20" y="15"/>
                    </a:lnTo>
                    <a:lnTo>
                      <a:pt x="23" y="20"/>
                    </a:lnTo>
                    <a:lnTo>
                      <a:pt x="23" y="25"/>
                    </a:lnTo>
                    <a:lnTo>
                      <a:pt x="28" y="30"/>
                    </a:lnTo>
                    <a:lnTo>
                      <a:pt x="34" y="32"/>
                    </a:lnTo>
                    <a:lnTo>
                      <a:pt x="40" y="35"/>
                    </a:lnTo>
                    <a:lnTo>
                      <a:pt x="45" y="37"/>
                    </a:lnTo>
                    <a:lnTo>
                      <a:pt x="51" y="40"/>
                    </a:lnTo>
                    <a:lnTo>
                      <a:pt x="54" y="45"/>
                    </a:lnTo>
                    <a:lnTo>
                      <a:pt x="59" y="50"/>
                    </a:lnTo>
                    <a:lnTo>
                      <a:pt x="62" y="55"/>
                    </a:lnTo>
                    <a:lnTo>
                      <a:pt x="65" y="60"/>
                    </a:lnTo>
                    <a:lnTo>
                      <a:pt x="71" y="65"/>
                    </a:lnTo>
                    <a:lnTo>
                      <a:pt x="76" y="67"/>
                    </a:lnTo>
                    <a:lnTo>
                      <a:pt x="79" y="72"/>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466" name="Freeform 477"/>
              <p:cNvSpPr>
                <a:spLocks/>
              </p:cNvSpPr>
              <p:nvPr/>
            </p:nvSpPr>
            <p:spPr bwMode="auto">
              <a:xfrm>
                <a:off x="1521" y="2789"/>
                <a:ext cx="145" cy="33"/>
              </a:xfrm>
              <a:custGeom>
                <a:avLst/>
                <a:gdLst>
                  <a:gd name="T0" fmla="*/ 0 w 145"/>
                  <a:gd name="T1" fmla="*/ 32 h 33"/>
                  <a:gd name="T2" fmla="*/ 11 w 145"/>
                  <a:gd name="T3" fmla="*/ 27 h 33"/>
                  <a:gd name="T4" fmla="*/ 14 w 145"/>
                  <a:gd name="T5" fmla="*/ 22 h 33"/>
                  <a:gd name="T6" fmla="*/ 20 w 145"/>
                  <a:gd name="T7" fmla="*/ 17 h 33"/>
                  <a:gd name="T8" fmla="*/ 25 w 145"/>
                  <a:gd name="T9" fmla="*/ 15 h 33"/>
                  <a:gd name="T10" fmla="*/ 31 w 145"/>
                  <a:gd name="T11" fmla="*/ 12 h 33"/>
                  <a:gd name="T12" fmla="*/ 37 w 145"/>
                  <a:gd name="T13" fmla="*/ 12 h 33"/>
                  <a:gd name="T14" fmla="*/ 48 w 145"/>
                  <a:gd name="T15" fmla="*/ 12 h 33"/>
                  <a:gd name="T16" fmla="*/ 76 w 145"/>
                  <a:gd name="T17" fmla="*/ 12 h 33"/>
                  <a:gd name="T18" fmla="*/ 88 w 145"/>
                  <a:gd name="T19" fmla="*/ 12 h 33"/>
                  <a:gd name="T20" fmla="*/ 99 w 145"/>
                  <a:gd name="T21" fmla="*/ 12 h 33"/>
                  <a:gd name="T22" fmla="*/ 110 w 145"/>
                  <a:gd name="T23" fmla="*/ 2 h 33"/>
                  <a:gd name="T24" fmla="*/ 121 w 145"/>
                  <a:gd name="T25" fmla="*/ 2 h 33"/>
                  <a:gd name="T26" fmla="*/ 133 w 145"/>
                  <a:gd name="T27" fmla="*/ 2 h 33"/>
                  <a:gd name="T28" fmla="*/ 138 w 145"/>
                  <a:gd name="T29" fmla="*/ 2 h 33"/>
                  <a:gd name="T30" fmla="*/ 144 w 145"/>
                  <a:gd name="T31" fmla="*/ 0 h 3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45"/>
                  <a:gd name="T49" fmla="*/ 0 h 33"/>
                  <a:gd name="T50" fmla="*/ 145 w 145"/>
                  <a:gd name="T51" fmla="*/ 33 h 3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45" h="33">
                    <a:moveTo>
                      <a:pt x="0" y="32"/>
                    </a:moveTo>
                    <a:lnTo>
                      <a:pt x="11" y="27"/>
                    </a:lnTo>
                    <a:lnTo>
                      <a:pt x="14" y="22"/>
                    </a:lnTo>
                    <a:lnTo>
                      <a:pt x="20" y="17"/>
                    </a:lnTo>
                    <a:lnTo>
                      <a:pt x="25" y="15"/>
                    </a:lnTo>
                    <a:lnTo>
                      <a:pt x="31" y="12"/>
                    </a:lnTo>
                    <a:lnTo>
                      <a:pt x="37" y="12"/>
                    </a:lnTo>
                    <a:lnTo>
                      <a:pt x="48" y="12"/>
                    </a:lnTo>
                    <a:lnTo>
                      <a:pt x="76" y="12"/>
                    </a:lnTo>
                    <a:lnTo>
                      <a:pt x="88" y="12"/>
                    </a:lnTo>
                    <a:lnTo>
                      <a:pt x="99" y="12"/>
                    </a:lnTo>
                    <a:lnTo>
                      <a:pt x="110" y="2"/>
                    </a:lnTo>
                    <a:lnTo>
                      <a:pt x="121" y="2"/>
                    </a:lnTo>
                    <a:lnTo>
                      <a:pt x="133" y="2"/>
                    </a:lnTo>
                    <a:lnTo>
                      <a:pt x="138" y="2"/>
                    </a:lnTo>
                    <a:lnTo>
                      <a:pt x="144"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467" name="Freeform 478"/>
              <p:cNvSpPr>
                <a:spLocks/>
              </p:cNvSpPr>
              <p:nvPr/>
            </p:nvSpPr>
            <p:spPr bwMode="auto">
              <a:xfrm>
                <a:off x="1547" y="2734"/>
                <a:ext cx="85" cy="53"/>
              </a:xfrm>
              <a:custGeom>
                <a:avLst/>
                <a:gdLst>
                  <a:gd name="T0" fmla="*/ 0 w 85"/>
                  <a:gd name="T1" fmla="*/ 0 h 53"/>
                  <a:gd name="T2" fmla="*/ 22 w 85"/>
                  <a:gd name="T3" fmla="*/ 10 h 53"/>
                  <a:gd name="T4" fmla="*/ 25 w 85"/>
                  <a:gd name="T5" fmla="*/ 15 h 53"/>
                  <a:gd name="T6" fmla="*/ 28 w 85"/>
                  <a:gd name="T7" fmla="*/ 20 h 53"/>
                  <a:gd name="T8" fmla="*/ 34 w 85"/>
                  <a:gd name="T9" fmla="*/ 25 h 53"/>
                  <a:gd name="T10" fmla="*/ 36 w 85"/>
                  <a:gd name="T11" fmla="*/ 30 h 53"/>
                  <a:gd name="T12" fmla="*/ 42 w 85"/>
                  <a:gd name="T13" fmla="*/ 32 h 53"/>
                  <a:gd name="T14" fmla="*/ 45 w 85"/>
                  <a:gd name="T15" fmla="*/ 37 h 53"/>
                  <a:gd name="T16" fmla="*/ 50 w 85"/>
                  <a:gd name="T17" fmla="*/ 40 h 53"/>
                  <a:gd name="T18" fmla="*/ 56 w 85"/>
                  <a:gd name="T19" fmla="*/ 40 h 53"/>
                  <a:gd name="T20" fmla="*/ 62 w 85"/>
                  <a:gd name="T21" fmla="*/ 42 h 53"/>
                  <a:gd name="T22" fmla="*/ 67 w 85"/>
                  <a:gd name="T23" fmla="*/ 45 h 53"/>
                  <a:gd name="T24" fmla="*/ 73 w 85"/>
                  <a:gd name="T25" fmla="*/ 50 h 53"/>
                  <a:gd name="T26" fmla="*/ 78 w 85"/>
                  <a:gd name="T27" fmla="*/ 52 h 53"/>
                  <a:gd name="T28" fmla="*/ 84 w 85"/>
                  <a:gd name="T29" fmla="*/ 52 h 5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5"/>
                  <a:gd name="T46" fmla="*/ 0 h 53"/>
                  <a:gd name="T47" fmla="*/ 85 w 85"/>
                  <a:gd name="T48" fmla="*/ 53 h 5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5" h="53">
                    <a:moveTo>
                      <a:pt x="0" y="0"/>
                    </a:moveTo>
                    <a:lnTo>
                      <a:pt x="22" y="10"/>
                    </a:lnTo>
                    <a:lnTo>
                      <a:pt x="25" y="15"/>
                    </a:lnTo>
                    <a:lnTo>
                      <a:pt x="28" y="20"/>
                    </a:lnTo>
                    <a:lnTo>
                      <a:pt x="34" y="25"/>
                    </a:lnTo>
                    <a:lnTo>
                      <a:pt x="36" y="30"/>
                    </a:lnTo>
                    <a:lnTo>
                      <a:pt x="42" y="32"/>
                    </a:lnTo>
                    <a:lnTo>
                      <a:pt x="45" y="37"/>
                    </a:lnTo>
                    <a:lnTo>
                      <a:pt x="50" y="40"/>
                    </a:lnTo>
                    <a:lnTo>
                      <a:pt x="56" y="40"/>
                    </a:lnTo>
                    <a:lnTo>
                      <a:pt x="62" y="42"/>
                    </a:lnTo>
                    <a:lnTo>
                      <a:pt x="67" y="45"/>
                    </a:lnTo>
                    <a:lnTo>
                      <a:pt x="73" y="50"/>
                    </a:lnTo>
                    <a:lnTo>
                      <a:pt x="78" y="52"/>
                    </a:lnTo>
                    <a:lnTo>
                      <a:pt x="84" y="52"/>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468" name="Freeform 479"/>
              <p:cNvSpPr>
                <a:spLocks/>
              </p:cNvSpPr>
              <p:nvPr/>
            </p:nvSpPr>
            <p:spPr bwMode="auto">
              <a:xfrm>
                <a:off x="1577" y="2636"/>
                <a:ext cx="100" cy="81"/>
              </a:xfrm>
              <a:custGeom>
                <a:avLst/>
                <a:gdLst>
                  <a:gd name="T0" fmla="*/ 0 w 100"/>
                  <a:gd name="T1" fmla="*/ 0 h 81"/>
                  <a:gd name="T2" fmla="*/ 6 w 100"/>
                  <a:gd name="T3" fmla="*/ 0 h 81"/>
                  <a:gd name="T4" fmla="*/ 17 w 100"/>
                  <a:gd name="T5" fmla="*/ 0 h 81"/>
                  <a:gd name="T6" fmla="*/ 31 w 100"/>
                  <a:gd name="T7" fmla="*/ 3 h 81"/>
                  <a:gd name="T8" fmla="*/ 42 w 100"/>
                  <a:gd name="T9" fmla="*/ 8 h 81"/>
                  <a:gd name="T10" fmla="*/ 54 w 100"/>
                  <a:gd name="T11" fmla="*/ 8 h 81"/>
                  <a:gd name="T12" fmla="*/ 65 w 100"/>
                  <a:gd name="T13" fmla="*/ 8 h 81"/>
                  <a:gd name="T14" fmla="*/ 68 w 100"/>
                  <a:gd name="T15" fmla="*/ 13 h 81"/>
                  <a:gd name="T16" fmla="*/ 65 w 100"/>
                  <a:gd name="T17" fmla="*/ 18 h 81"/>
                  <a:gd name="T18" fmla="*/ 65 w 100"/>
                  <a:gd name="T19" fmla="*/ 23 h 81"/>
                  <a:gd name="T20" fmla="*/ 65 w 100"/>
                  <a:gd name="T21" fmla="*/ 28 h 81"/>
                  <a:gd name="T22" fmla="*/ 65 w 100"/>
                  <a:gd name="T23" fmla="*/ 33 h 81"/>
                  <a:gd name="T24" fmla="*/ 65 w 100"/>
                  <a:gd name="T25" fmla="*/ 38 h 81"/>
                  <a:gd name="T26" fmla="*/ 68 w 100"/>
                  <a:gd name="T27" fmla="*/ 43 h 81"/>
                  <a:gd name="T28" fmla="*/ 68 w 100"/>
                  <a:gd name="T29" fmla="*/ 48 h 81"/>
                  <a:gd name="T30" fmla="*/ 74 w 100"/>
                  <a:gd name="T31" fmla="*/ 53 h 81"/>
                  <a:gd name="T32" fmla="*/ 76 w 100"/>
                  <a:gd name="T33" fmla="*/ 58 h 81"/>
                  <a:gd name="T34" fmla="*/ 79 w 100"/>
                  <a:gd name="T35" fmla="*/ 63 h 81"/>
                  <a:gd name="T36" fmla="*/ 85 w 100"/>
                  <a:gd name="T37" fmla="*/ 68 h 81"/>
                  <a:gd name="T38" fmla="*/ 88 w 100"/>
                  <a:gd name="T39" fmla="*/ 73 h 81"/>
                  <a:gd name="T40" fmla="*/ 93 w 100"/>
                  <a:gd name="T41" fmla="*/ 75 h 81"/>
                  <a:gd name="T42" fmla="*/ 99 w 100"/>
                  <a:gd name="T43" fmla="*/ 80 h 8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0"/>
                  <a:gd name="T67" fmla="*/ 0 h 81"/>
                  <a:gd name="T68" fmla="*/ 100 w 100"/>
                  <a:gd name="T69" fmla="*/ 81 h 8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0" h="81">
                    <a:moveTo>
                      <a:pt x="0" y="0"/>
                    </a:moveTo>
                    <a:lnTo>
                      <a:pt x="6" y="0"/>
                    </a:lnTo>
                    <a:lnTo>
                      <a:pt x="17" y="0"/>
                    </a:lnTo>
                    <a:lnTo>
                      <a:pt x="31" y="3"/>
                    </a:lnTo>
                    <a:lnTo>
                      <a:pt x="42" y="8"/>
                    </a:lnTo>
                    <a:lnTo>
                      <a:pt x="54" y="8"/>
                    </a:lnTo>
                    <a:lnTo>
                      <a:pt x="65" y="8"/>
                    </a:lnTo>
                    <a:lnTo>
                      <a:pt x="68" y="13"/>
                    </a:lnTo>
                    <a:lnTo>
                      <a:pt x="65" y="18"/>
                    </a:lnTo>
                    <a:lnTo>
                      <a:pt x="65" y="23"/>
                    </a:lnTo>
                    <a:lnTo>
                      <a:pt x="65" y="28"/>
                    </a:lnTo>
                    <a:lnTo>
                      <a:pt x="65" y="33"/>
                    </a:lnTo>
                    <a:lnTo>
                      <a:pt x="65" y="38"/>
                    </a:lnTo>
                    <a:lnTo>
                      <a:pt x="68" y="43"/>
                    </a:lnTo>
                    <a:lnTo>
                      <a:pt x="68" y="48"/>
                    </a:lnTo>
                    <a:lnTo>
                      <a:pt x="74" y="53"/>
                    </a:lnTo>
                    <a:lnTo>
                      <a:pt x="76" y="58"/>
                    </a:lnTo>
                    <a:lnTo>
                      <a:pt x="79" y="63"/>
                    </a:lnTo>
                    <a:lnTo>
                      <a:pt x="85" y="68"/>
                    </a:lnTo>
                    <a:lnTo>
                      <a:pt x="88" y="73"/>
                    </a:lnTo>
                    <a:lnTo>
                      <a:pt x="93" y="75"/>
                    </a:lnTo>
                    <a:lnTo>
                      <a:pt x="99" y="8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469" name="Freeform 480"/>
              <p:cNvSpPr>
                <a:spLocks/>
              </p:cNvSpPr>
              <p:nvPr/>
            </p:nvSpPr>
            <p:spPr bwMode="auto">
              <a:xfrm>
                <a:off x="1561" y="2676"/>
                <a:ext cx="113" cy="69"/>
              </a:xfrm>
              <a:custGeom>
                <a:avLst/>
                <a:gdLst>
                  <a:gd name="T0" fmla="*/ 0 w 113"/>
                  <a:gd name="T1" fmla="*/ 0 h 69"/>
                  <a:gd name="T2" fmla="*/ 6 w 113"/>
                  <a:gd name="T3" fmla="*/ 0 h 69"/>
                  <a:gd name="T4" fmla="*/ 11 w 113"/>
                  <a:gd name="T5" fmla="*/ 3 h 69"/>
                  <a:gd name="T6" fmla="*/ 17 w 113"/>
                  <a:gd name="T7" fmla="*/ 3 h 69"/>
                  <a:gd name="T8" fmla="*/ 22 w 113"/>
                  <a:gd name="T9" fmla="*/ 5 h 69"/>
                  <a:gd name="T10" fmla="*/ 28 w 113"/>
                  <a:gd name="T11" fmla="*/ 8 h 69"/>
                  <a:gd name="T12" fmla="*/ 34 w 113"/>
                  <a:gd name="T13" fmla="*/ 13 h 69"/>
                  <a:gd name="T14" fmla="*/ 39 w 113"/>
                  <a:gd name="T15" fmla="*/ 18 h 69"/>
                  <a:gd name="T16" fmla="*/ 45 w 113"/>
                  <a:gd name="T17" fmla="*/ 23 h 69"/>
                  <a:gd name="T18" fmla="*/ 48 w 113"/>
                  <a:gd name="T19" fmla="*/ 28 h 69"/>
                  <a:gd name="T20" fmla="*/ 56 w 113"/>
                  <a:gd name="T21" fmla="*/ 38 h 69"/>
                  <a:gd name="T22" fmla="*/ 67 w 113"/>
                  <a:gd name="T23" fmla="*/ 38 h 69"/>
                  <a:gd name="T24" fmla="*/ 73 w 113"/>
                  <a:gd name="T25" fmla="*/ 48 h 69"/>
                  <a:gd name="T26" fmla="*/ 84 w 113"/>
                  <a:gd name="T27" fmla="*/ 58 h 69"/>
                  <a:gd name="T28" fmla="*/ 95 w 113"/>
                  <a:gd name="T29" fmla="*/ 58 h 69"/>
                  <a:gd name="T30" fmla="*/ 95 w 113"/>
                  <a:gd name="T31" fmla="*/ 68 h 69"/>
                  <a:gd name="T32" fmla="*/ 101 w 113"/>
                  <a:gd name="T33" fmla="*/ 68 h 69"/>
                  <a:gd name="T34" fmla="*/ 106 w 113"/>
                  <a:gd name="T35" fmla="*/ 68 h 69"/>
                  <a:gd name="T36" fmla="*/ 112 w 113"/>
                  <a:gd name="T37" fmla="*/ 68 h 6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3"/>
                  <a:gd name="T58" fmla="*/ 0 h 69"/>
                  <a:gd name="T59" fmla="*/ 113 w 113"/>
                  <a:gd name="T60" fmla="*/ 69 h 6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3" h="69">
                    <a:moveTo>
                      <a:pt x="0" y="0"/>
                    </a:moveTo>
                    <a:lnTo>
                      <a:pt x="6" y="0"/>
                    </a:lnTo>
                    <a:lnTo>
                      <a:pt x="11" y="3"/>
                    </a:lnTo>
                    <a:lnTo>
                      <a:pt x="17" y="3"/>
                    </a:lnTo>
                    <a:lnTo>
                      <a:pt x="22" y="5"/>
                    </a:lnTo>
                    <a:lnTo>
                      <a:pt x="28" y="8"/>
                    </a:lnTo>
                    <a:lnTo>
                      <a:pt x="34" y="13"/>
                    </a:lnTo>
                    <a:lnTo>
                      <a:pt x="39" y="18"/>
                    </a:lnTo>
                    <a:lnTo>
                      <a:pt x="45" y="23"/>
                    </a:lnTo>
                    <a:lnTo>
                      <a:pt x="48" y="28"/>
                    </a:lnTo>
                    <a:lnTo>
                      <a:pt x="56" y="38"/>
                    </a:lnTo>
                    <a:lnTo>
                      <a:pt x="67" y="38"/>
                    </a:lnTo>
                    <a:lnTo>
                      <a:pt x="73" y="48"/>
                    </a:lnTo>
                    <a:lnTo>
                      <a:pt x="84" y="58"/>
                    </a:lnTo>
                    <a:lnTo>
                      <a:pt x="95" y="58"/>
                    </a:lnTo>
                    <a:lnTo>
                      <a:pt x="95" y="68"/>
                    </a:lnTo>
                    <a:lnTo>
                      <a:pt x="101" y="68"/>
                    </a:lnTo>
                    <a:lnTo>
                      <a:pt x="106" y="68"/>
                    </a:lnTo>
                    <a:lnTo>
                      <a:pt x="112" y="68"/>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470" name="Freeform 481"/>
              <p:cNvSpPr>
                <a:spLocks/>
              </p:cNvSpPr>
              <p:nvPr/>
            </p:nvSpPr>
            <p:spPr bwMode="auto">
              <a:xfrm>
                <a:off x="1639" y="2784"/>
                <a:ext cx="61" cy="48"/>
              </a:xfrm>
              <a:custGeom>
                <a:avLst/>
                <a:gdLst>
                  <a:gd name="T0" fmla="*/ 0 w 61"/>
                  <a:gd name="T1" fmla="*/ 47 h 48"/>
                  <a:gd name="T2" fmla="*/ 17 w 61"/>
                  <a:gd name="T3" fmla="*/ 25 h 48"/>
                  <a:gd name="T4" fmla="*/ 23 w 61"/>
                  <a:gd name="T5" fmla="*/ 22 h 48"/>
                  <a:gd name="T6" fmla="*/ 29 w 61"/>
                  <a:gd name="T7" fmla="*/ 20 h 48"/>
                  <a:gd name="T8" fmla="*/ 34 w 61"/>
                  <a:gd name="T9" fmla="*/ 17 h 48"/>
                  <a:gd name="T10" fmla="*/ 40 w 61"/>
                  <a:gd name="T11" fmla="*/ 17 h 48"/>
                  <a:gd name="T12" fmla="*/ 46 w 61"/>
                  <a:gd name="T13" fmla="*/ 17 h 48"/>
                  <a:gd name="T14" fmla="*/ 51 w 61"/>
                  <a:gd name="T15" fmla="*/ 17 h 48"/>
                  <a:gd name="T16" fmla="*/ 57 w 61"/>
                  <a:gd name="T17" fmla="*/ 15 h 48"/>
                  <a:gd name="T18" fmla="*/ 57 w 61"/>
                  <a:gd name="T19" fmla="*/ 10 h 48"/>
                  <a:gd name="T20" fmla="*/ 60 w 61"/>
                  <a:gd name="T21" fmla="*/ 5 h 48"/>
                  <a:gd name="T22" fmla="*/ 60 w 61"/>
                  <a:gd name="T23" fmla="*/ 0 h 4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1"/>
                  <a:gd name="T37" fmla="*/ 0 h 48"/>
                  <a:gd name="T38" fmla="*/ 61 w 61"/>
                  <a:gd name="T39" fmla="*/ 48 h 4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1" h="48">
                    <a:moveTo>
                      <a:pt x="0" y="47"/>
                    </a:moveTo>
                    <a:lnTo>
                      <a:pt x="17" y="25"/>
                    </a:lnTo>
                    <a:lnTo>
                      <a:pt x="23" y="22"/>
                    </a:lnTo>
                    <a:lnTo>
                      <a:pt x="29" y="20"/>
                    </a:lnTo>
                    <a:lnTo>
                      <a:pt x="34" y="17"/>
                    </a:lnTo>
                    <a:lnTo>
                      <a:pt x="40" y="17"/>
                    </a:lnTo>
                    <a:lnTo>
                      <a:pt x="46" y="17"/>
                    </a:lnTo>
                    <a:lnTo>
                      <a:pt x="51" y="17"/>
                    </a:lnTo>
                    <a:lnTo>
                      <a:pt x="57" y="15"/>
                    </a:lnTo>
                    <a:lnTo>
                      <a:pt x="57" y="10"/>
                    </a:lnTo>
                    <a:lnTo>
                      <a:pt x="60" y="5"/>
                    </a:lnTo>
                    <a:lnTo>
                      <a:pt x="60"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471" name="Freeform 482"/>
              <p:cNvSpPr>
                <a:spLocks/>
              </p:cNvSpPr>
              <p:nvPr/>
            </p:nvSpPr>
            <p:spPr bwMode="auto">
              <a:xfrm>
                <a:off x="1676" y="2764"/>
                <a:ext cx="60" cy="76"/>
              </a:xfrm>
              <a:custGeom>
                <a:avLst/>
                <a:gdLst>
                  <a:gd name="T0" fmla="*/ 0 w 60"/>
                  <a:gd name="T1" fmla="*/ 0 h 76"/>
                  <a:gd name="T2" fmla="*/ 6 w 60"/>
                  <a:gd name="T3" fmla="*/ 0 h 76"/>
                  <a:gd name="T4" fmla="*/ 11 w 60"/>
                  <a:gd name="T5" fmla="*/ 5 h 76"/>
                  <a:gd name="T6" fmla="*/ 11 w 60"/>
                  <a:gd name="T7" fmla="*/ 10 h 76"/>
                  <a:gd name="T8" fmla="*/ 14 w 60"/>
                  <a:gd name="T9" fmla="*/ 15 h 76"/>
                  <a:gd name="T10" fmla="*/ 14 w 60"/>
                  <a:gd name="T11" fmla="*/ 20 h 76"/>
                  <a:gd name="T12" fmla="*/ 17 w 60"/>
                  <a:gd name="T13" fmla="*/ 25 h 76"/>
                  <a:gd name="T14" fmla="*/ 20 w 60"/>
                  <a:gd name="T15" fmla="*/ 30 h 76"/>
                  <a:gd name="T16" fmla="*/ 25 w 60"/>
                  <a:gd name="T17" fmla="*/ 35 h 76"/>
                  <a:gd name="T18" fmla="*/ 31 w 60"/>
                  <a:gd name="T19" fmla="*/ 40 h 76"/>
                  <a:gd name="T20" fmla="*/ 31 w 60"/>
                  <a:gd name="T21" fmla="*/ 45 h 76"/>
                  <a:gd name="T22" fmla="*/ 37 w 60"/>
                  <a:gd name="T23" fmla="*/ 48 h 76"/>
                  <a:gd name="T24" fmla="*/ 37 w 60"/>
                  <a:gd name="T25" fmla="*/ 53 h 76"/>
                  <a:gd name="T26" fmla="*/ 39 w 60"/>
                  <a:gd name="T27" fmla="*/ 58 h 76"/>
                  <a:gd name="T28" fmla="*/ 42 w 60"/>
                  <a:gd name="T29" fmla="*/ 65 h 76"/>
                  <a:gd name="T30" fmla="*/ 48 w 60"/>
                  <a:gd name="T31" fmla="*/ 70 h 76"/>
                  <a:gd name="T32" fmla="*/ 53 w 60"/>
                  <a:gd name="T33" fmla="*/ 73 h 76"/>
                  <a:gd name="T34" fmla="*/ 59 w 60"/>
                  <a:gd name="T35" fmla="*/ 75 h 7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0"/>
                  <a:gd name="T55" fmla="*/ 0 h 76"/>
                  <a:gd name="T56" fmla="*/ 60 w 60"/>
                  <a:gd name="T57" fmla="*/ 76 h 7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0" h="76">
                    <a:moveTo>
                      <a:pt x="0" y="0"/>
                    </a:moveTo>
                    <a:lnTo>
                      <a:pt x="6" y="0"/>
                    </a:lnTo>
                    <a:lnTo>
                      <a:pt x="11" y="5"/>
                    </a:lnTo>
                    <a:lnTo>
                      <a:pt x="11" y="10"/>
                    </a:lnTo>
                    <a:lnTo>
                      <a:pt x="14" y="15"/>
                    </a:lnTo>
                    <a:lnTo>
                      <a:pt x="14" y="20"/>
                    </a:lnTo>
                    <a:lnTo>
                      <a:pt x="17" y="25"/>
                    </a:lnTo>
                    <a:lnTo>
                      <a:pt x="20" y="30"/>
                    </a:lnTo>
                    <a:lnTo>
                      <a:pt x="25" y="35"/>
                    </a:lnTo>
                    <a:lnTo>
                      <a:pt x="31" y="40"/>
                    </a:lnTo>
                    <a:lnTo>
                      <a:pt x="31" y="45"/>
                    </a:lnTo>
                    <a:lnTo>
                      <a:pt x="37" y="48"/>
                    </a:lnTo>
                    <a:lnTo>
                      <a:pt x="37" y="53"/>
                    </a:lnTo>
                    <a:lnTo>
                      <a:pt x="39" y="58"/>
                    </a:lnTo>
                    <a:lnTo>
                      <a:pt x="42" y="65"/>
                    </a:lnTo>
                    <a:lnTo>
                      <a:pt x="48" y="70"/>
                    </a:lnTo>
                    <a:lnTo>
                      <a:pt x="53" y="73"/>
                    </a:lnTo>
                    <a:lnTo>
                      <a:pt x="59" y="75"/>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472" name="Freeform 483"/>
              <p:cNvSpPr>
                <a:spLocks/>
              </p:cNvSpPr>
              <p:nvPr/>
            </p:nvSpPr>
            <p:spPr bwMode="auto">
              <a:xfrm>
                <a:off x="1649" y="2804"/>
                <a:ext cx="107" cy="48"/>
              </a:xfrm>
              <a:custGeom>
                <a:avLst/>
                <a:gdLst>
                  <a:gd name="T0" fmla="*/ 0 w 107"/>
                  <a:gd name="T1" fmla="*/ 47 h 48"/>
                  <a:gd name="T2" fmla="*/ 42 w 107"/>
                  <a:gd name="T3" fmla="*/ 32 h 48"/>
                  <a:gd name="T4" fmla="*/ 47 w 107"/>
                  <a:gd name="T5" fmla="*/ 32 h 48"/>
                  <a:gd name="T6" fmla="*/ 53 w 107"/>
                  <a:gd name="T7" fmla="*/ 32 h 48"/>
                  <a:gd name="T8" fmla="*/ 59 w 107"/>
                  <a:gd name="T9" fmla="*/ 32 h 48"/>
                  <a:gd name="T10" fmla="*/ 64 w 107"/>
                  <a:gd name="T11" fmla="*/ 30 h 48"/>
                  <a:gd name="T12" fmla="*/ 67 w 107"/>
                  <a:gd name="T13" fmla="*/ 25 h 48"/>
                  <a:gd name="T14" fmla="*/ 70 w 107"/>
                  <a:gd name="T15" fmla="*/ 20 h 48"/>
                  <a:gd name="T16" fmla="*/ 75 w 107"/>
                  <a:gd name="T17" fmla="*/ 17 h 48"/>
                  <a:gd name="T18" fmla="*/ 81 w 107"/>
                  <a:gd name="T19" fmla="*/ 15 h 48"/>
                  <a:gd name="T20" fmla="*/ 86 w 107"/>
                  <a:gd name="T21" fmla="*/ 10 h 48"/>
                  <a:gd name="T22" fmla="*/ 92 w 107"/>
                  <a:gd name="T23" fmla="*/ 10 h 48"/>
                  <a:gd name="T24" fmla="*/ 98 w 107"/>
                  <a:gd name="T25" fmla="*/ 7 h 48"/>
                  <a:gd name="T26" fmla="*/ 100 w 107"/>
                  <a:gd name="T27" fmla="*/ 2 h 48"/>
                  <a:gd name="T28" fmla="*/ 106 w 107"/>
                  <a:gd name="T29" fmla="*/ 0 h 4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7"/>
                  <a:gd name="T46" fmla="*/ 0 h 48"/>
                  <a:gd name="T47" fmla="*/ 107 w 107"/>
                  <a:gd name="T48" fmla="*/ 48 h 4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7" h="48">
                    <a:moveTo>
                      <a:pt x="0" y="47"/>
                    </a:moveTo>
                    <a:lnTo>
                      <a:pt x="42" y="32"/>
                    </a:lnTo>
                    <a:lnTo>
                      <a:pt x="47" y="32"/>
                    </a:lnTo>
                    <a:lnTo>
                      <a:pt x="53" y="32"/>
                    </a:lnTo>
                    <a:lnTo>
                      <a:pt x="59" y="32"/>
                    </a:lnTo>
                    <a:lnTo>
                      <a:pt x="64" y="30"/>
                    </a:lnTo>
                    <a:lnTo>
                      <a:pt x="67" y="25"/>
                    </a:lnTo>
                    <a:lnTo>
                      <a:pt x="70" y="20"/>
                    </a:lnTo>
                    <a:lnTo>
                      <a:pt x="75" y="17"/>
                    </a:lnTo>
                    <a:lnTo>
                      <a:pt x="81" y="15"/>
                    </a:lnTo>
                    <a:lnTo>
                      <a:pt x="86" y="10"/>
                    </a:lnTo>
                    <a:lnTo>
                      <a:pt x="92" y="10"/>
                    </a:lnTo>
                    <a:lnTo>
                      <a:pt x="98" y="7"/>
                    </a:lnTo>
                    <a:lnTo>
                      <a:pt x="100" y="2"/>
                    </a:lnTo>
                    <a:lnTo>
                      <a:pt x="106"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473" name="Freeform 484"/>
              <p:cNvSpPr>
                <a:spLocks/>
              </p:cNvSpPr>
              <p:nvPr/>
            </p:nvSpPr>
            <p:spPr bwMode="auto">
              <a:xfrm>
                <a:off x="1705" y="2749"/>
                <a:ext cx="82" cy="91"/>
              </a:xfrm>
              <a:custGeom>
                <a:avLst/>
                <a:gdLst>
                  <a:gd name="T0" fmla="*/ 0 w 82"/>
                  <a:gd name="T1" fmla="*/ 0 h 91"/>
                  <a:gd name="T2" fmla="*/ 8 w 82"/>
                  <a:gd name="T3" fmla="*/ 3 h 91"/>
                  <a:gd name="T4" fmla="*/ 14 w 82"/>
                  <a:gd name="T5" fmla="*/ 3 h 91"/>
                  <a:gd name="T6" fmla="*/ 20 w 82"/>
                  <a:gd name="T7" fmla="*/ 3 h 91"/>
                  <a:gd name="T8" fmla="*/ 25 w 82"/>
                  <a:gd name="T9" fmla="*/ 8 h 91"/>
                  <a:gd name="T10" fmla="*/ 28 w 82"/>
                  <a:gd name="T11" fmla="*/ 13 h 91"/>
                  <a:gd name="T12" fmla="*/ 28 w 82"/>
                  <a:gd name="T13" fmla="*/ 18 h 91"/>
                  <a:gd name="T14" fmla="*/ 31 w 82"/>
                  <a:gd name="T15" fmla="*/ 23 h 91"/>
                  <a:gd name="T16" fmla="*/ 34 w 82"/>
                  <a:gd name="T17" fmla="*/ 28 h 91"/>
                  <a:gd name="T18" fmla="*/ 42 w 82"/>
                  <a:gd name="T19" fmla="*/ 50 h 91"/>
                  <a:gd name="T20" fmla="*/ 42 w 82"/>
                  <a:gd name="T21" fmla="*/ 60 h 91"/>
                  <a:gd name="T22" fmla="*/ 53 w 82"/>
                  <a:gd name="T23" fmla="*/ 70 h 91"/>
                  <a:gd name="T24" fmla="*/ 53 w 82"/>
                  <a:gd name="T25" fmla="*/ 80 h 91"/>
                  <a:gd name="T26" fmla="*/ 59 w 82"/>
                  <a:gd name="T27" fmla="*/ 83 h 91"/>
                  <a:gd name="T28" fmla="*/ 64 w 82"/>
                  <a:gd name="T29" fmla="*/ 85 h 91"/>
                  <a:gd name="T30" fmla="*/ 70 w 82"/>
                  <a:gd name="T31" fmla="*/ 88 h 91"/>
                  <a:gd name="T32" fmla="*/ 75 w 82"/>
                  <a:gd name="T33" fmla="*/ 90 h 91"/>
                  <a:gd name="T34" fmla="*/ 81 w 82"/>
                  <a:gd name="T35" fmla="*/ 90 h 9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2"/>
                  <a:gd name="T55" fmla="*/ 0 h 91"/>
                  <a:gd name="T56" fmla="*/ 82 w 82"/>
                  <a:gd name="T57" fmla="*/ 91 h 9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2" h="91">
                    <a:moveTo>
                      <a:pt x="0" y="0"/>
                    </a:moveTo>
                    <a:lnTo>
                      <a:pt x="8" y="3"/>
                    </a:lnTo>
                    <a:lnTo>
                      <a:pt x="14" y="3"/>
                    </a:lnTo>
                    <a:lnTo>
                      <a:pt x="20" y="3"/>
                    </a:lnTo>
                    <a:lnTo>
                      <a:pt x="25" y="8"/>
                    </a:lnTo>
                    <a:lnTo>
                      <a:pt x="28" y="13"/>
                    </a:lnTo>
                    <a:lnTo>
                      <a:pt x="28" y="18"/>
                    </a:lnTo>
                    <a:lnTo>
                      <a:pt x="31" y="23"/>
                    </a:lnTo>
                    <a:lnTo>
                      <a:pt x="34" y="28"/>
                    </a:lnTo>
                    <a:lnTo>
                      <a:pt x="42" y="50"/>
                    </a:lnTo>
                    <a:lnTo>
                      <a:pt x="42" y="60"/>
                    </a:lnTo>
                    <a:lnTo>
                      <a:pt x="53" y="70"/>
                    </a:lnTo>
                    <a:lnTo>
                      <a:pt x="53" y="80"/>
                    </a:lnTo>
                    <a:lnTo>
                      <a:pt x="59" y="83"/>
                    </a:lnTo>
                    <a:lnTo>
                      <a:pt x="64" y="85"/>
                    </a:lnTo>
                    <a:lnTo>
                      <a:pt x="70" y="88"/>
                    </a:lnTo>
                    <a:lnTo>
                      <a:pt x="75" y="90"/>
                    </a:lnTo>
                    <a:lnTo>
                      <a:pt x="81" y="9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474" name="Freeform 485"/>
              <p:cNvSpPr>
                <a:spLocks/>
              </p:cNvSpPr>
              <p:nvPr/>
            </p:nvSpPr>
            <p:spPr bwMode="auto">
              <a:xfrm>
                <a:off x="1718" y="2709"/>
                <a:ext cx="51" cy="128"/>
              </a:xfrm>
              <a:custGeom>
                <a:avLst/>
                <a:gdLst>
                  <a:gd name="T0" fmla="*/ 0 w 51"/>
                  <a:gd name="T1" fmla="*/ 0 h 128"/>
                  <a:gd name="T2" fmla="*/ 8 w 51"/>
                  <a:gd name="T3" fmla="*/ 2 h 128"/>
                  <a:gd name="T4" fmla="*/ 33 w 51"/>
                  <a:gd name="T5" fmla="*/ 10 h 128"/>
                  <a:gd name="T6" fmla="*/ 39 w 51"/>
                  <a:gd name="T7" fmla="*/ 15 h 128"/>
                  <a:gd name="T8" fmla="*/ 39 w 51"/>
                  <a:gd name="T9" fmla="*/ 20 h 128"/>
                  <a:gd name="T10" fmla="*/ 39 w 51"/>
                  <a:gd name="T11" fmla="*/ 25 h 128"/>
                  <a:gd name="T12" fmla="*/ 39 w 51"/>
                  <a:gd name="T13" fmla="*/ 30 h 128"/>
                  <a:gd name="T14" fmla="*/ 36 w 51"/>
                  <a:gd name="T15" fmla="*/ 42 h 128"/>
                  <a:gd name="T16" fmla="*/ 36 w 51"/>
                  <a:gd name="T17" fmla="*/ 52 h 128"/>
                  <a:gd name="T18" fmla="*/ 39 w 51"/>
                  <a:gd name="T19" fmla="*/ 57 h 128"/>
                  <a:gd name="T20" fmla="*/ 42 w 51"/>
                  <a:gd name="T21" fmla="*/ 62 h 128"/>
                  <a:gd name="T22" fmla="*/ 47 w 51"/>
                  <a:gd name="T23" fmla="*/ 65 h 128"/>
                  <a:gd name="T24" fmla="*/ 50 w 51"/>
                  <a:gd name="T25" fmla="*/ 70 h 128"/>
                  <a:gd name="T26" fmla="*/ 50 w 51"/>
                  <a:gd name="T27" fmla="*/ 75 h 128"/>
                  <a:gd name="T28" fmla="*/ 50 w 51"/>
                  <a:gd name="T29" fmla="*/ 80 h 128"/>
                  <a:gd name="T30" fmla="*/ 50 w 51"/>
                  <a:gd name="T31" fmla="*/ 85 h 128"/>
                  <a:gd name="T32" fmla="*/ 44 w 51"/>
                  <a:gd name="T33" fmla="*/ 97 h 128"/>
                  <a:gd name="T34" fmla="*/ 39 w 51"/>
                  <a:gd name="T35" fmla="*/ 100 h 128"/>
                  <a:gd name="T36" fmla="*/ 39 w 51"/>
                  <a:gd name="T37" fmla="*/ 105 h 128"/>
                  <a:gd name="T38" fmla="*/ 39 w 51"/>
                  <a:gd name="T39" fmla="*/ 110 h 128"/>
                  <a:gd name="T40" fmla="*/ 42 w 51"/>
                  <a:gd name="T41" fmla="*/ 115 h 128"/>
                  <a:gd name="T42" fmla="*/ 42 w 51"/>
                  <a:gd name="T43" fmla="*/ 120 h 128"/>
                  <a:gd name="T44" fmla="*/ 44 w 51"/>
                  <a:gd name="T45" fmla="*/ 125 h 128"/>
                  <a:gd name="T46" fmla="*/ 42 w 51"/>
                  <a:gd name="T47" fmla="*/ 127 h 12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1"/>
                  <a:gd name="T73" fmla="*/ 0 h 128"/>
                  <a:gd name="T74" fmla="*/ 51 w 51"/>
                  <a:gd name="T75" fmla="*/ 128 h 12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1" h="128">
                    <a:moveTo>
                      <a:pt x="0" y="0"/>
                    </a:moveTo>
                    <a:lnTo>
                      <a:pt x="8" y="2"/>
                    </a:lnTo>
                    <a:lnTo>
                      <a:pt x="33" y="10"/>
                    </a:lnTo>
                    <a:lnTo>
                      <a:pt x="39" y="15"/>
                    </a:lnTo>
                    <a:lnTo>
                      <a:pt x="39" y="20"/>
                    </a:lnTo>
                    <a:lnTo>
                      <a:pt x="39" y="25"/>
                    </a:lnTo>
                    <a:lnTo>
                      <a:pt x="39" y="30"/>
                    </a:lnTo>
                    <a:lnTo>
                      <a:pt x="36" y="42"/>
                    </a:lnTo>
                    <a:lnTo>
                      <a:pt x="36" y="52"/>
                    </a:lnTo>
                    <a:lnTo>
                      <a:pt x="39" y="57"/>
                    </a:lnTo>
                    <a:lnTo>
                      <a:pt x="42" y="62"/>
                    </a:lnTo>
                    <a:lnTo>
                      <a:pt x="47" y="65"/>
                    </a:lnTo>
                    <a:lnTo>
                      <a:pt x="50" y="70"/>
                    </a:lnTo>
                    <a:lnTo>
                      <a:pt x="50" y="75"/>
                    </a:lnTo>
                    <a:lnTo>
                      <a:pt x="50" y="80"/>
                    </a:lnTo>
                    <a:lnTo>
                      <a:pt x="50" y="85"/>
                    </a:lnTo>
                    <a:lnTo>
                      <a:pt x="44" y="97"/>
                    </a:lnTo>
                    <a:lnTo>
                      <a:pt x="39" y="100"/>
                    </a:lnTo>
                    <a:lnTo>
                      <a:pt x="39" y="105"/>
                    </a:lnTo>
                    <a:lnTo>
                      <a:pt x="39" y="110"/>
                    </a:lnTo>
                    <a:lnTo>
                      <a:pt x="42" y="115"/>
                    </a:lnTo>
                    <a:lnTo>
                      <a:pt x="42" y="120"/>
                    </a:lnTo>
                    <a:lnTo>
                      <a:pt x="44" y="125"/>
                    </a:lnTo>
                    <a:lnTo>
                      <a:pt x="42" y="127"/>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475" name="Freeform 486"/>
              <p:cNvSpPr>
                <a:spLocks/>
              </p:cNvSpPr>
              <p:nvPr/>
            </p:nvSpPr>
            <p:spPr bwMode="auto">
              <a:xfrm>
                <a:off x="1694" y="2681"/>
                <a:ext cx="87" cy="24"/>
              </a:xfrm>
              <a:custGeom>
                <a:avLst/>
                <a:gdLst>
                  <a:gd name="T0" fmla="*/ 0 w 87"/>
                  <a:gd name="T1" fmla="*/ 23 h 24"/>
                  <a:gd name="T2" fmla="*/ 6 w 87"/>
                  <a:gd name="T3" fmla="*/ 20 h 24"/>
                  <a:gd name="T4" fmla="*/ 6 w 87"/>
                  <a:gd name="T5" fmla="*/ 13 h 24"/>
                  <a:gd name="T6" fmla="*/ 6 w 87"/>
                  <a:gd name="T7" fmla="*/ 8 h 24"/>
                  <a:gd name="T8" fmla="*/ 11 w 87"/>
                  <a:gd name="T9" fmla="*/ 3 h 24"/>
                  <a:gd name="T10" fmla="*/ 17 w 87"/>
                  <a:gd name="T11" fmla="*/ 3 h 24"/>
                  <a:gd name="T12" fmla="*/ 31 w 87"/>
                  <a:gd name="T13" fmla="*/ 0 h 24"/>
                  <a:gd name="T14" fmla="*/ 42 w 87"/>
                  <a:gd name="T15" fmla="*/ 0 h 24"/>
                  <a:gd name="T16" fmla="*/ 53 w 87"/>
                  <a:gd name="T17" fmla="*/ 0 h 24"/>
                  <a:gd name="T18" fmla="*/ 64 w 87"/>
                  <a:gd name="T19" fmla="*/ 0 h 24"/>
                  <a:gd name="T20" fmla="*/ 69 w 87"/>
                  <a:gd name="T21" fmla="*/ 0 h 24"/>
                  <a:gd name="T22" fmla="*/ 75 w 87"/>
                  <a:gd name="T23" fmla="*/ 3 h 24"/>
                  <a:gd name="T24" fmla="*/ 80 w 87"/>
                  <a:gd name="T25" fmla="*/ 3 h 24"/>
                  <a:gd name="T26" fmla="*/ 86 w 87"/>
                  <a:gd name="T27" fmla="*/ 0 h 2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7"/>
                  <a:gd name="T43" fmla="*/ 0 h 24"/>
                  <a:gd name="T44" fmla="*/ 87 w 87"/>
                  <a:gd name="T45" fmla="*/ 24 h 2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7" h="24">
                    <a:moveTo>
                      <a:pt x="0" y="23"/>
                    </a:moveTo>
                    <a:lnTo>
                      <a:pt x="6" y="20"/>
                    </a:lnTo>
                    <a:lnTo>
                      <a:pt x="6" y="13"/>
                    </a:lnTo>
                    <a:lnTo>
                      <a:pt x="6" y="8"/>
                    </a:lnTo>
                    <a:lnTo>
                      <a:pt x="11" y="3"/>
                    </a:lnTo>
                    <a:lnTo>
                      <a:pt x="17" y="3"/>
                    </a:lnTo>
                    <a:lnTo>
                      <a:pt x="31" y="0"/>
                    </a:lnTo>
                    <a:lnTo>
                      <a:pt x="42" y="0"/>
                    </a:lnTo>
                    <a:lnTo>
                      <a:pt x="53" y="0"/>
                    </a:lnTo>
                    <a:lnTo>
                      <a:pt x="64" y="0"/>
                    </a:lnTo>
                    <a:lnTo>
                      <a:pt x="69" y="0"/>
                    </a:lnTo>
                    <a:lnTo>
                      <a:pt x="75" y="3"/>
                    </a:lnTo>
                    <a:lnTo>
                      <a:pt x="80" y="3"/>
                    </a:lnTo>
                    <a:lnTo>
                      <a:pt x="86"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476" name="Freeform 487"/>
              <p:cNvSpPr>
                <a:spLocks/>
              </p:cNvSpPr>
              <p:nvPr/>
            </p:nvSpPr>
            <p:spPr bwMode="auto">
              <a:xfrm>
                <a:off x="1761" y="2649"/>
                <a:ext cx="71" cy="72"/>
              </a:xfrm>
              <a:custGeom>
                <a:avLst/>
                <a:gdLst>
                  <a:gd name="T0" fmla="*/ 0 w 71"/>
                  <a:gd name="T1" fmla="*/ 0 h 72"/>
                  <a:gd name="T2" fmla="*/ 6 w 71"/>
                  <a:gd name="T3" fmla="*/ 0 h 72"/>
                  <a:gd name="T4" fmla="*/ 11 w 71"/>
                  <a:gd name="T5" fmla="*/ 2 h 72"/>
                  <a:gd name="T6" fmla="*/ 17 w 71"/>
                  <a:gd name="T7" fmla="*/ 7 h 72"/>
                  <a:gd name="T8" fmla="*/ 28 w 71"/>
                  <a:gd name="T9" fmla="*/ 7 h 72"/>
                  <a:gd name="T10" fmla="*/ 31 w 71"/>
                  <a:gd name="T11" fmla="*/ 12 h 72"/>
                  <a:gd name="T12" fmla="*/ 34 w 71"/>
                  <a:gd name="T13" fmla="*/ 17 h 72"/>
                  <a:gd name="T14" fmla="*/ 39 w 71"/>
                  <a:gd name="T15" fmla="*/ 29 h 72"/>
                  <a:gd name="T16" fmla="*/ 39 w 71"/>
                  <a:gd name="T17" fmla="*/ 39 h 72"/>
                  <a:gd name="T18" fmla="*/ 42 w 71"/>
                  <a:gd name="T19" fmla="*/ 44 h 72"/>
                  <a:gd name="T20" fmla="*/ 48 w 71"/>
                  <a:gd name="T21" fmla="*/ 49 h 72"/>
                  <a:gd name="T22" fmla="*/ 53 w 71"/>
                  <a:gd name="T23" fmla="*/ 54 h 72"/>
                  <a:gd name="T24" fmla="*/ 59 w 71"/>
                  <a:gd name="T25" fmla="*/ 56 h 72"/>
                  <a:gd name="T26" fmla="*/ 64 w 71"/>
                  <a:gd name="T27" fmla="*/ 61 h 72"/>
                  <a:gd name="T28" fmla="*/ 64 w 71"/>
                  <a:gd name="T29" fmla="*/ 66 h 72"/>
                  <a:gd name="T30" fmla="*/ 70 w 71"/>
                  <a:gd name="T31" fmla="*/ 71 h 7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1"/>
                  <a:gd name="T49" fmla="*/ 0 h 72"/>
                  <a:gd name="T50" fmla="*/ 71 w 71"/>
                  <a:gd name="T51" fmla="*/ 72 h 7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1" h="72">
                    <a:moveTo>
                      <a:pt x="0" y="0"/>
                    </a:moveTo>
                    <a:lnTo>
                      <a:pt x="6" y="0"/>
                    </a:lnTo>
                    <a:lnTo>
                      <a:pt x="11" y="2"/>
                    </a:lnTo>
                    <a:lnTo>
                      <a:pt x="17" y="7"/>
                    </a:lnTo>
                    <a:lnTo>
                      <a:pt x="28" y="7"/>
                    </a:lnTo>
                    <a:lnTo>
                      <a:pt x="31" y="12"/>
                    </a:lnTo>
                    <a:lnTo>
                      <a:pt x="34" y="17"/>
                    </a:lnTo>
                    <a:lnTo>
                      <a:pt x="39" y="29"/>
                    </a:lnTo>
                    <a:lnTo>
                      <a:pt x="39" y="39"/>
                    </a:lnTo>
                    <a:lnTo>
                      <a:pt x="42" y="44"/>
                    </a:lnTo>
                    <a:lnTo>
                      <a:pt x="48" y="49"/>
                    </a:lnTo>
                    <a:lnTo>
                      <a:pt x="53" y="54"/>
                    </a:lnTo>
                    <a:lnTo>
                      <a:pt x="59" y="56"/>
                    </a:lnTo>
                    <a:lnTo>
                      <a:pt x="64" y="61"/>
                    </a:lnTo>
                    <a:lnTo>
                      <a:pt x="64" y="66"/>
                    </a:lnTo>
                    <a:lnTo>
                      <a:pt x="70" y="71"/>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477" name="Freeform 488"/>
              <p:cNvSpPr>
                <a:spLocks/>
              </p:cNvSpPr>
              <p:nvPr/>
            </p:nvSpPr>
            <p:spPr bwMode="auto">
              <a:xfrm>
                <a:off x="1780" y="2681"/>
                <a:ext cx="91" cy="44"/>
              </a:xfrm>
              <a:custGeom>
                <a:avLst/>
                <a:gdLst>
                  <a:gd name="T0" fmla="*/ 0 w 91"/>
                  <a:gd name="T1" fmla="*/ 43 h 44"/>
                  <a:gd name="T2" fmla="*/ 6 w 91"/>
                  <a:gd name="T3" fmla="*/ 40 h 44"/>
                  <a:gd name="T4" fmla="*/ 11 w 91"/>
                  <a:gd name="T5" fmla="*/ 35 h 44"/>
                  <a:gd name="T6" fmla="*/ 14 w 91"/>
                  <a:gd name="T7" fmla="*/ 30 h 44"/>
                  <a:gd name="T8" fmla="*/ 20 w 91"/>
                  <a:gd name="T9" fmla="*/ 25 h 44"/>
                  <a:gd name="T10" fmla="*/ 34 w 91"/>
                  <a:gd name="T11" fmla="*/ 18 h 44"/>
                  <a:gd name="T12" fmla="*/ 45 w 91"/>
                  <a:gd name="T13" fmla="*/ 18 h 44"/>
                  <a:gd name="T14" fmla="*/ 56 w 91"/>
                  <a:gd name="T15" fmla="*/ 18 h 44"/>
                  <a:gd name="T16" fmla="*/ 68 w 91"/>
                  <a:gd name="T17" fmla="*/ 8 h 44"/>
                  <a:gd name="T18" fmla="*/ 73 w 91"/>
                  <a:gd name="T19" fmla="*/ 8 h 44"/>
                  <a:gd name="T20" fmla="*/ 79 w 91"/>
                  <a:gd name="T21" fmla="*/ 8 h 44"/>
                  <a:gd name="T22" fmla="*/ 84 w 91"/>
                  <a:gd name="T23" fmla="*/ 8 h 44"/>
                  <a:gd name="T24" fmla="*/ 90 w 91"/>
                  <a:gd name="T25" fmla="*/ 5 h 44"/>
                  <a:gd name="T26" fmla="*/ 90 w 91"/>
                  <a:gd name="T27" fmla="*/ 0 h 44"/>
                  <a:gd name="T28" fmla="*/ 90 w 91"/>
                  <a:gd name="T29" fmla="*/ 0 h 4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1"/>
                  <a:gd name="T46" fmla="*/ 0 h 44"/>
                  <a:gd name="T47" fmla="*/ 91 w 91"/>
                  <a:gd name="T48" fmla="*/ 44 h 4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1" h="44">
                    <a:moveTo>
                      <a:pt x="0" y="43"/>
                    </a:moveTo>
                    <a:lnTo>
                      <a:pt x="6" y="40"/>
                    </a:lnTo>
                    <a:lnTo>
                      <a:pt x="11" y="35"/>
                    </a:lnTo>
                    <a:lnTo>
                      <a:pt x="14" y="30"/>
                    </a:lnTo>
                    <a:lnTo>
                      <a:pt x="20" y="25"/>
                    </a:lnTo>
                    <a:lnTo>
                      <a:pt x="34" y="18"/>
                    </a:lnTo>
                    <a:lnTo>
                      <a:pt x="45" y="18"/>
                    </a:lnTo>
                    <a:lnTo>
                      <a:pt x="56" y="18"/>
                    </a:lnTo>
                    <a:lnTo>
                      <a:pt x="68" y="8"/>
                    </a:lnTo>
                    <a:lnTo>
                      <a:pt x="73" y="8"/>
                    </a:lnTo>
                    <a:lnTo>
                      <a:pt x="79" y="8"/>
                    </a:lnTo>
                    <a:lnTo>
                      <a:pt x="84" y="8"/>
                    </a:lnTo>
                    <a:lnTo>
                      <a:pt x="90" y="5"/>
                    </a:lnTo>
                    <a:lnTo>
                      <a:pt x="90"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478" name="Freeform 489"/>
              <p:cNvSpPr>
                <a:spLocks/>
              </p:cNvSpPr>
              <p:nvPr/>
            </p:nvSpPr>
            <p:spPr bwMode="auto">
              <a:xfrm>
                <a:off x="1806" y="2704"/>
                <a:ext cx="108" cy="78"/>
              </a:xfrm>
              <a:custGeom>
                <a:avLst/>
                <a:gdLst>
                  <a:gd name="T0" fmla="*/ 107 w 108"/>
                  <a:gd name="T1" fmla="*/ 0 h 78"/>
                  <a:gd name="T2" fmla="*/ 101 w 108"/>
                  <a:gd name="T3" fmla="*/ 0 h 78"/>
                  <a:gd name="T4" fmla="*/ 96 w 108"/>
                  <a:gd name="T5" fmla="*/ 0 h 78"/>
                  <a:gd name="T6" fmla="*/ 82 w 108"/>
                  <a:gd name="T7" fmla="*/ 5 h 78"/>
                  <a:gd name="T8" fmla="*/ 68 w 108"/>
                  <a:gd name="T9" fmla="*/ 7 h 78"/>
                  <a:gd name="T10" fmla="*/ 56 w 108"/>
                  <a:gd name="T11" fmla="*/ 17 h 78"/>
                  <a:gd name="T12" fmla="*/ 45 w 108"/>
                  <a:gd name="T13" fmla="*/ 27 h 78"/>
                  <a:gd name="T14" fmla="*/ 45 w 108"/>
                  <a:gd name="T15" fmla="*/ 37 h 78"/>
                  <a:gd name="T16" fmla="*/ 45 w 108"/>
                  <a:gd name="T17" fmla="*/ 42 h 78"/>
                  <a:gd name="T18" fmla="*/ 42 w 108"/>
                  <a:gd name="T19" fmla="*/ 47 h 78"/>
                  <a:gd name="T20" fmla="*/ 42 w 108"/>
                  <a:gd name="T21" fmla="*/ 52 h 78"/>
                  <a:gd name="T22" fmla="*/ 42 w 108"/>
                  <a:gd name="T23" fmla="*/ 57 h 78"/>
                  <a:gd name="T24" fmla="*/ 42 w 108"/>
                  <a:gd name="T25" fmla="*/ 62 h 78"/>
                  <a:gd name="T26" fmla="*/ 28 w 108"/>
                  <a:gd name="T27" fmla="*/ 65 h 78"/>
                  <a:gd name="T28" fmla="*/ 23 w 108"/>
                  <a:gd name="T29" fmla="*/ 67 h 78"/>
                  <a:gd name="T30" fmla="*/ 17 w 108"/>
                  <a:gd name="T31" fmla="*/ 70 h 78"/>
                  <a:gd name="T32" fmla="*/ 11 w 108"/>
                  <a:gd name="T33" fmla="*/ 72 h 78"/>
                  <a:gd name="T34" fmla="*/ 6 w 108"/>
                  <a:gd name="T35" fmla="*/ 75 h 78"/>
                  <a:gd name="T36" fmla="*/ 0 w 108"/>
                  <a:gd name="T37" fmla="*/ 77 h 7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8"/>
                  <a:gd name="T58" fmla="*/ 0 h 78"/>
                  <a:gd name="T59" fmla="*/ 108 w 108"/>
                  <a:gd name="T60" fmla="*/ 78 h 7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8" h="78">
                    <a:moveTo>
                      <a:pt x="107" y="0"/>
                    </a:moveTo>
                    <a:lnTo>
                      <a:pt x="101" y="0"/>
                    </a:lnTo>
                    <a:lnTo>
                      <a:pt x="96" y="0"/>
                    </a:lnTo>
                    <a:lnTo>
                      <a:pt x="82" y="5"/>
                    </a:lnTo>
                    <a:lnTo>
                      <a:pt x="68" y="7"/>
                    </a:lnTo>
                    <a:lnTo>
                      <a:pt x="56" y="17"/>
                    </a:lnTo>
                    <a:lnTo>
                      <a:pt x="45" y="27"/>
                    </a:lnTo>
                    <a:lnTo>
                      <a:pt x="45" y="37"/>
                    </a:lnTo>
                    <a:lnTo>
                      <a:pt x="45" y="42"/>
                    </a:lnTo>
                    <a:lnTo>
                      <a:pt x="42" y="47"/>
                    </a:lnTo>
                    <a:lnTo>
                      <a:pt x="42" y="52"/>
                    </a:lnTo>
                    <a:lnTo>
                      <a:pt x="42" y="57"/>
                    </a:lnTo>
                    <a:lnTo>
                      <a:pt x="42" y="62"/>
                    </a:lnTo>
                    <a:lnTo>
                      <a:pt x="28" y="65"/>
                    </a:lnTo>
                    <a:lnTo>
                      <a:pt x="23" y="67"/>
                    </a:lnTo>
                    <a:lnTo>
                      <a:pt x="17" y="70"/>
                    </a:lnTo>
                    <a:lnTo>
                      <a:pt x="11" y="72"/>
                    </a:lnTo>
                    <a:lnTo>
                      <a:pt x="6" y="75"/>
                    </a:lnTo>
                    <a:lnTo>
                      <a:pt x="0" y="77"/>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479" name="Freeform 490"/>
              <p:cNvSpPr>
                <a:spLocks/>
              </p:cNvSpPr>
              <p:nvPr/>
            </p:nvSpPr>
            <p:spPr bwMode="auto">
              <a:xfrm>
                <a:off x="1834" y="2764"/>
                <a:ext cx="82" cy="51"/>
              </a:xfrm>
              <a:custGeom>
                <a:avLst/>
                <a:gdLst>
                  <a:gd name="T0" fmla="*/ 0 w 82"/>
                  <a:gd name="T1" fmla="*/ 50 h 51"/>
                  <a:gd name="T2" fmla="*/ 3 w 82"/>
                  <a:gd name="T3" fmla="*/ 45 h 51"/>
                  <a:gd name="T4" fmla="*/ 8 w 82"/>
                  <a:gd name="T5" fmla="*/ 43 h 51"/>
                  <a:gd name="T6" fmla="*/ 14 w 82"/>
                  <a:gd name="T7" fmla="*/ 38 h 51"/>
                  <a:gd name="T8" fmla="*/ 20 w 82"/>
                  <a:gd name="T9" fmla="*/ 35 h 51"/>
                  <a:gd name="T10" fmla="*/ 25 w 82"/>
                  <a:gd name="T11" fmla="*/ 35 h 51"/>
                  <a:gd name="T12" fmla="*/ 31 w 82"/>
                  <a:gd name="T13" fmla="*/ 33 h 51"/>
                  <a:gd name="T14" fmla="*/ 36 w 82"/>
                  <a:gd name="T15" fmla="*/ 33 h 51"/>
                  <a:gd name="T16" fmla="*/ 42 w 82"/>
                  <a:gd name="T17" fmla="*/ 30 h 51"/>
                  <a:gd name="T18" fmla="*/ 47 w 82"/>
                  <a:gd name="T19" fmla="*/ 28 h 51"/>
                  <a:gd name="T20" fmla="*/ 45 w 82"/>
                  <a:gd name="T21" fmla="*/ 23 h 51"/>
                  <a:gd name="T22" fmla="*/ 47 w 82"/>
                  <a:gd name="T23" fmla="*/ 18 h 51"/>
                  <a:gd name="T24" fmla="*/ 50 w 82"/>
                  <a:gd name="T25" fmla="*/ 13 h 51"/>
                  <a:gd name="T26" fmla="*/ 56 w 82"/>
                  <a:gd name="T27" fmla="*/ 10 h 51"/>
                  <a:gd name="T28" fmla="*/ 61 w 82"/>
                  <a:gd name="T29" fmla="*/ 10 h 51"/>
                  <a:gd name="T30" fmla="*/ 67 w 82"/>
                  <a:gd name="T31" fmla="*/ 8 h 51"/>
                  <a:gd name="T32" fmla="*/ 73 w 82"/>
                  <a:gd name="T33" fmla="*/ 8 h 51"/>
                  <a:gd name="T34" fmla="*/ 78 w 82"/>
                  <a:gd name="T35" fmla="*/ 5 h 51"/>
                  <a:gd name="T36" fmla="*/ 81 w 82"/>
                  <a:gd name="T37" fmla="*/ 0 h 5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2"/>
                  <a:gd name="T58" fmla="*/ 0 h 51"/>
                  <a:gd name="T59" fmla="*/ 82 w 82"/>
                  <a:gd name="T60" fmla="*/ 51 h 5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2" h="51">
                    <a:moveTo>
                      <a:pt x="0" y="50"/>
                    </a:moveTo>
                    <a:lnTo>
                      <a:pt x="3" y="45"/>
                    </a:lnTo>
                    <a:lnTo>
                      <a:pt x="8" y="43"/>
                    </a:lnTo>
                    <a:lnTo>
                      <a:pt x="14" y="38"/>
                    </a:lnTo>
                    <a:lnTo>
                      <a:pt x="20" y="35"/>
                    </a:lnTo>
                    <a:lnTo>
                      <a:pt x="25" y="35"/>
                    </a:lnTo>
                    <a:lnTo>
                      <a:pt x="31" y="33"/>
                    </a:lnTo>
                    <a:lnTo>
                      <a:pt x="36" y="33"/>
                    </a:lnTo>
                    <a:lnTo>
                      <a:pt x="42" y="30"/>
                    </a:lnTo>
                    <a:lnTo>
                      <a:pt x="47" y="28"/>
                    </a:lnTo>
                    <a:lnTo>
                      <a:pt x="45" y="23"/>
                    </a:lnTo>
                    <a:lnTo>
                      <a:pt x="47" y="18"/>
                    </a:lnTo>
                    <a:lnTo>
                      <a:pt x="50" y="13"/>
                    </a:lnTo>
                    <a:lnTo>
                      <a:pt x="56" y="10"/>
                    </a:lnTo>
                    <a:lnTo>
                      <a:pt x="61" y="10"/>
                    </a:lnTo>
                    <a:lnTo>
                      <a:pt x="67" y="8"/>
                    </a:lnTo>
                    <a:lnTo>
                      <a:pt x="73" y="8"/>
                    </a:lnTo>
                    <a:lnTo>
                      <a:pt x="78" y="5"/>
                    </a:lnTo>
                    <a:lnTo>
                      <a:pt x="81"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480" name="Freeform 491"/>
              <p:cNvSpPr>
                <a:spLocks/>
              </p:cNvSpPr>
              <p:nvPr/>
            </p:nvSpPr>
            <p:spPr bwMode="auto">
              <a:xfrm>
                <a:off x="1802" y="2811"/>
                <a:ext cx="123" cy="44"/>
              </a:xfrm>
              <a:custGeom>
                <a:avLst/>
                <a:gdLst>
                  <a:gd name="T0" fmla="*/ 0 w 123"/>
                  <a:gd name="T1" fmla="*/ 0 h 44"/>
                  <a:gd name="T2" fmla="*/ 6 w 123"/>
                  <a:gd name="T3" fmla="*/ 3 h 44"/>
                  <a:gd name="T4" fmla="*/ 11 w 123"/>
                  <a:gd name="T5" fmla="*/ 8 h 44"/>
                  <a:gd name="T6" fmla="*/ 17 w 123"/>
                  <a:gd name="T7" fmla="*/ 13 h 44"/>
                  <a:gd name="T8" fmla="*/ 23 w 123"/>
                  <a:gd name="T9" fmla="*/ 13 h 44"/>
                  <a:gd name="T10" fmla="*/ 28 w 123"/>
                  <a:gd name="T11" fmla="*/ 15 h 44"/>
                  <a:gd name="T12" fmla="*/ 34 w 123"/>
                  <a:gd name="T13" fmla="*/ 15 h 44"/>
                  <a:gd name="T14" fmla="*/ 40 w 123"/>
                  <a:gd name="T15" fmla="*/ 15 h 44"/>
                  <a:gd name="T16" fmla="*/ 68 w 123"/>
                  <a:gd name="T17" fmla="*/ 23 h 44"/>
                  <a:gd name="T18" fmla="*/ 79 w 123"/>
                  <a:gd name="T19" fmla="*/ 23 h 44"/>
                  <a:gd name="T20" fmla="*/ 91 w 123"/>
                  <a:gd name="T21" fmla="*/ 23 h 44"/>
                  <a:gd name="T22" fmla="*/ 91 w 123"/>
                  <a:gd name="T23" fmla="*/ 33 h 44"/>
                  <a:gd name="T24" fmla="*/ 96 w 123"/>
                  <a:gd name="T25" fmla="*/ 33 h 44"/>
                  <a:gd name="T26" fmla="*/ 102 w 123"/>
                  <a:gd name="T27" fmla="*/ 38 h 44"/>
                  <a:gd name="T28" fmla="*/ 116 w 123"/>
                  <a:gd name="T29" fmla="*/ 43 h 44"/>
                  <a:gd name="T30" fmla="*/ 122 w 123"/>
                  <a:gd name="T31" fmla="*/ 43 h 4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23"/>
                  <a:gd name="T49" fmla="*/ 0 h 44"/>
                  <a:gd name="T50" fmla="*/ 123 w 123"/>
                  <a:gd name="T51" fmla="*/ 44 h 4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23" h="44">
                    <a:moveTo>
                      <a:pt x="0" y="0"/>
                    </a:moveTo>
                    <a:lnTo>
                      <a:pt x="6" y="3"/>
                    </a:lnTo>
                    <a:lnTo>
                      <a:pt x="11" y="8"/>
                    </a:lnTo>
                    <a:lnTo>
                      <a:pt x="17" y="13"/>
                    </a:lnTo>
                    <a:lnTo>
                      <a:pt x="23" y="13"/>
                    </a:lnTo>
                    <a:lnTo>
                      <a:pt x="28" y="15"/>
                    </a:lnTo>
                    <a:lnTo>
                      <a:pt x="34" y="15"/>
                    </a:lnTo>
                    <a:lnTo>
                      <a:pt x="40" y="15"/>
                    </a:lnTo>
                    <a:lnTo>
                      <a:pt x="68" y="23"/>
                    </a:lnTo>
                    <a:lnTo>
                      <a:pt x="79" y="23"/>
                    </a:lnTo>
                    <a:lnTo>
                      <a:pt x="91" y="23"/>
                    </a:lnTo>
                    <a:lnTo>
                      <a:pt x="91" y="33"/>
                    </a:lnTo>
                    <a:lnTo>
                      <a:pt x="96" y="33"/>
                    </a:lnTo>
                    <a:lnTo>
                      <a:pt x="102" y="38"/>
                    </a:lnTo>
                    <a:lnTo>
                      <a:pt x="116" y="43"/>
                    </a:lnTo>
                    <a:lnTo>
                      <a:pt x="122" y="43"/>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481" name="Freeform 492"/>
              <p:cNvSpPr>
                <a:spLocks/>
              </p:cNvSpPr>
              <p:nvPr/>
            </p:nvSpPr>
            <p:spPr bwMode="auto">
              <a:xfrm>
                <a:off x="1856" y="2799"/>
                <a:ext cx="116" cy="51"/>
              </a:xfrm>
              <a:custGeom>
                <a:avLst/>
                <a:gdLst>
                  <a:gd name="T0" fmla="*/ 0 w 116"/>
                  <a:gd name="T1" fmla="*/ 50 h 51"/>
                  <a:gd name="T2" fmla="*/ 115 w 116"/>
                  <a:gd name="T3" fmla="*/ 25 h 51"/>
                  <a:gd name="T4" fmla="*/ 115 w 116"/>
                  <a:gd name="T5" fmla="*/ 20 h 51"/>
                  <a:gd name="T6" fmla="*/ 109 w 116"/>
                  <a:gd name="T7" fmla="*/ 18 h 51"/>
                  <a:gd name="T8" fmla="*/ 107 w 116"/>
                  <a:gd name="T9" fmla="*/ 10 h 51"/>
                  <a:gd name="T10" fmla="*/ 104 w 116"/>
                  <a:gd name="T11" fmla="*/ 5 h 51"/>
                  <a:gd name="T12" fmla="*/ 101 w 116"/>
                  <a:gd name="T13" fmla="*/ 0 h 51"/>
                  <a:gd name="T14" fmla="*/ 0 60000 65536"/>
                  <a:gd name="T15" fmla="*/ 0 60000 65536"/>
                  <a:gd name="T16" fmla="*/ 0 60000 65536"/>
                  <a:gd name="T17" fmla="*/ 0 60000 65536"/>
                  <a:gd name="T18" fmla="*/ 0 60000 65536"/>
                  <a:gd name="T19" fmla="*/ 0 60000 65536"/>
                  <a:gd name="T20" fmla="*/ 0 60000 65536"/>
                  <a:gd name="T21" fmla="*/ 0 w 116"/>
                  <a:gd name="T22" fmla="*/ 0 h 51"/>
                  <a:gd name="T23" fmla="*/ 116 w 116"/>
                  <a:gd name="T24" fmla="*/ 51 h 5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6" h="51">
                    <a:moveTo>
                      <a:pt x="0" y="50"/>
                    </a:moveTo>
                    <a:lnTo>
                      <a:pt x="115" y="25"/>
                    </a:lnTo>
                    <a:lnTo>
                      <a:pt x="115" y="20"/>
                    </a:lnTo>
                    <a:lnTo>
                      <a:pt x="109" y="18"/>
                    </a:lnTo>
                    <a:lnTo>
                      <a:pt x="107" y="10"/>
                    </a:lnTo>
                    <a:lnTo>
                      <a:pt x="104" y="5"/>
                    </a:lnTo>
                    <a:lnTo>
                      <a:pt x="101"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482" name="Freeform 493"/>
              <p:cNvSpPr>
                <a:spLocks/>
              </p:cNvSpPr>
              <p:nvPr/>
            </p:nvSpPr>
            <p:spPr bwMode="auto">
              <a:xfrm>
                <a:off x="1874" y="2656"/>
                <a:ext cx="91" cy="49"/>
              </a:xfrm>
              <a:custGeom>
                <a:avLst/>
                <a:gdLst>
                  <a:gd name="T0" fmla="*/ 0 w 91"/>
                  <a:gd name="T1" fmla="*/ 0 h 49"/>
                  <a:gd name="T2" fmla="*/ 17 w 91"/>
                  <a:gd name="T3" fmla="*/ 3 h 49"/>
                  <a:gd name="T4" fmla="*/ 23 w 91"/>
                  <a:gd name="T5" fmla="*/ 3 h 49"/>
                  <a:gd name="T6" fmla="*/ 25 w 91"/>
                  <a:gd name="T7" fmla="*/ 8 h 49"/>
                  <a:gd name="T8" fmla="*/ 31 w 91"/>
                  <a:gd name="T9" fmla="*/ 13 h 49"/>
                  <a:gd name="T10" fmla="*/ 34 w 91"/>
                  <a:gd name="T11" fmla="*/ 18 h 49"/>
                  <a:gd name="T12" fmla="*/ 37 w 91"/>
                  <a:gd name="T13" fmla="*/ 23 h 49"/>
                  <a:gd name="T14" fmla="*/ 45 w 91"/>
                  <a:gd name="T15" fmla="*/ 28 h 49"/>
                  <a:gd name="T16" fmla="*/ 56 w 91"/>
                  <a:gd name="T17" fmla="*/ 33 h 49"/>
                  <a:gd name="T18" fmla="*/ 68 w 91"/>
                  <a:gd name="T19" fmla="*/ 38 h 49"/>
                  <a:gd name="T20" fmla="*/ 79 w 91"/>
                  <a:gd name="T21" fmla="*/ 48 h 49"/>
                  <a:gd name="T22" fmla="*/ 84 w 91"/>
                  <a:gd name="T23" fmla="*/ 48 h 49"/>
                  <a:gd name="T24" fmla="*/ 90 w 91"/>
                  <a:gd name="T25" fmla="*/ 48 h 49"/>
                  <a:gd name="T26" fmla="*/ 87 w 91"/>
                  <a:gd name="T27" fmla="*/ 48 h 4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1"/>
                  <a:gd name="T43" fmla="*/ 0 h 49"/>
                  <a:gd name="T44" fmla="*/ 91 w 91"/>
                  <a:gd name="T45" fmla="*/ 49 h 4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1" h="49">
                    <a:moveTo>
                      <a:pt x="0" y="0"/>
                    </a:moveTo>
                    <a:lnTo>
                      <a:pt x="17" y="3"/>
                    </a:lnTo>
                    <a:lnTo>
                      <a:pt x="23" y="3"/>
                    </a:lnTo>
                    <a:lnTo>
                      <a:pt x="25" y="8"/>
                    </a:lnTo>
                    <a:lnTo>
                      <a:pt x="31" y="13"/>
                    </a:lnTo>
                    <a:lnTo>
                      <a:pt x="34" y="18"/>
                    </a:lnTo>
                    <a:lnTo>
                      <a:pt x="37" y="23"/>
                    </a:lnTo>
                    <a:lnTo>
                      <a:pt x="45" y="28"/>
                    </a:lnTo>
                    <a:lnTo>
                      <a:pt x="56" y="33"/>
                    </a:lnTo>
                    <a:lnTo>
                      <a:pt x="68" y="38"/>
                    </a:lnTo>
                    <a:lnTo>
                      <a:pt x="79" y="48"/>
                    </a:lnTo>
                    <a:lnTo>
                      <a:pt x="84" y="48"/>
                    </a:lnTo>
                    <a:lnTo>
                      <a:pt x="90" y="48"/>
                    </a:lnTo>
                    <a:lnTo>
                      <a:pt x="87" y="48"/>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483" name="Freeform 494"/>
              <p:cNvSpPr>
                <a:spLocks/>
              </p:cNvSpPr>
              <p:nvPr/>
            </p:nvSpPr>
            <p:spPr bwMode="auto">
              <a:xfrm>
                <a:off x="1932" y="2726"/>
                <a:ext cx="78" cy="41"/>
              </a:xfrm>
              <a:custGeom>
                <a:avLst/>
                <a:gdLst>
                  <a:gd name="T0" fmla="*/ 0 w 78"/>
                  <a:gd name="T1" fmla="*/ 40 h 41"/>
                  <a:gd name="T2" fmla="*/ 34 w 78"/>
                  <a:gd name="T3" fmla="*/ 23 h 41"/>
                  <a:gd name="T4" fmla="*/ 40 w 78"/>
                  <a:gd name="T5" fmla="*/ 23 h 41"/>
                  <a:gd name="T6" fmla="*/ 46 w 78"/>
                  <a:gd name="T7" fmla="*/ 23 h 41"/>
                  <a:gd name="T8" fmla="*/ 51 w 78"/>
                  <a:gd name="T9" fmla="*/ 23 h 41"/>
                  <a:gd name="T10" fmla="*/ 57 w 78"/>
                  <a:gd name="T11" fmla="*/ 23 h 41"/>
                  <a:gd name="T12" fmla="*/ 63 w 78"/>
                  <a:gd name="T13" fmla="*/ 20 h 41"/>
                  <a:gd name="T14" fmla="*/ 68 w 78"/>
                  <a:gd name="T15" fmla="*/ 15 h 41"/>
                  <a:gd name="T16" fmla="*/ 71 w 78"/>
                  <a:gd name="T17" fmla="*/ 10 h 41"/>
                  <a:gd name="T18" fmla="*/ 74 w 78"/>
                  <a:gd name="T19" fmla="*/ 5 h 41"/>
                  <a:gd name="T20" fmla="*/ 77 w 78"/>
                  <a:gd name="T21" fmla="*/ 0 h 4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8"/>
                  <a:gd name="T34" fmla="*/ 0 h 41"/>
                  <a:gd name="T35" fmla="*/ 78 w 78"/>
                  <a:gd name="T36" fmla="*/ 41 h 4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8" h="41">
                    <a:moveTo>
                      <a:pt x="0" y="40"/>
                    </a:moveTo>
                    <a:lnTo>
                      <a:pt x="34" y="23"/>
                    </a:lnTo>
                    <a:lnTo>
                      <a:pt x="40" y="23"/>
                    </a:lnTo>
                    <a:lnTo>
                      <a:pt x="46" y="23"/>
                    </a:lnTo>
                    <a:lnTo>
                      <a:pt x="51" y="23"/>
                    </a:lnTo>
                    <a:lnTo>
                      <a:pt x="57" y="23"/>
                    </a:lnTo>
                    <a:lnTo>
                      <a:pt x="63" y="20"/>
                    </a:lnTo>
                    <a:lnTo>
                      <a:pt x="68" y="15"/>
                    </a:lnTo>
                    <a:lnTo>
                      <a:pt x="71" y="10"/>
                    </a:lnTo>
                    <a:lnTo>
                      <a:pt x="74" y="5"/>
                    </a:lnTo>
                    <a:lnTo>
                      <a:pt x="77"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484" name="Freeform 495"/>
              <p:cNvSpPr>
                <a:spLocks/>
              </p:cNvSpPr>
              <p:nvPr/>
            </p:nvSpPr>
            <p:spPr bwMode="auto">
              <a:xfrm>
                <a:off x="1986" y="2799"/>
                <a:ext cx="96" cy="78"/>
              </a:xfrm>
              <a:custGeom>
                <a:avLst/>
                <a:gdLst>
                  <a:gd name="T0" fmla="*/ 0 w 96"/>
                  <a:gd name="T1" fmla="*/ 0 h 78"/>
                  <a:gd name="T2" fmla="*/ 8 w 96"/>
                  <a:gd name="T3" fmla="*/ 2 h 78"/>
                  <a:gd name="T4" fmla="*/ 14 w 96"/>
                  <a:gd name="T5" fmla="*/ 7 h 78"/>
                  <a:gd name="T6" fmla="*/ 22 w 96"/>
                  <a:gd name="T7" fmla="*/ 30 h 78"/>
                  <a:gd name="T8" fmla="*/ 34 w 96"/>
                  <a:gd name="T9" fmla="*/ 40 h 78"/>
                  <a:gd name="T10" fmla="*/ 34 w 96"/>
                  <a:gd name="T11" fmla="*/ 50 h 78"/>
                  <a:gd name="T12" fmla="*/ 45 w 96"/>
                  <a:gd name="T13" fmla="*/ 60 h 78"/>
                  <a:gd name="T14" fmla="*/ 50 w 96"/>
                  <a:gd name="T15" fmla="*/ 70 h 78"/>
                  <a:gd name="T16" fmla="*/ 53 w 96"/>
                  <a:gd name="T17" fmla="*/ 75 h 78"/>
                  <a:gd name="T18" fmla="*/ 59 w 96"/>
                  <a:gd name="T19" fmla="*/ 77 h 78"/>
                  <a:gd name="T20" fmla="*/ 64 w 96"/>
                  <a:gd name="T21" fmla="*/ 75 h 78"/>
                  <a:gd name="T22" fmla="*/ 70 w 96"/>
                  <a:gd name="T23" fmla="*/ 75 h 78"/>
                  <a:gd name="T24" fmla="*/ 73 w 96"/>
                  <a:gd name="T25" fmla="*/ 70 h 78"/>
                  <a:gd name="T26" fmla="*/ 75 w 96"/>
                  <a:gd name="T27" fmla="*/ 65 h 78"/>
                  <a:gd name="T28" fmla="*/ 81 w 96"/>
                  <a:gd name="T29" fmla="*/ 62 h 78"/>
                  <a:gd name="T30" fmla="*/ 87 w 96"/>
                  <a:gd name="T31" fmla="*/ 60 h 78"/>
                  <a:gd name="T32" fmla="*/ 89 w 96"/>
                  <a:gd name="T33" fmla="*/ 55 h 78"/>
                  <a:gd name="T34" fmla="*/ 95 w 96"/>
                  <a:gd name="T35" fmla="*/ 50 h 78"/>
                  <a:gd name="T36" fmla="*/ 95 w 96"/>
                  <a:gd name="T37" fmla="*/ 45 h 7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6"/>
                  <a:gd name="T58" fmla="*/ 0 h 78"/>
                  <a:gd name="T59" fmla="*/ 96 w 96"/>
                  <a:gd name="T60" fmla="*/ 78 h 7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6" h="78">
                    <a:moveTo>
                      <a:pt x="0" y="0"/>
                    </a:moveTo>
                    <a:lnTo>
                      <a:pt x="8" y="2"/>
                    </a:lnTo>
                    <a:lnTo>
                      <a:pt x="14" y="7"/>
                    </a:lnTo>
                    <a:lnTo>
                      <a:pt x="22" y="30"/>
                    </a:lnTo>
                    <a:lnTo>
                      <a:pt x="34" y="40"/>
                    </a:lnTo>
                    <a:lnTo>
                      <a:pt x="34" y="50"/>
                    </a:lnTo>
                    <a:lnTo>
                      <a:pt x="45" y="60"/>
                    </a:lnTo>
                    <a:lnTo>
                      <a:pt x="50" y="70"/>
                    </a:lnTo>
                    <a:lnTo>
                      <a:pt x="53" y="75"/>
                    </a:lnTo>
                    <a:lnTo>
                      <a:pt x="59" y="77"/>
                    </a:lnTo>
                    <a:lnTo>
                      <a:pt x="64" y="75"/>
                    </a:lnTo>
                    <a:lnTo>
                      <a:pt x="70" y="75"/>
                    </a:lnTo>
                    <a:lnTo>
                      <a:pt x="73" y="70"/>
                    </a:lnTo>
                    <a:lnTo>
                      <a:pt x="75" y="65"/>
                    </a:lnTo>
                    <a:lnTo>
                      <a:pt x="81" y="62"/>
                    </a:lnTo>
                    <a:lnTo>
                      <a:pt x="87" y="60"/>
                    </a:lnTo>
                    <a:lnTo>
                      <a:pt x="89" y="55"/>
                    </a:lnTo>
                    <a:lnTo>
                      <a:pt x="95" y="50"/>
                    </a:lnTo>
                    <a:lnTo>
                      <a:pt x="95" y="45"/>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485" name="Freeform 496"/>
              <p:cNvSpPr>
                <a:spLocks/>
              </p:cNvSpPr>
              <p:nvPr/>
            </p:nvSpPr>
            <p:spPr bwMode="auto">
              <a:xfrm>
                <a:off x="2005" y="2776"/>
                <a:ext cx="97" cy="49"/>
              </a:xfrm>
              <a:custGeom>
                <a:avLst/>
                <a:gdLst>
                  <a:gd name="T0" fmla="*/ 0 w 97"/>
                  <a:gd name="T1" fmla="*/ 3 h 49"/>
                  <a:gd name="T2" fmla="*/ 6 w 97"/>
                  <a:gd name="T3" fmla="*/ 3 h 49"/>
                  <a:gd name="T4" fmla="*/ 11 w 97"/>
                  <a:gd name="T5" fmla="*/ 0 h 49"/>
                  <a:gd name="T6" fmla="*/ 17 w 97"/>
                  <a:gd name="T7" fmla="*/ 0 h 49"/>
                  <a:gd name="T8" fmla="*/ 23 w 97"/>
                  <a:gd name="T9" fmla="*/ 3 h 49"/>
                  <a:gd name="T10" fmla="*/ 28 w 97"/>
                  <a:gd name="T11" fmla="*/ 10 h 49"/>
                  <a:gd name="T12" fmla="*/ 40 w 97"/>
                  <a:gd name="T13" fmla="*/ 20 h 49"/>
                  <a:gd name="T14" fmla="*/ 51 w 97"/>
                  <a:gd name="T15" fmla="*/ 25 h 49"/>
                  <a:gd name="T16" fmla="*/ 51 w 97"/>
                  <a:gd name="T17" fmla="*/ 35 h 49"/>
                  <a:gd name="T18" fmla="*/ 62 w 97"/>
                  <a:gd name="T19" fmla="*/ 45 h 49"/>
                  <a:gd name="T20" fmla="*/ 68 w 97"/>
                  <a:gd name="T21" fmla="*/ 45 h 49"/>
                  <a:gd name="T22" fmla="*/ 73 w 97"/>
                  <a:gd name="T23" fmla="*/ 45 h 49"/>
                  <a:gd name="T24" fmla="*/ 79 w 97"/>
                  <a:gd name="T25" fmla="*/ 45 h 49"/>
                  <a:gd name="T26" fmla="*/ 85 w 97"/>
                  <a:gd name="T27" fmla="*/ 45 h 49"/>
                  <a:gd name="T28" fmla="*/ 90 w 97"/>
                  <a:gd name="T29" fmla="*/ 45 h 49"/>
                  <a:gd name="T30" fmla="*/ 96 w 97"/>
                  <a:gd name="T31" fmla="*/ 48 h 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7"/>
                  <a:gd name="T49" fmla="*/ 0 h 49"/>
                  <a:gd name="T50" fmla="*/ 97 w 97"/>
                  <a:gd name="T51" fmla="*/ 49 h 4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7" h="49">
                    <a:moveTo>
                      <a:pt x="0" y="3"/>
                    </a:moveTo>
                    <a:lnTo>
                      <a:pt x="6" y="3"/>
                    </a:lnTo>
                    <a:lnTo>
                      <a:pt x="11" y="0"/>
                    </a:lnTo>
                    <a:lnTo>
                      <a:pt x="17" y="0"/>
                    </a:lnTo>
                    <a:lnTo>
                      <a:pt x="23" y="3"/>
                    </a:lnTo>
                    <a:lnTo>
                      <a:pt x="28" y="10"/>
                    </a:lnTo>
                    <a:lnTo>
                      <a:pt x="40" y="20"/>
                    </a:lnTo>
                    <a:lnTo>
                      <a:pt x="51" y="25"/>
                    </a:lnTo>
                    <a:lnTo>
                      <a:pt x="51" y="35"/>
                    </a:lnTo>
                    <a:lnTo>
                      <a:pt x="62" y="45"/>
                    </a:lnTo>
                    <a:lnTo>
                      <a:pt x="68" y="45"/>
                    </a:lnTo>
                    <a:lnTo>
                      <a:pt x="73" y="45"/>
                    </a:lnTo>
                    <a:lnTo>
                      <a:pt x="79" y="45"/>
                    </a:lnTo>
                    <a:lnTo>
                      <a:pt x="85" y="45"/>
                    </a:lnTo>
                    <a:lnTo>
                      <a:pt x="90" y="45"/>
                    </a:lnTo>
                    <a:lnTo>
                      <a:pt x="96" y="48"/>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486" name="Freeform 497"/>
              <p:cNvSpPr>
                <a:spLocks/>
              </p:cNvSpPr>
              <p:nvPr/>
            </p:nvSpPr>
            <p:spPr bwMode="auto">
              <a:xfrm>
                <a:off x="1958" y="2714"/>
                <a:ext cx="149" cy="36"/>
              </a:xfrm>
              <a:custGeom>
                <a:avLst/>
                <a:gdLst>
                  <a:gd name="T0" fmla="*/ 0 w 149"/>
                  <a:gd name="T1" fmla="*/ 35 h 36"/>
                  <a:gd name="T2" fmla="*/ 6 w 149"/>
                  <a:gd name="T3" fmla="*/ 30 h 36"/>
                  <a:gd name="T4" fmla="*/ 8 w 149"/>
                  <a:gd name="T5" fmla="*/ 25 h 36"/>
                  <a:gd name="T6" fmla="*/ 25 w 149"/>
                  <a:gd name="T7" fmla="*/ 10 h 36"/>
                  <a:gd name="T8" fmla="*/ 50 w 149"/>
                  <a:gd name="T9" fmla="*/ 0 h 36"/>
                  <a:gd name="T10" fmla="*/ 61 w 149"/>
                  <a:gd name="T11" fmla="*/ 0 h 36"/>
                  <a:gd name="T12" fmla="*/ 106 w 149"/>
                  <a:gd name="T13" fmla="*/ 0 h 36"/>
                  <a:gd name="T14" fmla="*/ 131 w 149"/>
                  <a:gd name="T15" fmla="*/ 0 h 36"/>
                  <a:gd name="T16" fmla="*/ 142 w 149"/>
                  <a:gd name="T17" fmla="*/ 0 h 36"/>
                  <a:gd name="T18" fmla="*/ 148 w 149"/>
                  <a:gd name="T19" fmla="*/ 0 h 3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9"/>
                  <a:gd name="T31" fmla="*/ 0 h 36"/>
                  <a:gd name="T32" fmla="*/ 149 w 149"/>
                  <a:gd name="T33" fmla="*/ 36 h 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9" h="36">
                    <a:moveTo>
                      <a:pt x="0" y="35"/>
                    </a:moveTo>
                    <a:lnTo>
                      <a:pt x="6" y="30"/>
                    </a:lnTo>
                    <a:lnTo>
                      <a:pt x="8" y="25"/>
                    </a:lnTo>
                    <a:lnTo>
                      <a:pt x="25" y="10"/>
                    </a:lnTo>
                    <a:lnTo>
                      <a:pt x="50" y="0"/>
                    </a:lnTo>
                    <a:lnTo>
                      <a:pt x="61" y="0"/>
                    </a:lnTo>
                    <a:lnTo>
                      <a:pt x="106" y="0"/>
                    </a:lnTo>
                    <a:lnTo>
                      <a:pt x="131" y="0"/>
                    </a:lnTo>
                    <a:lnTo>
                      <a:pt x="142" y="0"/>
                    </a:lnTo>
                    <a:lnTo>
                      <a:pt x="148"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487" name="Freeform 498"/>
              <p:cNvSpPr>
                <a:spLocks/>
              </p:cNvSpPr>
              <p:nvPr/>
            </p:nvSpPr>
            <p:spPr bwMode="auto">
              <a:xfrm>
                <a:off x="2067" y="2654"/>
                <a:ext cx="46" cy="101"/>
              </a:xfrm>
              <a:custGeom>
                <a:avLst/>
                <a:gdLst>
                  <a:gd name="T0" fmla="*/ 0 w 46"/>
                  <a:gd name="T1" fmla="*/ 0 h 101"/>
                  <a:gd name="T2" fmla="*/ 11 w 46"/>
                  <a:gd name="T3" fmla="*/ 8 h 101"/>
                  <a:gd name="T4" fmla="*/ 17 w 46"/>
                  <a:gd name="T5" fmla="*/ 13 h 101"/>
                  <a:gd name="T6" fmla="*/ 17 w 46"/>
                  <a:gd name="T7" fmla="*/ 18 h 101"/>
                  <a:gd name="T8" fmla="*/ 14 w 46"/>
                  <a:gd name="T9" fmla="*/ 23 h 101"/>
                  <a:gd name="T10" fmla="*/ 14 w 46"/>
                  <a:gd name="T11" fmla="*/ 28 h 101"/>
                  <a:gd name="T12" fmla="*/ 11 w 46"/>
                  <a:gd name="T13" fmla="*/ 33 h 101"/>
                  <a:gd name="T14" fmla="*/ 11 w 46"/>
                  <a:gd name="T15" fmla="*/ 38 h 101"/>
                  <a:gd name="T16" fmla="*/ 11 w 46"/>
                  <a:gd name="T17" fmla="*/ 43 h 101"/>
                  <a:gd name="T18" fmla="*/ 17 w 46"/>
                  <a:gd name="T19" fmla="*/ 53 h 101"/>
                  <a:gd name="T20" fmla="*/ 28 w 46"/>
                  <a:gd name="T21" fmla="*/ 63 h 101"/>
                  <a:gd name="T22" fmla="*/ 34 w 46"/>
                  <a:gd name="T23" fmla="*/ 68 h 101"/>
                  <a:gd name="T24" fmla="*/ 39 w 46"/>
                  <a:gd name="T25" fmla="*/ 70 h 101"/>
                  <a:gd name="T26" fmla="*/ 42 w 46"/>
                  <a:gd name="T27" fmla="*/ 75 h 101"/>
                  <a:gd name="T28" fmla="*/ 45 w 46"/>
                  <a:gd name="T29" fmla="*/ 80 h 101"/>
                  <a:gd name="T30" fmla="*/ 45 w 46"/>
                  <a:gd name="T31" fmla="*/ 85 h 101"/>
                  <a:gd name="T32" fmla="*/ 45 w 46"/>
                  <a:gd name="T33" fmla="*/ 90 h 101"/>
                  <a:gd name="T34" fmla="*/ 45 w 46"/>
                  <a:gd name="T35" fmla="*/ 95 h 101"/>
                  <a:gd name="T36" fmla="*/ 45 w 46"/>
                  <a:gd name="T37" fmla="*/ 100 h 101"/>
                  <a:gd name="T38" fmla="*/ 45 w 46"/>
                  <a:gd name="T39" fmla="*/ 98 h 10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6"/>
                  <a:gd name="T61" fmla="*/ 0 h 101"/>
                  <a:gd name="T62" fmla="*/ 46 w 46"/>
                  <a:gd name="T63" fmla="*/ 101 h 10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6" h="101">
                    <a:moveTo>
                      <a:pt x="0" y="0"/>
                    </a:moveTo>
                    <a:lnTo>
                      <a:pt x="11" y="8"/>
                    </a:lnTo>
                    <a:lnTo>
                      <a:pt x="17" y="13"/>
                    </a:lnTo>
                    <a:lnTo>
                      <a:pt x="17" y="18"/>
                    </a:lnTo>
                    <a:lnTo>
                      <a:pt x="14" y="23"/>
                    </a:lnTo>
                    <a:lnTo>
                      <a:pt x="14" y="28"/>
                    </a:lnTo>
                    <a:lnTo>
                      <a:pt x="11" y="33"/>
                    </a:lnTo>
                    <a:lnTo>
                      <a:pt x="11" y="38"/>
                    </a:lnTo>
                    <a:lnTo>
                      <a:pt x="11" y="43"/>
                    </a:lnTo>
                    <a:lnTo>
                      <a:pt x="17" y="53"/>
                    </a:lnTo>
                    <a:lnTo>
                      <a:pt x="28" y="63"/>
                    </a:lnTo>
                    <a:lnTo>
                      <a:pt x="34" y="68"/>
                    </a:lnTo>
                    <a:lnTo>
                      <a:pt x="39" y="70"/>
                    </a:lnTo>
                    <a:lnTo>
                      <a:pt x="42" y="75"/>
                    </a:lnTo>
                    <a:lnTo>
                      <a:pt x="45" y="80"/>
                    </a:lnTo>
                    <a:lnTo>
                      <a:pt x="45" y="85"/>
                    </a:lnTo>
                    <a:lnTo>
                      <a:pt x="45" y="90"/>
                    </a:lnTo>
                    <a:lnTo>
                      <a:pt x="45" y="95"/>
                    </a:lnTo>
                    <a:lnTo>
                      <a:pt x="45" y="100"/>
                    </a:lnTo>
                    <a:lnTo>
                      <a:pt x="45" y="98"/>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488" name="Freeform 499"/>
              <p:cNvSpPr>
                <a:spLocks/>
              </p:cNvSpPr>
              <p:nvPr/>
            </p:nvSpPr>
            <p:spPr bwMode="auto">
              <a:xfrm>
                <a:off x="2036" y="2691"/>
                <a:ext cx="88" cy="66"/>
              </a:xfrm>
              <a:custGeom>
                <a:avLst/>
                <a:gdLst>
                  <a:gd name="T0" fmla="*/ 87 w 88"/>
                  <a:gd name="T1" fmla="*/ 0 h 66"/>
                  <a:gd name="T2" fmla="*/ 59 w 88"/>
                  <a:gd name="T3" fmla="*/ 23 h 66"/>
                  <a:gd name="T4" fmla="*/ 56 w 88"/>
                  <a:gd name="T5" fmla="*/ 28 h 66"/>
                  <a:gd name="T6" fmla="*/ 51 w 88"/>
                  <a:gd name="T7" fmla="*/ 33 h 66"/>
                  <a:gd name="T8" fmla="*/ 45 w 88"/>
                  <a:gd name="T9" fmla="*/ 38 h 66"/>
                  <a:gd name="T10" fmla="*/ 42 w 88"/>
                  <a:gd name="T11" fmla="*/ 43 h 66"/>
                  <a:gd name="T12" fmla="*/ 36 w 88"/>
                  <a:gd name="T13" fmla="*/ 43 h 66"/>
                  <a:gd name="T14" fmla="*/ 31 w 88"/>
                  <a:gd name="T15" fmla="*/ 48 h 66"/>
                  <a:gd name="T16" fmla="*/ 25 w 88"/>
                  <a:gd name="T17" fmla="*/ 53 h 66"/>
                  <a:gd name="T18" fmla="*/ 11 w 88"/>
                  <a:gd name="T19" fmla="*/ 55 h 66"/>
                  <a:gd name="T20" fmla="*/ 11 w 88"/>
                  <a:gd name="T21" fmla="*/ 65 h 66"/>
                  <a:gd name="T22" fmla="*/ 6 w 88"/>
                  <a:gd name="T23" fmla="*/ 65 h 66"/>
                  <a:gd name="T24" fmla="*/ 0 w 88"/>
                  <a:gd name="T25" fmla="*/ 65 h 66"/>
                  <a:gd name="T26" fmla="*/ 6 w 88"/>
                  <a:gd name="T27" fmla="*/ 63 h 6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8"/>
                  <a:gd name="T43" fmla="*/ 0 h 66"/>
                  <a:gd name="T44" fmla="*/ 88 w 88"/>
                  <a:gd name="T45" fmla="*/ 66 h 6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8" h="66">
                    <a:moveTo>
                      <a:pt x="87" y="0"/>
                    </a:moveTo>
                    <a:lnTo>
                      <a:pt x="59" y="23"/>
                    </a:lnTo>
                    <a:lnTo>
                      <a:pt x="56" y="28"/>
                    </a:lnTo>
                    <a:lnTo>
                      <a:pt x="51" y="33"/>
                    </a:lnTo>
                    <a:lnTo>
                      <a:pt x="45" y="38"/>
                    </a:lnTo>
                    <a:lnTo>
                      <a:pt x="42" y="43"/>
                    </a:lnTo>
                    <a:lnTo>
                      <a:pt x="36" y="43"/>
                    </a:lnTo>
                    <a:lnTo>
                      <a:pt x="31" y="48"/>
                    </a:lnTo>
                    <a:lnTo>
                      <a:pt x="25" y="53"/>
                    </a:lnTo>
                    <a:lnTo>
                      <a:pt x="11" y="55"/>
                    </a:lnTo>
                    <a:lnTo>
                      <a:pt x="11" y="65"/>
                    </a:lnTo>
                    <a:lnTo>
                      <a:pt x="6" y="65"/>
                    </a:lnTo>
                    <a:lnTo>
                      <a:pt x="0" y="65"/>
                    </a:lnTo>
                    <a:lnTo>
                      <a:pt x="6" y="63"/>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489" name="Freeform 500"/>
              <p:cNvSpPr>
                <a:spLocks/>
              </p:cNvSpPr>
              <p:nvPr/>
            </p:nvSpPr>
            <p:spPr bwMode="auto">
              <a:xfrm>
                <a:off x="2115" y="2714"/>
                <a:ext cx="24" cy="88"/>
              </a:xfrm>
              <a:custGeom>
                <a:avLst/>
                <a:gdLst>
                  <a:gd name="T0" fmla="*/ 0 w 24"/>
                  <a:gd name="T1" fmla="*/ 87 h 88"/>
                  <a:gd name="T2" fmla="*/ 23 w 24"/>
                  <a:gd name="T3" fmla="*/ 60 h 88"/>
                  <a:gd name="T4" fmla="*/ 23 w 24"/>
                  <a:gd name="T5" fmla="*/ 55 h 88"/>
                  <a:gd name="T6" fmla="*/ 23 w 24"/>
                  <a:gd name="T7" fmla="*/ 50 h 88"/>
                  <a:gd name="T8" fmla="*/ 23 w 24"/>
                  <a:gd name="T9" fmla="*/ 45 h 88"/>
                  <a:gd name="T10" fmla="*/ 23 w 24"/>
                  <a:gd name="T11" fmla="*/ 40 h 88"/>
                  <a:gd name="T12" fmla="*/ 23 w 24"/>
                  <a:gd name="T13" fmla="*/ 35 h 88"/>
                  <a:gd name="T14" fmla="*/ 23 w 24"/>
                  <a:gd name="T15" fmla="*/ 30 h 88"/>
                  <a:gd name="T16" fmla="*/ 23 w 24"/>
                  <a:gd name="T17" fmla="*/ 25 h 88"/>
                  <a:gd name="T18" fmla="*/ 23 w 24"/>
                  <a:gd name="T19" fmla="*/ 20 h 88"/>
                  <a:gd name="T20" fmla="*/ 23 w 24"/>
                  <a:gd name="T21" fmla="*/ 15 h 88"/>
                  <a:gd name="T22" fmla="*/ 23 w 24"/>
                  <a:gd name="T23" fmla="*/ 10 h 88"/>
                  <a:gd name="T24" fmla="*/ 23 w 24"/>
                  <a:gd name="T25" fmla="*/ 5 h 88"/>
                  <a:gd name="T26" fmla="*/ 23 w 24"/>
                  <a:gd name="T27" fmla="*/ 0 h 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4"/>
                  <a:gd name="T43" fmla="*/ 0 h 88"/>
                  <a:gd name="T44" fmla="*/ 24 w 24"/>
                  <a:gd name="T45" fmla="*/ 88 h 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4" h="88">
                    <a:moveTo>
                      <a:pt x="0" y="87"/>
                    </a:moveTo>
                    <a:lnTo>
                      <a:pt x="23" y="60"/>
                    </a:lnTo>
                    <a:lnTo>
                      <a:pt x="23" y="55"/>
                    </a:lnTo>
                    <a:lnTo>
                      <a:pt x="23" y="50"/>
                    </a:lnTo>
                    <a:lnTo>
                      <a:pt x="23" y="45"/>
                    </a:lnTo>
                    <a:lnTo>
                      <a:pt x="23" y="40"/>
                    </a:lnTo>
                    <a:lnTo>
                      <a:pt x="23" y="35"/>
                    </a:lnTo>
                    <a:lnTo>
                      <a:pt x="23" y="30"/>
                    </a:lnTo>
                    <a:lnTo>
                      <a:pt x="23" y="25"/>
                    </a:lnTo>
                    <a:lnTo>
                      <a:pt x="23" y="20"/>
                    </a:lnTo>
                    <a:lnTo>
                      <a:pt x="23" y="15"/>
                    </a:lnTo>
                    <a:lnTo>
                      <a:pt x="23" y="10"/>
                    </a:lnTo>
                    <a:lnTo>
                      <a:pt x="23" y="5"/>
                    </a:lnTo>
                    <a:lnTo>
                      <a:pt x="23"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490" name="Freeform 501"/>
              <p:cNvSpPr>
                <a:spLocks/>
              </p:cNvSpPr>
              <p:nvPr/>
            </p:nvSpPr>
            <p:spPr bwMode="auto">
              <a:xfrm>
                <a:off x="2048" y="2826"/>
                <a:ext cx="126" cy="19"/>
              </a:xfrm>
              <a:custGeom>
                <a:avLst/>
                <a:gdLst>
                  <a:gd name="T0" fmla="*/ 0 w 126"/>
                  <a:gd name="T1" fmla="*/ 10 h 19"/>
                  <a:gd name="T2" fmla="*/ 36 w 126"/>
                  <a:gd name="T3" fmla="*/ 10 h 19"/>
                  <a:gd name="T4" fmla="*/ 42 w 126"/>
                  <a:gd name="T5" fmla="*/ 13 h 19"/>
                  <a:gd name="T6" fmla="*/ 47 w 126"/>
                  <a:gd name="T7" fmla="*/ 15 h 19"/>
                  <a:gd name="T8" fmla="*/ 61 w 126"/>
                  <a:gd name="T9" fmla="*/ 18 h 19"/>
                  <a:gd name="T10" fmla="*/ 72 w 126"/>
                  <a:gd name="T11" fmla="*/ 18 h 19"/>
                  <a:gd name="T12" fmla="*/ 86 w 126"/>
                  <a:gd name="T13" fmla="*/ 13 h 19"/>
                  <a:gd name="T14" fmla="*/ 92 w 126"/>
                  <a:gd name="T15" fmla="*/ 13 h 19"/>
                  <a:gd name="T16" fmla="*/ 103 w 126"/>
                  <a:gd name="T17" fmla="*/ 8 h 19"/>
                  <a:gd name="T18" fmla="*/ 114 w 126"/>
                  <a:gd name="T19" fmla="*/ 8 h 19"/>
                  <a:gd name="T20" fmla="*/ 119 w 126"/>
                  <a:gd name="T21" fmla="*/ 5 h 19"/>
                  <a:gd name="T22" fmla="*/ 125 w 126"/>
                  <a:gd name="T23" fmla="*/ 0 h 1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6"/>
                  <a:gd name="T37" fmla="*/ 0 h 19"/>
                  <a:gd name="T38" fmla="*/ 126 w 126"/>
                  <a:gd name="T39" fmla="*/ 19 h 1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6" h="19">
                    <a:moveTo>
                      <a:pt x="0" y="10"/>
                    </a:moveTo>
                    <a:lnTo>
                      <a:pt x="36" y="10"/>
                    </a:lnTo>
                    <a:lnTo>
                      <a:pt x="42" y="13"/>
                    </a:lnTo>
                    <a:lnTo>
                      <a:pt x="47" y="15"/>
                    </a:lnTo>
                    <a:lnTo>
                      <a:pt x="61" y="18"/>
                    </a:lnTo>
                    <a:lnTo>
                      <a:pt x="72" y="18"/>
                    </a:lnTo>
                    <a:lnTo>
                      <a:pt x="86" y="13"/>
                    </a:lnTo>
                    <a:lnTo>
                      <a:pt x="92" y="13"/>
                    </a:lnTo>
                    <a:lnTo>
                      <a:pt x="103" y="8"/>
                    </a:lnTo>
                    <a:lnTo>
                      <a:pt x="114" y="8"/>
                    </a:lnTo>
                    <a:lnTo>
                      <a:pt x="119" y="5"/>
                    </a:lnTo>
                    <a:lnTo>
                      <a:pt x="125"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491" name="Freeform 502"/>
              <p:cNvSpPr>
                <a:spLocks/>
              </p:cNvSpPr>
              <p:nvPr/>
            </p:nvSpPr>
            <p:spPr bwMode="auto">
              <a:xfrm>
                <a:off x="1823" y="2651"/>
                <a:ext cx="91" cy="91"/>
              </a:xfrm>
              <a:custGeom>
                <a:avLst/>
                <a:gdLst>
                  <a:gd name="T0" fmla="*/ 0 w 91"/>
                  <a:gd name="T1" fmla="*/ 0 h 91"/>
                  <a:gd name="T2" fmla="*/ 34 w 91"/>
                  <a:gd name="T3" fmla="*/ 25 h 91"/>
                  <a:gd name="T4" fmla="*/ 37 w 91"/>
                  <a:gd name="T5" fmla="*/ 58 h 91"/>
                  <a:gd name="T6" fmla="*/ 42 w 91"/>
                  <a:gd name="T7" fmla="*/ 63 h 91"/>
                  <a:gd name="T8" fmla="*/ 45 w 91"/>
                  <a:gd name="T9" fmla="*/ 68 h 91"/>
                  <a:gd name="T10" fmla="*/ 51 w 91"/>
                  <a:gd name="T11" fmla="*/ 70 h 91"/>
                  <a:gd name="T12" fmla="*/ 56 w 91"/>
                  <a:gd name="T13" fmla="*/ 73 h 91"/>
                  <a:gd name="T14" fmla="*/ 62 w 91"/>
                  <a:gd name="T15" fmla="*/ 75 h 91"/>
                  <a:gd name="T16" fmla="*/ 73 w 91"/>
                  <a:gd name="T17" fmla="*/ 75 h 91"/>
                  <a:gd name="T18" fmla="*/ 84 w 91"/>
                  <a:gd name="T19" fmla="*/ 85 h 91"/>
                  <a:gd name="T20" fmla="*/ 90 w 91"/>
                  <a:gd name="T21" fmla="*/ 90 h 9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1"/>
                  <a:gd name="T34" fmla="*/ 0 h 91"/>
                  <a:gd name="T35" fmla="*/ 91 w 91"/>
                  <a:gd name="T36" fmla="*/ 91 h 9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1" h="91">
                    <a:moveTo>
                      <a:pt x="0" y="0"/>
                    </a:moveTo>
                    <a:lnTo>
                      <a:pt x="34" y="25"/>
                    </a:lnTo>
                    <a:lnTo>
                      <a:pt x="37" y="58"/>
                    </a:lnTo>
                    <a:lnTo>
                      <a:pt x="42" y="63"/>
                    </a:lnTo>
                    <a:lnTo>
                      <a:pt x="45" y="68"/>
                    </a:lnTo>
                    <a:lnTo>
                      <a:pt x="51" y="70"/>
                    </a:lnTo>
                    <a:lnTo>
                      <a:pt x="56" y="73"/>
                    </a:lnTo>
                    <a:lnTo>
                      <a:pt x="62" y="75"/>
                    </a:lnTo>
                    <a:lnTo>
                      <a:pt x="73" y="75"/>
                    </a:lnTo>
                    <a:lnTo>
                      <a:pt x="84" y="85"/>
                    </a:lnTo>
                    <a:lnTo>
                      <a:pt x="90" y="9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492" name="Freeform 503"/>
              <p:cNvSpPr>
                <a:spLocks/>
              </p:cNvSpPr>
              <p:nvPr/>
            </p:nvSpPr>
            <p:spPr bwMode="auto">
              <a:xfrm>
                <a:off x="1665" y="2629"/>
                <a:ext cx="52" cy="106"/>
              </a:xfrm>
              <a:custGeom>
                <a:avLst/>
                <a:gdLst>
                  <a:gd name="T0" fmla="*/ 0 w 52"/>
                  <a:gd name="T1" fmla="*/ 0 h 106"/>
                  <a:gd name="T2" fmla="*/ 31 w 52"/>
                  <a:gd name="T3" fmla="*/ 70 h 106"/>
                  <a:gd name="T4" fmla="*/ 34 w 52"/>
                  <a:gd name="T5" fmla="*/ 75 h 106"/>
                  <a:gd name="T6" fmla="*/ 37 w 52"/>
                  <a:gd name="T7" fmla="*/ 80 h 106"/>
                  <a:gd name="T8" fmla="*/ 37 w 52"/>
                  <a:gd name="T9" fmla="*/ 85 h 106"/>
                  <a:gd name="T10" fmla="*/ 37 w 52"/>
                  <a:gd name="T11" fmla="*/ 90 h 106"/>
                  <a:gd name="T12" fmla="*/ 37 w 52"/>
                  <a:gd name="T13" fmla="*/ 95 h 106"/>
                  <a:gd name="T14" fmla="*/ 40 w 52"/>
                  <a:gd name="T15" fmla="*/ 100 h 106"/>
                  <a:gd name="T16" fmla="*/ 45 w 52"/>
                  <a:gd name="T17" fmla="*/ 105 h 106"/>
                  <a:gd name="T18" fmla="*/ 51 w 52"/>
                  <a:gd name="T19" fmla="*/ 105 h 106"/>
                  <a:gd name="T20" fmla="*/ 48 w 52"/>
                  <a:gd name="T21" fmla="*/ 105 h 10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2"/>
                  <a:gd name="T34" fmla="*/ 0 h 106"/>
                  <a:gd name="T35" fmla="*/ 52 w 52"/>
                  <a:gd name="T36" fmla="*/ 106 h 10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2" h="106">
                    <a:moveTo>
                      <a:pt x="0" y="0"/>
                    </a:moveTo>
                    <a:lnTo>
                      <a:pt x="31" y="70"/>
                    </a:lnTo>
                    <a:lnTo>
                      <a:pt x="34" y="75"/>
                    </a:lnTo>
                    <a:lnTo>
                      <a:pt x="37" y="80"/>
                    </a:lnTo>
                    <a:lnTo>
                      <a:pt x="37" y="85"/>
                    </a:lnTo>
                    <a:lnTo>
                      <a:pt x="37" y="90"/>
                    </a:lnTo>
                    <a:lnTo>
                      <a:pt x="37" y="95"/>
                    </a:lnTo>
                    <a:lnTo>
                      <a:pt x="40" y="100"/>
                    </a:lnTo>
                    <a:lnTo>
                      <a:pt x="45" y="105"/>
                    </a:lnTo>
                    <a:lnTo>
                      <a:pt x="51" y="105"/>
                    </a:lnTo>
                    <a:lnTo>
                      <a:pt x="48" y="105"/>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493" name="Freeform 504"/>
              <p:cNvSpPr>
                <a:spLocks/>
              </p:cNvSpPr>
              <p:nvPr/>
            </p:nvSpPr>
            <p:spPr bwMode="auto">
              <a:xfrm>
                <a:off x="1964" y="2645"/>
                <a:ext cx="79" cy="72"/>
              </a:xfrm>
              <a:custGeom>
                <a:avLst/>
                <a:gdLst>
                  <a:gd name="T0" fmla="*/ 78 w 79"/>
                  <a:gd name="T1" fmla="*/ 0 h 72"/>
                  <a:gd name="T2" fmla="*/ 72 w 79"/>
                  <a:gd name="T3" fmla="*/ 3 h 72"/>
                  <a:gd name="T4" fmla="*/ 67 w 79"/>
                  <a:gd name="T5" fmla="*/ 5 h 72"/>
                  <a:gd name="T6" fmla="*/ 61 w 79"/>
                  <a:gd name="T7" fmla="*/ 8 h 72"/>
                  <a:gd name="T8" fmla="*/ 61 w 79"/>
                  <a:gd name="T9" fmla="*/ 13 h 72"/>
                  <a:gd name="T10" fmla="*/ 61 w 79"/>
                  <a:gd name="T11" fmla="*/ 18 h 72"/>
                  <a:gd name="T12" fmla="*/ 61 w 79"/>
                  <a:gd name="T13" fmla="*/ 23 h 72"/>
                  <a:gd name="T14" fmla="*/ 56 w 79"/>
                  <a:gd name="T15" fmla="*/ 36 h 72"/>
                  <a:gd name="T16" fmla="*/ 45 w 79"/>
                  <a:gd name="T17" fmla="*/ 36 h 72"/>
                  <a:gd name="T18" fmla="*/ 42 w 79"/>
                  <a:gd name="T19" fmla="*/ 41 h 72"/>
                  <a:gd name="T20" fmla="*/ 31 w 79"/>
                  <a:gd name="T21" fmla="*/ 46 h 72"/>
                  <a:gd name="T22" fmla="*/ 25 w 79"/>
                  <a:gd name="T23" fmla="*/ 48 h 72"/>
                  <a:gd name="T24" fmla="*/ 8 w 79"/>
                  <a:gd name="T25" fmla="*/ 63 h 72"/>
                  <a:gd name="T26" fmla="*/ 6 w 79"/>
                  <a:gd name="T27" fmla="*/ 68 h 72"/>
                  <a:gd name="T28" fmla="*/ 0 w 79"/>
                  <a:gd name="T29" fmla="*/ 71 h 7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9"/>
                  <a:gd name="T46" fmla="*/ 0 h 72"/>
                  <a:gd name="T47" fmla="*/ 79 w 79"/>
                  <a:gd name="T48" fmla="*/ 72 h 7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9" h="72">
                    <a:moveTo>
                      <a:pt x="78" y="0"/>
                    </a:moveTo>
                    <a:lnTo>
                      <a:pt x="72" y="3"/>
                    </a:lnTo>
                    <a:lnTo>
                      <a:pt x="67" y="5"/>
                    </a:lnTo>
                    <a:lnTo>
                      <a:pt x="61" y="8"/>
                    </a:lnTo>
                    <a:lnTo>
                      <a:pt x="61" y="13"/>
                    </a:lnTo>
                    <a:lnTo>
                      <a:pt x="61" y="18"/>
                    </a:lnTo>
                    <a:lnTo>
                      <a:pt x="61" y="23"/>
                    </a:lnTo>
                    <a:lnTo>
                      <a:pt x="56" y="36"/>
                    </a:lnTo>
                    <a:lnTo>
                      <a:pt x="45" y="36"/>
                    </a:lnTo>
                    <a:lnTo>
                      <a:pt x="42" y="41"/>
                    </a:lnTo>
                    <a:lnTo>
                      <a:pt x="31" y="46"/>
                    </a:lnTo>
                    <a:lnTo>
                      <a:pt x="25" y="48"/>
                    </a:lnTo>
                    <a:lnTo>
                      <a:pt x="8" y="63"/>
                    </a:lnTo>
                    <a:lnTo>
                      <a:pt x="6" y="68"/>
                    </a:lnTo>
                    <a:lnTo>
                      <a:pt x="0" y="71"/>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494" name="Freeform 505"/>
              <p:cNvSpPr>
                <a:spLocks/>
              </p:cNvSpPr>
              <p:nvPr/>
            </p:nvSpPr>
            <p:spPr bwMode="auto">
              <a:xfrm>
                <a:off x="1901" y="2809"/>
                <a:ext cx="105" cy="46"/>
              </a:xfrm>
              <a:custGeom>
                <a:avLst/>
                <a:gdLst>
                  <a:gd name="T0" fmla="*/ 0 w 105"/>
                  <a:gd name="T1" fmla="*/ 0 h 46"/>
                  <a:gd name="T2" fmla="*/ 42 w 105"/>
                  <a:gd name="T3" fmla="*/ 0 h 46"/>
                  <a:gd name="T4" fmla="*/ 48 w 105"/>
                  <a:gd name="T5" fmla="*/ 0 h 46"/>
                  <a:gd name="T6" fmla="*/ 53 w 105"/>
                  <a:gd name="T7" fmla="*/ 5 h 46"/>
                  <a:gd name="T8" fmla="*/ 56 w 105"/>
                  <a:gd name="T9" fmla="*/ 10 h 46"/>
                  <a:gd name="T10" fmla="*/ 62 w 105"/>
                  <a:gd name="T11" fmla="*/ 13 h 46"/>
                  <a:gd name="T12" fmla="*/ 65 w 105"/>
                  <a:gd name="T13" fmla="*/ 18 h 46"/>
                  <a:gd name="T14" fmla="*/ 70 w 105"/>
                  <a:gd name="T15" fmla="*/ 23 h 46"/>
                  <a:gd name="T16" fmla="*/ 73 w 105"/>
                  <a:gd name="T17" fmla="*/ 28 h 46"/>
                  <a:gd name="T18" fmla="*/ 76 w 105"/>
                  <a:gd name="T19" fmla="*/ 33 h 46"/>
                  <a:gd name="T20" fmla="*/ 82 w 105"/>
                  <a:gd name="T21" fmla="*/ 38 h 46"/>
                  <a:gd name="T22" fmla="*/ 87 w 105"/>
                  <a:gd name="T23" fmla="*/ 40 h 46"/>
                  <a:gd name="T24" fmla="*/ 93 w 105"/>
                  <a:gd name="T25" fmla="*/ 43 h 46"/>
                  <a:gd name="T26" fmla="*/ 98 w 105"/>
                  <a:gd name="T27" fmla="*/ 45 h 46"/>
                  <a:gd name="T28" fmla="*/ 104 w 105"/>
                  <a:gd name="T29" fmla="*/ 45 h 4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5"/>
                  <a:gd name="T46" fmla="*/ 0 h 46"/>
                  <a:gd name="T47" fmla="*/ 105 w 105"/>
                  <a:gd name="T48" fmla="*/ 46 h 4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5" h="46">
                    <a:moveTo>
                      <a:pt x="0" y="0"/>
                    </a:moveTo>
                    <a:lnTo>
                      <a:pt x="42" y="0"/>
                    </a:lnTo>
                    <a:lnTo>
                      <a:pt x="48" y="0"/>
                    </a:lnTo>
                    <a:lnTo>
                      <a:pt x="53" y="5"/>
                    </a:lnTo>
                    <a:lnTo>
                      <a:pt x="56" y="10"/>
                    </a:lnTo>
                    <a:lnTo>
                      <a:pt x="62" y="13"/>
                    </a:lnTo>
                    <a:lnTo>
                      <a:pt x="65" y="18"/>
                    </a:lnTo>
                    <a:lnTo>
                      <a:pt x="70" y="23"/>
                    </a:lnTo>
                    <a:lnTo>
                      <a:pt x="73" y="28"/>
                    </a:lnTo>
                    <a:lnTo>
                      <a:pt x="76" y="33"/>
                    </a:lnTo>
                    <a:lnTo>
                      <a:pt x="82" y="38"/>
                    </a:lnTo>
                    <a:lnTo>
                      <a:pt x="87" y="40"/>
                    </a:lnTo>
                    <a:lnTo>
                      <a:pt x="93" y="43"/>
                    </a:lnTo>
                    <a:lnTo>
                      <a:pt x="98" y="45"/>
                    </a:lnTo>
                    <a:lnTo>
                      <a:pt x="104" y="45"/>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495" name="Freeform 506"/>
              <p:cNvSpPr>
                <a:spLocks/>
              </p:cNvSpPr>
              <p:nvPr/>
            </p:nvSpPr>
            <p:spPr bwMode="auto">
              <a:xfrm>
                <a:off x="1786" y="2774"/>
                <a:ext cx="38" cy="76"/>
              </a:xfrm>
              <a:custGeom>
                <a:avLst/>
                <a:gdLst>
                  <a:gd name="T0" fmla="*/ 0 w 38"/>
                  <a:gd name="T1" fmla="*/ 0 h 76"/>
                  <a:gd name="T2" fmla="*/ 3 w 38"/>
                  <a:gd name="T3" fmla="*/ 5 h 76"/>
                  <a:gd name="T4" fmla="*/ 3 w 38"/>
                  <a:gd name="T5" fmla="*/ 10 h 76"/>
                  <a:gd name="T6" fmla="*/ 3 w 38"/>
                  <a:gd name="T7" fmla="*/ 15 h 76"/>
                  <a:gd name="T8" fmla="*/ 0 w 38"/>
                  <a:gd name="T9" fmla="*/ 20 h 76"/>
                  <a:gd name="T10" fmla="*/ 0 w 38"/>
                  <a:gd name="T11" fmla="*/ 25 h 76"/>
                  <a:gd name="T12" fmla="*/ 0 w 38"/>
                  <a:gd name="T13" fmla="*/ 30 h 76"/>
                  <a:gd name="T14" fmla="*/ 0 w 38"/>
                  <a:gd name="T15" fmla="*/ 35 h 76"/>
                  <a:gd name="T16" fmla="*/ 0 w 38"/>
                  <a:gd name="T17" fmla="*/ 40 h 76"/>
                  <a:gd name="T18" fmla="*/ 6 w 38"/>
                  <a:gd name="T19" fmla="*/ 45 h 76"/>
                  <a:gd name="T20" fmla="*/ 11 w 38"/>
                  <a:gd name="T21" fmla="*/ 50 h 76"/>
                  <a:gd name="T22" fmla="*/ 14 w 38"/>
                  <a:gd name="T23" fmla="*/ 55 h 76"/>
                  <a:gd name="T24" fmla="*/ 20 w 38"/>
                  <a:gd name="T25" fmla="*/ 60 h 76"/>
                  <a:gd name="T26" fmla="*/ 23 w 38"/>
                  <a:gd name="T27" fmla="*/ 65 h 76"/>
                  <a:gd name="T28" fmla="*/ 28 w 38"/>
                  <a:gd name="T29" fmla="*/ 70 h 76"/>
                  <a:gd name="T30" fmla="*/ 31 w 38"/>
                  <a:gd name="T31" fmla="*/ 75 h 76"/>
                  <a:gd name="T32" fmla="*/ 37 w 38"/>
                  <a:gd name="T33" fmla="*/ 75 h 7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8"/>
                  <a:gd name="T52" fmla="*/ 0 h 76"/>
                  <a:gd name="T53" fmla="*/ 38 w 38"/>
                  <a:gd name="T54" fmla="*/ 76 h 7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8" h="76">
                    <a:moveTo>
                      <a:pt x="0" y="0"/>
                    </a:moveTo>
                    <a:lnTo>
                      <a:pt x="3" y="5"/>
                    </a:lnTo>
                    <a:lnTo>
                      <a:pt x="3" y="10"/>
                    </a:lnTo>
                    <a:lnTo>
                      <a:pt x="3" y="15"/>
                    </a:lnTo>
                    <a:lnTo>
                      <a:pt x="0" y="20"/>
                    </a:lnTo>
                    <a:lnTo>
                      <a:pt x="0" y="25"/>
                    </a:lnTo>
                    <a:lnTo>
                      <a:pt x="0" y="30"/>
                    </a:lnTo>
                    <a:lnTo>
                      <a:pt x="0" y="35"/>
                    </a:lnTo>
                    <a:lnTo>
                      <a:pt x="0" y="40"/>
                    </a:lnTo>
                    <a:lnTo>
                      <a:pt x="6" y="45"/>
                    </a:lnTo>
                    <a:lnTo>
                      <a:pt x="11" y="50"/>
                    </a:lnTo>
                    <a:lnTo>
                      <a:pt x="14" y="55"/>
                    </a:lnTo>
                    <a:lnTo>
                      <a:pt x="20" y="60"/>
                    </a:lnTo>
                    <a:lnTo>
                      <a:pt x="23" y="65"/>
                    </a:lnTo>
                    <a:lnTo>
                      <a:pt x="28" y="70"/>
                    </a:lnTo>
                    <a:lnTo>
                      <a:pt x="31" y="75"/>
                    </a:lnTo>
                    <a:lnTo>
                      <a:pt x="37" y="75"/>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496" name="Freeform 507"/>
              <p:cNvSpPr>
                <a:spLocks/>
              </p:cNvSpPr>
              <p:nvPr/>
            </p:nvSpPr>
            <p:spPr bwMode="auto">
              <a:xfrm>
                <a:off x="1943" y="2741"/>
                <a:ext cx="85" cy="51"/>
              </a:xfrm>
              <a:custGeom>
                <a:avLst/>
                <a:gdLst>
                  <a:gd name="T0" fmla="*/ 0 w 85"/>
                  <a:gd name="T1" fmla="*/ 50 h 51"/>
                  <a:gd name="T2" fmla="*/ 17 w 85"/>
                  <a:gd name="T3" fmla="*/ 43 h 51"/>
                  <a:gd name="T4" fmla="*/ 20 w 85"/>
                  <a:gd name="T5" fmla="*/ 38 h 51"/>
                  <a:gd name="T6" fmla="*/ 22 w 85"/>
                  <a:gd name="T7" fmla="*/ 33 h 51"/>
                  <a:gd name="T8" fmla="*/ 28 w 85"/>
                  <a:gd name="T9" fmla="*/ 30 h 51"/>
                  <a:gd name="T10" fmla="*/ 34 w 85"/>
                  <a:gd name="T11" fmla="*/ 30 h 51"/>
                  <a:gd name="T12" fmla="*/ 39 w 85"/>
                  <a:gd name="T13" fmla="*/ 30 h 51"/>
                  <a:gd name="T14" fmla="*/ 45 w 85"/>
                  <a:gd name="T15" fmla="*/ 30 h 51"/>
                  <a:gd name="T16" fmla="*/ 50 w 85"/>
                  <a:gd name="T17" fmla="*/ 30 h 51"/>
                  <a:gd name="T18" fmla="*/ 56 w 85"/>
                  <a:gd name="T19" fmla="*/ 30 h 51"/>
                  <a:gd name="T20" fmla="*/ 62 w 85"/>
                  <a:gd name="T21" fmla="*/ 28 h 51"/>
                  <a:gd name="T22" fmla="*/ 64 w 85"/>
                  <a:gd name="T23" fmla="*/ 23 h 51"/>
                  <a:gd name="T24" fmla="*/ 70 w 85"/>
                  <a:gd name="T25" fmla="*/ 18 h 51"/>
                  <a:gd name="T26" fmla="*/ 76 w 85"/>
                  <a:gd name="T27" fmla="*/ 15 h 51"/>
                  <a:gd name="T28" fmla="*/ 78 w 85"/>
                  <a:gd name="T29" fmla="*/ 10 h 51"/>
                  <a:gd name="T30" fmla="*/ 81 w 85"/>
                  <a:gd name="T31" fmla="*/ 5 h 51"/>
                  <a:gd name="T32" fmla="*/ 84 w 85"/>
                  <a:gd name="T33" fmla="*/ 0 h 5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5"/>
                  <a:gd name="T52" fmla="*/ 0 h 51"/>
                  <a:gd name="T53" fmla="*/ 85 w 85"/>
                  <a:gd name="T54" fmla="*/ 51 h 5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5" h="51">
                    <a:moveTo>
                      <a:pt x="0" y="50"/>
                    </a:moveTo>
                    <a:lnTo>
                      <a:pt x="17" y="43"/>
                    </a:lnTo>
                    <a:lnTo>
                      <a:pt x="20" y="38"/>
                    </a:lnTo>
                    <a:lnTo>
                      <a:pt x="22" y="33"/>
                    </a:lnTo>
                    <a:lnTo>
                      <a:pt x="28" y="30"/>
                    </a:lnTo>
                    <a:lnTo>
                      <a:pt x="34" y="30"/>
                    </a:lnTo>
                    <a:lnTo>
                      <a:pt x="39" y="30"/>
                    </a:lnTo>
                    <a:lnTo>
                      <a:pt x="45" y="30"/>
                    </a:lnTo>
                    <a:lnTo>
                      <a:pt x="50" y="30"/>
                    </a:lnTo>
                    <a:lnTo>
                      <a:pt x="56" y="30"/>
                    </a:lnTo>
                    <a:lnTo>
                      <a:pt x="62" y="28"/>
                    </a:lnTo>
                    <a:lnTo>
                      <a:pt x="64" y="23"/>
                    </a:lnTo>
                    <a:lnTo>
                      <a:pt x="70" y="18"/>
                    </a:lnTo>
                    <a:lnTo>
                      <a:pt x="76" y="15"/>
                    </a:lnTo>
                    <a:lnTo>
                      <a:pt x="78" y="10"/>
                    </a:lnTo>
                    <a:lnTo>
                      <a:pt x="81" y="5"/>
                    </a:lnTo>
                    <a:lnTo>
                      <a:pt x="84" y="0"/>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497" name="Freeform 508"/>
              <p:cNvSpPr>
                <a:spLocks/>
              </p:cNvSpPr>
              <p:nvPr/>
            </p:nvSpPr>
            <p:spPr bwMode="auto">
              <a:xfrm>
                <a:off x="1617" y="2684"/>
                <a:ext cx="145" cy="13"/>
              </a:xfrm>
              <a:custGeom>
                <a:avLst/>
                <a:gdLst>
                  <a:gd name="T0" fmla="*/ 0 w 145"/>
                  <a:gd name="T1" fmla="*/ 2 h 13"/>
                  <a:gd name="T2" fmla="*/ 17 w 145"/>
                  <a:gd name="T3" fmla="*/ 2 h 13"/>
                  <a:gd name="T4" fmla="*/ 23 w 145"/>
                  <a:gd name="T5" fmla="*/ 2 h 13"/>
                  <a:gd name="T6" fmla="*/ 28 w 145"/>
                  <a:gd name="T7" fmla="*/ 0 h 13"/>
                  <a:gd name="T8" fmla="*/ 34 w 145"/>
                  <a:gd name="T9" fmla="*/ 0 h 13"/>
                  <a:gd name="T10" fmla="*/ 40 w 145"/>
                  <a:gd name="T11" fmla="*/ 0 h 13"/>
                  <a:gd name="T12" fmla="*/ 45 w 145"/>
                  <a:gd name="T13" fmla="*/ 0 h 13"/>
                  <a:gd name="T14" fmla="*/ 59 w 145"/>
                  <a:gd name="T15" fmla="*/ 0 h 13"/>
                  <a:gd name="T16" fmla="*/ 71 w 145"/>
                  <a:gd name="T17" fmla="*/ 5 h 13"/>
                  <a:gd name="T18" fmla="*/ 82 w 145"/>
                  <a:gd name="T19" fmla="*/ 5 h 13"/>
                  <a:gd name="T20" fmla="*/ 93 w 145"/>
                  <a:gd name="T21" fmla="*/ 5 h 13"/>
                  <a:gd name="T22" fmla="*/ 104 w 145"/>
                  <a:gd name="T23" fmla="*/ 5 h 13"/>
                  <a:gd name="T24" fmla="*/ 116 w 145"/>
                  <a:gd name="T25" fmla="*/ 10 h 13"/>
                  <a:gd name="T26" fmla="*/ 127 w 145"/>
                  <a:gd name="T27" fmla="*/ 10 h 13"/>
                  <a:gd name="T28" fmla="*/ 133 w 145"/>
                  <a:gd name="T29" fmla="*/ 12 h 13"/>
                  <a:gd name="T30" fmla="*/ 138 w 145"/>
                  <a:gd name="T31" fmla="*/ 12 h 13"/>
                  <a:gd name="T32" fmla="*/ 144 w 145"/>
                  <a:gd name="T33" fmla="*/ 12 h 1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45"/>
                  <a:gd name="T52" fmla="*/ 0 h 13"/>
                  <a:gd name="T53" fmla="*/ 145 w 145"/>
                  <a:gd name="T54" fmla="*/ 13 h 1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45" h="13">
                    <a:moveTo>
                      <a:pt x="0" y="2"/>
                    </a:moveTo>
                    <a:lnTo>
                      <a:pt x="17" y="2"/>
                    </a:lnTo>
                    <a:lnTo>
                      <a:pt x="23" y="2"/>
                    </a:lnTo>
                    <a:lnTo>
                      <a:pt x="28" y="0"/>
                    </a:lnTo>
                    <a:lnTo>
                      <a:pt x="34" y="0"/>
                    </a:lnTo>
                    <a:lnTo>
                      <a:pt x="40" y="0"/>
                    </a:lnTo>
                    <a:lnTo>
                      <a:pt x="45" y="0"/>
                    </a:lnTo>
                    <a:lnTo>
                      <a:pt x="59" y="0"/>
                    </a:lnTo>
                    <a:lnTo>
                      <a:pt x="71" y="5"/>
                    </a:lnTo>
                    <a:lnTo>
                      <a:pt x="82" y="5"/>
                    </a:lnTo>
                    <a:lnTo>
                      <a:pt x="93" y="5"/>
                    </a:lnTo>
                    <a:lnTo>
                      <a:pt x="104" y="5"/>
                    </a:lnTo>
                    <a:lnTo>
                      <a:pt x="116" y="10"/>
                    </a:lnTo>
                    <a:lnTo>
                      <a:pt x="127" y="10"/>
                    </a:lnTo>
                    <a:lnTo>
                      <a:pt x="133" y="12"/>
                    </a:lnTo>
                    <a:lnTo>
                      <a:pt x="138" y="12"/>
                    </a:lnTo>
                    <a:lnTo>
                      <a:pt x="144" y="12"/>
                    </a:lnTo>
                  </a:path>
                </a:pathLst>
              </a:custGeom>
              <a:noFill/>
              <a:ln w="12700" cap="rnd" cmpd="sng">
                <a:solidFill>
                  <a:srgbClr val="4BCD00"/>
                </a:solidFill>
                <a:prstDash val="solid"/>
                <a:round/>
                <a:headEnd type="none" w="med" len="med"/>
                <a:tailEnd type="none" w="med" len="med"/>
              </a:ln>
            </p:spPr>
            <p:txBody>
              <a:bodyPr/>
              <a:lstStyle/>
              <a:p>
                <a:endParaRPr lang="en-US"/>
              </a:p>
            </p:txBody>
          </p:sp>
          <p:sp>
            <p:nvSpPr>
              <p:cNvPr id="17498" name="Freeform 509"/>
              <p:cNvSpPr>
                <a:spLocks/>
              </p:cNvSpPr>
              <p:nvPr/>
            </p:nvSpPr>
            <p:spPr bwMode="auto">
              <a:xfrm>
                <a:off x="2093" y="2626"/>
                <a:ext cx="25" cy="146"/>
              </a:xfrm>
              <a:custGeom>
                <a:avLst/>
                <a:gdLst>
                  <a:gd name="T0" fmla="*/ 19 w 25"/>
                  <a:gd name="T1" fmla="*/ 0 h 146"/>
                  <a:gd name="T2" fmla="*/ 16 w 25"/>
                  <a:gd name="T3" fmla="*/ 5 h 146"/>
                  <a:gd name="T4" fmla="*/ 11 w 25"/>
                  <a:gd name="T5" fmla="*/ 10 h 146"/>
                  <a:gd name="T6" fmla="*/ 8 w 25"/>
                  <a:gd name="T7" fmla="*/ 15 h 146"/>
                  <a:gd name="T8" fmla="*/ 5 w 25"/>
                  <a:gd name="T9" fmla="*/ 20 h 146"/>
                  <a:gd name="T10" fmla="*/ 3 w 25"/>
                  <a:gd name="T11" fmla="*/ 25 h 146"/>
                  <a:gd name="T12" fmla="*/ 3 w 25"/>
                  <a:gd name="T13" fmla="*/ 30 h 146"/>
                  <a:gd name="T14" fmla="*/ 8 w 25"/>
                  <a:gd name="T15" fmla="*/ 43 h 146"/>
                  <a:gd name="T16" fmla="*/ 8 w 25"/>
                  <a:gd name="T17" fmla="*/ 53 h 146"/>
                  <a:gd name="T18" fmla="*/ 11 w 25"/>
                  <a:gd name="T19" fmla="*/ 65 h 146"/>
                  <a:gd name="T20" fmla="*/ 13 w 25"/>
                  <a:gd name="T21" fmla="*/ 78 h 146"/>
                  <a:gd name="T22" fmla="*/ 19 w 25"/>
                  <a:gd name="T23" fmla="*/ 88 h 146"/>
                  <a:gd name="T24" fmla="*/ 19 w 25"/>
                  <a:gd name="T25" fmla="*/ 98 h 146"/>
                  <a:gd name="T26" fmla="*/ 24 w 25"/>
                  <a:gd name="T27" fmla="*/ 108 h 146"/>
                  <a:gd name="T28" fmla="*/ 24 w 25"/>
                  <a:gd name="T29" fmla="*/ 118 h 146"/>
                  <a:gd name="T30" fmla="*/ 24 w 25"/>
                  <a:gd name="T31" fmla="*/ 128 h 146"/>
                  <a:gd name="T32" fmla="*/ 21 w 25"/>
                  <a:gd name="T33" fmla="*/ 133 h 146"/>
                  <a:gd name="T34" fmla="*/ 11 w 25"/>
                  <a:gd name="T35" fmla="*/ 138 h 146"/>
                  <a:gd name="T36" fmla="*/ 5 w 25"/>
                  <a:gd name="T37" fmla="*/ 143 h 146"/>
                  <a:gd name="T38" fmla="*/ 0 w 25"/>
                  <a:gd name="T39" fmla="*/ 145 h 14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5"/>
                  <a:gd name="T61" fmla="*/ 0 h 146"/>
                  <a:gd name="T62" fmla="*/ 25 w 25"/>
                  <a:gd name="T63" fmla="*/ 146 h 14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5" h="146">
                    <a:moveTo>
                      <a:pt x="19" y="0"/>
                    </a:moveTo>
                    <a:lnTo>
                      <a:pt x="16" y="5"/>
                    </a:lnTo>
                    <a:lnTo>
                      <a:pt x="11" y="10"/>
                    </a:lnTo>
                    <a:lnTo>
                      <a:pt x="8" y="15"/>
                    </a:lnTo>
                    <a:lnTo>
                      <a:pt x="5" y="20"/>
                    </a:lnTo>
                    <a:lnTo>
                      <a:pt x="3" y="25"/>
                    </a:lnTo>
                    <a:lnTo>
                      <a:pt x="3" y="30"/>
                    </a:lnTo>
                    <a:lnTo>
                      <a:pt x="8" y="43"/>
                    </a:lnTo>
                    <a:lnTo>
                      <a:pt x="8" y="53"/>
                    </a:lnTo>
                    <a:lnTo>
                      <a:pt x="11" y="65"/>
                    </a:lnTo>
                    <a:lnTo>
                      <a:pt x="13" y="78"/>
                    </a:lnTo>
                    <a:lnTo>
                      <a:pt x="19" y="88"/>
                    </a:lnTo>
                    <a:lnTo>
                      <a:pt x="19" y="98"/>
                    </a:lnTo>
                    <a:lnTo>
                      <a:pt x="24" y="108"/>
                    </a:lnTo>
                    <a:lnTo>
                      <a:pt x="24" y="118"/>
                    </a:lnTo>
                    <a:lnTo>
                      <a:pt x="24" y="128"/>
                    </a:lnTo>
                    <a:lnTo>
                      <a:pt x="21" y="133"/>
                    </a:lnTo>
                    <a:lnTo>
                      <a:pt x="11" y="138"/>
                    </a:lnTo>
                    <a:lnTo>
                      <a:pt x="5" y="143"/>
                    </a:lnTo>
                    <a:lnTo>
                      <a:pt x="0" y="145"/>
                    </a:lnTo>
                  </a:path>
                </a:pathLst>
              </a:custGeom>
              <a:noFill/>
              <a:ln w="12700" cap="rnd" cmpd="sng">
                <a:solidFill>
                  <a:srgbClr val="4BCD00"/>
                </a:solidFill>
                <a:prstDash val="solid"/>
                <a:round/>
                <a:headEnd type="none" w="med" len="med"/>
                <a:tailEnd type="none" w="med" len="med"/>
              </a:ln>
            </p:spPr>
            <p:txBody>
              <a:bodyPr/>
              <a:lstStyle/>
              <a:p>
                <a:endParaRPr lang="en-US"/>
              </a:p>
            </p:txBody>
          </p:sp>
        </p:grpSp>
      </p:grpSp>
      <p:sp>
        <p:nvSpPr>
          <p:cNvPr id="17434" name="Line 510"/>
          <p:cNvSpPr>
            <a:spLocks noChangeShapeType="1"/>
          </p:cNvSpPr>
          <p:nvPr/>
        </p:nvSpPr>
        <p:spPr bwMode="auto">
          <a:xfrm>
            <a:off x="2257425" y="5946775"/>
            <a:ext cx="1327150" cy="0"/>
          </a:xfrm>
          <a:prstGeom prst="line">
            <a:avLst/>
          </a:prstGeom>
          <a:noFill/>
          <a:ln w="28575">
            <a:solidFill>
              <a:schemeClr val="tx1"/>
            </a:solidFill>
            <a:round/>
            <a:headEnd/>
            <a:tailEnd/>
          </a:ln>
        </p:spPr>
        <p:txBody>
          <a:bodyPr anchor="ctr">
            <a:spAutoFit/>
          </a:bodyPr>
          <a:lstStyle/>
          <a:p>
            <a:endParaRPr lang="en-US"/>
          </a:p>
        </p:txBody>
      </p:sp>
      <p:sp>
        <p:nvSpPr>
          <p:cNvPr id="17435" name="Line 511"/>
          <p:cNvSpPr>
            <a:spLocks noChangeShapeType="1"/>
          </p:cNvSpPr>
          <p:nvPr/>
        </p:nvSpPr>
        <p:spPr bwMode="auto">
          <a:xfrm>
            <a:off x="5648325" y="5946775"/>
            <a:ext cx="1311275" cy="0"/>
          </a:xfrm>
          <a:prstGeom prst="line">
            <a:avLst/>
          </a:prstGeom>
          <a:noFill/>
          <a:ln w="28575">
            <a:solidFill>
              <a:schemeClr val="tx1"/>
            </a:solidFill>
            <a:round/>
            <a:headEnd/>
            <a:tailEnd/>
          </a:ln>
        </p:spPr>
        <p:txBody>
          <a:bodyPr anchor="ctr">
            <a:spAutoFit/>
          </a:bodyPr>
          <a:lstStyle/>
          <a:p>
            <a:endParaRPr lang="en-US"/>
          </a:p>
        </p:txBody>
      </p:sp>
      <p:cxnSp>
        <p:nvCxnSpPr>
          <p:cNvPr id="17436" name="AutoShape 512"/>
          <p:cNvCxnSpPr>
            <a:cxnSpLocks noChangeShapeType="1"/>
          </p:cNvCxnSpPr>
          <p:nvPr/>
        </p:nvCxnSpPr>
        <p:spPr bwMode="auto">
          <a:xfrm rot="5400000">
            <a:off x="6694488" y="3000375"/>
            <a:ext cx="479425" cy="650875"/>
          </a:xfrm>
          <a:prstGeom prst="bentConnector3">
            <a:avLst>
              <a:gd name="adj1" fmla="val 48676"/>
            </a:avLst>
          </a:prstGeom>
          <a:noFill/>
          <a:ln w="28575">
            <a:solidFill>
              <a:schemeClr val="tx1"/>
            </a:solidFill>
            <a:miter lim="800000"/>
            <a:headEnd/>
            <a:tailEnd type="triangle" w="med" len="med"/>
          </a:ln>
        </p:spPr>
      </p:cxnSp>
      <p:cxnSp>
        <p:nvCxnSpPr>
          <p:cNvPr id="17437" name="AutoShape 513"/>
          <p:cNvCxnSpPr>
            <a:cxnSpLocks noChangeShapeType="1"/>
          </p:cNvCxnSpPr>
          <p:nvPr/>
        </p:nvCxnSpPr>
        <p:spPr bwMode="auto">
          <a:xfrm rot="16200000" flipH="1">
            <a:off x="7774781" y="2963069"/>
            <a:ext cx="479425" cy="725488"/>
          </a:xfrm>
          <a:prstGeom prst="bentConnector3">
            <a:avLst>
              <a:gd name="adj1" fmla="val 48676"/>
            </a:avLst>
          </a:prstGeom>
          <a:noFill/>
          <a:ln w="28575">
            <a:solidFill>
              <a:schemeClr val="tx1"/>
            </a:solidFill>
            <a:miter lim="800000"/>
            <a:headEnd/>
            <a:tailEnd type="triangle" w="med" len="med"/>
          </a:ln>
        </p:spPr>
      </p:cxnSp>
      <p:sp>
        <p:nvSpPr>
          <p:cNvPr id="17438" name="Rectangle 514"/>
          <p:cNvSpPr>
            <a:spLocks noChangeArrowheads="1"/>
          </p:cNvSpPr>
          <p:nvPr/>
        </p:nvSpPr>
        <p:spPr bwMode="auto">
          <a:xfrm>
            <a:off x="195263" y="4276725"/>
            <a:ext cx="3176587" cy="369888"/>
          </a:xfrm>
          <a:prstGeom prst="rect">
            <a:avLst/>
          </a:prstGeom>
          <a:noFill/>
          <a:ln w="28575">
            <a:solidFill>
              <a:schemeClr val="tx1"/>
            </a:solidFill>
            <a:miter lim="800000"/>
            <a:headEnd/>
            <a:tailEnd/>
          </a:ln>
        </p:spPr>
        <p:txBody>
          <a:bodyPr anchor="ctr">
            <a:spAutoFit/>
          </a:bodyPr>
          <a:lstStyle/>
          <a:p>
            <a:endParaRPr lang="en-NZ">
              <a:latin typeface="Calibri" pitchFamily="34" charset="0"/>
            </a:endParaRPr>
          </a:p>
        </p:txBody>
      </p:sp>
      <p:sp>
        <p:nvSpPr>
          <p:cNvPr id="17439" name="Rectangle 515"/>
          <p:cNvSpPr>
            <a:spLocks noChangeArrowheads="1"/>
          </p:cNvSpPr>
          <p:nvPr/>
        </p:nvSpPr>
        <p:spPr bwMode="auto">
          <a:xfrm>
            <a:off x="5730875" y="3635375"/>
            <a:ext cx="3176588" cy="368300"/>
          </a:xfrm>
          <a:prstGeom prst="rect">
            <a:avLst/>
          </a:prstGeom>
          <a:noFill/>
          <a:ln w="28575">
            <a:solidFill>
              <a:schemeClr val="tx1"/>
            </a:solidFill>
            <a:miter lim="800000"/>
            <a:headEnd/>
            <a:tailEnd/>
          </a:ln>
        </p:spPr>
        <p:txBody>
          <a:bodyPr anchor="ctr">
            <a:spAutoFit/>
          </a:bodyPr>
          <a:lstStyle/>
          <a:p>
            <a:endParaRPr lang="en-NZ">
              <a:latin typeface="Calibri" pitchFamily="34" charset="0"/>
            </a:endParaRPr>
          </a:p>
        </p:txBody>
      </p:sp>
      <p:cxnSp>
        <p:nvCxnSpPr>
          <p:cNvPr id="17440" name="AutoShape 516"/>
          <p:cNvCxnSpPr>
            <a:cxnSpLocks noChangeShapeType="1"/>
          </p:cNvCxnSpPr>
          <p:nvPr/>
        </p:nvCxnSpPr>
        <p:spPr bwMode="auto">
          <a:xfrm rot="5400000">
            <a:off x="870744" y="2999581"/>
            <a:ext cx="479425" cy="652463"/>
          </a:xfrm>
          <a:prstGeom prst="bentConnector3">
            <a:avLst>
              <a:gd name="adj1" fmla="val 48676"/>
            </a:avLst>
          </a:prstGeom>
          <a:noFill/>
          <a:ln w="28575">
            <a:solidFill>
              <a:schemeClr val="tx1"/>
            </a:solidFill>
            <a:miter lim="800000"/>
            <a:headEnd/>
            <a:tailEnd type="triangle" w="med" len="med"/>
          </a:ln>
        </p:spPr>
      </p:cxnSp>
      <p:cxnSp>
        <p:nvCxnSpPr>
          <p:cNvPr id="17441" name="AutoShape 517"/>
          <p:cNvCxnSpPr>
            <a:cxnSpLocks noChangeShapeType="1"/>
          </p:cNvCxnSpPr>
          <p:nvPr/>
        </p:nvCxnSpPr>
        <p:spPr bwMode="auto">
          <a:xfrm rot="16200000" flipH="1">
            <a:off x="1951831" y="2963069"/>
            <a:ext cx="479425" cy="725488"/>
          </a:xfrm>
          <a:prstGeom prst="bentConnector3">
            <a:avLst>
              <a:gd name="adj1" fmla="val 48676"/>
            </a:avLst>
          </a:prstGeom>
          <a:noFill/>
          <a:ln w="28575">
            <a:solidFill>
              <a:schemeClr val="tx1"/>
            </a:solidFill>
            <a:miter lim="800000"/>
            <a:headEnd/>
            <a:tailEnd type="triangle" w="med" len="med"/>
          </a:ln>
        </p:spPr>
      </p:cxnSp>
      <p:sp>
        <p:nvSpPr>
          <p:cNvPr id="17442" name="Line 518"/>
          <p:cNvSpPr>
            <a:spLocks noChangeShapeType="1"/>
          </p:cNvSpPr>
          <p:nvPr/>
        </p:nvSpPr>
        <p:spPr bwMode="auto">
          <a:xfrm>
            <a:off x="1700213" y="4605338"/>
            <a:ext cx="0" cy="219075"/>
          </a:xfrm>
          <a:prstGeom prst="line">
            <a:avLst/>
          </a:prstGeom>
          <a:noFill/>
          <a:ln w="28575">
            <a:solidFill>
              <a:schemeClr val="tx1"/>
            </a:solidFill>
            <a:round/>
            <a:headEnd/>
            <a:tailEnd type="triangle" w="med" len="med"/>
          </a:ln>
        </p:spPr>
        <p:txBody>
          <a:bodyPr anchor="ctr">
            <a:spAutoFit/>
          </a:bodyPr>
          <a:lstStyle/>
          <a:p>
            <a:endParaRPr lang="en-US"/>
          </a:p>
        </p:txBody>
      </p:sp>
      <p:sp>
        <p:nvSpPr>
          <p:cNvPr id="17443" name="Line 519"/>
          <p:cNvSpPr>
            <a:spLocks noChangeShapeType="1"/>
          </p:cNvSpPr>
          <p:nvPr/>
        </p:nvSpPr>
        <p:spPr bwMode="auto">
          <a:xfrm>
            <a:off x="7721600" y="4605338"/>
            <a:ext cx="0" cy="239712"/>
          </a:xfrm>
          <a:prstGeom prst="line">
            <a:avLst/>
          </a:prstGeom>
          <a:noFill/>
          <a:ln w="28575">
            <a:solidFill>
              <a:schemeClr val="tx1"/>
            </a:solidFill>
            <a:round/>
            <a:headEnd/>
            <a:tailEnd type="triangle" w="med" len="med"/>
          </a:ln>
        </p:spPr>
        <p:txBody>
          <a:bodyPr anchor="ctr">
            <a:spAutoFit/>
          </a:bodyPr>
          <a:lstStyle/>
          <a:p>
            <a:endParaRPr lang="en-US"/>
          </a:p>
        </p:txBody>
      </p:sp>
      <p:sp>
        <p:nvSpPr>
          <p:cNvPr id="17444" name="Line 520"/>
          <p:cNvSpPr>
            <a:spLocks noChangeShapeType="1"/>
          </p:cNvSpPr>
          <p:nvPr/>
        </p:nvSpPr>
        <p:spPr bwMode="auto">
          <a:xfrm>
            <a:off x="5283200" y="914400"/>
            <a:ext cx="2693988" cy="0"/>
          </a:xfrm>
          <a:prstGeom prst="line">
            <a:avLst/>
          </a:prstGeom>
          <a:noFill/>
          <a:ln w="38100">
            <a:solidFill>
              <a:schemeClr val="tx1"/>
            </a:solidFill>
            <a:round/>
            <a:headEnd type="triangle" w="med" len="med"/>
            <a:tailEnd type="triangle" w="med" len="med"/>
          </a:ln>
        </p:spPr>
        <p:txBody>
          <a:bodyPr anchor="ctr">
            <a:spAutoFit/>
          </a:bodyPr>
          <a:lstStyle/>
          <a:p>
            <a:endParaRPr lang="en-US"/>
          </a:p>
        </p:txBody>
      </p:sp>
      <p:sp>
        <p:nvSpPr>
          <p:cNvPr id="17445" name="Line 521"/>
          <p:cNvSpPr>
            <a:spLocks noChangeShapeType="1"/>
          </p:cNvSpPr>
          <p:nvPr/>
        </p:nvSpPr>
        <p:spPr bwMode="auto">
          <a:xfrm>
            <a:off x="1219200" y="914400"/>
            <a:ext cx="2693988" cy="0"/>
          </a:xfrm>
          <a:prstGeom prst="line">
            <a:avLst/>
          </a:prstGeom>
          <a:noFill/>
          <a:ln w="38100">
            <a:solidFill>
              <a:schemeClr val="tx1"/>
            </a:solidFill>
            <a:round/>
            <a:headEnd type="triangle" w="med" len="med"/>
            <a:tailEnd type="triangle" w="med" len="med"/>
          </a:ln>
        </p:spPr>
        <p:txBody>
          <a:bodyPr anchor="ctr">
            <a:spAutoFit/>
          </a:bodyPr>
          <a:lstStyle/>
          <a:p>
            <a:endParaRPr lang="en-US"/>
          </a:p>
        </p:txBody>
      </p:sp>
      <p:sp>
        <p:nvSpPr>
          <p:cNvPr id="17446" name="Rectangle 524">
            <a:hlinkClick r:id="rId5" action="ppaction://hlinksldjump"/>
          </p:cNvPr>
          <p:cNvSpPr>
            <a:spLocks noChangeArrowheads="1"/>
          </p:cNvSpPr>
          <p:nvPr/>
        </p:nvSpPr>
        <p:spPr bwMode="auto">
          <a:xfrm>
            <a:off x="192088" y="1978025"/>
            <a:ext cx="2830512" cy="366713"/>
          </a:xfrm>
          <a:prstGeom prst="rect">
            <a:avLst/>
          </a:prstGeom>
          <a:noFill/>
          <a:ln w="9525">
            <a:noFill/>
            <a:miter lim="800000"/>
            <a:headEnd/>
            <a:tailEnd/>
          </a:ln>
        </p:spPr>
        <p:txBody>
          <a:bodyPr lIns="90488" tIns="44450" rIns="90488" bIns="44450">
            <a:spAutoFit/>
          </a:bodyPr>
          <a:lstStyle/>
          <a:p>
            <a:pPr algn="ctr"/>
            <a:r>
              <a:rPr lang="en-US" b="1">
                <a:solidFill>
                  <a:schemeClr val="tx2"/>
                </a:solidFill>
              </a:rPr>
              <a:t>3-Energy Utilization</a:t>
            </a:r>
            <a:endParaRPr lang="en-US">
              <a:solidFill>
                <a:schemeClr val="tx2"/>
              </a:solidFill>
            </a:endParaRPr>
          </a:p>
        </p:txBody>
      </p:sp>
      <p:sp>
        <p:nvSpPr>
          <p:cNvPr id="17447" name="Rectangle 526">
            <a:hlinkClick r:id="rId6" action="ppaction://hlinksldjump"/>
          </p:cNvPr>
          <p:cNvSpPr>
            <a:spLocks noChangeArrowheads="1"/>
          </p:cNvSpPr>
          <p:nvPr/>
        </p:nvSpPr>
        <p:spPr bwMode="auto">
          <a:xfrm>
            <a:off x="192088" y="2432050"/>
            <a:ext cx="2773362" cy="366713"/>
          </a:xfrm>
          <a:prstGeom prst="rect">
            <a:avLst/>
          </a:prstGeom>
          <a:noFill/>
          <a:ln w="9525">
            <a:noFill/>
            <a:miter lim="800000"/>
            <a:headEnd/>
            <a:tailEnd/>
          </a:ln>
        </p:spPr>
        <p:txBody>
          <a:bodyPr lIns="90488" tIns="44450" rIns="90488" bIns="44450">
            <a:spAutoFit/>
          </a:bodyPr>
          <a:lstStyle/>
          <a:p>
            <a:pPr algn="ctr"/>
            <a:r>
              <a:rPr lang="en-US" b="1">
                <a:solidFill>
                  <a:schemeClr val="tx2"/>
                </a:solidFill>
              </a:rPr>
              <a:t>6-Protein Utilization</a:t>
            </a:r>
          </a:p>
        </p:txBody>
      </p:sp>
      <p:sp>
        <p:nvSpPr>
          <p:cNvPr id="17448" name="Rectangle 527">
            <a:hlinkClick r:id="rId7" action="ppaction://hlinksldjump"/>
          </p:cNvPr>
          <p:cNvSpPr>
            <a:spLocks noChangeArrowheads="1"/>
          </p:cNvSpPr>
          <p:nvPr/>
        </p:nvSpPr>
        <p:spPr bwMode="auto">
          <a:xfrm>
            <a:off x="6407150" y="1898650"/>
            <a:ext cx="2519363" cy="366713"/>
          </a:xfrm>
          <a:prstGeom prst="rect">
            <a:avLst/>
          </a:prstGeom>
          <a:noFill/>
          <a:ln w="9525">
            <a:noFill/>
            <a:miter lim="800000"/>
            <a:headEnd/>
            <a:tailEnd/>
          </a:ln>
        </p:spPr>
        <p:txBody>
          <a:bodyPr lIns="90488" tIns="44450" rIns="90488" bIns="44450">
            <a:spAutoFit/>
          </a:bodyPr>
          <a:lstStyle/>
          <a:p>
            <a:r>
              <a:rPr lang="en-US" b="1">
                <a:solidFill>
                  <a:schemeClr val="tx2"/>
                </a:solidFill>
              </a:rPr>
              <a:t>4-Energy Value</a:t>
            </a:r>
          </a:p>
        </p:txBody>
      </p:sp>
      <p:sp>
        <p:nvSpPr>
          <p:cNvPr id="17449" name="Rectangle 528">
            <a:hlinkClick r:id="rId8" action="ppaction://hlinksldjump"/>
          </p:cNvPr>
          <p:cNvSpPr>
            <a:spLocks noChangeArrowheads="1"/>
          </p:cNvSpPr>
          <p:nvPr/>
        </p:nvSpPr>
        <p:spPr bwMode="auto">
          <a:xfrm>
            <a:off x="7112000" y="5099050"/>
            <a:ext cx="1971675" cy="366713"/>
          </a:xfrm>
          <a:prstGeom prst="rect">
            <a:avLst/>
          </a:prstGeom>
          <a:noFill/>
          <a:ln w="9525">
            <a:noFill/>
            <a:miter lim="800000"/>
            <a:headEnd/>
            <a:tailEnd/>
          </a:ln>
        </p:spPr>
        <p:txBody>
          <a:bodyPr lIns="90488" tIns="44450" rIns="90488" bIns="44450">
            <a:spAutoFit/>
          </a:bodyPr>
          <a:lstStyle/>
          <a:p>
            <a:r>
              <a:rPr lang="en-US" b="1">
                <a:solidFill>
                  <a:schemeClr val="tx2"/>
                </a:solidFill>
              </a:rPr>
              <a:t>   5-Energy</a:t>
            </a:r>
          </a:p>
        </p:txBody>
      </p:sp>
      <p:sp>
        <p:nvSpPr>
          <p:cNvPr id="17450" name="Rectangle 529"/>
          <p:cNvSpPr>
            <a:spLocks noChangeArrowheads="1"/>
          </p:cNvSpPr>
          <p:nvPr/>
        </p:nvSpPr>
        <p:spPr bwMode="auto">
          <a:xfrm>
            <a:off x="6407150" y="2533650"/>
            <a:ext cx="2460625" cy="366713"/>
          </a:xfrm>
          <a:prstGeom prst="rect">
            <a:avLst/>
          </a:prstGeom>
          <a:noFill/>
          <a:ln w="9525">
            <a:noFill/>
            <a:miter lim="800000"/>
            <a:headEnd/>
            <a:tailEnd/>
          </a:ln>
        </p:spPr>
        <p:txBody>
          <a:bodyPr lIns="90488" tIns="44450" rIns="90488" bIns="44450">
            <a:spAutoFit/>
          </a:bodyPr>
          <a:lstStyle/>
          <a:p>
            <a:r>
              <a:rPr lang="en-US" b="1">
                <a:solidFill>
                  <a:schemeClr val="tx2"/>
                </a:solidFill>
              </a:rPr>
              <a:t>7-RDP/RUP Value</a:t>
            </a:r>
          </a:p>
        </p:txBody>
      </p:sp>
      <p:sp>
        <p:nvSpPr>
          <p:cNvPr id="17451" name="Rectangle 530"/>
          <p:cNvSpPr>
            <a:spLocks noChangeArrowheads="1"/>
          </p:cNvSpPr>
          <p:nvPr/>
        </p:nvSpPr>
        <p:spPr bwMode="auto">
          <a:xfrm>
            <a:off x="7112000" y="5518150"/>
            <a:ext cx="1971675" cy="366713"/>
          </a:xfrm>
          <a:prstGeom prst="rect">
            <a:avLst/>
          </a:prstGeom>
          <a:noFill/>
          <a:ln w="9525">
            <a:noFill/>
            <a:miter lim="800000"/>
            <a:headEnd/>
            <a:tailEnd/>
          </a:ln>
        </p:spPr>
        <p:txBody>
          <a:bodyPr lIns="90488" tIns="44450" rIns="90488" bIns="44450">
            <a:spAutoFit/>
          </a:bodyPr>
          <a:lstStyle/>
          <a:p>
            <a:r>
              <a:rPr lang="en-US" b="1">
                <a:solidFill>
                  <a:schemeClr val="tx2"/>
                </a:solidFill>
              </a:rPr>
              <a:t>   8-Protein</a:t>
            </a:r>
          </a:p>
        </p:txBody>
      </p:sp>
      <p:sp>
        <p:nvSpPr>
          <p:cNvPr id="17452" name="Rectangle 531"/>
          <p:cNvSpPr>
            <a:spLocks noChangeArrowheads="1"/>
          </p:cNvSpPr>
          <p:nvPr/>
        </p:nvSpPr>
        <p:spPr bwMode="auto">
          <a:xfrm>
            <a:off x="236538" y="5099050"/>
            <a:ext cx="1971675" cy="366713"/>
          </a:xfrm>
          <a:prstGeom prst="rect">
            <a:avLst/>
          </a:prstGeom>
          <a:noFill/>
          <a:ln w="9525">
            <a:noFill/>
            <a:miter lim="800000"/>
            <a:headEnd/>
            <a:tailEnd/>
          </a:ln>
        </p:spPr>
        <p:txBody>
          <a:bodyPr lIns="90488" tIns="44450" rIns="90488" bIns="44450">
            <a:spAutoFit/>
          </a:bodyPr>
          <a:lstStyle/>
          <a:p>
            <a:r>
              <a:rPr lang="en-US" b="1">
                <a:solidFill>
                  <a:schemeClr val="tx2"/>
                </a:solidFill>
              </a:rPr>
              <a:t>   9-Energy</a:t>
            </a:r>
          </a:p>
        </p:txBody>
      </p:sp>
      <p:sp>
        <p:nvSpPr>
          <p:cNvPr id="17453" name="Rectangle 532"/>
          <p:cNvSpPr>
            <a:spLocks noChangeArrowheads="1"/>
          </p:cNvSpPr>
          <p:nvPr/>
        </p:nvSpPr>
        <p:spPr bwMode="auto">
          <a:xfrm>
            <a:off x="236538" y="5518150"/>
            <a:ext cx="1971675" cy="366713"/>
          </a:xfrm>
          <a:prstGeom prst="rect">
            <a:avLst/>
          </a:prstGeom>
          <a:noFill/>
          <a:ln w="9525">
            <a:noFill/>
            <a:miter lim="800000"/>
            <a:headEnd/>
            <a:tailEnd/>
          </a:ln>
        </p:spPr>
        <p:txBody>
          <a:bodyPr lIns="90488" tIns="44450" rIns="90488" bIns="44450">
            <a:spAutoFit/>
          </a:bodyPr>
          <a:lstStyle/>
          <a:p>
            <a:r>
              <a:rPr lang="en-US" b="1">
                <a:solidFill>
                  <a:schemeClr val="tx2"/>
                </a:solidFill>
              </a:rPr>
              <a:t>   10-Protein</a:t>
            </a:r>
          </a:p>
        </p:txBody>
      </p:sp>
      <p:sp>
        <p:nvSpPr>
          <p:cNvPr id="17454" name="Text Box 533"/>
          <p:cNvSpPr txBox="1">
            <a:spLocks noChangeArrowheads="1"/>
          </p:cNvSpPr>
          <p:nvPr/>
        </p:nvSpPr>
        <p:spPr bwMode="auto">
          <a:xfrm>
            <a:off x="1504950" y="3819525"/>
            <a:ext cx="417513" cy="369888"/>
          </a:xfrm>
          <a:prstGeom prst="rect">
            <a:avLst/>
          </a:prstGeom>
          <a:noFill/>
          <a:ln w="9525">
            <a:noFill/>
            <a:miter lim="800000"/>
            <a:headEnd/>
            <a:tailEnd/>
          </a:ln>
        </p:spPr>
        <p:txBody>
          <a:bodyPr wrap="none">
            <a:spAutoFit/>
          </a:bodyPr>
          <a:lstStyle/>
          <a:p>
            <a:r>
              <a:rPr lang="en-US" b="1">
                <a:solidFill>
                  <a:schemeClr val="tx2"/>
                </a:solidFill>
                <a:latin typeface="Calibri" pitchFamily="34" charset="0"/>
              </a:rPr>
              <a:t>11</a:t>
            </a:r>
          </a:p>
        </p:txBody>
      </p:sp>
      <p:sp>
        <p:nvSpPr>
          <p:cNvPr id="17455" name="Text Box 534"/>
          <p:cNvSpPr txBox="1">
            <a:spLocks noChangeArrowheads="1"/>
          </p:cNvSpPr>
          <p:nvPr/>
        </p:nvSpPr>
        <p:spPr bwMode="auto">
          <a:xfrm>
            <a:off x="3973513" y="5334000"/>
            <a:ext cx="1193800" cy="646113"/>
          </a:xfrm>
          <a:prstGeom prst="rect">
            <a:avLst/>
          </a:prstGeom>
          <a:noFill/>
          <a:ln w="9525">
            <a:noFill/>
            <a:miter lim="800000"/>
            <a:headEnd/>
            <a:tailEnd/>
          </a:ln>
        </p:spPr>
        <p:txBody>
          <a:bodyPr wrap="none">
            <a:spAutoFit/>
          </a:bodyPr>
          <a:lstStyle/>
          <a:p>
            <a:pPr algn="ctr"/>
            <a:r>
              <a:rPr lang="en-US" b="1">
                <a:solidFill>
                  <a:schemeClr val="tx2"/>
                </a:solidFill>
                <a:latin typeface="Calibri" pitchFamily="34" charset="0"/>
              </a:rPr>
              <a:t>12- NRC</a:t>
            </a:r>
          </a:p>
          <a:p>
            <a:pPr algn="ctr"/>
            <a:r>
              <a:rPr lang="en-US" b="1">
                <a:solidFill>
                  <a:schemeClr val="tx2"/>
                </a:solidFill>
                <a:latin typeface="Calibri" pitchFamily="34" charset="0"/>
              </a:rPr>
              <a:t>Guidelines</a:t>
            </a: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Slide Number Placeholder 5"/>
          <p:cNvSpPr>
            <a:spLocks noGrp="1"/>
          </p:cNvSpPr>
          <p:nvPr>
            <p:ph type="sldNum" sz="quarter" idx="12"/>
          </p:nvPr>
        </p:nvSpPr>
        <p:spPr>
          <a:xfrm>
            <a:off x="6686550" y="6356350"/>
            <a:ext cx="2133600" cy="365125"/>
          </a:xfrm>
        </p:spPr>
        <p:txBody>
          <a:bodyPr/>
          <a:lstStyle/>
          <a:p>
            <a:pPr>
              <a:defRPr/>
            </a:pPr>
            <a:r>
              <a:rPr lang="en-US" dirty="0"/>
              <a:t> </a:t>
            </a:r>
            <a:endParaRPr lang="en-US" sz="1800" dirty="0">
              <a:solidFill>
                <a:schemeClr val="tx1"/>
              </a:solidFill>
            </a:endParaRPr>
          </a:p>
        </p:txBody>
      </p:sp>
      <p:sp>
        <p:nvSpPr>
          <p:cNvPr id="18434" name="Rectangle 3"/>
          <p:cNvSpPr>
            <a:spLocks noChangeArrowheads="1"/>
          </p:cNvSpPr>
          <p:nvPr/>
        </p:nvSpPr>
        <p:spPr bwMode="auto">
          <a:xfrm>
            <a:off x="339725" y="2159000"/>
            <a:ext cx="715963" cy="346075"/>
          </a:xfrm>
          <a:prstGeom prst="rect">
            <a:avLst/>
          </a:prstGeom>
          <a:noFill/>
          <a:ln w="9525">
            <a:noFill/>
            <a:miter lim="800000"/>
            <a:headEnd/>
            <a:tailEnd/>
          </a:ln>
        </p:spPr>
        <p:txBody>
          <a:bodyPr wrap="none" lIns="93662" tIns="47625" rIns="93662" bIns="47625">
            <a:spAutoFit/>
          </a:bodyPr>
          <a:lstStyle/>
          <a:p>
            <a:pPr defTabSz="933450">
              <a:lnSpc>
                <a:spcPct val="90000"/>
              </a:lnSpc>
            </a:pPr>
            <a:r>
              <a:rPr lang="en-US"/>
              <a:t>Feed</a:t>
            </a:r>
          </a:p>
        </p:txBody>
      </p:sp>
      <p:sp>
        <p:nvSpPr>
          <p:cNvPr id="18435" name="Rectangle 5"/>
          <p:cNvSpPr>
            <a:spLocks noGrp="1" noChangeArrowheads="1"/>
          </p:cNvSpPr>
          <p:nvPr>
            <p:ph type="ctrTitle"/>
          </p:nvPr>
        </p:nvSpPr>
        <p:spPr>
          <a:xfrm>
            <a:off x="1450975" y="206375"/>
            <a:ext cx="6518275" cy="552450"/>
          </a:xfrm>
        </p:spPr>
        <p:txBody>
          <a:bodyPr wrap="none" lIns="93662" tIns="47625" rIns="93662" bIns="47625"/>
          <a:lstStyle/>
          <a:p>
            <a:pPr eaLnBrk="1" hangingPunct="1"/>
            <a:r>
              <a:rPr lang="en-US" sz="3200" b="1" smtClean="0"/>
              <a:t>NUTRIENTS - CHEMICAL COMPOSITION OF FEED</a:t>
            </a:r>
          </a:p>
        </p:txBody>
      </p:sp>
      <p:sp>
        <p:nvSpPr>
          <p:cNvPr id="18436" name="Rectangle 6"/>
          <p:cNvSpPr>
            <a:spLocks noChangeArrowheads="1"/>
          </p:cNvSpPr>
          <p:nvPr/>
        </p:nvSpPr>
        <p:spPr bwMode="auto">
          <a:xfrm>
            <a:off x="309563" y="2135188"/>
            <a:ext cx="692150" cy="347662"/>
          </a:xfrm>
          <a:prstGeom prst="rect">
            <a:avLst/>
          </a:prstGeom>
          <a:noFill/>
          <a:ln w="25400">
            <a:solidFill>
              <a:srgbClr val="FC0128"/>
            </a:solidFill>
            <a:miter lim="800000"/>
            <a:headEnd/>
            <a:tailEnd/>
          </a:ln>
        </p:spPr>
        <p:txBody>
          <a:bodyPr wrap="none" anchor="ctr"/>
          <a:lstStyle/>
          <a:p>
            <a:endParaRPr lang="en-NZ">
              <a:latin typeface="Calibri" pitchFamily="34" charset="0"/>
            </a:endParaRPr>
          </a:p>
        </p:txBody>
      </p:sp>
      <p:grpSp>
        <p:nvGrpSpPr>
          <p:cNvPr id="534540" name="Group 12"/>
          <p:cNvGrpSpPr>
            <a:grpSpLocks/>
          </p:cNvGrpSpPr>
          <p:nvPr/>
        </p:nvGrpSpPr>
        <p:grpSpPr bwMode="auto">
          <a:xfrm>
            <a:off x="1465263" y="1838325"/>
            <a:ext cx="1865312" cy="4233863"/>
            <a:chOff x="1038" y="1282"/>
            <a:chExt cx="1322" cy="2667"/>
          </a:xfrm>
        </p:grpSpPr>
        <p:sp>
          <p:nvSpPr>
            <p:cNvPr id="18574" name="Rectangle 13"/>
            <p:cNvSpPr>
              <a:spLocks noChangeArrowheads="1"/>
            </p:cNvSpPr>
            <p:nvPr/>
          </p:nvSpPr>
          <p:spPr bwMode="auto">
            <a:xfrm>
              <a:off x="1048" y="1283"/>
              <a:ext cx="1195" cy="349"/>
            </a:xfrm>
            <a:prstGeom prst="rect">
              <a:avLst/>
            </a:prstGeom>
            <a:noFill/>
            <a:ln w="9525">
              <a:noFill/>
              <a:miter lim="800000"/>
              <a:headEnd/>
              <a:tailEnd/>
            </a:ln>
          </p:spPr>
          <p:txBody>
            <a:bodyPr wrap="none" lIns="79375" tIns="41275" rIns="79375" bIns="41275">
              <a:spAutoFit/>
            </a:bodyPr>
            <a:lstStyle/>
            <a:p>
              <a:pPr defTabSz="674688">
                <a:lnSpc>
                  <a:spcPct val="85000"/>
                </a:lnSpc>
              </a:pPr>
              <a:r>
                <a:rPr lang="en-US"/>
                <a:t>Organic matter</a:t>
              </a:r>
            </a:p>
            <a:p>
              <a:pPr defTabSz="674688">
                <a:lnSpc>
                  <a:spcPct val="85000"/>
                </a:lnSpc>
              </a:pPr>
              <a:r>
                <a:rPr lang="en-US"/>
                <a:t>(C,H,O,N)</a:t>
              </a:r>
            </a:p>
          </p:txBody>
        </p:sp>
        <p:sp>
          <p:nvSpPr>
            <p:cNvPr id="18575" name="Rectangle 14"/>
            <p:cNvSpPr>
              <a:spLocks noChangeArrowheads="1"/>
            </p:cNvSpPr>
            <p:nvPr/>
          </p:nvSpPr>
          <p:spPr bwMode="auto">
            <a:xfrm>
              <a:off x="1049" y="3578"/>
              <a:ext cx="1311" cy="371"/>
            </a:xfrm>
            <a:prstGeom prst="rect">
              <a:avLst/>
            </a:prstGeom>
            <a:noFill/>
            <a:ln w="9525">
              <a:noFill/>
              <a:miter lim="800000"/>
              <a:headEnd/>
              <a:tailEnd/>
            </a:ln>
          </p:spPr>
          <p:txBody>
            <a:bodyPr wrap="none" lIns="90488" tIns="44450" rIns="90488" bIns="44450">
              <a:spAutoFit/>
            </a:bodyPr>
            <a:lstStyle/>
            <a:p>
              <a:pPr>
                <a:lnSpc>
                  <a:spcPct val="90000"/>
                </a:lnSpc>
              </a:pPr>
              <a:r>
                <a:rPr lang="en-US"/>
                <a:t>Inorganic matter</a:t>
              </a:r>
            </a:p>
            <a:p>
              <a:pPr>
                <a:lnSpc>
                  <a:spcPct val="90000"/>
                </a:lnSpc>
              </a:pPr>
              <a:r>
                <a:rPr lang="en-US"/>
                <a:t>(Minerals)</a:t>
              </a:r>
            </a:p>
          </p:txBody>
        </p:sp>
        <p:sp>
          <p:nvSpPr>
            <p:cNvPr id="18576" name="Rectangle 15"/>
            <p:cNvSpPr>
              <a:spLocks noChangeArrowheads="1"/>
            </p:cNvSpPr>
            <p:nvPr/>
          </p:nvSpPr>
          <p:spPr bwMode="auto">
            <a:xfrm>
              <a:off x="1038" y="1282"/>
              <a:ext cx="1205" cy="317"/>
            </a:xfrm>
            <a:prstGeom prst="rect">
              <a:avLst/>
            </a:prstGeom>
            <a:noFill/>
            <a:ln w="25400">
              <a:solidFill>
                <a:schemeClr val="hlink"/>
              </a:solidFill>
              <a:miter lim="800000"/>
              <a:headEnd/>
              <a:tailEnd/>
            </a:ln>
          </p:spPr>
          <p:txBody>
            <a:bodyPr wrap="none" anchor="ctr"/>
            <a:lstStyle/>
            <a:p>
              <a:endParaRPr lang="en-NZ">
                <a:latin typeface="Calibri" pitchFamily="34" charset="0"/>
              </a:endParaRPr>
            </a:p>
          </p:txBody>
        </p:sp>
        <p:sp>
          <p:nvSpPr>
            <p:cNvPr id="18577" name="Rectangle 16"/>
            <p:cNvSpPr>
              <a:spLocks noChangeArrowheads="1"/>
            </p:cNvSpPr>
            <p:nvPr/>
          </p:nvSpPr>
          <p:spPr bwMode="auto">
            <a:xfrm>
              <a:off x="1040" y="3584"/>
              <a:ext cx="1309" cy="344"/>
            </a:xfrm>
            <a:prstGeom prst="rect">
              <a:avLst/>
            </a:prstGeom>
            <a:noFill/>
            <a:ln w="25400">
              <a:solidFill>
                <a:schemeClr val="hlink"/>
              </a:solidFill>
              <a:miter lim="800000"/>
              <a:headEnd/>
              <a:tailEnd/>
            </a:ln>
          </p:spPr>
          <p:txBody>
            <a:bodyPr wrap="none" anchor="ctr"/>
            <a:lstStyle/>
            <a:p>
              <a:endParaRPr lang="en-NZ">
                <a:latin typeface="Calibri" pitchFamily="34" charset="0"/>
              </a:endParaRPr>
            </a:p>
          </p:txBody>
        </p:sp>
        <p:sp>
          <p:nvSpPr>
            <p:cNvPr id="18578" name="Line 17"/>
            <p:cNvSpPr>
              <a:spLocks noChangeShapeType="1"/>
            </p:cNvSpPr>
            <p:nvPr/>
          </p:nvSpPr>
          <p:spPr bwMode="auto">
            <a:xfrm flipV="1">
              <a:off x="1039" y="1530"/>
              <a:ext cx="0" cy="779"/>
            </a:xfrm>
            <a:prstGeom prst="line">
              <a:avLst/>
            </a:prstGeom>
            <a:noFill/>
            <a:ln w="25400">
              <a:solidFill>
                <a:schemeClr val="hlink"/>
              </a:solidFill>
              <a:round/>
              <a:headEnd/>
              <a:tailEnd/>
            </a:ln>
          </p:spPr>
          <p:txBody>
            <a:bodyPr wrap="none" anchor="ctr"/>
            <a:lstStyle/>
            <a:p>
              <a:endParaRPr lang="en-US"/>
            </a:p>
          </p:txBody>
        </p:sp>
        <p:sp>
          <p:nvSpPr>
            <p:cNvPr id="18579" name="Line 18"/>
            <p:cNvSpPr>
              <a:spLocks noChangeShapeType="1"/>
            </p:cNvSpPr>
            <p:nvPr/>
          </p:nvSpPr>
          <p:spPr bwMode="auto">
            <a:xfrm>
              <a:off x="1039" y="2672"/>
              <a:ext cx="0" cy="1064"/>
            </a:xfrm>
            <a:prstGeom prst="line">
              <a:avLst/>
            </a:prstGeom>
            <a:noFill/>
            <a:ln w="25400">
              <a:solidFill>
                <a:schemeClr val="hlink"/>
              </a:solidFill>
              <a:round/>
              <a:headEnd/>
              <a:tailEnd/>
            </a:ln>
          </p:spPr>
          <p:txBody>
            <a:bodyPr wrap="none" anchor="ctr"/>
            <a:lstStyle/>
            <a:p>
              <a:endParaRPr lang="en-US"/>
            </a:p>
          </p:txBody>
        </p:sp>
      </p:grpSp>
      <p:grpSp>
        <p:nvGrpSpPr>
          <p:cNvPr id="534676" name="Group 148"/>
          <p:cNvGrpSpPr>
            <a:grpSpLocks/>
          </p:cNvGrpSpPr>
          <p:nvPr/>
        </p:nvGrpSpPr>
        <p:grpSpPr bwMode="auto">
          <a:xfrm>
            <a:off x="711200" y="1141413"/>
            <a:ext cx="1090613" cy="2906712"/>
            <a:chOff x="504" y="719"/>
            <a:chExt cx="773" cy="1831"/>
          </a:xfrm>
        </p:grpSpPr>
        <p:sp>
          <p:nvSpPr>
            <p:cNvPr id="18566" name="Rectangle 2"/>
            <p:cNvSpPr>
              <a:spLocks noChangeArrowheads="1"/>
            </p:cNvSpPr>
            <p:nvPr/>
          </p:nvSpPr>
          <p:spPr bwMode="auto">
            <a:xfrm>
              <a:off x="713" y="726"/>
              <a:ext cx="564" cy="218"/>
            </a:xfrm>
            <a:prstGeom prst="rect">
              <a:avLst/>
            </a:prstGeom>
            <a:noFill/>
            <a:ln w="9525">
              <a:noFill/>
              <a:miter lim="800000"/>
              <a:headEnd/>
              <a:tailEnd/>
            </a:ln>
          </p:spPr>
          <p:txBody>
            <a:bodyPr wrap="none" lIns="93662" tIns="47625" rIns="93662" bIns="47625">
              <a:spAutoFit/>
            </a:bodyPr>
            <a:lstStyle/>
            <a:p>
              <a:pPr defTabSz="933450">
                <a:lnSpc>
                  <a:spcPct val="90000"/>
                </a:lnSpc>
              </a:pPr>
              <a:r>
                <a:rPr lang="en-US"/>
                <a:t>Water</a:t>
              </a:r>
            </a:p>
          </p:txBody>
        </p:sp>
        <p:sp>
          <p:nvSpPr>
            <p:cNvPr id="18567" name="Rectangle 4"/>
            <p:cNvSpPr>
              <a:spLocks noChangeArrowheads="1"/>
            </p:cNvSpPr>
            <p:nvPr/>
          </p:nvSpPr>
          <p:spPr bwMode="auto">
            <a:xfrm>
              <a:off x="668" y="2179"/>
              <a:ext cx="593" cy="371"/>
            </a:xfrm>
            <a:prstGeom prst="rect">
              <a:avLst/>
            </a:prstGeom>
            <a:noFill/>
            <a:ln w="9525">
              <a:noFill/>
              <a:miter lim="800000"/>
              <a:headEnd/>
              <a:tailEnd/>
            </a:ln>
          </p:spPr>
          <p:txBody>
            <a:bodyPr wrap="none" lIns="90488" tIns="44450" rIns="90488" bIns="44450">
              <a:spAutoFit/>
            </a:bodyPr>
            <a:lstStyle/>
            <a:p>
              <a:pPr algn="ctr">
                <a:lnSpc>
                  <a:spcPct val="90000"/>
                </a:lnSpc>
              </a:pPr>
              <a:r>
                <a:rPr lang="en-US"/>
                <a:t>Dry </a:t>
              </a:r>
            </a:p>
            <a:p>
              <a:pPr algn="ctr">
                <a:lnSpc>
                  <a:spcPct val="90000"/>
                </a:lnSpc>
              </a:pPr>
              <a:r>
                <a:rPr lang="en-US"/>
                <a:t>Matter</a:t>
              </a:r>
            </a:p>
          </p:txBody>
        </p:sp>
        <p:sp>
          <p:nvSpPr>
            <p:cNvPr id="18568" name="Rectangle 7"/>
            <p:cNvSpPr>
              <a:spLocks noChangeArrowheads="1"/>
            </p:cNvSpPr>
            <p:nvPr/>
          </p:nvSpPr>
          <p:spPr bwMode="auto">
            <a:xfrm>
              <a:off x="704" y="719"/>
              <a:ext cx="478" cy="197"/>
            </a:xfrm>
            <a:prstGeom prst="rect">
              <a:avLst/>
            </a:prstGeom>
            <a:noFill/>
            <a:ln w="25400">
              <a:solidFill>
                <a:schemeClr val="hlink"/>
              </a:solidFill>
              <a:miter lim="800000"/>
              <a:headEnd/>
              <a:tailEnd/>
            </a:ln>
          </p:spPr>
          <p:txBody>
            <a:bodyPr wrap="none" anchor="ctr"/>
            <a:lstStyle/>
            <a:p>
              <a:endParaRPr lang="en-NZ">
                <a:latin typeface="Calibri" pitchFamily="34" charset="0"/>
              </a:endParaRPr>
            </a:p>
          </p:txBody>
        </p:sp>
        <p:sp>
          <p:nvSpPr>
            <p:cNvPr id="18569" name="Rectangle 8"/>
            <p:cNvSpPr>
              <a:spLocks noChangeArrowheads="1"/>
            </p:cNvSpPr>
            <p:nvPr/>
          </p:nvSpPr>
          <p:spPr bwMode="auto">
            <a:xfrm>
              <a:off x="706" y="2185"/>
              <a:ext cx="550" cy="347"/>
            </a:xfrm>
            <a:prstGeom prst="rect">
              <a:avLst/>
            </a:prstGeom>
            <a:noFill/>
            <a:ln w="25400">
              <a:solidFill>
                <a:schemeClr val="hlink"/>
              </a:solidFill>
              <a:miter lim="800000"/>
              <a:headEnd/>
              <a:tailEnd/>
            </a:ln>
          </p:spPr>
          <p:txBody>
            <a:bodyPr wrap="none" anchor="ctr"/>
            <a:lstStyle/>
            <a:p>
              <a:endParaRPr lang="en-NZ">
                <a:latin typeface="Calibri" pitchFamily="34" charset="0"/>
              </a:endParaRPr>
            </a:p>
          </p:txBody>
        </p:sp>
        <p:sp>
          <p:nvSpPr>
            <p:cNvPr id="18570" name="Line 9"/>
            <p:cNvSpPr>
              <a:spLocks noChangeShapeType="1"/>
            </p:cNvSpPr>
            <p:nvPr/>
          </p:nvSpPr>
          <p:spPr bwMode="auto">
            <a:xfrm flipV="1">
              <a:off x="507" y="809"/>
              <a:ext cx="0" cy="536"/>
            </a:xfrm>
            <a:prstGeom prst="line">
              <a:avLst/>
            </a:prstGeom>
            <a:noFill/>
            <a:ln w="25400">
              <a:solidFill>
                <a:schemeClr val="hlink"/>
              </a:solidFill>
              <a:round/>
              <a:headEnd/>
              <a:tailEnd/>
            </a:ln>
          </p:spPr>
          <p:txBody>
            <a:bodyPr wrap="none" anchor="ctr"/>
            <a:lstStyle/>
            <a:p>
              <a:endParaRPr lang="en-US"/>
            </a:p>
          </p:txBody>
        </p:sp>
        <p:sp>
          <p:nvSpPr>
            <p:cNvPr id="18571" name="Line 10"/>
            <p:cNvSpPr>
              <a:spLocks noChangeShapeType="1"/>
            </p:cNvSpPr>
            <p:nvPr/>
          </p:nvSpPr>
          <p:spPr bwMode="auto">
            <a:xfrm>
              <a:off x="504" y="817"/>
              <a:ext cx="189" cy="0"/>
            </a:xfrm>
            <a:prstGeom prst="line">
              <a:avLst/>
            </a:prstGeom>
            <a:noFill/>
            <a:ln w="25400">
              <a:solidFill>
                <a:schemeClr val="hlink"/>
              </a:solidFill>
              <a:round/>
              <a:headEnd/>
              <a:tailEnd/>
            </a:ln>
          </p:spPr>
          <p:txBody>
            <a:bodyPr wrap="none" anchor="ctr"/>
            <a:lstStyle/>
            <a:p>
              <a:endParaRPr lang="en-US"/>
            </a:p>
          </p:txBody>
        </p:sp>
        <p:sp>
          <p:nvSpPr>
            <p:cNvPr id="18572" name="Line 11"/>
            <p:cNvSpPr>
              <a:spLocks noChangeShapeType="1"/>
            </p:cNvSpPr>
            <p:nvPr/>
          </p:nvSpPr>
          <p:spPr bwMode="auto">
            <a:xfrm>
              <a:off x="507" y="1580"/>
              <a:ext cx="0" cy="749"/>
            </a:xfrm>
            <a:prstGeom prst="line">
              <a:avLst/>
            </a:prstGeom>
            <a:noFill/>
            <a:ln w="25400">
              <a:solidFill>
                <a:schemeClr val="hlink"/>
              </a:solidFill>
              <a:round/>
              <a:headEnd/>
              <a:tailEnd/>
            </a:ln>
          </p:spPr>
          <p:txBody>
            <a:bodyPr wrap="none" anchor="ctr"/>
            <a:lstStyle/>
            <a:p>
              <a:endParaRPr lang="en-US"/>
            </a:p>
          </p:txBody>
        </p:sp>
        <p:sp>
          <p:nvSpPr>
            <p:cNvPr id="18573" name="Line 19"/>
            <p:cNvSpPr>
              <a:spLocks noChangeShapeType="1"/>
            </p:cNvSpPr>
            <p:nvPr/>
          </p:nvSpPr>
          <p:spPr bwMode="auto">
            <a:xfrm>
              <a:off x="506" y="2332"/>
              <a:ext cx="189" cy="0"/>
            </a:xfrm>
            <a:prstGeom prst="line">
              <a:avLst/>
            </a:prstGeom>
            <a:noFill/>
            <a:ln w="25400">
              <a:solidFill>
                <a:schemeClr val="hlink"/>
              </a:solidFill>
              <a:round/>
              <a:headEnd/>
              <a:tailEnd/>
            </a:ln>
          </p:spPr>
          <p:txBody>
            <a:bodyPr wrap="none" anchor="ctr"/>
            <a:lstStyle/>
            <a:p>
              <a:endParaRPr lang="en-US"/>
            </a:p>
          </p:txBody>
        </p:sp>
      </p:grpSp>
      <p:grpSp>
        <p:nvGrpSpPr>
          <p:cNvPr id="534548" name="Group 20"/>
          <p:cNvGrpSpPr>
            <a:grpSpLocks/>
          </p:cNvGrpSpPr>
          <p:nvPr/>
        </p:nvGrpSpPr>
        <p:grpSpPr bwMode="auto">
          <a:xfrm>
            <a:off x="2836863" y="3544888"/>
            <a:ext cx="5716587" cy="588962"/>
            <a:chOff x="2010" y="2357"/>
            <a:chExt cx="4051" cy="371"/>
          </a:xfrm>
        </p:grpSpPr>
        <p:sp>
          <p:nvSpPr>
            <p:cNvPr id="18561" name="Rectangle 21"/>
            <p:cNvSpPr>
              <a:spLocks noChangeArrowheads="1"/>
            </p:cNvSpPr>
            <p:nvPr/>
          </p:nvSpPr>
          <p:spPr bwMode="auto">
            <a:xfrm>
              <a:off x="2262" y="2357"/>
              <a:ext cx="975" cy="371"/>
            </a:xfrm>
            <a:prstGeom prst="rect">
              <a:avLst/>
            </a:prstGeom>
            <a:noFill/>
            <a:ln w="9525">
              <a:noFill/>
              <a:miter lim="800000"/>
              <a:headEnd/>
              <a:tailEnd/>
            </a:ln>
          </p:spPr>
          <p:txBody>
            <a:bodyPr wrap="none" lIns="90488" tIns="44450" rIns="90488" bIns="44450">
              <a:spAutoFit/>
            </a:bodyPr>
            <a:lstStyle/>
            <a:p>
              <a:pPr>
                <a:lnSpc>
                  <a:spcPct val="90000"/>
                </a:lnSpc>
              </a:pPr>
              <a:r>
                <a:rPr lang="en-US"/>
                <a:t>Phenolic</a:t>
              </a:r>
            </a:p>
            <a:p>
              <a:pPr>
                <a:lnSpc>
                  <a:spcPct val="90000"/>
                </a:lnSpc>
              </a:pPr>
              <a:r>
                <a:rPr lang="en-US"/>
                <a:t>compounds</a:t>
              </a:r>
            </a:p>
          </p:txBody>
        </p:sp>
        <p:sp>
          <p:nvSpPr>
            <p:cNvPr id="18562" name="Rectangle 22"/>
            <p:cNvSpPr>
              <a:spLocks noChangeArrowheads="1"/>
            </p:cNvSpPr>
            <p:nvPr/>
          </p:nvSpPr>
          <p:spPr bwMode="auto">
            <a:xfrm>
              <a:off x="4839" y="2431"/>
              <a:ext cx="1222" cy="192"/>
            </a:xfrm>
            <a:prstGeom prst="rect">
              <a:avLst/>
            </a:prstGeom>
            <a:noFill/>
            <a:ln w="9525">
              <a:noFill/>
              <a:miter lim="800000"/>
              <a:headEnd/>
              <a:tailEnd/>
            </a:ln>
          </p:spPr>
          <p:txBody>
            <a:bodyPr wrap="none" lIns="90488" tIns="44450" rIns="90488" bIns="44450">
              <a:spAutoFit/>
            </a:bodyPr>
            <a:lstStyle/>
            <a:p>
              <a:r>
                <a:rPr lang="en-US" sz="1400"/>
                <a:t>Lignin, tannins, etc.</a:t>
              </a:r>
            </a:p>
          </p:txBody>
        </p:sp>
        <p:sp>
          <p:nvSpPr>
            <p:cNvPr id="18563" name="Rectangle 23"/>
            <p:cNvSpPr>
              <a:spLocks noChangeArrowheads="1"/>
            </p:cNvSpPr>
            <p:nvPr/>
          </p:nvSpPr>
          <p:spPr bwMode="auto">
            <a:xfrm>
              <a:off x="2267" y="2360"/>
              <a:ext cx="842" cy="344"/>
            </a:xfrm>
            <a:prstGeom prst="rect">
              <a:avLst/>
            </a:prstGeom>
            <a:noFill/>
            <a:ln w="25400">
              <a:solidFill>
                <a:srgbClr val="063DE8"/>
              </a:solidFill>
              <a:miter lim="800000"/>
              <a:headEnd/>
              <a:tailEnd/>
            </a:ln>
          </p:spPr>
          <p:txBody>
            <a:bodyPr wrap="none" anchor="ctr"/>
            <a:lstStyle/>
            <a:p>
              <a:endParaRPr lang="en-NZ">
                <a:latin typeface="Calibri" pitchFamily="34" charset="0"/>
              </a:endParaRPr>
            </a:p>
          </p:txBody>
        </p:sp>
        <p:sp>
          <p:nvSpPr>
            <p:cNvPr id="18564" name="Line 24"/>
            <p:cNvSpPr>
              <a:spLocks noChangeShapeType="1"/>
            </p:cNvSpPr>
            <p:nvPr/>
          </p:nvSpPr>
          <p:spPr bwMode="auto">
            <a:xfrm>
              <a:off x="3120" y="2536"/>
              <a:ext cx="1564" cy="0"/>
            </a:xfrm>
            <a:prstGeom prst="line">
              <a:avLst/>
            </a:prstGeom>
            <a:noFill/>
            <a:ln w="25400">
              <a:solidFill>
                <a:srgbClr val="063DE8"/>
              </a:solidFill>
              <a:round/>
              <a:headEnd/>
              <a:tailEnd/>
            </a:ln>
          </p:spPr>
          <p:txBody>
            <a:bodyPr wrap="none" anchor="ctr"/>
            <a:lstStyle/>
            <a:p>
              <a:endParaRPr lang="en-US"/>
            </a:p>
          </p:txBody>
        </p:sp>
        <p:sp>
          <p:nvSpPr>
            <p:cNvPr id="18565" name="Line 25"/>
            <p:cNvSpPr>
              <a:spLocks noChangeShapeType="1"/>
            </p:cNvSpPr>
            <p:nvPr/>
          </p:nvSpPr>
          <p:spPr bwMode="auto">
            <a:xfrm>
              <a:off x="2010" y="2510"/>
              <a:ext cx="238" cy="0"/>
            </a:xfrm>
            <a:prstGeom prst="line">
              <a:avLst/>
            </a:prstGeom>
            <a:noFill/>
            <a:ln w="25400">
              <a:solidFill>
                <a:schemeClr val="hlink"/>
              </a:solidFill>
              <a:round/>
              <a:headEnd/>
              <a:tailEnd/>
            </a:ln>
          </p:spPr>
          <p:txBody>
            <a:bodyPr wrap="none" anchor="ctr"/>
            <a:lstStyle/>
            <a:p>
              <a:endParaRPr lang="en-US"/>
            </a:p>
          </p:txBody>
        </p:sp>
      </p:grpSp>
      <p:grpSp>
        <p:nvGrpSpPr>
          <p:cNvPr id="534554" name="Group 26"/>
          <p:cNvGrpSpPr>
            <a:grpSpLocks/>
          </p:cNvGrpSpPr>
          <p:nvPr/>
        </p:nvGrpSpPr>
        <p:grpSpPr bwMode="auto">
          <a:xfrm>
            <a:off x="2825750" y="4972050"/>
            <a:ext cx="5995988" cy="1319213"/>
            <a:chOff x="2002" y="3256"/>
            <a:chExt cx="4250" cy="831"/>
          </a:xfrm>
        </p:grpSpPr>
        <p:sp>
          <p:nvSpPr>
            <p:cNvPr id="18539" name="Rectangle 27"/>
            <p:cNvSpPr>
              <a:spLocks noChangeArrowheads="1"/>
            </p:cNvSpPr>
            <p:nvPr/>
          </p:nvSpPr>
          <p:spPr bwMode="auto">
            <a:xfrm>
              <a:off x="2539" y="3873"/>
              <a:ext cx="1429" cy="214"/>
            </a:xfrm>
            <a:prstGeom prst="rect">
              <a:avLst/>
            </a:prstGeom>
            <a:noFill/>
            <a:ln w="9525">
              <a:noFill/>
              <a:miter lim="800000"/>
              <a:headEnd/>
              <a:tailEnd/>
            </a:ln>
          </p:spPr>
          <p:txBody>
            <a:bodyPr wrap="none" lIns="90488" tIns="44450" rIns="90488" bIns="44450">
              <a:spAutoFit/>
            </a:bodyPr>
            <a:lstStyle/>
            <a:p>
              <a:pPr>
                <a:lnSpc>
                  <a:spcPct val="90000"/>
                </a:lnSpc>
              </a:pPr>
              <a:r>
                <a:rPr lang="en-US"/>
                <a:t>Possibly essential</a:t>
              </a:r>
            </a:p>
          </p:txBody>
        </p:sp>
        <p:sp>
          <p:nvSpPr>
            <p:cNvPr id="18540" name="Rectangle 28"/>
            <p:cNvSpPr>
              <a:spLocks noChangeArrowheads="1"/>
            </p:cNvSpPr>
            <p:nvPr/>
          </p:nvSpPr>
          <p:spPr bwMode="auto">
            <a:xfrm>
              <a:off x="2262" y="3341"/>
              <a:ext cx="793" cy="214"/>
            </a:xfrm>
            <a:prstGeom prst="rect">
              <a:avLst/>
            </a:prstGeom>
            <a:noFill/>
            <a:ln w="9525">
              <a:noFill/>
              <a:miter lim="800000"/>
              <a:headEnd/>
              <a:tailEnd/>
            </a:ln>
          </p:spPr>
          <p:txBody>
            <a:bodyPr wrap="none" lIns="90488" tIns="44450" rIns="90488" bIns="44450">
              <a:spAutoFit/>
            </a:bodyPr>
            <a:lstStyle/>
            <a:p>
              <a:pPr>
                <a:lnSpc>
                  <a:spcPct val="90000"/>
                </a:lnSpc>
              </a:pPr>
              <a:r>
                <a:rPr lang="en-US"/>
                <a:t>Essential</a:t>
              </a:r>
            </a:p>
          </p:txBody>
        </p:sp>
        <p:sp>
          <p:nvSpPr>
            <p:cNvPr id="18541" name="Rectangle 29"/>
            <p:cNvSpPr>
              <a:spLocks noChangeArrowheads="1"/>
            </p:cNvSpPr>
            <p:nvPr/>
          </p:nvSpPr>
          <p:spPr bwMode="auto">
            <a:xfrm>
              <a:off x="3429" y="3506"/>
              <a:ext cx="529" cy="214"/>
            </a:xfrm>
            <a:prstGeom prst="rect">
              <a:avLst/>
            </a:prstGeom>
            <a:noFill/>
            <a:ln w="9525">
              <a:noFill/>
              <a:miter lim="800000"/>
              <a:headEnd/>
              <a:tailEnd/>
            </a:ln>
          </p:spPr>
          <p:txBody>
            <a:bodyPr wrap="none" lIns="90488" tIns="44450" rIns="90488" bIns="44450">
              <a:spAutoFit/>
            </a:bodyPr>
            <a:lstStyle/>
            <a:p>
              <a:pPr>
                <a:lnSpc>
                  <a:spcPct val="90000"/>
                </a:lnSpc>
              </a:pPr>
              <a:r>
                <a:rPr lang="en-US"/>
                <a:t>Micro</a:t>
              </a:r>
            </a:p>
          </p:txBody>
        </p:sp>
        <p:sp>
          <p:nvSpPr>
            <p:cNvPr id="18542" name="Rectangle 30"/>
            <p:cNvSpPr>
              <a:spLocks noChangeArrowheads="1"/>
            </p:cNvSpPr>
            <p:nvPr/>
          </p:nvSpPr>
          <p:spPr bwMode="auto">
            <a:xfrm>
              <a:off x="3429" y="3282"/>
              <a:ext cx="584" cy="214"/>
            </a:xfrm>
            <a:prstGeom prst="rect">
              <a:avLst/>
            </a:prstGeom>
            <a:noFill/>
            <a:ln w="9525">
              <a:noFill/>
              <a:miter lim="800000"/>
              <a:headEnd/>
              <a:tailEnd/>
            </a:ln>
          </p:spPr>
          <p:txBody>
            <a:bodyPr wrap="none" lIns="90488" tIns="44450" rIns="90488" bIns="44450">
              <a:spAutoFit/>
            </a:bodyPr>
            <a:lstStyle/>
            <a:p>
              <a:pPr>
                <a:lnSpc>
                  <a:spcPct val="90000"/>
                </a:lnSpc>
              </a:pPr>
              <a:r>
                <a:rPr lang="en-US"/>
                <a:t>Macro</a:t>
              </a:r>
            </a:p>
          </p:txBody>
        </p:sp>
        <p:sp>
          <p:nvSpPr>
            <p:cNvPr id="18543" name="Rectangle 31"/>
            <p:cNvSpPr>
              <a:spLocks noChangeArrowheads="1"/>
            </p:cNvSpPr>
            <p:nvPr/>
          </p:nvSpPr>
          <p:spPr bwMode="auto">
            <a:xfrm>
              <a:off x="4839" y="3855"/>
              <a:ext cx="1239" cy="192"/>
            </a:xfrm>
            <a:prstGeom prst="rect">
              <a:avLst/>
            </a:prstGeom>
            <a:noFill/>
            <a:ln w="9525">
              <a:noFill/>
              <a:miter lim="800000"/>
              <a:headEnd/>
              <a:tailEnd/>
            </a:ln>
          </p:spPr>
          <p:txBody>
            <a:bodyPr wrap="none" lIns="90488" tIns="44450" rIns="90488" bIns="44450">
              <a:spAutoFit/>
            </a:bodyPr>
            <a:lstStyle/>
            <a:p>
              <a:r>
                <a:rPr lang="en-US" sz="1400"/>
                <a:t>Ba, Br, Ni, Sr, Sn, V</a:t>
              </a:r>
            </a:p>
          </p:txBody>
        </p:sp>
        <p:sp>
          <p:nvSpPr>
            <p:cNvPr id="18544" name="Rectangle 32"/>
            <p:cNvSpPr>
              <a:spLocks noChangeArrowheads="1"/>
            </p:cNvSpPr>
            <p:nvPr/>
          </p:nvSpPr>
          <p:spPr bwMode="auto">
            <a:xfrm>
              <a:off x="4847" y="3487"/>
              <a:ext cx="1215" cy="328"/>
            </a:xfrm>
            <a:prstGeom prst="rect">
              <a:avLst/>
            </a:prstGeom>
            <a:noFill/>
            <a:ln w="9525">
              <a:noFill/>
              <a:miter lim="800000"/>
              <a:headEnd/>
              <a:tailEnd/>
            </a:ln>
          </p:spPr>
          <p:txBody>
            <a:bodyPr wrap="none" lIns="90488" tIns="44450" rIns="90488" bIns="44450">
              <a:spAutoFit/>
            </a:bodyPr>
            <a:lstStyle/>
            <a:p>
              <a:r>
                <a:rPr lang="en-US" sz="1400"/>
                <a:t>Cr, Co, Cu, F, I, Fe,</a:t>
              </a:r>
              <a:br>
                <a:rPr lang="en-US" sz="1400"/>
              </a:br>
              <a:r>
                <a:rPr lang="en-US" sz="1400"/>
                <a:t>Mn, Mo, Se,</a:t>
              </a:r>
            </a:p>
          </p:txBody>
        </p:sp>
        <p:sp>
          <p:nvSpPr>
            <p:cNvPr id="18545" name="Rectangle 33"/>
            <p:cNvSpPr>
              <a:spLocks noChangeArrowheads="1"/>
            </p:cNvSpPr>
            <p:nvPr/>
          </p:nvSpPr>
          <p:spPr bwMode="auto">
            <a:xfrm>
              <a:off x="4839" y="3256"/>
              <a:ext cx="1413" cy="213"/>
            </a:xfrm>
            <a:prstGeom prst="rect">
              <a:avLst/>
            </a:prstGeom>
            <a:noFill/>
            <a:ln w="9525">
              <a:noFill/>
              <a:miter lim="800000"/>
              <a:headEnd/>
              <a:tailEnd/>
            </a:ln>
          </p:spPr>
          <p:txBody>
            <a:bodyPr wrap="none" lIns="90488" tIns="44450" rIns="90488" bIns="44450">
              <a:spAutoFit/>
            </a:bodyPr>
            <a:lstStyle/>
            <a:p>
              <a:pPr>
                <a:lnSpc>
                  <a:spcPct val="115000"/>
                </a:lnSpc>
              </a:pPr>
              <a:r>
                <a:rPr lang="en-US" sz="1400"/>
                <a:t>Ca, P, Mg, K, Cl, Na, S</a:t>
              </a:r>
            </a:p>
          </p:txBody>
        </p:sp>
        <p:sp>
          <p:nvSpPr>
            <p:cNvPr id="18546" name="Rectangle 34"/>
            <p:cNvSpPr>
              <a:spLocks noChangeArrowheads="1"/>
            </p:cNvSpPr>
            <p:nvPr/>
          </p:nvSpPr>
          <p:spPr bwMode="auto">
            <a:xfrm>
              <a:off x="2266" y="3352"/>
              <a:ext cx="843" cy="165"/>
            </a:xfrm>
            <a:prstGeom prst="rect">
              <a:avLst/>
            </a:prstGeom>
            <a:noFill/>
            <a:ln w="25400">
              <a:solidFill>
                <a:srgbClr val="009688"/>
              </a:solidFill>
              <a:miter lim="800000"/>
              <a:headEnd/>
              <a:tailEnd/>
            </a:ln>
          </p:spPr>
          <p:txBody>
            <a:bodyPr wrap="none" anchor="ctr"/>
            <a:lstStyle/>
            <a:p>
              <a:endParaRPr lang="en-NZ">
                <a:latin typeface="Calibri" pitchFamily="34" charset="0"/>
              </a:endParaRPr>
            </a:p>
          </p:txBody>
        </p:sp>
        <p:sp>
          <p:nvSpPr>
            <p:cNvPr id="18547" name="Rectangle 35"/>
            <p:cNvSpPr>
              <a:spLocks noChangeArrowheads="1"/>
            </p:cNvSpPr>
            <p:nvPr/>
          </p:nvSpPr>
          <p:spPr bwMode="auto">
            <a:xfrm>
              <a:off x="2528" y="3875"/>
              <a:ext cx="1664" cy="200"/>
            </a:xfrm>
            <a:prstGeom prst="rect">
              <a:avLst/>
            </a:prstGeom>
            <a:noFill/>
            <a:ln w="25400">
              <a:solidFill>
                <a:srgbClr val="009688"/>
              </a:solidFill>
              <a:miter lim="800000"/>
              <a:headEnd/>
              <a:tailEnd/>
            </a:ln>
          </p:spPr>
          <p:txBody>
            <a:bodyPr wrap="none" anchor="ctr"/>
            <a:lstStyle/>
            <a:p>
              <a:endParaRPr lang="en-NZ">
                <a:latin typeface="Calibri" pitchFamily="34" charset="0"/>
              </a:endParaRPr>
            </a:p>
          </p:txBody>
        </p:sp>
        <p:sp>
          <p:nvSpPr>
            <p:cNvPr id="18548" name="Rectangle 36"/>
            <p:cNvSpPr>
              <a:spLocks noChangeArrowheads="1"/>
            </p:cNvSpPr>
            <p:nvPr/>
          </p:nvSpPr>
          <p:spPr bwMode="auto">
            <a:xfrm>
              <a:off x="3436" y="3296"/>
              <a:ext cx="968" cy="168"/>
            </a:xfrm>
            <a:prstGeom prst="rect">
              <a:avLst/>
            </a:prstGeom>
            <a:noFill/>
            <a:ln w="25400">
              <a:solidFill>
                <a:srgbClr val="009688"/>
              </a:solidFill>
              <a:miter lim="800000"/>
              <a:headEnd/>
              <a:tailEnd/>
            </a:ln>
          </p:spPr>
          <p:txBody>
            <a:bodyPr wrap="none" anchor="ctr"/>
            <a:lstStyle/>
            <a:p>
              <a:endParaRPr lang="en-NZ">
                <a:latin typeface="Calibri" pitchFamily="34" charset="0"/>
              </a:endParaRPr>
            </a:p>
          </p:txBody>
        </p:sp>
        <p:sp>
          <p:nvSpPr>
            <p:cNvPr id="18549" name="Rectangle 37"/>
            <p:cNvSpPr>
              <a:spLocks noChangeArrowheads="1"/>
            </p:cNvSpPr>
            <p:nvPr/>
          </p:nvSpPr>
          <p:spPr bwMode="auto">
            <a:xfrm>
              <a:off x="3436" y="3520"/>
              <a:ext cx="968" cy="168"/>
            </a:xfrm>
            <a:prstGeom prst="rect">
              <a:avLst/>
            </a:prstGeom>
            <a:noFill/>
            <a:ln w="25400">
              <a:solidFill>
                <a:srgbClr val="009688"/>
              </a:solidFill>
              <a:miter lim="800000"/>
              <a:headEnd/>
              <a:tailEnd/>
            </a:ln>
          </p:spPr>
          <p:txBody>
            <a:bodyPr wrap="none" anchor="ctr"/>
            <a:lstStyle/>
            <a:p>
              <a:endParaRPr lang="en-NZ">
                <a:latin typeface="Calibri" pitchFamily="34" charset="0"/>
              </a:endParaRPr>
            </a:p>
          </p:txBody>
        </p:sp>
        <p:sp>
          <p:nvSpPr>
            <p:cNvPr id="18550" name="Line 38"/>
            <p:cNvSpPr>
              <a:spLocks noChangeShapeType="1"/>
            </p:cNvSpPr>
            <p:nvPr/>
          </p:nvSpPr>
          <p:spPr bwMode="auto">
            <a:xfrm>
              <a:off x="3141" y="3435"/>
              <a:ext cx="127" cy="0"/>
            </a:xfrm>
            <a:prstGeom prst="line">
              <a:avLst/>
            </a:prstGeom>
            <a:noFill/>
            <a:ln w="25400">
              <a:solidFill>
                <a:srgbClr val="009688"/>
              </a:solidFill>
              <a:round/>
              <a:headEnd/>
              <a:tailEnd/>
            </a:ln>
          </p:spPr>
          <p:txBody>
            <a:bodyPr wrap="none" anchor="ctr"/>
            <a:lstStyle/>
            <a:p>
              <a:endParaRPr lang="en-US"/>
            </a:p>
          </p:txBody>
        </p:sp>
        <p:sp>
          <p:nvSpPr>
            <p:cNvPr id="18551" name="Line 39"/>
            <p:cNvSpPr>
              <a:spLocks noChangeShapeType="1"/>
            </p:cNvSpPr>
            <p:nvPr/>
          </p:nvSpPr>
          <p:spPr bwMode="auto">
            <a:xfrm>
              <a:off x="3291" y="3348"/>
              <a:ext cx="0" cy="240"/>
            </a:xfrm>
            <a:prstGeom prst="line">
              <a:avLst/>
            </a:prstGeom>
            <a:noFill/>
            <a:ln w="25400">
              <a:solidFill>
                <a:srgbClr val="009688"/>
              </a:solidFill>
              <a:round/>
              <a:headEnd/>
              <a:tailEnd/>
            </a:ln>
          </p:spPr>
          <p:txBody>
            <a:bodyPr wrap="none" anchor="ctr"/>
            <a:lstStyle/>
            <a:p>
              <a:endParaRPr lang="en-US"/>
            </a:p>
          </p:txBody>
        </p:sp>
        <p:sp>
          <p:nvSpPr>
            <p:cNvPr id="18552" name="Line 40"/>
            <p:cNvSpPr>
              <a:spLocks noChangeShapeType="1"/>
            </p:cNvSpPr>
            <p:nvPr/>
          </p:nvSpPr>
          <p:spPr bwMode="auto">
            <a:xfrm>
              <a:off x="3299" y="3344"/>
              <a:ext cx="121" cy="0"/>
            </a:xfrm>
            <a:prstGeom prst="line">
              <a:avLst/>
            </a:prstGeom>
            <a:noFill/>
            <a:ln w="25400">
              <a:solidFill>
                <a:srgbClr val="009688"/>
              </a:solidFill>
              <a:round/>
              <a:headEnd/>
              <a:tailEnd/>
            </a:ln>
          </p:spPr>
          <p:txBody>
            <a:bodyPr wrap="none" anchor="ctr"/>
            <a:lstStyle/>
            <a:p>
              <a:endParaRPr lang="en-US"/>
            </a:p>
          </p:txBody>
        </p:sp>
        <p:sp>
          <p:nvSpPr>
            <p:cNvPr id="18553" name="Line 41"/>
            <p:cNvSpPr>
              <a:spLocks noChangeShapeType="1"/>
            </p:cNvSpPr>
            <p:nvPr/>
          </p:nvSpPr>
          <p:spPr bwMode="auto">
            <a:xfrm>
              <a:off x="3295" y="3598"/>
              <a:ext cx="125" cy="0"/>
            </a:xfrm>
            <a:prstGeom prst="line">
              <a:avLst/>
            </a:prstGeom>
            <a:noFill/>
            <a:ln w="25400">
              <a:solidFill>
                <a:srgbClr val="009688"/>
              </a:solidFill>
              <a:round/>
              <a:headEnd/>
              <a:tailEnd/>
            </a:ln>
          </p:spPr>
          <p:txBody>
            <a:bodyPr wrap="none" anchor="ctr"/>
            <a:lstStyle/>
            <a:p>
              <a:endParaRPr lang="en-US"/>
            </a:p>
          </p:txBody>
        </p:sp>
        <p:sp>
          <p:nvSpPr>
            <p:cNvPr id="18554" name="Line 42"/>
            <p:cNvSpPr>
              <a:spLocks noChangeShapeType="1"/>
            </p:cNvSpPr>
            <p:nvPr/>
          </p:nvSpPr>
          <p:spPr bwMode="auto">
            <a:xfrm>
              <a:off x="4413" y="3387"/>
              <a:ext cx="271" cy="0"/>
            </a:xfrm>
            <a:prstGeom prst="line">
              <a:avLst/>
            </a:prstGeom>
            <a:noFill/>
            <a:ln w="25400">
              <a:solidFill>
                <a:srgbClr val="009688"/>
              </a:solidFill>
              <a:round/>
              <a:headEnd/>
              <a:tailEnd/>
            </a:ln>
          </p:spPr>
          <p:txBody>
            <a:bodyPr wrap="none" anchor="ctr"/>
            <a:lstStyle/>
            <a:p>
              <a:endParaRPr lang="en-US"/>
            </a:p>
          </p:txBody>
        </p:sp>
        <p:sp>
          <p:nvSpPr>
            <p:cNvPr id="18555" name="Line 43"/>
            <p:cNvSpPr>
              <a:spLocks noChangeShapeType="1"/>
            </p:cNvSpPr>
            <p:nvPr/>
          </p:nvSpPr>
          <p:spPr bwMode="auto">
            <a:xfrm>
              <a:off x="4413" y="3629"/>
              <a:ext cx="271" cy="0"/>
            </a:xfrm>
            <a:prstGeom prst="line">
              <a:avLst/>
            </a:prstGeom>
            <a:noFill/>
            <a:ln w="25400">
              <a:solidFill>
                <a:srgbClr val="009688"/>
              </a:solidFill>
              <a:round/>
              <a:headEnd/>
              <a:tailEnd/>
            </a:ln>
          </p:spPr>
          <p:txBody>
            <a:bodyPr wrap="none" anchor="ctr"/>
            <a:lstStyle/>
            <a:p>
              <a:endParaRPr lang="en-US"/>
            </a:p>
          </p:txBody>
        </p:sp>
        <p:sp>
          <p:nvSpPr>
            <p:cNvPr id="18556" name="Line 44"/>
            <p:cNvSpPr>
              <a:spLocks noChangeShapeType="1"/>
            </p:cNvSpPr>
            <p:nvPr/>
          </p:nvSpPr>
          <p:spPr bwMode="auto">
            <a:xfrm>
              <a:off x="4197" y="3995"/>
              <a:ext cx="511" cy="0"/>
            </a:xfrm>
            <a:prstGeom prst="line">
              <a:avLst/>
            </a:prstGeom>
            <a:noFill/>
            <a:ln w="25400">
              <a:solidFill>
                <a:srgbClr val="009688"/>
              </a:solidFill>
              <a:round/>
              <a:headEnd/>
              <a:tailEnd/>
            </a:ln>
          </p:spPr>
          <p:txBody>
            <a:bodyPr wrap="none" anchor="ctr"/>
            <a:lstStyle/>
            <a:p>
              <a:endParaRPr lang="en-US"/>
            </a:p>
          </p:txBody>
        </p:sp>
        <p:sp>
          <p:nvSpPr>
            <p:cNvPr id="18557" name="Line 45"/>
            <p:cNvSpPr>
              <a:spLocks noChangeShapeType="1"/>
            </p:cNvSpPr>
            <p:nvPr/>
          </p:nvSpPr>
          <p:spPr bwMode="auto">
            <a:xfrm flipV="1">
              <a:off x="2002" y="3424"/>
              <a:ext cx="0" cy="168"/>
            </a:xfrm>
            <a:prstGeom prst="line">
              <a:avLst/>
            </a:prstGeom>
            <a:noFill/>
            <a:ln w="25400">
              <a:solidFill>
                <a:schemeClr val="hlink"/>
              </a:solidFill>
              <a:round/>
              <a:headEnd/>
              <a:tailEnd/>
            </a:ln>
          </p:spPr>
          <p:txBody>
            <a:bodyPr wrap="none" anchor="ctr"/>
            <a:lstStyle/>
            <a:p>
              <a:endParaRPr lang="en-US"/>
            </a:p>
          </p:txBody>
        </p:sp>
        <p:sp>
          <p:nvSpPr>
            <p:cNvPr id="18558" name="Line 46"/>
            <p:cNvSpPr>
              <a:spLocks noChangeShapeType="1"/>
            </p:cNvSpPr>
            <p:nvPr/>
          </p:nvSpPr>
          <p:spPr bwMode="auto">
            <a:xfrm>
              <a:off x="2010" y="3430"/>
              <a:ext cx="238" cy="0"/>
            </a:xfrm>
            <a:prstGeom prst="line">
              <a:avLst/>
            </a:prstGeom>
            <a:noFill/>
            <a:ln w="25400">
              <a:solidFill>
                <a:schemeClr val="hlink"/>
              </a:solidFill>
              <a:round/>
              <a:headEnd/>
              <a:tailEnd/>
            </a:ln>
          </p:spPr>
          <p:txBody>
            <a:bodyPr wrap="none" anchor="ctr"/>
            <a:lstStyle/>
            <a:p>
              <a:endParaRPr lang="en-US"/>
            </a:p>
          </p:txBody>
        </p:sp>
        <p:sp>
          <p:nvSpPr>
            <p:cNvPr id="18559" name="Line 47"/>
            <p:cNvSpPr>
              <a:spLocks noChangeShapeType="1"/>
            </p:cNvSpPr>
            <p:nvPr/>
          </p:nvSpPr>
          <p:spPr bwMode="auto">
            <a:xfrm>
              <a:off x="2004" y="3980"/>
              <a:ext cx="513" cy="0"/>
            </a:xfrm>
            <a:prstGeom prst="line">
              <a:avLst/>
            </a:prstGeom>
            <a:noFill/>
            <a:ln w="25400">
              <a:solidFill>
                <a:schemeClr val="hlink"/>
              </a:solidFill>
              <a:round/>
              <a:headEnd/>
              <a:tailEnd/>
            </a:ln>
          </p:spPr>
          <p:txBody>
            <a:bodyPr wrap="none" anchor="ctr"/>
            <a:lstStyle/>
            <a:p>
              <a:endParaRPr lang="en-US"/>
            </a:p>
          </p:txBody>
        </p:sp>
        <p:sp>
          <p:nvSpPr>
            <p:cNvPr id="18560" name="Line 48"/>
            <p:cNvSpPr>
              <a:spLocks noChangeShapeType="1"/>
            </p:cNvSpPr>
            <p:nvPr/>
          </p:nvSpPr>
          <p:spPr bwMode="auto">
            <a:xfrm flipV="1">
              <a:off x="2002" y="3926"/>
              <a:ext cx="0" cy="66"/>
            </a:xfrm>
            <a:prstGeom prst="line">
              <a:avLst/>
            </a:prstGeom>
            <a:noFill/>
            <a:ln w="25400">
              <a:solidFill>
                <a:schemeClr val="hlink"/>
              </a:solidFill>
              <a:round/>
              <a:headEnd/>
              <a:tailEnd/>
            </a:ln>
          </p:spPr>
          <p:txBody>
            <a:bodyPr wrap="none" anchor="ctr"/>
            <a:lstStyle/>
            <a:p>
              <a:endParaRPr lang="en-US"/>
            </a:p>
          </p:txBody>
        </p:sp>
      </p:grpSp>
      <p:grpSp>
        <p:nvGrpSpPr>
          <p:cNvPr id="534577" name="Group 49"/>
          <p:cNvGrpSpPr>
            <a:grpSpLocks/>
          </p:cNvGrpSpPr>
          <p:nvPr/>
        </p:nvGrpSpPr>
        <p:grpSpPr bwMode="auto">
          <a:xfrm>
            <a:off x="2863850" y="685800"/>
            <a:ext cx="6248400" cy="1154113"/>
            <a:chOff x="2029" y="556"/>
            <a:chExt cx="4428" cy="727"/>
          </a:xfrm>
        </p:grpSpPr>
        <p:sp>
          <p:nvSpPr>
            <p:cNvPr id="18515" name="Rectangle 50"/>
            <p:cNvSpPr>
              <a:spLocks noChangeArrowheads="1"/>
            </p:cNvSpPr>
            <p:nvPr/>
          </p:nvSpPr>
          <p:spPr bwMode="auto">
            <a:xfrm>
              <a:off x="4838" y="556"/>
              <a:ext cx="1143" cy="188"/>
            </a:xfrm>
            <a:prstGeom prst="rect">
              <a:avLst/>
            </a:prstGeom>
            <a:noFill/>
            <a:ln w="9525">
              <a:noFill/>
              <a:miter lim="800000"/>
              <a:headEnd/>
              <a:tailEnd/>
            </a:ln>
          </p:spPr>
          <p:txBody>
            <a:bodyPr wrap="none" lIns="79375" tIns="41275" rIns="79375" bIns="41275">
              <a:spAutoFit/>
            </a:bodyPr>
            <a:lstStyle/>
            <a:p>
              <a:pPr defTabSz="674688"/>
              <a:r>
                <a:rPr lang="en-US" sz="1400"/>
                <a:t>Urea, amines, etc.</a:t>
              </a:r>
            </a:p>
          </p:txBody>
        </p:sp>
        <p:sp>
          <p:nvSpPr>
            <p:cNvPr id="18516" name="Rectangle 51"/>
            <p:cNvSpPr>
              <a:spLocks noChangeArrowheads="1"/>
            </p:cNvSpPr>
            <p:nvPr/>
          </p:nvSpPr>
          <p:spPr bwMode="auto">
            <a:xfrm>
              <a:off x="2261" y="706"/>
              <a:ext cx="1004" cy="349"/>
            </a:xfrm>
            <a:prstGeom prst="rect">
              <a:avLst/>
            </a:prstGeom>
            <a:noFill/>
            <a:ln w="9525">
              <a:noFill/>
              <a:miter lim="800000"/>
              <a:headEnd/>
              <a:tailEnd/>
            </a:ln>
          </p:spPr>
          <p:txBody>
            <a:bodyPr wrap="none" lIns="79375" tIns="41275" rIns="79375" bIns="41275">
              <a:spAutoFit/>
            </a:bodyPr>
            <a:lstStyle/>
            <a:p>
              <a:pPr defTabSz="674688">
                <a:lnSpc>
                  <a:spcPct val="85000"/>
                </a:lnSpc>
              </a:pPr>
              <a:r>
                <a:rPr lang="en-US"/>
                <a:t>Nitrogenous</a:t>
              </a:r>
            </a:p>
            <a:p>
              <a:pPr defTabSz="674688">
                <a:lnSpc>
                  <a:spcPct val="85000"/>
                </a:lnSpc>
              </a:pPr>
              <a:r>
                <a:rPr lang="en-US"/>
                <a:t>compounds </a:t>
              </a:r>
            </a:p>
          </p:txBody>
        </p:sp>
        <p:sp>
          <p:nvSpPr>
            <p:cNvPr id="18517" name="Rectangle 52"/>
            <p:cNvSpPr>
              <a:spLocks noChangeArrowheads="1"/>
            </p:cNvSpPr>
            <p:nvPr/>
          </p:nvSpPr>
          <p:spPr bwMode="auto">
            <a:xfrm>
              <a:off x="3429" y="939"/>
              <a:ext cx="648" cy="214"/>
            </a:xfrm>
            <a:prstGeom prst="rect">
              <a:avLst/>
            </a:prstGeom>
            <a:noFill/>
            <a:ln w="9525">
              <a:noFill/>
              <a:miter lim="800000"/>
              <a:headEnd/>
              <a:tailEnd/>
            </a:ln>
          </p:spPr>
          <p:txBody>
            <a:bodyPr wrap="none" lIns="90488" tIns="44450" rIns="90488" bIns="44450">
              <a:spAutoFit/>
            </a:bodyPr>
            <a:lstStyle/>
            <a:p>
              <a:pPr>
                <a:lnSpc>
                  <a:spcPct val="90000"/>
                </a:lnSpc>
              </a:pPr>
              <a:r>
                <a:rPr lang="en-US"/>
                <a:t>Protein</a:t>
              </a:r>
            </a:p>
          </p:txBody>
        </p:sp>
        <p:sp>
          <p:nvSpPr>
            <p:cNvPr id="18518" name="Rectangle 53"/>
            <p:cNvSpPr>
              <a:spLocks noChangeArrowheads="1"/>
            </p:cNvSpPr>
            <p:nvPr/>
          </p:nvSpPr>
          <p:spPr bwMode="auto">
            <a:xfrm>
              <a:off x="3429" y="612"/>
              <a:ext cx="975" cy="214"/>
            </a:xfrm>
            <a:prstGeom prst="rect">
              <a:avLst/>
            </a:prstGeom>
            <a:noFill/>
            <a:ln w="9525">
              <a:noFill/>
              <a:miter lim="800000"/>
              <a:headEnd/>
              <a:tailEnd/>
            </a:ln>
          </p:spPr>
          <p:txBody>
            <a:bodyPr wrap="none" lIns="90488" tIns="44450" rIns="90488" bIns="44450">
              <a:spAutoFit/>
            </a:bodyPr>
            <a:lstStyle/>
            <a:p>
              <a:pPr>
                <a:lnSpc>
                  <a:spcPct val="90000"/>
                </a:lnSpc>
              </a:pPr>
              <a:r>
                <a:rPr lang="en-US"/>
                <a:t>Non protein</a:t>
              </a:r>
            </a:p>
          </p:txBody>
        </p:sp>
        <p:sp>
          <p:nvSpPr>
            <p:cNvPr id="18519" name="Rectangle 54"/>
            <p:cNvSpPr>
              <a:spLocks noChangeArrowheads="1"/>
            </p:cNvSpPr>
            <p:nvPr/>
          </p:nvSpPr>
          <p:spPr bwMode="auto">
            <a:xfrm>
              <a:off x="4839" y="1055"/>
              <a:ext cx="1358" cy="192"/>
            </a:xfrm>
            <a:prstGeom prst="rect">
              <a:avLst/>
            </a:prstGeom>
            <a:noFill/>
            <a:ln w="9525">
              <a:noFill/>
              <a:miter lim="800000"/>
              <a:headEnd/>
              <a:tailEnd/>
            </a:ln>
          </p:spPr>
          <p:txBody>
            <a:bodyPr wrap="none" lIns="90488" tIns="44450" rIns="90488" bIns="44450">
              <a:spAutoFit/>
            </a:bodyPr>
            <a:lstStyle/>
            <a:p>
              <a:r>
                <a:rPr lang="en-US" sz="1400"/>
                <a:t>Essential amino acids</a:t>
              </a:r>
            </a:p>
          </p:txBody>
        </p:sp>
        <p:sp>
          <p:nvSpPr>
            <p:cNvPr id="18520" name="Rectangle 55"/>
            <p:cNvSpPr>
              <a:spLocks noChangeArrowheads="1"/>
            </p:cNvSpPr>
            <p:nvPr/>
          </p:nvSpPr>
          <p:spPr bwMode="auto">
            <a:xfrm>
              <a:off x="4839" y="889"/>
              <a:ext cx="1618" cy="179"/>
            </a:xfrm>
            <a:prstGeom prst="rect">
              <a:avLst/>
            </a:prstGeom>
            <a:noFill/>
            <a:ln w="9525">
              <a:noFill/>
              <a:miter lim="800000"/>
              <a:headEnd/>
              <a:tailEnd/>
            </a:ln>
          </p:spPr>
          <p:txBody>
            <a:bodyPr wrap="none" lIns="90488" tIns="44450" rIns="90488" bIns="44450">
              <a:spAutoFit/>
            </a:bodyPr>
            <a:lstStyle/>
            <a:p>
              <a:pPr>
                <a:lnSpc>
                  <a:spcPct val="90000"/>
                </a:lnSpc>
              </a:pPr>
              <a:r>
                <a:rPr lang="en-US" sz="1400"/>
                <a:t>Non-essential amino acids</a:t>
              </a:r>
            </a:p>
          </p:txBody>
        </p:sp>
        <p:sp>
          <p:nvSpPr>
            <p:cNvPr id="18521" name="Rectangle 56"/>
            <p:cNvSpPr>
              <a:spLocks noChangeArrowheads="1"/>
            </p:cNvSpPr>
            <p:nvPr/>
          </p:nvSpPr>
          <p:spPr bwMode="auto">
            <a:xfrm>
              <a:off x="4839" y="687"/>
              <a:ext cx="1102" cy="192"/>
            </a:xfrm>
            <a:prstGeom prst="rect">
              <a:avLst/>
            </a:prstGeom>
            <a:noFill/>
            <a:ln w="9525">
              <a:noFill/>
              <a:miter lim="800000"/>
              <a:headEnd/>
              <a:tailEnd/>
            </a:ln>
          </p:spPr>
          <p:txBody>
            <a:bodyPr wrap="none" lIns="90488" tIns="44450" rIns="90488" bIns="44450">
              <a:spAutoFit/>
            </a:bodyPr>
            <a:lstStyle/>
            <a:p>
              <a:r>
                <a:rPr lang="en-US" sz="1400"/>
                <a:t>Free amino acids</a:t>
              </a:r>
            </a:p>
          </p:txBody>
        </p:sp>
        <p:sp>
          <p:nvSpPr>
            <p:cNvPr id="18522" name="Rectangle 57"/>
            <p:cNvSpPr>
              <a:spLocks noChangeArrowheads="1"/>
            </p:cNvSpPr>
            <p:nvPr/>
          </p:nvSpPr>
          <p:spPr bwMode="auto">
            <a:xfrm>
              <a:off x="2277" y="696"/>
              <a:ext cx="832" cy="325"/>
            </a:xfrm>
            <a:prstGeom prst="rect">
              <a:avLst/>
            </a:prstGeom>
            <a:noFill/>
            <a:ln w="25400">
              <a:solidFill>
                <a:srgbClr val="FE9B03"/>
              </a:solidFill>
              <a:miter lim="800000"/>
              <a:headEnd/>
              <a:tailEnd/>
            </a:ln>
          </p:spPr>
          <p:txBody>
            <a:bodyPr wrap="none" anchor="ctr"/>
            <a:lstStyle/>
            <a:p>
              <a:endParaRPr lang="en-NZ">
                <a:latin typeface="Calibri" pitchFamily="34" charset="0"/>
              </a:endParaRPr>
            </a:p>
          </p:txBody>
        </p:sp>
        <p:sp>
          <p:nvSpPr>
            <p:cNvPr id="18523" name="Rectangle 58"/>
            <p:cNvSpPr>
              <a:spLocks noChangeArrowheads="1"/>
            </p:cNvSpPr>
            <p:nvPr/>
          </p:nvSpPr>
          <p:spPr bwMode="auto">
            <a:xfrm>
              <a:off x="3438" y="603"/>
              <a:ext cx="966" cy="197"/>
            </a:xfrm>
            <a:prstGeom prst="rect">
              <a:avLst/>
            </a:prstGeom>
            <a:noFill/>
            <a:ln w="25400">
              <a:solidFill>
                <a:srgbClr val="FE9B03"/>
              </a:solidFill>
              <a:miter lim="800000"/>
              <a:headEnd/>
              <a:tailEnd/>
            </a:ln>
          </p:spPr>
          <p:txBody>
            <a:bodyPr wrap="none" anchor="ctr"/>
            <a:lstStyle/>
            <a:p>
              <a:endParaRPr lang="en-NZ">
                <a:latin typeface="Calibri" pitchFamily="34" charset="0"/>
              </a:endParaRPr>
            </a:p>
          </p:txBody>
        </p:sp>
        <p:sp>
          <p:nvSpPr>
            <p:cNvPr id="18524" name="Rectangle 59"/>
            <p:cNvSpPr>
              <a:spLocks noChangeArrowheads="1"/>
            </p:cNvSpPr>
            <p:nvPr/>
          </p:nvSpPr>
          <p:spPr bwMode="auto">
            <a:xfrm>
              <a:off x="3445" y="952"/>
              <a:ext cx="959" cy="171"/>
            </a:xfrm>
            <a:prstGeom prst="rect">
              <a:avLst/>
            </a:prstGeom>
            <a:noFill/>
            <a:ln w="25400">
              <a:solidFill>
                <a:srgbClr val="FE9B03"/>
              </a:solidFill>
              <a:miter lim="800000"/>
              <a:headEnd/>
              <a:tailEnd/>
            </a:ln>
          </p:spPr>
          <p:txBody>
            <a:bodyPr wrap="none" anchor="ctr"/>
            <a:lstStyle/>
            <a:p>
              <a:endParaRPr lang="en-NZ">
                <a:latin typeface="Calibri" pitchFamily="34" charset="0"/>
              </a:endParaRPr>
            </a:p>
          </p:txBody>
        </p:sp>
        <p:sp>
          <p:nvSpPr>
            <p:cNvPr id="18525" name="Line 60"/>
            <p:cNvSpPr>
              <a:spLocks noChangeShapeType="1"/>
            </p:cNvSpPr>
            <p:nvPr/>
          </p:nvSpPr>
          <p:spPr bwMode="auto">
            <a:xfrm flipV="1">
              <a:off x="2029" y="776"/>
              <a:ext cx="0" cy="507"/>
            </a:xfrm>
            <a:prstGeom prst="line">
              <a:avLst/>
            </a:prstGeom>
            <a:noFill/>
            <a:ln w="25400">
              <a:solidFill>
                <a:schemeClr val="hlink"/>
              </a:solidFill>
              <a:round/>
              <a:headEnd/>
              <a:tailEnd/>
            </a:ln>
          </p:spPr>
          <p:txBody>
            <a:bodyPr wrap="none" anchor="ctr"/>
            <a:lstStyle/>
            <a:p>
              <a:endParaRPr lang="en-US"/>
            </a:p>
          </p:txBody>
        </p:sp>
        <p:sp>
          <p:nvSpPr>
            <p:cNvPr id="18526" name="Line 61"/>
            <p:cNvSpPr>
              <a:spLocks noChangeShapeType="1"/>
            </p:cNvSpPr>
            <p:nvPr/>
          </p:nvSpPr>
          <p:spPr bwMode="auto">
            <a:xfrm>
              <a:off x="2032" y="790"/>
              <a:ext cx="232" cy="0"/>
            </a:xfrm>
            <a:prstGeom prst="line">
              <a:avLst/>
            </a:prstGeom>
            <a:noFill/>
            <a:ln w="25400">
              <a:solidFill>
                <a:schemeClr val="hlink"/>
              </a:solidFill>
              <a:round/>
              <a:headEnd/>
              <a:tailEnd/>
            </a:ln>
          </p:spPr>
          <p:txBody>
            <a:bodyPr wrap="none" anchor="ctr"/>
            <a:lstStyle/>
            <a:p>
              <a:endParaRPr lang="en-US"/>
            </a:p>
          </p:txBody>
        </p:sp>
        <p:sp>
          <p:nvSpPr>
            <p:cNvPr id="18527" name="Line 62"/>
            <p:cNvSpPr>
              <a:spLocks noChangeShapeType="1"/>
            </p:cNvSpPr>
            <p:nvPr/>
          </p:nvSpPr>
          <p:spPr bwMode="auto">
            <a:xfrm>
              <a:off x="4413" y="688"/>
              <a:ext cx="147" cy="0"/>
            </a:xfrm>
            <a:prstGeom prst="line">
              <a:avLst/>
            </a:prstGeom>
            <a:noFill/>
            <a:ln w="25400">
              <a:solidFill>
                <a:srgbClr val="FE9B03"/>
              </a:solidFill>
              <a:round/>
              <a:headEnd/>
              <a:tailEnd/>
            </a:ln>
          </p:spPr>
          <p:txBody>
            <a:bodyPr wrap="none" anchor="ctr"/>
            <a:lstStyle/>
            <a:p>
              <a:endParaRPr lang="en-US"/>
            </a:p>
          </p:txBody>
        </p:sp>
        <p:sp>
          <p:nvSpPr>
            <p:cNvPr id="18528" name="Line 63"/>
            <p:cNvSpPr>
              <a:spLocks noChangeShapeType="1"/>
            </p:cNvSpPr>
            <p:nvPr/>
          </p:nvSpPr>
          <p:spPr bwMode="auto">
            <a:xfrm>
              <a:off x="4577" y="620"/>
              <a:ext cx="0" cy="156"/>
            </a:xfrm>
            <a:prstGeom prst="line">
              <a:avLst/>
            </a:prstGeom>
            <a:noFill/>
            <a:ln w="25400">
              <a:solidFill>
                <a:srgbClr val="FE9B03"/>
              </a:solidFill>
              <a:round/>
              <a:headEnd/>
              <a:tailEnd/>
            </a:ln>
          </p:spPr>
          <p:txBody>
            <a:bodyPr wrap="none" anchor="ctr"/>
            <a:lstStyle/>
            <a:p>
              <a:endParaRPr lang="en-US"/>
            </a:p>
          </p:txBody>
        </p:sp>
        <p:sp>
          <p:nvSpPr>
            <p:cNvPr id="18529" name="Line 64"/>
            <p:cNvSpPr>
              <a:spLocks noChangeShapeType="1"/>
            </p:cNvSpPr>
            <p:nvPr/>
          </p:nvSpPr>
          <p:spPr bwMode="auto">
            <a:xfrm>
              <a:off x="4580" y="617"/>
              <a:ext cx="102" cy="0"/>
            </a:xfrm>
            <a:prstGeom prst="line">
              <a:avLst/>
            </a:prstGeom>
            <a:noFill/>
            <a:ln w="25400">
              <a:solidFill>
                <a:srgbClr val="FE9B03"/>
              </a:solidFill>
              <a:round/>
              <a:headEnd/>
              <a:tailEnd/>
            </a:ln>
          </p:spPr>
          <p:txBody>
            <a:bodyPr wrap="none" anchor="ctr"/>
            <a:lstStyle/>
            <a:p>
              <a:endParaRPr lang="en-US"/>
            </a:p>
          </p:txBody>
        </p:sp>
        <p:sp>
          <p:nvSpPr>
            <p:cNvPr id="18530" name="Line 65"/>
            <p:cNvSpPr>
              <a:spLocks noChangeShapeType="1"/>
            </p:cNvSpPr>
            <p:nvPr/>
          </p:nvSpPr>
          <p:spPr bwMode="auto">
            <a:xfrm>
              <a:off x="3116" y="867"/>
              <a:ext cx="152" cy="0"/>
            </a:xfrm>
            <a:prstGeom prst="line">
              <a:avLst/>
            </a:prstGeom>
            <a:noFill/>
            <a:ln w="25400">
              <a:solidFill>
                <a:srgbClr val="FE9B03"/>
              </a:solidFill>
              <a:round/>
              <a:headEnd/>
              <a:tailEnd/>
            </a:ln>
          </p:spPr>
          <p:txBody>
            <a:bodyPr wrap="none" anchor="ctr"/>
            <a:lstStyle/>
            <a:p>
              <a:endParaRPr lang="en-US"/>
            </a:p>
          </p:txBody>
        </p:sp>
        <p:sp>
          <p:nvSpPr>
            <p:cNvPr id="18531" name="Line 66"/>
            <p:cNvSpPr>
              <a:spLocks noChangeShapeType="1"/>
            </p:cNvSpPr>
            <p:nvPr/>
          </p:nvSpPr>
          <p:spPr bwMode="auto">
            <a:xfrm>
              <a:off x="3284" y="732"/>
              <a:ext cx="136" cy="0"/>
            </a:xfrm>
            <a:prstGeom prst="line">
              <a:avLst/>
            </a:prstGeom>
            <a:noFill/>
            <a:ln w="25400">
              <a:solidFill>
                <a:srgbClr val="FE9B03"/>
              </a:solidFill>
              <a:round/>
              <a:headEnd/>
              <a:tailEnd/>
            </a:ln>
          </p:spPr>
          <p:txBody>
            <a:bodyPr wrap="none" anchor="ctr"/>
            <a:lstStyle/>
            <a:p>
              <a:endParaRPr lang="en-US"/>
            </a:p>
          </p:txBody>
        </p:sp>
        <p:sp>
          <p:nvSpPr>
            <p:cNvPr id="18532" name="Line 67"/>
            <p:cNvSpPr>
              <a:spLocks noChangeShapeType="1"/>
            </p:cNvSpPr>
            <p:nvPr/>
          </p:nvSpPr>
          <p:spPr bwMode="auto">
            <a:xfrm>
              <a:off x="3284" y="1051"/>
              <a:ext cx="143" cy="0"/>
            </a:xfrm>
            <a:prstGeom prst="line">
              <a:avLst/>
            </a:prstGeom>
            <a:noFill/>
            <a:ln w="25400">
              <a:solidFill>
                <a:srgbClr val="FE9B03"/>
              </a:solidFill>
              <a:round/>
              <a:headEnd/>
              <a:tailEnd/>
            </a:ln>
          </p:spPr>
          <p:txBody>
            <a:bodyPr wrap="none" anchor="ctr"/>
            <a:lstStyle/>
            <a:p>
              <a:endParaRPr lang="en-US"/>
            </a:p>
          </p:txBody>
        </p:sp>
        <p:sp>
          <p:nvSpPr>
            <p:cNvPr id="18533" name="Line 68"/>
            <p:cNvSpPr>
              <a:spLocks noChangeShapeType="1"/>
            </p:cNvSpPr>
            <p:nvPr/>
          </p:nvSpPr>
          <p:spPr bwMode="auto">
            <a:xfrm>
              <a:off x="3276" y="740"/>
              <a:ext cx="0" cy="303"/>
            </a:xfrm>
            <a:prstGeom prst="line">
              <a:avLst/>
            </a:prstGeom>
            <a:noFill/>
            <a:ln w="25400">
              <a:solidFill>
                <a:srgbClr val="FE9B03"/>
              </a:solidFill>
              <a:round/>
              <a:headEnd/>
              <a:tailEnd/>
            </a:ln>
          </p:spPr>
          <p:txBody>
            <a:bodyPr wrap="none" anchor="ctr"/>
            <a:lstStyle/>
            <a:p>
              <a:endParaRPr lang="en-US"/>
            </a:p>
          </p:txBody>
        </p:sp>
        <p:sp>
          <p:nvSpPr>
            <p:cNvPr id="18534" name="Line 69"/>
            <p:cNvSpPr>
              <a:spLocks noChangeShapeType="1"/>
            </p:cNvSpPr>
            <p:nvPr/>
          </p:nvSpPr>
          <p:spPr bwMode="auto">
            <a:xfrm>
              <a:off x="4580" y="781"/>
              <a:ext cx="102" cy="0"/>
            </a:xfrm>
            <a:prstGeom prst="line">
              <a:avLst/>
            </a:prstGeom>
            <a:noFill/>
            <a:ln w="25400">
              <a:solidFill>
                <a:srgbClr val="FE9B03"/>
              </a:solidFill>
              <a:round/>
              <a:headEnd/>
              <a:tailEnd/>
            </a:ln>
          </p:spPr>
          <p:txBody>
            <a:bodyPr wrap="none" anchor="ctr"/>
            <a:lstStyle/>
            <a:p>
              <a:endParaRPr lang="en-US"/>
            </a:p>
          </p:txBody>
        </p:sp>
        <p:sp>
          <p:nvSpPr>
            <p:cNvPr id="18535" name="Line 70"/>
            <p:cNvSpPr>
              <a:spLocks noChangeShapeType="1"/>
            </p:cNvSpPr>
            <p:nvPr/>
          </p:nvSpPr>
          <p:spPr bwMode="auto">
            <a:xfrm>
              <a:off x="4577" y="968"/>
              <a:ext cx="0" cy="160"/>
            </a:xfrm>
            <a:prstGeom prst="line">
              <a:avLst/>
            </a:prstGeom>
            <a:noFill/>
            <a:ln w="25400">
              <a:solidFill>
                <a:srgbClr val="FE9B03"/>
              </a:solidFill>
              <a:round/>
              <a:headEnd/>
              <a:tailEnd/>
            </a:ln>
          </p:spPr>
          <p:txBody>
            <a:bodyPr wrap="none" anchor="ctr"/>
            <a:lstStyle/>
            <a:p>
              <a:endParaRPr lang="en-US"/>
            </a:p>
          </p:txBody>
        </p:sp>
        <p:sp>
          <p:nvSpPr>
            <p:cNvPr id="18536" name="Line 71"/>
            <p:cNvSpPr>
              <a:spLocks noChangeShapeType="1"/>
            </p:cNvSpPr>
            <p:nvPr/>
          </p:nvSpPr>
          <p:spPr bwMode="auto">
            <a:xfrm>
              <a:off x="4580" y="965"/>
              <a:ext cx="102" cy="0"/>
            </a:xfrm>
            <a:prstGeom prst="line">
              <a:avLst/>
            </a:prstGeom>
            <a:noFill/>
            <a:ln w="25400">
              <a:solidFill>
                <a:srgbClr val="FE9B03"/>
              </a:solidFill>
              <a:round/>
              <a:headEnd/>
              <a:tailEnd/>
            </a:ln>
          </p:spPr>
          <p:txBody>
            <a:bodyPr wrap="none" anchor="ctr"/>
            <a:lstStyle/>
            <a:p>
              <a:endParaRPr lang="en-US"/>
            </a:p>
          </p:txBody>
        </p:sp>
        <p:sp>
          <p:nvSpPr>
            <p:cNvPr id="18537" name="Line 72"/>
            <p:cNvSpPr>
              <a:spLocks noChangeShapeType="1"/>
            </p:cNvSpPr>
            <p:nvPr/>
          </p:nvSpPr>
          <p:spPr bwMode="auto">
            <a:xfrm>
              <a:off x="4580" y="1133"/>
              <a:ext cx="102" cy="0"/>
            </a:xfrm>
            <a:prstGeom prst="line">
              <a:avLst/>
            </a:prstGeom>
            <a:noFill/>
            <a:ln w="25400">
              <a:solidFill>
                <a:srgbClr val="FE9B03"/>
              </a:solidFill>
              <a:round/>
              <a:headEnd/>
              <a:tailEnd/>
            </a:ln>
          </p:spPr>
          <p:txBody>
            <a:bodyPr wrap="none" anchor="ctr"/>
            <a:lstStyle/>
            <a:p>
              <a:endParaRPr lang="en-US"/>
            </a:p>
          </p:txBody>
        </p:sp>
        <p:sp>
          <p:nvSpPr>
            <p:cNvPr id="18538" name="Line 73"/>
            <p:cNvSpPr>
              <a:spLocks noChangeShapeType="1"/>
            </p:cNvSpPr>
            <p:nvPr/>
          </p:nvSpPr>
          <p:spPr bwMode="auto">
            <a:xfrm>
              <a:off x="4413" y="1061"/>
              <a:ext cx="147" cy="0"/>
            </a:xfrm>
            <a:prstGeom prst="line">
              <a:avLst/>
            </a:prstGeom>
            <a:noFill/>
            <a:ln w="25400">
              <a:solidFill>
                <a:srgbClr val="FE9B03"/>
              </a:solidFill>
              <a:round/>
              <a:headEnd/>
              <a:tailEnd/>
            </a:ln>
          </p:spPr>
          <p:txBody>
            <a:bodyPr wrap="none" anchor="ctr"/>
            <a:lstStyle/>
            <a:p>
              <a:endParaRPr lang="en-US"/>
            </a:p>
          </p:txBody>
        </p:sp>
      </p:grpSp>
      <p:grpSp>
        <p:nvGrpSpPr>
          <p:cNvPr id="534602" name="Group 74"/>
          <p:cNvGrpSpPr>
            <a:grpSpLocks/>
          </p:cNvGrpSpPr>
          <p:nvPr/>
        </p:nvGrpSpPr>
        <p:grpSpPr bwMode="auto">
          <a:xfrm>
            <a:off x="3168650" y="1731963"/>
            <a:ext cx="5275263" cy="965200"/>
            <a:chOff x="2245" y="1091"/>
            <a:chExt cx="3739" cy="608"/>
          </a:xfrm>
        </p:grpSpPr>
        <p:sp>
          <p:nvSpPr>
            <p:cNvPr id="18494" name="Rectangle 75"/>
            <p:cNvSpPr>
              <a:spLocks noChangeArrowheads="1"/>
            </p:cNvSpPr>
            <p:nvPr/>
          </p:nvSpPr>
          <p:spPr bwMode="auto">
            <a:xfrm>
              <a:off x="2390" y="1219"/>
              <a:ext cx="557" cy="214"/>
            </a:xfrm>
            <a:prstGeom prst="rect">
              <a:avLst/>
            </a:prstGeom>
            <a:noFill/>
            <a:ln w="9525">
              <a:noFill/>
              <a:miter lim="800000"/>
              <a:headEnd/>
              <a:tailEnd/>
            </a:ln>
          </p:spPr>
          <p:txBody>
            <a:bodyPr wrap="none" lIns="90488" tIns="44450" rIns="90488" bIns="44450">
              <a:spAutoFit/>
            </a:bodyPr>
            <a:lstStyle/>
            <a:p>
              <a:pPr>
                <a:lnSpc>
                  <a:spcPct val="90000"/>
                </a:lnSpc>
              </a:pPr>
              <a:r>
                <a:rPr lang="en-US"/>
                <a:t>Lipids</a:t>
              </a:r>
            </a:p>
          </p:txBody>
        </p:sp>
        <p:sp>
          <p:nvSpPr>
            <p:cNvPr id="18495" name="Rectangle 76"/>
            <p:cNvSpPr>
              <a:spLocks noChangeArrowheads="1"/>
            </p:cNvSpPr>
            <p:nvPr/>
          </p:nvSpPr>
          <p:spPr bwMode="auto">
            <a:xfrm>
              <a:off x="3429" y="1371"/>
              <a:ext cx="929" cy="214"/>
            </a:xfrm>
            <a:prstGeom prst="rect">
              <a:avLst/>
            </a:prstGeom>
            <a:noFill/>
            <a:ln w="9525">
              <a:noFill/>
              <a:miter lim="800000"/>
              <a:headEnd/>
              <a:tailEnd/>
            </a:ln>
          </p:spPr>
          <p:txBody>
            <a:bodyPr wrap="none" lIns="90488" tIns="44450" rIns="90488" bIns="44450">
              <a:spAutoFit/>
            </a:bodyPr>
            <a:lstStyle/>
            <a:p>
              <a:pPr>
                <a:lnSpc>
                  <a:spcPct val="90000"/>
                </a:lnSpc>
              </a:pPr>
              <a:r>
                <a:rPr lang="en-US"/>
                <a:t>Compound</a:t>
              </a:r>
            </a:p>
          </p:txBody>
        </p:sp>
        <p:sp>
          <p:nvSpPr>
            <p:cNvPr id="18496" name="Rectangle 77"/>
            <p:cNvSpPr>
              <a:spLocks noChangeArrowheads="1"/>
            </p:cNvSpPr>
            <p:nvPr/>
          </p:nvSpPr>
          <p:spPr bwMode="auto">
            <a:xfrm>
              <a:off x="3429" y="1124"/>
              <a:ext cx="629" cy="214"/>
            </a:xfrm>
            <a:prstGeom prst="rect">
              <a:avLst/>
            </a:prstGeom>
            <a:noFill/>
            <a:ln w="9525">
              <a:noFill/>
              <a:miter lim="800000"/>
              <a:headEnd/>
              <a:tailEnd/>
            </a:ln>
          </p:spPr>
          <p:txBody>
            <a:bodyPr wrap="none" lIns="90488" tIns="44450" rIns="90488" bIns="44450">
              <a:spAutoFit/>
            </a:bodyPr>
            <a:lstStyle/>
            <a:p>
              <a:pPr>
                <a:lnSpc>
                  <a:spcPct val="90000"/>
                </a:lnSpc>
              </a:pPr>
              <a:r>
                <a:rPr lang="en-US"/>
                <a:t>Simple</a:t>
              </a:r>
            </a:p>
          </p:txBody>
        </p:sp>
        <p:sp>
          <p:nvSpPr>
            <p:cNvPr id="18497" name="Rectangle 78"/>
            <p:cNvSpPr>
              <a:spLocks noChangeArrowheads="1"/>
            </p:cNvSpPr>
            <p:nvPr/>
          </p:nvSpPr>
          <p:spPr bwMode="auto">
            <a:xfrm>
              <a:off x="4839" y="1379"/>
              <a:ext cx="920" cy="192"/>
            </a:xfrm>
            <a:prstGeom prst="rect">
              <a:avLst/>
            </a:prstGeom>
            <a:noFill/>
            <a:ln w="9525">
              <a:noFill/>
              <a:miter lim="800000"/>
              <a:headEnd/>
              <a:tailEnd/>
            </a:ln>
          </p:spPr>
          <p:txBody>
            <a:bodyPr wrap="none" lIns="90488" tIns="44450" rIns="90488" bIns="44450">
              <a:spAutoFit/>
            </a:bodyPr>
            <a:lstStyle/>
            <a:p>
              <a:r>
                <a:rPr lang="en-US" sz="1400"/>
                <a:t>Phospholipids</a:t>
              </a:r>
            </a:p>
          </p:txBody>
        </p:sp>
        <p:sp>
          <p:nvSpPr>
            <p:cNvPr id="18498" name="Rectangle 79"/>
            <p:cNvSpPr>
              <a:spLocks noChangeArrowheads="1"/>
            </p:cNvSpPr>
            <p:nvPr/>
          </p:nvSpPr>
          <p:spPr bwMode="auto">
            <a:xfrm>
              <a:off x="4839" y="1259"/>
              <a:ext cx="844" cy="192"/>
            </a:xfrm>
            <a:prstGeom prst="rect">
              <a:avLst/>
            </a:prstGeom>
            <a:noFill/>
            <a:ln w="9525">
              <a:noFill/>
              <a:miter lim="800000"/>
              <a:headEnd/>
              <a:tailEnd/>
            </a:ln>
          </p:spPr>
          <p:txBody>
            <a:bodyPr wrap="none" lIns="90488" tIns="44450" rIns="90488" bIns="44450">
              <a:spAutoFit/>
            </a:bodyPr>
            <a:lstStyle/>
            <a:p>
              <a:r>
                <a:rPr lang="en-US" sz="1400"/>
                <a:t>Triglycerides</a:t>
              </a:r>
            </a:p>
          </p:txBody>
        </p:sp>
        <p:sp>
          <p:nvSpPr>
            <p:cNvPr id="18499" name="Rectangle 80"/>
            <p:cNvSpPr>
              <a:spLocks noChangeArrowheads="1"/>
            </p:cNvSpPr>
            <p:nvPr/>
          </p:nvSpPr>
          <p:spPr bwMode="auto">
            <a:xfrm>
              <a:off x="4839" y="1091"/>
              <a:ext cx="1145" cy="192"/>
            </a:xfrm>
            <a:prstGeom prst="rect">
              <a:avLst/>
            </a:prstGeom>
            <a:noFill/>
            <a:ln w="9525">
              <a:noFill/>
              <a:miter lim="800000"/>
              <a:headEnd/>
              <a:tailEnd/>
            </a:ln>
          </p:spPr>
          <p:txBody>
            <a:bodyPr wrap="none" lIns="90488" tIns="44450" rIns="90488" bIns="44450">
              <a:spAutoFit/>
            </a:bodyPr>
            <a:lstStyle/>
            <a:p>
              <a:r>
                <a:rPr lang="en-US" sz="1400"/>
                <a:t>Fatty acids, Sterol</a:t>
              </a:r>
            </a:p>
          </p:txBody>
        </p:sp>
        <p:sp>
          <p:nvSpPr>
            <p:cNvPr id="18500" name="Rectangle 81"/>
            <p:cNvSpPr>
              <a:spLocks noChangeArrowheads="1"/>
            </p:cNvSpPr>
            <p:nvPr/>
          </p:nvSpPr>
          <p:spPr bwMode="auto">
            <a:xfrm>
              <a:off x="2405" y="1220"/>
              <a:ext cx="704" cy="211"/>
            </a:xfrm>
            <a:prstGeom prst="rect">
              <a:avLst/>
            </a:prstGeom>
            <a:noFill/>
            <a:ln w="25400">
              <a:solidFill>
                <a:schemeClr val="accent2"/>
              </a:solidFill>
              <a:miter lim="800000"/>
              <a:headEnd/>
              <a:tailEnd/>
            </a:ln>
          </p:spPr>
          <p:txBody>
            <a:bodyPr wrap="none" anchor="ctr"/>
            <a:lstStyle/>
            <a:p>
              <a:endParaRPr lang="en-NZ">
                <a:latin typeface="Calibri" pitchFamily="34" charset="0"/>
              </a:endParaRPr>
            </a:p>
          </p:txBody>
        </p:sp>
        <p:sp>
          <p:nvSpPr>
            <p:cNvPr id="18501" name="Rectangle 82"/>
            <p:cNvSpPr>
              <a:spLocks noChangeArrowheads="1"/>
            </p:cNvSpPr>
            <p:nvPr/>
          </p:nvSpPr>
          <p:spPr bwMode="auto">
            <a:xfrm>
              <a:off x="3436" y="1136"/>
              <a:ext cx="968" cy="157"/>
            </a:xfrm>
            <a:prstGeom prst="rect">
              <a:avLst/>
            </a:prstGeom>
            <a:noFill/>
            <a:ln w="25400">
              <a:solidFill>
                <a:schemeClr val="accent2"/>
              </a:solidFill>
              <a:miter lim="800000"/>
              <a:headEnd/>
              <a:tailEnd/>
            </a:ln>
          </p:spPr>
          <p:txBody>
            <a:bodyPr wrap="none" anchor="ctr"/>
            <a:lstStyle/>
            <a:p>
              <a:endParaRPr lang="en-NZ">
                <a:latin typeface="Calibri" pitchFamily="34" charset="0"/>
              </a:endParaRPr>
            </a:p>
          </p:txBody>
        </p:sp>
        <p:sp>
          <p:nvSpPr>
            <p:cNvPr id="18502" name="Rectangle 83"/>
            <p:cNvSpPr>
              <a:spLocks noChangeArrowheads="1"/>
            </p:cNvSpPr>
            <p:nvPr/>
          </p:nvSpPr>
          <p:spPr bwMode="auto">
            <a:xfrm>
              <a:off x="3436" y="1388"/>
              <a:ext cx="968" cy="172"/>
            </a:xfrm>
            <a:prstGeom prst="rect">
              <a:avLst/>
            </a:prstGeom>
            <a:noFill/>
            <a:ln w="25400">
              <a:solidFill>
                <a:schemeClr val="accent2"/>
              </a:solidFill>
              <a:miter lim="800000"/>
              <a:headEnd/>
              <a:tailEnd/>
            </a:ln>
          </p:spPr>
          <p:txBody>
            <a:bodyPr wrap="none" anchor="ctr"/>
            <a:lstStyle/>
            <a:p>
              <a:endParaRPr lang="en-NZ">
                <a:latin typeface="Calibri" pitchFamily="34" charset="0"/>
              </a:endParaRPr>
            </a:p>
          </p:txBody>
        </p:sp>
        <p:sp>
          <p:nvSpPr>
            <p:cNvPr id="18503" name="Line 84"/>
            <p:cNvSpPr>
              <a:spLocks noChangeShapeType="1"/>
            </p:cNvSpPr>
            <p:nvPr/>
          </p:nvSpPr>
          <p:spPr bwMode="auto">
            <a:xfrm>
              <a:off x="3116" y="1341"/>
              <a:ext cx="152" cy="0"/>
            </a:xfrm>
            <a:prstGeom prst="line">
              <a:avLst/>
            </a:prstGeom>
            <a:noFill/>
            <a:ln w="25400">
              <a:solidFill>
                <a:schemeClr val="accent2"/>
              </a:solidFill>
              <a:round/>
              <a:headEnd/>
              <a:tailEnd/>
            </a:ln>
          </p:spPr>
          <p:txBody>
            <a:bodyPr wrap="none" anchor="ctr"/>
            <a:lstStyle/>
            <a:p>
              <a:endParaRPr lang="en-US"/>
            </a:p>
          </p:txBody>
        </p:sp>
        <p:sp>
          <p:nvSpPr>
            <p:cNvPr id="18504" name="Line 85"/>
            <p:cNvSpPr>
              <a:spLocks noChangeShapeType="1"/>
            </p:cNvSpPr>
            <p:nvPr/>
          </p:nvSpPr>
          <p:spPr bwMode="auto">
            <a:xfrm>
              <a:off x="3288" y="1220"/>
              <a:ext cx="0" cy="219"/>
            </a:xfrm>
            <a:prstGeom prst="line">
              <a:avLst/>
            </a:prstGeom>
            <a:noFill/>
            <a:ln w="25400">
              <a:solidFill>
                <a:schemeClr val="accent2"/>
              </a:solidFill>
              <a:round/>
              <a:headEnd/>
              <a:tailEnd/>
            </a:ln>
          </p:spPr>
          <p:txBody>
            <a:bodyPr wrap="none" anchor="ctr"/>
            <a:lstStyle/>
            <a:p>
              <a:endParaRPr lang="en-US"/>
            </a:p>
          </p:txBody>
        </p:sp>
        <p:sp>
          <p:nvSpPr>
            <p:cNvPr id="18505" name="Line 86"/>
            <p:cNvSpPr>
              <a:spLocks noChangeShapeType="1"/>
            </p:cNvSpPr>
            <p:nvPr/>
          </p:nvSpPr>
          <p:spPr bwMode="auto">
            <a:xfrm>
              <a:off x="3294" y="1218"/>
              <a:ext cx="126" cy="0"/>
            </a:xfrm>
            <a:prstGeom prst="line">
              <a:avLst/>
            </a:prstGeom>
            <a:noFill/>
            <a:ln w="25400">
              <a:solidFill>
                <a:schemeClr val="accent2"/>
              </a:solidFill>
              <a:round/>
              <a:headEnd/>
              <a:tailEnd/>
            </a:ln>
          </p:spPr>
          <p:txBody>
            <a:bodyPr wrap="none" anchor="ctr"/>
            <a:lstStyle/>
            <a:p>
              <a:endParaRPr lang="en-US"/>
            </a:p>
          </p:txBody>
        </p:sp>
        <p:sp>
          <p:nvSpPr>
            <p:cNvPr id="18506" name="Line 87"/>
            <p:cNvSpPr>
              <a:spLocks noChangeShapeType="1"/>
            </p:cNvSpPr>
            <p:nvPr/>
          </p:nvSpPr>
          <p:spPr bwMode="auto">
            <a:xfrm>
              <a:off x="3291" y="1451"/>
              <a:ext cx="129" cy="0"/>
            </a:xfrm>
            <a:prstGeom prst="line">
              <a:avLst/>
            </a:prstGeom>
            <a:noFill/>
            <a:ln w="25400">
              <a:solidFill>
                <a:schemeClr val="accent2"/>
              </a:solidFill>
              <a:round/>
              <a:headEnd/>
              <a:tailEnd/>
            </a:ln>
          </p:spPr>
          <p:txBody>
            <a:bodyPr wrap="none" anchor="ctr"/>
            <a:lstStyle/>
            <a:p>
              <a:endParaRPr lang="en-US"/>
            </a:p>
          </p:txBody>
        </p:sp>
        <p:sp>
          <p:nvSpPr>
            <p:cNvPr id="18507" name="Line 88"/>
            <p:cNvSpPr>
              <a:spLocks noChangeShapeType="1"/>
            </p:cNvSpPr>
            <p:nvPr/>
          </p:nvSpPr>
          <p:spPr bwMode="auto">
            <a:xfrm>
              <a:off x="2245" y="1327"/>
              <a:ext cx="155" cy="0"/>
            </a:xfrm>
            <a:prstGeom prst="line">
              <a:avLst/>
            </a:prstGeom>
            <a:noFill/>
            <a:ln w="25400">
              <a:solidFill>
                <a:schemeClr val="hlink"/>
              </a:solidFill>
              <a:round/>
              <a:headEnd/>
              <a:tailEnd/>
            </a:ln>
          </p:spPr>
          <p:txBody>
            <a:bodyPr wrap="none" anchor="ctr"/>
            <a:lstStyle/>
            <a:p>
              <a:endParaRPr lang="en-US"/>
            </a:p>
          </p:txBody>
        </p:sp>
        <p:sp>
          <p:nvSpPr>
            <p:cNvPr id="18508" name="Line 89"/>
            <p:cNvSpPr>
              <a:spLocks noChangeShapeType="1"/>
            </p:cNvSpPr>
            <p:nvPr/>
          </p:nvSpPr>
          <p:spPr bwMode="auto">
            <a:xfrm flipV="1">
              <a:off x="4416" y="1200"/>
              <a:ext cx="271" cy="0"/>
            </a:xfrm>
            <a:prstGeom prst="line">
              <a:avLst/>
            </a:prstGeom>
            <a:noFill/>
            <a:ln w="25400">
              <a:solidFill>
                <a:schemeClr val="accent2"/>
              </a:solidFill>
              <a:round/>
              <a:headEnd/>
              <a:tailEnd/>
            </a:ln>
          </p:spPr>
          <p:txBody>
            <a:bodyPr wrap="none" anchor="ctr"/>
            <a:lstStyle/>
            <a:p>
              <a:endParaRPr lang="en-US"/>
            </a:p>
          </p:txBody>
        </p:sp>
        <p:sp>
          <p:nvSpPr>
            <p:cNvPr id="18509" name="Line 90"/>
            <p:cNvSpPr>
              <a:spLocks noChangeShapeType="1"/>
            </p:cNvSpPr>
            <p:nvPr/>
          </p:nvSpPr>
          <p:spPr bwMode="auto">
            <a:xfrm>
              <a:off x="4421" y="1463"/>
              <a:ext cx="153" cy="0"/>
            </a:xfrm>
            <a:prstGeom prst="line">
              <a:avLst/>
            </a:prstGeom>
            <a:noFill/>
            <a:ln w="25400">
              <a:solidFill>
                <a:schemeClr val="accent2"/>
              </a:solidFill>
              <a:round/>
              <a:headEnd/>
              <a:tailEnd/>
            </a:ln>
          </p:spPr>
          <p:txBody>
            <a:bodyPr wrap="none" anchor="ctr"/>
            <a:lstStyle/>
            <a:p>
              <a:endParaRPr lang="en-US"/>
            </a:p>
          </p:txBody>
        </p:sp>
        <p:sp>
          <p:nvSpPr>
            <p:cNvPr id="18510" name="Line 91"/>
            <p:cNvSpPr>
              <a:spLocks noChangeShapeType="1"/>
            </p:cNvSpPr>
            <p:nvPr/>
          </p:nvSpPr>
          <p:spPr bwMode="auto">
            <a:xfrm>
              <a:off x="4582" y="1344"/>
              <a:ext cx="0" cy="248"/>
            </a:xfrm>
            <a:prstGeom prst="line">
              <a:avLst/>
            </a:prstGeom>
            <a:noFill/>
            <a:ln w="25400">
              <a:solidFill>
                <a:schemeClr val="accent2"/>
              </a:solidFill>
              <a:round/>
              <a:headEnd/>
              <a:tailEnd/>
            </a:ln>
          </p:spPr>
          <p:txBody>
            <a:bodyPr wrap="none" anchor="ctr"/>
            <a:lstStyle/>
            <a:p>
              <a:endParaRPr lang="en-US"/>
            </a:p>
          </p:txBody>
        </p:sp>
        <p:sp>
          <p:nvSpPr>
            <p:cNvPr id="18511" name="Line 92"/>
            <p:cNvSpPr>
              <a:spLocks noChangeShapeType="1"/>
            </p:cNvSpPr>
            <p:nvPr/>
          </p:nvSpPr>
          <p:spPr bwMode="auto">
            <a:xfrm>
              <a:off x="4585" y="1338"/>
              <a:ext cx="101" cy="0"/>
            </a:xfrm>
            <a:prstGeom prst="line">
              <a:avLst/>
            </a:prstGeom>
            <a:noFill/>
            <a:ln w="25400">
              <a:solidFill>
                <a:schemeClr val="accent2"/>
              </a:solidFill>
              <a:round/>
              <a:headEnd/>
              <a:tailEnd/>
            </a:ln>
          </p:spPr>
          <p:txBody>
            <a:bodyPr wrap="none" anchor="ctr"/>
            <a:lstStyle/>
            <a:p>
              <a:endParaRPr lang="en-US"/>
            </a:p>
          </p:txBody>
        </p:sp>
        <p:sp>
          <p:nvSpPr>
            <p:cNvPr id="18512" name="Line 93"/>
            <p:cNvSpPr>
              <a:spLocks noChangeShapeType="1"/>
            </p:cNvSpPr>
            <p:nvPr/>
          </p:nvSpPr>
          <p:spPr bwMode="auto">
            <a:xfrm>
              <a:off x="4588" y="1601"/>
              <a:ext cx="96" cy="0"/>
            </a:xfrm>
            <a:prstGeom prst="line">
              <a:avLst/>
            </a:prstGeom>
            <a:noFill/>
            <a:ln w="25400">
              <a:solidFill>
                <a:schemeClr val="accent2"/>
              </a:solidFill>
              <a:round/>
              <a:headEnd/>
              <a:tailEnd/>
            </a:ln>
          </p:spPr>
          <p:txBody>
            <a:bodyPr wrap="none" anchor="ctr"/>
            <a:lstStyle/>
            <a:p>
              <a:endParaRPr lang="en-US"/>
            </a:p>
          </p:txBody>
        </p:sp>
        <p:sp>
          <p:nvSpPr>
            <p:cNvPr id="18513" name="Line 94"/>
            <p:cNvSpPr>
              <a:spLocks noChangeShapeType="1"/>
            </p:cNvSpPr>
            <p:nvPr/>
          </p:nvSpPr>
          <p:spPr bwMode="auto">
            <a:xfrm>
              <a:off x="4590" y="1463"/>
              <a:ext cx="96" cy="0"/>
            </a:xfrm>
            <a:prstGeom prst="line">
              <a:avLst/>
            </a:prstGeom>
            <a:noFill/>
            <a:ln w="25400">
              <a:solidFill>
                <a:schemeClr val="accent2"/>
              </a:solidFill>
              <a:round/>
              <a:headEnd/>
              <a:tailEnd/>
            </a:ln>
          </p:spPr>
          <p:txBody>
            <a:bodyPr wrap="none" anchor="ctr"/>
            <a:lstStyle/>
            <a:p>
              <a:endParaRPr lang="en-US"/>
            </a:p>
          </p:txBody>
        </p:sp>
        <p:sp>
          <p:nvSpPr>
            <p:cNvPr id="18514" name="Rectangle 95"/>
            <p:cNvSpPr>
              <a:spLocks noChangeArrowheads="1"/>
            </p:cNvSpPr>
            <p:nvPr/>
          </p:nvSpPr>
          <p:spPr bwMode="auto">
            <a:xfrm>
              <a:off x="4839" y="1507"/>
              <a:ext cx="513" cy="192"/>
            </a:xfrm>
            <a:prstGeom prst="rect">
              <a:avLst/>
            </a:prstGeom>
            <a:noFill/>
            <a:ln w="9525">
              <a:noFill/>
              <a:miter lim="800000"/>
              <a:headEnd/>
              <a:tailEnd/>
            </a:ln>
          </p:spPr>
          <p:txBody>
            <a:bodyPr wrap="none" lIns="90488" tIns="44450" rIns="90488" bIns="44450">
              <a:spAutoFit/>
            </a:bodyPr>
            <a:lstStyle/>
            <a:p>
              <a:r>
                <a:rPr lang="en-US" sz="1400"/>
                <a:t>Waxes</a:t>
              </a:r>
            </a:p>
          </p:txBody>
        </p:sp>
      </p:grpSp>
      <p:grpSp>
        <p:nvGrpSpPr>
          <p:cNvPr id="534624" name="Group 96"/>
          <p:cNvGrpSpPr>
            <a:grpSpLocks/>
          </p:cNvGrpSpPr>
          <p:nvPr/>
        </p:nvGrpSpPr>
        <p:grpSpPr bwMode="auto">
          <a:xfrm>
            <a:off x="2836863" y="2620963"/>
            <a:ext cx="5289550" cy="1104900"/>
            <a:chOff x="2010" y="1775"/>
            <a:chExt cx="3749" cy="696"/>
          </a:xfrm>
        </p:grpSpPr>
        <p:sp>
          <p:nvSpPr>
            <p:cNvPr id="18469" name="Rectangle 97"/>
            <p:cNvSpPr>
              <a:spLocks noChangeArrowheads="1"/>
            </p:cNvSpPr>
            <p:nvPr/>
          </p:nvSpPr>
          <p:spPr bwMode="auto">
            <a:xfrm>
              <a:off x="4839" y="1775"/>
              <a:ext cx="532" cy="192"/>
            </a:xfrm>
            <a:prstGeom prst="rect">
              <a:avLst/>
            </a:prstGeom>
            <a:noFill/>
            <a:ln w="9525">
              <a:noFill/>
              <a:miter lim="800000"/>
              <a:headEnd/>
              <a:tailEnd/>
            </a:ln>
          </p:spPr>
          <p:txBody>
            <a:bodyPr wrap="none" lIns="90488" tIns="44450" rIns="90488" bIns="44450">
              <a:spAutoFit/>
            </a:bodyPr>
            <a:lstStyle/>
            <a:p>
              <a:r>
                <a:rPr lang="en-US" sz="1400"/>
                <a:t>Sugars</a:t>
              </a:r>
            </a:p>
          </p:txBody>
        </p:sp>
        <p:sp>
          <p:nvSpPr>
            <p:cNvPr id="18470" name="Rectangle 98"/>
            <p:cNvSpPr>
              <a:spLocks noChangeArrowheads="1"/>
            </p:cNvSpPr>
            <p:nvPr/>
          </p:nvSpPr>
          <p:spPr bwMode="auto">
            <a:xfrm>
              <a:off x="2262" y="1887"/>
              <a:ext cx="757" cy="371"/>
            </a:xfrm>
            <a:prstGeom prst="rect">
              <a:avLst/>
            </a:prstGeom>
            <a:noFill/>
            <a:ln w="9525">
              <a:noFill/>
              <a:miter lim="800000"/>
              <a:headEnd/>
              <a:tailEnd/>
            </a:ln>
          </p:spPr>
          <p:txBody>
            <a:bodyPr wrap="none" lIns="90488" tIns="44450" rIns="90488" bIns="44450">
              <a:spAutoFit/>
            </a:bodyPr>
            <a:lstStyle/>
            <a:p>
              <a:pPr>
                <a:lnSpc>
                  <a:spcPct val="90000"/>
                </a:lnSpc>
              </a:pPr>
              <a:r>
                <a:rPr lang="en-US"/>
                <a:t>Carbo-</a:t>
              </a:r>
            </a:p>
            <a:p>
              <a:pPr>
                <a:lnSpc>
                  <a:spcPct val="90000"/>
                </a:lnSpc>
              </a:pPr>
              <a:r>
                <a:rPr lang="en-US"/>
                <a:t>hydrates</a:t>
              </a:r>
            </a:p>
          </p:txBody>
        </p:sp>
        <p:sp>
          <p:nvSpPr>
            <p:cNvPr id="18471" name="Rectangle 99"/>
            <p:cNvSpPr>
              <a:spLocks noChangeArrowheads="1"/>
            </p:cNvSpPr>
            <p:nvPr/>
          </p:nvSpPr>
          <p:spPr bwMode="auto">
            <a:xfrm>
              <a:off x="3429" y="2146"/>
              <a:ext cx="738" cy="214"/>
            </a:xfrm>
            <a:prstGeom prst="rect">
              <a:avLst/>
            </a:prstGeom>
            <a:noFill/>
            <a:ln w="9525">
              <a:noFill/>
              <a:miter lim="800000"/>
              <a:headEnd/>
              <a:tailEnd/>
            </a:ln>
          </p:spPr>
          <p:txBody>
            <a:bodyPr wrap="none" lIns="90488" tIns="44450" rIns="90488" bIns="44450">
              <a:spAutoFit/>
            </a:bodyPr>
            <a:lstStyle/>
            <a:p>
              <a:pPr>
                <a:lnSpc>
                  <a:spcPct val="90000"/>
                </a:lnSpc>
              </a:pPr>
              <a:r>
                <a:rPr lang="en-US"/>
                <a:t>Cell wall</a:t>
              </a:r>
            </a:p>
          </p:txBody>
        </p:sp>
        <p:sp>
          <p:nvSpPr>
            <p:cNvPr id="18472" name="Rectangle 100"/>
            <p:cNvSpPr>
              <a:spLocks noChangeArrowheads="1"/>
            </p:cNvSpPr>
            <p:nvPr/>
          </p:nvSpPr>
          <p:spPr bwMode="auto">
            <a:xfrm>
              <a:off x="3429" y="1824"/>
              <a:ext cx="1047" cy="214"/>
            </a:xfrm>
            <a:prstGeom prst="rect">
              <a:avLst/>
            </a:prstGeom>
            <a:noFill/>
            <a:ln w="9525">
              <a:noFill/>
              <a:miter lim="800000"/>
              <a:headEnd/>
              <a:tailEnd/>
            </a:ln>
          </p:spPr>
          <p:txBody>
            <a:bodyPr wrap="none" lIns="90488" tIns="44450" rIns="90488" bIns="44450">
              <a:spAutoFit/>
            </a:bodyPr>
            <a:lstStyle/>
            <a:p>
              <a:pPr>
                <a:lnSpc>
                  <a:spcPct val="90000"/>
                </a:lnSpc>
              </a:pPr>
              <a:r>
                <a:rPr lang="en-US"/>
                <a:t>Non cell wall</a:t>
              </a:r>
            </a:p>
          </p:txBody>
        </p:sp>
        <p:sp>
          <p:nvSpPr>
            <p:cNvPr id="18473" name="Rectangle 101"/>
            <p:cNvSpPr>
              <a:spLocks noChangeArrowheads="1"/>
            </p:cNvSpPr>
            <p:nvPr/>
          </p:nvSpPr>
          <p:spPr bwMode="auto">
            <a:xfrm>
              <a:off x="4839" y="2279"/>
              <a:ext cx="652" cy="192"/>
            </a:xfrm>
            <a:prstGeom prst="rect">
              <a:avLst/>
            </a:prstGeom>
            <a:noFill/>
            <a:ln w="9525">
              <a:noFill/>
              <a:miter lim="800000"/>
              <a:headEnd/>
              <a:tailEnd/>
            </a:ln>
          </p:spPr>
          <p:txBody>
            <a:bodyPr wrap="none" lIns="90488" tIns="44450" rIns="90488" bIns="44450">
              <a:spAutoFit/>
            </a:bodyPr>
            <a:lstStyle/>
            <a:p>
              <a:r>
                <a:rPr lang="en-US" sz="1400"/>
                <a:t>Cellulose</a:t>
              </a:r>
            </a:p>
          </p:txBody>
        </p:sp>
        <p:sp>
          <p:nvSpPr>
            <p:cNvPr id="18474" name="Rectangle 102"/>
            <p:cNvSpPr>
              <a:spLocks noChangeArrowheads="1"/>
            </p:cNvSpPr>
            <p:nvPr/>
          </p:nvSpPr>
          <p:spPr bwMode="auto">
            <a:xfrm>
              <a:off x="4839" y="2159"/>
              <a:ext cx="920" cy="192"/>
            </a:xfrm>
            <a:prstGeom prst="rect">
              <a:avLst/>
            </a:prstGeom>
            <a:noFill/>
            <a:ln w="9525">
              <a:noFill/>
              <a:miter lim="800000"/>
              <a:headEnd/>
              <a:tailEnd/>
            </a:ln>
          </p:spPr>
          <p:txBody>
            <a:bodyPr wrap="none" lIns="90488" tIns="44450" rIns="90488" bIns="44450">
              <a:spAutoFit/>
            </a:bodyPr>
            <a:lstStyle/>
            <a:p>
              <a:r>
                <a:rPr lang="en-US" sz="1400"/>
                <a:t>Hemicellulose</a:t>
              </a:r>
            </a:p>
          </p:txBody>
        </p:sp>
        <p:sp>
          <p:nvSpPr>
            <p:cNvPr id="18475" name="Rectangle 103"/>
            <p:cNvSpPr>
              <a:spLocks noChangeArrowheads="1"/>
            </p:cNvSpPr>
            <p:nvPr/>
          </p:nvSpPr>
          <p:spPr bwMode="auto">
            <a:xfrm>
              <a:off x="4839" y="1903"/>
              <a:ext cx="630" cy="192"/>
            </a:xfrm>
            <a:prstGeom prst="rect">
              <a:avLst/>
            </a:prstGeom>
            <a:noFill/>
            <a:ln w="9525">
              <a:noFill/>
              <a:miter lim="800000"/>
              <a:headEnd/>
              <a:tailEnd/>
            </a:ln>
          </p:spPr>
          <p:txBody>
            <a:bodyPr wrap="none" lIns="90488" tIns="44450" rIns="90488" bIns="44450">
              <a:spAutoFit/>
            </a:bodyPr>
            <a:lstStyle/>
            <a:p>
              <a:r>
                <a:rPr lang="en-US" sz="1400"/>
                <a:t>Starches</a:t>
              </a:r>
            </a:p>
          </p:txBody>
        </p:sp>
        <p:sp>
          <p:nvSpPr>
            <p:cNvPr id="18476" name="Rectangle 104"/>
            <p:cNvSpPr>
              <a:spLocks noChangeArrowheads="1"/>
            </p:cNvSpPr>
            <p:nvPr/>
          </p:nvSpPr>
          <p:spPr bwMode="auto">
            <a:xfrm>
              <a:off x="2267" y="1859"/>
              <a:ext cx="842" cy="357"/>
            </a:xfrm>
            <a:prstGeom prst="rect">
              <a:avLst/>
            </a:prstGeom>
            <a:noFill/>
            <a:ln w="25400">
              <a:solidFill>
                <a:schemeClr val="accent1"/>
              </a:solidFill>
              <a:miter lim="800000"/>
              <a:headEnd/>
              <a:tailEnd/>
            </a:ln>
          </p:spPr>
          <p:txBody>
            <a:bodyPr wrap="none" anchor="ctr"/>
            <a:lstStyle/>
            <a:p>
              <a:endParaRPr lang="en-NZ">
                <a:latin typeface="Calibri" pitchFamily="34" charset="0"/>
              </a:endParaRPr>
            </a:p>
          </p:txBody>
        </p:sp>
        <p:sp>
          <p:nvSpPr>
            <p:cNvPr id="18477" name="Rectangle 105"/>
            <p:cNvSpPr>
              <a:spLocks noChangeArrowheads="1"/>
            </p:cNvSpPr>
            <p:nvPr/>
          </p:nvSpPr>
          <p:spPr bwMode="auto">
            <a:xfrm>
              <a:off x="3436" y="1827"/>
              <a:ext cx="968" cy="158"/>
            </a:xfrm>
            <a:prstGeom prst="rect">
              <a:avLst/>
            </a:prstGeom>
            <a:noFill/>
            <a:ln w="25400">
              <a:solidFill>
                <a:schemeClr val="accent1"/>
              </a:solidFill>
              <a:miter lim="800000"/>
              <a:headEnd/>
              <a:tailEnd/>
            </a:ln>
          </p:spPr>
          <p:txBody>
            <a:bodyPr wrap="none" anchor="ctr"/>
            <a:lstStyle/>
            <a:p>
              <a:endParaRPr lang="en-NZ">
                <a:latin typeface="Calibri" pitchFamily="34" charset="0"/>
              </a:endParaRPr>
            </a:p>
          </p:txBody>
        </p:sp>
        <p:sp>
          <p:nvSpPr>
            <p:cNvPr id="18478" name="Rectangle 106"/>
            <p:cNvSpPr>
              <a:spLocks noChangeArrowheads="1"/>
            </p:cNvSpPr>
            <p:nvPr/>
          </p:nvSpPr>
          <p:spPr bwMode="auto">
            <a:xfrm>
              <a:off x="3436" y="2139"/>
              <a:ext cx="968" cy="189"/>
            </a:xfrm>
            <a:prstGeom prst="rect">
              <a:avLst/>
            </a:prstGeom>
            <a:noFill/>
            <a:ln w="25400">
              <a:solidFill>
                <a:schemeClr val="accent1"/>
              </a:solidFill>
              <a:miter lim="800000"/>
              <a:headEnd/>
              <a:tailEnd/>
            </a:ln>
          </p:spPr>
          <p:txBody>
            <a:bodyPr wrap="none" anchor="ctr"/>
            <a:lstStyle/>
            <a:p>
              <a:endParaRPr lang="en-NZ">
                <a:latin typeface="Calibri" pitchFamily="34" charset="0"/>
              </a:endParaRPr>
            </a:p>
          </p:txBody>
        </p:sp>
        <p:sp>
          <p:nvSpPr>
            <p:cNvPr id="18479" name="Line 107"/>
            <p:cNvSpPr>
              <a:spLocks noChangeShapeType="1"/>
            </p:cNvSpPr>
            <p:nvPr/>
          </p:nvSpPr>
          <p:spPr bwMode="auto">
            <a:xfrm>
              <a:off x="3116" y="2041"/>
              <a:ext cx="152" cy="0"/>
            </a:xfrm>
            <a:prstGeom prst="line">
              <a:avLst/>
            </a:prstGeom>
            <a:noFill/>
            <a:ln w="25400">
              <a:solidFill>
                <a:schemeClr val="accent1"/>
              </a:solidFill>
              <a:round/>
              <a:headEnd/>
              <a:tailEnd/>
            </a:ln>
          </p:spPr>
          <p:txBody>
            <a:bodyPr wrap="none" anchor="ctr"/>
            <a:lstStyle/>
            <a:p>
              <a:endParaRPr lang="en-US"/>
            </a:p>
          </p:txBody>
        </p:sp>
        <p:sp>
          <p:nvSpPr>
            <p:cNvPr id="18480" name="Line 108"/>
            <p:cNvSpPr>
              <a:spLocks noChangeShapeType="1"/>
            </p:cNvSpPr>
            <p:nvPr/>
          </p:nvSpPr>
          <p:spPr bwMode="auto">
            <a:xfrm>
              <a:off x="3288" y="1920"/>
              <a:ext cx="0" cy="288"/>
            </a:xfrm>
            <a:prstGeom prst="line">
              <a:avLst/>
            </a:prstGeom>
            <a:noFill/>
            <a:ln w="25400">
              <a:solidFill>
                <a:schemeClr val="accent1"/>
              </a:solidFill>
              <a:round/>
              <a:headEnd/>
              <a:tailEnd/>
            </a:ln>
          </p:spPr>
          <p:txBody>
            <a:bodyPr wrap="none" anchor="ctr"/>
            <a:lstStyle/>
            <a:p>
              <a:endParaRPr lang="en-US"/>
            </a:p>
          </p:txBody>
        </p:sp>
        <p:sp>
          <p:nvSpPr>
            <p:cNvPr id="18481" name="Line 109"/>
            <p:cNvSpPr>
              <a:spLocks noChangeShapeType="1"/>
            </p:cNvSpPr>
            <p:nvPr/>
          </p:nvSpPr>
          <p:spPr bwMode="auto">
            <a:xfrm>
              <a:off x="3294" y="1918"/>
              <a:ext cx="126" cy="0"/>
            </a:xfrm>
            <a:prstGeom prst="line">
              <a:avLst/>
            </a:prstGeom>
            <a:noFill/>
            <a:ln w="25400">
              <a:solidFill>
                <a:schemeClr val="accent1"/>
              </a:solidFill>
              <a:round/>
              <a:headEnd/>
              <a:tailEnd/>
            </a:ln>
          </p:spPr>
          <p:txBody>
            <a:bodyPr wrap="none" anchor="ctr"/>
            <a:lstStyle/>
            <a:p>
              <a:endParaRPr lang="en-US"/>
            </a:p>
          </p:txBody>
        </p:sp>
        <p:sp>
          <p:nvSpPr>
            <p:cNvPr id="18482" name="Line 110"/>
            <p:cNvSpPr>
              <a:spLocks noChangeShapeType="1"/>
            </p:cNvSpPr>
            <p:nvPr/>
          </p:nvSpPr>
          <p:spPr bwMode="auto">
            <a:xfrm>
              <a:off x="3291" y="2207"/>
              <a:ext cx="129" cy="0"/>
            </a:xfrm>
            <a:prstGeom prst="line">
              <a:avLst/>
            </a:prstGeom>
            <a:noFill/>
            <a:ln w="25400">
              <a:solidFill>
                <a:schemeClr val="accent1"/>
              </a:solidFill>
              <a:round/>
              <a:headEnd/>
              <a:tailEnd/>
            </a:ln>
          </p:spPr>
          <p:txBody>
            <a:bodyPr wrap="none" anchor="ctr"/>
            <a:lstStyle/>
            <a:p>
              <a:endParaRPr lang="en-US"/>
            </a:p>
          </p:txBody>
        </p:sp>
        <p:sp>
          <p:nvSpPr>
            <p:cNvPr id="18483" name="Line 111"/>
            <p:cNvSpPr>
              <a:spLocks noChangeShapeType="1"/>
            </p:cNvSpPr>
            <p:nvPr/>
          </p:nvSpPr>
          <p:spPr bwMode="auto">
            <a:xfrm>
              <a:off x="4413" y="1915"/>
              <a:ext cx="147" cy="0"/>
            </a:xfrm>
            <a:prstGeom prst="line">
              <a:avLst/>
            </a:prstGeom>
            <a:noFill/>
            <a:ln w="25400">
              <a:solidFill>
                <a:schemeClr val="accent1"/>
              </a:solidFill>
              <a:round/>
              <a:headEnd/>
              <a:tailEnd/>
            </a:ln>
          </p:spPr>
          <p:txBody>
            <a:bodyPr wrap="none" anchor="ctr"/>
            <a:lstStyle/>
            <a:p>
              <a:endParaRPr lang="en-US"/>
            </a:p>
          </p:txBody>
        </p:sp>
        <p:sp>
          <p:nvSpPr>
            <p:cNvPr id="18484" name="Line 112"/>
            <p:cNvSpPr>
              <a:spLocks noChangeShapeType="1"/>
            </p:cNvSpPr>
            <p:nvPr/>
          </p:nvSpPr>
          <p:spPr bwMode="auto">
            <a:xfrm>
              <a:off x="4577" y="1859"/>
              <a:ext cx="0" cy="129"/>
            </a:xfrm>
            <a:prstGeom prst="line">
              <a:avLst/>
            </a:prstGeom>
            <a:noFill/>
            <a:ln w="25400">
              <a:solidFill>
                <a:schemeClr val="accent1"/>
              </a:solidFill>
              <a:round/>
              <a:headEnd/>
              <a:tailEnd/>
            </a:ln>
          </p:spPr>
          <p:txBody>
            <a:bodyPr wrap="none" anchor="ctr"/>
            <a:lstStyle/>
            <a:p>
              <a:endParaRPr lang="en-US"/>
            </a:p>
          </p:txBody>
        </p:sp>
        <p:sp>
          <p:nvSpPr>
            <p:cNvPr id="18485" name="Line 113"/>
            <p:cNvSpPr>
              <a:spLocks noChangeShapeType="1"/>
            </p:cNvSpPr>
            <p:nvPr/>
          </p:nvSpPr>
          <p:spPr bwMode="auto">
            <a:xfrm>
              <a:off x="4580" y="1856"/>
              <a:ext cx="102" cy="0"/>
            </a:xfrm>
            <a:prstGeom prst="line">
              <a:avLst/>
            </a:prstGeom>
            <a:noFill/>
            <a:ln w="25400">
              <a:solidFill>
                <a:schemeClr val="accent1"/>
              </a:solidFill>
              <a:round/>
              <a:headEnd/>
              <a:tailEnd/>
            </a:ln>
          </p:spPr>
          <p:txBody>
            <a:bodyPr wrap="none" anchor="ctr"/>
            <a:lstStyle/>
            <a:p>
              <a:endParaRPr lang="en-US"/>
            </a:p>
          </p:txBody>
        </p:sp>
        <p:sp>
          <p:nvSpPr>
            <p:cNvPr id="18486" name="Line 114"/>
            <p:cNvSpPr>
              <a:spLocks noChangeShapeType="1"/>
            </p:cNvSpPr>
            <p:nvPr/>
          </p:nvSpPr>
          <p:spPr bwMode="auto">
            <a:xfrm>
              <a:off x="4580" y="1996"/>
              <a:ext cx="102" cy="0"/>
            </a:xfrm>
            <a:prstGeom prst="line">
              <a:avLst/>
            </a:prstGeom>
            <a:noFill/>
            <a:ln w="25400">
              <a:solidFill>
                <a:schemeClr val="accent1"/>
              </a:solidFill>
              <a:round/>
              <a:headEnd/>
              <a:tailEnd/>
            </a:ln>
          </p:spPr>
          <p:txBody>
            <a:bodyPr wrap="none" anchor="ctr"/>
            <a:lstStyle/>
            <a:p>
              <a:endParaRPr lang="en-US"/>
            </a:p>
          </p:txBody>
        </p:sp>
        <p:sp>
          <p:nvSpPr>
            <p:cNvPr id="18487" name="Line 115"/>
            <p:cNvSpPr>
              <a:spLocks noChangeShapeType="1"/>
            </p:cNvSpPr>
            <p:nvPr/>
          </p:nvSpPr>
          <p:spPr bwMode="auto">
            <a:xfrm>
              <a:off x="4421" y="2251"/>
              <a:ext cx="153" cy="0"/>
            </a:xfrm>
            <a:prstGeom prst="line">
              <a:avLst/>
            </a:prstGeom>
            <a:noFill/>
            <a:ln w="25400">
              <a:solidFill>
                <a:schemeClr val="accent1"/>
              </a:solidFill>
              <a:round/>
              <a:headEnd/>
              <a:tailEnd/>
            </a:ln>
          </p:spPr>
          <p:txBody>
            <a:bodyPr wrap="none" anchor="ctr"/>
            <a:lstStyle/>
            <a:p>
              <a:endParaRPr lang="en-US"/>
            </a:p>
          </p:txBody>
        </p:sp>
        <p:sp>
          <p:nvSpPr>
            <p:cNvPr id="18488" name="Line 116"/>
            <p:cNvSpPr>
              <a:spLocks noChangeShapeType="1"/>
            </p:cNvSpPr>
            <p:nvPr/>
          </p:nvSpPr>
          <p:spPr bwMode="auto">
            <a:xfrm>
              <a:off x="4582" y="2116"/>
              <a:ext cx="0" cy="252"/>
            </a:xfrm>
            <a:prstGeom prst="line">
              <a:avLst/>
            </a:prstGeom>
            <a:noFill/>
            <a:ln w="25400">
              <a:solidFill>
                <a:schemeClr val="accent1"/>
              </a:solidFill>
              <a:round/>
              <a:headEnd/>
              <a:tailEnd/>
            </a:ln>
          </p:spPr>
          <p:txBody>
            <a:bodyPr wrap="none" anchor="ctr"/>
            <a:lstStyle/>
            <a:p>
              <a:endParaRPr lang="en-US"/>
            </a:p>
          </p:txBody>
        </p:sp>
        <p:sp>
          <p:nvSpPr>
            <p:cNvPr id="18489" name="Line 117"/>
            <p:cNvSpPr>
              <a:spLocks noChangeShapeType="1"/>
            </p:cNvSpPr>
            <p:nvPr/>
          </p:nvSpPr>
          <p:spPr bwMode="auto">
            <a:xfrm>
              <a:off x="4585" y="2110"/>
              <a:ext cx="101" cy="0"/>
            </a:xfrm>
            <a:prstGeom prst="line">
              <a:avLst/>
            </a:prstGeom>
            <a:noFill/>
            <a:ln w="25400">
              <a:solidFill>
                <a:schemeClr val="accent1"/>
              </a:solidFill>
              <a:round/>
              <a:headEnd/>
              <a:tailEnd/>
            </a:ln>
          </p:spPr>
          <p:txBody>
            <a:bodyPr wrap="none" anchor="ctr"/>
            <a:lstStyle/>
            <a:p>
              <a:endParaRPr lang="en-US"/>
            </a:p>
          </p:txBody>
        </p:sp>
        <p:sp>
          <p:nvSpPr>
            <p:cNvPr id="18490" name="Line 118"/>
            <p:cNvSpPr>
              <a:spLocks noChangeShapeType="1"/>
            </p:cNvSpPr>
            <p:nvPr/>
          </p:nvSpPr>
          <p:spPr bwMode="auto">
            <a:xfrm>
              <a:off x="4588" y="2377"/>
              <a:ext cx="96" cy="0"/>
            </a:xfrm>
            <a:prstGeom prst="line">
              <a:avLst/>
            </a:prstGeom>
            <a:noFill/>
            <a:ln w="25400">
              <a:solidFill>
                <a:schemeClr val="accent1"/>
              </a:solidFill>
              <a:round/>
              <a:headEnd/>
              <a:tailEnd/>
            </a:ln>
          </p:spPr>
          <p:txBody>
            <a:bodyPr wrap="none" anchor="ctr"/>
            <a:lstStyle/>
            <a:p>
              <a:endParaRPr lang="en-US"/>
            </a:p>
          </p:txBody>
        </p:sp>
        <p:sp>
          <p:nvSpPr>
            <p:cNvPr id="18491" name="Line 119"/>
            <p:cNvSpPr>
              <a:spLocks noChangeShapeType="1"/>
            </p:cNvSpPr>
            <p:nvPr/>
          </p:nvSpPr>
          <p:spPr bwMode="auto">
            <a:xfrm>
              <a:off x="4590" y="2251"/>
              <a:ext cx="96" cy="0"/>
            </a:xfrm>
            <a:prstGeom prst="line">
              <a:avLst/>
            </a:prstGeom>
            <a:noFill/>
            <a:ln w="25400">
              <a:solidFill>
                <a:schemeClr val="accent1"/>
              </a:solidFill>
              <a:round/>
              <a:headEnd/>
              <a:tailEnd/>
            </a:ln>
          </p:spPr>
          <p:txBody>
            <a:bodyPr wrap="none" anchor="ctr"/>
            <a:lstStyle/>
            <a:p>
              <a:endParaRPr lang="en-US"/>
            </a:p>
          </p:txBody>
        </p:sp>
        <p:sp>
          <p:nvSpPr>
            <p:cNvPr id="18492" name="Rectangle 120"/>
            <p:cNvSpPr>
              <a:spLocks noChangeArrowheads="1"/>
            </p:cNvSpPr>
            <p:nvPr/>
          </p:nvSpPr>
          <p:spPr bwMode="auto">
            <a:xfrm>
              <a:off x="4839" y="2031"/>
              <a:ext cx="546" cy="192"/>
            </a:xfrm>
            <a:prstGeom prst="rect">
              <a:avLst/>
            </a:prstGeom>
            <a:noFill/>
            <a:ln w="9525">
              <a:noFill/>
              <a:miter lim="800000"/>
              <a:headEnd/>
              <a:tailEnd/>
            </a:ln>
          </p:spPr>
          <p:txBody>
            <a:bodyPr wrap="none" lIns="90488" tIns="44450" rIns="90488" bIns="44450">
              <a:spAutoFit/>
            </a:bodyPr>
            <a:lstStyle/>
            <a:p>
              <a:r>
                <a:rPr lang="en-US" sz="1400"/>
                <a:t>Pectins</a:t>
              </a:r>
            </a:p>
          </p:txBody>
        </p:sp>
        <p:sp>
          <p:nvSpPr>
            <p:cNvPr id="18493" name="Line 121"/>
            <p:cNvSpPr>
              <a:spLocks noChangeShapeType="1"/>
            </p:cNvSpPr>
            <p:nvPr/>
          </p:nvSpPr>
          <p:spPr bwMode="auto">
            <a:xfrm>
              <a:off x="2010" y="2035"/>
              <a:ext cx="238" cy="0"/>
            </a:xfrm>
            <a:prstGeom prst="line">
              <a:avLst/>
            </a:prstGeom>
            <a:noFill/>
            <a:ln w="25400">
              <a:solidFill>
                <a:schemeClr val="hlink"/>
              </a:solidFill>
              <a:round/>
              <a:headEnd/>
              <a:tailEnd/>
            </a:ln>
          </p:spPr>
          <p:txBody>
            <a:bodyPr wrap="none" anchor="ctr"/>
            <a:lstStyle/>
            <a:p>
              <a:endParaRPr lang="en-US"/>
            </a:p>
          </p:txBody>
        </p:sp>
      </p:grpSp>
      <p:grpSp>
        <p:nvGrpSpPr>
          <p:cNvPr id="534650" name="Group 122"/>
          <p:cNvGrpSpPr>
            <a:grpSpLocks/>
          </p:cNvGrpSpPr>
          <p:nvPr/>
        </p:nvGrpSpPr>
        <p:grpSpPr bwMode="auto">
          <a:xfrm>
            <a:off x="2825750" y="2347913"/>
            <a:ext cx="5526088" cy="2682875"/>
            <a:chOff x="2002" y="1603"/>
            <a:chExt cx="3917" cy="1690"/>
          </a:xfrm>
        </p:grpSpPr>
        <p:sp>
          <p:nvSpPr>
            <p:cNvPr id="18445" name="Rectangle 123"/>
            <p:cNvSpPr>
              <a:spLocks noChangeArrowheads="1"/>
            </p:cNvSpPr>
            <p:nvPr/>
          </p:nvSpPr>
          <p:spPr bwMode="auto">
            <a:xfrm>
              <a:off x="3429" y="3042"/>
              <a:ext cx="1123" cy="214"/>
            </a:xfrm>
            <a:prstGeom prst="rect">
              <a:avLst/>
            </a:prstGeom>
            <a:noFill/>
            <a:ln w="9525">
              <a:noFill/>
              <a:miter lim="800000"/>
              <a:headEnd/>
              <a:tailEnd/>
            </a:ln>
          </p:spPr>
          <p:txBody>
            <a:bodyPr wrap="none" lIns="90488" tIns="44450" rIns="90488" bIns="44450">
              <a:spAutoFit/>
            </a:bodyPr>
            <a:lstStyle/>
            <a:p>
              <a:pPr>
                <a:lnSpc>
                  <a:spcPct val="90000"/>
                </a:lnSpc>
              </a:pPr>
              <a:r>
                <a:rPr lang="en-US"/>
                <a:t>Water soluble</a:t>
              </a:r>
            </a:p>
          </p:txBody>
        </p:sp>
        <p:sp>
          <p:nvSpPr>
            <p:cNvPr id="18446" name="Line 124"/>
            <p:cNvSpPr>
              <a:spLocks noChangeShapeType="1"/>
            </p:cNvSpPr>
            <p:nvPr/>
          </p:nvSpPr>
          <p:spPr bwMode="auto">
            <a:xfrm>
              <a:off x="2002" y="1603"/>
              <a:ext cx="0" cy="1424"/>
            </a:xfrm>
            <a:prstGeom prst="line">
              <a:avLst/>
            </a:prstGeom>
            <a:noFill/>
            <a:ln w="25400">
              <a:solidFill>
                <a:schemeClr val="hlink"/>
              </a:solidFill>
              <a:round/>
              <a:headEnd/>
              <a:tailEnd/>
            </a:ln>
          </p:spPr>
          <p:txBody>
            <a:bodyPr wrap="none" anchor="ctr"/>
            <a:lstStyle/>
            <a:p>
              <a:endParaRPr lang="en-US"/>
            </a:p>
          </p:txBody>
        </p:sp>
        <p:sp>
          <p:nvSpPr>
            <p:cNvPr id="18447" name="Rectangle 125"/>
            <p:cNvSpPr>
              <a:spLocks noChangeArrowheads="1"/>
            </p:cNvSpPr>
            <p:nvPr/>
          </p:nvSpPr>
          <p:spPr bwMode="auto">
            <a:xfrm>
              <a:off x="4839" y="3080"/>
              <a:ext cx="678" cy="213"/>
            </a:xfrm>
            <a:prstGeom prst="rect">
              <a:avLst/>
            </a:prstGeom>
            <a:noFill/>
            <a:ln w="9525">
              <a:noFill/>
              <a:miter lim="800000"/>
              <a:headEnd/>
              <a:tailEnd/>
            </a:ln>
          </p:spPr>
          <p:txBody>
            <a:bodyPr wrap="none" lIns="90488" tIns="44450" rIns="90488" bIns="44450">
              <a:spAutoFit/>
            </a:bodyPr>
            <a:lstStyle/>
            <a:p>
              <a:pPr>
                <a:lnSpc>
                  <a:spcPct val="115000"/>
                </a:lnSpc>
              </a:pPr>
              <a:r>
                <a:rPr lang="en-US" sz="1400"/>
                <a:t>Vitamin C</a:t>
              </a:r>
            </a:p>
          </p:txBody>
        </p:sp>
        <p:sp>
          <p:nvSpPr>
            <p:cNvPr id="18448" name="Line 126"/>
            <p:cNvSpPr>
              <a:spLocks noChangeShapeType="1"/>
            </p:cNvSpPr>
            <p:nvPr/>
          </p:nvSpPr>
          <p:spPr bwMode="auto">
            <a:xfrm>
              <a:off x="2010" y="3038"/>
              <a:ext cx="238" cy="0"/>
            </a:xfrm>
            <a:prstGeom prst="line">
              <a:avLst/>
            </a:prstGeom>
            <a:noFill/>
            <a:ln w="25400">
              <a:solidFill>
                <a:schemeClr val="hlink"/>
              </a:solidFill>
              <a:round/>
              <a:headEnd/>
              <a:tailEnd/>
            </a:ln>
          </p:spPr>
          <p:txBody>
            <a:bodyPr wrap="none" anchor="ctr"/>
            <a:lstStyle/>
            <a:p>
              <a:endParaRPr lang="en-US"/>
            </a:p>
          </p:txBody>
        </p:sp>
        <p:sp>
          <p:nvSpPr>
            <p:cNvPr id="18449" name="Rectangle 127"/>
            <p:cNvSpPr>
              <a:spLocks noChangeArrowheads="1"/>
            </p:cNvSpPr>
            <p:nvPr/>
          </p:nvSpPr>
          <p:spPr bwMode="auto">
            <a:xfrm>
              <a:off x="2262" y="2935"/>
              <a:ext cx="754" cy="214"/>
            </a:xfrm>
            <a:prstGeom prst="rect">
              <a:avLst/>
            </a:prstGeom>
            <a:noFill/>
            <a:ln w="9525">
              <a:noFill/>
              <a:miter lim="800000"/>
              <a:headEnd/>
              <a:tailEnd/>
            </a:ln>
          </p:spPr>
          <p:txBody>
            <a:bodyPr wrap="none" lIns="90488" tIns="44450" rIns="90488" bIns="44450">
              <a:spAutoFit/>
            </a:bodyPr>
            <a:lstStyle/>
            <a:p>
              <a:pPr>
                <a:lnSpc>
                  <a:spcPct val="90000"/>
                </a:lnSpc>
              </a:pPr>
              <a:r>
                <a:rPr lang="en-US"/>
                <a:t>Vitamins</a:t>
              </a:r>
            </a:p>
          </p:txBody>
        </p:sp>
        <p:sp>
          <p:nvSpPr>
            <p:cNvPr id="18450" name="Rectangle 128"/>
            <p:cNvSpPr>
              <a:spLocks noChangeArrowheads="1"/>
            </p:cNvSpPr>
            <p:nvPr/>
          </p:nvSpPr>
          <p:spPr bwMode="auto">
            <a:xfrm>
              <a:off x="3429" y="2711"/>
              <a:ext cx="929" cy="214"/>
            </a:xfrm>
            <a:prstGeom prst="rect">
              <a:avLst/>
            </a:prstGeom>
            <a:noFill/>
            <a:ln w="9525">
              <a:noFill/>
              <a:miter lim="800000"/>
              <a:headEnd/>
              <a:tailEnd/>
            </a:ln>
          </p:spPr>
          <p:txBody>
            <a:bodyPr wrap="none" lIns="90488" tIns="44450" rIns="90488" bIns="44450">
              <a:spAutoFit/>
            </a:bodyPr>
            <a:lstStyle/>
            <a:p>
              <a:pPr>
                <a:lnSpc>
                  <a:spcPct val="90000"/>
                </a:lnSpc>
              </a:pPr>
              <a:r>
                <a:rPr lang="en-US"/>
                <a:t>Fat soluble</a:t>
              </a:r>
            </a:p>
          </p:txBody>
        </p:sp>
        <p:sp>
          <p:nvSpPr>
            <p:cNvPr id="18451" name="Rectangle 129"/>
            <p:cNvSpPr>
              <a:spLocks noChangeArrowheads="1"/>
            </p:cNvSpPr>
            <p:nvPr/>
          </p:nvSpPr>
          <p:spPr bwMode="auto">
            <a:xfrm>
              <a:off x="4839" y="2807"/>
              <a:ext cx="1033" cy="192"/>
            </a:xfrm>
            <a:prstGeom prst="rect">
              <a:avLst/>
            </a:prstGeom>
            <a:noFill/>
            <a:ln w="9525">
              <a:noFill/>
              <a:miter lim="800000"/>
              <a:headEnd/>
              <a:tailEnd/>
            </a:ln>
          </p:spPr>
          <p:txBody>
            <a:bodyPr wrap="none" lIns="90488" tIns="44450" rIns="90488" bIns="44450">
              <a:spAutoFit/>
            </a:bodyPr>
            <a:lstStyle/>
            <a:p>
              <a:r>
                <a:rPr lang="en-US" sz="1400"/>
                <a:t>Vit. D</a:t>
              </a:r>
              <a:r>
                <a:rPr lang="en-US" sz="1200"/>
                <a:t>2</a:t>
              </a:r>
              <a:r>
                <a:rPr lang="en-US" sz="1400"/>
                <a:t> ,D</a:t>
              </a:r>
              <a:r>
                <a:rPr lang="en-US" sz="1200"/>
                <a:t>3</a:t>
              </a:r>
              <a:r>
                <a:rPr lang="en-US" sz="1400"/>
                <a:t>, E, K</a:t>
              </a:r>
            </a:p>
          </p:txBody>
        </p:sp>
        <p:sp>
          <p:nvSpPr>
            <p:cNvPr id="18452" name="Rectangle 130"/>
            <p:cNvSpPr>
              <a:spLocks noChangeArrowheads="1"/>
            </p:cNvSpPr>
            <p:nvPr/>
          </p:nvSpPr>
          <p:spPr bwMode="auto">
            <a:xfrm>
              <a:off x="4839" y="2663"/>
              <a:ext cx="878" cy="192"/>
            </a:xfrm>
            <a:prstGeom prst="rect">
              <a:avLst/>
            </a:prstGeom>
            <a:noFill/>
            <a:ln w="9525">
              <a:noFill/>
              <a:miter lim="800000"/>
              <a:headEnd/>
              <a:tailEnd/>
            </a:ln>
          </p:spPr>
          <p:txBody>
            <a:bodyPr wrap="none" lIns="90488" tIns="44450" rIns="90488" bIns="44450">
              <a:spAutoFit/>
            </a:bodyPr>
            <a:lstStyle/>
            <a:p>
              <a:r>
                <a:rPr lang="en-US" sz="1400"/>
                <a:t>Provitamin A,</a:t>
              </a:r>
            </a:p>
          </p:txBody>
        </p:sp>
        <p:sp>
          <p:nvSpPr>
            <p:cNvPr id="18453" name="Rectangle 131"/>
            <p:cNvSpPr>
              <a:spLocks noChangeArrowheads="1"/>
            </p:cNvSpPr>
            <p:nvPr/>
          </p:nvSpPr>
          <p:spPr bwMode="auto">
            <a:xfrm>
              <a:off x="2267" y="2949"/>
              <a:ext cx="842" cy="171"/>
            </a:xfrm>
            <a:prstGeom prst="rect">
              <a:avLst/>
            </a:prstGeom>
            <a:noFill/>
            <a:ln w="25400">
              <a:solidFill>
                <a:srgbClr val="FAFD00"/>
              </a:solidFill>
              <a:miter lim="800000"/>
              <a:headEnd/>
              <a:tailEnd/>
            </a:ln>
          </p:spPr>
          <p:txBody>
            <a:bodyPr wrap="none" anchor="ctr"/>
            <a:lstStyle/>
            <a:p>
              <a:endParaRPr lang="en-NZ">
                <a:latin typeface="Calibri" pitchFamily="34" charset="0"/>
              </a:endParaRPr>
            </a:p>
          </p:txBody>
        </p:sp>
        <p:sp>
          <p:nvSpPr>
            <p:cNvPr id="18454" name="Rectangle 132"/>
            <p:cNvSpPr>
              <a:spLocks noChangeArrowheads="1"/>
            </p:cNvSpPr>
            <p:nvPr/>
          </p:nvSpPr>
          <p:spPr bwMode="auto">
            <a:xfrm>
              <a:off x="3436" y="2696"/>
              <a:ext cx="968" cy="208"/>
            </a:xfrm>
            <a:prstGeom prst="rect">
              <a:avLst/>
            </a:prstGeom>
            <a:noFill/>
            <a:ln w="25400">
              <a:solidFill>
                <a:srgbClr val="FAFD00"/>
              </a:solidFill>
              <a:miter lim="800000"/>
              <a:headEnd/>
              <a:tailEnd/>
            </a:ln>
          </p:spPr>
          <p:txBody>
            <a:bodyPr wrap="none" anchor="ctr"/>
            <a:lstStyle/>
            <a:p>
              <a:endParaRPr lang="en-NZ">
                <a:latin typeface="Calibri" pitchFamily="34" charset="0"/>
              </a:endParaRPr>
            </a:p>
          </p:txBody>
        </p:sp>
        <p:sp>
          <p:nvSpPr>
            <p:cNvPr id="18455" name="Rectangle 133"/>
            <p:cNvSpPr>
              <a:spLocks noChangeArrowheads="1"/>
            </p:cNvSpPr>
            <p:nvPr/>
          </p:nvSpPr>
          <p:spPr bwMode="auto">
            <a:xfrm>
              <a:off x="3436" y="3032"/>
              <a:ext cx="968" cy="184"/>
            </a:xfrm>
            <a:prstGeom prst="rect">
              <a:avLst/>
            </a:prstGeom>
            <a:noFill/>
            <a:ln w="25400">
              <a:solidFill>
                <a:srgbClr val="FAFD00"/>
              </a:solidFill>
              <a:miter lim="800000"/>
              <a:headEnd/>
              <a:tailEnd/>
            </a:ln>
          </p:spPr>
          <p:txBody>
            <a:bodyPr wrap="none" anchor="ctr"/>
            <a:lstStyle/>
            <a:p>
              <a:endParaRPr lang="en-NZ">
                <a:latin typeface="Calibri" pitchFamily="34" charset="0"/>
              </a:endParaRPr>
            </a:p>
          </p:txBody>
        </p:sp>
        <p:sp>
          <p:nvSpPr>
            <p:cNvPr id="18456" name="Line 134"/>
            <p:cNvSpPr>
              <a:spLocks noChangeShapeType="1"/>
            </p:cNvSpPr>
            <p:nvPr/>
          </p:nvSpPr>
          <p:spPr bwMode="auto">
            <a:xfrm>
              <a:off x="3125" y="3035"/>
              <a:ext cx="143" cy="0"/>
            </a:xfrm>
            <a:prstGeom prst="line">
              <a:avLst/>
            </a:prstGeom>
            <a:noFill/>
            <a:ln w="25400">
              <a:solidFill>
                <a:srgbClr val="FAFD00"/>
              </a:solidFill>
              <a:round/>
              <a:headEnd/>
              <a:tailEnd/>
            </a:ln>
          </p:spPr>
          <p:txBody>
            <a:bodyPr wrap="none" anchor="ctr"/>
            <a:lstStyle/>
            <a:p>
              <a:endParaRPr lang="en-US"/>
            </a:p>
          </p:txBody>
        </p:sp>
        <p:sp>
          <p:nvSpPr>
            <p:cNvPr id="18457" name="Line 135"/>
            <p:cNvSpPr>
              <a:spLocks noChangeShapeType="1"/>
            </p:cNvSpPr>
            <p:nvPr/>
          </p:nvSpPr>
          <p:spPr bwMode="auto">
            <a:xfrm>
              <a:off x="3288" y="2832"/>
              <a:ext cx="0" cy="301"/>
            </a:xfrm>
            <a:prstGeom prst="line">
              <a:avLst/>
            </a:prstGeom>
            <a:noFill/>
            <a:ln w="25400">
              <a:solidFill>
                <a:srgbClr val="FAFD00"/>
              </a:solidFill>
              <a:round/>
              <a:headEnd/>
              <a:tailEnd/>
            </a:ln>
          </p:spPr>
          <p:txBody>
            <a:bodyPr wrap="none" anchor="ctr"/>
            <a:lstStyle/>
            <a:p>
              <a:endParaRPr lang="en-US"/>
            </a:p>
          </p:txBody>
        </p:sp>
        <p:sp>
          <p:nvSpPr>
            <p:cNvPr id="18458" name="Line 136"/>
            <p:cNvSpPr>
              <a:spLocks noChangeShapeType="1"/>
            </p:cNvSpPr>
            <p:nvPr/>
          </p:nvSpPr>
          <p:spPr bwMode="auto">
            <a:xfrm>
              <a:off x="3288" y="2827"/>
              <a:ext cx="132" cy="0"/>
            </a:xfrm>
            <a:prstGeom prst="line">
              <a:avLst/>
            </a:prstGeom>
            <a:noFill/>
            <a:ln w="25400">
              <a:solidFill>
                <a:srgbClr val="FAFD00"/>
              </a:solidFill>
              <a:round/>
              <a:headEnd/>
              <a:tailEnd/>
            </a:ln>
          </p:spPr>
          <p:txBody>
            <a:bodyPr wrap="none" anchor="ctr"/>
            <a:lstStyle/>
            <a:p>
              <a:endParaRPr lang="en-US"/>
            </a:p>
          </p:txBody>
        </p:sp>
        <p:sp>
          <p:nvSpPr>
            <p:cNvPr id="18459" name="Line 137"/>
            <p:cNvSpPr>
              <a:spLocks noChangeShapeType="1"/>
            </p:cNvSpPr>
            <p:nvPr/>
          </p:nvSpPr>
          <p:spPr bwMode="auto">
            <a:xfrm>
              <a:off x="3292" y="3143"/>
              <a:ext cx="128" cy="0"/>
            </a:xfrm>
            <a:prstGeom prst="line">
              <a:avLst/>
            </a:prstGeom>
            <a:noFill/>
            <a:ln w="25400">
              <a:solidFill>
                <a:srgbClr val="FAFD00"/>
              </a:solidFill>
              <a:round/>
              <a:headEnd/>
              <a:tailEnd/>
            </a:ln>
          </p:spPr>
          <p:txBody>
            <a:bodyPr wrap="none" anchor="ctr"/>
            <a:lstStyle/>
            <a:p>
              <a:endParaRPr lang="en-US"/>
            </a:p>
          </p:txBody>
        </p:sp>
        <p:sp>
          <p:nvSpPr>
            <p:cNvPr id="18460" name="Line 138"/>
            <p:cNvSpPr>
              <a:spLocks noChangeShapeType="1"/>
            </p:cNvSpPr>
            <p:nvPr/>
          </p:nvSpPr>
          <p:spPr bwMode="auto">
            <a:xfrm>
              <a:off x="4413" y="2832"/>
              <a:ext cx="147" cy="0"/>
            </a:xfrm>
            <a:prstGeom prst="line">
              <a:avLst/>
            </a:prstGeom>
            <a:noFill/>
            <a:ln w="25400">
              <a:solidFill>
                <a:srgbClr val="FAFD00"/>
              </a:solidFill>
              <a:round/>
              <a:headEnd/>
              <a:tailEnd/>
            </a:ln>
          </p:spPr>
          <p:txBody>
            <a:bodyPr wrap="none" anchor="ctr"/>
            <a:lstStyle/>
            <a:p>
              <a:endParaRPr lang="en-US"/>
            </a:p>
          </p:txBody>
        </p:sp>
        <p:sp>
          <p:nvSpPr>
            <p:cNvPr id="18461" name="Line 139"/>
            <p:cNvSpPr>
              <a:spLocks noChangeShapeType="1"/>
            </p:cNvSpPr>
            <p:nvPr/>
          </p:nvSpPr>
          <p:spPr bwMode="auto">
            <a:xfrm>
              <a:off x="4577" y="2760"/>
              <a:ext cx="0" cy="144"/>
            </a:xfrm>
            <a:prstGeom prst="line">
              <a:avLst/>
            </a:prstGeom>
            <a:noFill/>
            <a:ln w="25400">
              <a:solidFill>
                <a:srgbClr val="FAFD00"/>
              </a:solidFill>
              <a:round/>
              <a:headEnd/>
              <a:tailEnd/>
            </a:ln>
          </p:spPr>
          <p:txBody>
            <a:bodyPr wrap="none" anchor="ctr"/>
            <a:lstStyle/>
            <a:p>
              <a:endParaRPr lang="en-US"/>
            </a:p>
          </p:txBody>
        </p:sp>
        <p:sp>
          <p:nvSpPr>
            <p:cNvPr id="18462" name="Line 140"/>
            <p:cNvSpPr>
              <a:spLocks noChangeShapeType="1"/>
            </p:cNvSpPr>
            <p:nvPr/>
          </p:nvSpPr>
          <p:spPr bwMode="auto">
            <a:xfrm>
              <a:off x="4580" y="2757"/>
              <a:ext cx="102" cy="0"/>
            </a:xfrm>
            <a:prstGeom prst="line">
              <a:avLst/>
            </a:prstGeom>
            <a:noFill/>
            <a:ln w="25400">
              <a:solidFill>
                <a:srgbClr val="FAFD00"/>
              </a:solidFill>
              <a:round/>
              <a:headEnd/>
              <a:tailEnd/>
            </a:ln>
          </p:spPr>
          <p:txBody>
            <a:bodyPr wrap="none" anchor="ctr"/>
            <a:lstStyle/>
            <a:p>
              <a:endParaRPr lang="en-US"/>
            </a:p>
          </p:txBody>
        </p:sp>
        <p:sp>
          <p:nvSpPr>
            <p:cNvPr id="18463" name="Line 141"/>
            <p:cNvSpPr>
              <a:spLocks noChangeShapeType="1"/>
            </p:cNvSpPr>
            <p:nvPr/>
          </p:nvSpPr>
          <p:spPr bwMode="auto">
            <a:xfrm>
              <a:off x="4580" y="2909"/>
              <a:ext cx="102" cy="0"/>
            </a:xfrm>
            <a:prstGeom prst="line">
              <a:avLst/>
            </a:prstGeom>
            <a:noFill/>
            <a:ln w="25400">
              <a:solidFill>
                <a:srgbClr val="FAFD00"/>
              </a:solidFill>
              <a:round/>
              <a:headEnd/>
              <a:tailEnd/>
            </a:ln>
          </p:spPr>
          <p:txBody>
            <a:bodyPr wrap="none" anchor="ctr"/>
            <a:lstStyle/>
            <a:p>
              <a:endParaRPr lang="en-US"/>
            </a:p>
          </p:txBody>
        </p:sp>
        <p:sp>
          <p:nvSpPr>
            <p:cNvPr id="18464" name="Line 142"/>
            <p:cNvSpPr>
              <a:spLocks noChangeShapeType="1"/>
            </p:cNvSpPr>
            <p:nvPr/>
          </p:nvSpPr>
          <p:spPr bwMode="auto">
            <a:xfrm>
              <a:off x="4577" y="3056"/>
              <a:ext cx="0" cy="144"/>
            </a:xfrm>
            <a:prstGeom prst="line">
              <a:avLst/>
            </a:prstGeom>
            <a:noFill/>
            <a:ln w="25400">
              <a:solidFill>
                <a:srgbClr val="FAFD00"/>
              </a:solidFill>
              <a:round/>
              <a:headEnd/>
              <a:tailEnd/>
            </a:ln>
          </p:spPr>
          <p:txBody>
            <a:bodyPr wrap="none" anchor="ctr"/>
            <a:lstStyle/>
            <a:p>
              <a:endParaRPr lang="en-US"/>
            </a:p>
          </p:txBody>
        </p:sp>
        <p:sp>
          <p:nvSpPr>
            <p:cNvPr id="18465" name="Line 143"/>
            <p:cNvSpPr>
              <a:spLocks noChangeShapeType="1"/>
            </p:cNvSpPr>
            <p:nvPr/>
          </p:nvSpPr>
          <p:spPr bwMode="auto">
            <a:xfrm>
              <a:off x="4580" y="3053"/>
              <a:ext cx="102" cy="0"/>
            </a:xfrm>
            <a:prstGeom prst="line">
              <a:avLst/>
            </a:prstGeom>
            <a:noFill/>
            <a:ln w="25400">
              <a:solidFill>
                <a:srgbClr val="FAFD00"/>
              </a:solidFill>
              <a:round/>
              <a:headEnd/>
              <a:tailEnd/>
            </a:ln>
          </p:spPr>
          <p:txBody>
            <a:bodyPr wrap="none" anchor="ctr"/>
            <a:lstStyle/>
            <a:p>
              <a:endParaRPr lang="en-US"/>
            </a:p>
          </p:txBody>
        </p:sp>
        <p:sp>
          <p:nvSpPr>
            <p:cNvPr id="18466" name="Line 144"/>
            <p:cNvSpPr>
              <a:spLocks noChangeShapeType="1"/>
            </p:cNvSpPr>
            <p:nvPr/>
          </p:nvSpPr>
          <p:spPr bwMode="auto">
            <a:xfrm>
              <a:off x="4580" y="3205"/>
              <a:ext cx="102" cy="0"/>
            </a:xfrm>
            <a:prstGeom prst="line">
              <a:avLst/>
            </a:prstGeom>
            <a:noFill/>
            <a:ln w="25400">
              <a:solidFill>
                <a:srgbClr val="FAFD00"/>
              </a:solidFill>
              <a:round/>
              <a:headEnd/>
              <a:tailEnd/>
            </a:ln>
          </p:spPr>
          <p:txBody>
            <a:bodyPr wrap="none" anchor="ctr"/>
            <a:lstStyle/>
            <a:p>
              <a:endParaRPr lang="en-US"/>
            </a:p>
          </p:txBody>
        </p:sp>
        <p:sp>
          <p:nvSpPr>
            <p:cNvPr id="18467" name="Line 145"/>
            <p:cNvSpPr>
              <a:spLocks noChangeShapeType="1"/>
            </p:cNvSpPr>
            <p:nvPr/>
          </p:nvSpPr>
          <p:spPr bwMode="auto">
            <a:xfrm>
              <a:off x="4413" y="3133"/>
              <a:ext cx="147" cy="0"/>
            </a:xfrm>
            <a:prstGeom prst="line">
              <a:avLst/>
            </a:prstGeom>
            <a:noFill/>
            <a:ln w="25400">
              <a:solidFill>
                <a:srgbClr val="FAFD00"/>
              </a:solidFill>
              <a:round/>
              <a:headEnd/>
              <a:tailEnd/>
            </a:ln>
          </p:spPr>
          <p:txBody>
            <a:bodyPr wrap="none" anchor="ctr"/>
            <a:lstStyle/>
            <a:p>
              <a:endParaRPr lang="en-US"/>
            </a:p>
          </p:txBody>
        </p:sp>
        <p:sp>
          <p:nvSpPr>
            <p:cNvPr id="18468" name="Rectangle 146"/>
            <p:cNvSpPr>
              <a:spLocks noChangeArrowheads="1"/>
            </p:cNvSpPr>
            <p:nvPr/>
          </p:nvSpPr>
          <p:spPr bwMode="auto">
            <a:xfrm>
              <a:off x="4839" y="2944"/>
              <a:ext cx="1080" cy="213"/>
            </a:xfrm>
            <a:prstGeom prst="rect">
              <a:avLst/>
            </a:prstGeom>
            <a:noFill/>
            <a:ln w="9525">
              <a:noFill/>
              <a:miter lim="800000"/>
              <a:headEnd/>
              <a:tailEnd/>
            </a:ln>
          </p:spPr>
          <p:txBody>
            <a:bodyPr wrap="none" lIns="90488" tIns="44450" rIns="90488" bIns="44450">
              <a:spAutoFit/>
            </a:bodyPr>
            <a:lstStyle/>
            <a:p>
              <a:pPr>
                <a:lnSpc>
                  <a:spcPct val="115000"/>
                </a:lnSpc>
              </a:pPr>
              <a:r>
                <a:rPr lang="en-US" sz="1400"/>
                <a:t>Vit. of B complex</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34676"/>
                                        </p:tgtEl>
                                        <p:attrNameLst>
                                          <p:attrName>style.visibility</p:attrName>
                                        </p:attrNameLst>
                                      </p:cBhvr>
                                      <p:to>
                                        <p:strVal val="visible"/>
                                      </p:to>
                                    </p:set>
                                    <p:animEffect transition="in" filter="wipe(left)">
                                      <p:cBhvr>
                                        <p:cTn id="7" dur="500"/>
                                        <p:tgtEl>
                                          <p:spTgt spid="53467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34540"/>
                                        </p:tgtEl>
                                        <p:attrNameLst>
                                          <p:attrName>style.visibility</p:attrName>
                                        </p:attrNameLst>
                                      </p:cBhvr>
                                      <p:to>
                                        <p:strVal val="visible"/>
                                      </p:to>
                                    </p:set>
                                    <p:animEffect transition="in" filter="wipe(left)">
                                      <p:cBhvr>
                                        <p:cTn id="12" dur="500"/>
                                        <p:tgtEl>
                                          <p:spTgt spid="53454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34650"/>
                                        </p:tgtEl>
                                        <p:attrNameLst>
                                          <p:attrName>style.visibility</p:attrName>
                                        </p:attrNameLst>
                                      </p:cBhvr>
                                      <p:to>
                                        <p:strVal val="visible"/>
                                      </p:to>
                                    </p:set>
                                    <p:animEffect transition="in" filter="wipe(left)">
                                      <p:cBhvr>
                                        <p:cTn id="17" dur="500"/>
                                        <p:tgtEl>
                                          <p:spTgt spid="53465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534554"/>
                                        </p:tgtEl>
                                        <p:attrNameLst>
                                          <p:attrName>style.visibility</p:attrName>
                                        </p:attrNameLst>
                                      </p:cBhvr>
                                      <p:to>
                                        <p:strVal val="visible"/>
                                      </p:to>
                                    </p:set>
                                    <p:animEffect transition="in" filter="wipe(left)">
                                      <p:cBhvr>
                                        <p:cTn id="22" dur="500"/>
                                        <p:tgtEl>
                                          <p:spTgt spid="53455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534577"/>
                                        </p:tgtEl>
                                        <p:attrNameLst>
                                          <p:attrName>style.visibility</p:attrName>
                                        </p:attrNameLst>
                                      </p:cBhvr>
                                      <p:to>
                                        <p:strVal val="visible"/>
                                      </p:to>
                                    </p:set>
                                    <p:animEffect transition="in" filter="wipe(left)">
                                      <p:cBhvr>
                                        <p:cTn id="27" dur="500"/>
                                        <p:tgtEl>
                                          <p:spTgt spid="53457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534624"/>
                                        </p:tgtEl>
                                        <p:attrNameLst>
                                          <p:attrName>style.visibility</p:attrName>
                                        </p:attrNameLst>
                                      </p:cBhvr>
                                      <p:to>
                                        <p:strVal val="visible"/>
                                      </p:to>
                                    </p:set>
                                    <p:animEffect transition="in" filter="wipe(left)">
                                      <p:cBhvr>
                                        <p:cTn id="32" dur="500"/>
                                        <p:tgtEl>
                                          <p:spTgt spid="53462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534602"/>
                                        </p:tgtEl>
                                        <p:attrNameLst>
                                          <p:attrName>style.visibility</p:attrName>
                                        </p:attrNameLst>
                                      </p:cBhvr>
                                      <p:to>
                                        <p:strVal val="visible"/>
                                      </p:to>
                                    </p:set>
                                    <p:animEffect transition="in" filter="wipe(left)">
                                      <p:cBhvr>
                                        <p:cTn id="37" dur="500"/>
                                        <p:tgtEl>
                                          <p:spTgt spid="53460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534548"/>
                                        </p:tgtEl>
                                        <p:attrNameLst>
                                          <p:attrName>style.visibility</p:attrName>
                                        </p:attrNameLst>
                                      </p:cBhvr>
                                      <p:to>
                                        <p:strVal val="visible"/>
                                      </p:to>
                                    </p:set>
                                    <p:animEffect transition="in" filter="wipe(left)">
                                      <p:cBhvr>
                                        <p:cTn id="42" dur="500"/>
                                        <p:tgtEl>
                                          <p:spTgt spid="5345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Slide Number Placeholder 4"/>
          <p:cNvSpPr>
            <a:spLocks noGrp="1"/>
          </p:cNvSpPr>
          <p:nvPr>
            <p:ph type="sldNum" sz="quarter" idx="12"/>
          </p:nvPr>
        </p:nvSpPr>
        <p:spPr/>
        <p:txBody>
          <a:bodyPr/>
          <a:lstStyle/>
          <a:p>
            <a:pPr>
              <a:defRPr/>
            </a:pPr>
            <a:r>
              <a:rPr lang="en-US" dirty="0"/>
              <a:t> </a:t>
            </a:r>
            <a:endParaRPr lang="en-US" sz="1800" dirty="0">
              <a:solidFill>
                <a:schemeClr val="tx1"/>
              </a:solidFill>
            </a:endParaRPr>
          </a:p>
        </p:txBody>
      </p:sp>
      <p:sp>
        <p:nvSpPr>
          <p:cNvPr id="19458" name="Rectangle 4"/>
          <p:cNvSpPr>
            <a:spLocks noChangeArrowheads="1"/>
          </p:cNvSpPr>
          <p:nvPr/>
        </p:nvSpPr>
        <p:spPr bwMode="auto">
          <a:xfrm>
            <a:off x="677863" y="4554538"/>
            <a:ext cx="209550" cy="290512"/>
          </a:xfrm>
          <a:prstGeom prst="rect">
            <a:avLst/>
          </a:prstGeom>
          <a:noFill/>
          <a:ln w="9525">
            <a:noFill/>
            <a:miter lim="800000"/>
            <a:headEnd/>
            <a:tailEnd/>
          </a:ln>
        </p:spPr>
        <p:txBody>
          <a:bodyPr wrap="none" lIns="73393" tIns="29357" rIns="73393" bIns="29357">
            <a:spAutoFit/>
          </a:bodyPr>
          <a:lstStyle/>
          <a:p>
            <a:pPr defTabSz="1057275">
              <a:lnSpc>
                <a:spcPct val="85000"/>
              </a:lnSpc>
            </a:pPr>
            <a:r>
              <a:rPr lang="en-US" b="1"/>
              <a:t> </a:t>
            </a:r>
          </a:p>
        </p:txBody>
      </p:sp>
      <p:sp>
        <p:nvSpPr>
          <p:cNvPr id="19459" name="Rectangle 5"/>
          <p:cNvSpPr>
            <a:spLocks noChangeArrowheads="1"/>
          </p:cNvSpPr>
          <p:nvPr/>
        </p:nvSpPr>
        <p:spPr bwMode="auto">
          <a:xfrm>
            <a:off x="5148263" y="6096000"/>
            <a:ext cx="209550" cy="290513"/>
          </a:xfrm>
          <a:prstGeom prst="rect">
            <a:avLst/>
          </a:prstGeom>
          <a:noFill/>
          <a:ln w="9525">
            <a:noFill/>
            <a:miter lim="800000"/>
            <a:headEnd/>
            <a:tailEnd/>
          </a:ln>
        </p:spPr>
        <p:txBody>
          <a:bodyPr wrap="none" lIns="73393" tIns="29357" rIns="73393" bIns="29357">
            <a:spAutoFit/>
          </a:bodyPr>
          <a:lstStyle/>
          <a:p>
            <a:pPr defTabSz="1057275">
              <a:lnSpc>
                <a:spcPct val="85000"/>
              </a:lnSpc>
            </a:pPr>
            <a:r>
              <a:rPr lang="en-US" b="1"/>
              <a:t> </a:t>
            </a:r>
          </a:p>
        </p:txBody>
      </p:sp>
      <p:sp>
        <p:nvSpPr>
          <p:cNvPr id="19460" name="Rectangle 6"/>
          <p:cNvSpPr>
            <a:spLocks noGrp="1" noChangeArrowheads="1"/>
          </p:cNvSpPr>
          <p:nvPr>
            <p:ph type="title"/>
          </p:nvPr>
        </p:nvSpPr>
        <p:spPr>
          <a:xfrm>
            <a:off x="330200" y="406400"/>
            <a:ext cx="8485188" cy="582613"/>
          </a:xfrm>
        </p:spPr>
        <p:txBody>
          <a:bodyPr/>
          <a:lstStyle/>
          <a:p>
            <a:pPr eaLnBrk="1" hangingPunct="1"/>
            <a:r>
              <a:rPr lang="en-US" sz="3200" b="1" smtClean="0"/>
              <a:t>WHY NEUTRAL DETERGENT FIBER (NDF) IN DAIRY RATIONS?</a:t>
            </a:r>
          </a:p>
        </p:txBody>
      </p:sp>
      <p:sp>
        <p:nvSpPr>
          <p:cNvPr id="19461" name="Rectangle 7"/>
          <p:cNvSpPr>
            <a:spLocks noGrp="1" noChangeArrowheads="1"/>
          </p:cNvSpPr>
          <p:nvPr>
            <p:ph type="body" idx="4294967295"/>
          </p:nvPr>
        </p:nvSpPr>
        <p:spPr>
          <a:xfrm>
            <a:off x="0" y="6518275"/>
            <a:ext cx="8043863" cy="304800"/>
          </a:xfrm>
        </p:spPr>
        <p:txBody>
          <a:bodyPr/>
          <a:lstStyle/>
          <a:p>
            <a:pPr marL="349250" indent="-349250" defTabSz="933450" eaLnBrk="1" hangingPunct="1">
              <a:buFontTx/>
              <a:buNone/>
            </a:pPr>
            <a:endParaRPr lang="en-GB" sz="1400" smtClean="0"/>
          </a:p>
        </p:txBody>
      </p:sp>
      <p:sp>
        <p:nvSpPr>
          <p:cNvPr id="19462" name="Text Box 8"/>
          <p:cNvSpPr txBox="1">
            <a:spLocks noChangeArrowheads="1"/>
          </p:cNvSpPr>
          <p:nvPr/>
        </p:nvSpPr>
        <p:spPr bwMode="auto">
          <a:xfrm>
            <a:off x="1001713" y="446088"/>
            <a:ext cx="184150" cy="523875"/>
          </a:xfrm>
          <a:prstGeom prst="rect">
            <a:avLst/>
          </a:prstGeom>
          <a:noFill/>
          <a:ln w="9525">
            <a:noFill/>
            <a:miter lim="800000"/>
            <a:headEnd/>
            <a:tailEnd/>
          </a:ln>
        </p:spPr>
        <p:txBody>
          <a:bodyPr wrap="none">
            <a:spAutoFit/>
          </a:bodyPr>
          <a:lstStyle/>
          <a:p>
            <a:endParaRPr lang="en-GB" sz="2800">
              <a:solidFill>
                <a:srgbClr val="FFFE03"/>
              </a:solidFill>
            </a:endParaRPr>
          </a:p>
        </p:txBody>
      </p:sp>
      <p:sp>
        <p:nvSpPr>
          <p:cNvPr id="19463" name="Text Box 9"/>
          <p:cNvSpPr txBox="1">
            <a:spLocks noChangeArrowheads="1"/>
          </p:cNvSpPr>
          <p:nvPr/>
        </p:nvSpPr>
        <p:spPr bwMode="auto">
          <a:xfrm>
            <a:off x="1069975" y="674688"/>
            <a:ext cx="184150" cy="523875"/>
          </a:xfrm>
          <a:prstGeom prst="rect">
            <a:avLst/>
          </a:prstGeom>
          <a:noFill/>
          <a:ln w="9525">
            <a:noFill/>
            <a:miter lim="800000"/>
            <a:headEnd/>
            <a:tailEnd/>
          </a:ln>
        </p:spPr>
        <p:txBody>
          <a:bodyPr wrap="none">
            <a:spAutoFit/>
          </a:bodyPr>
          <a:lstStyle/>
          <a:p>
            <a:endParaRPr lang="en-GB" sz="2800">
              <a:solidFill>
                <a:srgbClr val="FFFE03"/>
              </a:solidFill>
            </a:endParaRPr>
          </a:p>
        </p:txBody>
      </p:sp>
      <p:grpSp>
        <p:nvGrpSpPr>
          <p:cNvPr id="19464" name="Group 10"/>
          <p:cNvGrpSpPr>
            <a:grpSpLocks/>
          </p:cNvGrpSpPr>
          <p:nvPr/>
        </p:nvGrpSpPr>
        <p:grpSpPr bwMode="auto">
          <a:xfrm>
            <a:off x="68263" y="1295400"/>
            <a:ext cx="8910637" cy="2798763"/>
            <a:chOff x="48" y="816"/>
            <a:chExt cx="6315" cy="1763"/>
          </a:xfrm>
        </p:grpSpPr>
        <p:sp>
          <p:nvSpPr>
            <p:cNvPr id="19473" name="Rectangle 11"/>
            <p:cNvSpPr>
              <a:spLocks noChangeArrowheads="1"/>
            </p:cNvSpPr>
            <p:nvPr/>
          </p:nvSpPr>
          <p:spPr bwMode="auto">
            <a:xfrm>
              <a:off x="48" y="816"/>
              <a:ext cx="1336" cy="603"/>
            </a:xfrm>
            <a:prstGeom prst="rect">
              <a:avLst/>
            </a:prstGeom>
            <a:noFill/>
            <a:ln w="9525">
              <a:noFill/>
              <a:miter lim="800000"/>
              <a:headEnd/>
              <a:tailEnd/>
            </a:ln>
          </p:spPr>
          <p:txBody>
            <a:bodyPr lIns="93662" tIns="47625" rIns="93662" bIns="47625">
              <a:spAutoFit/>
            </a:bodyPr>
            <a:lstStyle/>
            <a:p>
              <a:pPr marL="114300" lvl="1" indent="11113" defTabSz="933450">
                <a:spcBef>
                  <a:spcPct val="20000"/>
                </a:spcBef>
                <a:buSzPct val="125000"/>
              </a:pPr>
              <a:r>
                <a:rPr lang="en-US" sz="2800" b="1">
                  <a:latin typeface="Times New Roman" pitchFamily="18" charset="0"/>
                </a:rPr>
                <a:t>What is it?</a:t>
              </a:r>
              <a:endParaRPr lang="en-US" sz="2800" b="1">
                <a:solidFill>
                  <a:srgbClr val="FF9900"/>
                </a:solidFill>
                <a:latin typeface="Times New Roman" pitchFamily="18" charset="0"/>
              </a:endParaRPr>
            </a:p>
          </p:txBody>
        </p:sp>
        <p:sp>
          <p:nvSpPr>
            <p:cNvPr id="19474" name="Rectangle 12"/>
            <p:cNvSpPr>
              <a:spLocks noChangeArrowheads="1"/>
            </p:cNvSpPr>
            <p:nvPr/>
          </p:nvSpPr>
          <p:spPr bwMode="auto">
            <a:xfrm>
              <a:off x="3352" y="1976"/>
              <a:ext cx="3007" cy="329"/>
            </a:xfrm>
            <a:prstGeom prst="rect">
              <a:avLst/>
            </a:prstGeom>
            <a:noFill/>
            <a:ln w="9525">
              <a:noFill/>
              <a:miter lim="800000"/>
              <a:headEnd/>
              <a:tailEnd/>
            </a:ln>
          </p:spPr>
          <p:txBody>
            <a:bodyPr lIns="93662" tIns="47625" rIns="93662" bIns="47625">
              <a:spAutoFit/>
            </a:bodyPr>
            <a:lstStyle/>
            <a:p>
              <a:pPr marL="114300" lvl="1" indent="11113" defTabSz="933450">
                <a:spcBef>
                  <a:spcPct val="20000"/>
                </a:spcBef>
                <a:buSzPct val="125000"/>
              </a:pPr>
              <a:r>
                <a:rPr lang="en-US" sz="2800" b="1">
                  <a:latin typeface="Times New Roman" pitchFamily="18" charset="0"/>
                </a:rPr>
                <a:t>If too much…</a:t>
              </a:r>
            </a:p>
          </p:txBody>
        </p:sp>
        <p:sp>
          <p:nvSpPr>
            <p:cNvPr id="19475" name="Rectangle 13"/>
            <p:cNvSpPr>
              <a:spLocks noChangeArrowheads="1"/>
            </p:cNvSpPr>
            <p:nvPr/>
          </p:nvSpPr>
          <p:spPr bwMode="auto">
            <a:xfrm>
              <a:off x="48" y="1976"/>
              <a:ext cx="1817" cy="603"/>
            </a:xfrm>
            <a:prstGeom prst="rect">
              <a:avLst/>
            </a:prstGeom>
            <a:noFill/>
            <a:ln w="9525">
              <a:noFill/>
              <a:miter lim="800000"/>
              <a:headEnd/>
              <a:tailEnd/>
            </a:ln>
          </p:spPr>
          <p:txBody>
            <a:bodyPr lIns="93662" tIns="47625" rIns="93662" bIns="47625">
              <a:spAutoFit/>
            </a:bodyPr>
            <a:lstStyle/>
            <a:p>
              <a:pPr marL="114300" lvl="1" indent="11113" defTabSz="933450">
                <a:spcBef>
                  <a:spcPct val="20000"/>
                </a:spcBef>
                <a:buSzPct val="125000"/>
              </a:pPr>
              <a:r>
                <a:rPr lang="en-US" sz="2800" b="1">
                  <a:latin typeface="Times New Roman" pitchFamily="18" charset="0"/>
                </a:rPr>
                <a:t>If not enough…</a:t>
              </a:r>
              <a:r>
                <a:rPr lang="en-US" sz="2800" b="1">
                  <a:solidFill>
                    <a:srgbClr val="FAFD00"/>
                  </a:solidFill>
                  <a:latin typeface="Times New Roman" pitchFamily="18" charset="0"/>
                </a:rPr>
                <a:t> </a:t>
              </a:r>
            </a:p>
          </p:txBody>
        </p:sp>
        <p:sp>
          <p:nvSpPr>
            <p:cNvPr id="19476" name="Rectangle 14"/>
            <p:cNvSpPr>
              <a:spLocks noChangeArrowheads="1"/>
            </p:cNvSpPr>
            <p:nvPr/>
          </p:nvSpPr>
          <p:spPr bwMode="auto">
            <a:xfrm>
              <a:off x="3347" y="816"/>
              <a:ext cx="3016" cy="603"/>
            </a:xfrm>
            <a:prstGeom prst="rect">
              <a:avLst/>
            </a:prstGeom>
            <a:noFill/>
            <a:ln w="9525">
              <a:noFill/>
              <a:miter lim="800000"/>
              <a:headEnd/>
              <a:tailEnd/>
            </a:ln>
          </p:spPr>
          <p:txBody>
            <a:bodyPr lIns="93662" tIns="47625" rIns="93662" bIns="47625">
              <a:spAutoFit/>
            </a:bodyPr>
            <a:lstStyle/>
            <a:p>
              <a:pPr marL="114300" lvl="1" indent="11113" defTabSz="933450">
                <a:spcBef>
                  <a:spcPct val="20000"/>
                </a:spcBef>
                <a:buSzPct val="125000"/>
              </a:pPr>
              <a:r>
                <a:rPr lang="en-US" sz="2800" b="1">
                  <a:latin typeface="Times New Roman" pitchFamily="18" charset="0"/>
                </a:rPr>
                <a:t>What does it do for the cow?</a:t>
              </a:r>
            </a:p>
          </p:txBody>
        </p:sp>
      </p:grpSp>
      <p:sp>
        <p:nvSpPr>
          <p:cNvPr id="19465" name="Rectangle 15"/>
          <p:cNvSpPr>
            <a:spLocks noChangeArrowheads="1"/>
          </p:cNvSpPr>
          <p:nvPr/>
        </p:nvSpPr>
        <p:spPr bwMode="auto">
          <a:xfrm>
            <a:off x="68263" y="1219200"/>
            <a:ext cx="4740275" cy="1828800"/>
          </a:xfrm>
          <a:prstGeom prst="rect">
            <a:avLst/>
          </a:prstGeom>
          <a:noFill/>
          <a:ln w="12700">
            <a:solidFill>
              <a:schemeClr val="hlink"/>
            </a:solidFill>
            <a:miter lim="800000"/>
            <a:headEnd/>
            <a:tailEnd/>
          </a:ln>
        </p:spPr>
        <p:txBody>
          <a:bodyPr wrap="none" anchor="ctr"/>
          <a:lstStyle/>
          <a:p>
            <a:pPr algn="ctr"/>
            <a:endParaRPr lang="en-GB" sz="2800">
              <a:solidFill>
                <a:srgbClr val="FFFE03"/>
              </a:solidFill>
            </a:endParaRPr>
          </a:p>
        </p:txBody>
      </p:sp>
      <p:sp>
        <p:nvSpPr>
          <p:cNvPr id="19466" name="Rectangle 16"/>
          <p:cNvSpPr>
            <a:spLocks noChangeArrowheads="1"/>
          </p:cNvSpPr>
          <p:nvPr/>
        </p:nvSpPr>
        <p:spPr bwMode="auto">
          <a:xfrm>
            <a:off x="68263" y="3098800"/>
            <a:ext cx="4740275" cy="1320800"/>
          </a:xfrm>
          <a:prstGeom prst="rect">
            <a:avLst/>
          </a:prstGeom>
          <a:noFill/>
          <a:ln w="12700">
            <a:solidFill>
              <a:schemeClr val="hlink"/>
            </a:solidFill>
            <a:miter lim="800000"/>
            <a:headEnd/>
            <a:tailEnd/>
          </a:ln>
        </p:spPr>
        <p:txBody>
          <a:bodyPr wrap="none" anchor="ctr"/>
          <a:lstStyle/>
          <a:p>
            <a:pPr algn="ctr"/>
            <a:endParaRPr lang="en-GB" sz="2800">
              <a:solidFill>
                <a:srgbClr val="FFFE03"/>
              </a:solidFill>
            </a:endParaRPr>
          </a:p>
        </p:txBody>
      </p:sp>
      <p:sp>
        <p:nvSpPr>
          <p:cNvPr id="19467" name="Rectangle 17"/>
          <p:cNvSpPr>
            <a:spLocks noChangeArrowheads="1"/>
          </p:cNvSpPr>
          <p:nvPr/>
        </p:nvSpPr>
        <p:spPr bwMode="auto">
          <a:xfrm>
            <a:off x="4876800" y="3098800"/>
            <a:ext cx="4154488" cy="1320800"/>
          </a:xfrm>
          <a:prstGeom prst="rect">
            <a:avLst/>
          </a:prstGeom>
          <a:noFill/>
          <a:ln w="12700">
            <a:solidFill>
              <a:schemeClr val="hlink"/>
            </a:solidFill>
            <a:miter lim="800000"/>
            <a:headEnd/>
            <a:tailEnd/>
          </a:ln>
        </p:spPr>
        <p:txBody>
          <a:bodyPr wrap="none" anchor="ctr"/>
          <a:lstStyle/>
          <a:p>
            <a:pPr algn="ctr"/>
            <a:endParaRPr lang="en-GB" sz="2800">
              <a:solidFill>
                <a:srgbClr val="FFFE03"/>
              </a:solidFill>
            </a:endParaRPr>
          </a:p>
        </p:txBody>
      </p:sp>
      <p:sp>
        <p:nvSpPr>
          <p:cNvPr id="19468" name="Rectangle 18"/>
          <p:cNvSpPr>
            <a:spLocks noChangeArrowheads="1"/>
          </p:cNvSpPr>
          <p:nvPr/>
        </p:nvSpPr>
        <p:spPr bwMode="auto">
          <a:xfrm>
            <a:off x="4876800" y="1219200"/>
            <a:ext cx="4154488" cy="1828800"/>
          </a:xfrm>
          <a:prstGeom prst="rect">
            <a:avLst/>
          </a:prstGeom>
          <a:noFill/>
          <a:ln w="12700">
            <a:solidFill>
              <a:schemeClr val="hlink"/>
            </a:solidFill>
            <a:miter lim="800000"/>
            <a:headEnd/>
            <a:tailEnd/>
          </a:ln>
        </p:spPr>
        <p:txBody>
          <a:bodyPr wrap="none" anchor="ctr"/>
          <a:lstStyle/>
          <a:p>
            <a:pPr algn="ctr"/>
            <a:endParaRPr lang="en-GB" sz="2800">
              <a:solidFill>
                <a:srgbClr val="FFFE03"/>
              </a:solidFill>
            </a:endParaRPr>
          </a:p>
        </p:txBody>
      </p:sp>
      <p:sp>
        <p:nvSpPr>
          <p:cNvPr id="536595" name="Rectangle 19"/>
          <p:cNvSpPr>
            <a:spLocks noChangeArrowheads="1"/>
          </p:cNvSpPr>
          <p:nvPr/>
        </p:nvSpPr>
        <p:spPr bwMode="auto">
          <a:xfrm>
            <a:off x="250825" y="3933825"/>
            <a:ext cx="4357688" cy="369888"/>
          </a:xfrm>
          <a:prstGeom prst="rect">
            <a:avLst/>
          </a:prstGeom>
          <a:noFill/>
          <a:ln w="9525">
            <a:noFill/>
            <a:miter lim="800000"/>
            <a:headEnd/>
            <a:tailEnd/>
          </a:ln>
        </p:spPr>
        <p:txBody>
          <a:bodyPr lIns="93662" tIns="47625" rIns="93662" bIns="47625">
            <a:spAutoFit/>
          </a:bodyPr>
          <a:lstStyle/>
          <a:p>
            <a:pPr marL="114300" lvl="1" indent="11113" defTabSz="933450">
              <a:spcBef>
                <a:spcPct val="20000"/>
              </a:spcBef>
              <a:buSzPct val="125000"/>
            </a:pPr>
            <a:r>
              <a:rPr lang="en-US" b="1">
                <a:latin typeface="Times New Roman" pitchFamily="18" charset="0"/>
              </a:rPr>
              <a:t>May contribute to rumen acidosis</a:t>
            </a:r>
          </a:p>
        </p:txBody>
      </p:sp>
      <p:sp>
        <p:nvSpPr>
          <p:cNvPr id="536596" name="Rectangle 20"/>
          <p:cNvSpPr>
            <a:spLocks noChangeArrowheads="1"/>
          </p:cNvSpPr>
          <p:nvPr/>
        </p:nvSpPr>
        <p:spPr bwMode="auto">
          <a:xfrm>
            <a:off x="4876800" y="3581400"/>
            <a:ext cx="4267200" cy="369888"/>
          </a:xfrm>
          <a:prstGeom prst="rect">
            <a:avLst/>
          </a:prstGeom>
          <a:noFill/>
          <a:ln w="9525">
            <a:noFill/>
            <a:miter lim="800000"/>
            <a:headEnd/>
            <a:tailEnd/>
          </a:ln>
        </p:spPr>
        <p:txBody>
          <a:bodyPr lIns="93662" tIns="47625" rIns="93662" bIns="47625">
            <a:spAutoFit/>
          </a:bodyPr>
          <a:lstStyle/>
          <a:p>
            <a:pPr marL="114300" lvl="1" indent="11113" defTabSz="933450">
              <a:spcBef>
                <a:spcPct val="20000"/>
              </a:spcBef>
              <a:buSzPct val="125000"/>
            </a:pPr>
            <a:r>
              <a:rPr lang="en-US" b="1">
                <a:latin typeface="Times New Roman" pitchFamily="18" charset="0"/>
              </a:rPr>
              <a:t>May limit intake and production</a:t>
            </a:r>
          </a:p>
        </p:txBody>
      </p:sp>
      <p:sp>
        <p:nvSpPr>
          <p:cNvPr id="536597" name="Rectangle 21"/>
          <p:cNvSpPr>
            <a:spLocks noChangeArrowheads="1"/>
          </p:cNvSpPr>
          <p:nvPr/>
        </p:nvSpPr>
        <p:spPr bwMode="auto">
          <a:xfrm>
            <a:off x="5133975" y="2133600"/>
            <a:ext cx="4010025" cy="700088"/>
          </a:xfrm>
          <a:prstGeom prst="rect">
            <a:avLst/>
          </a:prstGeom>
          <a:noFill/>
          <a:ln w="9525">
            <a:noFill/>
            <a:miter lim="800000"/>
            <a:headEnd/>
            <a:tailEnd/>
          </a:ln>
        </p:spPr>
        <p:txBody>
          <a:bodyPr lIns="93662" tIns="47625" rIns="93662" bIns="47625">
            <a:spAutoFit/>
          </a:bodyPr>
          <a:lstStyle/>
          <a:p>
            <a:pPr marL="114300" lvl="1" indent="11113" defTabSz="933450">
              <a:spcBef>
                <a:spcPct val="20000"/>
              </a:spcBef>
              <a:buSzPct val="125000"/>
            </a:pPr>
            <a:r>
              <a:rPr lang="en-US" b="1">
                <a:latin typeface="Times New Roman" pitchFamily="18" charset="0"/>
                <a:sym typeface="Zapf Dingbats"/>
              </a:rPr>
              <a:t></a:t>
            </a:r>
            <a:r>
              <a:rPr lang="en-US" b="1">
                <a:solidFill>
                  <a:srgbClr val="FAFD00"/>
                </a:solidFill>
                <a:latin typeface="Times New Roman" pitchFamily="18" charset="0"/>
              </a:rPr>
              <a:t> </a:t>
            </a:r>
            <a:r>
              <a:rPr lang="en-US" b="1">
                <a:latin typeface="Times New Roman" pitchFamily="18" charset="0"/>
              </a:rPr>
              <a:t>Chewing activity (saliva)</a:t>
            </a:r>
          </a:p>
          <a:p>
            <a:pPr marL="114300" lvl="1" indent="11113" defTabSz="933450">
              <a:spcBef>
                <a:spcPct val="20000"/>
              </a:spcBef>
              <a:buSzPct val="125000"/>
            </a:pPr>
            <a:r>
              <a:rPr lang="en-US" b="1">
                <a:latin typeface="Times New Roman" pitchFamily="18" charset="0"/>
                <a:sym typeface="Zapf Dingbats"/>
              </a:rPr>
              <a:t></a:t>
            </a:r>
            <a:r>
              <a:rPr lang="en-US" b="1">
                <a:latin typeface="Times New Roman" pitchFamily="18" charset="0"/>
              </a:rPr>
              <a:t> Forage digestibility (energy)</a:t>
            </a:r>
            <a:r>
              <a:rPr lang="en-US" b="1">
                <a:solidFill>
                  <a:srgbClr val="FAFD00"/>
                </a:solidFill>
                <a:latin typeface="Times New Roman" pitchFamily="18" charset="0"/>
              </a:rPr>
              <a:t> </a:t>
            </a:r>
            <a:endParaRPr lang="en-US" b="1">
              <a:latin typeface="Times New Roman" pitchFamily="18" charset="0"/>
            </a:endParaRPr>
          </a:p>
        </p:txBody>
      </p:sp>
      <p:sp>
        <p:nvSpPr>
          <p:cNvPr id="536598" name="Rectangle 22"/>
          <p:cNvSpPr>
            <a:spLocks noChangeArrowheads="1"/>
          </p:cNvSpPr>
          <p:nvPr/>
        </p:nvSpPr>
        <p:spPr bwMode="auto">
          <a:xfrm>
            <a:off x="179388" y="2133600"/>
            <a:ext cx="4741862" cy="700088"/>
          </a:xfrm>
          <a:prstGeom prst="rect">
            <a:avLst/>
          </a:prstGeom>
          <a:noFill/>
          <a:ln w="9525">
            <a:noFill/>
            <a:miter lim="800000"/>
            <a:headEnd/>
            <a:tailEnd/>
          </a:ln>
        </p:spPr>
        <p:txBody>
          <a:bodyPr lIns="93662" tIns="47625" rIns="93662" bIns="47625">
            <a:spAutoFit/>
          </a:bodyPr>
          <a:lstStyle/>
          <a:p>
            <a:pPr marL="114300" lvl="1" indent="11113" defTabSz="933450">
              <a:spcBef>
                <a:spcPct val="20000"/>
              </a:spcBef>
              <a:buSzPct val="125000"/>
            </a:pPr>
            <a:r>
              <a:rPr lang="en-US" b="1">
                <a:latin typeface="Times New Roman" pitchFamily="18" charset="0"/>
                <a:sym typeface="Zapf Dingbats"/>
              </a:rPr>
              <a:t></a:t>
            </a:r>
            <a:r>
              <a:rPr lang="en-US" b="1">
                <a:latin typeface="Times New Roman" pitchFamily="18" charset="0"/>
              </a:rPr>
              <a:t> “Fibrous” Feed or “Roughage”</a:t>
            </a:r>
          </a:p>
          <a:p>
            <a:pPr marL="114300" lvl="1" indent="11113" defTabSz="933450">
              <a:spcBef>
                <a:spcPct val="20000"/>
              </a:spcBef>
              <a:buSzPct val="125000"/>
            </a:pPr>
            <a:r>
              <a:rPr lang="en-US" b="1">
                <a:latin typeface="Times New Roman" pitchFamily="18" charset="0"/>
                <a:sym typeface="Zapf Dingbats"/>
              </a:rPr>
              <a:t></a:t>
            </a:r>
            <a:r>
              <a:rPr lang="en-US" b="1">
                <a:latin typeface="Times New Roman" pitchFamily="18" charset="0"/>
              </a:rPr>
              <a:t> Cellulose + Hemicellulose</a:t>
            </a:r>
            <a:r>
              <a:rPr lang="en-US" b="1">
                <a:solidFill>
                  <a:schemeClr val="tx2"/>
                </a:solidFill>
                <a:latin typeface="Times New Roman" pitchFamily="18" charset="0"/>
              </a:rPr>
              <a:t> </a:t>
            </a:r>
            <a:endParaRPr lang="en-US" b="1">
              <a:solidFill>
                <a:srgbClr val="FF9900"/>
              </a:solidFill>
              <a:latin typeface="Times New Roman"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36598">
                                            <p:txEl>
                                              <p:pRg st="0" end="0"/>
                                            </p:txEl>
                                          </p:spTgt>
                                        </p:tgtEl>
                                        <p:attrNameLst>
                                          <p:attrName>style.visibility</p:attrName>
                                        </p:attrNameLst>
                                      </p:cBhvr>
                                      <p:to>
                                        <p:strVal val="visible"/>
                                      </p:to>
                                    </p:set>
                                    <p:animEffect transition="in" filter="wipe(left)">
                                      <p:cBhvr>
                                        <p:cTn id="7" dur="500"/>
                                        <p:tgtEl>
                                          <p:spTgt spid="53659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36598">
                                            <p:txEl>
                                              <p:pRg st="1" end="1"/>
                                            </p:txEl>
                                          </p:spTgt>
                                        </p:tgtEl>
                                        <p:attrNameLst>
                                          <p:attrName>style.visibility</p:attrName>
                                        </p:attrNameLst>
                                      </p:cBhvr>
                                      <p:to>
                                        <p:strVal val="visible"/>
                                      </p:to>
                                    </p:set>
                                    <p:animEffect transition="in" filter="wipe(left)">
                                      <p:cBhvr>
                                        <p:cTn id="12" dur="500"/>
                                        <p:tgtEl>
                                          <p:spTgt spid="536598">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36597">
                                            <p:txEl>
                                              <p:pRg st="0" end="0"/>
                                            </p:txEl>
                                          </p:spTgt>
                                        </p:tgtEl>
                                        <p:attrNameLst>
                                          <p:attrName>style.visibility</p:attrName>
                                        </p:attrNameLst>
                                      </p:cBhvr>
                                      <p:to>
                                        <p:strVal val="visible"/>
                                      </p:to>
                                    </p:set>
                                    <p:animEffect transition="in" filter="wipe(left)">
                                      <p:cBhvr>
                                        <p:cTn id="17" dur="500"/>
                                        <p:tgtEl>
                                          <p:spTgt spid="536597">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36597">
                                            <p:txEl>
                                              <p:pRg st="1" end="1"/>
                                            </p:txEl>
                                          </p:spTgt>
                                        </p:tgtEl>
                                        <p:attrNameLst>
                                          <p:attrName>style.visibility</p:attrName>
                                        </p:attrNameLst>
                                      </p:cBhvr>
                                      <p:to>
                                        <p:strVal val="visible"/>
                                      </p:to>
                                    </p:set>
                                    <p:animEffect transition="in" filter="wipe(left)">
                                      <p:cBhvr>
                                        <p:cTn id="22" dur="500"/>
                                        <p:tgtEl>
                                          <p:spTgt spid="536597">
                                            <p:txEl>
                                              <p:pRg st="1" end="1"/>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36595">
                                            <p:txEl>
                                              <p:pRg st="0" end="0"/>
                                            </p:txEl>
                                          </p:spTgt>
                                        </p:tgtEl>
                                        <p:attrNameLst>
                                          <p:attrName>style.visibility</p:attrName>
                                        </p:attrNameLst>
                                      </p:cBhvr>
                                      <p:to>
                                        <p:strVal val="visible"/>
                                      </p:to>
                                    </p:set>
                                    <p:animEffect transition="in" filter="wipe(left)">
                                      <p:cBhvr>
                                        <p:cTn id="27" dur="500"/>
                                        <p:tgtEl>
                                          <p:spTgt spid="536595">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36596">
                                            <p:txEl>
                                              <p:pRg st="0" end="0"/>
                                            </p:txEl>
                                          </p:spTgt>
                                        </p:tgtEl>
                                        <p:attrNameLst>
                                          <p:attrName>style.visibility</p:attrName>
                                        </p:attrNameLst>
                                      </p:cBhvr>
                                      <p:to>
                                        <p:strVal val="visible"/>
                                      </p:to>
                                    </p:set>
                                    <p:animEffect transition="in" filter="wipe(left)">
                                      <p:cBhvr>
                                        <p:cTn id="32" dur="500"/>
                                        <p:tgtEl>
                                          <p:spTgt spid="53659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6595" grpId="0" build="p" bldLvl="2" autoUpdateAnimBg="0"/>
      <p:bldP spid="536596" grpId="0" build="p" bldLvl="2" autoUpdateAnimBg="0"/>
      <p:bldP spid="536597" grpId="0" build="p" bldLvl="2" autoUpdateAnimBg="0"/>
      <p:bldP spid="536598" grpId="0" build="p" bldLvl="2"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Slide Number Placeholder 4"/>
          <p:cNvSpPr>
            <a:spLocks noGrp="1"/>
          </p:cNvSpPr>
          <p:nvPr>
            <p:ph type="sldNum" sz="quarter" idx="12"/>
          </p:nvPr>
        </p:nvSpPr>
        <p:spPr/>
        <p:txBody>
          <a:bodyPr/>
          <a:lstStyle/>
          <a:p>
            <a:pPr>
              <a:defRPr/>
            </a:pPr>
            <a:r>
              <a:rPr lang="en-US" dirty="0"/>
              <a:t> </a:t>
            </a:r>
            <a:endParaRPr lang="en-US" sz="1800" dirty="0">
              <a:solidFill>
                <a:schemeClr val="tx1"/>
              </a:solidFill>
            </a:endParaRPr>
          </a:p>
        </p:txBody>
      </p:sp>
      <p:sp>
        <p:nvSpPr>
          <p:cNvPr id="20482" name="Rectangle 2"/>
          <p:cNvSpPr>
            <a:spLocks noGrp="1" noChangeArrowheads="1"/>
          </p:cNvSpPr>
          <p:nvPr>
            <p:ph type="title"/>
          </p:nvPr>
        </p:nvSpPr>
        <p:spPr>
          <a:xfrm>
            <a:off x="-11113" y="406400"/>
            <a:ext cx="9166226" cy="582613"/>
          </a:xfrm>
        </p:spPr>
        <p:txBody>
          <a:bodyPr/>
          <a:lstStyle/>
          <a:p>
            <a:pPr eaLnBrk="1" hangingPunct="1"/>
            <a:r>
              <a:rPr lang="en-US" sz="3200" b="1" smtClean="0"/>
              <a:t>WHY NON-FIBROUS CARBOHYDRATES (NFC) IN DAIRY RATIONS?</a:t>
            </a:r>
          </a:p>
        </p:txBody>
      </p:sp>
      <p:sp>
        <p:nvSpPr>
          <p:cNvPr id="538627" name="Rectangle 3"/>
          <p:cNvSpPr>
            <a:spLocks noChangeArrowheads="1"/>
          </p:cNvSpPr>
          <p:nvPr/>
        </p:nvSpPr>
        <p:spPr bwMode="auto">
          <a:xfrm>
            <a:off x="250825" y="1916113"/>
            <a:ext cx="5011738" cy="974725"/>
          </a:xfrm>
          <a:prstGeom prst="rect">
            <a:avLst/>
          </a:prstGeom>
          <a:noFill/>
          <a:ln w="9525">
            <a:noFill/>
            <a:miter lim="800000"/>
            <a:headEnd/>
            <a:tailEnd/>
          </a:ln>
        </p:spPr>
        <p:txBody>
          <a:bodyPr lIns="93662" tIns="47625" rIns="93662" bIns="47625">
            <a:spAutoFit/>
          </a:bodyPr>
          <a:lstStyle/>
          <a:p>
            <a:pPr marL="114300" lvl="1" indent="11113" defTabSz="933450">
              <a:spcBef>
                <a:spcPct val="20000"/>
              </a:spcBef>
              <a:buSzPct val="125000"/>
            </a:pPr>
            <a:r>
              <a:rPr lang="en-US" b="1">
                <a:latin typeface="Times New Roman" pitchFamily="18" charset="0"/>
                <a:sym typeface="Zapf Dingbats"/>
              </a:rPr>
              <a:t></a:t>
            </a:r>
            <a:r>
              <a:rPr lang="en-US" b="1">
                <a:latin typeface="Times New Roman" pitchFamily="18" charset="0"/>
              </a:rPr>
              <a:t> Simple sugars, starches, pectins</a:t>
            </a:r>
          </a:p>
          <a:p>
            <a:pPr marL="114300" lvl="1" indent="11113" defTabSz="933450">
              <a:spcBef>
                <a:spcPct val="20000"/>
              </a:spcBef>
              <a:buSzPct val="125000"/>
            </a:pPr>
            <a:r>
              <a:rPr lang="en-US" b="1">
                <a:latin typeface="Times New Roman" pitchFamily="18" charset="0"/>
                <a:sym typeface="Zapf Dingbats"/>
              </a:rPr>
              <a:t></a:t>
            </a:r>
            <a:r>
              <a:rPr lang="en-US" b="1">
                <a:latin typeface="Times New Roman" pitchFamily="18" charset="0"/>
              </a:rPr>
              <a:t> 100 - (NDF+Crude Protein+ Fats + </a:t>
            </a:r>
            <a:br>
              <a:rPr lang="en-US" b="1">
                <a:latin typeface="Times New Roman" pitchFamily="18" charset="0"/>
              </a:rPr>
            </a:br>
            <a:r>
              <a:rPr lang="en-US" b="1">
                <a:latin typeface="Times New Roman" pitchFamily="18" charset="0"/>
              </a:rPr>
              <a:t>               Minerals)</a:t>
            </a:r>
          </a:p>
        </p:txBody>
      </p:sp>
      <p:sp>
        <p:nvSpPr>
          <p:cNvPr id="20484" name="Text Box 4"/>
          <p:cNvSpPr txBox="1">
            <a:spLocks noChangeArrowheads="1"/>
          </p:cNvSpPr>
          <p:nvPr/>
        </p:nvSpPr>
        <p:spPr bwMode="auto">
          <a:xfrm>
            <a:off x="1001713" y="446088"/>
            <a:ext cx="184150" cy="523875"/>
          </a:xfrm>
          <a:prstGeom prst="rect">
            <a:avLst/>
          </a:prstGeom>
          <a:noFill/>
          <a:ln w="9525">
            <a:noFill/>
            <a:miter lim="800000"/>
            <a:headEnd/>
            <a:tailEnd/>
          </a:ln>
        </p:spPr>
        <p:txBody>
          <a:bodyPr wrap="none">
            <a:spAutoFit/>
          </a:bodyPr>
          <a:lstStyle/>
          <a:p>
            <a:endParaRPr lang="en-GB" sz="2800">
              <a:solidFill>
                <a:srgbClr val="FFFE03"/>
              </a:solidFill>
            </a:endParaRPr>
          </a:p>
        </p:txBody>
      </p:sp>
      <p:sp>
        <p:nvSpPr>
          <p:cNvPr id="20485" name="Text Box 5"/>
          <p:cNvSpPr txBox="1">
            <a:spLocks noChangeArrowheads="1"/>
          </p:cNvSpPr>
          <p:nvPr/>
        </p:nvSpPr>
        <p:spPr bwMode="auto">
          <a:xfrm>
            <a:off x="1069975" y="674688"/>
            <a:ext cx="184150" cy="523875"/>
          </a:xfrm>
          <a:prstGeom prst="rect">
            <a:avLst/>
          </a:prstGeom>
          <a:noFill/>
          <a:ln w="9525">
            <a:noFill/>
            <a:miter lim="800000"/>
            <a:headEnd/>
            <a:tailEnd/>
          </a:ln>
        </p:spPr>
        <p:txBody>
          <a:bodyPr wrap="none">
            <a:spAutoFit/>
          </a:bodyPr>
          <a:lstStyle/>
          <a:p>
            <a:endParaRPr lang="en-GB" sz="2800">
              <a:solidFill>
                <a:srgbClr val="FFFE03"/>
              </a:solidFill>
            </a:endParaRPr>
          </a:p>
        </p:txBody>
      </p:sp>
      <p:sp>
        <p:nvSpPr>
          <p:cNvPr id="538630" name="Rectangle 6"/>
          <p:cNvSpPr>
            <a:spLocks noChangeArrowheads="1"/>
          </p:cNvSpPr>
          <p:nvPr/>
        </p:nvSpPr>
        <p:spPr bwMode="auto">
          <a:xfrm>
            <a:off x="4897438" y="3581400"/>
            <a:ext cx="4244975" cy="369888"/>
          </a:xfrm>
          <a:prstGeom prst="rect">
            <a:avLst/>
          </a:prstGeom>
          <a:noFill/>
          <a:ln w="9525">
            <a:noFill/>
            <a:miter lim="800000"/>
            <a:headEnd/>
            <a:tailEnd/>
          </a:ln>
        </p:spPr>
        <p:txBody>
          <a:bodyPr lIns="93662" tIns="47625" rIns="93662" bIns="47625">
            <a:spAutoFit/>
          </a:bodyPr>
          <a:lstStyle/>
          <a:p>
            <a:pPr marL="114300" lvl="1" indent="11113" defTabSz="933450">
              <a:spcBef>
                <a:spcPct val="20000"/>
              </a:spcBef>
              <a:buSzPct val="125000"/>
            </a:pPr>
            <a:r>
              <a:rPr lang="en-US" b="1">
                <a:latin typeface="Times New Roman" pitchFamily="18" charset="0"/>
              </a:rPr>
              <a:t>May contribute to rumen acidosis</a:t>
            </a:r>
          </a:p>
        </p:txBody>
      </p:sp>
      <p:sp>
        <p:nvSpPr>
          <p:cNvPr id="538631" name="Rectangle 7"/>
          <p:cNvSpPr>
            <a:spLocks noChangeArrowheads="1"/>
          </p:cNvSpPr>
          <p:nvPr/>
        </p:nvSpPr>
        <p:spPr bwMode="auto">
          <a:xfrm>
            <a:off x="250825" y="3933825"/>
            <a:ext cx="4694238" cy="369888"/>
          </a:xfrm>
          <a:prstGeom prst="rect">
            <a:avLst/>
          </a:prstGeom>
          <a:noFill/>
          <a:ln w="9525">
            <a:noFill/>
            <a:miter lim="800000"/>
            <a:headEnd/>
            <a:tailEnd/>
          </a:ln>
        </p:spPr>
        <p:txBody>
          <a:bodyPr lIns="93662" tIns="47625" rIns="93662" bIns="47625">
            <a:spAutoFit/>
          </a:bodyPr>
          <a:lstStyle/>
          <a:p>
            <a:pPr marL="114300" lvl="1" indent="11113" defTabSz="933450">
              <a:spcBef>
                <a:spcPct val="20000"/>
              </a:spcBef>
              <a:buSzPct val="125000"/>
            </a:pPr>
            <a:r>
              <a:rPr lang="en-US" b="1">
                <a:latin typeface="Times New Roman" pitchFamily="18" charset="0"/>
              </a:rPr>
              <a:t>May limit intake and milk production</a:t>
            </a:r>
          </a:p>
        </p:txBody>
      </p:sp>
      <p:sp>
        <p:nvSpPr>
          <p:cNvPr id="538632" name="Rectangle 8"/>
          <p:cNvSpPr>
            <a:spLocks noChangeArrowheads="1"/>
          </p:cNvSpPr>
          <p:nvPr/>
        </p:nvSpPr>
        <p:spPr bwMode="auto">
          <a:xfrm>
            <a:off x="5013325" y="1989138"/>
            <a:ext cx="4130675" cy="974725"/>
          </a:xfrm>
          <a:prstGeom prst="rect">
            <a:avLst/>
          </a:prstGeom>
          <a:noFill/>
          <a:ln w="9525">
            <a:noFill/>
            <a:miter lim="800000"/>
            <a:headEnd/>
            <a:tailEnd/>
          </a:ln>
        </p:spPr>
        <p:txBody>
          <a:bodyPr lIns="93662" tIns="47625" rIns="93662" bIns="47625">
            <a:spAutoFit/>
          </a:bodyPr>
          <a:lstStyle/>
          <a:p>
            <a:pPr marL="114300" lvl="1" indent="11113" defTabSz="933450">
              <a:spcBef>
                <a:spcPct val="20000"/>
              </a:spcBef>
              <a:buSzPct val="125000"/>
            </a:pPr>
            <a:r>
              <a:rPr lang="en-US" b="1">
                <a:latin typeface="Times New Roman" pitchFamily="18" charset="0"/>
                <a:sym typeface="Zapf Dingbats"/>
              </a:rPr>
              <a:t> </a:t>
            </a:r>
            <a:r>
              <a:rPr lang="en-US" b="1">
                <a:solidFill>
                  <a:srgbClr val="FAFD00"/>
                </a:solidFill>
                <a:latin typeface="Times New Roman" pitchFamily="18" charset="0"/>
              </a:rPr>
              <a:t> </a:t>
            </a:r>
            <a:r>
              <a:rPr lang="en-US" b="1">
                <a:latin typeface="Times New Roman" pitchFamily="18" charset="0"/>
              </a:rPr>
              <a:t>Energy for microbial growth</a:t>
            </a:r>
          </a:p>
          <a:p>
            <a:pPr marL="114300" lvl="1" indent="11113" defTabSz="933450">
              <a:spcBef>
                <a:spcPct val="20000"/>
              </a:spcBef>
              <a:buSzPct val="125000"/>
            </a:pPr>
            <a:r>
              <a:rPr lang="en-US" b="1">
                <a:latin typeface="Times New Roman" pitchFamily="18" charset="0"/>
              </a:rPr>
              <a:t> </a:t>
            </a:r>
            <a:r>
              <a:rPr lang="en-US" b="1">
                <a:latin typeface="Times New Roman" pitchFamily="18" charset="0"/>
                <a:sym typeface="Zapf Dingbats"/>
              </a:rPr>
              <a:t></a:t>
            </a:r>
            <a:r>
              <a:rPr lang="en-US" b="1">
                <a:latin typeface="Times New Roman" pitchFamily="18" charset="0"/>
              </a:rPr>
              <a:t> Energy for the cow (VFA) </a:t>
            </a:r>
            <a:br>
              <a:rPr lang="en-US" b="1">
                <a:latin typeface="Times New Roman" pitchFamily="18" charset="0"/>
              </a:rPr>
            </a:br>
            <a:r>
              <a:rPr lang="en-US" b="1">
                <a:latin typeface="Times New Roman" pitchFamily="18" charset="0"/>
              </a:rPr>
              <a:t>	</a:t>
            </a:r>
          </a:p>
        </p:txBody>
      </p:sp>
      <p:grpSp>
        <p:nvGrpSpPr>
          <p:cNvPr id="20489" name="Group 9"/>
          <p:cNvGrpSpPr>
            <a:grpSpLocks/>
          </p:cNvGrpSpPr>
          <p:nvPr/>
        </p:nvGrpSpPr>
        <p:grpSpPr bwMode="auto">
          <a:xfrm>
            <a:off x="7667625" y="4724400"/>
            <a:ext cx="1614488" cy="1082675"/>
            <a:chOff x="4877" y="3072"/>
            <a:chExt cx="1145" cy="682"/>
          </a:xfrm>
        </p:grpSpPr>
        <p:sp>
          <p:nvSpPr>
            <p:cNvPr id="20603" name="Rectangle 10"/>
            <p:cNvSpPr>
              <a:spLocks noChangeAspect="1" noChangeArrowheads="1"/>
            </p:cNvSpPr>
            <p:nvPr/>
          </p:nvSpPr>
          <p:spPr bwMode="auto">
            <a:xfrm>
              <a:off x="5009" y="3072"/>
              <a:ext cx="1013" cy="252"/>
            </a:xfrm>
            <a:prstGeom prst="rect">
              <a:avLst/>
            </a:prstGeom>
            <a:noFill/>
            <a:ln w="9525">
              <a:noFill/>
              <a:miter lim="800000"/>
              <a:headEnd/>
              <a:tailEnd/>
            </a:ln>
          </p:spPr>
          <p:txBody>
            <a:bodyPr wrap="none" lIns="93662" tIns="47625" rIns="93662" bIns="47625">
              <a:spAutoFit/>
            </a:bodyPr>
            <a:lstStyle/>
            <a:p>
              <a:pPr defTabSz="933450"/>
              <a:r>
                <a:rPr lang="en-US" sz="2000"/>
                <a:t>Corn Grain</a:t>
              </a:r>
            </a:p>
          </p:txBody>
        </p:sp>
        <p:sp>
          <p:nvSpPr>
            <p:cNvPr id="20604" name="Oval 11"/>
            <p:cNvSpPr>
              <a:spLocks noChangeAspect="1" noChangeArrowheads="1"/>
            </p:cNvSpPr>
            <p:nvPr/>
          </p:nvSpPr>
          <p:spPr bwMode="auto">
            <a:xfrm>
              <a:off x="4877" y="3357"/>
              <a:ext cx="207" cy="197"/>
            </a:xfrm>
            <a:prstGeom prst="ellipse">
              <a:avLst/>
            </a:prstGeom>
            <a:solidFill>
              <a:srgbClr val="CECECE"/>
            </a:solidFill>
            <a:ln w="25400">
              <a:solidFill>
                <a:srgbClr val="919191"/>
              </a:solidFill>
              <a:round/>
              <a:headEnd/>
              <a:tailEnd/>
            </a:ln>
          </p:spPr>
          <p:txBody>
            <a:bodyPr wrap="none" anchor="ctr"/>
            <a:lstStyle/>
            <a:p>
              <a:endParaRPr lang="en-NZ">
                <a:latin typeface="Calibri" pitchFamily="34" charset="0"/>
              </a:endParaRPr>
            </a:p>
          </p:txBody>
        </p:sp>
        <p:sp>
          <p:nvSpPr>
            <p:cNvPr id="20605" name="Oval 12"/>
            <p:cNvSpPr>
              <a:spLocks noChangeAspect="1" noChangeArrowheads="1"/>
            </p:cNvSpPr>
            <p:nvPr/>
          </p:nvSpPr>
          <p:spPr bwMode="auto">
            <a:xfrm rot="-2100000">
              <a:off x="5041" y="3580"/>
              <a:ext cx="310" cy="166"/>
            </a:xfrm>
            <a:prstGeom prst="ellipse">
              <a:avLst/>
            </a:prstGeom>
            <a:solidFill>
              <a:srgbClr val="CECECE"/>
            </a:solidFill>
            <a:ln w="25400">
              <a:solidFill>
                <a:srgbClr val="919191"/>
              </a:solidFill>
              <a:round/>
              <a:headEnd/>
              <a:tailEnd/>
            </a:ln>
          </p:spPr>
          <p:txBody>
            <a:bodyPr wrap="none" anchor="ctr"/>
            <a:lstStyle/>
            <a:p>
              <a:endParaRPr lang="en-NZ">
                <a:latin typeface="Calibri" pitchFamily="34" charset="0"/>
              </a:endParaRPr>
            </a:p>
          </p:txBody>
        </p:sp>
        <p:sp>
          <p:nvSpPr>
            <p:cNvPr id="20606" name="Freeform 13"/>
            <p:cNvSpPr>
              <a:spLocks noChangeAspect="1"/>
            </p:cNvSpPr>
            <p:nvPr/>
          </p:nvSpPr>
          <p:spPr bwMode="auto">
            <a:xfrm>
              <a:off x="5082" y="3572"/>
              <a:ext cx="227" cy="182"/>
            </a:xfrm>
            <a:custGeom>
              <a:avLst/>
              <a:gdLst>
                <a:gd name="T0" fmla="*/ 0 w 365"/>
                <a:gd name="T1" fmla="*/ 70 h 292"/>
                <a:gd name="T2" fmla="*/ 4 w 365"/>
                <a:gd name="T3" fmla="*/ 70 h 292"/>
                <a:gd name="T4" fmla="*/ 9 w 365"/>
                <a:gd name="T5" fmla="*/ 69 h 292"/>
                <a:gd name="T6" fmla="*/ 11 w 365"/>
                <a:gd name="T7" fmla="*/ 64 h 292"/>
                <a:gd name="T8" fmla="*/ 15 w 365"/>
                <a:gd name="T9" fmla="*/ 62 h 292"/>
                <a:gd name="T10" fmla="*/ 17 w 365"/>
                <a:gd name="T11" fmla="*/ 59 h 292"/>
                <a:gd name="T12" fmla="*/ 21 w 365"/>
                <a:gd name="T13" fmla="*/ 57 h 292"/>
                <a:gd name="T14" fmla="*/ 23 w 365"/>
                <a:gd name="T15" fmla="*/ 53 h 292"/>
                <a:gd name="T16" fmla="*/ 27 w 365"/>
                <a:gd name="T17" fmla="*/ 51 h 292"/>
                <a:gd name="T18" fmla="*/ 31 w 365"/>
                <a:gd name="T19" fmla="*/ 47 h 292"/>
                <a:gd name="T20" fmla="*/ 35 w 365"/>
                <a:gd name="T21" fmla="*/ 47 h 292"/>
                <a:gd name="T22" fmla="*/ 40 w 365"/>
                <a:gd name="T23" fmla="*/ 45 h 292"/>
                <a:gd name="T24" fmla="*/ 44 w 365"/>
                <a:gd name="T25" fmla="*/ 41 h 292"/>
                <a:gd name="T26" fmla="*/ 48 w 365"/>
                <a:gd name="T27" fmla="*/ 36 h 292"/>
                <a:gd name="T28" fmla="*/ 53 w 365"/>
                <a:gd name="T29" fmla="*/ 27 h 292"/>
                <a:gd name="T30" fmla="*/ 55 w 365"/>
                <a:gd name="T31" fmla="*/ 23 h 292"/>
                <a:gd name="T32" fmla="*/ 53 w 365"/>
                <a:gd name="T33" fmla="*/ 18 h 292"/>
                <a:gd name="T34" fmla="*/ 53 w 365"/>
                <a:gd name="T35" fmla="*/ 12 h 292"/>
                <a:gd name="T36" fmla="*/ 50 w 365"/>
                <a:gd name="T37" fmla="*/ 6 h 292"/>
                <a:gd name="T38" fmla="*/ 50 w 365"/>
                <a:gd name="T39" fmla="*/ 0 h 292"/>
                <a:gd name="T40" fmla="*/ 53 w 365"/>
                <a:gd name="T41" fmla="*/ 4 h 292"/>
                <a:gd name="T42" fmla="*/ 53 w 365"/>
                <a:gd name="T43" fmla="*/ 8 h 292"/>
                <a:gd name="T44" fmla="*/ 53 w 365"/>
                <a:gd name="T45" fmla="*/ 14 h 292"/>
                <a:gd name="T46" fmla="*/ 55 w 365"/>
                <a:gd name="T47" fmla="*/ 20 h 292"/>
                <a:gd name="T48" fmla="*/ 53 w 365"/>
                <a:gd name="T49" fmla="*/ 26 h 292"/>
                <a:gd name="T50" fmla="*/ 53 w 365"/>
                <a:gd name="T51" fmla="*/ 31 h 292"/>
                <a:gd name="T52" fmla="*/ 59 w 365"/>
                <a:gd name="T53" fmla="*/ 34 h 292"/>
                <a:gd name="T54" fmla="*/ 65 w 365"/>
                <a:gd name="T55" fmla="*/ 34 h 292"/>
                <a:gd name="T56" fmla="*/ 71 w 365"/>
                <a:gd name="T57" fmla="*/ 34 h 292"/>
                <a:gd name="T58" fmla="*/ 77 w 365"/>
                <a:gd name="T59" fmla="*/ 34 h 292"/>
                <a:gd name="T60" fmla="*/ 83 w 365"/>
                <a:gd name="T61" fmla="*/ 36 h 292"/>
                <a:gd name="T62" fmla="*/ 88 w 365"/>
                <a:gd name="T63" fmla="*/ 36 h 292"/>
                <a:gd name="T64" fmla="*/ 88 w 365"/>
                <a:gd name="T65" fmla="*/ 36 h 29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65"/>
                <a:gd name="T100" fmla="*/ 0 h 292"/>
                <a:gd name="T101" fmla="*/ 365 w 365"/>
                <a:gd name="T102" fmla="*/ 292 h 29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65" h="292">
                  <a:moveTo>
                    <a:pt x="0" y="291"/>
                  </a:moveTo>
                  <a:lnTo>
                    <a:pt x="18" y="291"/>
                  </a:lnTo>
                  <a:lnTo>
                    <a:pt x="36" y="283"/>
                  </a:lnTo>
                  <a:lnTo>
                    <a:pt x="44" y="267"/>
                  </a:lnTo>
                  <a:lnTo>
                    <a:pt x="62" y="259"/>
                  </a:lnTo>
                  <a:lnTo>
                    <a:pt x="70" y="243"/>
                  </a:lnTo>
                  <a:lnTo>
                    <a:pt x="88" y="235"/>
                  </a:lnTo>
                  <a:lnTo>
                    <a:pt x="96" y="218"/>
                  </a:lnTo>
                  <a:lnTo>
                    <a:pt x="114" y="211"/>
                  </a:lnTo>
                  <a:lnTo>
                    <a:pt x="130" y="194"/>
                  </a:lnTo>
                  <a:lnTo>
                    <a:pt x="148" y="194"/>
                  </a:lnTo>
                  <a:lnTo>
                    <a:pt x="166" y="186"/>
                  </a:lnTo>
                  <a:lnTo>
                    <a:pt x="182" y="170"/>
                  </a:lnTo>
                  <a:lnTo>
                    <a:pt x="200" y="146"/>
                  </a:lnTo>
                  <a:lnTo>
                    <a:pt x="218" y="114"/>
                  </a:lnTo>
                  <a:lnTo>
                    <a:pt x="226" y="97"/>
                  </a:lnTo>
                  <a:lnTo>
                    <a:pt x="218" y="73"/>
                  </a:lnTo>
                  <a:lnTo>
                    <a:pt x="218" y="49"/>
                  </a:lnTo>
                  <a:lnTo>
                    <a:pt x="208" y="24"/>
                  </a:lnTo>
                  <a:lnTo>
                    <a:pt x="208" y="0"/>
                  </a:lnTo>
                  <a:lnTo>
                    <a:pt x="218" y="17"/>
                  </a:lnTo>
                  <a:lnTo>
                    <a:pt x="218" y="33"/>
                  </a:lnTo>
                  <a:lnTo>
                    <a:pt x="218" y="58"/>
                  </a:lnTo>
                  <a:lnTo>
                    <a:pt x="226" y="82"/>
                  </a:lnTo>
                  <a:lnTo>
                    <a:pt x="218" y="106"/>
                  </a:lnTo>
                  <a:lnTo>
                    <a:pt x="218" y="130"/>
                  </a:lnTo>
                  <a:lnTo>
                    <a:pt x="244" y="138"/>
                  </a:lnTo>
                  <a:lnTo>
                    <a:pt x="270" y="138"/>
                  </a:lnTo>
                  <a:lnTo>
                    <a:pt x="296" y="138"/>
                  </a:lnTo>
                  <a:lnTo>
                    <a:pt x="322" y="138"/>
                  </a:lnTo>
                  <a:lnTo>
                    <a:pt x="348" y="146"/>
                  </a:lnTo>
                  <a:lnTo>
                    <a:pt x="364" y="146"/>
                  </a:lnTo>
                </a:path>
              </a:pathLst>
            </a:custGeom>
            <a:noFill/>
            <a:ln w="25400" cap="rnd" cmpd="sng">
              <a:solidFill>
                <a:srgbClr val="919191"/>
              </a:solidFill>
              <a:prstDash val="solid"/>
              <a:round/>
              <a:headEnd type="none" w="med" len="med"/>
              <a:tailEnd type="none" w="med" len="med"/>
            </a:ln>
          </p:spPr>
          <p:txBody>
            <a:bodyPr/>
            <a:lstStyle/>
            <a:p>
              <a:endParaRPr lang="en-US"/>
            </a:p>
          </p:txBody>
        </p:sp>
        <p:sp>
          <p:nvSpPr>
            <p:cNvPr id="20607" name="Oval 14"/>
            <p:cNvSpPr>
              <a:spLocks noChangeAspect="1" noChangeArrowheads="1"/>
            </p:cNvSpPr>
            <p:nvPr/>
          </p:nvSpPr>
          <p:spPr bwMode="auto">
            <a:xfrm rot="1920000">
              <a:off x="5319" y="3365"/>
              <a:ext cx="410" cy="236"/>
            </a:xfrm>
            <a:prstGeom prst="ellipse">
              <a:avLst/>
            </a:prstGeom>
            <a:solidFill>
              <a:srgbClr val="CECECE"/>
            </a:solidFill>
            <a:ln w="25400">
              <a:solidFill>
                <a:srgbClr val="919191"/>
              </a:solidFill>
              <a:round/>
              <a:headEnd/>
              <a:tailEnd/>
            </a:ln>
          </p:spPr>
          <p:txBody>
            <a:bodyPr wrap="none" anchor="ctr"/>
            <a:lstStyle/>
            <a:p>
              <a:endParaRPr lang="en-NZ">
                <a:latin typeface="Calibri" pitchFamily="34" charset="0"/>
              </a:endParaRPr>
            </a:p>
          </p:txBody>
        </p:sp>
        <p:sp>
          <p:nvSpPr>
            <p:cNvPr id="20608" name="Oval 15"/>
            <p:cNvSpPr>
              <a:spLocks noChangeAspect="1" noChangeArrowheads="1"/>
            </p:cNvSpPr>
            <p:nvPr/>
          </p:nvSpPr>
          <p:spPr bwMode="auto">
            <a:xfrm rot="1920000">
              <a:off x="5426" y="3438"/>
              <a:ext cx="173" cy="86"/>
            </a:xfrm>
            <a:prstGeom prst="ellipse">
              <a:avLst/>
            </a:prstGeom>
            <a:solidFill>
              <a:schemeClr val="bg2"/>
            </a:solidFill>
            <a:ln w="25400">
              <a:solidFill>
                <a:srgbClr val="919191"/>
              </a:solidFill>
              <a:round/>
              <a:headEnd/>
              <a:tailEnd/>
            </a:ln>
          </p:spPr>
          <p:txBody>
            <a:bodyPr wrap="none" anchor="ctr"/>
            <a:lstStyle/>
            <a:p>
              <a:endParaRPr lang="en-NZ">
                <a:latin typeface="Calibri" pitchFamily="34" charset="0"/>
              </a:endParaRPr>
            </a:p>
          </p:txBody>
        </p:sp>
        <p:sp>
          <p:nvSpPr>
            <p:cNvPr id="20609" name="Freeform 16"/>
            <p:cNvSpPr>
              <a:spLocks noChangeAspect="1"/>
            </p:cNvSpPr>
            <p:nvPr/>
          </p:nvSpPr>
          <p:spPr bwMode="auto">
            <a:xfrm>
              <a:off x="5472" y="3337"/>
              <a:ext cx="13" cy="93"/>
            </a:xfrm>
            <a:custGeom>
              <a:avLst/>
              <a:gdLst>
                <a:gd name="T0" fmla="*/ 0 w 20"/>
                <a:gd name="T1" fmla="*/ 0 h 149"/>
                <a:gd name="T2" fmla="*/ 1 w 20"/>
                <a:gd name="T3" fmla="*/ 6 h 149"/>
                <a:gd name="T4" fmla="*/ 3 w 20"/>
                <a:gd name="T5" fmla="*/ 14 h 149"/>
                <a:gd name="T6" fmla="*/ 3 w 20"/>
                <a:gd name="T7" fmla="*/ 24 h 149"/>
                <a:gd name="T8" fmla="*/ 5 w 20"/>
                <a:gd name="T9" fmla="*/ 29 h 149"/>
                <a:gd name="T10" fmla="*/ 5 w 20"/>
                <a:gd name="T11" fmla="*/ 36 h 149"/>
                <a:gd name="T12" fmla="*/ 0 60000 65536"/>
                <a:gd name="T13" fmla="*/ 0 60000 65536"/>
                <a:gd name="T14" fmla="*/ 0 60000 65536"/>
                <a:gd name="T15" fmla="*/ 0 60000 65536"/>
                <a:gd name="T16" fmla="*/ 0 60000 65536"/>
                <a:gd name="T17" fmla="*/ 0 60000 65536"/>
                <a:gd name="T18" fmla="*/ 0 w 20"/>
                <a:gd name="T19" fmla="*/ 0 h 149"/>
                <a:gd name="T20" fmla="*/ 20 w 20"/>
                <a:gd name="T21" fmla="*/ 149 h 149"/>
              </a:gdLst>
              <a:ahLst/>
              <a:cxnLst>
                <a:cxn ang="T12">
                  <a:pos x="T0" y="T1"/>
                </a:cxn>
                <a:cxn ang="T13">
                  <a:pos x="T2" y="T3"/>
                </a:cxn>
                <a:cxn ang="T14">
                  <a:pos x="T4" y="T5"/>
                </a:cxn>
                <a:cxn ang="T15">
                  <a:pos x="T6" y="T7"/>
                </a:cxn>
                <a:cxn ang="T16">
                  <a:pos x="T8" y="T9"/>
                </a:cxn>
                <a:cxn ang="T17">
                  <a:pos x="T10" y="T11"/>
                </a:cxn>
              </a:cxnLst>
              <a:rect l="T18" t="T19" r="T20" b="T21"/>
              <a:pathLst>
                <a:path w="20" h="149">
                  <a:moveTo>
                    <a:pt x="0" y="0"/>
                  </a:moveTo>
                  <a:lnTo>
                    <a:pt x="5" y="23"/>
                  </a:lnTo>
                  <a:lnTo>
                    <a:pt x="13" y="57"/>
                  </a:lnTo>
                  <a:lnTo>
                    <a:pt x="13" y="98"/>
                  </a:lnTo>
                  <a:lnTo>
                    <a:pt x="19" y="121"/>
                  </a:lnTo>
                  <a:lnTo>
                    <a:pt x="17" y="148"/>
                  </a:lnTo>
                </a:path>
              </a:pathLst>
            </a:custGeom>
            <a:noFill/>
            <a:ln w="25400" cap="rnd" cmpd="sng">
              <a:solidFill>
                <a:srgbClr val="919191"/>
              </a:solidFill>
              <a:prstDash val="solid"/>
              <a:round/>
              <a:headEnd type="none" w="med" len="med"/>
              <a:tailEnd type="none" w="med" len="med"/>
            </a:ln>
          </p:spPr>
          <p:txBody>
            <a:bodyPr/>
            <a:lstStyle/>
            <a:p>
              <a:endParaRPr lang="en-US"/>
            </a:p>
          </p:txBody>
        </p:sp>
        <p:sp>
          <p:nvSpPr>
            <p:cNvPr id="20610" name="Freeform 17"/>
            <p:cNvSpPr>
              <a:spLocks noChangeAspect="1"/>
            </p:cNvSpPr>
            <p:nvPr/>
          </p:nvSpPr>
          <p:spPr bwMode="auto">
            <a:xfrm>
              <a:off x="5594" y="3493"/>
              <a:ext cx="115" cy="37"/>
            </a:xfrm>
            <a:custGeom>
              <a:avLst/>
              <a:gdLst>
                <a:gd name="T0" fmla="*/ 0 w 184"/>
                <a:gd name="T1" fmla="*/ 14 h 59"/>
                <a:gd name="T2" fmla="*/ 7 w 184"/>
                <a:gd name="T3" fmla="*/ 8 h 59"/>
                <a:gd name="T4" fmla="*/ 15 w 184"/>
                <a:gd name="T5" fmla="*/ 6 h 59"/>
                <a:gd name="T6" fmla="*/ 23 w 184"/>
                <a:gd name="T7" fmla="*/ 4 h 59"/>
                <a:gd name="T8" fmla="*/ 32 w 184"/>
                <a:gd name="T9" fmla="*/ 6 h 59"/>
                <a:gd name="T10" fmla="*/ 39 w 184"/>
                <a:gd name="T11" fmla="*/ 4 h 59"/>
                <a:gd name="T12" fmla="*/ 44 w 184"/>
                <a:gd name="T13" fmla="*/ 0 h 59"/>
                <a:gd name="T14" fmla="*/ 0 60000 65536"/>
                <a:gd name="T15" fmla="*/ 0 60000 65536"/>
                <a:gd name="T16" fmla="*/ 0 60000 65536"/>
                <a:gd name="T17" fmla="*/ 0 60000 65536"/>
                <a:gd name="T18" fmla="*/ 0 60000 65536"/>
                <a:gd name="T19" fmla="*/ 0 60000 65536"/>
                <a:gd name="T20" fmla="*/ 0 60000 65536"/>
                <a:gd name="T21" fmla="*/ 0 w 184"/>
                <a:gd name="T22" fmla="*/ 0 h 59"/>
                <a:gd name="T23" fmla="*/ 184 w 184"/>
                <a:gd name="T24" fmla="*/ 59 h 5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4" h="59">
                  <a:moveTo>
                    <a:pt x="0" y="58"/>
                  </a:moveTo>
                  <a:lnTo>
                    <a:pt x="31" y="30"/>
                  </a:lnTo>
                  <a:lnTo>
                    <a:pt x="61" y="23"/>
                  </a:lnTo>
                  <a:lnTo>
                    <a:pt x="94" y="15"/>
                  </a:lnTo>
                  <a:lnTo>
                    <a:pt x="129" y="25"/>
                  </a:lnTo>
                  <a:lnTo>
                    <a:pt x="159" y="15"/>
                  </a:lnTo>
                  <a:lnTo>
                    <a:pt x="183" y="0"/>
                  </a:lnTo>
                </a:path>
              </a:pathLst>
            </a:custGeom>
            <a:noFill/>
            <a:ln w="25400" cap="rnd" cmpd="sng">
              <a:solidFill>
                <a:srgbClr val="919191"/>
              </a:solidFill>
              <a:prstDash val="solid"/>
              <a:round/>
              <a:headEnd type="none" w="med" len="med"/>
              <a:tailEnd type="none" w="med" len="med"/>
            </a:ln>
          </p:spPr>
          <p:txBody>
            <a:bodyPr/>
            <a:lstStyle/>
            <a:p>
              <a:endParaRPr lang="en-US"/>
            </a:p>
          </p:txBody>
        </p:sp>
        <p:sp>
          <p:nvSpPr>
            <p:cNvPr id="20611" name="Freeform 18"/>
            <p:cNvSpPr>
              <a:spLocks noChangeAspect="1"/>
            </p:cNvSpPr>
            <p:nvPr/>
          </p:nvSpPr>
          <p:spPr bwMode="auto">
            <a:xfrm>
              <a:off x="5533" y="3554"/>
              <a:ext cx="37" cy="70"/>
            </a:xfrm>
            <a:custGeom>
              <a:avLst/>
              <a:gdLst>
                <a:gd name="T0" fmla="*/ 0 w 60"/>
                <a:gd name="T1" fmla="*/ 0 h 112"/>
                <a:gd name="T2" fmla="*/ 9 w 60"/>
                <a:gd name="T3" fmla="*/ 10 h 112"/>
                <a:gd name="T4" fmla="*/ 9 w 60"/>
                <a:gd name="T5" fmla="*/ 15 h 112"/>
                <a:gd name="T6" fmla="*/ 12 w 60"/>
                <a:gd name="T7" fmla="*/ 19 h 112"/>
                <a:gd name="T8" fmla="*/ 12 w 60"/>
                <a:gd name="T9" fmla="*/ 23 h 112"/>
                <a:gd name="T10" fmla="*/ 14 w 60"/>
                <a:gd name="T11" fmla="*/ 27 h 112"/>
                <a:gd name="T12" fmla="*/ 7 w 60"/>
                <a:gd name="T13" fmla="*/ 11 h 112"/>
                <a:gd name="T14" fmla="*/ 0 60000 65536"/>
                <a:gd name="T15" fmla="*/ 0 60000 65536"/>
                <a:gd name="T16" fmla="*/ 0 60000 65536"/>
                <a:gd name="T17" fmla="*/ 0 60000 65536"/>
                <a:gd name="T18" fmla="*/ 0 60000 65536"/>
                <a:gd name="T19" fmla="*/ 0 60000 65536"/>
                <a:gd name="T20" fmla="*/ 0 60000 65536"/>
                <a:gd name="T21" fmla="*/ 0 w 60"/>
                <a:gd name="T22" fmla="*/ 0 h 112"/>
                <a:gd name="T23" fmla="*/ 60 w 6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 h="112">
                  <a:moveTo>
                    <a:pt x="0" y="0"/>
                  </a:moveTo>
                  <a:lnTo>
                    <a:pt x="35" y="40"/>
                  </a:lnTo>
                  <a:lnTo>
                    <a:pt x="40" y="61"/>
                  </a:lnTo>
                  <a:lnTo>
                    <a:pt x="49" y="76"/>
                  </a:lnTo>
                  <a:lnTo>
                    <a:pt x="48" y="96"/>
                  </a:lnTo>
                  <a:lnTo>
                    <a:pt x="59" y="111"/>
                  </a:lnTo>
                  <a:lnTo>
                    <a:pt x="30" y="47"/>
                  </a:lnTo>
                </a:path>
              </a:pathLst>
            </a:custGeom>
            <a:noFill/>
            <a:ln w="25400" cap="rnd" cmpd="sng">
              <a:solidFill>
                <a:srgbClr val="919191"/>
              </a:solidFill>
              <a:prstDash val="solid"/>
              <a:round/>
              <a:headEnd type="none" w="med" len="med"/>
              <a:tailEnd type="none" w="med" len="med"/>
            </a:ln>
          </p:spPr>
          <p:txBody>
            <a:bodyPr/>
            <a:lstStyle/>
            <a:p>
              <a:endParaRPr lang="en-US"/>
            </a:p>
          </p:txBody>
        </p:sp>
        <p:sp>
          <p:nvSpPr>
            <p:cNvPr id="20612" name="Freeform 19"/>
            <p:cNvSpPr>
              <a:spLocks noChangeAspect="1"/>
            </p:cNvSpPr>
            <p:nvPr/>
          </p:nvSpPr>
          <p:spPr bwMode="auto">
            <a:xfrm>
              <a:off x="5347" y="3477"/>
              <a:ext cx="93" cy="10"/>
            </a:xfrm>
            <a:custGeom>
              <a:avLst/>
              <a:gdLst>
                <a:gd name="T0" fmla="*/ 36 w 148"/>
                <a:gd name="T1" fmla="*/ 3 h 17"/>
                <a:gd name="T2" fmla="*/ 30 w 148"/>
                <a:gd name="T3" fmla="*/ 1 h 17"/>
                <a:gd name="T4" fmla="*/ 23 w 148"/>
                <a:gd name="T5" fmla="*/ 2 h 17"/>
                <a:gd name="T6" fmla="*/ 16 w 148"/>
                <a:gd name="T7" fmla="*/ 0 h 17"/>
                <a:gd name="T8" fmla="*/ 10 w 148"/>
                <a:gd name="T9" fmla="*/ 1 h 17"/>
                <a:gd name="T10" fmla="*/ 5 w 148"/>
                <a:gd name="T11" fmla="*/ 1 h 17"/>
                <a:gd name="T12" fmla="*/ 0 w 148"/>
                <a:gd name="T13" fmla="*/ 1 h 17"/>
                <a:gd name="T14" fmla="*/ 0 60000 65536"/>
                <a:gd name="T15" fmla="*/ 0 60000 65536"/>
                <a:gd name="T16" fmla="*/ 0 60000 65536"/>
                <a:gd name="T17" fmla="*/ 0 60000 65536"/>
                <a:gd name="T18" fmla="*/ 0 60000 65536"/>
                <a:gd name="T19" fmla="*/ 0 60000 65536"/>
                <a:gd name="T20" fmla="*/ 0 60000 65536"/>
                <a:gd name="T21" fmla="*/ 0 w 148"/>
                <a:gd name="T22" fmla="*/ 0 h 17"/>
                <a:gd name="T23" fmla="*/ 148 w 148"/>
                <a:gd name="T24" fmla="*/ 17 h 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8" h="17">
                  <a:moveTo>
                    <a:pt x="147" y="16"/>
                  </a:moveTo>
                  <a:lnTo>
                    <a:pt x="120" y="7"/>
                  </a:lnTo>
                  <a:lnTo>
                    <a:pt x="90" y="9"/>
                  </a:lnTo>
                  <a:lnTo>
                    <a:pt x="63" y="0"/>
                  </a:lnTo>
                  <a:lnTo>
                    <a:pt x="40" y="7"/>
                  </a:lnTo>
                  <a:lnTo>
                    <a:pt x="21" y="7"/>
                  </a:lnTo>
                  <a:lnTo>
                    <a:pt x="0" y="5"/>
                  </a:lnTo>
                </a:path>
              </a:pathLst>
            </a:custGeom>
            <a:noFill/>
            <a:ln w="25400" cap="rnd" cmpd="sng">
              <a:solidFill>
                <a:srgbClr val="919191"/>
              </a:solidFill>
              <a:prstDash val="solid"/>
              <a:round/>
              <a:headEnd type="none" w="med" len="med"/>
              <a:tailEnd type="none" w="med" len="med"/>
            </a:ln>
          </p:spPr>
          <p:txBody>
            <a:bodyPr/>
            <a:lstStyle/>
            <a:p>
              <a:endParaRPr lang="en-US"/>
            </a:p>
          </p:txBody>
        </p:sp>
        <p:sp>
          <p:nvSpPr>
            <p:cNvPr id="20613" name="Freeform 20"/>
            <p:cNvSpPr>
              <a:spLocks noChangeAspect="1"/>
            </p:cNvSpPr>
            <p:nvPr/>
          </p:nvSpPr>
          <p:spPr bwMode="auto">
            <a:xfrm>
              <a:off x="4930" y="3379"/>
              <a:ext cx="97" cy="162"/>
            </a:xfrm>
            <a:custGeom>
              <a:avLst/>
              <a:gdLst>
                <a:gd name="T0" fmla="*/ 0 w 155"/>
                <a:gd name="T1" fmla="*/ 0 h 260"/>
                <a:gd name="T2" fmla="*/ 8 w 155"/>
                <a:gd name="T3" fmla="*/ 1 h 260"/>
                <a:gd name="T4" fmla="*/ 15 w 155"/>
                <a:gd name="T5" fmla="*/ 7 h 260"/>
                <a:gd name="T6" fmla="*/ 23 w 155"/>
                <a:gd name="T7" fmla="*/ 11 h 260"/>
                <a:gd name="T8" fmla="*/ 27 w 155"/>
                <a:gd name="T9" fmla="*/ 17 h 260"/>
                <a:gd name="T10" fmla="*/ 30 w 155"/>
                <a:gd name="T11" fmla="*/ 24 h 260"/>
                <a:gd name="T12" fmla="*/ 34 w 155"/>
                <a:gd name="T13" fmla="*/ 34 h 260"/>
                <a:gd name="T14" fmla="*/ 34 w 155"/>
                <a:gd name="T15" fmla="*/ 44 h 260"/>
                <a:gd name="T16" fmla="*/ 38 w 155"/>
                <a:gd name="T17" fmla="*/ 53 h 260"/>
                <a:gd name="T18" fmla="*/ 34 w 155"/>
                <a:gd name="T19" fmla="*/ 62 h 2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5"/>
                <a:gd name="T31" fmla="*/ 0 h 260"/>
                <a:gd name="T32" fmla="*/ 155 w 155"/>
                <a:gd name="T33" fmla="*/ 260 h 2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5" h="260">
                  <a:moveTo>
                    <a:pt x="0" y="0"/>
                  </a:moveTo>
                  <a:lnTo>
                    <a:pt x="33" y="5"/>
                  </a:lnTo>
                  <a:lnTo>
                    <a:pt x="63" y="32"/>
                  </a:lnTo>
                  <a:lnTo>
                    <a:pt x="94" y="45"/>
                  </a:lnTo>
                  <a:lnTo>
                    <a:pt x="109" y="72"/>
                  </a:lnTo>
                  <a:lnTo>
                    <a:pt x="123" y="99"/>
                  </a:lnTo>
                  <a:lnTo>
                    <a:pt x="139" y="139"/>
                  </a:lnTo>
                  <a:lnTo>
                    <a:pt x="139" y="179"/>
                  </a:lnTo>
                  <a:lnTo>
                    <a:pt x="154" y="219"/>
                  </a:lnTo>
                  <a:lnTo>
                    <a:pt x="139" y="259"/>
                  </a:lnTo>
                </a:path>
              </a:pathLst>
            </a:custGeom>
            <a:noFill/>
            <a:ln w="25400" cap="rnd" cmpd="sng">
              <a:solidFill>
                <a:srgbClr val="919191"/>
              </a:solidFill>
              <a:prstDash val="solid"/>
              <a:round/>
              <a:headEnd type="none" w="med" len="med"/>
              <a:tailEnd type="none" w="med" len="med"/>
            </a:ln>
          </p:spPr>
          <p:txBody>
            <a:bodyPr/>
            <a:lstStyle/>
            <a:p>
              <a:endParaRPr lang="en-US"/>
            </a:p>
          </p:txBody>
        </p:sp>
        <p:sp>
          <p:nvSpPr>
            <p:cNvPr id="20614" name="Arc 21"/>
            <p:cNvSpPr>
              <a:spLocks noChangeAspect="1"/>
            </p:cNvSpPr>
            <p:nvPr/>
          </p:nvSpPr>
          <p:spPr bwMode="auto">
            <a:xfrm>
              <a:off x="4921" y="3379"/>
              <a:ext cx="130" cy="145"/>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25400" cap="rnd">
              <a:solidFill>
                <a:srgbClr val="919191"/>
              </a:solidFill>
              <a:round/>
              <a:headEnd/>
              <a:tailEnd/>
            </a:ln>
          </p:spPr>
          <p:txBody>
            <a:bodyPr wrap="none" anchor="ctr"/>
            <a:lstStyle/>
            <a:p>
              <a:endParaRPr lang="en-US"/>
            </a:p>
          </p:txBody>
        </p:sp>
        <p:sp>
          <p:nvSpPr>
            <p:cNvPr id="20615" name="Freeform 22"/>
            <p:cNvSpPr>
              <a:spLocks noChangeAspect="1"/>
            </p:cNvSpPr>
            <p:nvPr/>
          </p:nvSpPr>
          <p:spPr bwMode="auto">
            <a:xfrm>
              <a:off x="4887" y="3457"/>
              <a:ext cx="185" cy="43"/>
            </a:xfrm>
            <a:custGeom>
              <a:avLst/>
              <a:gdLst>
                <a:gd name="T0" fmla="*/ 0 w 297"/>
                <a:gd name="T1" fmla="*/ 17 h 68"/>
                <a:gd name="T2" fmla="*/ 2 w 297"/>
                <a:gd name="T3" fmla="*/ 10 h 68"/>
                <a:gd name="T4" fmla="*/ 14 w 297"/>
                <a:gd name="T5" fmla="*/ 7 h 68"/>
                <a:gd name="T6" fmla="*/ 25 w 297"/>
                <a:gd name="T7" fmla="*/ 4 h 68"/>
                <a:gd name="T8" fmla="*/ 36 w 297"/>
                <a:gd name="T9" fmla="*/ 0 h 68"/>
                <a:gd name="T10" fmla="*/ 47 w 297"/>
                <a:gd name="T11" fmla="*/ 4 h 68"/>
                <a:gd name="T12" fmla="*/ 57 w 297"/>
                <a:gd name="T13" fmla="*/ 7 h 68"/>
                <a:gd name="T14" fmla="*/ 64 w 297"/>
                <a:gd name="T15" fmla="*/ 14 h 68"/>
                <a:gd name="T16" fmla="*/ 72 w 297"/>
                <a:gd name="T17" fmla="*/ 17 h 6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97"/>
                <a:gd name="T28" fmla="*/ 0 h 68"/>
                <a:gd name="T29" fmla="*/ 297 w 297"/>
                <a:gd name="T30" fmla="*/ 68 h 6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97" h="68">
                  <a:moveTo>
                    <a:pt x="0" y="67"/>
                  </a:moveTo>
                  <a:lnTo>
                    <a:pt x="12" y="40"/>
                  </a:lnTo>
                  <a:lnTo>
                    <a:pt x="57" y="27"/>
                  </a:lnTo>
                  <a:lnTo>
                    <a:pt x="102" y="14"/>
                  </a:lnTo>
                  <a:lnTo>
                    <a:pt x="147" y="0"/>
                  </a:lnTo>
                  <a:lnTo>
                    <a:pt x="192" y="14"/>
                  </a:lnTo>
                  <a:lnTo>
                    <a:pt x="237" y="27"/>
                  </a:lnTo>
                  <a:lnTo>
                    <a:pt x="266" y="54"/>
                  </a:lnTo>
                  <a:lnTo>
                    <a:pt x="296" y="67"/>
                  </a:lnTo>
                </a:path>
              </a:pathLst>
            </a:custGeom>
            <a:noFill/>
            <a:ln w="25400" cap="rnd" cmpd="sng">
              <a:solidFill>
                <a:srgbClr val="919191"/>
              </a:solidFill>
              <a:prstDash val="solid"/>
              <a:round/>
              <a:headEnd type="none" w="med" len="med"/>
              <a:tailEnd type="none" w="med" len="med"/>
            </a:ln>
          </p:spPr>
          <p:txBody>
            <a:bodyPr/>
            <a:lstStyle/>
            <a:p>
              <a:endParaRPr lang="en-US"/>
            </a:p>
          </p:txBody>
        </p:sp>
      </p:grpSp>
      <p:grpSp>
        <p:nvGrpSpPr>
          <p:cNvPr id="20490" name="Group 23"/>
          <p:cNvGrpSpPr>
            <a:grpSpLocks/>
          </p:cNvGrpSpPr>
          <p:nvPr/>
        </p:nvGrpSpPr>
        <p:grpSpPr bwMode="auto">
          <a:xfrm>
            <a:off x="5435600" y="4797425"/>
            <a:ext cx="1825625" cy="966788"/>
            <a:chOff x="4656" y="4010"/>
            <a:chExt cx="1293" cy="609"/>
          </a:xfrm>
        </p:grpSpPr>
        <p:sp>
          <p:nvSpPr>
            <p:cNvPr id="20546" name="Rectangle 24"/>
            <p:cNvSpPr>
              <a:spLocks noChangeAspect="1" noChangeArrowheads="1"/>
            </p:cNvSpPr>
            <p:nvPr/>
          </p:nvSpPr>
          <p:spPr bwMode="auto">
            <a:xfrm>
              <a:off x="5297" y="4010"/>
              <a:ext cx="652" cy="252"/>
            </a:xfrm>
            <a:prstGeom prst="rect">
              <a:avLst/>
            </a:prstGeom>
            <a:noFill/>
            <a:ln w="9525">
              <a:noFill/>
              <a:miter lim="800000"/>
              <a:headEnd/>
              <a:tailEnd/>
            </a:ln>
          </p:spPr>
          <p:txBody>
            <a:bodyPr wrap="none" lIns="93662" tIns="47625" rIns="93662" bIns="47625">
              <a:spAutoFit/>
            </a:bodyPr>
            <a:lstStyle/>
            <a:p>
              <a:pPr defTabSz="933450"/>
              <a:r>
                <a:rPr lang="en-US" sz="2000"/>
                <a:t>Wheat</a:t>
              </a:r>
            </a:p>
          </p:txBody>
        </p:sp>
        <p:sp>
          <p:nvSpPr>
            <p:cNvPr id="20547" name="Oval 25"/>
            <p:cNvSpPr>
              <a:spLocks noChangeAspect="1" noChangeArrowheads="1"/>
            </p:cNvSpPr>
            <p:nvPr/>
          </p:nvSpPr>
          <p:spPr bwMode="auto">
            <a:xfrm>
              <a:off x="5223" y="4352"/>
              <a:ext cx="444" cy="259"/>
            </a:xfrm>
            <a:prstGeom prst="ellipse">
              <a:avLst/>
            </a:prstGeom>
            <a:solidFill>
              <a:srgbClr val="CECECE"/>
            </a:solidFill>
            <a:ln w="25400">
              <a:solidFill>
                <a:srgbClr val="919191"/>
              </a:solidFill>
              <a:round/>
              <a:headEnd/>
              <a:tailEnd/>
            </a:ln>
          </p:spPr>
          <p:txBody>
            <a:bodyPr wrap="none" anchor="ctr"/>
            <a:lstStyle/>
            <a:p>
              <a:endParaRPr lang="en-NZ">
                <a:latin typeface="Calibri" pitchFamily="34" charset="0"/>
              </a:endParaRPr>
            </a:p>
          </p:txBody>
        </p:sp>
        <p:sp>
          <p:nvSpPr>
            <p:cNvPr id="20548" name="Oval 26"/>
            <p:cNvSpPr>
              <a:spLocks noChangeAspect="1" noChangeArrowheads="1"/>
            </p:cNvSpPr>
            <p:nvPr/>
          </p:nvSpPr>
          <p:spPr bwMode="auto">
            <a:xfrm>
              <a:off x="5347" y="4415"/>
              <a:ext cx="179" cy="116"/>
            </a:xfrm>
            <a:prstGeom prst="ellipse">
              <a:avLst/>
            </a:prstGeom>
            <a:noFill/>
            <a:ln w="25400">
              <a:solidFill>
                <a:srgbClr val="919191"/>
              </a:solidFill>
              <a:round/>
              <a:headEnd/>
              <a:tailEnd/>
            </a:ln>
          </p:spPr>
          <p:txBody>
            <a:bodyPr wrap="none" anchor="ctr"/>
            <a:lstStyle/>
            <a:p>
              <a:endParaRPr lang="en-NZ">
                <a:latin typeface="Calibri" pitchFamily="34" charset="0"/>
              </a:endParaRPr>
            </a:p>
          </p:txBody>
        </p:sp>
        <p:sp>
          <p:nvSpPr>
            <p:cNvPr id="20549" name="Freeform 27"/>
            <p:cNvSpPr>
              <a:spLocks noChangeAspect="1"/>
            </p:cNvSpPr>
            <p:nvPr/>
          </p:nvSpPr>
          <p:spPr bwMode="auto">
            <a:xfrm>
              <a:off x="5232" y="4352"/>
              <a:ext cx="422" cy="267"/>
            </a:xfrm>
            <a:custGeom>
              <a:avLst/>
              <a:gdLst>
                <a:gd name="T0" fmla="*/ 69 w 676"/>
                <a:gd name="T1" fmla="*/ 7 h 428"/>
                <a:gd name="T2" fmla="*/ 77 w 676"/>
                <a:gd name="T3" fmla="*/ 23 h 428"/>
                <a:gd name="T4" fmla="*/ 99 w 676"/>
                <a:gd name="T5" fmla="*/ 29 h 428"/>
                <a:gd name="T6" fmla="*/ 117 w 676"/>
                <a:gd name="T7" fmla="*/ 19 h 428"/>
                <a:gd name="T8" fmla="*/ 127 w 676"/>
                <a:gd name="T9" fmla="*/ 10 h 428"/>
                <a:gd name="T10" fmla="*/ 142 w 676"/>
                <a:gd name="T11" fmla="*/ 10 h 428"/>
                <a:gd name="T12" fmla="*/ 153 w 676"/>
                <a:gd name="T13" fmla="*/ 19 h 428"/>
                <a:gd name="T14" fmla="*/ 149 w 676"/>
                <a:gd name="T15" fmla="*/ 29 h 428"/>
                <a:gd name="T16" fmla="*/ 127 w 676"/>
                <a:gd name="T17" fmla="*/ 39 h 428"/>
                <a:gd name="T18" fmla="*/ 120 w 676"/>
                <a:gd name="T19" fmla="*/ 52 h 428"/>
                <a:gd name="T20" fmla="*/ 113 w 676"/>
                <a:gd name="T21" fmla="*/ 65 h 428"/>
                <a:gd name="T22" fmla="*/ 131 w 676"/>
                <a:gd name="T23" fmla="*/ 65 h 428"/>
                <a:gd name="T24" fmla="*/ 153 w 676"/>
                <a:gd name="T25" fmla="*/ 65 h 428"/>
                <a:gd name="T26" fmla="*/ 164 w 676"/>
                <a:gd name="T27" fmla="*/ 75 h 428"/>
                <a:gd name="T28" fmla="*/ 149 w 676"/>
                <a:gd name="T29" fmla="*/ 87 h 428"/>
                <a:gd name="T30" fmla="*/ 127 w 676"/>
                <a:gd name="T31" fmla="*/ 90 h 428"/>
                <a:gd name="T32" fmla="*/ 117 w 676"/>
                <a:gd name="T33" fmla="*/ 81 h 428"/>
                <a:gd name="T34" fmla="*/ 106 w 676"/>
                <a:gd name="T35" fmla="*/ 71 h 428"/>
                <a:gd name="T36" fmla="*/ 84 w 676"/>
                <a:gd name="T37" fmla="*/ 71 h 428"/>
                <a:gd name="T38" fmla="*/ 81 w 676"/>
                <a:gd name="T39" fmla="*/ 90 h 428"/>
                <a:gd name="T40" fmla="*/ 69 w 676"/>
                <a:gd name="T41" fmla="*/ 104 h 428"/>
                <a:gd name="T42" fmla="*/ 51 w 676"/>
                <a:gd name="T43" fmla="*/ 100 h 428"/>
                <a:gd name="T44" fmla="*/ 40 w 676"/>
                <a:gd name="T45" fmla="*/ 87 h 428"/>
                <a:gd name="T46" fmla="*/ 54 w 676"/>
                <a:gd name="T47" fmla="*/ 71 h 428"/>
                <a:gd name="T48" fmla="*/ 51 w 676"/>
                <a:gd name="T49" fmla="*/ 59 h 428"/>
                <a:gd name="T50" fmla="*/ 29 w 676"/>
                <a:gd name="T51" fmla="*/ 49 h 428"/>
                <a:gd name="T52" fmla="*/ 11 w 676"/>
                <a:gd name="T53" fmla="*/ 62 h 428"/>
                <a:gd name="T54" fmla="*/ 0 w 676"/>
                <a:gd name="T55" fmla="*/ 56 h 428"/>
                <a:gd name="T56" fmla="*/ 4 w 676"/>
                <a:gd name="T57" fmla="*/ 39 h 428"/>
                <a:gd name="T58" fmla="*/ 14 w 676"/>
                <a:gd name="T59" fmla="*/ 29 h 428"/>
                <a:gd name="T60" fmla="*/ 32 w 676"/>
                <a:gd name="T61" fmla="*/ 32 h 428"/>
                <a:gd name="T62" fmla="*/ 54 w 676"/>
                <a:gd name="T63" fmla="*/ 39 h 428"/>
                <a:gd name="T64" fmla="*/ 66 w 676"/>
                <a:gd name="T65" fmla="*/ 26 h 428"/>
                <a:gd name="T66" fmla="*/ 66 w 676"/>
                <a:gd name="T67" fmla="*/ 10 h 4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76"/>
                <a:gd name="T103" fmla="*/ 0 h 428"/>
                <a:gd name="T104" fmla="*/ 676 w 676"/>
                <a:gd name="T105" fmla="*/ 428 h 4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76" h="428">
                  <a:moveTo>
                    <a:pt x="299" y="0"/>
                  </a:moveTo>
                  <a:lnTo>
                    <a:pt x="285" y="27"/>
                  </a:lnTo>
                  <a:lnTo>
                    <a:pt x="299" y="54"/>
                  </a:lnTo>
                  <a:lnTo>
                    <a:pt x="315" y="94"/>
                  </a:lnTo>
                  <a:lnTo>
                    <a:pt x="360" y="107"/>
                  </a:lnTo>
                  <a:lnTo>
                    <a:pt x="405" y="120"/>
                  </a:lnTo>
                  <a:lnTo>
                    <a:pt x="450" y="120"/>
                  </a:lnTo>
                  <a:lnTo>
                    <a:pt x="479" y="80"/>
                  </a:lnTo>
                  <a:lnTo>
                    <a:pt x="510" y="67"/>
                  </a:lnTo>
                  <a:lnTo>
                    <a:pt x="524" y="40"/>
                  </a:lnTo>
                  <a:lnTo>
                    <a:pt x="555" y="27"/>
                  </a:lnTo>
                  <a:lnTo>
                    <a:pt x="585" y="40"/>
                  </a:lnTo>
                  <a:lnTo>
                    <a:pt x="600" y="67"/>
                  </a:lnTo>
                  <a:lnTo>
                    <a:pt x="630" y="80"/>
                  </a:lnTo>
                  <a:lnTo>
                    <a:pt x="659" y="107"/>
                  </a:lnTo>
                  <a:lnTo>
                    <a:pt x="614" y="120"/>
                  </a:lnTo>
                  <a:lnTo>
                    <a:pt x="569" y="134"/>
                  </a:lnTo>
                  <a:lnTo>
                    <a:pt x="524" y="160"/>
                  </a:lnTo>
                  <a:lnTo>
                    <a:pt x="495" y="187"/>
                  </a:lnTo>
                  <a:lnTo>
                    <a:pt x="495" y="214"/>
                  </a:lnTo>
                  <a:lnTo>
                    <a:pt x="465" y="240"/>
                  </a:lnTo>
                  <a:lnTo>
                    <a:pt x="465" y="267"/>
                  </a:lnTo>
                  <a:lnTo>
                    <a:pt x="495" y="267"/>
                  </a:lnTo>
                  <a:lnTo>
                    <a:pt x="540" y="267"/>
                  </a:lnTo>
                  <a:lnTo>
                    <a:pt x="585" y="267"/>
                  </a:lnTo>
                  <a:lnTo>
                    <a:pt x="630" y="267"/>
                  </a:lnTo>
                  <a:lnTo>
                    <a:pt x="675" y="280"/>
                  </a:lnTo>
                  <a:lnTo>
                    <a:pt x="675" y="307"/>
                  </a:lnTo>
                  <a:lnTo>
                    <a:pt x="659" y="334"/>
                  </a:lnTo>
                  <a:lnTo>
                    <a:pt x="614" y="360"/>
                  </a:lnTo>
                  <a:lnTo>
                    <a:pt x="569" y="387"/>
                  </a:lnTo>
                  <a:lnTo>
                    <a:pt x="524" y="374"/>
                  </a:lnTo>
                  <a:lnTo>
                    <a:pt x="510" y="347"/>
                  </a:lnTo>
                  <a:lnTo>
                    <a:pt x="479" y="334"/>
                  </a:lnTo>
                  <a:lnTo>
                    <a:pt x="465" y="307"/>
                  </a:lnTo>
                  <a:lnTo>
                    <a:pt x="434" y="294"/>
                  </a:lnTo>
                  <a:lnTo>
                    <a:pt x="389" y="294"/>
                  </a:lnTo>
                  <a:lnTo>
                    <a:pt x="344" y="294"/>
                  </a:lnTo>
                  <a:lnTo>
                    <a:pt x="330" y="334"/>
                  </a:lnTo>
                  <a:lnTo>
                    <a:pt x="330" y="374"/>
                  </a:lnTo>
                  <a:lnTo>
                    <a:pt x="315" y="414"/>
                  </a:lnTo>
                  <a:lnTo>
                    <a:pt x="285" y="427"/>
                  </a:lnTo>
                  <a:lnTo>
                    <a:pt x="254" y="427"/>
                  </a:lnTo>
                  <a:lnTo>
                    <a:pt x="209" y="414"/>
                  </a:lnTo>
                  <a:lnTo>
                    <a:pt x="164" y="400"/>
                  </a:lnTo>
                  <a:lnTo>
                    <a:pt x="164" y="360"/>
                  </a:lnTo>
                  <a:lnTo>
                    <a:pt x="195" y="320"/>
                  </a:lnTo>
                  <a:lnTo>
                    <a:pt x="225" y="294"/>
                  </a:lnTo>
                  <a:lnTo>
                    <a:pt x="209" y="267"/>
                  </a:lnTo>
                  <a:lnTo>
                    <a:pt x="209" y="240"/>
                  </a:lnTo>
                  <a:lnTo>
                    <a:pt x="164" y="214"/>
                  </a:lnTo>
                  <a:lnTo>
                    <a:pt x="119" y="200"/>
                  </a:lnTo>
                  <a:lnTo>
                    <a:pt x="74" y="214"/>
                  </a:lnTo>
                  <a:lnTo>
                    <a:pt x="45" y="254"/>
                  </a:lnTo>
                  <a:lnTo>
                    <a:pt x="15" y="254"/>
                  </a:lnTo>
                  <a:lnTo>
                    <a:pt x="0" y="227"/>
                  </a:lnTo>
                  <a:lnTo>
                    <a:pt x="0" y="200"/>
                  </a:lnTo>
                  <a:lnTo>
                    <a:pt x="15" y="160"/>
                  </a:lnTo>
                  <a:lnTo>
                    <a:pt x="29" y="120"/>
                  </a:lnTo>
                  <a:lnTo>
                    <a:pt x="60" y="120"/>
                  </a:lnTo>
                  <a:lnTo>
                    <a:pt x="90" y="120"/>
                  </a:lnTo>
                  <a:lnTo>
                    <a:pt x="135" y="134"/>
                  </a:lnTo>
                  <a:lnTo>
                    <a:pt x="180" y="160"/>
                  </a:lnTo>
                  <a:lnTo>
                    <a:pt x="225" y="160"/>
                  </a:lnTo>
                  <a:lnTo>
                    <a:pt x="270" y="134"/>
                  </a:lnTo>
                  <a:lnTo>
                    <a:pt x="270" y="107"/>
                  </a:lnTo>
                  <a:lnTo>
                    <a:pt x="270" y="80"/>
                  </a:lnTo>
                  <a:lnTo>
                    <a:pt x="270" y="40"/>
                  </a:lnTo>
                  <a:lnTo>
                    <a:pt x="299" y="0"/>
                  </a:lnTo>
                </a:path>
              </a:pathLst>
            </a:custGeom>
            <a:noFill/>
            <a:ln w="25400" cap="rnd" cmpd="sng">
              <a:solidFill>
                <a:srgbClr val="919191"/>
              </a:solidFill>
              <a:prstDash val="solid"/>
              <a:round/>
              <a:headEnd type="none" w="med" len="med"/>
              <a:tailEnd type="none" w="med" len="med"/>
            </a:ln>
          </p:spPr>
          <p:txBody>
            <a:bodyPr/>
            <a:lstStyle/>
            <a:p>
              <a:endParaRPr lang="en-US"/>
            </a:p>
          </p:txBody>
        </p:sp>
        <p:sp>
          <p:nvSpPr>
            <p:cNvPr id="20550" name="Oval 28"/>
            <p:cNvSpPr>
              <a:spLocks noChangeAspect="1" noChangeArrowheads="1"/>
            </p:cNvSpPr>
            <p:nvPr/>
          </p:nvSpPr>
          <p:spPr bwMode="auto">
            <a:xfrm>
              <a:off x="5273" y="4383"/>
              <a:ext cx="338" cy="190"/>
            </a:xfrm>
            <a:prstGeom prst="ellipse">
              <a:avLst/>
            </a:prstGeom>
            <a:noFill/>
            <a:ln w="25400">
              <a:solidFill>
                <a:srgbClr val="919191"/>
              </a:solidFill>
              <a:round/>
              <a:headEnd/>
              <a:tailEnd/>
            </a:ln>
          </p:spPr>
          <p:txBody>
            <a:bodyPr wrap="none" anchor="ctr"/>
            <a:lstStyle/>
            <a:p>
              <a:endParaRPr lang="en-NZ">
                <a:latin typeface="Calibri" pitchFamily="34" charset="0"/>
              </a:endParaRPr>
            </a:p>
          </p:txBody>
        </p:sp>
        <p:sp>
          <p:nvSpPr>
            <p:cNvPr id="20551" name="Oval 29"/>
            <p:cNvSpPr>
              <a:spLocks noChangeAspect="1" noChangeArrowheads="1"/>
            </p:cNvSpPr>
            <p:nvPr/>
          </p:nvSpPr>
          <p:spPr bwMode="auto">
            <a:xfrm rot="-2460000">
              <a:off x="4656" y="4200"/>
              <a:ext cx="534" cy="364"/>
            </a:xfrm>
            <a:prstGeom prst="ellipse">
              <a:avLst/>
            </a:prstGeom>
            <a:solidFill>
              <a:srgbClr val="CECECE"/>
            </a:solidFill>
            <a:ln w="25400">
              <a:solidFill>
                <a:srgbClr val="919191"/>
              </a:solidFill>
              <a:round/>
              <a:headEnd/>
              <a:tailEnd/>
            </a:ln>
          </p:spPr>
          <p:txBody>
            <a:bodyPr wrap="none" anchor="ctr"/>
            <a:lstStyle/>
            <a:p>
              <a:endParaRPr lang="en-NZ">
                <a:latin typeface="Calibri" pitchFamily="34" charset="0"/>
              </a:endParaRPr>
            </a:p>
          </p:txBody>
        </p:sp>
        <p:sp>
          <p:nvSpPr>
            <p:cNvPr id="20552" name="Freeform 30"/>
            <p:cNvSpPr>
              <a:spLocks noChangeAspect="1"/>
            </p:cNvSpPr>
            <p:nvPr/>
          </p:nvSpPr>
          <p:spPr bwMode="auto">
            <a:xfrm>
              <a:off x="4685" y="4338"/>
              <a:ext cx="107" cy="92"/>
            </a:xfrm>
            <a:custGeom>
              <a:avLst/>
              <a:gdLst>
                <a:gd name="T0" fmla="*/ 41 w 171"/>
                <a:gd name="T1" fmla="*/ 0 h 148"/>
                <a:gd name="T2" fmla="*/ 41 w 171"/>
                <a:gd name="T3" fmla="*/ 1 h 148"/>
                <a:gd name="T4" fmla="*/ 41 w 171"/>
                <a:gd name="T5" fmla="*/ 2 h 148"/>
                <a:gd name="T6" fmla="*/ 40 w 171"/>
                <a:gd name="T7" fmla="*/ 4 h 148"/>
                <a:gd name="T8" fmla="*/ 40 w 171"/>
                <a:gd name="T9" fmla="*/ 5 h 148"/>
                <a:gd name="T10" fmla="*/ 40 w 171"/>
                <a:gd name="T11" fmla="*/ 7 h 148"/>
                <a:gd name="T12" fmla="*/ 40 w 171"/>
                <a:gd name="T13" fmla="*/ 7 h 148"/>
                <a:gd name="T14" fmla="*/ 40 w 171"/>
                <a:gd name="T15" fmla="*/ 9 h 148"/>
                <a:gd name="T16" fmla="*/ 39 w 171"/>
                <a:gd name="T17" fmla="*/ 11 h 148"/>
                <a:gd name="T18" fmla="*/ 39 w 171"/>
                <a:gd name="T19" fmla="*/ 12 h 148"/>
                <a:gd name="T20" fmla="*/ 39 w 171"/>
                <a:gd name="T21" fmla="*/ 13 h 148"/>
                <a:gd name="T22" fmla="*/ 39 w 171"/>
                <a:gd name="T23" fmla="*/ 14 h 148"/>
                <a:gd name="T24" fmla="*/ 39 w 171"/>
                <a:gd name="T25" fmla="*/ 16 h 148"/>
                <a:gd name="T26" fmla="*/ 39 w 171"/>
                <a:gd name="T27" fmla="*/ 17 h 148"/>
                <a:gd name="T28" fmla="*/ 39 w 171"/>
                <a:gd name="T29" fmla="*/ 18 h 148"/>
                <a:gd name="T30" fmla="*/ 39 w 171"/>
                <a:gd name="T31" fmla="*/ 19 h 148"/>
                <a:gd name="T32" fmla="*/ 39 w 171"/>
                <a:gd name="T33" fmla="*/ 21 h 148"/>
                <a:gd name="T34" fmla="*/ 38 w 171"/>
                <a:gd name="T35" fmla="*/ 21 h 148"/>
                <a:gd name="T36" fmla="*/ 37 w 171"/>
                <a:gd name="T37" fmla="*/ 22 h 148"/>
                <a:gd name="T38" fmla="*/ 36 w 171"/>
                <a:gd name="T39" fmla="*/ 22 h 148"/>
                <a:gd name="T40" fmla="*/ 34 w 171"/>
                <a:gd name="T41" fmla="*/ 23 h 148"/>
                <a:gd name="T42" fmla="*/ 34 w 171"/>
                <a:gd name="T43" fmla="*/ 24 h 148"/>
                <a:gd name="T44" fmla="*/ 33 w 171"/>
                <a:gd name="T45" fmla="*/ 24 h 148"/>
                <a:gd name="T46" fmla="*/ 32 w 171"/>
                <a:gd name="T47" fmla="*/ 26 h 148"/>
                <a:gd name="T48" fmla="*/ 31 w 171"/>
                <a:gd name="T49" fmla="*/ 27 h 148"/>
                <a:gd name="T50" fmla="*/ 29 w 171"/>
                <a:gd name="T51" fmla="*/ 27 h 148"/>
                <a:gd name="T52" fmla="*/ 29 w 171"/>
                <a:gd name="T53" fmla="*/ 29 h 148"/>
                <a:gd name="T54" fmla="*/ 27 w 171"/>
                <a:gd name="T55" fmla="*/ 29 h 148"/>
                <a:gd name="T56" fmla="*/ 26 w 171"/>
                <a:gd name="T57" fmla="*/ 31 h 148"/>
                <a:gd name="T58" fmla="*/ 25 w 171"/>
                <a:gd name="T59" fmla="*/ 32 h 148"/>
                <a:gd name="T60" fmla="*/ 24 w 171"/>
                <a:gd name="T61" fmla="*/ 33 h 148"/>
                <a:gd name="T62" fmla="*/ 22 w 171"/>
                <a:gd name="T63" fmla="*/ 33 h 148"/>
                <a:gd name="T64" fmla="*/ 21 w 171"/>
                <a:gd name="T65" fmla="*/ 35 h 148"/>
                <a:gd name="T66" fmla="*/ 19 w 171"/>
                <a:gd name="T67" fmla="*/ 35 h 148"/>
                <a:gd name="T68" fmla="*/ 18 w 171"/>
                <a:gd name="T69" fmla="*/ 35 h 148"/>
                <a:gd name="T70" fmla="*/ 16 w 171"/>
                <a:gd name="T71" fmla="*/ 35 h 148"/>
                <a:gd name="T72" fmla="*/ 15 w 171"/>
                <a:gd name="T73" fmla="*/ 35 h 148"/>
                <a:gd name="T74" fmla="*/ 13 w 171"/>
                <a:gd name="T75" fmla="*/ 35 h 148"/>
                <a:gd name="T76" fmla="*/ 12 w 171"/>
                <a:gd name="T77" fmla="*/ 34 h 148"/>
                <a:gd name="T78" fmla="*/ 11 w 171"/>
                <a:gd name="T79" fmla="*/ 34 h 148"/>
                <a:gd name="T80" fmla="*/ 9 w 171"/>
                <a:gd name="T81" fmla="*/ 34 h 148"/>
                <a:gd name="T82" fmla="*/ 8 w 171"/>
                <a:gd name="T83" fmla="*/ 34 h 148"/>
                <a:gd name="T84" fmla="*/ 6 w 171"/>
                <a:gd name="T85" fmla="*/ 34 h 148"/>
                <a:gd name="T86" fmla="*/ 4 w 171"/>
                <a:gd name="T87" fmla="*/ 34 h 148"/>
                <a:gd name="T88" fmla="*/ 3 w 171"/>
                <a:gd name="T89" fmla="*/ 33 h 148"/>
                <a:gd name="T90" fmla="*/ 2 w 171"/>
                <a:gd name="T91" fmla="*/ 33 h 148"/>
                <a:gd name="T92" fmla="*/ 0 w 171"/>
                <a:gd name="T93" fmla="*/ 33 h 148"/>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71"/>
                <a:gd name="T142" fmla="*/ 0 h 148"/>
                <a:gd name="T143" fmla="*/ 171 w 171"/>
                <a:gd name="T144" fmla="*/ 148 h 148"/>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71" h="148">
                  <a:moveTo>
                    <a:pt x="170" y="0"/>
                  </a:moveTo>
                  <a:lnTo>
                    <a:pt x="168" y="5"/>
                  </a:lnTo>
                  <a:lnTo>
                    <a:pt x="168" y="11"/>
                  </a:lnTo>
                  <a:lnTo>
                    <a:pt x="164" y="16"/>
                  </a:lnTo>
                  <a:lnTo>
                    <a:pt x="164" y="21"/>
                  </a:lnTo>
                  <a:lnTo>
                    <a:pt x="164" y="27"/>
                  </a:lnTo>
                  <a:lnTo>
                    <a:pt x="164" y="32"/>
                  </a:lnTo>
                  <a:lnTo>
                    <a:pt x="164" y="37"/>
                  </a:lnTo>
                  <a:lnTo>
                    <a:pt x="161" y="43"/>
                  </a:lnTo>
                  <a:lnTo>
                    <a:pt x="161" y="48"/>
                  </a:lnTo>
                  <a:lnTo>
                    <a:pt x="161" y="53"/>
                  </a:lnTo>
                  <a:lnTo>
                    <a:pt x="159" y="59"/>
                  </a:lnTo>
                  <a:lnTo>
                    <a:pt x="159" y="64"/>
                  </a:lnTo>
                  <a:lnTo>
                    <a:pt x="159" y="69"/>
                  </a:lnTo>
                  <a:lnTo>
                    <a:pt x="159" y="75"/>
                  </a:lnTo>
                  <a:lnTo>
                    <a:pt x="159" y="80"/>
                  </a:lnTo>
                  <a:lnTo>
                    <a:pt x="161" y="85"/>
                  </a:lnTo>
                  <a:lnTo>
                    <a:pt x="155" y="85"/>
                  </a:lnTo>
                  <a:lnTo>
                    <a:pt x="152" y="91"/>
                  </a:lnTo>
                  <a:lnTo>
                    <a:pt x="147" y="93"/>
                  </a:lnTo>
                  <a:lnTo>
                    <a:pt x="141" y="96"/>
                  </a:lnTo>
                  <a:lnTo>
                    <a:pt x="138" y="101"/>
                  </a:lnTo>
                  <a:lnTo>
                    <a:pt x="132" y="101"/>
                  </a:lnTo>
                  <a:lnTo>
                    <a:pt x="129" y="107"/>
                  </a:lnTo>
                  <a:lnTo>
                    <a:pt x="125" y="112"/>
                  </a:lnTo>
                  <a:lnTo>
                    <a:pt x="120" y="115"/>
                  </a:lnTo>
                  <a:lnTo>
                    <a:pt x="116" y="120"/>
                  </a:lnTo>
                  <a:lnTo>
                    <a:pt x="111" y="123"/>
                  </a:lnTo>
                  <a:lnTo>
                    <a:pt x="107" y="128"/>
                  </a:lnTo>
                  <a:lnTo>
                    <a:pt x="102" y="133"/>
                  </a:lnTo>
                  <a:lnTo>
                    <a:pt x="96" y="136"/>
                  </a:lnTo>
                  <a:lnTo>
                    <a:pt x="89" y="139"/>
                  </a:lnTo>
                  <a:lnTo>
                    <a:pt x="84" y="144"/>
                  </a:lnTo>
                  <a:lnTo>
                    <a:pt x="78" y="147"/>
                  </a:lnTo>
                  <a:lnTo>
                    <a:pt x="72" y="144"/>
                  </a:lnTo>
                  <a:lnTo>
                    <a:pt x="66" y="144"/>
                  </a:lnTo>
                  <a:lnTo>
                    <a:pt x="60" y="144"/>
                  </a:lnTo>
                  <a:lnTo>
                    <a:pt x="54" y="144"/>
                  </a:lnTo>
                  <a:lnTo>
                    <a:pt x="48" y="141"/>
                  </a:lnTo>
                  <a:lnTo>
                    <a:pt x="43" y="141"/>
                  </a:lnTo>
                  <a:lnTo>
                    <a:pt x="36" y="141"/>
                  </a:lnTo>
                  <a:lnTo>
                    <a:pt x="30" y="141"/>
                  </a:lnTo>
                  <a:lnTo>
                    <a:pt x="25" y="141"/>
                  </a:lnTo>
                  <a:lnTo>
                    <a:pt x="18" y="141"/>
                  </a:lnTo>
                  <a:lnTo>
                    <a:pt x="12" y="139"/>
                  </a:lnTo>
                  <a:lnTo>
                    <a:pt x="7" y="139"/>
                  </a:lnTo>
                  <a:lnTo>
                    <a:pt x="0" y="139"/>
                  </a:lnTo>
                </a:path>
              </a:pathLst>
            </a:custGeom>
            <a:noFill/>
            <a:ln w="12700" cap="rnd" cmpd="sng">
              <a:solidFill>
                <a:srgbClr val="919191"/>
              </a:solidFill>
              <a:prstDash val="solid"/>
              <a:round/>
              <a:headEnd type="none" w="med" len="med"/>
              <a:tailEnd type="none" w="med" len="med"/>
            </a:ln>
          </p:spPr>
          <p:txBody>
            <a:bodyPr/>
            <a:lstStyle/>
            <a:p>
              <a:endParaRPr lang="en-US"/>
            </a:p>
          </p:txBody>
        </p:sp>
        <p:sp>
          <p:nvSpPr>
            <p:cNvPr id="20553" name="Freeform 31"/>
            <p:cNvSpPr>
              <a:spLocks noChangeAspect="1"/>
            </p:cNvSpPr>
            <p:nvPr/>
          </p:nvSpPr>
          <p:spPr bwMode="auto">
            <a:xfrm>
              <a:off x="4690" y="4431"/>
              <a:ext cx="45" cy="60"/>
            </a:xfrm>
            <a:custGeom>
              <a:avLst/>
              <a:gdLst>
                <a:gd name="T0" fmla="*/ 17 w 72"/>
                <a:gd name="T1" fmla="*/ 0 h 97"/>
                <a:gd name="T2" fmla="*/ 17 w 72"/>
                <a:gd name="T3" fmla="*/ 1 h 97"/>
                <a:gd name="T4" fmla="*/ 17 w 72"/>
                <a:gd name="T5" fmla="*/ 2 h 97"/>
                <a:gd name="T6" fmla="*/ 17 w 72"/>
                <a:gd name="T7" fmla="*/ 4 h 97"/>
                <a:gd name="T8" fmla="*/ 16 w 72"/>
                <a:gd name="T9" fmla="*/ 6 h 97"/>
                <a:gd name="T10" fmla="*/ 15 w 72"/>
                <a:gd name="T11" fmla="*/ 7 h 97"/>
                <a:gd name="T12" fmla="*/ 15 w 72"/>
                <a:gd name="T13" fmla="*/ 7 h 97"/>
                <a:gd name="T14" fmla="*/ 14 w 72"/>
                <a:gd name="T15" fmla="*/ 9 h 97"/>
                <a:gd name="T16" fmla="*/ 14 w 72"/>
                <a:gd name="T17" fmla="*/ 11 h 97"/>
                <a:gd name="T18" fmla="*/ 13 w 72"/>
                <a:gd name="T19" fmla="*/ 12 h 97"/>
                <a:gd name="T20" fmla="*/ 13 w 72"/>
                <a:gd name="T21" fmla="*/ 12 h 97"/>
                <a:gd name="T22" fmla="*/ 13 w 72"/>
                <a:gd name="T23" fmla="*/ 14 h 97"/>
                <a:gd name="T24" fmla="*/ 13 w 72"/>
                <a:gd name="T25" fmla="*/ 15 h 97"/>
                <a:gd name="T26" fmla="*/ 12 w 72"/>
                <a:gd name="T27" fmla="*/ 17 h 97"/>
                <a:gd name="T28" fmla="*/ 9 w 72"/>
                <a:gd name="T29" fmla="*/ 17 h 97"/>
                <a:gd name="T30" fmla="*/ 7 w 72"/>
                <a:gd name="T31" fmla="*/ 20 h 97"/>
                <a:gd name="T32" fmla="*/ 3 w 72"/>
                <a:gd name="T33" fmla="*/ 22 h 97"/>
                <a:gd name="T34" fmla="*/ 2 w 72"/>
                <a:gd name="T35" fmla="*/ 22 h 97"/>
                <a:gd name="T36" fmla="*/ 0 w 72"/>
                <a:gd name="T37" fmla="*/ 22 h 9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2"/>
                <a:gd name="T58" fmla="*/ 0 h 97"/>
                <a:gd name="T59" fmla="*/ 72 w 72"/>
                <a:gd name="T60" fmla="*/ 97 h 9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2" h="97">
                  <a:moveTo>
                    <a:pt x="71" y="0"/>
                  </a:moveTo>
                  <a:lnTo>
                    <a:pt x="71" y="6"/>
                  </a:lnTo>
                  <a:lnTo>
                    <a:pt x="68" y="11"/>
                  </a:lnTo>
                  <a:lnTo>
                    <a:pt x="68" y="16"/>
                  </a:lnTo>
                  <a:lnTo>
                    <a:pt x="64" y="22"/>
                  </a:lnTo>
                  <a:lnTo>
                    <a:pt x="62" y="27"/>
                  </a:lnTo>
                  <a:lnTo>
                    <a:pt x="62" y="32"/>
                  </a:lnTo>
                  <a:lnTo>
                    <a:pt x="59" y="38"/>
                  </a:lnTo>
                  <a:lnTo>
                    <a:pt x="59" y="43"/>
                  </a:lnTo>
                  <a:lnTo>
                    <a:pt x="55" y="48"/>
                  </a:lnTo>
                  <a:lnTo>
                    <a:pt x="55" y="54"/>
                  </a:lnTo>
                  <a:lnTo>
                    <a:pt x="55" y="59"/>
                  </a:lnTo>
                  <a:lnTo>
                    <a:pt x="53" y="64"/>
                  </a:lnTo>
                  <a:lnTo>
                    <a:pt x="50" y="70"/>
                  </a:lnTo>
                  <a:lnTo>
                    <a:pt x="38" y="75"/>
                  </a:lnTo>
                  <a:lnTo>
                    <a:pt x="27" y="86"/>
                  </a:lnTo>
                  <a:lnTo>
                    <a:pt x="11" y="91"/>
                  </a:lnTo>
                  <a:lnTo>
                    <a:pt x="6" y="94"/>
                  </a:lnTo>
                  <a:lnTo>
                    <a:pt x="0" y="96"/>
                  </a:lnTo>
                </a:path>
              </a:pathLst>
            </a:custGeom>
            <a:noFill/>
            <a:ln w="12700" cap="rnd" cmpd="sng">
              <a:solidFill>
                <a:srgbClr val="919191"/>
              </a:solidFill>
              <a:prstDash val="solid"/>
              <a:round/>
              <a:headEnd type="none" w="med" len="med"/>
              <a:tailEnd type="none" w="med" len="med"/>
            </a:ln>
          </p:spPr>
          <p:txBody>
            <a:bodyPr/>
            <a:lstStyle/>
            <a:p>
              <a:endParaRPr lang="en-US"/>
            </a:p>
          </p:txBody>
        </p:sp>
        <p:sp>
          <p:nvSpPr>
            <p:cNvPr id="20554" name="Freeform 32"/>
            <p:cNvSpPr>
              <a:spLocks noChangeAspect="1"/>
            </p:cNvSpPr>
            <p:nvPr/>
          </p:nvSpPr>
          <p:spPr bwMode="auto">
            <a:xfrm>
              <a:off x="4721" y="4391"/>
              <a:ext cx="98" cy="84"/>
            </a:xfrm>
            <a:custGeom>
              <a:avLst/>
              <a:gdLst>
                <a:gd name="T0" fmla="*/ 0 w 157"/>
                <a:gd name="T1" fmla="*/ 32 h 135"/>
                <a:gd name="T2" fmla="*/ 1 w 157"/>
                <a:gd name="T3" fmla="*/ 32 h 135"/>
                <a:gd name="T4" fmla="*/ 4 w 157"/>
                <a:gd name="T5" fmla="*/ 31 h 135"/>
                <a:gd name="T6" fmla="*/ 5 w 157"/>
                <a:gd name="T7" fmla="*/ 31 h 135"/>
                <a:gd name="T8" fmla="*/ 7 w 157"/>
                <a:gd name="T9" fmla="*/ 31 h 135"/>
                <a:gd name="T10" fmla="*/ 8 w 157"/>
                <a:gd name="T11" fmla="*/ 31 h 135"/>
                <a:gd name="T12" fmla="*/ 9 w 157"/>
                <a:gd name="T13" fmla="*/ 31 h 135"/>
                <a:gd name="T14" fmla="*/ 11 w 157"/>
                <a:gd name="T15" fmla="*/ 31 h 135"/>
                <a:gd name="T16" fmla="*/ 12 w 157"/>
                <a:gd name="T17" fmla="*/ 31 h 135"/>
                <a:gd name="T18" fmla="*/ 14 w 157"/>
                <a:gd name="T19" fmla="*/ 32 h 135"/>
                <a:gd name="T20" fmla="*/ 15 w 157"/>
                <a:gd name="T21" fmla="*/ 32 h 135"/>
                <a:gd name="T22" fmla="*/ 16 w 157"/>
                <a:gd name="T23" fmla="*/ 31 h 135"/>
                <a:gd name="T24" fmla="*/ 17 w 157"/>
                <a:gd name="T25" fmla="*/ 30 h 135"/>
                <a:gd name="T26" fmla="*/ 19 w 157"/>
                <a:gd name="T27" fmla="*/ 29 h 135"/>
                <a:gd name="T28" fmla="*/ 20 w 157"/>
                <a:gd name="T29" fmla="*/ 28 h 135"/>
                <a:gd name="T30" fmla="*/ 21 w 157"/>
                <a:gd name="T31" fmla="*/ 27 h 135"/>
                <a:gd name="T32" fmla="*/ 22 w 157"/>
                <a:gd name="T33" fmla="*/ 26 h 135"/>
                <a:gd name="T34" fmla="*/ 23 w 157"/>
                <a:gd name="T35" fmla="*/ 25 h 135"/>
                <a:gd name="T36" fmla="*/ 25 w 157"/>
                <a:gd name="T37" fmla="*/ 24 h 135"/>
                <a:gd name="T38" fmla="*/ 26 w 157"/>
                <a:gd name="T39" fmla="*/ 23 h 135"/>
                <a:gd name="T40" fmla="*/ 27 w 157"/>
                <a:gd name="T41" fmla="*/ 22 h 135"/>
                <a:gd name="T42" fmla="*/ 29 w 157"/>
                <a:gd name="T43" fmla="*/ 21 h 135"/>
                <a:gd name="T44" fmla="*/ 31 w 157"/>
                <a:gd name="T45" fmla="*/ 21 h 135"/>
                <a:gd name="T46" fmla="*/ 32 w 157"/>
                <a:gd name="T47" fmla="*/ 19 h 135"/>
                <a:gd name="T48" fmla="*/ 32 w 157"/>
                <a:gd name="T49" fmla="*/ 19 h 135"/>
                <a:gd name="T50" fmla="*/ 34 w 157"/>
                <a:gd name="T51" fmla="*/ 18 h 135"/>
                <a:gd name="T52" fmla="*/ 35 w 157"/>
                <a:gd name="T53" fmla="*/ 17 h 135"/>
                <a:gd name="T54" fmla="*/ 36 w 157"/>
                <a:gd name="T55" fmla="*/ 16 h 135"/>
                <a:gd name="T56" fmla="*/ 36 w 157"/>
                <a:gd name="T57" fmla="*/ 14 h 135"/>
                <a:gd name="T58" fmla="*/ 37 w 157"/>
                <a:gd name="T59" fmla="*/ 13 h 135"/>
                <a:gd name="T60" fmla="*/ 37 w 157"/>
                <a:gd name="T61" fmla="*/ 12 h 135"/>
                <a:gd name="T62" fmla="*/ 37 w 157"/>
                <a:gd name="T63" fmla="*/ 11 h 135"/>
                <a:gd name="T64" fmla="*/ 37 w 157"/>
                <a:gd name="T65" fmla="*/ 9 h 135"/>
                <a:gd name="T66" fmla="*/ 37 w 157"/>
                <a:gd name="T67" fmla="*/ 7 h 135"/>
                <a:gd name="T68" fmla="*/ 37 w 157"/>
                <a:gd name="T69" fmla="*/ 7 h 135"/>
                <a:gd name="T70" fmla="*/ 37 w 157"/>
                <a:gd name="T71" fmla="*/ 6 h 135"/>
                <a:gd name="T72" fmla="*/ 38 w 157"/>
                <a:gd name="T73" fmla="*/ 4 h 135"/>
                <a:gd name="T74" fmla="*/ 38 w 157"/>
                <a:gd name="T75" fmla="*/ 2 h 135"/>
                <a:gd name="T76" fmla="*/ 36 w 157"/>
                <a:gd name="T77" fmla="*/ 2 h 135"/>
                <a:gd name="T78" fmla="*/ 35 w 157"/>
                <a:gd name="T79" fmla="*/ 1 h 135"/>
                <a:gd name="T80" fmla="*/ 34 w 157"/>
                <a:gd name="T81" fmla="*/ 1 h 135"/>
                <a:gd name="T82" fmla="*/ 32 w 157"/>
                <a:gd name="T83" fmla="*/ 1 h 135"/>
                <a:gd name="T84" fmla="*/ 31 w 157"/>
                <a:gd name="T85" fmla="*/ 1 h 135"/>
                <a:gd name="T86" fmla="*/ 29 w 157"/>
                <a:gd name="T87" fmla="*/ 1 h 135"/>
                <a:gd name="T88" fmla="*/ 27 w 157"/>
                <a:gd name="T89" fmla="*/ 1 h 135"/>
                <a:gd name="T90" fmla="*/ 26 w 157"/>
                <a:gd name="T91" fmla="*/ 0 h 13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57"/>
                <a:gd name="T139" fmla="*/ 0 h 135"/>
                <a:gd name="T140" fmla="*/ 157 w 157"/>
                <a:gd name="T141" fmla="*/ 135 h 135"/>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57" h="135">
                  <a:moveTo>
                    <a:pt x="0" y="134"/>
                  </a:moveTo>
                  <a:lnTo>
                    <a:pt x="6" y="131"/>
                  </a:lnTo>
                  <a:lnTo>
                    <a:pt x="15" y="128"/>
                  </a:lnTo>
                  <a:lnTo>
                    <a:pt x="21" y="128"/>
                  </a:lnTo>
                  <a:lnTo>
                    <a:pt x="27" y="128"/>
                  </a:lnTo>
                  <a:lnTo>
                    <a:pt x="33" y="128"/>
                  </a:lnTo>
                  <a:lnTo>
                    <a:pt x="39" y="128"/>
                  </a:lnTo>
                  <a:lnTo>
                    <a:pt x="45" y="128"/>
                  </a:lnTo>
                  <a:lnTo>
                    <a:pt x="51" y="128"/>
                  </a:lnTo>
                  <a:lnTo>
                    <a:pt x="57" y="131"/>
                  </a:lnTo>
                  <a:lnTo>
                    <a:pt x="63" y="131"/>
                  </a:lnTo>
                  <a:lnTo>
                    <a:pt x="68" y="128"/>
                  </a:lnTo>
                  <a:lnTo>
                    <a:pt x="72" y="123"/>
                  </a:lnTo>
                  <a:lnTo>
                    <a:pt x="77" y="120"/>
                  </a:lnTo>
                  <a:lnTo>
                    <a:pt x="81" y="115"/>
                  </a:lnTo>
                  <a:lnTo>
                    <a:pt x="86" y="112"/>
                  </a:lnTo>
                  <a:lnTo>
                    <a:pt x="90" y="107"/>
                  </a:lnTo>
                  <a:lnTo>
                    <a:pt x="95" y="104"/>
                  </a:lnTo>
                  <a:lnTo>
                    <a:pt x="102" y="102"/>
                  </a:lnTo>
                  <a:lnTo>
                    <a:pt x="108" y="96"/>
                  </a:lnTo>
                  <a:lnTo>
                    <a:pt x="113" y="94"/>
                  </a:lnTo>
                  <a:lnTo>
                    <a:pt x="120" y="88"/>
                  </a:lnTo>
                  <a:lnTo>
                    <a:pt x="126" y="86"/>
                  </a:lnTo>
                  <a:lnTo>
                    <a:pt x="129" y="80"/>
                  </a:lnTo>
                  <a:lnTo>
                    <a:pt x="135" y="78"/>
                  </a:lnTo>
                  <a:lnTo>
                    <a:pt x="140" y="75"/>
                  </a:lnTo>
                  <a:lnTo>
                    <a:pt x="144" y="70"/>
                  </a:lnTo>
                  <a:lnTo>
                    <a:pt x="147" y="64"/>
                  </a:lnTo>
                  <a:lnTo>
                    <a:pt x="149" y="59"/>
                  </a:lnTo>
                  <a:lnTo>
                    <a:pt x="153" y="54"/>
                  </a:lnTo>
                  <a:lnTo>
                    <a:pt x="153" y="48"/>
                  </a:lnTo>
                  <a:lnTo>
                    <a:pt x="153" y="43"/>
                  </a:lnTo>
                  <a:lnTo>
                    <a:pt x="153" y="38"/>
                  </a:lnTo>
                  <a:lnTo>
                    <a:pt x="153" y="32"/>
                  </a:lnTo>
                  <a:lnTo>
                    <a:pt x="153" y="27"/>
                  </a:lnTo>
                  <a:lnTo>
                    <a:pt x="153" y="22"/>
                  </a:lnTo>
                  <a:lnTo>
                    <a:pt x="156" y="16"/>
                  </a:lnTo>
                  <a:lnTo>
                    <a:pt x="156" y="11"/>
                  </a:lnTo>
                  <a:lnTo>
                    <a:pt x="149" y="8"/>
                  </a:lnTo>
                  <a:lnTo>
                    <a:pt x="144" y="6"/>
                  </a:lnTo>
                  <a:lnTo>
                    <a:pt x="138" y="3"/>
                  </a:lnTo>
                  <a:lnTo>
                    <a:pt x="131" y="3"/>
                  </a:lnTo>
                  <a:lnTo>
                    <a:pt x="126" y="3"/>
                  </a:lnTo>
                  <a:lnTo>
                    <a:pt x="120" y="3"/>
                  </a:lnTo>
                  <a:lnTo>
                    <a:pt x="113" y="3"/>
                  </a:lnTo>
                  <a:lnTo>
                    <a:pt x="108" y="0"/>
                  </a:lnTo>
                </a:path>
              </a:pathLst>
            </a:custGeom>
            <a:noFill/>
            <a:ln w="12700" cap="rnd" cmpd="sng">
              <a:solidFill>
                <a:srgbClr val="919191"/>
              </a:solidFill>
              <a:prstDash val="solid"/>
              <a:round/>
              <a:headEnd type="none" w="med" len="med"/>
              <a:tailEnd type="none" w="med" len="med"/>
            </a:ln>
          </p:spPr>
          <p:txBody>
            <a:bodyPr/>
            <a:lstStyle/>
            <a:p>
              <a:endParaRPr lang="en-US"/>
            </a:p>
          </p:txBody>
        </p:sp>
        <p:sp>
          <p:nvSpPr>
            <p:cNvPr id="20555" name="Freeform 33"/>
            <p:cNvSpPr>
              <a:spLocks noChangeAspect="1"/>
            </p:cNvSpPr>
            <p:nvPr/>
          </p:nvSpPr>
          <p:spPr bwMode="auto">
            <a:xfrm>
              <a:off x="4791" y="4328"/>
              <a:ext cx="85" cy="67"/>
            </a:xfrm>
            <a:custGeom>
              <a:avLst/>
              <a:gdLst>
                <a:gd name="T0" fmla="*/ 11 w 136"/>
                <a:gd name="T1" fmla="*/ 25 h 108"/>
                <a:gd name="T2" fmla="*/ 12 w 136"/>
                <a:gd name="T3" fmla="*/ 24 h 108"/>
                <a:gd name="T4" fmla="*/ 12 w 136"/>
                <a:gd name="T5" fmla="*/ 23 h 108"/>
                <a:gd name="T6" fmla="*/ 14 w 136"/>
                <a:gd name="T7" fmla="*/ 22 h 108"/>
                <a:gd name="T8" fmla="*/ 15 w 136"/>
                <a:gd name="T9" fmla="*/ 20 h 108"/>
                <a:gd name="T10" fmla="*/ 17 w 136"/>
                <a:gd name="T11" fmla="*/ 20 h 108"/>
                <a:gd name="T12" fmla="*/ 17 w 136"/>
                <a:gd name="T13" fmla="*/ 19 h 108"/>
                <a:gd name="T14" fmla="*/ 19 w 136"/>
                <a:gd name="T15" fmla="*/ 19 h 108"/>
                <a:gd name="T16" fmla="*/ 20 w 136"/>
                <a:gd name="T17" fmla="*/ 17 h 108"/>
                <a:gd name="T18" fmla="*/ 21 w 136"/>
                <a:gd name="T19" fmla="*/ 17 h 108"/>
                <a:gd name="T20" fmla="*/ 22 w 136"/>
                <a:gd name="T21" fmla="*/ 16 h 108"/>
                <a:gd name="T22" fmla="*/ 24 w 136"/>
                <a:gd name="T23" fmla="*/ 16 h 108"/>
                <a:gd name="T24" fmla="*/ 26 w 136"/>
                <a:gd name="T25" fmla="*/ 15 h 108"/>
                <a:gd name="T26" fmla="*/ 27 w 136"/>
                <a:gd name="T27" fmla="*/ 14 h 108"/>
                <a:gd name="T28" fmla="*/ 29 w 136"/>
                <a:gd name="T29" fmla="*/ 14 h 108"/>
                <a:gd name="T30" fmla="*/ 30 w 136"/>
                <a:gd name="T31" fmla="*/ 12 h 108"/>
                <a:gd name="T32" fmla="*/ 32 w 136"/>
                <a:gd name="T33" fmla="*/ 12 h 108"/>
                <a:gd name="T34" fmla="*/ 32 w 136"/>
                <a:gd name="T35" fmla="*/ 11 h 108"/>
                <a:gd name="T36" fmla="*/ 32 w 136"/>
                <a:gd name="T37" fmla="*/ 10 h 108"/>
                <a:gd name="T38" fmla="*/ 32 w 136"/>
                <a:gd name="T39" fmla="*/ 9 h 108"/>
                <a:gd name="T40" fmla="*/ 32 w 136"/>
                <a:gd name="T41" fmla="*/ 7 h 108"/>
                <a:gd name="T42" fmla="*/ 32 w 136"/>
                <a:gd name="T43" fmla="*/ 6 h 108"/>
                <a:gd name="T44" fmla="*/ 32 w 136"/>
                <a:gd name="T45" fmla="*/ 4 h 108"/>
                <a:gd name="T46" fmla="*/ 32 w 136"/>
                <a:gd name="T47" fmla="*/ 3 h 108"/>
                <a:gd name="T48" fmla="*/ 32 w 136"/>
                <a:gd name="T49" fmla="*/ 2 h 108"/>
                <a:gd name="T50" fmla="*/ 32 w 136"/>
                <a:gd name="T51" fmla="*/ 1 h 108"/>
                <a:gd name="T52" fmla="*/ 30 w 136"/>
                <a:gd name="T53" fmla="*/ 1 h 108"/>
                <a:gd name="T54" fmla="*/ 29 w 136"/>
                <a:gd name="T55" fmla="*/ 1 h 108"/>
                <a:gd name="T56" fmla="*/ 27 w 136"/>
                <a:gd name="T57" fmla="*/ 1 h 108"/>
                <a:gd name="T58" fmla="*/ 26 w 136"/>
                <a:gd name="T59" fmla="*/ 1 h 108"/>
                <a:gd name="T60" fmla="*/ 24 w 136"/>
                <a:gd name="T61" fmla="*/ 1 h 108"/>
                <a:gd name="T62" fmla="*/ 22 w 136"/>
                <a:gd name="T63" fmla="*/ 1 h 108"/>
                <a:gd name="T64" fmla="*/ 21 w 136"/>
                <a:gd name="T65" fmla="*/ 0 h 108"/>
                <a:gd name="T66" fmla="*/ 20 w 136"/>
                <a:gd name="T67" fmla="*/ 0 h 108"/>
                <a:gd name="T68" fmla="*/ 18 w 136"/>
                <a:gd name="T69" fmla="*/ 0 h 108"/>
                <a:gd name="T70" fmla="*/ 17 w 136"/>
                <a:gd name="T71" fmla="*/ 0 h 108"/>
                <a:gd name="T72" fmla="*/ 15 w 136"/>
                <a:gd name="T73" fmla="*/ 0 h 108"/>
                <a:gd name="T74" fmla="*/ 14 w 136"/>
                <a:gd name="T75" fmla="*/ 0 h 108"/>
                <a:gd name="T76" fmla="*/ 12 w 136"/>
                <a:gd name="T77" fmla="*/ 1 h 108"/>
                <a:gd name="T78" fmla="*/ 11 w 136"/>
                <a:gd name="T79" fmla="*/ 1 h 108"/>
                <a:gd name="T80" fmla="*/ 9 w 136"/>
                <a:gd name="T81" fmla="*/ 2 h 108"/>
                <a:gd name="T82" fmla="*/ 8 w 136"/>
                <a:gd name="T83" fmla="*/ 2 h 108"/>
                <a:gd name="T84" fmla="*/ 7 w 136"/>
                <a:gd name="T85" fmla="*/ 3 h 108"/>
                <a:gd name="T86" fmla="*/ 5 w 136"/>
                <a:gd name="T87" fmla="*/ 4 h 108"/>
                <a:gd name="T88" fmla="*/ 4 w 136"/>
                <a:gd name="T89" fmla="*/ 5 h 108"/>
                <a:gd name="T90" fmla="*/ 3 w 136"/>
                <a:gd name="T91" fmla="*/ 6 h 108"/>
                <a:gd name="T92" fmla="*/ 2 w 136"/>
                <a:gd name="T93" fmla="*/ 7 h 108"/>
                <a:gd name="T94" fmla="*/ 0 w 136"/>
                <a:gd name="T95" fmla="*/ 7 h 10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136"/>
                <a:gd name="T145" fmla="*/ 0 h 108"/>
                <a:gd name="T146" fmla="*/ 136 w 136"/>
                <a:gd name="T147" fmla="*/ 108 h 10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136" h="108">
                  <a:moveTo>
                    <a:pt x="45" y="107"/>
                  </a:moveTo>
                  <a:lnTo>
                    <a:pt x="48" y="101"/>
                  </a:lnTo>
                  <a:lnTo>
                    <a:pt x="52" y="96"/>
                  </a:lnTo>
                  <a:lnTo>
                    <a:pt x="57" y="91"/>
                  </a:lnTo>
                  <a:lnTo>
                    <a:pt x="63" y="85"/>
                  </a:lnTo>
                  <a:lnTo>
                    <a:pt x="70" y="83"/>
                  </a:lnTo>
                  <a:lnTo>
                    <a:pt x="72" y="77"/>
                  </a:lnTo>
                  <a:lnTo>
                    <a:pt x="79" y="77"/>
                  </a:lnTo>
                  <a:lnTo>
                    <a:pt x="81" y="72"/>
                  </a:lnTo>
                  <a:lnTo>
                    <a:pt x="88" y="72"/>
                  </a:lnTo>
                  <a:lnTo>
                    <a:pt x="93" y="67"/>
                  </a:lnTo>
                  <a:lnTo>
                    <a:pt x="99" y="64"/>
                  </a:lnTo>
                  <a:lnTo>
                    <a:pt x="106" y="61"/>
                  </a:lnTo>
                  <a:lnTo>
                    <a:pt x="111" y="59"/>
                  </a:lnTo>
                  <a:lnTo>
                    <a:pt x="117" y="56"/>
                  </a:lnTo>
                  <a:lnTo>
                    <a:pt x="124" y="53"/>
                  </a:lnTo>
                  <a:lnTo>
                    <a:pt x="129" y="51"/>
                  </a:lnTo>
                  <a:lnTo>
                    <a:pt x="129" y="45"/>
                  </a:lnTo>
                  <a:lnTo>
                    <a:pt x="133" y="40"/>
                  </a:lnTo>
                  <a:lnTo>
                    <a:pt x="133" y="35"/>
                  </a:lnTo>
                  <a:lnTo>
                    <a:pt x="133" y="29"/>
                  </a:lnTo>
                  <a:lnTo>
                    <a:pt x="135" y="24"/>
                  </a:lnTo>
                  <a:lnTo>
                    <a:pt x="135" y="19"/>
                  </a:lnTo>
                  <a:lnTo>
                    <a:pt x="135" y="13"/>
                  </a:lnTo>
                  <a:lnTo>
                    <a:pt x="135" y="8"/>
                  </a:lnTo>
                  <a:lnTo>
                    <a:pt x="129" y="5"/>
                  </a:lnTo>
                  <a:lnTo>
                    <a:pt x="124" y="5"/>
                  </a:lnTo>
                  <a:lnTo>
                    <a:pt x="117" y="3"/>
                  </a:lnTo>
                  <a:lnTo>
                    <a:pt x="111" y="3"/>
                  </a:lnTo>
                  <a:lnTo>
                    <a:pt x="106" y="3"/>
                  </a:lnTo>
                  <a:lnTo>
                    <a:pt x="99" y="3"/>
                  </a:lnTo>
                  <a:lnTo>
                    <a:pt x="93" y="3"/>
                  </a:lnTo>
                  <a:lnTo>
                    <a:pt x="88" y="0"/>
                  </a:lnTo>
                  <a:lnTo>
                    <a:pt x="81" y="0"/>
                  </a:lnTo>
                  <a:lnTo>
                    <a:pt x="75" y="0"/>
                  </a:lnTo>
                  <a:lnTo>
                    <a:pt x="70" y="0"/>
                  </a:lnTo>
                  <a:lnTo>
                    <a:pt x="63" y="0"/>
                  </a:lnTo>
                  <a:lnTo>
                    <a:pt x="57" y="0"/>
                  </a:lnTo>
                  <a:lnTo>
                    <a:pt x="52" y="3"/>
                  </a:lnTo>
                  <a:lnTo>
                    <a:pt x="45" y="3"/>
                  </a:lnTo>
                  <a:lnTo>
                    <a:pt x="39" y="8"/>
                  </a:lnTo>
                  <a:lnTo>
                    <a:pt x="34" y="11"/>
                  </a:lnTo>
                  <a:lnTo>
                    <a:pt x="27" y="13"/>
                  </a:lnTo>
                  <a:lnTo>
                    <a:pt x="21" y="19"/>
                  </a:lnTo>
                  <a:lnTo>
                    <a:pt x="16" y="21"/>
                  </a:lnTo>
                  <a:lnTo>
                    <a:pt x="9" y="24"/>
                  </a:lnTo>
                  <a:lnTo>
                    <a:pt x="7" y="29"/>
                  </a:lnTo>
                  <a:lnTo>
                    <a:pt x="0" y="32"/>
                  </a:lnTo>
                </a:path>
              </a:pathLst>
            </a:custGeom>
            <a:noFill/>
            <a:ln w="12700" cap="rnd" cmpd="sng">
              <a:solidFill>
                <a:srgbClr val="919191"/>
              </a:solidFill>
              <a:prstDash val="solid"/>
              <a:round/>
              <a:headEnd type="none" w="med" len="med"/>
              <a:tailEnd type="none" w="med" len="med"/>
            </a:ln>
          </p:spPr>
          <p:txBody>
            <a:bodyPr/>
            <a:lstStyle/>
            <a:p>
              <a:endParaRPr lang="en-US"/>
            </a:p>
          </p:txBody>
        </p:sp>
        <p:sp>
          <p:nvSpPr>
            <p:cNvPr id="20556" name="Freeform 34"/>
            <p:cNvSpPr>
              <a:spLocks noChangeAspect="1"/>
            </p:cNvSpPr>
            <p:nvPr/>
          </p:nvSpPr>
          <p:spPr bwMode="auto">
            <a:xfrm>
              <a:off x="4818" y="4350"/>
              <a:ext cx="105" cy="77"/>
            </a:xfrm>
            <a:custGeom>
              <a:avLst/>
              <a:gdLst>
                <a:gd name="T0" fmla="*/ 0 w 169"/>
                <a:gd name="T1" fmla="*/ 30 h 123"/>
                <a:gd name="T2" fmla="*/ 1 w 169"/>
                <a:gd name="T3" fmla="*/ 30 h 123"/>
                <a:gd name="T4" fmla="*/ 2 w 169"/>
                <a:gd name="T5" fmla="*/ 29 h 123"/>
                <a:gd name="T6" fmla="*/ 4 w 169"/>
                <a:gd name="T7" fmla="*/ 29 h 123"/>
                <a:gd name="T8" fmla="*/ 6 w 169"/>
                <a:gd name="T9" fmla="*/ 29 h 123"/>
                <a:gd name="T10" fmla="*/ 7 w 169"/>
                <a:gd name="T11" fmla="*/ 29 h 123"/>
                <a:gd name="T12" fmla="*/ 9 w 169"/>
                <a:gd name="T13" fmla="*/ 29 h 123"/>
                <a:gd name="T14" fmla="*/ 10 w 169"/>
                <a:gd name="T15" fmla="*/ 29 h 123"/>
                <a:gd name="T16" fmla="*/ 11 w 169"/>
                <a:gd name="T17" fmla="*/ 29 h 123"/>
                <a:gd name="T18" fmla="*/ 13 w 169"/>
                <a:gd name="T19" fmla="*/ 29 h 123"/>
                <a:gd name="T20" fmla="*/ 14 w 169"/>
                <a:gd name="T21" fmla="*/ 29 h 123"/>
                <a:gd name="T22" fmla="*/ 16 w 169"/>
                <a:gd name="T23" fmla="*/ 29 h 123"/>
                <a:gd name="T24" fmla="*/ 17 w 169"/>
                <a:gd name="T25" fmla="*/ 28 h 123"/>
                <a:gd name="T26" fmla="*/ 18 w 169"/>
                <a:gd name="T27" fmla="*/ 26 h 123"/>
                <a:gd name="T28" fmla="*/ 19 w 169"/>
                <a:gd name="T29" fmla="*/ 26 h 123"/>
                <a:gd name="T30" fmla="*/ 20 w 169"/>
                <a:gd name="T31" fmla="*/ 24 h 123"/>
                <a:gd name="T32" fmla="*/ 21 w 169"/>
                <a:gd name="T33" fmla="*/ 23 h 123"/>
                <a:gd name="T34" fmla="*/ 22 w 169"/>
                <a:gd name="T35" fmla="*/ 22 h 123"/>
                <a:gd name="T36" fmla="*/ 22 w 169"/>
                <a:gd name="T37" fmla="*/ 21 h 123"/>
                <a:gd name="T38" fmla="*/ 24 w 169"/>
                <a:gd name="T39" fmla="*/ 20 h 123"/>
                <a:gd name="T40" fmla="*/ 25 w 169"/>
                <a:gd name="T41" fmla="*/ 19 h 123"/>
                <a:gd name="T42" fmla="*/ 26 w 169"/>
                <a:gd name="T43" fmla="*/ 18 h 123"/>
                <a:gd name="T44" fmla="*/ 28 w 169"/>
                <a:gd name="T45" fmla="*/ 19 h 123"/>
                <a:gd name="T46" fmla="*/ 29 w 169"/>
                <a:gd name="T47" fmla="*/ 18 h 123"/>
                <a:gd name="T48" fmla="*/ 31 w 169"/>
                <a:gd name="T49" fmla="*/ 18 h 123"/>
                <a:gd name="T50" fmla="*/ 32 w 169"/>
                <a:gd name="T51" fmla="*/ 17 h 123"/>
                <a:gd name="T52" fmla="*/ 34 w 169"/>
                <a:gd name="T53" fmla="*/ 16 h 123"/>
                <a:gd name="T54" fmla="*/ 35 w 169"/>
                <a:gd name="T55" fmla="*/ 14 h 123"/>
                <a:gd name="T56" fmla="*/ 37 w 169"/>
                <a:gd name="T57" fmla="*/ 14 h 123"/>
                <a:gd name="T58" fmla="*/ 37 w 169"/>
                <a:gd name="T59" fmla="*/ 12 h 123"/>
                <a:gd name="T60" fmla="*/ 39 w 169"/>
                <a:gd name="T61" fmla="*/ 11 h 123"/>
                <a:gd name="T62" fmla="*/ 40 w 169"/>
                <a:gd name="T63" fmla="*/ 10 h 123"/>
                <a:gd name="T64" fmla="*/ 40 w 169"/>
                <a:gd name="T65" fmla="*/ 9 h 123"/>
                <a:gd name="T66" fmla="*/ 40 w 169"/>
                <a:gd name="T67" fmla="*/ 8 h 123"/>
                <a:gd name="T68" fmla="*/ 40 w 169"/>
                <a:gd name="T69" fmla="*/ 6 h 123"/>
                <a:gd name="T70" fmla="*/ 40 w 169"/>
                <a:gd name="T71" fmla="*/ 5 h 123"/>
                <a:gd name="T72" fmla="*/ 40 w 169"/>
                <a:gd name="T73" fmla="*/ 4 h 123"/>
                <a:gd name="T74" fmla="*/ 40 w 169"/>
                <a:gd name="T75" fmla="*/ 3 h 123"/>
                <a:gd name="T76" fmla="*/ 40 w 169"/>
                <a:gd name="T77" fmla="*/ 1 h 123"/>
                <a:gd name="T78" fmla="*/ 40 w 169"/>
                <a:gd name="T79" fmla="*/ 0 h 123"/>
                <a:gd name="T80" fmla="*/ 39 w 169"/>
                <a:gd name="T81" fmla="*/ 0 h 123"/>
                <a:gd name="T82" fmla="*/ 37 w 169"/>
                <a:gd name="T83" fmla="*/ 0 h 123"/>
                <a:gd name="T84" fmla="*/ 36 w 169"/>
                <a:gd name="T85" fmla="*/ 1 h 123"/>
                <a:gd name="T86" fmla="*/ 34 w 169"/>
                <a:gd name="T87" fmla="*/ 1 h 123"/>
                <a:gd name="T88" fmla="*/ 33 w 169"/>
                <a:gd name="T89" fmla="*/ 1 h 123"/>
                <a:gd name="T90" fmla="*/ 32 w 169"/>
                <a:gd name="T91" fmla="*/ 1 h 123"/>
                <a:gd name="T92" fmla="*/ 30 w 169"/>
                <a:gd name="T93" fmla="*/ 1 h 123"/>
                <a:gd name="T94" fmla="*/ 29 w 169"/>
                <a:gd name="T95" fmla="*/ 1 h 123"/>
                <a:gd name="T96" fmla="*/ 27 w 169"/>
                <a:gd name="T97" fmla="*/ 1 h 123"/>
                <a:gd name="T98" fmla="*/ 26 w 169"/>
                <a:gd name="T99" fmla="*/ 1 h 123"/>
                <a:gd name="T100" fmla="*/ 24 w 169"/>
                <a:gd name="T101" fmla="*/ 1 h 123"/>
                <a:gd name="T102" fmla="*/ 23 w 169"/>
                <a:gd name="T103" fmla="*/ 1 h 123"/>
                <a:gd name="T104" fmla="*/ 22 w 169"/>
                <a:gd name="T105" fmla="*/ 1 h 123"/>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69"/>
                <a:gd name="T160" fmla="*/ 0 h 123"/>
                <a:gd name="T161" fmla="*/ 169 w 169"/>
                <a:gd name="T162" fmla="*/ 123 h 123"/>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69" h="123">
                  <a:moveTo>
                    <a:pt x="0" y="122"/>
                  </a:moveTo>
                  <a:lnTo>
                    <a:pt x="6" y="122"/>
                  </a:lnTo>
                  <a:lnTo>
                    <a:pt x="11" y="120"/>
                  </a:lnTo>
                  <a:lnTo>
                    <a:pt x="18" y="120"/>
                  </a:lnTo>
                  <a:lnTo>
                    <a:pt x="24" y="120"/>
                  </a:lnTo>
                  <a:lnTo>
                    <a:pt x="29" y="117"/>
                  </a:lnTo>
                  <a:lnTo>
                    <a:pt x="36" y="117"/>
                  </a:lnTo>
                  <a:lnTo>
                    <a:pt x="42" y="117"/>
                  </a:lnTo>
                  <a:lnTo>
                    <a:pt x="47" y="117"/>
                  </a:lnTo>
                  <a:lnTo>
                    <a:pt x="54" y="117"/>
                  </a:lnTo>
                  <a:lnTo>
                    <a:pt x="60" y="117"/>
                  </a:lnTo>
                  <a:lnTo>
                    <a:pt x="65" y="117"/>
                  </a:lnTo>
                  <a:lnTo>
                    <a:pt x="69" y="112"/>
                  </a:lnTo>
                  <a:lnTo>
                    <a:pt x="74" y="106"/>
                  </a:lnTo>
                  <a:lnTo>
                    <a:pt x="81" y="104"/>
                  </a:lnTo>
                  <a:lnTo>
                    <a:pt x="83" y="98"/>
                  </a:lnTo>
                  <a:lnTo>
                    <a:pt x="87" y="93"/>
                  </a:lnTo>
                  <a:lnTo>
                    <a:pt x="92" y="90"/>
                  </a:lnTo>
                  <a:lnTo>
                    <a:pt x="92" y="85"/>
                  </a:lnTo>
                  <a:lnTo>
                    <a:pt x="99" y="82"/>
                  </a:lnTo>
                  <a:lnTo>
                    <a:pt x="105" y="77"/>
                  </a:lnTo>
                  <a:lnTo>
                    <a:pt x="110" y="74"/>
                  </a:lnTo>
                  <a:lnTo>
                    <a:pt x="117" y="77"/>
                  </a:lnTo>
                  <a:lnTo>
                    <a:pt x="123" y="74"/>
                  </a:lnTo>
                  <a:lnTo>
                    <a:pt x="129" y="72"/>
                  </a:lnTo>
                  <a:lnTo>
                    <a:pt x="135" y="69"/>
                  </a:lnTo>
                  <a:lnTo>
                    <a:pt x="141" y="64"/>
                  </a:lnTo>
                  <a:lnTo>
                    <a:pt x="147" y="58"/>
                  </a:lnTo>
                  <a:lnTo>
                    <a:pt x="153" y="56"/>
                  </a:lnTo>
                  <a:lnTo>
                    <a:pt x="156" y="50"/>
                  </a:lnTo>
                  <a:lnTo>
                    <a:pt x="159" y="45"/>
                  </a:lnTo>
                  <a:lnTo>
                    <a:pt x="165" y="42"/>
                  </a:lnTo>
                  <a:lnTo>
                    <a:pt x="165" y="37"/>
                  </a:lnTo>
                  <a:lnTo>
                    <a:pt x="165" y="32"/>
                  </a:lnTo>
                  <a:lnTo>
                    <a:pt x="168" y="26"/>
                  </a:lnTo>
                  <a:lnTo>
                    <a:pt x="168" y="21"/>
                  </a:lnTo>
                  <a:lnTo>
                    <a:pt x="168" y="16"/>
                  </a:lnTo>
                  <a:lnTo>
                    <a:pt x="168" y="10"/>
                  </a:lnTo>
                  <a:lnTo>
                    <a:pt x="168" y="5"/>
                  </a:lnTo>
                  <a:lnTo>
                    <a:pt x="168" y="0"/>
                  </a:lnTo>
                  <a:lnTo>
                    <a:pt x="162" y="0"/>
                  </a:lnTo>
                  <a:lnTo>
                    <a:pt x="156" y="0"/>
                  </a:lnTo>
                  <a:lnTo>
                    <a:pt x="150" y="2"/>
                  </a:lnTo>
                  <a:lnTo>
                    <a:pt x="144" y="2"/>
                  </a:lnTo>
                  <a:lnTo>
                    <a:pt x="138" y="2"/>
                  </a:lnTo>
                  <a:lnTo>
                    <a:pt x="132" y="2"/>
                  </a:lnTo>
                  <a:lnTo>
                    <a:pt x="126" y="5"/>
                  </a:lnTo>
                  <a:lnTo>
                    <a:pt x="120" y="5"/>
                  </a:lnTo>
                  <a:lnTo>
                    <a:pt x="114" y="5"/>
                  </a:lnTo>
                  <a:lnTo>
                    <a:pt x="108" y="5"/>
                  </a:lnTo>
                  <a:lnTo>
                    <a:pt x="101" y="5"/>
                  </a:lnTo>
                  <a:lnTo>
                    <a:pt x="96" y="5"/>
                  </a:lnTo>
                  <a:lnTo>
                    <a:pt x="90" y="5"/>
                  </a:lnTo>
                </a:path>
              </a:pathLst>
            </a:custGeom>
            <a:noFill/>
            <a:ln w="12700" cap="rnd" cmpd="sng">
              <a:solidFill>
                <a:srgbClr val="919191"/>
              </a:solidFill>
              <a:prstDash val="solid"/>
              <a:round/>
              <a:headEnd type="none" w="med" len="med"/>
              <a:tailEnd type="none" w="med" len="med"/>
            </a:ln>
          </p:spPr>
          <p:txBody>
            <a:bodyPr/>
            <a:lstStyle/>
            <a:p>
              <a:endParaRPr lang="en-US"/>
            </a:p>
          </p:txBody>
        </p:sp>
        <p:sp>
          <p:nvSpPr>
            <p:cNvPr id="20557" name="Freeform 35"/>
            <p:cNvSpPr>
              <a:spLocks noChangeAspect="1"/>
            </p:cNvSpPr>
            <p:nvPr/>
          </p:nvSpPr>
          <p:spPr bwMode="auto">
            <a:xfrm>
              <a:off x="4875" y="4303"/>
              <a:ext cx="78" cy="46"/>
            </a:xfrm>
            <a:custGeom>
              <a:avLst/>
              <a:gdLst>
                <a:gd name="T0" fmla="*/ 0 w 125"/>
                <a:gd name="T1" fmla="*/ 11 h 73"/>
                <a:gd name="T2" fmla="*/ 2 w 125"/>
                <a:gd name="T3" fmla="*/ 9 h 73"/>
                <a:gd name="T4" fmla="*/ 4 w 125"/>
                <a:gd name="T5" fmla="*/ 8 h 73"/>
                <a:gd name="T6" fmla="*/ 6 w 125"/>
                <a:gd name="T7" fmla="*/ 7 h 73"/>
                <a:gd name="T8" fmla="*/ 7 w 125"/>
                <a:gd name="T9" fmla="*/ 6 h 73"/>
                <a:gd name="T10" fmla="*/ 8 w 125"/>
                <a:gd name="T11" fmla="*/ 5 h 73"/>
                <a:gd name="T12" fmla="*/ 9 w 125"/>
                <a:gd name="T13" fmla="*/ 5 h 73"/>
                <a:gd name="T14" fmla="*/ 11 w 125"/>
                <a:gd name="T15" fmla="*/ 3 h 73"/>
                <a:gd name="T16" fmla="*/ 12 w 125"/>
                <a:gd name="T17" fmla="*/ 3 h 73"/>
                <a:gd name="T18" fmla="*/ 14 w 125"/>
                <a:gd name="T19" fmla="*/ 2 h 73"/>
                <a:gd name="T20" fmla="*/ 15 w 125"/>
                <a:gd name="T21" fmla="*/ 1 h 73"/>
                <a:gd name="T22" fmla="*/ 17 w 125"/>
                <a:gd name="T23" fmla="*/ 1 h 73"/>
                <a:gd name="T24" fmla="*/ 18 w 125"/>
                <a:gd name="T25" fmla="*/ 0 h 73"/>
                <a:gd name="T26" fmla="*/ 20 w 125"/>
                <a:gd name="T27" fmla="*/ 0 h 73"/>
                <a:gd name="T28" fmla="*/ 21 w 125"/>
                <a:gd name="T29" fmla="*/ 0 h 73"/>
                <a:gd name="T30" fmla="*/ 23 w 125"/>
                <a:gd name="T31" fmla="*/ 0 h 73"/>
                <a:gd name="T32" fmla="*/ 24 w 125"/>
                <a:gd name="T33" fmla="*/ 0 h 73"/>
                <a:gd name="T34" fmla="*/ 26 w 125"/>
                <a:gd name="T35" fmla="*/ 0 h 73"/>
                <a:gd name="T36" fmla="*/ 27 w 125"/>
                <a:gd name="T37" fmla="*/ 0 h 73"/>
                <a:gd name="T38" fmla="*/ 29 w 125"/>
                <a:gd name="T39" fmla="*/ 0 h 73"/>
                <a:gd name="T40" fmla="*/ 30 w 125"/>
                <a:gd name="T41" fmla="*/ 0 h 73"/>
                <a:gd name="T42" fmla="*/ 29 w 125"/>
                <a:gd name="T43" fmla="*/ 1 h 73"/>
                <a:gd name="T44" fmla="*/ 28 w 125"/>
                <a:gd name="T45" fmla="*/ 3 h 73"/>
                <a:gd name="T46" fmla="*/ 28 w 125"/>
                <a:gd name="T47" fmla="*/ 4 h 73"/>
                <a:gd name="T48" fmla="*/ 28 w 125"/>
                <a:gd name="T49" fmla="*/ 5 h 73"/>
                <a:gd name="T50" fmla="*/ 28 w 125"/>
                <a:gd name="T51" fmla="*/ 7 h 73"/>
                <a:gd name="T52" fmla="*/ 27 w 125"/>
                <a:gd name="T53" fmla="*/ 8 h 73"/>
                <a:gd name="T54" fmla="*/ 26 w 125"/>
                <a:gd name="T55" fmla="*/ 9 h 73"/>
                <a:gd name="T56" fmla="*/ 24 w 125"/>
                <a:gd name="T57" fmla="*/ 10 h 73"/>
                <a:gd name="T58" fmla="*/ 24 w 125"/>
                <a:gd name="T59" fmla="*/ 11 h 73"/>
                <a:gd name="T60" fmla="*/ 22 w 125"/>
                <a:gd name="T61" fmla="*/ 13 h 73"/>
                <a:gd name="T62" fmla="*/ 21 w 125"/>
                <a:gd name="T63" fmla="*/ 14 h 73"/>
                <a:gd name="T64" fmla="*/ 20 w 125"/>
                <a:gd name="T65" fmla="*/ 14 h 73"/>
                <a:gd name="T66" fmla="*/ 19 w 125"/>
                <a:gd name="T67" fmla="*/ 16 h 73"/>
                <a:gd name="T68" fmla="*/ 17 w 125"/>
                <a:gd name="T69" fmla="*/ 16 h 73"/>
                <a:gd name="T70" fmla="*/ 17 w 125"/>
                <a:gd name="T71" fmla="*/ 18 h 7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25"/>
                <a:gd name="T109" fmla="*/ 0 h 73"/>
                <a:gd name="T110" fmla="*/ 125 w 125"/>
                <a:gd name="T111" fmla="*/ 73 h 73"/>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25" h="73">
                  <a:moveTo>
                    <a:pt x="0" y="45"/>
                  </a:moveTo>
                  <a:lnTo>
                    <a:pt x="12" y="35"/>
                  </a:lnTo>
                  <a:lnTo>
                    <a:pt x="18" y="32"/>
                  </a:lnTo>
                  <a:lnTo>
                    <a:pt x="25" y="27"/>
                  </a:lnTo>
                  <a:lnTo>
                    <a:pt x="30" y="24"/>
                  </a:lnTo>
                  <a:lnTo>
                    <a:pt x="34" y="19"/>
                  </a:lnTo>
                  <a:lnTo>
                    <a:pt x="39" y="19"/>
                  </a:lnTo>
                  <a:lnTo>
                    <a:pt x="45" y="13"/>
                  </a:lnTo>
                  <a:lnTo>
                    <a:pt x="52" y="11"/>
                  </a:lnTo>
                  <a:lnTo>
                    <a:pt x="57" y="8"/>
                  </a:lnTo>
                  <a:lnTo>
                    <a:pt x="63" y="5"/>
                  </a:lnTo>
                  <a:lnTo>
                    <a:pt x="70" y="3"/>
                  </a:lnTo>
                  <a:lnTo>
                    <a:pt x="76" y="0"/>
                  </a:lnTo>
                  <a:lnTo>
                    <a:pt x="81" y="0"/>
                  </a:lnTo>
                  <a:lnTo>
                    <a:pt x="88" y="0"/>
                  </a:lnTo>
                  <a:lnTo>
                    <a:pt x="94" y="0"/>
                  </a:lnTo>
                  <a:lnTo>
                    <a:pt x="99" y="0"/>
                  </a:lnTo>
                  <a:lnTo>
                    <a:pt x="106" y="0"/>
                  </a:lnTo>
                  <a:lnTo>
                    <a:pt x="112" y="0"/>
                  </a:lnTo>
                  <a:lnTo>
                    <a:pt x="117" y="0"/>
                  </a:lnTo>
                  <a:lnTo>
                    <a:pt x="124" y="0"/>
                  </a:lnTo>
                  <a:lnTo>
                    <a:pt x="117" y="5"/>
                  </a:lnTo>
                  <a:lnTo>
                    <a:pt x="115" y="11"/>
                  </a:lnTo>
                  <a:lnTo>
                    <a:pt x="115" y="16"/>
                  </a:lnTo>
                  <a:lnTo>
                    <a:pt x="115" y="21"/>
                  </a:lnTo>
                  <a:lnTo>
                    <a:pt x="115" y="27"/>
                  </a:lnTo>
                  <a:lnTo>
                    <a:pt x="112" y="32"/>
                  </a:lnTo>
                  <a:lnTo>
                    <a:pt x="106" y="37"/>
                  </a:lnTo>
                  <a:lnTo>
                    <a:pt x="99" y="40"/>
                  </a:lnTo>
                  <a:lnTo>
                    <a:pt x="97" y="45"/>
                  </a:lnTo>
                  <a:lnTo>
                    <a:pt x="90" y="51"/>
                  </a:lnTo>
                  <a:lnTo>
                    <a:pt x="88" y="56"/>
                  </a:lnTo>
                  <a:lnTo>
                    <a:pt x="81" y="59"/>
                  </a:lnTo>
                  <a:lnTo>
                    <a:pt x="79" y="64"/>
                  </a:lnTo>
                  <a:lnTo>
                    <a:pt x="72" y="67"/>
                  </a:lnTo>
                  <a:lnTo>
                    <a:pt x="70" y="72"/>
                  </a:lnTo>
                </a:path>
              </a:pathLst>
            </a:custGeom>
            <a:noFill/>
            <a:ln w="12700" cap="rnd" cmpd="sng">
              <a:solidFill>
                <a:srgbClr val="919191"/>
              </a:solidFill>
              <a:prstDash val="solid"/>
              <a:round/>
              <a:headEnd type="none" w="med" len="med"/>
              <a:tailEnd type="none" w="med" len="med"/>
            </a:ln>
          </p:spPr>
          <p:txBody>
            <a:bodyPr/>
            <a:lstStyle/>
            <a:p>
              <a:endParaRPr lang="en-US"/>
            </a:p>
          </p:txBody>
        </p:sp>
        <p:sp>
          <p:nvSpPr>
            <p:cNvPr id="20558" name="Freeform 36"/>
            <p:cNvSpPr>
              <a:spLocks noChangeAspect="1"/>
            </p:cNvSpPr>
            <p:nvPr/>
          </p:nvSpPr>
          <p:spPr bwMode="auto">
            <a:xfrm>
              <a:off x="4827" y="4265"/>
              <a:ext cx="102" cy="62"/>
            </a:xfrm>
            <a:custGeom>
              <a:avLst/>
              <a:gdLst>
                <a:gd name="T0" fmla="*/ 0 w 163"/>
                <a:gd name="T1" fmla="*/ 24 h 99"/>
                <a:gd name="T2" fmla="*/ 1 w 163"/>
                <a:gd name="T3" fmla="*/ 23 h 99"/>
                <a:gd name="T4" fmla="*/ 3 w 163"/>
                <a:gd name="T5" fmla="*/ 21 h 99"/>
                <a:gd name="T6" fmla="*/ 3 w 163"/>
                <a:gd name="T7" fmla="*/ 20 h 99"/>
                <a:gd name="T8" fmla="*/ 4 w 163"/>
                <a:gd name="T9" fmla="*/ 19 h 99"/>
                <a:gd name="T10" fmla="*/ 4 w 163"/>
                <a:gd name="T11" fmla="*/ 18 h 99"/>
                <a:gd name="T12" fmla="*/ 4 w 163"/>
                <a:gd name="T13" fmla="*/ 16 h 99"/>
                <a:gd name="T14" fmla="*/ 4 w 163"/>
                <a:gd name="T15" fmla="*/ 15 h 99"/>
                <a:gd name="T16" fmla="*/ 4 w 163"/>
                <a:gd name="T17" fmla="*/ 14 h 99"/>
                <a:gd name="T18" fmla="*/ 4 w 163"/>
                <a:gd name="T19" fmla="*/ 12 h 99"/>
                <a:gd name="T20" fmla="*/ 4 w 163"/>
                <a:gd name="T21" fmla="*/ 11 h 99"/>
                <a:gd name="T22" fmla="*/ 8 w 163"/>
                <a:gd name="T23" fmla="*/ 10 h 99"/>
                <a:gd name="T24" fmla="*/ 10 w 163"/>
                <a:gd name="T25" fmla="*/ 9 h 99"/>
                <a:gd name="T26" fmla="*/ 10 w 163"/>
                <a:gd name="T27" fmla="*/ 6 h 99"/>
                <a:gd name="T28" fmla="*/ 13 w 163"/>
                <a:gd name="T29" fmla="*/ 6 h 99"/>
                <a:gd name="T30" fmla="*/ 15 w 163"/>
                <a:gd name="T31" fmla="*/ 6 h 99"/>
                <a:gd name="T32" fmla="*/ 15 w 163"/>
                <a:gd name="T33" fmla="*/ 4 h 99"/>
                <a:gd name="T34" fmla="*/ 17 w 163"/>
                <a:gd name="T35" fmla="*/ 4 h 99"/>
                <a:gd name="T36" fmla="*/ 18 w 163"/>
                <a:gd name="T37" fmla="*/ 4 h 99"/>
                <a:gd name="T38" fmla="*/ 20 w 163"/>
                <a:gd name="T39" fmla="*/ 3 h 99"/>
                <a:gd name="T40" fmla="*/ 21 w 163"/>
                <a:gd name="T41" fmla="*/ 2 h 99"/>
                <a:gd name="T42" fmla="*/ 23 w 163"/>
                <a:gd name="T43" fmla="*/ 1 h 99"/>
                <a:gd name="T44" fmla="*/ 24 w 163"/>
                <a:gd name="T45" fmla="*/ 1 h 99"/>
                <a:gd name="T46" fmla="*/ 26 w 163"/>
                <a:gd name="T47" fmla="*/ 1 h 99"/>
                <a:gd name="T48" fmla="*/ 27 w 163"/>
                <a:gd name="T49" fmla="*/ 0 h 99"/>
                <a:gd name="T50" fmla="*/ 29 w 163"/>
                <a:gd name="T51" fmla="*/ 0 h 99"/>
                <a:gd name="T52" fmla="*/ 30 w 163"/>
                <a:gd name="T53" fmla="*/ 0 h 99"/>
                <a:gd name="T54" fmla="*/ 32 w 163"/>
                <a:gd name="T55" fmla="*/ 0 h 99"/>
                <a:gd name="T56" fmla="*/ 33 w 163"/>
                <a:gd name="T57" fmla="*/ 0 h 99"/>
                <a:gd name="T58" fmla="*/ 34 w 163"/>
                <a:gd name="T59" fmla="*/ 0 h 99"/>
                <a:gd name="T60" fmla="*/ 36 w 163"/>
                <a:gd name="T61" fmla="*/ 0 h 99"/>
                <a:gd name="T62" fmla="*/ 38 w 163"/>
                <a:gd name="T63" fmla="*/ 0 h 99"/>
                <a:gd name="T64" fmla="*/ 39 w 163"/>
                <a:gd name="T65" fmla="*/ 0 h 99"/>
                <a:gd name="T66" fmla="*/ 39 w 163"/>
                <a:gd name="T67" fmla="*/ 1 h 99"/>
                <a:gd name="T68" fmla="*/ 39 w 163"/>
                <a:gd name="T69" fmla="*/ 3 h 99"/>
                <a:gd name="T70" fmla="*/ 39 w 163"/>
                <a:gd name="T71" fmla="*/ 4 h 99"/>
                <a:gd name="T72" fmla="*/ 39 w 163"/>
                <a:gd name="T73" fmla="*/ 5 h 99"/>
                <a:gd name="T74" fmla="*/ 38 w 163"/>
                <a:gd name="T75" fmla="*/ 6 h 99"/>
                <a:gd name="T76" fmla="*/ 38 w 163"/>
                <a:gd name="T77" fmla="*/ 8 h 99"/>
                <a:gd name="T78" fmla="*/ 38 w 163"/>
                <a:gd name="T79" fmla="*/ 9 h 99"/>
                <a:gd name="T80" fmla="*/ 38 w 163"/>
                <a:gd name="T81" fmla="*/ 10 h 99"/>
                <a:gd name="T82" fmla="*/ 37 w 163"/>
                <a:gd name="T83" fmla="*/ 12 h 99"/>
                <a:gd name="T84" fmla="*/ 37 w 163"/>
                <a:gd name="T85" fmla="*/ 13 h 99"/>
                <a:gd name="T86" fmla="*/ 36 w 163"/>
                <a:gd name="T87" fmla="*/ 14 h 9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63"/>
                <a:gd name="T133" fmla="*/ 0 h 99"/>
                <a:gd name="T134" fmla="*/ 163 w 163"/>
                <a:gd name="T135" fmla="*/ 99 h 9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63" h="99">
                  <a:moveTo>
                    <a:pt x="0" y="98"/>
                  </a:moveTo>
                  <a:lnTo>
                    <a:pt x="3" y="93"/>
                  </a:lnTo>
                  <a:lnTo>
                    <a:pt x="9" y="88"/>
                  </a:lnTo>
                  <a:lnTo>
                    <a:pt x="12" y="82"/>
                  </a:lnTo>
                  <a:lnTo>
                    <a:pt x="15" y="77"/>
                  </a:lnTo>
                  <a:lnTo>
                    <a:pt x="15" y="72"/>
                  </a:lnTo>
                  <a:lnTo>
                    <a:pt x="15" y="66"/>
                  </a:lnTo>
                  <a:lnTo>
                    <a:pt x="15" y="61"/>
                  </a:lnTo>
                  <a:lnTo>
                    <a:pt x="15" y="56"/>
                  </a:lnTo>
                  <a:lnTo>
                    <a:pt x="15" y="50"/>
                  </a:lnTo>
                  <a:lnTo>
                    <a:pt x="15" y="45"/>
                  </a:lnTo>
                  <a:lnTo>
                    <a:pt x="30" y="42"/>
                  </a:lnTo>
                  <a:lnTo>
                    <a:pt x="42" y="37"/>
                  </a:lnTo>
                  <a:lnTo>
                    <a:pt x="42" y="26"/>
                  </a:lnTo>
                  <a:lnTo>
                    <a:pt x="54" y="26"/>
                  </a:lnTo>
                  <a:lnTo>
                    <a:pt x="60" y="24"/>
                  </a:lnTo>
                  <a:lnTo>
                    <a:pt x="63" y="18"/>
                  </a:lnTo>
                  <a:lnTo>
                    <a:pt x="69" y="18"/>
                  </a:lnTo>
                  <a:lnTo>
                    <a:pt x="75" y="16"/>
                  </a:lnTo>
                  <a:lnTo>
                    <a:pt x="81" y="13"/>
                  </a:lnTo>
                  <a:lnTo>
                    <a:pt x="87" y="8"/>
                  </a:lnTo>
                  <a:lnTo>
                    <a:pt x="93" y="5"/>
                  </a:lnTo>
                  <a:lnTo>
                    <a:pt x="99" y="2"/>
                  </a:lnTo>
                  <a:lnTo>
                    <a:pt x="105" y="2"/>
                  </a:lnTo>
                  <a:lnTo>
                    <a:pt x="111" y="0"/>
                  </a:lnTo>
                  <a:lnTo>
                    <a:pt x="117" y="0"/>
                  </a:lnTo>
                  <a:lnTo>
                    <a:pt x="123" y="0"/>
                  </a:lnTo>
                  <a:lnTo>
                    <a:pt x="129" y="0"/>
                  </a:lnTo>
                  <a:lnTo>
                    <a:pt x="135" y="0"/>
                  </a:lnTo>
                  <a:lnTo>
                    <a:pt x="141" y="0"/>
                  </a:lnTo>
                  <a:lnTo>
                    <a:pt x="147" y="0"/>
                  </a:lnTo>
                  <a:lnTo>
                    <a:pt x="153" y="0"/>
                  </a:lnTo>
                  <a:lnTo>
                    <a:pt x="159" y="0"/>
                  </a:lnTo>
                  <a:lnTo>
                    <a:pt x="162" y="5"/>
                  </a:lnTo>
                  <a:lnTo>
                    <a:pt x="159" y="10"/>
                  </a:lnTo>
                  <a:lnTo>
                    <a:pt x="159" y="16"/>
                  </a:lnTo>
                  <a:lnTo>
                    <a:pt x="159" y="21"/>
                  </a:lnTo>
                  <a:lnTo>
                    <a:pt x="156" y="26"/>
                  </a:lnTo>
                  <a:lnTo>
                    <a:pt x="153" y="32"/>
                  </a:lnTo>
                  <a:lnTo>
                    <a:pt x="153" y="37"/>
                  </a:lnTo>
                  <a:lnTo>
                    <a:pt x="153" y="42"/>
                  </a:lnTo>
                  <a:lnTo>
                    <a:pt x="150" y="48"/>
                  </a:lnTo>
                  <a:lnTo>
                    <a:pt x="150" y="53"/>
                  </a:lnTo>
                  <a:lnTo>
                    <a:pt x="147" y="58"/>
                  </a:lnTo>
                </a:path>
              </a:pathLst>
            </a:custGeom>
            <a:noFill/>
            <a:ln w="12700" cap="rnd" cmpd="sng">
              <a:solidFill>
                <a:srgbClr val="919191"/>
              </a:solidFill>
              <a:prstDash val="solid"/>
              <a:round/>
              <a:headEnd type="none" w="med" len="med"/>
              <a:tailEnd type="none" w="med" len="med"/>
            </a:ln>
          </p:spPr>
          <p:txBody>
            <a:bodyPr/>
            <a:lstStyle/>
            <a:p>
              <a:endParaRPr lang="en-US"/>
            </a:p>
          </p:txBody>
        </p:sp>
        <p:sp>
          <p:nvSpPr>
            <p:cNvPr id="20559" name="Freeform 37"/>
            <p:cNvSpPr>
              <a:spLocks noChangeAspect="1"/>
            </p:cNvSpPr>
            <p:nvPr/>
          </p:nvSpPr>
          <p:spPr bwMode="auto">
            <a:xfrm>
              <a:off x="4805" y="4228"/>
              <a:ext cx="105" cy="66"/>
            </a:xfrm>
            <a:custGeom>
              <a:avLst/>
              <a:gdLst>
                <a:gd name="T0" fmla="*/ 12 w 169"/>
                <a:gd name="T1" fmla="*/ 26 h 105"/>
                <a:gd name="T2" fmla="*/ 10 w 169"/>
                <a:gd name="T3" fmla="*/ 26 h 105"/>
                <a:gd name="T4" fmla="*/ 9 w 169"/>
                <a:gd name="T5" fmla="*/ 26 h 105"/>
                <a:gd name="T6" fmla="*/ 7 w 169"/>
                <a:gd name="T7" fmla="*/ 25 h 105"/>
                <a:gd name="T8" fmla="*/ 6 w 169"/>
                <a:gd name="T9" fmla="*/ 25 h 105"/>
                <a:gd name="T10" fmla="*/ 4 w 169"/>
                <a:gd name="T11" fmla="*/ 25 h 105"/>
                <a:gd name="T12" fmla="*/ 2 w 169"/>
                <a:gd name="T13" fmla="*/ 25 h 105"/>
                <a:gd name="T14" fmla="*/ 1 w 169"/>
                <a:gd name="T15" fmla="*/ 25 h 105"/>
                <a:gd name="T16" fmla="*/ 0 w 169"/>
                <a:gd name="T17" fmla="*/ 25 h 105"/>
                <a:gd name="T18" fmla="*/ 0 w 169"/>
                <a:gd name="T19" fmla="*/ 23 h 105"/>
                <a:gd name="T20" fmla="*/ 0 w 169"/>
                <a:gd name="T21" fmla="*/ 22 h 105"/>
                <a:gd name="T22" fmla="*/ 1 w 169"/>
                <a:gd name="T23" fmla="*/ 21 h 105"/>
                <a:gd name="T24" fmla="*/ 1 w 169"/>
                <a:gd name="T25" fmla="*/ 19 h 105"/>
                <a:gd name="T26" fmla="*/ 2 w 169"/>
                <a:gd name="T27" fmla="*/ 18 h 105"/>
                <a:gd name="T28" fmla="*/ 4 w 169"/>
                <a:gd name="T29" fmla="*/ 17 h 105"/>
                <a:gd name="T30" fmla="*/ 4 w 169"/>
                <a:gd name="T31" fmla="*/ 16 h 105"/>
                <a:gd name="T32" fmla="*/ 5 w 169"/>
                <a:gd name="T33" fmla="*/ 14 h 105"/>
                <a:gd name="T34" fmla="*/ 6 w 169"/>
                <a:gd name="T35" fmla="*/ 13 h 105"/>
                <a:gd name="T36" fmla="*/ 7 w 169"/>
                <a:gd name="T37" fmla="*/ 13 h 105"/>
                <a:gd name="T38" fmla="*/ 9 w 169"/>
                <a:gd name="T39" fmla="*/ 12 h 105"/>
                <a:gd name="T40" fmla="*/ 10 w 169"/>
                <a:gd name="T41" fmla="*/ 11 h 105"/>
                <a:gd name="T42" fmla="*/ 12 w 169"/>
                <a:gd name="T43" fmla="*/ 11 h 105"/>
                <a:gd name="T44" fmla="*/ 13 w 169"/>
                <a:gd name="T45" fmla="*/ 10 h 105"/>
                <a:gd name="T46" fmla="*/ 14 w 169"/>
                <a:gd name="T47" fmla="*/ 9 h 105"/>
                <a:gd name="T48" fmla="*/ 15 w 169"/>
                <a:gd name="T49" fmla="*/ 9 h 105"/>
                <a:gd name="T50" fmla="*/ 15 w 169"/>
                <a:gd name="T51" fmla="*/ 7 h 105"/>
                <a:gd name="T52" fmla="*/ 17 w 169"/>
                <a:gd name="T53" fmla="*/ 7 h 105"/>
                <a:gd name="T54" fmla="*/ 17 w 169"/>
                <a:gd name="T55" fmla="*/ 6 h 105"/>
                <a:gd name="T56" fmla="*/ 21 w 169"/>
                <a:gd name="T57" fmla="*/ 5 h 105"/>
                <a:gd name="T58" fmla="*/ 22 w 169"/>
                <a:gd name="T59" fmla="*/ 5 h 105"/>
                <a:gd name="T60" fmla="*/ 24 w 169"/>
                <a:gd name="T61" fmla="*/ 4 h 105"/>
                <a:gd name="T62" fmla="*/ 25 w 169"/>
                <a:gd name="T63" fmla="*/ 3 h 105"/>
                <a:gd name="T64" fmla="*/ 26 w 169"/>
                <a:gd name="T65" fmla="*/ 2 h 105"/>
                <a:gd name="T66" fmla="*/ 27 w 169"/>
                <a:gd name="T67" fmla="*/ 2 h 105"/>
                <a:gd name="T68" fmla="*/ 29 w 169"/>
                <a:gd name="T69" fmla="*/ 2 h 105"/>
                <a:gd name="T70" fmla="*/ 30 w 169"/>
                <a:gd name="T71" fmla="*/ 2 h 105"/>
                <a:gd name="T72" fmla="*/ 32 w 169"/>
                <a:gd name="T73" fmla="*/ 1 h 105"/>
                <a:gd name="T74" fmla="*/ 33 w 169"/>
                <a:gd name="T75" fmla="*/ 1 h 105"/>
                <a:gd name="T76" fmla="*/ 34 w 169"/>
                <a:gd name="T77" fmla="*/ 1 h 105"/>
                <a:gd name="T78" fmla="*/ 36 w 169"/>
                <a:gd name="T79" fmla="*/ 1 h 105"/>
                <a:gd name="T80" fmla="*/ 38 w 169"/>
                <a:gd name="T81" fmla="*/ 1 h 105"/>
                <a:gd name="T82" fmla="*/ 39 w 169"/>
                <a:gd name="T83" fmla="*/ 0 h 105"/>
                <a:gd name="T84" fmla="*/ 40 w 169"/>
                <a:gd name="T85" fmla="*/ 0 h 105"/>
                <a:gd name="T86" fmla="*/ 40 w 169"/>
                <a:gd name="T87" fmla="*/ 1 h 105"/>
                <a:gd name="T88" fmla="*/ 40 w 169"/>
                <a:gd name="T89" fmla="*/ 3 h 105"/>
                <a:gd name="T90" fmla="*/ 39 w 169"/>
                <a:gd name="T91" fmla="*/ 4 h 105"/>
                <a:gd name="T92" fmla="*/ 39 w 169"/>
                <a:gd name="T93" fmla="*/ 5 h 105"/>
                <a:gd name="T94" fmla="*/ 39 w 169"/>
                <a:gd name="T95" fmla="*/ 7 h 105"/>
                <a:gd name="T96" fmla="*/ 38 w 169"/>
                <a:gd name="T97" fmla="*/ 8 h 105"/>
                <a:gd name="T98" fmla="*/ 37 w 169"/>
                <a:gd name="T99" fmla="*/ 9 h 105"/>
                <a:gd name="T100" fmla="*/ 35 w 169"/>
                <a:gd name="T101" fmla="*/ 11 h 105"/>
                <a:gd name="T102" fmla="*/ 35 w 169"/>
                <a:gd name="T103" fmla="*/ 12 h 105"/>
                <a:gd name="T104" fmla="*/ 34 w 169"/>
                <a:gd name="T105" fmla="*/ 13 h 105"/>
                <a:gd name="T106" fmla="*/ 34 w 169"/>
                <a:gd name="T107" fmla="*/ 14 h 105"/>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69"/>
                <a:gd name="T163" fmla="*/ 0 h 105"/>
                <a:gd name="T164" fmla="*/ 169 w 169"/>
                <a:gd name="T165" fmla="*/ 105 h 105"/>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69" h="105">
                  <a:moveTo>
                    <a:pt x="48" y="104"/>
                  </a:moveTo>
                  <a:lnTo>
                    <a:pt x="42" y="104"/>
                  </a:lnTo>
                  <a:lnTo>
                    <a:pt x="36" y="104"/>
                  </a:lnTo>
                  <a:lnTo>
                    <a:pt x="30" y="101"/>
                  </a:lnTo>
                  <a:lnTo>
                    <a:pt x="24" y="101"/>
                  </a:lnTo>
                  <a:lnTo>
                    <a:pt x="18" y="101"/>
                  </a:lnTo>
                  <a:lnTo>
                    <a:pt x="12" y="101"/>
                  </a:lnTo>
                  <a:lnTo>
                    <a:pt x="6" y="99"/>
                  </a:lnTo>
                  <a:lnTo>
                    <a:pt x="0" y="99"/>
                  </a:lnTo>
                  <a:lnTo>
                    <a:pt x="0" y="93"/>
                  </a:lnTo>
                  <a:lnTo>
                    <a:pt x="0" y="88"/>
                  </a:lnTo>
                  <a:lnTo>
                    <a:pt x="3" y="83"/>
                  </a:lnTo>
                  <a:lnTo>
                    <a:pt x="6" y="77"/>
                  </a:lnTo>
                  <a:lnTo>
                    <a:pt x="9" y="72"/>
                  </a:lnTo>
                  <a:lnTo>
                    <a:pt x="15" y="69"/>
                  </a:lnTo>
                  <a:lnTo>
                    <a:pt x="18" y="64"/>
                  </a:lnTo>
                  <a:lnTo>
                    <a:pt x="21" y="56"/>
                  </a:lnTo>
                  <a:lnTo>
                    <a:pt x="24" y="51"/>
                  </a:lnTo>
                  <a:lnTo>
                    <a:pt x="30" y="51"/>
                  </a:lnTo>
                  <a:lnTo>
                    <a:pt x="36" y="48"/>
                  </a:lnTo>
                  <a:lnTo>
                    <a:pt x="42" y="45"/>
                  </a:lnTo>
                  <a:lnTo>
                    <a:pt x="48" y="43"/>
                  </a:lnTo>
                  <a:lnTo>
                    <a:pt x="54" y="40"/>
                  </a:lnTo>
                  <a:lnTo>
                    <a:pt x="58" y="35"/>
                  </a:lnTo>
                  <a:lnTo>
                    <a:pt x="63" y="35"/>
                  </a:lnTo>
                  <a:lnTo>
                    <a:pt x="63" y="29"/>
                  </a:lnTo>
                  <a:lnTo>
                    <a:pt x="69" y="29"/>
                  </a:lnTo>
                  <a:lnTo>
                    <a:pt x="72" y="24"/>
                  </a:lnTo>
                  <a:lnTo>
                    <a:pt x="87" y="21"/>
                  </a:lnTo>
                  <a:lnTo>
                    <a:pt x="94" y="19"/>
                  </a:lnTo>
                  <a:lnTo>
                    <a:pt x="99" y="16"/>
                  </a:lnTo>
                  <a:lnTo>
                    <a:pt x="105" y="13"/>
                  </a:lnTo>
                  <a:lnTo>
                    <a:pt x="108" y="8"/>
                  </a:lnTo>
                  <a:lnTo>
                    <a:pt x="114" y="8"/>
                  </a:lnTo>
                  <a:lnTo>
                    <a:pt x="121" y="8"/>
                  </a:lnTo>
                  <a:lnTo>
                    <a:pt x="126" y="8"/>
                  </a:lnTo>
                  <a:lnTo>
                    <a:pt x="132" y="5"/>
                  </a:lnTo>
                  <a:lnTo>
                    <a:pt x="139" y="5"/>
                  </a:lnTo>
                  <a:lnTo>
                    <a:pt x="144" y="3"/>
                  </a:lnTo>
                  <a:lnTo>
                    <a:pt x="150" y="3"/>
                  </a:lnTo>
                  <a:lnTo>
                    <a:pt x="157" y="3"/>
                  </a:lnTo>
                  <a:lnTo>
                    <a:pt x="162" y="0"/>
                  </a:lnTo>
                  <a:lnTo>
                    <a:pt x="168" y="0"/>
                  </a:lnTo>
                  <a:lnTo>
                    <a:pt x="166" y="5"/>
                  </a:lnTo>
                  <a:lnTo>
                    <a:pt x="166" y="11"/>
                  </a:lnTo>
                  <a:lnTo>
                    <a:pt x="159" y="16"/>
                  </a:lnTo>
                  <a:lnTo>
                    <a:pt x="159" y="21"/>
                  </a:lnTo>
                  <a:lnTo>
                    <a:pt x="159" y="27"/>
                  </a:lnTo>
                  <a:lnTo>
                    <a:pt x="157" y="32"/>
                  </a:lnTo>
                  <a:lnTo>
                    <a:pt x="153" y="37"/>
                  </a:lnTo>
                  <a:lnTo>
                    <a:pt x="148" y="43"/>
                  </a:lnTo>
                  <a:lnTo>
                    <a:pt x="148" y="48"/>
                  </a:lnTo>
                  <a:lnTo>
                    <a:pt x="144" y="53"/>
                  </a:lnTo>
                  <a:lnTo>
                    <a:pt x="144" y="59"/>
                  </a:lnTo>
                </a:path>
              </a:pathLst>
            </a:custGeom>
            <a:noFill/>
            <a:ln w="12700" cap="rnd" cmpd="sng">
              <a:solidFill>
                <a:srgbClr val="919191"/>
              </a:solidFill>
              <a:prstDash val="solid"/>
              <a:round/>
              <a:headEnd type="none" w="med" len="med"/>
              <a:tailEnd type="none" w="med" len="med"/>
            </a:ln>
          </p:spPr>
          <p:txBody>
            <a:bodyPr/>
            <a:lstStyle/>
            <a:p>
              <a:endParaRPr lang="en-US"/>
            </a:p>
          </p:txBody>
        </p:sp>
        <p:sp>
          <p:nvSpPr>
            <p:cNvPr id="20560" name="Freeform 38"/>
            <p:cNvSpPr>
              <a:spLocks noChangeAspect="1"/>
            </p:cNvSpPr>
            <p:nvPr/>
          </p:nvSpPr>
          <p:spPr bwMode="auto">
            <a:xfrm>
              <a:off x="4751" y="4290"/>
              <a:ext cx="53" cy="52"/>
            </a:xfrm>
            <a:custGeom>
              <a:avLst/>
              <a:gdLst>
                <a:gd name="T0" fmla="*/ 21 w 84"/>
                <a:gd name="T1" fmla="*/ 0 h 83"/>
                <a:gd name="T2" fmla="*/ 20 w 84"/>
                <a:gd name="T3" fmla="*/ 1 h 83"/>
                <a:gd name="T4" fmla="*/ 18 w 84"/>
                <a:gd name="T5" fmla="*/ 2 h 83"/>
                <a:gd name="T6" fmla="*/ 16 w 84"/>
                <a:gd name="T7" fmla="*/ 3 h 83"/>
                <a:gd name="T8" fmla="*/ 15 w 84"/>
                <a:gd name="T9" fmla="*/ 3 h 83"/>
                <a:gd name="T10" fmla="*/ 13 w 84"/>
                <a:gd name="T11" fmla="*/ 4 h 83"/>
                <a:gd name="T12" fmla="*/ 12 w 84"/>
                <a:gd name="T13" fmla="*/ 4 h 83"/>
                <a:gd name="T14" fmla="*/ 11 w 84"/>
                <a:gd name="T15" fmla="*/ 6 h 83"/>
                <a:gd name="T16" fmla="*/ 9 w 84"/>
                <a:gd name="T17" fmla="*/ 6 h 83"/>
                <a:gd name="T18" fmla="*/ 9 w 84"/>
                <a:gd name="T19" fmla="*/ 7 h 83"/>
                <a:gd name="T20" fmla="*/ 7 w 84"/>
                <a:gd name="T21" fmla="*/ 8 h 83"/>
                <a:gd name="T22" fmla="*/ 6 w 84"/>
                <a:gd name="T23" fmla="*/ 8 h 83"/>
                <a:gd name="T24" fmla="*/ 6 w 84"/>
                <a:gd name="T25" fmla="*/ 10 h 83"/>
                <a:gd name="T26" fmla="*/ 5 w 84"/>
                <a:gd name="T27" fmla="*/ 11 h 83"/>
                <a:gd name="T28" fmla="*/ 4 w 84"/>
                <a:gd name="T29" fmla="*/ 12 h 83"/>
                <a:gd name="T30" fmla="*/ 4 w 84"/>
                <a:gd name="T31" fmla="*/ 14 h 83"/>
                <a:gd name="T32" fmla="*/ 4 w 84"/>
                <a:gd name="T33" fmla="*/ 15 h 83"/>
                <a:gd name="T34" fmla="*/ 3 w 84"/>
                <a:gd name="T35" fmla="*/ 16 h 83"/>
                <a:gd name="T36" fmla="*/ 2 w 84"/>
                <a:gd name="T37" fmla="*/ 17 h 83"/>
                <a:gd name="T38" fmla="*/ 1 w 84"/>
                <a:gd name="T39" fmla="*/ 18 h 83"/>
                <a:gd name="T40" fmla="*/ 0 w 84"/>
                <a:gd name="T41" fmla="*/ 19 h 83"/>
                <a:gd name="T42" fmla="*/ 2 w 84"/>
                <a:gd name="T43" fmla="*/ 20 h 83"/>
                <a:gd name="T44" fmla="*/ 3 w 84"/>
                <a:gd name="T45" fmla="*/ 20 h 83"/>
                <a:gd name="T46" fmla="*/ 4 w 84"/>
                <a:gd name="T47" fmla="*/ 20 h 83"/>
                <a:gd name="T48" fmla="*/ 6 w 84"/>
                <a:gd name="T49" fmla="*/ 20 h 83"/>
                <a:gd name="T50" fmla="*/ 7 w 84"/>
                <a:gd name="T51" fmla="*/ 20 h 83"/>
                <a:gd name="T52" fmla="*/ 9 w 84"/>
                <a:gd name="T53" fmla="*/ 20 h 83"/>
                <a:gd name="T54" fmla="*/ 11 w 84"/>
                <a:gd name="T55" fmla="*/ 20 h 83"/>
                <a:gd name="T56" fmla="*/ 12 w 84"/>
                <a:gd name="T57" fmla="*/ 20 h 83"/>
                <a:gd name="T58" fmla="*/ 13 w 84"/>
                <a:gd name="T59" fmla="*/ 20 h 83"/>
                <a:gd name="T60" fmla="*/ 15 w 84"/>
                <a:gd name="T61" fmla="*/ 20 h 83"/>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84"/>
                <a:gd name="T94" fmla="*/ 0 h 83"/>
                <a:gd name="T95" fmla="*/ 84 w 84"/>
                <a:gd name="T96" fmla="*/ 83 h 83"/>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84" h="83">
                  <a:moveTo>
                    <a:pt x="83" y="0"/>
                  </a:moveTo>
                  <a:lnTo>
                    <a:pt x="77" y="2"/>
                  </a:lnTo>
                  <a:lnTo>
                    <a:pt x="72" y="8"/>
                  </a:lnTo>
                  <a:lnTo>
                    <a:pt x="65" y="10"/>
                  </a:lnTo>
                  <a:lnTo>
                    <a:pt x="59" y="13"/>
                  </a:lnTo>
                  <a:lnTo>
                    <a:pt x="54" y="16"/>
                  </a:lnTo>
                  <a:lnTo>
                    <a:pt x="47" y="18"/>
                  </a:lnTo>
                  <a:lnTo>
                    <a:pt x="45" y="24"/>
                  </a:lnTo>
                  <a:lnTo>
                    <a:pt x="38" y="24"/>
                  </a:lnTo>
                  <a:lnTo>
                    <a:pt x="36" y="29"/>
                  </a:lnTo>
                  <a:lnTo>
                    <a:pt x="29" y="32"/>
                  </a:lnTo>
                  <a:lnTo>
                    <a:pt x="24" y="34"/>
                  </a:lnTo>
                  <a:lnTo>
                    <a:pt x="24" y="40"/>
                  </a:lnTo>
                  <a:lnTo>
                    <a:pt x="20" y="45"/>
                  </a:lnTo>
                  <a:lnTo>
                    <a:pt x="18" y="50"/>
                  </a:lnTo>
                  <a:lnTo>
                    <a:pt x="18" y="56"/>
                  </a:lnTo>
                  <a:lnTo>
                    <a:pt x="15" y="61"/>
                  </a:lnTo>
                  <a:lnTo>
                    <a:pt x="9" y="64"/>
                  </a:lnTo>
                  <a:lnTo>
                    <a:pt x="6" y="69"/>
                  </a:lnTo>
                  <a:lnTo>
                    <a:pt x="2" y="74"/>
                  </a:lnTo>
                  <a:lnTo>
                    <a:pt x="0" y="80"/>
                  </a:lnTo>
                  <a:lnTo>
                    <a:pt x="6" y="82"/>
                  </a:lnTo>
                  <a:lnTo>
                    <a:pt x="11" y="82"/>
                  </a:lnTo>
                  <a:lnTo>
                    <a:pt x="18" y="82"/>
                  </a:lnTo>
                  <a:lnTo>
                    <a:pt x="24" y="82"/>
                  </a:lnTo>
                  <a:lnTo>
                    <a:pt x="29" y="82"/>
                  </a:lnTo>
                  <a:lnTo>
                    <a:pt x="36" y="82"/>
                  </a:lnTo>
                  <a:lnTo>
                    <a:pt x="42" y="82"/>
                  </a:lnTo>
                  <a:lnTo>
                    <a:pt x="47" y="82"/>
                  </a:lnTo>
                  <a:lnTo>
                    <a:pt x="54" y="82"/>
                  </a:lnTo>
                  <a:lnTo>
                    <a:pt x="59" y="82"/>
                  </a:lnTo>
                </a:path>
              </a:pathLst>
            </a:custGeom>
            <a:noFill/>
            <a:ln w="12700" cap="rnd" cmpd="sng">
              <a:solidFill>
                <a:srgbClr val="919191"/>
              </a:solidFill>
              <a:prstDash val="solid"/>
              <a:round/>
              <a:headEnd type="none" w="med" len="med"/>
              <a:tailEnd type="none" w="med" len="med"/>
            </a:ln>
          </p:spPr>
          <p:txBody>
            <a:bodyPr/>
            <a:lstStyle/>
            <a:p>
              <a:endParaRPr lang="en-US"/>
            </a:p>
          </p:txBody>
        </p:sp>
        <p:sp>
          <p:nvSpPr>
            <p:cNvPr id="20561" name="Freeform 39"/>
            <p:cNvSpPr>
              <a:spLocks noChangeAspect="1"/>
            </p:cNvSpPr>
            <p:nvPr/>
          </p:nvSpPr>
          <p:spPr bwMode="auto">
            <a:xfrm>
              <a:off x="4690" y="4345"/>
              <a:ext cx="62" cy="80"/>
            </a:xfrm>
            <a:custGeom>
              <a:avLst/>
              <a:gdLst>
                <a:gd name="T0" fmla="*/ 24 w 100"/>
                <a:gd name="T1" fmla="*/ 0 h 128"/>
                <a:gd name="T2" fmla="*/ 20 w 100"/>
                <a:gd name="T3" fmla="*/ 3 h 128"/>
                <a:gd name="T4" fmla="*/ 19 w 100"/>
                <a:gd name="T5" fmla="*/ 4 h 128"/>
                <a:gd name="T6" fmla="*/ 18 w 100"/>
                <a:gd name="T7" fmla="*/ 5 h 128"/>
                <a:gd name="T8" fmla="*/ 17 w 100"/>
                <a:gd name="T9" fmla="*/ 6 h 128"/>
                <a:gd name="T10" fmla="*/ 16 w 100"/>
                <a:gd name="T11" fmla="*/ 7 h 128"/>
                <a:gd name="T12" fmla="*/ 14 w 100"/>
                <a:gd name="T13" fmla="*/ 7 h 128"/>
                <a:gd name="T14" fmla="*/ 12 w 100"/>
                <a:gd name="T15" fmla="*/ 8 h 128"/>
                <a:gd name="T16" fmla="*/ 11 w 100"/>
                <a:gd name="T17" fmla="*/ 9 h 128"/>
                <a:gd name="T18" fmla="*/ 11 w 100"/>
                <a:gd name="T19" fmla="*/ 10 h 128"/>
                <a:gd name="T20" fmla="*/ 9 w 100"/>
                <a:gd name="T21" fmla="*/ 10 h 128"/>
                <a:gd name="T22" fmla="*/ 7 w 100"/>
                <a:gd name="T23" fmla="*/ 12 h 128"/>
                <a:gd name="T24" fmla="*/ 7 w 100"/>
                <a:gd name="T25" fmla="*/ 12 h 128"/>
                <a:gd name="T26" fmla="*/ 7 w 100"/>
                <a:gd name="T27" fmla="*/ 14 h 128"/>
                <a:gd name="T28" fmla="*/ 6 w 100"/>
                <a:gd name="T29" fmla="*/ 15 h 128"/>
                <a:gd name="T30" fmla="*/ 6 w 100"/>
                <a:gd name="T31" fmla="*/ 16 h 128"/>
                <a:gd name="T32" fmla="*/ 6 w 100"/>
                <a:gd name="T33" fmla="*/ 17 h 128"/>
                <a:gd name="T34" fmla="*/ 6 w 100"/>
                <a:gd name="T35" fmla="*/ 18 h 128"/>
                <a:gd name="T36" fmla="*/ 4 w 100"/>
                <a:gd name="T37" fmla="*/ 19 h 128"/>
                <a:gd name="T38" fmla="*/ 4 w 100"/>
                <a:gd name="T39" fmla="*/ 21 h 128"/>
                <a:gd name="T40" fmla="*/ 2 w 100"/>
                <a:gd name="T41" fmla="*/ 22 h 128"/>
                <a:gd name="T42" fmla="*/ 2 w 100"/>
                <a:gd name="T43" fmla="*/ 23 h 128"/>
                <a:gd name="T44" fmla="*/ 2 w 100"/>
                <a:gd name="T45" fmla="*/ 24 h 128"/>
                <a:gd name="T46" fmla="*/ 2 w 100"/>
                <a:gd name="T47" fmla="*/ 26 h 128"/>
                <a:gd name="T48" fmla="*/ 1 w 100"/>
                <a:gd name="T49" fmla="*/ 27 h 128"/>
                <a:gd name="T50" fmla="*/ 1 w 100"/>
                <a:gd name="T51" fmla="*/ 28 h 128"/>
                <a:gd name="T52" fmla="*/ 0 w 100"/>
                <a:gd name="T53" fmla="*/ 29 h 128"/>
                <a:gd name="T54" fmla="*/ 0 w 100"/>
                <a:gd name="T55" fmla="*/ 31 h 12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00"/>
                <a:gd name="T85" fmla="*/ 0 h 128"/>
                <a:gd name="T86" fmla="*/ 100 w 100"/>
                <a:gd name="T87" fmla="*/ 128 h 12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00" h="128">
                  <a:moveTo>
                    <a:pt x="99" y="0"/>
                  </a:moveTo>
                  <a:lnTo>
                    <a:pt x="87" y="10"/>
                  </a:lnTo>
                  <a:lnTo>
                    <a:pt x="81" y="16"/>
                  </a:lnTo>
                  <a:lnTo>
                    <a:pt x="74" y="21"/>
                  </a:lnTo>
                  <a:lnTo>
                    <a:pt x="69" y="24"/>
                  </a:lnTo>
                  <a:lnTo>
                    <a:pt x="65" y="29"/>
                  </a:lnTo>
                  <a:lnTo>
                    <a:pt x="60" y="32"/>
                  </a:lnTo>
                  <a:lnTo>
                    <a:pt x="54" y="34"/>
                  </a:lnTo>
                  <a:lnTo>
                    <a:pt x="47" y="37"/>
                  </a:lnTo>
                  <a:lnTo>
                    <a:pt x="45" y="42"/>
                  </a:lnTo>
                  <a:lnTo>
                    <a:pt x="38" y="42"/>
                  </a:lnTo>
                  <a:lnTo>
                    <a:pt x="33" y="48"/>
                  </a:lnTo>
                  <a:lnTo>
                    <a:pt x="27" y="50"/>
                  </a:lnTo>
                  <a:lnTo>
                    <a:pt x="27" y="56"/>
                  </a:lnTo>
                  <a:lnTo>
                    <a:pt x="24" y="61"/>
                  </a:lnTo>
                  <a:lnTo>
                    <a:pt x="24" y="65"/>
                  </a:lnTo>
                  <a:lnTo>
                    <a:pt x="24" y="71"/>
                  </a:lnTo>
                  <a:lnTo>
                    <a:pt x="24" y="76"/>
                  </a:lnTo>
                  <a:lnTo>
                    <a:pt x="18" y="79"/>
                  </a:lnTo>
                  <a:lnTo>
                    <a:pt x="18" y="87"/>
                  </a:lnTo>
                  <a:lnTo>
                    <a:pt x="11" y="89"/>
                  </a:lnTo>
                  <a:lnTo>
                    <a:pt x="11" y="95"/>
                  </a:lnTo>
                  <a:lnTo>
                    <a:pt x="9" y="100"/>
                  </a:lnTo>
                  <a:lnTo>
                    <a:pt x="9" y="105"/>
                  </a:lnTo>
                  <a:lnTo>
                    <a:pt x="6" y="111"/>
                  </a:lnTo>
                  <a:lnTo>
                    <a:pt x="6" y="116"/>
                  </a:lnTo>
                  <a:lnTo>
                    <a:pt x="0" y="121"/>
                  </a:lnTo>
                  <a:lnTo>
                    <a:pt x="0" y="127"/>
                  </a:lnTo>
                </a:path>
              </a:pathLst>
            </a:custGeom>
            <a:noFill/>
            <a:ln w="12700" cap="rnd" cmpd="sng">
              <a:solidFill>
                <a:srgbClr val="919191"/>
              </a:solidFill>
              <a:prstDash val="solid"/>
              <a:round/>
              <a:headEnd type="none" w="med" len="med"/>
              <a:tailEnd type="none" w="med" len="med"/>
            </a:ln>
          </p:spPr>
          <p:txBody>
            <a:bodyPr/>
            <a:lstStyle/>
            <a:p>
              <a:endParaRPr lang="en-US"/>
            </a:p>
          </p:txBody>
        </p:sp>
        <p:sp>
          <p:nvSpPr>
            <p:cNvPr id="20562" name="Freeform 40"/>
            <p:cNvSpPr>
              <a:spLocks noChangeAspect="1"/>
            </p:cNvSpPr>
            <p:nvPr/>
          </p:nvSpPr>
          <p:spPr bwMode="auto">
            <a:xfrm>
              <a:off x="4723" y="4323"/>
              <a:ext cx="30" cy="21"/>
            </a:xfrm>
            <a:custGeom>
              <a:avLst/>
              <a:gdLst>
                <a:gd name="T0" fmla="*/ 11 w 48"/>
                <a:gd name="T1" fmla="*/ 8 h 33"/>
                <a:gd name="T2" fmla="*/ 11 w 48"/>
                <a:gd name="T3" fmla="*/ 7 h 33"/>
                <a:gd name="T4" fmla="*/ 11 w 48"/>
                <a:gd name="T5" fmla="*/ 3 h 33"/>
                <a:gd name="T6" fmla="*/ 11 w 48"/>
                <a:gd name="T7" fmla="*/ 2 h 33"/>
                <a:gd name="T8" fmla="*/ 11 w 48"/>
                <a:gd name="T9" fmla="*/ 1 h 33"/>
                <a:gd name="T10" fmla="*/ 10 w 48"/>
                <a:gd name="T11" fmla="*/ 0 h 33"/>
                <a:gd name="T12" fmla="*/ 9 w 48"/>
                <a:gd name="T13" fmla="*/ 0 h 33"/>
                <a:gd name="T14" fmla="*/ 7 w 48"/>
                <a:gd name="T15" fmla="*/ 0 h 33"/>
                <a:gd name="T16" fmla="*/ 6 w 48"/>
                <a:gd name="T17" fmla="*/ 0 h 33"/>
                <a:gd name="T18" fmla="*/ 4 w 48"/>
                <a:gd name="T19" fmla="*/ 0 h 33"/>
                <a:gd name="T20" fmla="*/ 3 w 48"/>
                <a:gd name="T21" fmla="*/ 0 h 33"/>
                <a:gd name="T22" fmla="*/ 2 w 48"/>
                <a:gd name="T23" fmla="*/ 0 h 33"/>
                <a:gd name="T24" fmla="*/ 0 w 48"/>
                <a:gd name="T25" fmla="*/ 0 h 3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8"/>
                <a:gd name="T40" fmla="*/ 0 h 33"/>
                <a:gd name="T41" fmla="*/ 48 w 48"/>
                <a:gd name="T42" fmla="*/ 33 h 3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8" h="33">
                  <a:moveTo>
                    <a:pt x="45" y="32"/>
                  </a:moveTo>
                  <a:lnTo>
                    <a:pt x="47" y="27"/>
                  </a:lnTo>
                  <a:lnTo>
                    <a:pt x="47" y="13"/>
                  </a:lnTo>
                  <a:lnTo>
                    <a:pt x="47" y="8"/>
                  </a:lnTo>
                  <a:lnTo>
                    <a:pt x="47" y="3"/>
                  </a:lnTo>
                  <a:lnTo>
                    <a:pt x="41" y="0"/>
                  </a:lnTo>
                  <a:lnTo>
                    <a:pt x="36" y="0"/>
                  </a:lnTo>
                  <a:lnTo>
                    <a:pt x="29" y="0"/>
                  </a:lnTo>
                  <a:lnTo>
                    <a:pt x="24" y="0"/>
                  </a:lnTo>
                  <a:lnTo>
                    <a:pt x="18" y="0"/>
                  </a:lnTo>
                  <a:lnTo>
                    <a:pt x="11" y="0"/>
                  </a:lnTo>
                  <a:lnTo>
                    <a:pt x="6" y="0"/>
                  </a:lnTo>
                  <a:lnTo>
                    <a:pt x="0" y="0"/>
                  </a:lnTo>
                </a:path>
              </a:pathLst>
            </a:custGeom>
            <a:noFill/>
            <a:ln w="12700" cap="rnd" cmpd="sng">
              <a:solidFill>
                <a:srgbClr val="919191"/>
              </a:solidFill>
              <a:prstDash val="solid"/>
              <a:round/>
              <a:headEnd type="none" w="med" len="med"/>
              <a:tailEnd type="none" w="med" len="med"/>
            </a:ln>
          </p:spPr>
          <p:txBody>
            <a:bodyPr/>
            <a:lstStyle/>
            <a:p>
              <a:endParaRPr lang="en-US"/>
            </a:p>
          </p:txBody>
        </p:sp>
        <p:sp>
          <p:nvSpPr>
            <p:cNvPr id="20563" name="Freeform 41"/>
            <p:cNvSpPr>
              <a:spLocks noChangeAspect="1"/>
            </p:cNvSpPr>
            <p:nvPr/>
          </p:nvSpPr>
          <p:spPr bwMode="auto">
            <a:xfrm>
              <a:off x="4774" y="4261"/>
              <a:ext cx="41" cy="1"/>
            </a:xfrm>
            <a:custGeom>
              <a:avLst/>
              <a:gdLst>
                <a:gd name="T0" fmla="*/ 16 w 66"/>
                <a:gd name="T1" fmla="*/ 0 h 1"/>
                <a:gd name="T2" fmla="*/ 14 w 66"/>
                <a:gd name="T3" fmla="*/ 0 h 1"/>
                <a:gd name="T4" fmla="*/ 13 w 66"/>
                <a:gd name="T5" fmla="*/ 0 h 1"/>
                <a:gd name="T6" fmla="*/ 11 w 66"/>
                <a:gd name="T7" fmla="*/ 0 h 1"/>
                <a:gd name="T8" fmla="*/ 10 w 66"/>
                <a:gd name="T9" fmla="*/ 0 h 1"/>
                <a:gd name="T10" fmla="*/ 9 w 66"/>
                <a:gd name="T11" fmla="*/ 0 h 1"/>
                <a:gd name="T12" fmla="*/ 7 w 66"/>
                <a:gd name="T13" fmla="*/ 0 h 1"/>
                <a:gd name="T14" fmla="*/ 6 w 66"/>
                <a:gd name="T15" fmla="*/ 0 h 1"/>
                <a:gd name="T16" fmla="*/ 4 w 66"/>
                <a:gd name="T17" fmla="*/ 0 h 1"/>
                <a:gd name="T18" fmla="*/ 2 w 66"/>
                <a:gd name="T19" fmla="*/ 0 h 1"/>
                <a:gd name="T20" fmla="*/ 1 w 66"/>
                <a:gd name="T21" fmla="*/ 0 h 1"/>
                <a:gd name="T22" fmla="*/ 0 w 66"/>
                <a:gd name="T23" fmla="*/ 0 h 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6"/>
                <a:gd name="T37" fmla="*/ 0 h 1"/>
                <a:gd name="T38" fmla="*/ 66 w 66"/>
                <a:gd name="T39" fmla="*/ 1 h 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6" h="1">
                  <a:moveTo>
                    <a:pt x="65" y="0"/>
                  </a:moveTo>
                  <a:lnTo>
                    <a:pt x="59" y="0"/>
                  </a:lnTo>
                  <a:lnTo>
                    <a:pt x="54" y="0"/>
                  </a:lnTo>
                  <a:lnTo>
                    <a:pt x="47" y="0"/>
                  </a:lnTo>
                  <a:lnTo>
                    <a:pt x="41" y="0"/>
                  </a:lnTo>
                  <a:lnTo>
                    <a:pt x="36" y="0"/>
                  </a:lnTo>
                  <a:lnTo>
                    <a:pt x="29" y="0"/>
                  </a:lnTo>
                  <a:lnTo>
                    <a:pt x="24" y="0"/>
                  </a:lnTo>
                  <a:lnTo>
                    <a:pt x="18" y="0"/>
                  </a:lnTo>
                  <a:lnTo>
                    <a:pt x="11" y="0"/>
                  </a:lnTo>
                  <a:lnTo>
                    <a:pt x="6" y="0"/>
                  </a:lnTo>
                  <a:lnTo>
                    <a:pt x="0" y="0"/>
                  </a:lnTo>
                </a:path>
              </a:pathLst>
            </a:custGeom>
            <a:noFill/>
            <a:ln w="12700" cap="rnd" cmpd="sng">
              <a:solidFill>
                <a:srgbClr val="919191"/>
              </a:solidFill>
              <a:prstDash val="solid"/>
              <a:round/>
              <a:headEnd type="none" w="med" len="med"/>
              <a:tailEnd type="none" w="med" len="med"/>
            </a:ln>
          </p:spPr>
          <p:txBody>
            <a:bodyPr/>
            <a:lstStyle/>
            <a:p>
              <a:endParaRPr lang="en-US"/>
            </a:p>
          </p:txBody>
        </p:sp>
        <p:sp>
          <p:nvSpPr>
            <p:cNvPr id="20564" name="Freeform 42"/>
            <p:cNvSpPr>
              <a:spLocks noChangeAspect="1"/>
            </p:cNvSpPr>
            <p:nvPr/>
          </p:nvSpPr>
          <p:spPr bwMode="auto">
            <a:xfrm>
              <a:off x="4865" y="4205"/>
              <a:ext cx="15" cy="26"/>
            </a:xfrm>
            <a:custGeom>
              <a:avLst/>
              <a:gdLst>
                <a:gd name="T0" fmla="*/ 2 w 25"/>
                <a:gd name="T1" fmla="*/ 10 h 41"/>
                <a:gd name="T2" fmla="*/ 3 w 25"/>
                <a:gd name="T3" fmla="*/ 9 h 41"/>
                <a:gd name="T4" fmla="*/ 3 w 25"/>
                <a:gd name="T5" fmla="*/ 7 h 41"/>
                <a:gd name="T6" fmla="*/ 3 w 25"/>
                <a:gd name="T7" fmla="*/ 6 h 41"/>
                <a:gd name="T8" fmla="*/ 4 w 25"/>
                <a:gd name="T9" fmla="*/ 4 h 41"/>
                <a:gd name="T10" fmla="*/ 4 w 25"/>
                <a:gd name="T11" fmla="*/ 3 h 41"/>
                <a:gd name="T12" fmla="*/ 5 w 25"/>
                <a:gd name="T13" fmla="*/ 2 h 41"/>
                <a:gd name="T14" fmla="*/ 5 w 25"/>
                <a:gd name="T15" fmla="*/ 1 h 41"/>
                <a:gd name="T16" fmla="*/ 4 w 25"/>
                <a:gd name="T17" fmla="*/ 1 h 41"/>
                <a:gd name="T18" fmla="*/ 2 w 25"/>
                <a:gd name="T19" fmla="*/ 1 h 41"/>
                <a:gd name="T20" fmla="*/ 1 w 25"/>
                <a:gd name="T21" fmla="*/ 0 h 41"/>
                <a:gd name="T22" fmla="*/ 0 w 25"/>
                <a:gd name="T23" fmla="*/ 0 h 4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5"/>
                <a:gd name="T37" fmla="*/ 0 h 41"/>
                <a:gd name="T38" fmla="*/ 25 w 25"/>
                <a:gd name="T39" fmla="*/ 41 h 4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5" h="41">
                  <a:moveTo>
                    <a:pt x="12" y="40"/>
                  </a:moveTo>
                  <a:lnTo>
                    <a:pt x="15" y="34"/>
                  </a:lnTo>
                  <a:lnTo>
                    <a:pt x="15" y="29"/>
                  </a:lnTo>
                  <a:lnTo>
                    <a:pt x="15" y="24"/>
                  </a:lnTo>
                  <a:lnTo>
                    <a:pt x="17" y="18"/>
                  </a:lnTo>
                  <a:lnTo>
                    <a:pt x="17" y="13"/>
                  </a:lnTo>
                  <a:lnTo>
                    <a:pt x="21" y="8"/>
                  </a:lnTo>
                  <a:lnTo>
                    <a:pt x="24" y="2"/>
                  </a:lnTo>
                  <a:lnTo>
                    <a:pt x="17" y="2"/>
                  </a:lnTo>
                  <a:lnTo>
                    <a:pt x="12" y="2"/>
                  </a:lnTo>
                  <a:lnTo>
                    <a:pt x="7" y="0"/>
                  </a:lnTo>
                  <a:lnTo>
                    <a:pt x="0" y="0"/>
                  </a:lnTo>
                </a:path>
              </a:pathLst>
            </a:custGeom>
            <a:noFill/>
            <a:ln w="12700" cap="rnd" cmpd="sng">
              <a:solidFill>
                <a:srgbClr val="919191"/>
              </a:solidFill>
              <a:prstDash val="solid"/>
              <a:round/>
              <a:headEnd type="none" w="med" len="med"/>
              <a:tailEnd type="none" w="med" len="med"/>
            </a:ln>
          </p:spPr>
          <p:txBody>
            <a:bodyPr/>
            <a:lstStyle/>
            <a:p>
              <a:endParaRPr lang="en-US"/>
            </a:p>
          </p:txBody>
        </p:sp>
        <p:sp>
          <p:nvSpPr>
            <p:cNvPr id="20565" name="Freeform 43"/>
            <p:cNvSpPr>
              <a:spLocks noChangeAspect="1"/>
            </p:cNvSpPr>
            <p:nvPr/>
          </p:nvSpPr>
          <p:spPr bwMode="auto">
            <a:xfrm>
              <a:off x="4914" y="4185"/>
              <a:ext cx="43" cy="42"/>
            </a:xfrm>
            <a:custGeom>
              <a:avLst/>
              <a:gdLst>
                <a:gd name="T0" fmla="*/ 0 w 69"/>
                <a:gd name="T1" fmla="*/ 16 h 67"/>
                <a:gd name="T2" fmla="*/ 2 w 69"/>
                <a:gd name="T3" fmla="*/ 13 h 67"/>
                <a:gd name="T4" fmla="*/ 4 w 69"/>
                <a:gd name="T5" fmla="*/ 12 h 67"/>
                <a:gd name="T6" fmla="*/ 4 w 69"/>
                <a:gd name="T7" fmla="*/ 12 h 67"/>
                <a:gd name="T8" fmla="*/ 7 w 69"/>
                <a:gd name="T9" fmla="*/ 11 h 67"/>
                <a:gd name="T10" fmla="*/ 7 w 69"/>
                <a:gd name="T11" fmla="*/ 10 h 67"/>
                <a:gd name="T12" fmla="*/ 9 w 69"/>
                <a:gd name="T13" fmla="*/ 10 h 67"/>
                <a:gd name="T14" fmla="*/ 11 w 69"/>
                <a:gd name="T15" fmla="*/ 10 h 67"/>
                <a:gd name="T16" fmla="*/ 11 w 69"/>
                <a:gd name="T17" fmla="*/ 8 h 67"/>
                <a:gd name="T18" fmla="*/ 13 w 69"/>
                <a:gd name="T19" fmla="*/ 8 h 67"/>
                <a:gd name="T20" fmla="*/ 14 w 69"/>
                <a:gd name="T21" fmla="*/ 8 h 67"/>
                <a:gd name="T22" fmla="*/ 16 w 69"/>
                <a:gd name="T23" fmla="*/ 7 h 67"/>
                <a:gd name="T24" fmla="*/ 16 w 69"/>
                <a:gd name="T25" fmla="*/ 6 h 67"/>
                <a:gd name="T26" fmla="*/ 16 w 69"/>
                <a:gd name="T27" fmla="*/ 4 h 67"/>
                <a:gd name="T28" fmla="*/ 16 w 69"/>
                <a:gd name="T29" fmla="*/ 3 h 67"/>
                <a:gd name="T30" fmla="*/ 16 w 69"/>
                <a:gd name="T31" fmla="*/ 2 h 67"/>
                <a:gd name="T32" fmla="*/ 16 w 69"/>
                <a:gd name="T33" fmla="*/ 1 h 67"/>
                <a:gd name="T34" fmla="*/ 14 w 69"/>
                <a:gd name="T35" fmla="*/ 1 h 67"/>
                <a:gd name="T36" fmla="*/ 13 w 69"/>
                <a:gd name="T37" fmla="*/ 1 h 67"/>
                <a:gd name="T38" fmla="*/ 11 w 69"/>
                <a:gd name="T39" fmla="*/ 0 h 67"/>
                <a:gd name="T40" fmla="*/ 10 w 69"/>
                <a:gd name="T41" fmla="*/ 0 h 67"/>
                <a:gd name="T42" fmla="*/ 9 w 69"/>
                <a:gd name="T43" fmla="*/ 0 h 6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69"/>
                <a:gd name="T67" fmla="*/ 0 h 67"/>
                <a:gd name="T68" fmla="*/ 69 w 69"/>
                <a:gd name="T69" fmla="*/ 67 h 6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69" h="67">
                  <a:moveTo>
                    <a:pt x="0" y="66"/>
                  </a:moveTo>
                  <a:lnTo>
                    <a:pt x="9" y="53"/>
                  </a:lnTo>
                  <a:lnTo>
                    <a:pt x="14" y="50"/>
                  </a:lnTo>
                  <a:lnTo>
                    <a:pt x="20" y="48"/>
                  </a:lnTo>
                  <a:lnTo>
                    <a:pt x="27" y="45"/>
                  </a:lnTo>
                  <a:lnTo>
                    <a:pt x="32" y="42"/>
                  </a:lnTo>
                  <a:lnTo>
                    <a:pt x="38" y="40"/>
                  </a:lnTo>
                  <a:lnTo>
                    <a:pt x="45" y="40"/>
                  </a:lnTo>
                  <a:lnTo>
                    <a:pt x="47" y="34"/>
                  </a:lnTo>
                  <a:lnTo>
                    <a:pt x="54" y="34"/>
                  </a:lnTo>
                  <a:lnTo>
                    <a:pt x="59" y="32"/>
                  </a:lnTo>
                  <a:lnTo>
                    <a:pt x="65" y="29"/>
                  </a:lnTo>
                  <a:lnTo>
                    <a:pt x="65" y="24"/>
                  </a:lnTo>
                  <a:lnTo>
                    <a:pt x="65" y="18"/>
                  </a:lnTo>
                  <a:lnTo>
                    <a:pt x="68" y="13"/>
                  </a:lnTo>
                  <a:lnTo>
                    <a:pt x="65" y="8"/>
                  </a:lnTo>
                  <a:lnTo>
                    <a:pt x="65" y="2"/>
                  </a:lnTo>
                  <a:lnTo>
                    <a:pt x="59" y="2"/>
                  </a:lnTo>
                  <a:lnTo>
                    <a:pt x="54" y="2"/>
                  </a:lnTo>
                  <a:lnTo>
                    <a:pt x="47" y="0"/>
                  </a:lnTo>
                  <a:lnTo>
                    <a:pt x="41" y="0"/>
                  </a:lnTo>
                  <a:lnTo>
                    <a:pt x="36" y="0"/>
                  </a:lnTo>
                </a:path>
              </a:pathLst>
            </a:custGeom>
            <a:noFill/>
            <a:ln w="12700" cap="rnd" cmpd="sng">
              <a:solidFill>
                <a:srgbClr val="919191"/>
              </a:solidFill>
              <a:prstDash val="solid"/>
              <a:round/>
              <a:headEnd type="none" w="med" len="med"/>
              <a:tailEnd type="none" w="med" len="med"/>
            </a:ln>
          </p:spPr>
          <p:txBody>
            <a:bodyPr/>
            <a:lstStyle/>
            <a:p>
              <a:endParaRPr lang="en-US"/>
            </a:p>
          </p:txBody>
        </p:sp>
        <p:sp>
          <p:nvSpPr>
            <p:cNvPr id="20566" name="Freeform 44"/>
            <p:cNvSpPr>
              <a:spLocks noChangeAspect="1"/>
            </p:cNvSpPr>
            <p:nvPr/>
          </p:nvSpPr>
          <p:spPr bwMode="auto">
            <a:xfrm>
              <a:off x="4930" y="4206"/>
              <a:ext cx="57" cy="56"/>
            </a:xfrm>
            <a:custGeom>
              <a:avLst/>
              <a:gdLst>
                <a:gd name="T0" fmla="*/ 0 w 91"/>
                <a:gd name="T1" fmla="*/ 22 h 89"/>
                <a:gd name="T2" fmla="*/ 2 w 91"/>
                <a:gd name="T3" fmla="*/ 21 h 89"/>
                <a:gd name="T4" fmla="*/ 3 w 91"/>
                <a:gd name="T5" fmla="*/ 20 h 89"/>
                <a:gd name="T6" fmla="*/ 4 w 91"/>
                <a:gd name="T7" fmla="*/ 20 h 89"/>
                <a:gd name="T8" fmla="*/ 6 w 91"/>
                <a:gd name="T9" fmla="*/ 18 h 89"/>
                <a:gd name="T10" fmla="*/ 7 w 91"/>
                <a:gd name="T11" fmla="*/ 18 h 89"/>
                <a:gd name="T12" fmla="*/ 9 w 91"/>
                <a:gd name="T13" fmla="*/ 16 h 89"/>
                <a:gd name="T14" fmla="*/ 10 w 91"/>
                <a:gd name="T15" fmla="*/ 16 h 89"/>
                <a:gd name="T16" fmla="*/ 11 w 91"/>
                <a:gd name="T17" fmla="*/ 16 h 89"/>
                <a:gd name="T18" fmla="*/ 13 w 91"/>
                <a:gd name="T19" fmla="*/ 14 h 89"/>
                <a:gd name="T20" fmla="*/ 15 w 91"/>
                <a:gd name="T21" fmla="*/ 14 h 89"/>
                <a:gd name="T22" fmla="*/ 16 w 91"/>
                <a:gd name="T23" fmla="*/ 13 h 89"/>
                <a:gd name="T24" fmla="*/ 18 w 91"/>
                <a:gd name="T25" fmla="*/ 13 h 89"/>
                <a:gd name="T26" fmla="*/ 19 w 91"/>
                <a:gd name="T27" fmla="*/ 12 h 89"/>
                <a:gd name="T28" fmla="*/ 21 w 91"/>
                <a:gd name="T29" fmla="*/ 11 h 89"/>
                <a:gd name="T30" fmla="*/ 21 w 91"/>
                <a:gd name="T31" fmla="*/ 10 h 89"/>
                <a:gd name="T32" fmla="*/ 21 w 91"/>
                <a:gd name="T33" fmla="*/ 9 h 89"/>
                <a:gd name="T34" fmla="*/ 21 w 91"/>
                <a:gd name="T35" fmla="*/ 8 h 89"/>
                <a:gd name="T36" fmla="*/ 21 w 91"/>
                <a:gd name="T37" fmla="*/ 6 h 89"/>
                <a:gd name="T38" fmla="*/ 21 w 91"/>
                <a:gd name="T39" fmla="*/ 5 h 89"/>
                <a:gd name="T40" fmla="*/ 22 w 91"/>
                <a:gd name="T41" fmla="*/ 4 h 89"/>
                <a:gd name="T42" fmla="*/ 21 w 91"/>
                <a:gd name="T43" fmla="*/ 4 h 89"/>
                <a:gd name="T44" fmla="*/ 19 w 91"/>
                <a:gd name="T45" fmla="*/ 4 h 89"/>
                <a:gd name="T46" fmla="*/ 18 w 91"/>
                <a:gd name="T47" fmla="*/ 4 h 89"/>
                <a:gd name="T48" fmla="*/ 16 w 91"/>
                <a:gd name="T49" fmla="*/ 3 h 89"/>
                <a:gd name="T50" fmla="*/ 15 w 91"/>
                <a:gd name="T51" fmla="*/ 2 h 89"/>
                <a:gd name="T52" fmla="*/ 13 w 91"/>
                <a:gd name="T53" fmla="*/ 2 h 89"/>
                <a:gd name="T54" fmla="*/ 11 w 91"/>
                <a:gd name="T55" fmla="*/ 2 h 89"/>
                <a:gd name="T56" fmla="*/ 10 w 91"/>
                <a:gd name="T57" fmla="*/ 1 h 89"/>
                <a:gd name="T58" fmla="*/ 9 w 91"/>
                <a:gd name="T59" fmla="*/ 1 h 89"/>
                <a:gd name="T60" fmla="*/ 7 w 91"/>
                <a:gd name="T61" fmla="*/ 0 h 89"/>
                <a:gd name="T62" fmla="*/ 7 w 91"/>
                <a:gd name="T63" fmla="*/ 0 h 89"/>
                <a:gd name="T64" fmla="*/ 8 w 91"/>
                <a:gd name="T65" fmla="*/ 0 h 8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1"/>
                <a:gd name="T100" fmla="*/ 0 h 89"/>
                <a:gd name="T101" fmla="*/ 91 w 91"/>
                <a:gd name="T102" fmla="*/ 89 h 8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1" h="89">
                  <a:moveTo>
                    <a:pt x="0" y="88"/>
                  </a:moveTo>
                  <a:lnTo>
                    <a:pt x="6" y="83"/>
                  </a:lnTo>
                  <a:lnTo>
                    <a:pt x="11" y="78"/>
                  </a:lnTo>
                  <a:lnTo>
                    <a:pt x="18" y="78"/>
                  </a:lnTo>
                  <a:lnTo>
                    <a:pt x="24" y="72"/>
                  </a:lnTo>
                  <a:lnTo>
                    <a:pt x="29" y="72"/>
                  </a:lnTo>
                  <a:lnTo>
                    <a:pt x="36" y="67"/>
                  </a:lnTo>
                  <a:lnTo>
                    <a:pt x="42" y="67"/>
                  </a:lnTo>
                  <a:lnTo>
                    <a:pt x="47" y="62"/>
                  </a:lnTo>
                  <a:lnTo>
                    <a:pt x="54" y="59"/>
                  </a:lnTo>
                  <a:lnTo>
                    <a:pt x="60" y="56"/>
                  </a:lnTo>
                  <a:lnTo>
                    <a:pt x="65" y="54"/>
                  </a:lnTo>
                  <a:lnTo>
                    <a:pt x="72" y="51"/>
                  </a:lnTo>
                  <a:lnTo>
                    <a:pt x="78" y="48"/>
                  </a:lnTo>
                  <a:lnTo>
                    <a:pt x="83" y="46"/>
                  </a:lnTo>
                  <a:lnTo>
                    <a:pt x="83" y="40"/>
                  </a:lnTo>
                  <a:lnTo>
                    <a:pt x="87" y="35"/>
                  </a:lnTo>
                  <a:lnTo>
                    <a:pt x="87" y="30"/>
                  </a:lnTo>
                  <a:lnTo>
                    <a:pt x="87" y="24"/>
                  </a:lnTo>
                  <a:lnTo>
                    <a:pt x="87" y="19"/>
                  </a:lnTo>
                  <a:lnTo>
                    <a:pt x="90" y="14"/>
                  </a:lnTo>
                  <a:lnTo>
                    <a:pt x="83" y="14"/>
                  </a:lnTo>
                  <a:lnTo>
                    <a:pt x="78" y="14"/>
                  </a:lnTo>
                  <a:lnTo>
                    <a:pt x="72" y="14"/>
                  </a:lnTo>
                  <a:lnTo>
                    <a:pt x="65" y="11"/>
                  </a:lnTo>
                  <a:lnTo>
                    <a:pt x="60" y="8"/>
                  </a:lnTo>
                  <a:lnTo>
                    <a:pt x="54" y="8"/>
                  </a:lnTo>
                  <a:lnTo>
                    <a:pt x="47" y="6"/>
                  </a:lnTo>
                  <a:lnTo>
                    <a:pt x="42" y="3"/>
                  </a:lnTo>
                  <a:lnTo>
                    <a:pt x="36" y="3"/>
                  </a:lnTo>
                  <a:lnTo>
                    <a:pt x="29" y="0"/>
                  </a:lnTo>
                  <a:lnTo>
                    <a:pt x="33" y="0"/>
                  </a:lnTo>
                </a:path>
              </a:pathLst>
            </a:custGeom>
            <a:noFill/>
            <a:ln w="12700" cap="rnd" cmpd="sng">
              <a:solidFill>
                <a:srgbClr val="919191"/>
              </a:solidFill>
              <a:prstDash val="solid"/>
              <a:round/>
              <a:headEnd type="none" w="med" len="med"/>
              <a:tailEnd type="none" w="med" len="med"/>
            </a:ln>
          </p:spPr>
          <p:txBody>
            <a:bodyPr/>
            <a:lstStyle/>
            <a:p>
              <a:endParaRPr lang="en-US"/>
            </a:p>
          </p:txBody>
        </p:sp>
        <p:sp>
          <p:nvSpPr>
            <p:cNvPr id="20567" name="Freeform 45"/>
            <p:cNvSpPr>
              <a:spLocks noChangeAspect="1"/>
            </p:cNvSpPr>
            <p:nvPr/>
          </p:nvSpPr>
          <p:spPr bwMode="auto">
            <a:xfrm>
              <a:off x="4949" y="4236"/>
              <a:ext cx="70" cy="66"/>
            </a:xfrm>
            <a:custGeom>
              <a:avLst/>
              <a:gdLst>
                <a:gd name="T0" fmla="*/ 0 w 112"/>
                <a:gd name="T1" fmla="*/ 26 h 105"/>
                <a:gd name="T2" fmla="*/ 3 w 112"/>
                <a:gd name="T3" fmla="*/ 24 h 105"/>
                <a:gd name="T4" fmla="*/ 3 w 112"/>
                <a:gd name="T5" fmla="*/ 23 h 105"/>
                <a:gd name="T6" fmla="*/ 4 w 112"/>
                <a:gd name="T7" fmla="*/ 21 h 105"/>
                <a:gd name="T8" fmla="*/ 5 w 112"/>
                <a:gd name="T9" fmla="*/ 21 h 105"/>
                <a:gd name="T10" fmla="*/ 6 w 112"/>
                <a:gd name="T11" fmla="*/ 19 h 105"/>
                <a:gd name="T12" fmla="*/ 8 w 112"/>
                <a:gd name="T13" fmla="*/ 19 h 105"/>
                <a:gd name="T14" fmla="*/ 11 w 112"/>
                <a:gd name="T15" fmla="*/ 18 h 105"/>
                <a:gd name="T16" fmla="*/ 13 w 112"/>
                <a:gd name="T17" fmla="*/ 16 h 105"/>
                <a:gd name="T18" fmla="*/ 16 w 112"/>
                <a:gd name="T19" fmla="*/ 13 h 105"/>
                <a:gd name="T20" fmla="*/ 20 w 112"/>
                <a:gd name="T21" fmla="*/ 13 h 105"/>
                <a:gd name="T22" fmla="*/ 23 w 112"/>
                <a:gd name="T23" fmla="*/ 10 h 105"/>
                <a:gd name="T24" fmla="*/ 24 w 112"/>
                <a:gd name="T25" fmla="*/ 9 h 105"/>
                <a:gd name="T26" fmla="*/ 25 w 112"/>
                <a:gd name="T27" fmla="*/ 8 h 105"/>
                <a:gd name="T28" fmla="*/ 27 w 112"/>
                <a:gd name="T29" fmla="*/ 8 h 105"/>
                <a:gd name="T30" fmla="*/ 27 w 112"/>
                <a:gd name="T31" fmla="*/ 7 h 105"/>
                <a:gd name="T32" fmla="*/ 27 w 112"/>
                <a:gd name="T33" fmla="*/ 6 h 105"/>
                <a:gd name="T34" fmla="*/ 27 w 112"/>
                <a:gd name="T35" fmla="*/ 4 h 105"/>
                <a:gd name="T36" fmla="*/ 27 w 112"/>
                <a:gd name="T37" fmla="*/ 3 h 105"/>
                <a:gd name="T38" fmla="*/ 27 w 112"/>
                <a:gd name="T39" fmla="*/ 2 h 105"/>
                <a:gd name="T40" fmla="*/ 27 w 112"/>
                <a:gd name="T41" fmla="*/ 0 h 105"/>
                <a:gd name="T42" fmla="*/ 25 w 112"/>
                <a:gd name="T43" fmla="*/ 1 h 105"/>
                <a:gd name="T44" fmla="*/ 23 w 112"/>
                <a:gd name="T45" fmla="*/ 1 h 105"/>
                <a:gd name="T46" fmla="*/ 22 w 112"/>
                <a:gd name="T47" fmla="*/ 1 h 105"/>
                <a:gd name="T48" fmla="*/ 21 w 112"/>
                <a:gd name="T49" fmla="*/ 1 h 105"/>
                <a:gd name="T50" fmla="*/ 19 w 112"/>
                <a:gd name="T51" fmla="*/ 1 h 105"/>
                <a:gd name="T52" fmla="*/ 18 w 112"/>
                <a:gd name="T53" fmla="*/ 1 h 105"/>
                <a:gd name="T54" fmla="*/ 16 w 112"/>
                <a:gd name="T55" fmla="*/ 0 h 105"/>
                <a:gd name="T56" fmla="*/ 15 w 112"/>
                <a:gd name="T57" fmla="*/ 0 h 105"/>
                <a:gd name="T58" fmla="*/ 13 w 112"/>
                <a:gd name="T59" fmla="*/ 0 h 10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12"/>
                <a:gd name="T91" fmla="*/ 0 h 105"/>
                <a:gd name="T92" fmla="*/ 112 w 112"/>
                <a:gd name="T93" fmla="*/ 105 h 10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12" h="105">
                  <a:moveTo>
                    <a:pt x="0" y="104"/>
                  </a:moveTo>
                  <a:lnTo>
                    <a:pt x="9" y="96"/>
                  </a:lnTo>
                  <a:lnTo>
                    <a:pt x="12" y="91"/>
                  </a:lnTo>
                  <a:lnTo>
                    <a:pt x="16" y="86"/>
                  </a:lnTo>
                  <a:lnTo>
                    <a:pt x="21" y="83"/>
                  </a:lnTo>
                  <a:lnTo>
                    <a:pt x="25" y="78"/>
                  </a:lnTo>
                  <a:lnTo>
                    <a:pt x="30" y="75"/>
                  </a:lnTo>
                  <a:lnTo>
                    <a:pt x="43" y="70"/>
                  </a:lnTo>
                  <a:lnTo>
                    <a:pt x="54" y="64"/>
                  </a:lnTo>
                  <a:lnTo>
                    <a:pt x="66" y="54"/>
                  </a:lnTo>
                  <a:lnTo>
                    <a:pt x="81" y="51"/>
                  </a:lnTo>
                  <a:lnTo>
                    <a:pt x="93" y="40"/>
                  </a:lnTo>
                  <a:lnTo>
                    <a:pt x="99" y="38"/>
                  </a:lnTo>
                  <a:lnTo>
                    <a:pt x="102" y="32"/>
                  </a:lnTo>
                  <a:lnTo>
                    <a:pt x="108" y="32"/>
                  </a:lnTo>
                  <a:lnTo>
                    <a:pt x="108" y="27"/>
                  </a:lnTo>
                  <a:lnTo>
                    <a:pt x="111" y="22"/>
                  </a:lnTo>
                  <a:lnTo>
                    <a:pt x="111" y="16"/>
                  </a:lnTo>
                  <a:lnTo>
                    <a:pt x="111" y="11"/>
                  </a:lnTo>
                  <a:lnTo>
                    <a:pt x="111" y="6"/>
                  </a:lnTo>
                  <a:lnTo>
                    <a:pt x="108" y="0"/>
                  </a:lnTo>
                  <a:lnTo>
                    <a:pt x="102" y="3"/>
                  </a:lnTo>
                  <a:lnTo>
                    <a:pt x="96" y="3"/>
                  </a:lnTo>
                  <a:lnTo>
                    <a:pt x="90" y="3"/>
                  </a:lnTo>
                  <a:lnTo>
                    <a:pt x="84" y="3"/>
                  </a:lnTo>
                  <a:lnTo>
                    <a:pt x="78" y="3"/>
                  </a:lnTo>
                  <a:lnTo>
                    <a:pt x="72" y="3"/>
                  </a:lnTo>
                  <a:lnTo>
                    <a:pt x="66" y="0"/>
                  </a:lnTo>
                  <a:lnTo>
                    <a:pt x="61" y="0"/>
                  </a:lnTo>
                  <a:lnTo>
                    <a:pt x="54" y="0"/>
                  </a:lnTo>
                </a:path>
              </a:pathLst>
            </a:custGeom>
            <a:noFill/>
            <a:ln w="12700" cap="rnd" cmpd="sng">
              <a:solidFill>
                <a:srgbClr val="919191"/>
              </a:solidFill>
              <a:prstDash val="solid"/>
              <a:round/>
              <a:headEnd type="none" w="med" len="med"/>
              <a:tailEnd type="none" w="med" len="med"/>
            </a:ln>
          </p:spPr>
          <p:txBody>
            <a:bodyPr/>
            <a:lstStyle/>
            <a:p>
              <a:endParaRPr lang="en-US"/>
            </a:p>
          </p:txBody>
        </p:sp>
        <p:sp>
          <p:nvSpPr>
            <p:cNvPr id="20568" name="Freeform 46"/>
            <p:cNvSpPr>
              <a:spLocks noChangeAspect="1"/>
            </p:cNvSpPr>
            <p:nvPr/>
          </p:nvSpPr>
          <p:spPr bwMode="auto">
            <a:xfrm>
              <a:off x="4988" y="4190"/>
              <a:ext cx="76" cy="46"/>
            </a:xfrm>
            <a:custGeom>
              <a:avLst/>
              <a:gdLst>
                <a:gd name="T0" fmla="*/ 12 w 122"/>
                <a:gd name="T1" fmla="*/ 18 h 73"/>
                <a:gd name="T2" fmla="*/ 13 w 122"/>
                <a:gd name="T3" fmla="*/ 17 h 73"/>
                <a:gd name="T4" fmla="*/ 15 w 122"/>
                <a:gd name="T5" fmla="*/ 16 h 73"/>
                <a:gd name="T6" fmla="*/ 16 w 122"/>
                <a:gd name="T7" fmla="*/ 15 h 73"/>
                <a:gd name="T8" fmla="*/ 17 w 122"/>
                <a:gd name="T9" fmla="*/ 14 h 73"/>
                <a:gd name="T10" fmla="*/ 18 w 122"/>
                <a:gd name="T11" fmla="*/ 13 h 73"/>
                <a:gd name="T12" fmla="*/ 19 w 122"/>
                <a:gd name="T13" fmla="*/ 12 h 73"/>
                <a:gd name="T14" fmla="*/ 21 w 122"/>
                <a:gd name="T15" fmla="*/ 12 h 73"/>
                <a:gd name="T16" fmla="*/ 22 w 122"/>
                <a:gd name="T17" fmla="*/ 10 h 73"/>
                <a:gd name="T18" fmla="*/ 23 w 122"/>
                <a:gd name="T19" fmla="*/ 10 h 73"/>
                <a:gd name="T20" fmla="*/ 25 w 122"/>
                <a:gd name="T21" fmla="*/ 10 h 73"/>
                <a:gd name="T22" fmla="*/ 28 w 122"/>
                <a:gd name="T23" fmla="*/ 9 h 73"/>
                <a:gd name="T24" fmla="*/ 28 w 122"/>
                <a:gd name="T25" fmla="*/ 6 h 73"/>
                <a:gd name="T26" fmla="*/ 29 w 122"/>
                <a:gd name="T27" fmla="*/ 6 h 73"/>
                <a:gd name="T28" fmla="*/ 29 w 122"/>
                <a:gd name="T29" fmla="*/ 4 h 73"/>
                <a:gd name="T30" fmla="*/ 28 w 122"/>
                <a:gd name="T31" fmla="*/ 3 h 73"/>
                <a:gd name="T32" fmla="*/ 28 w 122"/>
                <a:gd name="T33" fmla="*/ 2 h 73"/>
                <a:gd name="T34" fmla="*/ 28 w 122"/>
                <a:gd name="T35" fmla="*/ 1 h 73"/>
                <a:gd name="T36" fmla="*/ 26 w 122"/>
                <a:gd name="T37" fmla="*/ 0 h 73"/>
                <a:gd name="T38" fmla="*/ 25 w 122"/>
                <a:gd name="T39" fmla="*/ 1 h 73"/>
                <a:gd name="T40" fmla="*/ 23 w 122"/>
                <a:gd name="T41" fmla="*/ 1 h 73"/>
                <a:gd name="T42" fmla="*/ 22 w 122"/>
                <a:gd name="T43" fmla="*/ 1 h 73"/>
                <a:gd name="T44" fmla="*/ 21 w 122"/>
                <a:gd name="T45" fmla="*/ 1 h 73"/>
                <a:gd name="T46" fmla="*/ 19 w 122"/>
                <a:gd name="T47" fmla="*/ 2 h 73"/>
                <a:gd name="T48" fmla="*/ 17 w 122"/>
                <a:gd name="T49" fmla="*/ 3 h 73"/>
                <a:gd name="T50" fmla="*/ 16 w 122"/>
                <a:gd name="T51" fmla="*/ 3 h 73"/>
                <a:gd name="T52" fmla="*/ 15 w 122"/>
                <a:gd name="T53" fmla="*/ 4 h 73"/>
                <a:gd name="T54" fmla="*/ 13 w 122"/>
                <a:gd name="T55" fmla="*/ 4 h 73"/>
                <a:gd name="T56" fmla="*/ 12 w 122"/>
                <a:gd name="T57" fmla="*/ 5 h 73"/>
                <a:gd name="T58" fmla="*/ 11 w 122"/>
                <a:gd name="T59" fmla="*/ 6 h 73"/>
                <a:gd name="T60" fmla="*/ 9 w 122"/>
                <a:gd name="T61" fmla="*/ 6 h 73"/>
                <a:gd name="T62" fmla="*/ 7 w 122"/>
                <a:gd name="T63" fmla="*/ 7 h 73"/>
                <a:gd name="T64" fmla="*/ 6 w 122"/>
                <a:gd name="T65" fmla="*/ 7 h 73"/>
                <a:gd name="T66" fmla="*/ 4 w 122"/>
                <a:gd name="T67" fmla="*/ 8 h 73"/>
                <a:gd name="T68" fmla="*/ 2 w 122"/>
                <a:gd name="T69" fmla="*/ 8 h 73"/>
                <a:gd name="T70" fmla="*/ 1 w 122"/>
                <a:gd name="T71" fmla="*/ 8 h 73"/>
                <a:gd name="T72" fmla="*/ 0 w 122"/>
                <a:gd name="T73" fmla="*/ 9 h 73"/>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22"/>
                <a:gd name="T112" fmla="*/ 0 h 73"/>
                <a:gd name="T113" fmla="*/ 122 w 122"/>
                <a:gd name="T114" fmla="*/ 73 h 73"/>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22" h="73">
                  <a:moveTo>
                    <a:pt x="49" y="72"/>
                  </a:moveTo>
                  <a:lnTo>
                    <a:pt x="54" y="69"/>
                  </a:lnTo>
                  <a:lnTo>
                    <a:pt x="61" y="66"/>
                  </a:lnTo>
                  <a:lnTo>
                    <a:pt x="67" y="61"/>
                  </a:lnTo>
                  <a:lnTo>
                    <a:pt x="70" y="56"/>
                  </a:lnTo>
                  <a:lnTo>
                    <a:pt x="76" y="53"/>
                  </a:lnTo>
                  <a:lnTo>
                    <a:pt x="79" y="48"/>
                  </a:lnTo>
                  <a:lnTo>
                    <a:pt x="85" y="48"/>
                  </a:lnTo>
                  <a:lnTo>
                    <a:pt x="90" y="42"/>
                  </a:lnTo>
                  <a:lnTo>
                    <a:pt x="97" y="42"/>
                  </a:lnTo>
                  <a:lnTo>
                    <a:pt x="103" y="40"/>
                  </a:lnTo>
                  <a:lnTo>
                    <a:pt x="115" y="37"/>
                  </a:lnTo>
                  <a:lnTo>
                    <a:pt x="115" y="26"/>
                  </a:lnTo>
                  <a:lnTo>
                    <a:pt x="121" y="24"/>
                  </a:lnTo>
                  <a:lnTo>
                    <a:pt x="118" y="18"/>
                  </a:lnTo>
                  <a:lnTo>
                    <a:pt x="115" y="13"/>
                  </a:lnTo>
                  <a:lnTo>
                    <a:pt x="115" y="8"/>
                  </a:lnTo>
                  <a:lnTo>
                    <a:pt x="115" y="2"/>
                  </a:lnTo>
                  <a:lnTo>
                    <a:pt x="109" y="0"/>
                  </a:lnTo>
                  <a:lnTo>
                    <a:pt x="103" y="2"/>
                  </a:lnTo>
                  <a:lnTo>
                    <a:pt x="97" y="2"/>
                  </a:lnTo>
                  <a:lnTo>
                    <a:pt x="90" y="2"/>
                  </a:lnTo>
                  <a:lnTo>
                    <a:pt x="85" y="5"/>
                  </a:lnTo>
                  <a:lnTo>
                    <a:pt x="79" y="8"/>
                  </a:lnTo>
                  <a:lnTo>
                    <a:pt x="72" y="10"/>
                  </a:lnTo>
                  <a:lnTo>
                    <a:pt x="67" y="13"/>
                  </a:lnTo>
                  <a:lnTo>
                    <a:pt x="61" y="16"/>
                  </a:lnTo>
                  <a:lnTo>
                    <a:pt x="54" y="18"/>
                  </a:lnTo>
                  <a:lnTo>
                    <a:pt x="49" y="21"/>
                  </a:lnTo>
                  <a:lnTo>
                    <a:pt x="43" y="24"/>
                  </a:lnTo>
                  <a:lnTo>
                    <a:pt x="36" y="26"/>
                  </a:lnTo>
                  <a:lnTo>
                    <a:pt x="31" y="29"/>
                  </a:lnTo>
                  <a:lnTo>
                    <a:pt x="25" y="29"/>
                  </a:lnTo>
                  <a:lnTo>
                    <a:pt x="18" y="32"/>
                  </a:lnTo>
                  <a:lnTo>
                    <a:pt x="12" y="34"/>
                  </a:lnTo>
                  <a:lnTo>
                    <a:pt x="7" y="34"/>
                  </a:lnTo>
                  <a:lnTo>
                    <a:pt x="0" y="37"/>
                  </a:lnTo>
                </a:path>
              </a:pathLst>
            </a:custGeom>
            <a:noFill/>
            <a:ln w="12700" cap="rnd" cmpd="sng">
              <a:solidFill>
                <a:srgbClr val="919191"/>
              </a:solidFill>
              <a:prstDash val="solid"/>
              <a:round/>
              <a:headEnd type="none" w="med" len="med"/>
              <a:tailEnd type="none" w="med" len="med"/>
            </a:ln>
          </p:spPr>
          <p:txBody>
            <a:bodyPr/>
            <a:lstStyle/>
            <a:p>
              <a:endParaRPr lang="en-US"/>
            </a:p>
          </p:txBody>
        </p:sp>
        <p:sp>
          <p:nvSpPr>
            <p:cNvPr id="20569" name="Freeform 47"/>
            <p:cNvSpPr>
              <a:spLocks noChangeAspect="1"/>
            </p:cNvSpPr>
            <p:nvPr/>
          </p:nvSpPr>
          <p:spPr bwMode="auto">
            <a:xfrm>
              <a:off x="4958" y="4175"/>
              <a:ext cx="30" cy="16"/>
            </a:xfrm>
            <a:custGeom>
              <a:avLst/>
              <a:gdLst>
                <a:gd name="T0" fmla="*/ 0 w 48"/>
                <a:gd name="T1" fmla="*/ 6 h 25"/>
                <a:gd name="T2" fmla="*/ 4 w 48"/>
                <a:gd name="T3" fmla="*/ 3 h 25"/>
                <a:gd name="T4" fmla="*/ 6 w 48"/>
                <a:gd name="T5" fmla="*/ 2 h 25"/>
                <a:gd name="T6" fmla="*/ 7 w 48"/>
                <a:gd name="T7" fmla="*/ 1 h 25"/>
                <a:gd name="T8" fmla="*/ 9 w 48"/>
                <a:gd name="T9" fmla="*/ 1 h 25"/>
                <a:gd name="T10" fmla="*/ 10 w 48"/>
                <a:gd name="T11" fmla="*/ 0 h 25"/>
                <a:gd name="T12" fmla="*/ 11 w 48"/>
                <a:gd name="T13" fmla="*/ 0 h 25"/>
                <a:gd name="T14" fmla="*/ 0 60000 65536"/>
                <a:gd name="T15" fmla="*/ 0 60000 65536"/>
                <a:gd name="T16" fmla="*/ 0 60000 65536"/>
                <a:gd name="T17" fmla="*/ 0 60000 65536"/>
                <a:gd name="T18" fmla="*/ 0 60000 65536"/>
                <a:gd name="T19" fmla="*/ 0 60000 65536"/>
                <a:gd name="T20" fmla="*/ 0 60000 65536"/>
                <a:gd name="T21" fmla="*/ 0 w 48"/>
                <a:gd name="T22" fmla="*/ 0 h 25"/>
                <a:gd name="T23" fmla="*/ 48 w 48"/>
                <a:gd name="T24" fmla="*/ 25 h 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25">
                  <a:moveTo>
                    <a:pt x="0" y="24"/>
                  </a:moveTo>
                  <a:lnTo>
                    <a:pt x="18" y="13"/>
                  </a:lnTo>
                  <a:lnTo>
                    <a:pt x="24" y="8"/>
                  </a:lnTo>
                  <a:lnTo>
                    <a:pt x="29" y="5"/>
                  </a:lnTo>
                  <a:lnTo>
                    <a:pt x="36" y="2"/>
                  </a:lnTo>
                  <a:lnTo>
                    <a:pt x="41" y="0"/>
                  </a:lnTo>
                  <a:lnTo>
                    <a:pt x="47" y="0"/>
                  </a:lnTo>
                </a:path>
              </a:pathLst>
            </a:custGeom>
            <a:noFill/>
            <a:ln w="12700" cap="rnd" cmpd="sng">
              <a:solidFill>
                <a:srgbClr val="919191"/>
              </a:solidFill>
              <a:prstDash val="solid"/>
              <a:round/>
              <a:headEnd type="none" w="med" len="med"/>
              <a:tailEnd type="none" w="med" len="med"/>
            </a:ln>
          </p:spPr>
          <p:txBody>
            <a:bodyPr/>
            <a:lstStyle/>
            <a:p>
              <a:endParaRPr lang="en-US"/>
            </a:p>
          </p:txBody>
        </p:sp>
        <p:sp>
          <p:nvSpPr>
            <p:cNvPr id="20570" name="Freeform 48"/>
            <p:cNvSpPr>
              <a:spLocks noChangeAspect="1"/>
            </p:cNvSpPr>
            <p:nvPr/>
          </p:nvSpPr>
          <p:spPr bwMode="auto">
            <a:xfrm>
              <a:off x="4927" y="4323"/>
              <a:ext cx="73" cy="54"/>
            </a:xfrm>
            <a:custGeom>
              <a:avLst/>
              <a:gdLst>
                <a:gd name="T0" fmla="*/ 0 w 118"/>
                <a:gd name="T1" fmla="*/ 21 h 86"/>
                <a:gd name="T2" fmla="*/ 1 w 118"/>
                <a:gd name="T3" fmla="*/ 21 h 86"/>
                <a:gd name="T4" fmla="*/ 2 w 118"/>
                <a:gd name="T5" fmla="*/ 21 h 86"/>
                <a:gd name="T6" fmla="*/ 4 w 118"/>
                <a:gd name="T7" fmla="*/ 21 h 86"/>
                <a:gd name="T8" fmla="*/ 6 w 118"/>
                <a:gd name="T9" fmla="*/ 21 h 86"/>
                <a:gd name="T10" fmla="*/ 7 w 118"/>
                <a:gd name="T11" fmla="*/ 21 h 86"/>
                <a:gd name="T12" fmla="*/ 9 w 118"/>
                <a:gd name="T13" fmla="*/ 21 h 86"/>
                <a:gd name="T14" fmla="*/ 11 w 118"/>
                <a:gd name="T15" fmla="*/ 21 h 86"/>
                <a:gd name="T16" fmla="*/ 12 w 118"/>
                <a:gd name="T17" fmla="*/ 19 h 86"/>
                <a:gd name="T18" fmla="*/ 12 w 118"/>
                <a:gd name="T19" fmla="*/ 19 h 86"/>
                <a:gd name="T20" fmla="*/ 15 w 118"/>
                <a:gd name="T21" fmla="*/ 18 h 86"/>
                <a:gd name="T22" fmla="*/ 15 w 118"/>
                <a:gd name="T23" fmla="*/ 16 h 86"/>
                <a:gd name="T24" fmla="*/ 17 w 118"/>
                <a:gd name="T25" fmla="*/ 16 h 86"/>
                <a:gd name="T26" fmla="*/ 19 w 118"/>
                <a:gd name="T27" fmla="*/ 15 h 86"/>
                <a:gd name="T28" fmla="*/ 20 w 118"/>
                <a:gd name="T29" fmla="*/ 14 h 86"/>
                <a:gd name="T30" fmla="*/ 22 w 118"/>
                <a:gd name="T31" fmla="*/ 13 h 86"/>
                <a:gd name="T32" fmla="*/ 23 w 118"/>
                <a:gd name="T33" fmla="*/ 13 h 86"/>
                <a:gd name="T34" fmla="*/ 24 w 118"/>
                <a:gd name="T35" fmla="*/ 12 h 86"/>
                <a:gd name="T36" fmla="*/ 25 w 118"/>
                <a:gd name="T37" fmla="*/ 11 h 86"/>
                <a:gd name="T38" fmla="*/ 27 w 118"/>
                <a:gd name="T39" fmla="*/ 10 h 86"/>
                <a:gd name="T40" fmla="*/ 27 w 118"/>
                <a:gd name="T41" fmla="*/ 9 h 86"/>
                <a:gd name="T42" fmla="*/ 27 w 118"/>
                <a:gd name="T43" fmla="*/ 7 h 86"/>
                <a:gd name="T44" fmla="*/ 28 w 118"/>
                <a:gd name="T45" fmla="*/ 6 h 86"/>
                <a:gd name="T46" fmla="*/ 27 w 118"/>
                <a:gd name="T47" fmla="*/ 5 h 86"/>
                <a:gd name="T48" fmla="*/ 27 w 118"/>
                <a:gd name="T49" fmla="*/ 3 h 86"/>
                <a:gd name="T50" fmla="*/ 25 w 118"/>
                <a:gd name="T51" fmla="*/ 2 h 86"/>
                <a:gd name="T52" fmla="*/ 25 w 118"/>
                <a:gd name="T53" fmla="*/ 1 h 86"/>
                <a:gd name="T54" fmla="*/ 24 w 118"/>
                <a:gd name="T55" fmla="*/ 0 h 86"/>
                <a:gd name="T56" fmla="*/ 23 w 118"/>
                <a:gd name="T57" fmla="*/ 0 h 86"/>
                <a:gd name="T58" fmla="*/ 22 w 118"/>
                <a:gd name="T59" fmla="*/ 0 h 86"/>
                <a:gd name="T60" fmla="*/ 20 w 118"/>
                <a:gd name="T61" fmla="*/ 0 h 86"/>
                <a:gd name="T62" fmla="*/ 19 w 118"/>
                <a:gd name="T63" fmla="*/ 0 h 86"/>
                <a:gd name="T64" fmla="*/ 17 w 118"/>
                <a:gd name="T65" fmla="*/ 1 h 86"/>
                <a:gd name="T66" fmla="*/ 15 w 118"/>
                <a:gd name="T67" fmla="*/ 1 h 86"/>
                <a:gd name="T68" fmla="*/ 15 w 118"/>
                <a:gd name="T69" fmla="*/ 1 h 86"/>
                <a:gd name="T70" fmla="*/ 12 w 118"/>
                <a:gd name="T71" fmla="*/ 1 h 86"/>
                <a:gd name="T72" fmla="*/ 12 w 118"/>
                <a:gd name="T73" fmla="*/ 1 h 86"/>
                <a:gd name="T74" fmla="*/ 11 w 118"/>
                <a:gd name="T75" fmla="*/ 1 h 86"/>
                <a:gd name="T76" fmla="*/ 9 w 118"/>
                <a:gd name="T77" fmla="*/ 1 h 8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18"/>
                <a:gd name="T118" fmla="*/ 0 h 86"/>
                <a:gd name="T119" fmla="*/ 118 w 118"/>
                <a:gd name="T120" fmla="*/ 86 h 8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18" h="86">
                  <a:moveTo>
                    <a:pt x="0" y="85"/>
                  </a:moveTo>
                  <a:lnTo>
                    <a:pt x="7" y="85"/>
                  </a:lnTo>
                  <a:lnTo>
                    <a:pt x="12" y="85"/>
                  </a:lnTo>
                  <a:lnTo>
                    <a:pt x="18" y="85"/>
                  </a:lnTo>
                  <a:lnTo>
                    <a:pt x="25" y="83"/>
                  </a:lnTo>
                  <a:lnTo>
                    <a:pt x="30" y="83"/>
                  </a:lnTo>
                  <a:lnTo>
                    <a:pt x="36" y="83"/>
                  </a:lnTo>
                  <a:lnTo>
                    <a:pt x="43" y="83"/>
                  </a:lnTo>
                  <a:lnTo>
                    <a:pt x="48" y="80"/>
                  </a:lnTo>
                  <a:lnTo>
                    <a:pt x="54" y="75"/>
                  </a:lnTo>
                  <a:lnTo>
                    <a:pt x="61" y="72"/>
                  </a:lnTo>
                  <a:lnTo>
                    <a:pt x="66" y="67"/>
                  </a:lnTo>
                  <a:lnTo>
                    <a:pt x="72" y="64"/>
                  </a:lnTo>
                  <a:lnTo>
                    <a:pt x="79" y="61"/>
                  </a:lnTo>
                  <a:lnTo>
                    <a:pt x="84" y="59"/>
                  </a:lnTo>
                  <a:lnTo>
                    <a:pt x="90" y="53"/>
                  </a:lnTo>
                  <a:lnTo>
                    <a:pt x="97" y="51"/>
                  </a:lnTo>
                  <a:lnTo>
                    <a:pt x="102" y="48"/>
                  </a:lnTo>
                  <a:lnTo>
                    <a:pt x="106" y="43"/>
                  </a:lnTo>
                  <a:lnTo>
                    <a:pt x="111" y="40"/>
                  </a:lnTo>
                  <a:lnTo>
                    <a:pt x="115" y="35"/>
                  </a:lnTo>
                  <a:lnTo>
                    <a:pt x="115" y="29"/>
                  </a:lnTo>
                  <a:lnTo>
                    <a:pt x="117" y="24"/>
                  </a:lnTo>
                  <a:lnTo>
                    <a:pt x="115" y="19"/>
                  </a:lnTo>
                  <a:lnTo>
                    <a:pt x="111" y="13"/>
                  </a:lnTo>
                  <a:lnTo>
                    <a:pt x="108" y="8"/>
                  </a:lnTo>
                  <a:lnTo>
                    <a:pt x="108" y="3"/>
                  </a:lnTo>
                  <a:lnTo>
                    <a:pt x="102" y="0"/>
                  </a:lnTo>
                  <a:lnTo>
                    <a:pt x="97" y="0"/>
                  </a:lnTo>
                  <a:lnTo>
                    <a:pt x="90" y="0"/>
                  </a:lnTo>
                  <a:lnTo>
                    <a:pt x="84" y="0"/>
                  </a:lnTo>
                  <a:lnTo>
                    <a:pt x="79" y="0"/>
                  </a:lnTo>
                  <a:lnTo>
                    <a:pt x="72" y="3"/>
                  </a:lnTo>
                  <a:lnTo>
                    <a:pt x="66" y="3"/>
                  </a:lnTo>
                  <a:lnTo>
                    <a:pt x="61" y="3"/>
                  </a:lnTo>
                  <a:lnTo>
                    <a:pt x="54" y="3"/>
                  </a:lnTo>
                  <a:lnTo>
                    <a:pt x="48" y="3"/>
                  </a:lnTo>
                  <a:lnTo>
                    <a:pt x="43" y="3"/>
                  </a:lnTo>
                  <a:lnTo>
                    <a:pt x="36" y="3"/>
                  </a:lnTo>
                </a:path>
              </a:pathLst>
            </a:custGeom>
            <a:noFill/>
            <a:ln w="12700" cap="rnd" cmpd="sng">
              <a:solidFill>
                <a:srgbClr val="919191"/>
              </a:solidFill>
              <a:prstDash val="solid"/>
              <a:round/>
              <a:headEnd type="none" w="med" len="med"/>
              <a:tailEnd type="none" w="med" len="med"/>
            </a:ln>
          </p:spPr>
          <p:txBody>
            <a:bodyPr/>
            <a:lstStyle/>
            <a:p>
              <a:endParaRPr lang="en-US"/>
            </a:p>
          </p:txBody>
        </p:sp>
        <p:sp>
          <p:nvSpPr>
            <p:cNvPr id="20571" name="Freeform 49"/>
            <p:cNvSpPr>
              <a:spLocks noChangeAspect="1"/>
            </p:cNvSpPr>
            <p:nvPr/>
          </p:nvSpPr>
          <p:spPr bwMode="auto">
            <a:xfrm>
              <a:off x="4990" y="4266"/>
              <a:ext cx="46" cy="53"/>
            </a:xfrm>
            <a:custGeom>
              <a:avLst/>
              <a:gdLst>
                <a:gd name="T0" fmla="*/ 0 w 73"/>
                <a:gd name="T1" fmla="*/ 21 h 84"/>
                <a:gd name="T2" fmla="*/ 5 w 73"/>
                <a:gd name="T3" fmla="*/ 18 h 84"/>
                <a:gd name="T4" fmla="*/ 7 w 73"/>
                <a:gd name="T5" fmla="*/ 18 h 84"/>
                <a:gd name="T6" fmla="*/ 8 w 73"/>
                <a:gd name="T7" fmla="*/ 16 h 84"/>
                <a:gd name="T8" fmla="*/ 8 w 73"/>
                <a:gd name="T9" fmla="*/ 15 h 84"/>
                <a:gd name="T10" fmla="*/ 10 w 73"/>
                <a:gd name="T11" fmla="*/ 14 h 84"/>
                <a:gd name="T12" fmla="*/ 11 w 73"/>
                <a:gd name="T13" fmla="*/ 13 h 84"/>
                <a:gd name="T14" fmla="*/ 11 w 73"/>
                <a:gd name="T15" fmla="*/ 12 h 84"/>
                <a:gd name="T16" fmla="*/ 13 w 73"/>
                <a:gd name="T17" fmla="*/ 12 h 84"/>
                <a:gd name="T18" fmla="*/ 14 w 73"/>
                <a:gd name="T19" fmla="*/ 11 h 84"/>
                <a:gd name="T20" fmla="*/ 15 w 73"/>
                <a:gd name="T21" fmla="*/ 10 h 84"/>
                <a:gd name="T22" fmla="*/ 16 w 73"/>
                <a:gd name="T23" fmla="*/ 9 h 84"/>
                <a:gd name="T24" fmla="*/ 17 w 73"/>
                <a:gd name="T25" fmla="*/ 8 h 84"/>
                <a:gd name="T26" fmla="*/ 18 w 73"/>
                <a:gd name="T27" fmla="*/ 7 h 84"/>
                <a:gd name="T28" fmla="*/ 17 w 73"/>
                <a:gd name="T29" fmla="*/ 6 h 84"/>
                <a:gd name="T30" fmla="*/ 17 w 73"/>
                <a:gd name="T31" fmla="*/ 4 h 84"/>
                <a:gd name="T32" fmla="*/ 18 w 73"/>
                <a:gd name="T33" fmla="*/ 3 h 84"/>
                <a:gd name="T34" fmla="*/ 18 w 73"/>
                <a:gd name="T35" fmla="*/ 2 h 84"/>
                <a:gd name="T36" fmla="*/ 16 w 73"/>
                <a:gd name="T37" fmla="*/ 1 h 84"/>
                <a:gd name="T38" fmla="*/ 15 w 73"/>
                <a:gd name="T39" fmla="*/ 1 h 84"/>
                <a:gd name="T40" fmla="*/ 13 w 73"/>
                <a:gd name="T41" fmla="*/ 0 h 84"/>
                <a:gd name="T42" fmla="*/ 12 w 73"/>
                <a:gd name="T43" fmla="*/ 0 h 84"/>
                <a:gd name="T44" fmla="*/ 10 w 73"/>
                <a:gd name="T45" fmla="*/ 0 h 84"/>
                <a:gd name="T46" fmla="*/ 9 w 73"/>
                <a:gd name="T47" fmla="*/ 0 h 84"/>
                <a:gd name="T48" fmla="*/ 8 w 73"/>
                <a:gd name="T49" fmla="*/ 0 h 84"/>
                <a:gd name="T50" fmla="*/ 6 w 73"/>
                <a:gd name="T51" fmla="*/ 0 h 8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73"/>
                <a:gd name="T79" fmla="*/ 0 h 84"/>
                <a:gd name="T80" fmla="*/ 73 w 73"/>
                <a:gd name="T81" fmla="*/ 84 h 8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73" h="84">
                  <a:moveTo>
                    <a:pt x="0" y="83"/>
                  </a:moveTo>
                  <a:lnTo>
                    <a:pt x="21" y="72"/>
                  </a:lnTo>
                  <a:lnTo>
                    <a:pt x="27" y="70"/>
                  </a:lnTo>
                  <a:lnTo>
                    <a:pt x="30" y="64"/>
                  </a:lnTo>
                  <a:lnTo>
                    <a:pt x="33" y="59"/>
                  </a:lnTo>
                  <a:lnTo>
                    <a:pt x="39" y="56"/>
                  </a:lnTo>
                  <a:lnTo>
                    <a:pt x="45" y="54"/>
                  </a:lnTo>
                  <a:lnTo>
                    <a:pt x="45" y="48"/>
                  </a:lnTo>
                  <a:lnTo>
                    <a:pt x="51" y="48"/>
                  </a:lnTo>
                  <a:lnTo>
                    <a:pt x="57" y="46"/>
                  </a:lnTo>
                  <a:lnTo>
                    <a:pt x="60" y="40"/>
                  </a:lnTo>
                  <a:lnTo>
                    <a:pt x="66" y="38"/>
                  </a:lnTo>
                  <a:lnTo>
                    <a:pt x="69" y="32"/>
                  </a:lnTo>
                  <a:lnTo>
                    <a:pt x="72" y="27"/>
                  </a:lnTo>
                  <a:lnTo>
                    <a:pt x="69" y="22"/>
                  </a:lnTo>
                  <a:lnTo>
                    <a:pt x="69" y="16"/>
                  </a:lnTo>
                  <a:lnTo>
                    <a:pt x="72" y="11"/>
                  </a:lnTo>
                  <a:lnTo>
                    <a:pt x="72" y="6"/>
                  </a:lnTo>
                  <a:lnTo>
                    <a:pt x="66" y="3"/>
                  </a:lnTo>
                  <a:lnTo>
                    <a:pt x="60" y="3"/>
                  </a:lnTo>
                  <a:lnTo>
                    <a:pt x="54" y="0"/>
                  </a:lnTo>
                  <a:lnTo>
                    <a:pt x="48" y="0"/>
                  </a:lnTo>
                  <a:lnTo>
                    <a:pt x="42" y="0"/>
                  </a:lnTo>
                  <a:lnTo>
                    <a:pt x="36" y="0"/>
                  </a:lnTo>
                  <a:lnTo>
                    <a:pt x="30" y="0"/>
                  </a:lnTo>
                  <a:lnTo>
                    <a:pt x="24" y="0"/>
                  </a:lnTo>
                </a:path>
              </a:pathLst>
            </a:custGeom>
            <a:noFill/>
            <a:ln w="12700" cap="rnd" cmpd="sng">
              <a:solidFill>
                <a:srgbClr val="919191"/>
              </a:solidFill>
              <a:prstDash val="solid"/>
              <a:round/>
              <a:headEnd type="none" w="med" len="med"/>
              <a:tailEnd type="none" w="med" len="med"/>
            </a:ln>
          </p:spPr>
          <p:txBody>
            <a:bodyPr/>
            <a:lstStyle/>
            <a:p>
              <a:endParaRPr lang="en-US"/>
            </a:p>
          </p:txBody>
        </p:sp>
        <p:sp>
          <p:nvSpPr>
            <p:cNvPr id="20572" name="Freeform 50"/>
            <p:cNvSpPr>
              <a:spLocks noChangeAspect="1"/>
            </p:cNvSpPr>
            <p:nvPr/>
          </p:nvSpPr>
          <p:spPr bwMode="auto">
            <a:xfrm>
              <a:off x="5035" y="4215"/>
              <a:ext cx="37" cy="51"/>
            </a:xfrm>
            <a:custGeom>
              <a:avLst/>
              <a:gdLst>
                <a:gd name="T0" fmla="*/ 0 w 60"/>
                <a:gd name="T1" fmla="*/ 20 h 81"/>
                <a:gd name="T2" fmla="*/ 1 w 60"/>
                <a:gd name="T3" fmla="*/ 19 h 81"/>
                <a:gd name="T4" fmla="*/ 2 w 60"/>
                <a:gd name="T5" fmla="*/ 18 h 81"/>
                <a:gd name="T6" fmla="*/ 4 w 60"/>
                <a:gd name="T7" fmla="*/ 16 h 81"/>
                <a:gd name="T8" fmla="*/ 4 w 60"/>
                <a:gd name="T9" fmla="*/ 15 h 81"/>
                <a:gd name="T10" fmla="*/ 5 w 60"/>
                <a:gd name="T11" fmla="*/ 14 h 81"/>
                <a:gd name="T12" fmla="*/ 6 w 60"/>
                <a:gd name="T13" fmla="*/ 13 h 81"/>
                <a:gd name="T14" fmla="*/ 7 w 60"/>
                <a:gd name="T15" fmla="*/ 12 h 81"/>
                <a:gd name="T16" fmla="*/ 9 w 60"/>
                <a:gd name="T17" fmla="*/ 11 h 81"/>
                <a:gd name="T18" fmla="*/ 9 w 60"/>
                <a:gd name="T19" fmla="*/ 10 h 81"/>
                <a:gd name="T20" fmla="*/ 12 w 60"/>
                <a:gd name="T21" fmla="*/ 10 h 81"/>
                <a:gd name="T22" fmla="*/ 12 w 60"/>
                <a:gd name="T23" fmla="*/ 9 h 81"/>
                <a:gd name="T24" fmla="*/ 14 w 60"/>
                <a:gd name="T25" fmla="*/ 8 h 81"/>
                <a:gd name="T26" fmla="*/ 14 w 60"/>
                <a:gd name="T27" fmla="*/ 6 h 81"/>
                <a:gd name="T28" fmla="*/ 14 w 60"/>
                <a:gd name="T29" fmla="*/ 5 h 81"/>
                <a:gd name="T30" fmla="*/ 14 w 60"/>
                <a:gd name="T31" fmla="*/ 4 h 81"/>
                <a:gd name="T32" fmla="*/ 14 w 60"/>
                <a:gd name="T33" fmla="*/ 3 h 81"/>
                <a:gd name="T34" fmla="*/ 12 w 60"/>
                <a:gd name="T35" fmla="*/ 2 h 81"/>
                <a:gd name="T36" fmla="*/ 12 w 60"/>
                <a:gd name="T37" fmla="*/ 1 h 81"/>
                <a:gd name="T38" fmla="*/ 9 w 60"/>
                <a:gd name="T39" fmla="*/ 0 h 8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60"/>
                <a:gd name="T61" fmla="*/ 0 h 81"/>
                <a:gd name="T62" fmla="*/ 60 w 60"/>
                <a:gd name="T63" fmla="*/ 81 h 8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60" h="81">
                  <a:moveTo>
                    <a:pt x="0" y="80"/>
                  </a:moveTo>
                  <a:lnTo>
                    <a:pt x="6" y="77"/>
                  </a:lnTo>
                  <a:lnTo>
                    <a:pt x="9" y="72"/>
                  </a:lnTo>
                  <a:lnTo>
                    <a:pt x="14" y="66"/>
                  </a:lnTo>
                  <a:lnTo>
                    <a:pt x="18" y="61"/>
                  </a:lnTo>
                  <a:lnTo>
                    <a:pt x="21" y="56"/>
                  </a:lnTo>
                  <a:lnTo>
                    <a:pt x="27" y="53"/>
                  </a:lnTo>
                  <a:lnTo>
                    <a:pt x="32" y="48"/>
                  </a:lnTo>
                  <a:lnTo>
                    <a:pt x="39" y="45"/>
                  </a:lnTo>
                  <a:lnTo>
                    <a:pt x="41" y="40"/>
                  </a:lnTo>
                  <a:lnTo>
                    <a:pt x="48" y="40"/>
                  </a:lnTo>
                  <a:lnTo>
                    <a:pt x="53" y="37"/>
                  </a:lnTo>
                  <a:lnTo>
                    <a:pt x="57" y="32"/>
                  </a:lnTo>
                  <a:lnTo>
                    <a:pt x="57" y="26"/>
                  </a:lnTo>
                  <a:lnTo>
                    <a:pt x="59" y="21"/>
                  </a:lnTo>
                  <a:lnTo>
                    <a:pt x="59" y="16"/>
                  </a:lnTo>
                  <a:lnTo>
                    <a:pt x="59" y="10"/>
                  </a:lnTo>
                  <a:lnTo>
                    <a:pt x="53" y="8"/>
                  </a:lnTo>
                  <a:lnTo>
                    <a:pt x="48" y="2"/>
                  </a:lnTo>
                  <a:lnTo>
                    <a:pt x="41" y="0"/>
                  </a:lnTo>
                </a:path>
              </a:pathLst>
            </a:custGeom>
            <a:noFill/>
            <a:ln w="12700" cap="rnd" cmpd="sng">
              <a:solidFill>
                <a:srgbClr val="919191"/>
              </a:solidFill>
              <a:prstDash val="solid"/>
              <a:round/>
              <a:headEnd type="none" w="med" len="med"/>
              <a:tailEnd type="none" w="med" len="med"/>
            </a:ln>
          </p:spPr>
          <p:txBody>
            <a:bodyPr/>
            <a:lstStyle/>
            <a:p>
              <a:endParaRPr lang="en-US"/>
            </a:p>
          </p:txBody>
        </p:sp>
        <p:sp>
          <p:nvSpPr>
            <p:cNvPr id="20573" name="Freeform 51"/>
            <p:cNvSpPr>
              <a:spLocks noChangeAspect="1"/>
            </p:cNvSpPr>
            <p:nvPr/>
          </p:nvSpPr>
          <p:spPr bwMode="auto">
            <a:xfrm>
              <a:off x="5072" y="4211"/>
              <a:ext cx="29" cy="10"/>
            </a:xfrm>
            <a:custGeom>
              <a:avLst/>
              <a:gdLst>
                <a:gd name="T0" fmla="*/ 0 w 46"/>
                <a:gd name="T1" fmla="*/ 4 h 15"/>
                <a:gd name="T2" fmla="*/ 4 w 46"/>
                <a:gd name="T3" fmla="*/ 2 h 15"/>
                <a:gd name="T4" fmla="*/ 7 w 46"/>
                <a:gd name="T5" fmla="*/ 2 h 15"/>
                <a:gd name="T6" fmla="*/ 8 w 46"/>
                <a:gd name="T7" fmla="*/ 2 h 15"/>
                <a:gd name="T8" fmla="*/ 10 w 46"/>
                <a:gd name="T9" fmla="*/ 1 h 15"/>
                <a:gd name="T10" fmla="*/ 11 w 46"/>
                <a:gd name="T11" fmla="*/ 0 h 15"/>
                <a:gd name="T12" fmla="*/ 0 60000 65536"/>
                <a:gd name="T13" fmla="*/ 0 60000 65536"/>
                <a:gd name="T14" fmla="*/ 0 60000 65536"/>
                <a:gd name="T15" fmla="*/ 0 60000 65536"/>
                <a:gd name="T16" fmla="*/ 0 60000 65536"/>
                <a:gd name="T17" fmla="*/ 0 60000 65536"/>
                <a:gd name="T18" fmla="*/ 0 w 46"/>
                <a:gd name="T19" fmla="*/ 0 h 15"/>
                <a:gd name="T20" fmla="*/ 46 w 46"/>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46" h="15">
                  <a:moveTo>
                    <a:pt x="0" y="14"/>
                  </a:moveTo>
                  <a:lnTo>
                    <a:pt x="16" y="8"/>
                  </a:lnTo>
                  <a:lnTo>
                    <a:pt x="27" y="8"/>
                  </a:lnTo>
                  <a:lnTo>
                    <a:pt x="34" y="6"/>
                  </a:lnTo>
                  <a:lnTo>
                    <a:pt x="39" y="3"/>
                  </a:lnTo>
                  <a:lnTo>
                    <a:pt x="45" y="0"/>
                  </a:lnTo>
                </a:path>
              </a:pathLst>
            </a:custGeom>
            <a:noFill/>
            <a:ln w="12700" cap="rnd" cmpd="sng">
              <a:solidFill>
                <a:srgbClr val="919191"/>
              </a:solidFill>
              <a:prstDash val="solid"/>
              <a:round/>
              <a:headEnd type="none" w="med" len="med"/>
              <a:tailEnd type="none" w="med" len="med"/>
            </a:ln>
          </p:spPr>
          <p:txBody>
            <a:bodyPr/>
            <a:lstStyle/>
            <a:p>
              <a:endParaRPr lang="en-US"/>
            </a:p>
          </p:txBody>
        </p:sp>
        <p:sp>
          <p:nvSpPr>
            <p:cNvPr id="20574" name="Freeform 52"/>
            <p:cNvSpPr>
              <a:spLocks noChangeAspect="1"/>
            </p:cNvSpPr>
            <p:nvPr/>
          </p:nvSpPr>
          <p:spPr bwMode="auto">
            <a:xfrm>
              <a:off x="4721" y="4476"/>
              <a:ext cx="38" cy="47"/>
            </a:xfrm>
            <a:custGeom>
              <a:avLst/>
              <a:gdLst>
                <a:gd name="T0" fmla="*/ 14 w 61"/>
                <a:gd name="T1" fmla="*/ 0 h 76"/>
                <a:gd name="T2" fmla="*/ 14 w 61"/>
                <a:gd name="T3" fmla="*/ 1 h 76"/>
                <a:gd name="T4" fmla="*/ 14 w 61"/>
                <a:gd name="T5" fmla="*/ 2 h 76"/>
                <a:gd name="T6" fmla="*/ 14 w 61"/>
                <a:gd name="T7" fmla="*/ 4 h 76"/>
                <a:gd name="T8" fmla="*/ 14 w 61"/>
                <a:gd name="T9" fmla="*/ 6 h 76"/>
                <a:gd name="T10" fmla="*/ 14 w 61"/>
                <a:gd name="T11" fmla="*/ 7 h 76"/>
                <a:gd name="T12" fmla="*/ 14 w 61"/>
                <a:gd name="T13" fmla="*/ 7 h 76"/>
                <a:gd name="T14" fmla="*/ 13 w 61"/>
                <a:gd name="T15" fmla="*/ 9 h 76"/>
                <a:gd name="T16" fmla="*/ 13 w 61"/>
                <a:gd name="T17" fmla="*/ 11 h 76"/>
                <a:gd name="T18" fmla="*/ 13 w 61"/>
                <a:gd name="T19" fmla="*/ 12 h 76"/>
                <a:gd name="T20" fmla="*/ 12 w 61"/>
                <a:gd name="T21" fmla="*/ 12 h 76"/>
                <a:gd name="T22" fmla="*/ 10 w 61"/>
                <a:gd name="T23" fmla="*/ 12 h 76"/>
                <a:gd name="T24" fmla="*/ 9 w 61"/>
                <a:gd name="T25" fmla="*/ 12 h 76"/>
                <a:gd name="T26" fmla="*/ 8 w 61"/>
                <a:gd name="T27" fmla="*/ 14 h 76"/>
                <a:gd name="T28" fmla="*/ 7 w 61"/>
                <a:gd name="T29" fmla="*/ 14 h 76"/>
                <a:gd name="T30" fmla="*/ 6 w 61"/>
                <a:gd name="T31" fmla="*/ 15 h 76"/>
                <a:gd name="T32" fmla="*/ 4 w 61"/>
                <a:gd name="T33" fmla="*/ 15 h 76"/>
                <a:gd name="T34" fmla="*/ 2 w 61"/>
                <a:gd name="T35" fmla="*/ 17 h 76"/>
                <a:gd name="T36" fmla="*/ 1 w 61"/>
                <a:gd name="T37" fmla="*/ 17 h 76"/>
                <a:gd name="T38" fmla="*/ 0 w 61"/>
                <a:gd name="T39" fmla="*/ 17 h 7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61"/>
                <a:gd name="T61" fmla="*/ 0 h 76"/>
                <a:gd name="T62" fmla="*/ 61 w 61"/>
                <a:gd name="T63" fmla="*/ 76 h 7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61" h="76">
                  <a:moveTo>
                    <a:pt x="60" y="0"/>
                  </a:moveTo>
                  <a:lnTo>
                    <a:pt x="60" y="6"/>
                  </a:lnTo>
                  <a:lnTo>
                    <a:pt x="60" y="11"/>
                  </a:lnTo>
                  <a:lnTo>
                    <a:pt x="60" y="16"/>
                  </a:lnTo>
                  <a:lnTo>
                    <a:pt x="60" y="22"/>
                  </a:lnTo>
                  <a:lnTo>
                    <a:pt x="58" y="27"/>
                  </a:lnTo>
                  <a:lnTo>
                    <a:pt x="58" y="32"/>
                  </a:lnTo>
                  <a:lnTo>
                    <a:pt x="54" y="38"/>
                  </a:lnTo>
                  <a:lnTo>
                    <a:pt x="54" y="43"/>
                  </a:lnTo>
                  <a:lnTo>
                    <a:pt x="54" y="48"/>
                  </a:lnTo>
                  <a:lnTo>
                    <a:pt x="49" y="51"/>
                  </a:lnTo>
                  <a:lnTo>
                    <a:pt x="42" y="51"/>
                  </a:lnTo>
                  <a:lnTo>
                    <a:pt x="36" y="54"/>
                  </a:lnTo>
                  <a:lnTo>
                    <a:pt x="33" y="59"/>
                  </a:lnTo>
                  <a:lnTo>
                    <a:pt x="27" y="59"/>
                  </a:lnTo>
                  <a:lnTo>
                    <a:pt x="24" y="64"/>
                  </a:lnTo>
                  <a:lnTo>
                    <a:pt x="18" y="67"/>
                  </a:lnTo>
                  <a:lnTo>
                    <a:pt x="12" y="70"/>
                  </a:lnTo>
                  <a:lnTo>
                    <a:pt x="6" y="72"/>
                  </a:lnTo>
                  <a:lnTo>
                    <a:pt x="0" y="75"/>
                  </a:lnTo>
                </a:path>
              </a:pathLst>
            </a:custGeom>
            <a:noFill/>
            <a:ln w="12700" cap="rnd" cmpd="sng">
              <a:solidFill>
                <a:srgbClr val="919191"/>
              </a:solidFill>
              <a:prstDash val="solid"/>
              <a:round/>
              <a:headEnd type="none" w="med" len="med"/>
              <a:tailEnd type="none" w="med" len="med"/>
            </a:ln>
          </p:spPr>
          <p:txBody>
            <a:bodyPr/>
            <a:lstStyle/>
            <a:p>
              <a:endParaRPr lang="en-US"/>
            </a:p>
          </p:txBody>
        </p:sp>
        <p:sp>
          <p:nvSpPr>
            <p:cNvPr id="20575" name="Freeform 53"/>
            <p:cNvSpPr>
              <a:spLocks noChangeAspect="1"/>
            </p:cNvSpPr>
            <p:nvPr/>
          </p:nvSpPr>
          <p:spPr bwMode="auto">
            <a:xfrm>
              <a:off x="4756" y="4426"/>
              <a:ext cx="95" cy="80"/>
            </a:xfrm>
            <a:custGeom>
              <a:avLst/>
              <a:gdLst>
                <a:gd name="T0" fmla="*/ 0 w 151"/>
                <a:gd name="T1" fmla="*/ 30 h 129"/>
                <a:gd name="T2" fmla="*/ 2 w 151"/>
                <a:gd name="T3" fmla="*/ 30 h 129"/>
                <a:gd name="T4" fmla="*/ 3 w 151"/>
                <a:gd name="T5" fmla="*/ 30 h 129"/>
                <a:gd name="T6" fmla="*/ 6 w 151"/>
                <a:gd name="T7" fmla="*/ 30 h 129"/>
                <a:gd name="T8" fmla="*/ 7 w 151"/>
                <a:gd name="T9" fmla="*/ 30 h 129"/>
                <a:gd name="T10" fmla="*/ 9 w 151"/>
                <a:gd name="T11" fmla="*/ 30 h 129"/>
                <a:gd name="T12" fmla="*/ 10 w 151"/>
                <a:gd name="T13" fmla="*/ 30 h 129"/>
                <a:gd name="T14" fmla="*/ 12 w 151"/>
                <a:gd name="T15" fmla="*/ 30 h 129"/>
                <a:gd name="T16" fmla="*/ 13 w 151"/>
                <a:gd name="T17" fmla="*/ 30 h 129"/>
                <a:gd name="T18" fmla="*/ 16 w 151"/>
                <a:gd name="T19" fmla="*/ 27 h 129"/>
                <a:gd name="T20" fmla="*/ 16 w 151"/>
                <a:gd name="T21" fmla="*/ 25 h 129"/>
                <a:gd name="T22" fmla="*/ 17 w 151"/>
                <a:gd name="T23" fmla="*/ 24 h 129"/>
                <a:gd name="T24" fmla="*/ 19 w 151"/>
                <a:gd name="T25" fmla="*/ 24 h 129"/>
                <a:gd name="T26" fmla="*/ 20 w 151"/>
                <a:gd name="T27" fmla="*/ 22 h 129"/>
                <a:gd name="T28" fmla="*/ 21 w 151"/>
                <a:gd name="T29" fmla="*/ 22 h 129"/>
                <a:gd name="T30" fmla="*/ 23 w 151"/>
                <a:gd name="T31" fmla="*/ 22 h 129"/>
                <a:gd name="T32" fmla="*/ 24 w 151"/>
                <a:gd name="T33" fmla="*/ 21 h 129"/>
                <a:gd name="T34" fmla="*/ 25 w 151"/>
                <a:gd name="T35" fmla="*/ 20 h 129"/>
                <a:gd name="T36" fmla="*/ 27 w 151"/>
                <a:gd name="T37" fmla="*/ 20 h 129"/>
                <a:gd name="T38" fmla="*/ 28 w 151"/>
                <a:gd name="T39" fmla="*/ 19 h 129"/>
                <a:gd name="T40" fmla="*/ 30 w 151"/>
                <a:gd name="T41" fmla="*/ 19 h 129"/>
                <a:gd name="T42" fmla="*/ 31 w 151"/>
                <a:gd name="T43" fmla="*/ 18 h 129"/>
                <a:gd name="T44" fmla="*/ 33 w 151"/>
                <a:gd name="T45" fmla="*/ 17 h 129"/>
                <a:gd name="T46" fmla="*/ 35 w 151"/>
                <a:gd name="T47" fmla="*/ 17 h 129"/>
                <a:gd name="T48" fmla="*/ 35 w 151"/>
                <a:gd name="T49" fmla="*/ 16 h 129"/>
                <a:gd name="T50" fmla="*/ 36 w 151"/>
                <a:gd name="T51" fmla="*/ 14 h 129"/>
                <a:gd name="T52" fmla="*/ 36 w 151"/>
                <a:gd name="T53" fmla="*/ 12 h 129"/>
                <a:gd name="T54" fmla="*/ 36 w 151"/>
                <a:gd name="T55" fmla="*/ 12 h 129"/>
                <a:gd name="T56" fmla="*/ 36 w 151"/>
                <a:gd name="T57" fmla="*/ 11 h 129"/>
                <a:gd name="T58" fmla="*/ 35 w 151"/>
                <a:gd name="T59" fmla="*/ 9 h 129"/>
                <a:gd name="T60" fmla="*/ 35 w 151"/>
                <a:gd name="T61" fmla="*/ 7 h 129"/>
                <a:gd name="T62" fmla="*/ 35 w 151"/>
                <a:gd name="T63" fmla="*/ 7 h 129"/>
                <a:gd name="T64" fmla="*/ 35 w 151"/>
                <a:gd name="T65" fmla="*/ 6 h 129"/>
                <a:gd name="T66" fmla="*/ 36 w 151"/>
                <a:gd name="T67" fmla="*/ 4 h 129"/>
                <a:gd name="T68" fmla="*/ 36 w 151"/>
                <a:gd name="T69" fmla="*/ 2 h 129"/>
                <a:gd name="T70" fmla="*/ 36 w 151"/>
                <a:gd name="T71" fmla="*/ 1 h 129"/>
                <a:gd name="T72" fmla="*/ 37 w 151"/>
                <a:gd name="T73" fmla="*/ 0 h 12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51"/>
                <a:gd name="T112" fmla="*/ 0 h 129"/>
                <a:gd name="T113" fmla="*/ 151 w 151"/>
                <a:gd name="T114" fmla="*/ 129 h 129"/>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51" h="129">
                  <a:moveTo>
                    <a:pt x="0" y="128"/>
                  </a:moveTo>
                  <a:lnTo>
                    <a:pt x="6" y="128"/>
                  </a:lnTo>
                  <a:lnTo>
                    <a:pt x="11" y="128"/>
                  </a:lnTo>
                  <a:lnTo>
                    <a:pt x="24" y="128"/>
                  </a:lnTo>
                  <a:lnTo>
                    <a:pt x="29" y="128"/>
                  </a:lnTo>
                  <a:lnTo>
                    <a:pt x="36" y="128"/>
                  </a:lnTo>
                  <a:lnTo>
                    <a:pt x="42" y="128"/>
                  </a:lnTo>
                  <a:lnTo>
                    <a:pt x="47" y="128"/>
                  </a:lnTo>
                  <a:lnTo>
                    <a:pt x="54" y="128"/>
                  </a:lnTo>
                  <a:lnTo>
                    <a:pt x="63" y="115"/>
                  </a:lnTo>
                  <a:lnTo>
                    <a:pt x="63" y="104"/>
                  </a:lnTo>
                  <a:lnTo>
                    <a:pt x="69" y="102"/>
                  </a:lnTo>
                  <a:lnTo>
                    <a:pt x="74" y="99"/>
                  </a:lnTo>
                  <a:lnTo>
                    <a:pt x="78" y="94"/>
                  </a:lnTo>
                  <a:lnTo>
                    <a:pt x="83" y="94"/>
                  </a:lnTo>
                  <a:lnTo>
                    <a:pt x="90" y="91"/>
                  </a:lnTo>
                  <a:lnTo>
                    <a:pt x="96" y="88"/>
                  </a:lnTo>
                  <a:lnTo>
                    <a:pt x="102" y="86"/>
                  </a:lnTo>
                  <a:lnTo>
                    <a:pt x="108" y="83"/>
                  </a:lnTo>
                  <a:lnTo>
                    <a:pt x="114" y="80"/>
                  </a:lnTo>
                  <a:lnTo>
                    <a:pt x="120" y="78"/>
                  </a:lnTo>
                  <a:lnTo>
                    <a:pt x="126" y="75"/>
                  </a:lnTo>
                  <a:lnTo>
                    <a:pt x="132" y="72"/>
                  </a:lnTo>
                  <a:lnTo>
                    <a:pt x="138" y="70"/>
                  </a:lnTo>
                  <a:lnTo>
                    <a:pt x="141" y="64"/>
                  </a:lnTo>
                  <a:lnTo>
                    <a:pt x="144" y="59"/>
                  </a:lnTo>
                  <a:lnTo>
                    <a:pt x="144" y="54"/>
                  </a:lnTo>
                  <a:lnTo>
                    <a:pt x="144" y="48"/>
                  </a:lnTo>
                  <a:lnTo>
                    <a:pt x="144" y="43"/>
                  </a:lnTo>
                  <a:lnTo>
                    <a:pt x="141" y="38"/>
                  </a:lnTo>
                  <a:lnTo>
                    <a:pt x="141" y="32"/>
                  </a:lnTo>
                  <a:lnTo>
                    <a:pt x="141" y="27"/>
                  </a:lnTo>
                  <a:lnTo>
                    <a:pt x="141" y="22"/>
                  </a:lnTo>
                  <a:lnTo>
                    <a:pt x="144" y="16"/>
                  </a:lnTo>
                  <a:lnTo>
                    <a:pt x="147" y="11"/>
                  </a:lnTo>
                  <a:lnTo>
                    <a:pt x="147" y="6"/>
                  </a:lnTo>
                  <a:lnTo>
                    <a:pt x="150" y="0"/>
                  </a:lnTo>
                </a:path>
              </a:pathLst>
            </a:custGeom>
            <a:noFill/>
            <a:ln w="12700" cap="rnd" cmpd="sng">
              <a:solidFill>
                <a:srgbClr val="919191"/>
              </a:solidFill>
              <a:prstDash val="solid"/>
              <a:round/>
              <a:headEnd type="none" w="med" len="med"/>
              <a:tailEnd type="none" w="med" len="med"/>
            </a:ln>
          </p:spPr>
          <p:txBody>
            <a:bodyPr/>
            <a:lstStyle/>
            <a:p>
              <a:endParaRPr lang="en-US"/>
            </a:p>
          </p:txBody>
        </p:sp>
        <p:sp>
          <p:nvSpPr>
            <p:cNvPr id="20576" name="Freeform 54"/>
            <p:cNvSpPr>
              <a:spLocks noChangeAspect="1"/>
            </p:cNvSpPr>
            <p:nvPr/>
          </p:nvSpPr>
          <p:spPr bwMode="auto">
            <a:xfrm>
              <a:off x="4846" y="4378"/>
              <a:ext cx="106" cy="77"/>
            </a:xfrm>
            <a:custGeom>
              <a:avLst/>
              <a:gdLst>
                <a:gd name="T0" fmla="*/ 0 w 169"/>
                <a:gd name="T1" fmla="*/ 29 h 124"/>
                <a:gd name="T2" fmla="*/ 2 w 169"/>
                <a:gd name="T3" fmla="*/ 29 h 124"/>
                <a:gd name="T4" fmla="*/ 3 w 169"/>
                <a:gd name="T5" fmla="*/ 29 h 124"/>
                <a:gd name="T6" fmla="*/ 4 w 169"/>
                <a:gd name="T7" fmla="*/ 29 h 124"/>
                <a:gd name="T8" fmla="*/ 6 w 169"/>
                <a:gd name="T9" fmla="*/ 29 h 124"/>
                <a:gd name="T10" fmla="*/ 7 w 169"/>
                <a:gd name="T11" fmla="*/ 29 h 124"/>
                <a:gd name="T12" fmla="*/ 9 w 169"/>
                <a:gd name="T13" fmla="*/ 29 h 124"/>
                <a:gd name="T14" fmla="*/ 10 w 169"/>
                <a:gd name="T15" fmla="*/ 29 h 124"/>
                <a:gd name="T16" fmla="*/ 11 w 169"/>
                <a:gd name="T17" fmla="*/ 29 h 124"/>
                <a:gd name="T18" fmla="*/ 13 w 169"/>
                <a:gd name="T19" fmla="*/ 28 h 124"/>
                <a:gd name="T20" fmla="*/ 15 w 169"/>
                <a:gd name="T21" fmla="*/ 27 h 124"/>
                <a:gd name="T22" fmla="*/ 16 w 169"/>
                <a:gd name="T23" fmla="*/ 26 h 124"/>
                <a:gd name="T24" fmla="*/ 17 w 169"/>
                <a:gd name="T25" fmla="*/ 25 h 124"/>
                <a:gd name="T26" fmla="*/ 18 w 169"/>
                <a:gd name="T27" fmla="*/ 24 h 124"/>
                <a:gd name="T28" fmla="*/ 19 w 169"/>
                <a:gd name="T29" fmla="*/ 23 h 124"/>
                <a:gd name="T30" fmla="*/ 21 w 169"/>
                <a:gd name="T31" fmla="*/ 22 h 124"/>
                <a:gd name="T32" fmla="*/ 21 w 169"/>
                <a:gd name="T33" fmla="*/ 21 h 124"/>
                <a:gd name="T34" fmla="*/ 22 w 169"/>
                <a:gd name="T35" fmla="*/ 20 h 124"/>
                <a:gd name="T36" fmla="*/ 24 w 169"/>
                <a:gd name="T37" fmla="*/ 19 h 124"/>
                <a:gd name="T38" fmla="*/ 25 w 169"/>
                <a:gd name="T39" fmla="*/ 18 h 124"/>
                <a:gd name="T40" fmla="*/ 27 w 169"/>
                <a:gd name="T41" fmla="*/ 17 h 124"/>
                <a:gd name="T42" fmla="*/ 28 w 169"/>
                <a:gd name="T43" fmla="*/ 17 h 124"/>
                <a:gd name="T44" fmla="*/ 29 w 169"/>
                <a:gd name="T45" fmla="*/ 16 h 124"/>
                <a:gd name="T46" fmla="*/ 31 w 169"/>
                <a:gd name="T47" fmla="*/ 15 h 124"/>
                <a:gd name="T48" fmla="*/ 33 w 169"/>
                <a:gd name="T49" fmla="*/ 14 h 124"/>
                <a:gd name="T50" fmla="*/ 34 w 169"/>
                <a:gd name="T51" fmla="*/ 14 h 124"/>
                <a:gd name="T52" fmla="*/ 35 w 169"/>
                <a:gd name="T53" fmla="*/ 12 h 124"/>
                <a:gd name="T54" fmla="*/ 37 w 169"/>
                <a:gd name="T55" fmla="*/ 12 h 124"/>
                <a:gd name="T56" fmla="*/ 38 w 169"/>
                <a:gd name="T57" fmla="*/ 12 h 124"/>
                <a:gd name="T58" fmla="*/ 40 w 169"/>
                <a:gd name="T59" fmla="*/ 11 h 124"/>
                <a:gd name="T60" fmla="*/ 40 w 169"/>
                <a:gd name="T61" fmla="*/ 9 h 124"/>
                <a:gd name="T62" fmla="*/ 40 w 169"/>
                <a:gd name="T63" fmla="*/ 7 h 124"/>
                <a:gd name="T64" fmla="*/ 41 w 169"/>
                <a:gd name="T65" fmla="*/ 7 h 124"/>
                <a:gd name="T66" fmla="*/ 41 w 169"/>
                <a:gd name="T67" fmla="*/ 5 h 124"/>
                <a:gd name="T68" fmla="*/ 41 w 169"/>
                <a:gd name="T69" fmla="*/ 4 h 124"/>
                <a:gd name="T70" fmla="*/ 41 w 169"/>
                <a:gd name="T71" fmla="*/ 2 h 124"/>
                <a:gd name="T72" fmla="*/ 41 w 169"/>
                <a:gd name="T73" fmla="*/ 1 h 124"/>
                <a:gd name="T74" fmla="*/ 41 w 169"/>
                <a:gd name="T75" fmla="*/ 0 h 12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69"/>
                <a:gd name="T115" fmla="*/ 0 h 124"/>
                <a:gd name="T116" fmla="*/ 169 w 169"/>
                <a:gd name="T117" fmla="*/ 124 h 12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69" h="124">
                  <a:moveTo>
                    <a:pt x="0" y="123"/>
                  </a:moveTo>
                  <a:lnTo>
                    <a:pt x="6" y="123"/>
                  </a:lnTo>
                  <a:lnTo>
                    <a:pt x="11" y="123"/>
                  </a:lnTo>
                  <a:lnTo>
                    <a:pt x="18" y="120"/>
                  </a:lnTo>
                  <a:lnTo>
                    <a:pt x="24" y="120"/>
                  </a:lnTo>
                  <a:lnTo>
                    <a:pt x="29" y="120"/>
                  </a:lnTo>
                  <a:lnTo>
                    <a:pt x="36" y="120"/>
                  </a:lnTo>
                  <a:lnTo>
                    <a:pt x="42" y="120"/>
                  </a:lnTo>
                  <a:lnTo>
                    <a:pt x="47" y="120"/>
                  </a:lnTo>
                  <a:lnTo>
                    <a:pt x="54" y="117"/>
                  </a:lnTo>
                  <a:lnTo>
                    <a:pt x="60" y="112"/>
                  </a:lnTo>
                  <a:lnTo>
                    <a:pt x="65" y="109"/>
                  </a:lnTo>
                  <a:lnTo>
                    <a:pt x="69" y="104"/>
                  </a:lnTo>
                  <a:lnTo>
                    <a:pt x="74" y="101"/>
                  </a:lnTo>
                  <a:lnTo>
                    <a:pt x="78" y="96"/>
                  </a:lnTo>
                  <a:lnTo>
                    <a:pt x="83" y="93"/>
                  </a:lnTo>
                  <a:lnTo>
                    <a:pt x="87" y="88"/>
                  </a:lnTo>
                  <a:lnTo>
                    <a:pt x="90" y="83"/>
                  </a:lnTo>
                  <a:lnTo>
                    <a:pt x="96" y="80"/>
                  </a:lnTo>
                  <a:lnTo>
                    <a:pt x="101" y="75"/>
                  </a:lnTo>
                  <a:lnTo>
                    <a:pt x="108" y="72"/>
                  </a:lnTo>
                  <a:lnTo>
                    <a:pt x="114" y="69"/>
                  </a:lnTo>
                  <a:lnTo>
                    <a:pt x="120" y="64"/>
                  </a:lnTo>
                  <a:lnTo>
                    <a:pt x="126" y="61"/>
                  </a:lnTo>
                  <a:lnTo>
                    <a:pt x="132" y="59"/>
                  </a:lnTo>
                  <a:lnTo>
                    <a:pt x="138" y="56"/>
                  </a:lnTo>
                  <a:lnTo>
                    <a:pt x="144" y="53"/>
                  </a:lnTo>
                  <a:lnTo>
                    <a:pt x="150" y="51"/>
                  </a:lnTo>
                  <a:lnTo>
                    <a:pt x="156" y="48"/>
                  </a:lnTo>
                  <a:lnTo>
                    <a:pt x="159" y="43"/>
                  </a:lnTo>
                  <a:lnTo>
                    <a:pt x="162" y="37"/>
                  </a:lnTo>
                  <a:lnTo>
                    <a:pt x="162" y="32"/>
                  </a:lnTo>
                  <a:lnTo>
                    <a:pt x="165" y="27"/>
                  </a:lnTo>
                  <a:lnTo>
                    <a:pt x="168" y="21"/>
                  </a:lnTo>
                  <a:lnTo>
                    <a:pt x="168" y="16"/>
                  </a:lnTo>
                  <a:lnTo>
                    <a:pt x="168" y="11"/>
                  </a:lnTo>
                  <a:lnTo>
                    <a:pt x="165" y="5"/>
                  </a:lnTo>
                  <a:lnTo>
                    <a:pt x="165" y="0"/>
                  </a:lnTo>
                </a:path>
              </a:pathLst>
            </a:custGeom>
            <a:noFill/>
            <a:ln w="12700" cap="rnd" cmpd="sng">
              <a:solidFill>
                <a:srgbClr val="919191"/>
              </a:solidFill>
              <a:prstDash val="solid"/>
              <a:round/>
              <a:headEnd type="none" w="med" len="med"/>
              <a:tailEnd type="none" w="med" len="med"/>
            </a:ln>
          </p:spPr>
          <p:txBody>
            <a:bodyPr/>
            <a:lstStyle/>
            <a:p>
              <a:endParaRPr lang="en-US"/>
            </a:p>
          </p:txBody>
        </p:sp>
        <p:sp>
          <p:nvSpPr>
            <p:cNvPr id="20577" name="Freeform 55"/>
            <p:cNvSpPr>
              <a:spLocks noChangeAspect="1"/>
            </p:cNvSpPr>
            <p:nvPr/>
          </p:nvSpPr>
          <p:spPr bwMode="auto">
            <a:xfrm>
              <a:off x="4762" y="4511"/>
              <a:ext cx="27" cy="52"/>
            </a:xfrm>
            <a:custGeom>
              <a:avLst/>
              <a:gdLst>
                <a:gd name="T0" fmla="*/ 10 w 43"/>
                <a:gd name="T1" fmla="*/ 0 h 84"/>
                <a:gd name="T2" fmla="*/ 9 w 43"/>
                <a:gd name="T3" fmla="*/ 7 h 84"/>
                <a:gd name="T4" fmla="*/ 9 w 43"/>
                <a:gd name="T5" fmla="*/ 7 h 84"/>
                <a:gd name="T6" fmla="*/ 9 w 43"/>
                <a:gd name="T7" fmla="*/ 9 h 84"/>
                <a:gd name="T8" fmla="*/ 9 w 43"/>
                <a:gd name="T9" fmla="*/ 11 h 84"/>
                <a:gd name="T10" fmla="*/ 10 w 43"/>
                <a:gd name="T11" fmla="*/ 12 h 84"/>
                <a:gd name="T12" fmla="*/ 10 w 43"/>
                <a:gd name="T13" fmla="*/ 12 h 84"/>
                <a:gd name="T14" fmla="*/ 9 w 43"/>
                <a:gd name="T15" fmla="*/ 14 h 84"/>
                <a:gd name="T16" fmla="*/ 8 w 43"/>
                <a:gd name="T17" fmla="*/ 15 h 84"/>
                <a:gd name="T18" fmla="*/ 6 w 43"/>
                <a:gd name="T19" fmla="*/ 15 h 84"/>
                <a:gd name="T20" fmla="*/ 4 w 43"/>
                <a:gd name="T21" fmla="*/ 15 h 84"/>
                <a:gd name="T22" fmla="*/ 4 w 43"/>
                <a:gd name="T23" fmla="*/ 17 h 84"/>
                <a:gd name="T24" fmla="*/ 3 w 43"/>
                <a:gd name="T25" fmla="*/ 19 h 84"/>
                <a:gd name="T26" fmla="*/ 2 w 43"/>
                <a:gd name="T27" fmla="*/ 19 h 84"/>
                <a:gd name="T28" fmla="*/ 0 w 43"/>
                <a:gd name="T29" fmla="*/ 20 h 8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3"/>
                <a:gd name="T46" fmla="*/ 0 h 84"/>
                <a:gd name="T47" fmla="*/ 43 w 43"/>
                <a:gd name="T48" fmla="*/ 84 h 8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3" h="84">
                  <a:moveTo>
                    <a:pt x="42" y="0"/>
                  </a:moveTo>
                  <a:lnTo>
                    <a:pt x="39" y="27"/>
                  </a:lnTo>
                  <a:lnTo>
                    <a:pt x="39" y="32"/>
                  </a:lnTo>
                  <a:lnTo>
                    <a:pt x="39" y="38"/>
                  </a:lnTo>
                  <a:lnTo>
                    <a:pt x="39" y="43"/>
                  </a:lnTo>
                  <a:lnTo>
                    <a:pt x="42" y="48"/>
                  </a:lnTo>
                  <a:lnTo>
                    <a:pt x="42" y="54"/>
                  </a:lnTo>
                  <a:lnTo>
                    <a:pt x="36" y="56"/>
                  </a:lnTo>
                  <a:lnTo>
                    <a:pt x="30" y="62"/>
                  </a:lnTo>
                  <a:lnTo>
                    <a:pt x="24" y="64"/>
                  </a:lnTo>
                  <a:lnTo>
                    <a:pt x="18" y="67"/>
                  </a:lnTo>
                  <a:lnTo>
                    <a:pt x="15" y="72"/>
                  </a:lnTo>
                  <a:lnTo>
                    <a:pt x="11" y="78"/>
                  </a:lnTo>
                  <a:lnTo>
                    <a:pt x="6" y="80"/>
                  </a:lnTo>
                  <a:lnTo>
                    <a:pt x="0" y="83"/>
                  </a:lnTo>
                </a:path>
              </a:pathLst>
            </a:custGeom>
            <a:noFill/>
            <a:ln w="12700" cap="rnd" cmpd="sng">
              <a:solidFill>
                <a:srgbClr val="919191"/>
              </a:solidFill>
              <a:prstDash val="solid"/>
              <a:round/>
              <a:headEnd type="none" w="med" len="med"/>
              <a:tailEnd type="none" w="med" len="med"/>
            </a:ln>
          </p:spPr>
          <p:txBody>
            <a:bodyPr/>
            <a:lstStyle/>
            <a:p>
              <a:endParaRPr lang="en-US"/>
            </a:p>
          </p:txBody>
        </p:sp>
        <p:sp>
          <p:nvSpPr>
            <p:cNvPr id="20578" name="Freeform 56"/>
            <p:cNvSpPr>
              <a:spLocks noChangeAspect="1"/>
            </p:cNvSpPr>
            <p:nvPr/>
          </p:nvSpPr>
          <p:spPr bwMode="auto">
            <a:xfrm>
              <a:off x="4790" y="4458"/>
              <a:ext cx="94" cy="57"/>
            </a:xfrm>
            <a:custGeom>
              <a:avLst/>
              <a:gdLst>
                <a:gd name="T0" fmla="*/ 0 w 151"/>
                <a:gd name="T1" fmla="*/ 20 h 92"/>
                <a:gd name="T2" fmla="*/ 8 w 151"/>
                <a:gd name="T3" fmla="*/ 21 h 92"/>
                <a:gd name="T4" fmla="*/ 9 w 151"/>
                <a:gd name="T5" fmla="*/ 21 h 92"/>
                <a:gd name="T6" fmla="*/ 11 w 151"/>
                <a:gd name="T7" fmla="*/ 21 h 92"/>
                <a:gd name="T8" fmla="*/ 12 w 151"/>
                <a:gd name="T9" fmla="*/ 21 h 92"/>
                <a:gd name="T10" fmla="*/ 14 w 151"/>
                <a:gd name="T11" fmla="*/ 21 h 92"/>
                <a:gd name="T12" fmla="*/ 15 w 151"/>
                <a:gd name="T13" fmla="*/ 21 h 92"/>
                <a:gd name="T14" fmla="*/ 17 w 151"/>
                <a:gd name="T15" fmla="*/ 22 h 92"/>
                <a:gd name="T16" fmla="*/ 18 w 151"/>
                <a:gd name="T17" fmla="*/ 22 h 92"/>
                <a:gd name="T18" fmla="*/ 19 w 151"/>
                <a:gd name="T19" fmla="*/ 21 h 92"/>
                <a:gd name="T20" fmla="*/ 20 w 151"/>
                <a:gd name="T21" fmla="*/ 20 h 92"/>
                <a:gd name="T22" fmla="*/ 22 w 151"/>
                <a:gd name="T23" fmla="*/ 19 h 92"/>
                <a:gd name="T24" fmla="*/ 23 w 151"/>
                <a:gd name="T25" fmla="*/ 19 h 92"/>
                <a:gd name="T26" fmla="*/ 24 w 151"/>
                <a:gd name="T27" fmla="*/ 17 h 92"/>
                <a:gd name="T28" fmla="*/ 25 w 151"/>
                <a:gd name="T29" fmla="*/ 16 h 92"/>
                <a:gd name="T30" fmla="*/ 27 w 151"/>
                <a:gd name="T31" fmla="*/ 15 h 92"/>
                <a:gd name="T32" fmla="*/ 27 w 151"/>
                <a:gd name="T33" fmla="*/ 14 h 92"/>
                <a:gd name="T34" fmla="*/ 29 w 151"/>
                <a:gd name="T35" fmla="*/ 14 h 92"/>
                <a:gd name="T36" fmla="*/ 31 w 151"/>
                <a:gd name="T37" fmla="*/ 12 h 92"/>
                <a:gd name="T38" fmla="*/ 32 w 151"/>
                <a:gd name="T39" fmla="*/ 12 h 92"/>
                <a:gd name="T40" fmla="*/ 34 w 151"/>
                <a:gd name="T41" fmla="*/ 12 h 92"/>
                <a:gd name="T42" fmla="*/ 35 w 151"/>
                <a:gd name="T43" fmla="*/ 12 h 92"/>
                <a:gd name="T44" fmla="*/ 35 w 151"/>
                <a:gd name="T45" fmla="*/ 11 h 92"/>
                <a:gd name="T46" fmla="*/ 35 w 151"/>
                <a:gd name="T47" fmla="*/ 9 h 92"/>
                <a:gd name="T48" fmla="*/ 36 w 151"/>
                <a:gd name="T49" fmla="*/ 7 h 92"/>
                <a:gd name="T50" fmla="*/ 36 w 151"/>
                <a:gd name="T51" fmla="*/ 7 h 92"/>
                <a:gd name="T52" fmla="*/ 35 w 151"/>
                <a:gd name="T53" fmla="*/ 5 h 92"/>
                <a:gd name="T54" fmla="*/ 35 w 151"/>
                <a:gd name="T55" fmla="*/ 4 h 92"/>
                <a:gd name="T56" fmla="*/ 35 w 151"/>
                <a:gd name="T57" fmla="*/ 2 h 92"/>
                <a:gd name="T58" fmla="*/ 35 w 151"/>
                <a:gd name="T59" fmla="*/ 1 h 92"/>
                <a:gd name="T60" fmla="*/ 35 w 151"/>
                <a:gd name="T61" fmla="*/ 0 h 9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51"/>
                <a:gd name="T94" fmla="*/ 0 h 92"/>
                <a:gd name="T95" fmla="*/ 151 w 151"/>
                <a:gd name="T96" fmla="*/ 92 h 9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51" h="92">
                  <a:moveTo>
                    <a:pt x="0" y="83"/>
                  </a:moveTo>
                  <a:lnTo>
                    <a:pt x="33" y="88"/>
                  </a:lnTo>
                  <a:lnTo>
                    <a:pt x="38" y="88"/>
                  </a:lnTo>
                  <a:lnTo>
                    <a:pt x="45" y="88"/>
                  </a:lnTo>
                  <a:lnTo>
                    <a:pt x="51" y="88"/>
                  </a:lnTo>
                  <a:lnTo>
                    <a:pt x="56" y="88"/>
                  </a:lnTo>
                  <a:lnTo>
                    <a:pt x="63" y="88"/>
                  </a:lnTo>
                  <a:lnTo>
                    <a:pt x="69" y="91"/>
                  </a:lnTo>
                  <a:lnTo>
                    <a:pt x="74" y="91"/>
                  </a:lnTo>
                  <a:lnTo>
                    <a:pt x="81" y="88"/>
                  </a:lnTo>
                  <a:lnTo>
                    <a:pt x="83" y="83"/>
                  </a:lnTo>
                  <a:lnTo>
                    <a:pt x="90" y="80"/>
                  </a:lnTo>
                  <a:lnTo>
                    <a:pt x="96" y="77"/>
                  </a:lnTo>
                  <a:lnTo>
                    <a:pt x="102" y="72"/>
                  </a:lnTo>
                  <a:lnTo>
                    <a:pt x="105" y="67"/>
                  </a:lnTo>
                  <a:lnTo>
                    <a:pt x="111" y="64"/>
                  </a:lnTo>
                  <a:lnTo>
                    <a:pt x="114" y="59"/>
                  </a:lnTo>
                  <a:lnTo>
                    <a:pt x="120" y="56"/>
                  </a:lnTo>
                  <a:lnTo>
                    <a:pt x="126" y="53"/>
                  </a:lnTo>
                  <a:lnTo>
                    <a:pt x="132" y="53"/>
                  </a:lnTo>
                  <a:lnTo>
                    <a:pt x="138" y="51"/>
                  </a:lnTo>
                  <a:lnTo>
                    <a:pt x="144" y="48"/>
                  </a:lnTo>
                  <a:lnTo>
                    <a:pt x="147" y="43"/>
                  </a:lnTo>
                  <a:lnTo>
                    <a:pt x="147" y="37"/>
                  </a:lnTo>
                  <a:lnTo>
                    <a:pt x="150" y="32"/>
                  </a:lnTo>
                  <a:lnTo>
                    <a:pt x="150" y="27"/>
                  </a:lnTo>
                  <a:lnTo>
                    <a:pt x="147" y="21"/>
                  </a:lnTo>
                  <a:lnTo>
                    <a:pt x="147" y="16"/>
                  </a:lnTo>
                  <a:lnTo>
                    <a:pt x="147" y="11"/>
                  </a:lnTo>
                  <a:lnTo>
                    <a:pt x="147" y="5"/>
                  </a:lnTo>
                  <a:lnTo>
                    <a:pt x="144" y="0"/>
                  </a:lnTo>
                </a:path>
              </a:pathLst>
            </a:custGeom>
            <a:noFill/>
            <a:ln w="12700" cap="rnd" cmpd="sng">
              <a:solidFill>
                <a:srgbClr val="919191"/>
              </a:solidFill>
              <a:prstDash val="solid"/>
              <a:round/>
              <a:headEnd type="none" w="med" len="med"/>
              <a:tailEnd type="none" w="med" len="med"/>
            </a:ln>
          </p:spPr>
          <p:txBody>
            <a:bodyPr/>
            <a:lstStyle/>
            <a:p>
              <a:endParaRPr lang="en-US"/>
            </a:p>
          </p:txBody>
        </p:sp>
        <p:sp>
          <p:nvSpPr>
            <p:cNvPr id="20579" name="Freeform 57"/>
            <p:cNvSpPr>
              <a:spLocks noChangeAspect="1"/>
            </p:cNvSpPr>
            <p:nvPr/>
          </p:nvSpPr>
          <p:spPr bwMode="auto">
            <a:xfrm>
              <a:off x="4812" y="4516"/>
              <a:ext cx="48" cy="63"/>
            </a:xfrm>
            <a:custGeom>
              <a:avLst/>
              <a:gdLst>
                <a:gd name="T0" fmla="*/ 8 w 76"/>
                <a:gd name="T1" fmla="*/ 0 h 102"/>
                <a:gd name="T2" fmla="*/ 13 w 76"/>
                <a:gd name="T3" fmla="*/ 0 h 102"/>
                <a:gd name="T4" fmla="*/ 15 w 76"/>
                <a:gd name="T5" fmla="*/ 1 h 102"/>
                <a:gd name="T6" fmla="*/ 16 w 76"/>
                <a:gd name="T7" fmla="*/ 1 h 102"/>
                <a:gd name="T8" fmla="*/ 18 w 76"/>
                <a:gd name="T9" fmla="*/ 1 h 102"/>
                <a:gd name="T10" fmla="*/ 19 w 76"/>
                <a:gd name="T11" fmla="*/ 1 h 102"/>
                <a:gd name="T12" fmla="*/ 18 w 76"/>
                <a:gd name="T13" fmla="*/ 2 h 102"/>
                <a:gd name="T14" fmla="*/ 16 w 76"/>
                <a:gd name="T15" fmla="*/ 4 h 102"/>
                <a:gd name="T16" fmla="*/ 15 w 76"/>
                <a:gd name="T17" fmla="*/ 4 h 102"/>
                <a:gd name="T18" fmla="*/ 14 w 76"/>
                <a:gd name="T19" fmla="*/ 6 h 102"/>
                <a:gd name="T20" fmla="*/ 12 w 76"/>
                <a:gd name="T21" fmla="*/ 7 h 102"/>
                <a:gd name="T22" fmla="*/ 11 w 76"/>
                <a:gd name="T23" fmla="*/ 7 h 102"/>
                <a:gd name="T24" fmla="*/ 10 w 76"/>
                <a:gd name="T25" fmla="*/ 9 h 102"/>
                <a:gd name="T26" fmla="*/ 8 w 76"/>
                <a:gd name="T27" fmla="*/ 11 h 102"/>
                <a:gd name="T28" fmla="*/ 9 w 76"/>
                <a:gd name="T29" fmla="*/ 12 h 102"/>
                <a:gd name="T30" fmla="*/ 9 w 76"/>
                <a:gd name="T31" fmla="*/ 12 h 102"/>
                <a:gd name="T32" fmla="*/ 10 w 76"/>
                <a:gd name="T33" fmla="*/ 14 h 102"/>
                <a:gd name="T34" fmla="*/ 8 w 76"/>
                <a:gd name="T35" fmla="*/ 14 h 102"/>
                <a:gd name="T36" fmla="*/ 8 w 76"/>
                <a:gd name="T37" fmla="*/ 15 h 102"/>
                <a:gd name="T38" fmla="*/ 6 w 76"/>
                <a:gd name="T39" fmla="*/ 17 h 102"/>
                <a:gd name="T40" fmla="*/ 4 w 76"/>
                <a:gd name="T41" fmla="*/ 17 h 102"/>
                <a:gd name="T42" fmla="*/ 4 w 76"/>
                <a:gd name="T43" fmla="*/ 19 h 102"/>
                <a:gd name="T44" fmla="*/ 3 w 76"/>
                <a:gd name="T45" fmla="*/ 20 h 102"/>
                <a:gd name="T46" fmla="*/ 2 w 76"/>
                <a:gd name="T47" fmla="*/ 22 h 102"/>
                <a:gd name="T48" fmla="*/ 1 w 76"/>
                <a:gd name="T49" fmla="*/ 22 h 102"/>
                <a:gd name="T50" fmla="*/ 0 w 76"/>
                <a:gd name="T51" fmla="*/ 23 h 10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76"/>
                <a:gd name="T79" fmla="*/ 0 h 102"/>
                <a:gd name="T80" fmla="*/ 76 w 76"/>
                <a:gd name="T81" fmla="*/ 102 h 102"/>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76" h="102">
                  <a:moveTo>
                    <a:pt x="33" y="0"/>
                  </a:moveTo>
                  <a:lnTo>
                    <a:pt x="51" y="0"/>
                  </a:lnTo>
                  <a:lnTo>
                    <a:pt x="57" y="3"/>
                  </a:lnTo>
                  <a:lnTo>
                    <a:pt x="64" y="3"/>
                  </a:lnTo>
                  <a:lnTo>
                    <a:pt x="69" y="6"/>
                  </a:lnTo>
                  <a:lnTo>
                    <a:pt x="75" y="6"/>
                  </a:lnTo>
                  <a:lnTo>
                    <a:pt x="69" y="11"/>
                  </a:lnTo>
                  <a:lnTo>
                    <a:pt x="64" y="16"/>
                  </a:lnTo>
                  <a:lnTo>
                    <a:pt x="57" y="19"/>
                  </a:lnTo>
                  <a:lnTo>
                    <a:pt x="55" y="24"/>
                  </a:lnTo>
                  <a:lnTo>
                    <a:pt x="48" y="27"/>
                  </a:lnTo>
                  <a:lnTo>
                    <a:pt x="45" y="32"/>
                  </a:lnTo>
                  <a:lnTo>
                    <a:pt x="39" y="38"/>
                  </a:lnTo>
                  <a:lnTo>
                    <a:pt x="33" y="43"/>
                  </a:lnTo>
                  <a:lnTo>
                    <a:pt x="36" y="48"/>
                  </a:lnTo>
                  <a:lnTo>
                    <a:pt x="36" y="53"/>
                  </a:lnTo>
                  <a:lnTo>
                    <a:pt x="39" y="58"/>
                  </a:lnTo>
                  <a:lnTo>
                    <a:pt x="33" y="61"/>
                  </a:lnTo>
                  <a:lnTo>
                    <a:pt x="30" y="66"/>
                  </a:lnTo>
                  <a:lnTo>
                    <a:pt x="24" y="71"/>
                  </a:lnTo>
                  <a:lnTo>
                    <a:pt x="18" y="74"/>
                  </a:lnTo>
                  <a:lnTo>
                    <a:pt x="15" y="79"/>
                  </a:lnTo>
                  <a:lnTo>
                    <a:pt x="9" y="85"/>
                  </a:lnTo>
                  <a:lnTo>
                    <a:pt x="6" y="90"/>
                  </a:lnTo>
                  <a:lnTo>
                    <a:pt x="2" y="95"/>
                  </a:lnTo>
                  <a:lnTo>
                    <a:pt x="0" y="101"/>
                  </a:lnTo>
                </a:path>
              </a:pathLst>
            </a:custGeom>
            <a:noFill/>
            <a:ln w="12700" cap="rnd" cmpd="sng">
              <a:solidFill>
                <a:srgbClr val="919191"/>
              </a:solidFill>
              <a:prstDash val="solid"/>
              <a:round/>
              <a:headEnd type="none" w="med" len="med"/>
              <a:tailEnd type="none" w="med" len="med"/>
            </a:ln>
          </p:spPr>
          <p:txBody>
            <a:bodyPr/>
            <a:lstStyle/>
            <a:p>
              <a:endParaRPr lang="en-US"/>
            </a:p>
          </p:txBody>
        </p:sp>
        <p:sp>
          <p:nvSpPr>
            <p:cNvPr id="20580" name="Freeform 58"/>
            <p:cNvSpPr>
              <a:spLocks noChangeAspect="1"/>
            </p:cNvSpPr>
            <p:nvPr/>
          </p:nvSpPr>
          <p:spPr bwMode="auto">
            <a:xfrm>
              <a:off x="4837" y="4488"/>
              <a:ext cx="90" cy="62"/>
            </a:xfrm>
            <a:custGeom>
              <a:avLst/>
              <a:gdLst>
                <a:gd name="T0" fmla="*/ 0 w 145"/>
                <a:gd name="T1" fmla="*/ 22 h 100"/>
                <a:gd name="T2" fmla="*/ 4 w 145"/>
                <a:gd name="T3" fmla="*/ 22 h 100"/>
                <a:gd name="T4" fmla="*/ 5 w 145"/>
                <a:gd name="T5" fmla="*/ 22 h 100"/>
                <a:gd name="T6" fmla="*/ 7 w 145"/>
                <a:gd name="T7" fmla="*/ 22 h 100"/>
                <a:gd name="T8" fmla="*/ 8 w 145"/>
                <a:gd name="T9" fmla="*/ 23 h 100"/>
                <a:gd name="T10" fmla="*/ 9 w 145"/>
                <a:gd name="T11" fmla="*/ 23 h 100"/>
                <a:gd name="T12" fmla="*/ 11 w 145"/>
                <a:gd name="T13" fmla="*/ 24 h 100"/>
                <a:gd name="T14" fmla="*/ 12 w 145"/>
                <a:gd name="T15" fmla="*/ 24 h 100"/>
                <a:gd name="T16" fmla="*/ 14 w 145"/>
                <a:gd name="T17" fmla="*/ 24 h 100"/>
                <a:gd name="T18" fmla="*/ 15 w 145"/>
                <a:gd name="T19" fmla="*/ 24 h 100"/>
                <a:gd name="T20" fmla="*/ 17 w 145"/>
                <a:gd name="T21" fmla="*/ 24 h 100"/>
                <a:gd name="T22" fmla="*/ 18 w 145"/>
                <a:gd name="T23" fmla="*/ 24 h 100"/>
                <a:gd name="T24" fmla="*/ 19 w 145"/>
                <a:gd name="T25" fmla="*/ 22 h 100"/>
                <a:gd name="T26" fmla="*/ 19 w 145"/>
                <a:gd name="T27" fmla="*/ 21 h 100"/>
                <a:gd name="T28" fmla="*/ 20 w 145"/>
                <a:gd name="T29" fmla="*/ 20 h 100"/>
                <a:gd name="T30" fmla="*/ 22 w 145"/>
                <a:gd name="T31" fmla="*/ 19 h 100"/>
                <a:gd name="T32" fmla="*/ 22 w 145"/>
                <a:gd name="T33" fmla="*/ 17 h 100"/>
                <a:gd name="T34" fmla="*/ 24 w 145"/>
                <a:gd name="T35" fmla="*/ 17 h 100"/>
                <a:gd name="T36" fmla="*/ 25 w 145"/>
                <a:gd name="T37" fmla="*/ 16 h 100"/>
                <a:gd name="T38" fmla="*/ 27 w 145"/>
                <a:gd name="T39" fmla="*/ 16 h 100"/>
                <a:gd name="T40" fmla="*/ 28 w 145"/>
                <a:gd name="T41" fmla="*/ 15 h 100"/>
                <a:gd name="T42" fmla="*/ 30 w 145"/>
                <a:gd name="T43" fmla="*/ 14 h 100"/>
                <a:gd name="T44" fmla="*/ 31 w 145"/>
                <a:gd name="T45" fmla="*/ 14 h 100"/>
                <a:gd name="T46" fmla="*/ 32 w 145"/>
                <a:gd name="T47" fmla="*/ 12 h 100"/>
                <a:gd name="T48" fmla="*/ 34 w 145"/>
                <a:gd name="T49" fmla="*/ 12 h 100"/>
                <a:gd name="T50" fmla="*/ 34 w 145"/>
                <a:gd name="T51" fmla="*/ 11 h 100"/>
                <a:gd name="T52" fmla="*/ 34 w 145"/>
                <a:gd name="T53" fmla="*/ 7 h 100"/>
                <a:gd name="T54" fmla="*/ 34 w 145"/>
                <a:gd name="T55" fmla="*/ 5 h 100"/>
                <a:gd name="T56" fmla="*/ 34 w 145"/>
                <a:gd name="T57" fmla="*/ 4 h 100"/>
                <a:gd name="T58" fmla="*/ 34 w 145"/>
                <a:gd name="T59" fmla="*/ 2 h 100"/>
                <a:gd name="T60" fmla="*/ 34 w 145"/>
                <a:gd name="T61" fmla="*/ 1 h 100"/>
                <a:gd name="T62" fmla="*/ 32 w 145"/>
                <a:gd name="T63" fmla="*/ 1 h 100"/>
                <a:gd name="T64" fmla="*/ 31 w 145"/>
                <a:gd name="T65" fmla="*/ 1 h 100"/>
                <a:gd name="T66" fmla="*/ 30 w 145"/>
                <a:gd name="T67" fmla="*/ 1 h 100"/>
                <a:gd name="T68" fmla="*/ 28 w 145"/>
                <a:gd name="T69" fmla="*/ 1 h 100"/>
                <a:gd name="T70" fmla="*/ 27 w 145"/>
                <a:gd name="T71" fmla="*/ 1 h 100"/>
                <a:gd name="T72" fmla="*/ 25 w 145"/>
                <a:gd name="T73" fmla="*/ 1 h 100"/>
                <a:gd name="T74" fmla="*/ 24 w 145"/>
                <a:gd name="T75" fmla="*/ 1 h 100"/>
                <a:gd name="T76" fmla="*/ 22 w 145"/>
                <a:gd name="T77" fmla="*/ 1 h 100"/>
                <a:gd name="T78" fmla="*/ 21 w 145"/>
                <a:gd name="T79" fmla="*/ 1 h 100"/>
                <a:gd name="T80" fmla="*/ 19 w 145"/>
                <a:gd name="T81" fmla="*/ 1 h 100"/>
                <a:gd name="T82" fmla="*/ 18 w 145"/>
                <a:gd name="T83" fmla="*/ 0 h 100"/>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45"/>
                <a:gd name="T127" fmla="*/ 0 h 100"/>
                <a:gd name="T128" fmla="*/ 145 w 145"/>
                <a:gd name="T129" fmla="*/ 100 h 100"/>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45" h="100">
                  <a:moveTo>
                    <a:pt x="0" y="91"/>
                  </a:moveTo>
                  <a:lnTo>
                    <a:pt x="16" y="91"/>
                  </a:lnTo>
                  <a:lnTo>
                    <a:pt x="21" y="93"/>
                  </a:lnTo>
                  <a:lnTo>
                    <a:pt x="27" y="93"/>
                  </a:lnTo>
                  <a:lnTo>
                    <a:pt x="34" y="96"/>
                  </a:lnTo>
                  <a:lnTo>
                    <a:pt x="39" y="96"/>
                  </a:lnTo>
                  <a:lnTo>
                    <a:pt x="45" y="99"/>
                  </a:lnTo>
                  <a:lnTo>
                    <a:pt x="52" y="99"/>
                  </a:lnTo>
                  <a:lnTo>
                    <a:pt x="57" y="99"/>
                  </a:lnTo>
                  <a:lnTo>
                    <a:pt x="63" y="99"/>
                  </a:lnTo>
                  <a:lnTo>
                    <a:pt x="70" y="99"/>
                  </a:lnTo>
                  <a:lnTo>
                    <a:pt x="75" y="99"/>
                  </a:lnTo>
                  <a:lnTo>
                    <a:pt x="79" y="93"/>
                  </a:lnTo>
                  <a:lnTo>
                    <a:pt x="81" y="88"/>
                  </a:lnTo>
                  <a:lnTo>
                    <a:pt x="84" y="83"/>
                  </a:lnTo>
                  <a:lnTo>
                    <a:pt x="90" y="77"/>
                  </a:lnTo>
                  <a:lnTo>
                    <a:pt x="93" y="72"/>
                  </a:lnTo>
                  <a:lnTo>
                    <a:pt x="99" y="72"/>
                  </a:lnTo>
                  <a:lnTo>
                    <a:pt x="106" y="67"/>
                  </a:lnTo>
                  <a:lnTo>
                    <a:pt x="111" y="67"/>
                  </a:lnTo>
                  <a:lnTo>
                    <a:pt x="117" y="61"/>
                  </a:lnTo>
                  <a:lnTo>
                    <a:pt x="124" y="59"/>
                  </a:lnTo>
                  <a:lnTo>
                    <a:pt x="129" y="56"/>
                  </a:lnTo>
                  <a:lnTo>
                    <a:pt x="135" y="53"/>
                  </a:lnTo>
                  <a:lnTo>
                    <a:pt x="142" y="51"/>
                  </a:lnTo>
                  <a:lnTo>
                    <a:pt x="144" y="45"/>
                  </a:lnTo>
                  <a:lnTo>
                    <a:pt x="144" y="32"/>
                  </a:lnTo>
                  <a:lnTo>
                    <a:pt x="144" y="21"/>
                  </a:lnTo>
                  <a:lnTo>
                    <a:pt x="144" y="16"/>
                  </a:lnTo>
                  <a:lnTo>
                    <a:pt x="142" y="11"/>
                  </a:lnTo>
                  <a:lnTo>
                    <a:pt x="142" y="5"/>
                  </a:lnTo>
                  <a:lnTo>
                    <a:pt x="135" y="3"/>
                  </a:lnTo>
                  <a:lnTo>
                    <a:pt x="129" y="3"/>
                  </a:lnTo>
                  <a:lnTo>
                    <a:pt x="124" y="3"/>
                  </a:lnTo>
                  <a:lnTo>
                    <a:pt x="117" y="3"/>
                  </a:lnTo>
                  <a:lnTo>
                    <a:pt x="111" y="3"/>
                  </a:lnTo>
                  <a:lnTo>
                    <a:pt x="106" y="3"/>
                  </a:lnTo>
                  <a:lnTo>
                    <a:pt x="99" y="3"/>
                  </a:lnTo>
                  <a:lnTo>
                    <a:pt x="93" y="3"/>
                  </a:lnTo>
                  <a:lnTo>
                    <a:pt x="88" y="3"/>
                  </a:lnTo>
                  <a:lnTo>
                    <a:pt x="81" y="3"/>
                  </a:lnTo>
                  <a:lnTo>
                    <a:pt x="75" y="0"/>
                  </a:lnTo>
                </a:path>
              </a:pathLst>
            </a:custGeom>
            <a:noFill/>
            <a:ln w="12700" cap="rnd" cmpd="sng">
              <a:solidFill>
                <a:srgbClr val="919191"/>
              </a:solidFill>
              <a:prstDash val="solid"/>
              <a:round/>
              <a:headEnd type="none" w="med" len="med"/>
              <a:tailEnd type="none" w="med" len="med"/>
            </a:ln>
          </p:spPr>
          <p:txBody>
            <a:bodyPr/>
            <a:lstStyle/>
            <a:p>
              <a:endParaRPr lang="en-US"/>
            </a:p>
          </p:txBody>
        </p:sp>
        <p:sp>
          <p:nvSpPr>
            <p:cNvPr id="20581" name="Freeform 59"/>
            <p:cNvSpPr>
              <a:spLocks noChangeAspect="1"/>
            </p:cNvSpPr>
            <p:nvPr/>
          </p:nvSpPr>
          <p:spPr bwMode="auto">
            <a:xfrm>
              <a:off x="4874" y="4551"/>
              <a:ext cx="8" cy="34"/>
            </a:xfrm>
            <a:custGeom>
              <a:avLst/>
              <a:gdLst>
                <a:gd name="T0" fmla="*/ 2 w 13"/>
                <a:gd name="T1" fmla="*/ 0 h 55"/>
                <a:gd name="T2" fmla="*/ 2 w 13"/>
                <a:gd name="T3" fmla="*/ 4 h 55"/>
                <a:gd name="T4" fmla="*/ 2 w 13"/>
                <a:gd name="T5" fmla="*/ 6 h 55"/>
                <a:gd name="T6" fmla="*/ 2 w 13"/>
                <a:gd name="T7" fmla="*/ 7 h 55"/>
                <a:gd name="T8" fmla="*/ 2 w 13"/>
                <a:gd name="T9" fmla="*/ 9 h 55"/>
                <a:gd name="T10" fmla="*/ 2 w 13"/>
                <a:gd name="T11" fmla="*/ 9 h 55"/>
                <a:gd name="T12" fmla="*/ 2 w 13"/>
                <a:gd name="T13" fmla="*/ 11 h 55"/>
                <a:gd name="T14" fmla="*/ 1 w 13"/>
                <a:gd name="T15" fmla="*/ 12 h 55"/>
                <a:gd name="T16" fmla="*/ 0 w 13"/>
                <a:gd name="T17" fmla="*/ 12 h 55"/>
                <a:gd name="T18" fmla="*/ 1 w 13"/>
                <a:gd name="T19" fmla="*/ 9 h 55"/>
                <a:gd name="T20" fmla="*/ 2 w 13"/>
                <a:gd name="T21" fmla="*/ 9 h 5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
                <a:gd name="T34" fmla="*/ 0 h 55"/>
                <a:gd name="T35" fmla="*/ 13 w 13"/>
                <a:gd name="T36" fmla="*/ 55 h 5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 h="55">
                  <a:moveTo>
                    <a:pt x="12" y="0"/>
                  </a:moveTo>
                  <a:lnTo>
                    <a:pt x="12" y="19"/>
                  </a:lnTo>
                  <a:lnTo>
                    <a:pt x="10" y="24"/>
                  </a:lnTo>
                  <a:lnTo>
                    <a:pt x="10" y="30"/>
                  </a:lnTo>
                  <a:lnTo>
                    <a:pt x="10" y="35"/>
                  </a:lnTo>
                  <a:lnTo>
                    <a:pt x="10" y="40"/>
                  </a:lnTo>
                  <a:lnTo>
                    <a:pt x="10" y="46"/>
                  </a:lnTo>
                  <a:lnTo>
                    <a:pt x="6" y="51"/>
                  </a:lnTo>
                  <a:lnTo>
                    <a:pt x="0" y="54"/>
                  </a:lnTo>
                  <a:lnTo>
                    <a:pt x="6" y="38"/>
                  </a:lnTo>
                  <a:lnTo>
                    <a:pt x="10" y="38"/>
                  </a:lnTo>
                </a:path>
              </a:pathLst>
            </a:custGeom>
            <a:noFill/>
            <a:ln w="12700" cap="rnd" cmpd="sng">
              <a:solidFill>
                <a:srgbClr val="919191"/>
              </a:solidFill>
              <a:prstDash val="solid"/>
              <a:round/>
              <a:headEnd type="none" w="med" len="med"/>
              <a:tailEnd type="none" w="med" len="med"/>
            </a:ln>
          </p:spPr>
          <p:txBody>
            <a:bodyPr/>
            <a:lstStyle/>
            <a:p>
              <a:endParaRPr lang="en-US"/>
            </a:p>
          </p:txBody>
        </p:sp>
        <p:sp>
          <p:nvSpPr>
            <p:cNvPr id="20582" name="Freeform 60"/>
            <p:cNvSpPr>
              <a:spLocks noChangeAspect="1"/>
            </p:cNvSpPr>
            <p:nvPr/>
          </p:nvSpPr>
          <p:spPr bwMode="auto">
            <a:xfrm>
              <a:off x="4925" y="4413"/>
              <a:ext cx="41" cy="78"/>
            </a:xfrm>
            <a:custGeom>
              <a:avLst/>
              <a:gdLst>
                <a:gd name="T0" fmla="*/ 0 w 67"/>
                <a:gd name="T1" fmla="*/ 30 h 126"/>
                <a:gd name="T2" fmla="*/ 1 w 67"/>
                <a:gd name="T3" fmla="*/ 28 h 126"/>
                <a:gd name="T4" fmla="*/ 1 w 67"/>
                <a:gd name="T5" fmla="*/ 27 h 126"/>
                <a:gd name="T6" fmla="*/ 2 w 67"/>
                <a:gd name="T7" fmla="*/ 25 h 126"/>
                <a:gd name="T8" fmla="*/ 4 w 67"/>
                <a:gd name="T9" fmla="*/ 25 h 126"/>
                <a:gd name="T10" fmla="*/ 4 w 67"/>
                <a:gd name="T11" fmla="*/ 24 h 126"/>
                <a:gd name="T12" fmla="*/ 4 w 67"/>
                <a:gd name="T13" fmla="*/ 22 h 126"/>
                <a:gd name="T14" fmla="*/ 8 w 67"/>
                <a:gd name="T15" fmla="*/ 20 h 126"/>
                <a:gd name="T16" fmla="*/ 8 w 67"/>
                <a:gd name="T17" fmla="*/ 17 h 126"/>
                <a:gd name="T18" fmla="*/ 10 w 67"/>
                <a:gd name="T19" fmla="*/ 17 h 126"/>
                <a:gd name="T20" fmla="*/ 10 w 67"/>
                <a:gd name="T21" fmla="*/ 15 h 126"/>
                <a:gd name="T22" fmla="*/ 12 w 67"/>
                <a:gd name="T23" fmla="*/ 15 h 126"/>
                <a:gd name="T24" fmla="*/ 13 w 67"/>
                <a:gd name="T25" fmla="*/ 15 h 126"/>
                <a:gd name="T26" fmla="*/ 15 w 67"/>
                <a:gd name="T27" fmla="*/ 14 h 126"/>
                <a:gd name="T28" fmla="*/ 15 w 67"/>
                <a:gd name="T29" fmla="*/ 12 h 126"/>
                <a:gd name="T30" fmla="*/ 15 w 67"/>
                <a:gd name="T31" fmla="*/ 12 h 126"/>
                <a:gd name="T32" fmla="*/ 15 w 67"/>
                <a:gd name="T33" fmla="*/ 11 h 126"/>
                <a:gd name="T34" fmla="*/ 15 w 67"/>
                <a:gd name="T35" fmla="*/ 9 h 126"/>
                <a:gd name="T36" fmla="*/ 15 w 67"/>
                <a:gd name="T37" fmla="*/ 7 h 126"/>
                <a:gd name="T38" fmla="*/ 15 w 67"/>
                <a:gd name="T39" fmla="*/ 7 h 126"/>
                <a:gd name="T40" fmla="*/ 15 w 67"/>
                <a:gd name="T41" fmla="*/ 5 h 126"/>
                <a:gd name="T42" fmla="*/ 15 w 67"/>
                <a:gd name="T43" fmla="*/ 4 h 126"/>
                <a:gd name="T44" fmla="*/ 15 w 67"/>
                <a:gd name="T45" fmla="*/ 2 h 126"/>
                <a:gd name="T46" fmla="*/ 15 w 67"/>
                <a:gd name="T47" fmla="*/ 1 h 126"/>
                <a:gd name="T48" fmla="*/ 14 w 67"/>
                <a:gd name="T49" fmla="*/ 1 h 126"/>
                <a:gd name="T50" fmla="*/ 13 w 67"/>
                <a:gd name="T51" fmla="*/ 0 h 126"/>
                <a:gd name="T52" fmla="*/ 11 w 67"/>
                <a:gd name="T53" fmla="*/ 0 h 126"/>
                <a:gd name="T54" fmla="*/ 10 w 67"/>
                <a:gd name="T55" fmla="*/ 1 h 126"/>
                <a:gd name="T56" fmla="*/ 8 w 67"/>
                <a:gd name="T57" fmla="*/ 1 h 126"/>
                <a:gd name="T58" fmla="*/ 7 w 67"/>
                <a:gd name="T59" fmla="*/ 1 h 126"/>
                <a:gd name="T60" fmla="*/ 6 w 67"/>
                <a:gd name="T61" fmla="*/ 1 h 126"/>
                <a:gd name="T62" fmla="*/ 4 w 67"/>
                <a:gd name="T63" fmla="*/ 1 h 126"/>
                <a:gd name="T64" fmla="*/ 2 w 67"/>
                <a:gd name="T65" fmla="*/ 1 h 126"/>
                <a:gd name="T66" fmla="*/ 1 w 67"/>
                <a:gd name="T67" fmla="*/ 1 h 126"/>
                <a:gd name="T68" fmla="*/ 0 w 67"/>
                <a:gd name="T69" fmla="*/ 1 h 12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67"/>
                <a:gd name="T106" fmla="*/ 0 h 126"/>
                <a:gd name="T107" fmla="*/ 67 w 67"/>
                <a:gd name="T108" fmla="*/ 126 h 12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67" h="126">
                  <a:moveTo>
                    <a:pt x="0" y="125"/>
                  </a:moveTo>
                  <a:lnTo>
                    <a:pt x="2" y="120"/>
                  </a:lnTo>
                  <a:lnTo>
                    <a:pt x="6" y="115"/>
                  </a:lnTo>
                  <a:lnTo>
                    <a:pt x="11" y="109"/>
                  </a:lnTo>
                  <a:lnTo>
                    <a:pt x="15" y="104"/>
                  </a:lnTo>
                  <a:lnTo>
                    <a:pt x="18" y="99"/>
                  </a:lnTo>
                  <a:lnTo>
                    <a:pt x="20" y="93"/>
                  </a:lnTo>
                  <a:lnTo>
                    <a:pt x="36" y="85"/>
                  </a:lnTo>
                  <a:lnTo>
                    <a:pt x="36" y="75"/>
                  </a:lnTo>
                  <a:lnTo>
                    <a:pt x="42" y="72"/>
                  </a:lnTo>
                  <a:lnTo>
                    <a:pt x="46" y="67"/>
                  </a:lnTo>
                  <a:lnTo>
                    <a:pt x="51" y="64"/>
                  </a:lnTo>
                  <a:lnTo>
                    <a:pt x="57" y="61"/>
                  </a:lnTo>
                  <a:lnTo>
                    <a:pt x="64" y="59"/>
                  </a:lnTo>
                  <a:lnTo>
                    <a:pt x="64" y="53"/>
                  </a:lnTo>
                  <a:lnTo>
                    <a:pt x="64" y="48"/>
                  </a:lnTo>
                  <a:lnTo>
                    <a:pt x="64" y="43"/>
                  </a:lnTo>
                  <a:lnTo>
                    <a:pt x="64" y="37"/>
                  </a:lnTo>
                  <a:lnTo>
                    <a:pt x="64" y="32"/>
                  </a:lnTo>
                  <a:lnTo>
                    <a:pt x="64" y="27"/>
                  </a:lnTo>
                  <a:lnTo>
                    <a:pt x="64" y="21"/>
                  </a:lnTo>
                  <a:lnTo>
                    <a:pt x="66" y="16"/>
                  </a:lnTo>
                  <a:lnTo>
                    <a:pt x="66" y="11"/>
                  </a:lnTo>
                  <a:lnTo>
                    <a:pt x="66" y="5"/>
                  </a:lnTo>
                  <a:lnTo>
                    <a:pt x="60" y="3"/>
                  </a:lnTo>
                  <a:lnTo>
                    <a:pt x="55" y="0"/>
                  </a:lnTo>
                  <a:lnTo>
                    <a:pt x="48" y="0"/>
                  </a:lnTo>
                  <a:lnTo>
                    <a:pt x="42" y="3"/>
                  </a:lnTo>
                  <a:lnTo>
                    <a:pt x="36" y="3"/>
                  </a:lnTo>
                  <a:lnTo>
                    <a:pt x="30" y="5"/>
                  </a:lnTo>
                  <a:lnTo>
                    <a:pt x="24" y="5"/>
                  </a:lnTo>
                  <a:lnTo>
                    <a:pt x="18" y="5"/>
                  </a:lnTo>
                  <a:lnTo>
                    <a:pt x="11" y="5"/>
                  </a:lnTo>
                  <a:lnTo>
                    <a:pt x="6" y="5"/>
                  </a:lnTo>
                  <a:lnTo>
                    <a:pt x="0" y="5"/>
                  </a:lnTo>
                </a:path>
              </a:pathLst>
            </a:custGeom>
            <a:noFill/>
            <a:ln w="12700" cap="rnd" cmpd="sng">
              <a:solidFill>
                <a:srgbClr val="919191"/>
              </a:solidFill>
              <a:prstDash val="solid"/>
              <a:round/>
              <a:headEnd type="none" w="med" len="med"/>
              <a:tailEnd type="none" w="med" len="med"/>
            </a:ln>
          </p:spPr>
          <p:txBody>
            <a:bodyPr/>
            <a:lstStyle/>
            <a:p>
              <a:endParaRPr lang="en-US"/>
            </a:p>
          </p:txBody>
        </p:sp>
        <p:sp>
          <p:nvSpPr>
            <p:cNvPr id="20583" name="Freeform 61"/>
            <p:cNvSpPr>
              <a:spLocks noChangeAspect="1"/>
            </p:cNvSpPr>
            <p:nvPr/>
          </p:nvSpPr>
          <p:spPr bwMode="auto">
            <a:xfrm>
              <a:off x="4966" y="4350"/>
              <a:ext cx="57" cy="65"/>
            </a:xfrm>
            <a:custGeom>
              <a:avLst/>
              <a:gdLst>
                <a:gd name="T0" fmla="*/ 0 w 91"/>
                <a:gd name="T1" fmla="*/ 25 h 105"/>
                <a:gd name="T2" fmla="*/ 1 w 91"/>
                <a:gd name="T3" fmla="*/ 24 h 105"/>
                <a:gd name="T4" fmla="*/ 3 w 91"/>
                <a:gd name="T5" fmla="*/ 22 h 105"/>
                <a:gd name="T6" fmla="*/ 4 w 91"/>
                <a:gd name="T7" fmla="*/ 22 h 105"/>
                <a:gd name="T8" fmla="*/ 5 w 91"/>
                <a:gd name="T9" fmla="*/ 20 h 105"/>
                <a:gd name="T10" fmla="*/ 7 w 91"/>
                <a:gd name="T11" fmla="*/ 20 h 105"/>
                <a:gd name="T12" fmla="*/ 8 w 91"/>
                <a:gd name="T13" fmla="*/ 19 h 105"/>
                <a:gd name="T14" fmla="*/ 9 w 91"/>
                <a:gd name="T15" fmla="*/ 17 h 105"/>
                <a:gd name="T16" fmla="*/ 11 w 91"/>
                <a:gd name="T17" fmla="*/ 17 h 105"/>
                <a:gd name="T18" fmla="*/ 13 w 91"/>
                <a:gd name="T19" fmla="*/ 17 h 105"/>
                <a:gd name="T20" fmla="*/ 14 w 91"/>
                <a:gd name="T21" fmla="*/ 15 h 105"/>
                <a:gd name="T22" fmla="*/ 15 w 91"/>
                <a:gd name="T23" fmla="*/ 15 h 105"/>
                <a:gd name="T24" fmla="*/ 16 w 91"/>
                <a:gd name="T25" fmla="*/ 14 h 105"/>
                <a:gd name="T26" fmla="*/ 18 w 91"/>
                <a:gd name="T27" fmla="*/ 12 h 105"/>
                <a:gd name="T28" fmla="*/ 18 w 91"/>
                <a:gd name="T29" fmla="*/ 12 h 105"/>
                <a:gd name="T30" fmla="*/ 20 w 91"/>
                <a:gd name="T31" fmla="*/ 11 h 105"/>
                <a:gd name="T32" fmla="*/ 21 w 91"/>
                <a:gd name="T33" fmla="*/ 9 h 105"/>
                <a:gd name="T34" fmla="*/ 21 w 91"/>
                <a:gd name="T35" fmla="*/ 8 h 105"/>
                <a:gd name="T36" fmla="*/ 22 w 91"/>
                <a:gd name="T37" fmla="*/ 7 h 105"/>
                <a:gd name="T38" fmla="*/ 22 w 91"/>
                <a:gd name="T39" fmla="*/ 6 h 105"/>
                <a:gd name="T40" fmla="*/ 22 w 91"/>
                <a:gd name="T41" fmla="*/ 4 h 105"/>
                <a:gd name="T42" fmla="*/ 22 w 91"/>
                <a:gd name="T43" fmla="*/ 3 h 105"/>
                <a:gd name="T44" fmla="*/ 22 w 91"/>
                <a:gd name="T45" fmla="*/ 2 h 105"/>
                <a:gd name="T46" fmla="*/ 21 w 91"/>
                <a:gd name="T47" fmla="*/ 1 h 105"/>
                <a:gd name="T48" fmla="*/ 19 w 91"/>
                <a:gd name="T49" fmla="*/ 1 h 105"/>
                <a:gd name="T50" fmla="*/ 18 w 91"/>
                <a:gd name="T51" fmla="*/ 0 h 105"/>
                <a:gd name="T52" fmla="*/ 16 w 91"/>
                <a:gd name="T53" fmla="*/ 0 h 105"/>
                <a:gd name="T54" fmla="*/ 13 w 91"/>
                <a:gd name="T55" fmla="*/ 0 h 105"/>
                <a:gd name="T56" fmla="*/ 12 w 91"/>
                <a:gd name="T57" fmla="*/ 0 h 105"/>
                <a:gd name="T58" fmla="*/ 11 w 91"/>
                <a:gd name="T59" fmla="*/ 0 h 105"/>
                <a:gd name="T60" fmla="*/ 9 w 91"/>
                <a:gd name="T61" fmla="*/ 0 h 105"/>
                <a:gd name="T62" fmla="*/ 11 w 91"/>
                <a:gd name="T63" fmla="*/ 1 h 10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91"/>
                <a:gd name="T97" fmla="*/ 0 h 105"/>
                <a:gd name="T98" fmla="*/ 91 w 91"/>
                <a:gd name="T99" fmla="*/ 105 h 105"/>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91" h="105">
                  <a:moveTo>
                    <a:pt x="0" y="104"/>
                  </a:moveTo>
                  <a:lnTo>
                    <a:pt x="3" y="98"/>
                  </a:lnTo>
                  <a:lnTo>
                    <a:pt x="9" y="93"/>
                  </a:lnTo>
                  <a:lnTo>
                    <a:pt x="16" y="90"/>
                  </a:lnTo>
                  <a:lnTo>
                    <a:pt x="21" y="88"/>
                  </a:lnTo>
                  <a:lnTo>
                    <a:pt x="27" y="82"/>
                  </a:lnTo>
                  <a:lnTo>
                    <a:pt x="34" y="80"/>
                  </a:lnTo>
                  <a:lnTo>
                    <a:pt x="39" y="74"/>
                  </a:lnTo>
                  <a:lnTo>
                    <a:pt x="45" y="72"/>
                  </a:lnTo>
                  <a:lnTo>
                    <a:pt x="52" y="69"/>
                  </a:lnTo>
                  <a:lnTo>
                    <a:pt x="57" y="64"/>
                  </a:lnTo>
                  <a:lnTo>
                    <a:pt x="63" y="61"/>
                  </a:lnTo>
                  <a:lnTo>
                    <a:pt x="66" y="56"/>
                  </a:lnTo>
                  <a:lnTo>
                    <a:pt x="72" y="53"/>
                  </a:lnTo>
                  <a:lnTo>
                    <a:pt x="75" y="48"/>
                  </a:lnTo>
                  <a:lnTo>
                    <a:pt x="81" y="45"/>
                  </a:lnTo>
                  <a:lnTo>
                    <a:pt x="84" y="40"/>
                  </a:lnTo>
                  <a:lnTo>
                    <a:pt x="88" y="34"/>
                  </a:lnTo>
                  <a:lnTo>
                    <a:pt x="90" y="29"/>
                  </a:lnTo>
                  <a:lnTo>
                    <a:pt x="90" y="24"/>
                  </a:lnTo>
                  <a:lnTo>
                    <a:pt x="90" y="18"/>
                  </a:lnTo>
                  <a:lnTo>
                    <a:pt x="90" y="13"/>
                  </a:lnTo>
                  <a:lnTo>
                    <a:pt x="90" y="8"/>
                  </a:lnTo>
                  <a:lnTo>
                    <a:pt x="84" y="5"/>
                  </a:lnTo>
                  <a:lnTo>
                    <a:pt x="79" y="2"/>
                  </a:lnTo>
                  <a:lnTo>
                    <a:pt x="72" y="0"/>
                  </a:lnTo>
                  <a:lnTo>
                    <a:pt x="66" y="0"/>
                  </a:lnTo>
                  <a:lnTo>
                    <a:pt x="54" y="0"/>
                  </a:lnTo>
                  <a:lnTo>
                    <a:pt x="48" y="0"/>
                  </a:lnTo>
                  <a:lnTo>
                    <a:pt x="43" y="0"/>
                  </a:lnTo>
                  <a:lnTo>
                    <a:pt x="36" y="0"/>
                  </a:lnTo>
                  <a:lnTo>
                    <a:pt x="43" y="2"/>
                  </a:lnTo>
                </a:path>
              </a:pathLst>
            </a:custGeom>
            <a:noFill/>
            <a:ln w="12700" cap="rnd" cmpd="sng">
              <a:solidFill>
                <a:srgbClr val="919191"/>
              </a:solidFill>
              <a:prstDash val="solid"/>
              <a:round/>
              <a:headEnd type="none" w="med" len="med"/>
              <a:tailEnd type="none" w="med" len="med"/>
            </a:ln>
          </p:spPr>
          <p:txBody>
            <a:bodyPr/>
            <a:lstStyle/>
            <a:p>
              <a:endParaRPr lang="en-US"/>
            </a:p>
          </p:txBody>
        </p:sp>
        <p:sp>
          <p:nvSpPr>
            <p:cNvPr id="20584" name="Freeform 62"/>
            <p:cNvSpPr>
              <a:spLocks noChangeAspect="1"/>
            </p:cNvSpPr>
            <p:nvPr/>
          </p:nvSpPr>
          <p:spPr bwMode="auto">
            <a:xfrm>
              <a:off x="5022" y="4293"/>
              <a:ext cx="42" cy="57"/>
            </a:xfrm>
            <a:custGeom>
              <a:avLst/>
              <a:gdLst>
                <a:gd name="T0" fmla="*/ 0 w 67"/>
                <a:gd name="T1" fmla="*/ 22 h 92"/>
                <a:gd name="T2" fmla="*/ 2 w 67"/>
                <a:gd name="T3" fmla="*/ 21 h 92"/>
                <a:gd name="T4" fmla="*/ 3 w 67"/>
                <a:gd name="T5" fmla="*/ 20 h 92"/>
                <a:gd name="T6" fmla="*/ 4 w 67"/>
                <a:gd name="T7" fmla="*/ 19 h 92"/>
                <a:gd name="T8" fmla="*/ 6 w 67"/>
                <a:gd name="T9" fmla="*/ 18 h 92"/>
                <a:gd name="T10" fmla="*/ 7 w 67"/>
                <a:gd name="T11" fmla="*/ 17 h 92"/>
                <a:gd name="T12" fmla="*/ 8 w 67"/>
                <a:gd name="T13" fmla="*/ 15 h 92"/>
                <a:gd name="T14" fmla="*/ 9 w 67"/>
                <a:gd name="T15" fmla="*/ 15 h 92"/>
                <a:gd name="T16" fmla="*/ 11 w 67"/>
                <a:gd name="T17" fmla="*/ 14 h 92"/>
                <a:gd name="T18" fmla="*/ 11 w 67"/>
                <a:gd name="T19" fmla="*/ 12 h 92"/>
                <a:gd name="T20" fmla="*/ 13 w 67"/>
                <a:gd name="T21" fmla="*/ 12 h 92"/>
                <a:gd name="T22" fmla="*/ 14 w 67"/>
                <a:gd name="T23" fmla="*/ 12 h 92"/>
                <a:gd name="T24" fmla="*/ 15 w 67"/>
                <a:gd name="T25" fmla="*/ 11 h 92"/>
                <a:gd name="T26" fmla="*/ 16 w 67"/>
                <a:gd name="T27" fmla="*/ 9 h 92"/>
                <a:gd name="T28" fmla="*/ 16 w 67"/>
                <a:gd name="T29" fmla="*/ 9 h 92"/>
                <a:gd name="T30" fmla="*/ 16 w 67"/>
                <a:gd name="T31" fmla="*/ 7 h 92"/>
                <a:gd name="T32" fmla="*/ 16 w 67"/>
                <a:gd name="T33" fmla="*/ 6 h 92"/>
                <a:gd name="T34" fmla="*/ 16 w 67"/>
                <a:gd name="T35" fmla="*/ 4 h 92"/>
                <a:gd name="T36" fmla="*/ 15 w 67"/>
                <a:gd name="T37" fmla="*/ 3 h 92"/>
                <a:gd name="T38" fmla="*/ 15 w 67"/>
                <a:gd name="T39" fmla="*/ 2 h 92"/>
                <a:gd name="T40" fmla="*/ 15 w 67"/>
                <a:gd name="T41" fmla="*/ 1 h 92"/>
                <a:gd name="T42" fmla="*/ 13 w 67"/>
                <a:gd name="T43" fmla="*/ 0 h 92"/>
                <a:gd name="T44" fmla="*/ 12 w 67"/>
                <a:gd name="T45" fmla="*/ 0 h 92"/>
                <a:gd name="T46" fmla="*/ 11 w 67"/>
                <a:gd name="T47" fmla="*/ 0 h 92"/>
                <a:gd name="T48" fmla="*/ 9 w 67"/>
                <a:gd name="T49" fmla="*/ 0 h 92"/>
                <a:gd name="T50" fmla="*/ 8 w 67"/>
                <a:gd name="T51" fmla="*/ 0 h 92"/>
                <a:gd name="T52" fmla="*/ 6 w 67"/>
                <a:gd name="T53" fmla="*/ 0 h 92"/>
                <a:gd name="T54" fmla="*/ 4 w 67"/>
                <a:gd name="T55" fmla="*/ 0 h 92"/>
                <a:gd name="T56" fmla="*/ 3 w 67"/>
                <a:gd name="T57" fmla="*/ 0 h 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67"/>
                <a:gd name="T88" fmla="*/ 0 h 92"/>
                <a:gd name="T89" fmla="*/ 67 w 67"/>
                <a:gd name="T90" fmla="*/ 92 h 9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67" h="92">
                  <a:moveTo>
                    <a:pt x="0" y="91"/>
                  </a:moveTo>
                  <a:lnTo>
                    <a:pt x="7" y="88"/>
                  </a:lnTo>
                  <a:lnTo>
                    <a:pt x="12" y="83"/>
                  </a:lnTo>
                  <a:lnTo>
                    <a:pt x="18" y="80"/>
                  </a:lnTo>
                  <a:lnTo>
                    <a:pt x="25" y="75"/>
                  </a:lnTo>
                  <a:lnTo>
                    <a:pt x="27" y="69"/>
                  </a:lnTo>
                  <a:lnTo>
                    <a:pt x="30" y="64"/>
                  </a:lnTo>
                  <a:lnTo>
                    <a:pt x="36" y="61"/>
                  </a:lnTo>
                  <a:lnTo>
                    <a:pt x="43" y="59"/>
                  </a:lnTo>
                  <a:lnTo>
                    <a:pt x="45" y="53"/>
                  </a:lnTo>
                  <a:lnTo>
                    <a:pt x="51" y="51"/>
                  </a:lnTo>
                  <a:lnTo>
                    <a:pt x="57" y="48"/>
                  </a:lnTo>
                  <a:lnTo>
                    <a:pt x="60" y="43"/>
                  </a:lnTo>
                  <a:lnTo>
                    <a:pt x="66" y="40"/>
                  </a:lnTo>
                  <a:lnTo>
                    <a:pt x="66" y="35"/>
                  </a:lnTo>
                  <a:lnTo>
                    <a:pt x="66" y="29"/>
                  </a:lnTo>
                  <a:lnTo>
                    <a:pt x="66" y="24"/>
                  </a:lnTo>
                  <a:lnTo>
                    <a:pt x="66" y="19"/>
                  </a:lnTo>
                  <a:lnTo>
                    <a:pt x="63" y="13"/>
                  </a:lnTo>
                  <a:lnTo>
                    <a:pt x="63" y="8"/>
                  </a:lnTo>
                  <a:lnTo>
                    <a:pt x="60" y="3"/>
                  </a:lnTo>
                  <a:lnTo>
                    <a:pt x="54" y="0"/>
                  </a:lnTo>
                  <a:lnTo>
                    <a:pt x="48" y="0"/>
                  </a:lnTo>
                  <a:lnTo>
                    <a:pt x="43" y="0"/>
                  </a:lnTo>
                  <a:lnTo>
                    <a:pt x="36" y="0"/>
                  </a:lnTo>
                  <a:lnTo>
                    <a:pt x="30" y="0"/>
                  </a:lnTo>
                  <a:lnTo>
                    <a:pt x="25" y="0"/>
                  </a:lnTo>
                  <a:lnTo>
                    <a:pt x="18" y="0"/>
                  </a:lnTo>
                  <a:lnTo>
                    <a:pt x="12" y="0"/>
                  </a:lnTo>
                </a:path>
              </a:pathLst>
            </a:custGeom>
            <a:noFill/>
            <a:ln w="12700" cap="rnd" cmpd="sng">
              <a:solidFill>
                <a:srgbClr val="919191"/>
              </a:solidFill>
              <a:prstDash val="solid"/>
              <a:round/>
              <a:headEnd type="none" w="med" len="med"/>
              <a:tailEnd type="none" w="med" len="med"/>
            </a:ln>
          </p:spPr>
          <p:txBody>
            <a:bodyPr/>
            <a:lstStyle/>
            <a:p>
              <a:endParaRPr lang="en-US"/>
            </a:p>
          </p:txBody>
        </p:sp>
        <p:sp>
          <p:nvSpPr>
            <p:cNvPr id="20585" name="Freeform 63"/>
            <p:cNvSpPr>
              <a:spLocks noChangeAspect="1"/>
            </p:cNvSpPr>
            <p:nvPr/>
          </p:nvSpPr>
          <p:spPr bwMode="auto">
            <a:xfrm>
              <a:off x="5061" y="4241"/>
              <a:ext cx="35" cy="51"/>
            </a:xfrm>
            <a:custGeom>
              <a:avLst/>
              <a:gdLst>
                <a:gd name="T0" fmla="*/ 0 w 55"/>
                <a:gd name="T1" fmla="*/ 20 h 81"/>
                <a:gd name="T2" fmla="*/ 1 w 55"/>
                <a:gd name="T3" fmla="*/ 19 h 81"/>
                <a:gd name="T4" fmla="*/ 3 w 55"/>
                <a:gd name="T5" fmla="*/ 18 h 81"/>
                <a:gd name="T6" fmla="*/ 4 w 55"/>
                <a:gd name="T7" fmla="*/ 16 h 81"/>
                <a:gd name="T8" fmla="*/ 5 w 55"/>
                <a:gd name="T9" fmla="*/ 14 h 81"/>
                <a:gd name="T10" fmla="*/ 7 w 55"/>
                <a:gd name="T11" fmla="*/ 13 h 81"/>
                <a:gd name="T12" fmla="*/ 8 w 55"/>
                <a:gd name="T13" fmla="*/ 12 h 81"/>
                <a:gd name="T14" fmla="*/ 10 w 55"/>
                <a:gd name="T15" fmla="*/ 11 h 81"/>
                <a:gd name="T16" fmla="*/ 11 w 55"/>
                <a:gd name="T17" fmla="*/ 11 h 81"/>
                <a:gd name="T18" fmla="*/ 13 w 55"/>
                <a:gd name="T19" fmla="*/ 10 h 81"/>
                <a:gd name="T20" fmla="*/ 13 w 55"/>
                <a:gd name="T21" fmla="*/ 9 h 81"/>
                <a:gd name="T22" fmla="*/ 14 w 55"/>
                <a:gd name="T23" fmla="*/ 8 h 81"/>
                <a:gd name="T24" fmla="*/ 14 w 55"/>
                <a:gd name="T25" fmla="*/ 6 h 81"/>
                <a:gd name="T26" fmla="*/ 14 w 55"/>
                <a:gd name="T27" fmla="*/ 5 h 81"/>
                <a:gd name="T28" fmla="*/ 13 w 55"/>
                <a:gd name="T29" fmla="*/ 4 h 81"/>
                <a:gd name="T30" fmla="*/ 13 w 55"/>
                <a:gd name="T31" fmla="*/ 2 h 81"/>
                <a:gd name="T32" fmla="*/ 13 w 55"/>
                <a:gd name="T33" fmla="*/ 1 h 81"/>
                <a:gd name="T34" fmla="*/ 11 w 55"/>
                <a:gd name="T35" fmla="*/ 1 h 81"/>
                <a:gd name="T36" fmla="*/ 10 w 55"/>
                <a:gd name="T37" fmla="*/ 1 h 81"/>
                <a:gd name="T38" fmla="*/ 9 w 55"/>
                <a:gd name="T39" fmla="*/ 1 h 81"/>
                <a:gd name="T40" fmla="*/ 7 w 55"/>
                <a:gd name="T41" fmla="*/ 1 h 81"/>
                <a:gd name="T42" fmla="*/ 5 w 55"/>
                <a:gd name="T43" fmla="*/ 1 h 81"/>
                <a:gd name="T44" fmla="*/ 4 w 55"/>
                <a:gd name="T45" fmla="*/ 1 h 81"/>
                <a:gd name="T46" fmla="*/ 3 w 55"/>
                <a:gd name="T47" fmla="*/ 0 h 81"/>
                <a:gd name="T48" fmla="*/ 1 w 55"/>
                <a:gd name="T49" fmla="*/ 0 h 8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5"/>
                <a:gd name="T76" fmla="*/ 0 h 81"/>
                <a:gd name="T77" fmla="*/ 55 w 55"/>
                <a:gd name="T78" fmla="*/ 81 h 8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5" h="81">
                  <a:moveTo>
                    <a:pt x="0" y="80"/>
                  </a:moveTo>
                  <a:lnTo>
                    <a:pt x="3" y="75"/>
                  </a:lnTo>
                  <a:lnTo>
                    <a:pt x="9" y="70"/>
                  </a:lnTo>
                  <a:lnTo>
                    <a:pt x="16" y="64"/>
                  </a:lnTo>
                  <a:lnTo>
                    <a:pt x="21" y="59"/>
                  </a:lnTo>
                  <a:lnTo>
                    <a:pt x="27" y="54"/>
                  </a:lnTo>
                  <a:lnTo>
                    <a:pt x="30" y="48"/>
                  </a:lnTo>
                  <a:lnTo>
                    <a:pt x="36" y="46"/>
                  </a:lnTo>
                  <a:lnTo>
                    <a:pt x="43" y="43"/>
                  </a:lnTo>
                  <a:lnTo>
                    <a:pt x="48" y="40"/>
                  </a:lnTo>
                  <a:lnTo>
                    <a:pt x="52" y="35"/>
                  </a:lnTo>
                  <a:lnTo>
                    <a:pt x="54" y="30"/>
                  </a:lnTo>
                  <a:lnTo>
                    <a:pt x="54" y="24"/>
                  </a:lnTo>
                  <a:lnTo>
                    <a:pt x="54" y="19"/>
                  </a:lnTo>
                  <a:lnTo>
                    <a:pt x="52" y="14"/>
                  </a:lnTo>
                  <a:lnTo>
                    <a:pt x="52" y="8"/>
                  </a:lnTo>
                  <a:lnTo>
                    <a:pt x="52" y="3"/>
                  </a:lnTo>
                  <a:lnTo>
                    <a:pt x="45" y="3"/>
                  </a:lnTo>
                  <a:lnTo>
                    <a:pt x="39" y="3"/>
                  </a:lnTo>
                  <a:lnTo>
                    <a:pt x="34" y="3"/>
                  </a:lnTo>
                  <a:lnTo>
                    <a:pt x="27" y="3"/>
                  </a:lnTo>
                  <a:lnTo>
                    <a:pt x="21" y="3"/>
                  </a:lnTo>
                  <a:lnTo>
                    <a:pt x="16" y="3"/>
                  </a:lnTo>
                  <a:lnTo>
                    <a:pt x="9" y="0"/>
                  </a:lnTo>
                  <a:lnTo>
                    <a:pt x="3" y="0"/>
                  </a:lnTo>
                </a:path>
              </a:pathLst>
            </a:custGeom>
            <a:noFill/>
            <a:ln w="12700" cap="rnd" cmpd="sng">
              <a:solidFill>
                <a:srgbClr val="919191"/>
              </a:solidFill>
              <a:prstDash val="solid"/>
              <a:round/>
              <a:headEnd type="none" w="med" len="med"/>
              <a:tailEnd type="none" w="med" len="med"/>
            </a:ln>
          </p:spPr>
          <p:txBody>
            <a:bodyPr/>
            <a:lstStyle/>
            <a:p>
              <a:endParaRPr lang="en-US"/>
            </a:p>
          </p:txBody>
        </p:sp>
        <p:sp>
          <p:nvSpPr>
            <p:cNvPr id="20586" name="Freeform 64"/>
            <p:cNvSpPr>
              <a:spLocks noChangeAspect="1"/>
            </p:cNvSpPr>
            <p:nvPr/>
          </p:nvSpPr>
          <p:spPr bwMode="auto">
            <a:xfrm>
              <a:off x="5095" y="4238"/>
              <a:ext cx="40" cy="28"/>
            </a:xfrm>
            <a:custGeom>
              <a:avLst/>
              <a:gdLst>
                <a:gd name="T0" fmla="*/ 0 w 64"/>
                <a:gd name="T1" fmla="*/ 11 h 44"/>
                <a:gd name="T2" fmla="*/ 3 w 64"/>
                <a:gd name="T3" fmla="*/ 10 h 44"/>
                <a:gd name="T4" fmla="*/ 4 w 64"/>
                <a:gd name="T5" fmla="*/ 10 h 44"/>
                <a:gd name="T6" fmla="*/ 5 w 64"/>
                <a:gd name="T7" fmla="*/ 9 h 44"/>
                <a:gd name="T8" fmla="*/ 7 w 64"/>
                <a:gd name="T9" fmla="*/ 8 h 44"/>
                <a:gd name="T10" fmla="*/ 8 w 64"/>
                <a:gd name="T11" fmla="*/ 7 h 44"/>
                <a:gd name="T12" fmla="*/ 9 w 64"/>
                <a:gd name="T13" fmla="*/ 5 h 44"/>
                <a:gd name="T14" fmla="*/ 11 w 64"/>
                <a:gd name="T15" fmla="*/ 5 h 44"/>
                <a:gd name="T16" fmla="*/ 11 w 64"/>
                <a:gd name="T17" fmla="*/ 3 h 44"/>
                <a:gd name="T18" fmla="*/ 12 w 64"/>
                <a:gd name="T19" fmla="*/ 3 h 44"/>
                <a:gd name="T20" fmla="*/ 13 w 64"/>
                <a:gd name="T21" fmla="*/ 2 h 44"/>
                <a:gd name="T22" fmla="*/ 15 w 64"/>
                <a:gd name="T23" fmla="*/ 1 h 44"/>
                <a:gd name="T24" fmla="*/ 15 w 64"/>
                <a:gd name="T25" fmla="*/ 0 h 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4"/>
                <a:gd name="T40" fmla="*/ 0 h 44"/>
                <a:gd name="T41" fmla="*/ 64 w 64"/>
                <a:gd name="T42" fmla="*/ 44 h 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4" h="44">
                  <a:moveTo>
                    <a:pt x="0" y="43"/>
                  </a:moveTo>
                  <a:lnTo>
                    <a:pt x="9" y="40"/>
                  </a:lnTo>
                  <a:lnTo>
                    <a:pt x="16" y="37"/>
                  </a:lnTo>
                  <a:lnTo>
                    <a:pt x="21" y="35"/>
                  </a:lnTo>
                  <a:lnTo>
                    <a:pt x="27" y="32"/>
                  </a:lnTo>
                  <a:lnTo>
                    <a:pt x="34" y="27"/>
                  </a:lnTo>
                  <a:lnTo>
                    <a:pt x="36" y="21"/>
                  </a:lnTo>
                  <a:lnTo>
                    <a:pt x="43" y="19"/>
                  </a:lnTo>
                  <a:lnTo>
                    <a:pt x="45" y="13"/>
                  </a:lnTo>
                  <a:lnTo>
                    <a:pt x="52" y="13"/>
                  </a:lnTo>
                  <a:lnTo>
                    <a:pt x="54" y="8"/>
                  </a:lnTo>
                  <a:lnTo>
                    <a:pt x="61" y="5"/>
                  </a:lnTo>
                  <a:lnTo>
                    <a:pt x="63" y="0"/>
                  </a:lnTo>
                </a:path>
              </a:pathLst>
            </a:custGeom>
            <a:noFill/>
            <a:ln w="12700" cap="rnd" cmpd="sng">
              <a:solidFill>
                <a:srgbClr val="919191"/>
              </a:solidFill>
              <a:prstDash val="solid"/>
              <a:round/>
              <a:headEnd type="none" w="med" len="med"/>
              <a:tailEnd type="none" w="med" len="med"/>
            </a:ln>
          </p:spPr>
          <p:txBody>
            <a:bodyPr/>
            <a:lstStyle/>
            <a:p>
              <a:endParaRPr lang="en-US"/>
            </a:p>
          </p:txBody>
        </p:sp>
        <p:sp>
          <p:nvSpPr>
            <p:cNvPr id="20587" name="Freeform 65"/>
            <p:cNvSpPr>
              <a:spLocks noChangeAspect="1"/>
            </p:cNvSpPr>
            <p:nvPr/>
          </p:nvSpPr>
          <p:spPr bwMode="auto">
            <a:xfrm>
              <a:off x="5091" y="4216"/>
              <a:ext cx="34" cy="28"/>
            </a:xfrm>
            <a:custGeom>
              <a:avLst/>
              <a:gdLst>
                <a:gd name="T0" fmla="*/ 0 w 55"/>
                <a:gd name="T1" fmla="*/ 11 h 44"/>
                <a:gd name="T2" fmla="*/ 1 w 55"/>
                <a:gd name="T3" fmla="*/ 10 h 44"/>
                <a:gd name="T4" fmla="*/ 2 w 55"/>
                <a:gd name="T5" fmla="*/ 9 h 44"/>
                <a:gd name="T6" fmla="*/ 4 w 55"/>
                <a:gd name="T7" fmla="*/ 8 h 44"/>
                <a:gd name="T8" fmla="*/ 9 w 55"/>
                <a:gd name="T9" fmla="*/ 4 h 44"/>
                <a:gd name="T10" fmla="*/ 12 w 55"/>
                <a:gd name="T11" fmla="*/ 4 h 44"/>
                <a:gd name="T12" fmla="*/ 12 w 55"/>
                <a:gd name="T13" fmla="*/ 1 h 44"/>
                <a:gd name="T14" fmla="*/ 12 w 55"/>
                <a:gd name="T15" fmla="*/ 0 h 44"/>
                <a:gd name="T16" fmla="*/ 0 60000 65536"/>
                <a:gd name="T17" fmla="*/ 0 60000 65536"/>
                <a:gd name="T18" fmla="*/ 0 60000 65536"/>
                <a:gd name="T19" fmla="*/ 0 60000 65536"/>
                <a:gd name="T20" fmla="*/ 0 60000 65536"/>
                <a:gd name="T21" fmla="*/ 0 60000 65536"/>
                <a:gd name="T22" fmla="*/ 0 60000 65536"/>
                <a:gd name="T23" fmla="*/ 0 60000 65536"/>
                <a:gd name="T24" fmla="*/ 0 w 55"/>
                <a:gd name="T25" fmla="*/ 0 h 44"/>
                <a:gd name="T26" fmla="*/ 55 w 55"/>
                <a:gd name="T27" fmla="*/ 44 h 4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5" h="44">
                  <a:moveTo>
                    <a:pt x="0" y="43"/>
                  </a:moveTo>
                  <a:lnTo>
                    <a:pt x="3" y="38"/>
                  </a:lnTo>
                  <a:lnTo>
                    <a:pt x="9" y="35"/>
                  </a:lnTo>
                  <a:lnTo>
                    <a:pt x="15" y="32"/>
                  </a:lnTo>
                  <a:lnTo>
                    <a:pt x="36" y="14"/>
                  </a:lnTo>
                  <a:lnTo>
                    <a:pt x="48" y="14"/>
                  </a:lnTo>
                  <a:lnTo>
                    <a:pt x="48" y="3"/>
                  </a:lnTo>
                  <a:lnTo>
                    <a:pt x="54" y="0"/>
                  </a:lnTo>
                </a:path>
              </a:pathLst>
            </a:custGeom>
            <a:noFill/>
            <a:ln w="12700" cap="rnd" cmpd="sng">
              <a:solidFill>
                <a:srgbClr val="919191"/>
              </a:solidFill>
              <a:prstDash val="solid"/>
              <a:round/>
              <a:headEnd type="none" w="med" len="med"/>
              <a:tailEnd type="none" w="med" len="med"/>
            </a:ln>
          </p:spPr>
          <p:txBody>
            <a:bodyPr/>
            <a:lstStyle/>
            <a:p>
              <a:endParaRPr lang="en-US"/>
            </a:p>
          </p:txBody>
        </p:sp>
        <p:sp>
          <p:nvSpPr>
            <p:cNvPr id="20588" name="Freeform 66"/>
            <p:cNvSpPr>
              <a:spLocks noChangeAspect="1"/>
            </p:cNvSpPr>
            <p:nvPr/>
          </p:nvSpPr>
          <p:spPr bwMode="auto">
            <a:xfrm>
              <a:off x="5024" y="4306"/>
              <a:ext cx="77" cy="59"/>
            </a:xfrm>
            <a:custGeom>
              <a:avLst/>
              <a:gdLst>
                <a:gd name="T0" fmla="*/ 0 w 123"/>
                <a:gd name="T1" fmla="*/ 22 h 95"/>
                <a:gd name="T2" fmla="*/ 2 w 123"/>
                <a:gd name="T3" fmla="*/ 22 h 95"/>
                <a:gd name="T4" fmla="*/ 3 w 123"/>
                <a:gd name="T5" fmla="*/ 22 h 95"/>
                <a:gd name="T6" fmla="*/ 4 w 123"/>
                <a:gd name="T7" fmla="*/ 22 h 95"/>
                <a:gd name="T8" fmla="*/ 8 w 123"/>
                <a:gd name="T9" fmla="*/ 22 h 95"/>
                <a:gd name="T10" fmla="*/ 10 w 123"/>
                <a:gd name="T11" fmla="*/ 22 h 95"/>
                <a:gd name="T12" fmla="*/ 12 w 123"/>
                <a:gd name="T13" fmla="*/ 22 h 95"/>
                <a:gd name="T14" fmla="*/ 14 w 123"/>
                <a:gd name="T15" fmla="*/ 22 h 95"/>
                <a:gd name="T16" fmla="*/ 18 w 123"/>
                <a:gd name="T17" fmla="*/ 22 h 95"/>
                <a:gd name="T18" fmla="*/ 19 w 123"/>
                <a:gd name="T19" fmla="*/ 22 h 95"/>
                <a:gd name="T20" fmla="*/ 21 w 123"/>
                <a:gd name="T21" fmla="*/ 20 h 95"/>
                <a:gd name="T22" fmla="*/ 22 w 123"/>
                <a:gd name="T23" fmla="*/ 19 h 95"/>
                <a:gd name="T24" fmla="*/ 23 w 123"/>
                <a:gd name="T25" fmla="*/ 18 h 95"/>
                <a:gd name="T26" fmla="*/ 25 w 123"/>
                <a:gd name="T27" fmla="*/ 17 h 95"/>
                <a:gd name="T28" fmla="*/ 26 w 123"/>
                <a:gd name="T29" fmla="*/ 16 h 95"/>
                <a:gd name="T30" fmla="*/ 27 w 123"/>
                <a:gd name="T31" fmla="*/ 14 h 95"/>
                <a:gd name="T32" fmla="*/ 29 w 123"/>
                <a:gd name="T33" fmla="*/ 13 h 95"/>
                <a:gd name="T34" fmla="*/ 30 w 123"/>
                <a:gd name="T35" fmla="*/ 12 h 95"/>
                <a:gd name="T36" fmla="*/ 30 w 123"/>
                <a:gd name="T37" fmla="*/ 11 h 95"/>
                <a:gd name="T38" fmla="*/ 30 w 123"/>
                <a:gd name="T39" fmla="*/ 9 h 95"/>
                <a:gd name="T40" fmla="*/ 30 w 123"/>
                <a:gd name="T41" fmla="*/ 7 h 95"/>
                <a:gd name="T42" fmla="*/ 29 w 123"/>
                <a:gd name="T43" fmla="*/ 7 h 95"/>
                <a:gd name="T44" fmla="*/ 29 w 123"/>
                <a:gd name="T45" fmla="*/ 6 h 95"/>
                <a:gd name="T46" fmla="*/ 29 w 123"/>
                <a:gd name="T47" fmla="*/ 4 h 95"/>
                <a:gd name="T48" fmla="*/ 29 w 123"/>
                <a:gd name="T49" fmla="*/ 2 h 95"/>
                <a:gd name="T50" fmla="*/ 29 w 123"/>
                <a:gd name="T51" fmla="*/ 1 h 95"/>
                <a:gd name="T52" fmla="*/ 29 w 123"/>
                <a:gd name="T53" fmla="*/ 0 h 95"/>
                <a:gd name="T54" fmla="*/ 27 w 123"/>
                <a:gd name="T55" fmla="*/ 0 h 95"/>
                <a:gd name="T56" fmla="*/ 24 w 123"/>
                <a:gd name="T57" fmla="*/ 0 h 95"/>
                <a:gd name="T58" fmla="*/ 21 w 123"/>
                <a:gd name="T59" fmla="*/ 1 h 95"/>
                <a:gd name="T60" fmla="*/ 18 w 123"/>
                <a:gd name="T61" fmla="*/ 1 h 95"/>
                <a:gd name="T62" fmla="*/ 14 w 123"/>
                <a:gd name="T63" fmla="*/ 1 h 95"/>
                <a:gd name="T64" fmla="*/ 13 w 123"/>
                <a:gd name="T65" fmla="*/ 2 h 95"/>
                <a:gd name="T66" fmla="*/ 14 w 123"/>
                <a:gd name="T67" fmla="*/ 2 h 95"/>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23"/>
                <a:gd name="T103" fmla="*/ 0 h 95"/>
                <a:gd name="T104" fmla="*/ 123 w 123"/>
                <a:gd name="T105" fmla="*/ 95 h 95"/>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23" h="95">
                  <a:moveTo>
                    <a:pt x="0" y="94"/>
                  </a:moveTo>
                  <a:lnTo>
                    <a:pt x="6" y="94"/>
                  </a:lnTo>
                  <a:lnTo>
                    <a:pt x="12" y="94"/>
                  </a:lnTo>
                  <a:lnTo>
                    <a:pt x="18" y="94"/>
                  </a:lnTo>
                  <a:lnTo>
                    <a:pt x="30" y="94"/>
                  </a:lnTo>
                  <a:lnTo>
                    <a:pt x="41" y="94"/>
                  </a:lnTo>
                  <a:lnTo>
                    <a:pt x="48" y="94"/>
                  </a:lnTo>
                  <a:lnTo>
                    <a:pt x="59" y="94"/>
                  </a:lnTo>
                  <a:lnTo>
                    <a:pt x="72" y="94"/>
                  </a:lnTo>
                  <a:lnTo>
                    <a:pt x="77" y="91"/>
                  </a:lnTo>
                  <a:lnTo>
                    <a:pt x="84" y="86"/>
                  </a:lnTo>
                  <a:lnTo>
                    <a:pt x="90" y="80"/>
                  </a:lnTo>
                  <a:lnTo>
                    <a:pt x="95" y="75"/>
                  </a:lnTo>
                  <a:lnTo>
                    <a:pt x="102" y="70"/>
                  </a:lnTo>
                  <a:lnTo>
                    <a:pt x="104" y="64"/>
                  </a:lnTo>
                  <a:lnTo>
                    <a:pt x="111" y="59"/>
                  </a:lnTo>
                  <a:lnTo>
                    <a:pt x="116" y="54"/>
                  </a:lnTo>
                  <a:lnTo>
                    <a:pt x="122" y="48"/>
                  </a:lnTo>
                  <a:lnTo>
                    <a:pt x="122" y="43"/>
                  </a:lnTo>
                  <a:lnTo>
                    <a:pt x="122" y="38"/>
                  </a:lnTo>
                  <a:lnTo>
                    <a:pt x="122" y="32"/>
                  </a:lnTo>
                  <a:lnTo>
                    <a:pt x="120" y="27"/>
                  </a:lnTo>
                  <a:lnTo>
                    <a:pt x="120" y="22"/>
                  </a:lnTo>
                  <a:lnTo>
                    <a:pt x="120" y="16"/>
                  </a:lnTo>
                  <a:lnTo>
                    <a:pt x="116" y="11"/>
                  </a:lnTo>
                  <a:lnTo>
                    <a:pt x="116" y="6"/>
                  </a:lnTo>
                  <a:lnTo>
                    <a:pt x="116" y="0"/>
                  </a:lnTo>
                  <a:lnTo>
                    <a:pt x="111" y="0"/>
                  </a:lnTo>
                  <a:lnTo>
                    <a:pt x="98" y="0"/>
                  </a:lnTo>
                  <a:lnTo>
                    <a:pt x="84" y="6"/>
                  </a:lnTo>
                  <a:lnTo>
                    <a:pt x="72" y="6"/>
                  </a:lnTo>
                  <a:lnTo>
                    <a:pt x="59" y="6"/>
                  </a:lnTo>
                  <a:lnTo>
                    <a:pt x="54" y="8"/>
                  </a:lnTo>
                  <a:lnTo>
                    <a:pt x="59" y="8"/>
                  </a:lnTo>
                </a:path>
              </a:pathLst>
            </a:custGeom>
            <a:noFill/>
            <a:ln w="12700" cap="rnd" cmpd="sng">
              <a:solidFill>
                <a:srgbClr val="919191"/>
              </a:solidFill>
              <a:prstDash val="solid"/>
              <a:round/>
              <a:headEnd type="none" w="med" len="med"/>
              <a:tailEnd type="none" w="med" len="med"/>
            </a:ln>
          </p:spPr>
          <p:txBody>
            <a:bodyPr/>
            <a:lstStyle/>
            <a:p>
              <a:endParaRPr lang="en-US"/>
            </a:p>
          </p:txBody>
        </p:sp>
        <p:sp>
          <p:nvSpPr>
            <p:cNvPr id="20589" name="Freeform 67"/>
            <p:cNvSpPr>
              <a:spLocks noChangeAspect="1"/>
            </p:cNvSpPr>
            <p:nvPr/>
          </p:nvSpPr>
          <p:spPr bwMode="auto">
            <a:xfrm>
              <a:off x="5099" y="4255"/>
              <a:ext cx="28" cy="49"/>
            </a:xfrm>
            <a:custGeom>
              <a:avLst/>
              <a:gdLst>
                <a:gd name="T0" fmla="*/ 0 w 46"/>
                <a:gd name="T1" fmla="*/ 19 h 78"/>
                <a:gd name="T2" fmla="*/ 3 w 46"/>
                <a:gd name="T3" fmla="*/ 16 h 78"/>
                <a:gd name="T4" fmla="*/ 4 w 46"/>
                <a:gd name="T5" fmla="*/ 15 h 78"/>
                <a:gd name="T6" fmla="*/ 6 w 46"/>
                <a:gd name="T7" fmla="*/ 14 h 78"/>
                <a:gd name="T8" fmla="*/ 7 w 46"/>
                <a:gd name="T9" fmla="*/ 13 h 78"/>
                <a:gd name="T10" fmla="*/ 8 w 46"/>
                <a:gd name="T11" fmla="*/ 12 h 78"/>
                <a:gd name="T12" fmla="*/ 10 w 46"/>
                <a:gd name="T13" fmla="*/ 11 h 78"/>
                <a:gd name="T14" fmla="*/ 10 w 46"/>
                <a:gd name="T15" fmla="*/ 10 h 78"/>
                <a:gd name="T16" fmla="*/ 10 w 46"/>
                <a:gd name="T17" fmla="*/ 8 h 78"/>
                <a:gd name="T18" fmla="*/ 10 w 46"/>
                <a:gd name="T19" fmla="*/ 7 h 78"/>
                <a:gd name="T20" fmla="*/ 10 w 46"/>
                <a:gd name="T21" fmla="*/ 6 h 78"/>
                <a:gd name="T22" fmla="*/ 10 w 46"/>
                <a:gd name="T23" fmla="*/ 4 h 78"/>
                <a:gd name="T24" fmla="*/ 9 w 46"/>
                <a:gd name="T25" fmla="*/ 4 h 78"/>
                <a:gd name="T26" fmla="*/ 9 w 46"/>
                <a:gd name="T27" fmla="*/ 3 h 78"/>
                <a:gd name="T28" fmla="*/ 8 w 46"/>
                <a:gd name="T29" fmla="*/ 1 h 78"/>
                <a:gd name="T30" fmla="*/ 8 w 46"/>
                <a:gd name="T31" fmla="*/ 0 h 7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6"/>
                <a:gd name="T49" fmla="*/ 0 h 78"/>
                <a:gd name="T50" fmla="*/ 46 w 46"/>
                <a:gd name="T51" fmla="*/ 78 h 7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6" h="78">
                  <a:moveTo>
                    <a:pt x="0" y="77"/>
                  </a:moveTo>
                  <a:lnTo>
                    <a:pt x="15" y="64"/>
                  </a:lnTo>
                  <a:lnTo>
                    <a:pt x="20" y="61"/>
                  </a:lnTo>
                  <a:lnTo>
                    <a:pt x="27" y="58"/>
                  </a:lnTo>
                  <a:lnTo>
                    <a:pt x="29" y="53"/>
                  </a:lnTo>
                  <a:lnTo>
                    <a:pt x="36" y="48"/>
                  </a:lnTo>
                  <a:lnTo>
                    <a:pt x="42" y="45"/>
                  </a:lnTo>
                  <a:lnTo>
                    <a:pt x="45" y="40"/>
                  </a:lnTo>
                  <a:lnTo>
                    <a:pt x="45" y="34"/>
                  </a:lnTo>
                  <a:lnTo>
                    <a:pt x="45" y="29"/>
                  </a:lnTo>
                  <a:lnTo>
                    <a:pt x="45" y="24"/>
                  </a:lnTo>
                  <a:lnTo>
                    <a:pt x="45" y="18"/>
                  </a:lnTo>
                  <a:lnTo>
                    <a:pt x="38" y="16"/>
                  </a:lnTo>
                  <a:lnTo>
                    <a:pt x="38" y="10"/>
                  </a:lnTo>
                  <a:lnTo>
                    <a:pt x="36" y="5"/>
                  </a:lnTo>
                  <a:lnTo>
                    <a:pt x="36" y="0"/>
                  </a:lnTo>
                </a:path>
              </a:pathLst>
            </a:custGeom>
            <a:noFill/>
            <a:ln w="12700" cap="rnd" cmpd="sng">
              <a:solidFill>
                <a:srgbClr val="919191"/>
              </a:solidFill>
              <a:prstDash val="solid"/>
              <a:round/>
              <a:headEnd type="none" w="med" len="med"/>
              <a:tailEnd type="none" w="med" len="med"/>
            </a:ln>
          </p:spPr>
          <p:txBody>
            <a:bodyPr/>
            <a:lstStyle/>
            <a:p>
              <a:endParaRPr lang="en-US"/>
            </a:p>
          </p:txBody>
        </p:sp>
        <p:sp>
          <p:nvSpPr>
            <p:cNvPr id="20590" name="Freeform 68"/>
            <p:cNvSpPr>
              <a:spLocks noChangeAspect="1"/>
            </p:cNvSpPr>
            <p:nvPr/>
          </p:nvSpPr>
          <p:spPr bwMode="auto">
            <a:xfrm>
              <a:off x="5102" y="4303"/>
              <a:ext cx="61" cy="33"/>
            </a:xfrm>
            <a:custGeom>
              <a:avLst/>
              <a:gdLst>
                <a:gd name="T0" fmla="*/ 0 w 97"/>
                <a:gd name="T1" fmla="*/ 13 h 52"/>
                <a:gd name="T2" fmla="*/ 6 w 97"/>
                <a:gd name="T3" fmla="*/ 13 h 52"/>
                <a:gd name="T4" fmla="*/ 8 w 97"/>
                <a:gd name="T5" fmla="*/ 13 h 52"/>
                <a:gd name="T6" fmla="*/ 9 w 97"/>
                <a:gd name="T7" fmla="*/ 12 h 52"/>
                <a:gd name="T8" fmla="*/ 12 w 97"/>
                <a:gd name="T9" fmla="*/ 12 h 52"/>
                <a:gd name="T10" fmla="*/ 13 w 97"/>
                <a:gd name="T11" fmla="*/ 12 h 52"/>
                <a:gd name="T12" fmla="*/ 15 w 97"/>
                <a:gd name="T13" fmla="*/ 11 h 52"/>
                <a:gd name="T14" fmla="*/ 16 w 97"/>
                <a:gd name="T15" fmla="*/ 11 h 52"/>
                <a:gd name="T16" fmla="*/ 17 w 97"/>
                <a:gd name="T17" fmla="*/ 10 h 52"/>
                <a:gd name="T18" fmla="*/ 18 w 97"/>
                <a:gd name="T19" fmla="*/ 8 h 52"/>
                <a:gd name="T20" fmla="*/ 18 w 97"/>
                <a:gd name="T21" fmla="*/ 7 h 52"/>
                <a:gd name="T22" fmla="*/ 19 w 97"/>
                <a:gd name="T23" fmla="*/ 5 h 52"/>
                <a:gd name="T24" fmla="*/ 20 w 97"/>
                <a:gd name="T25" fmla="*/ 4 h 52"/>
                <a:gd name="T26" fmla="*/ 21 w 97"/>
                <a:gd name="T27" fmla="*/ 3 h 52"/>
                <a:gd name="T28" fmla="*/ 23 w 97"/>
                <a:gd name="T29" fmla="*/ 2 h 52"/>
                <a:gd name="T30" fmla="*/ 23 w 97"/>
                <a:gd name="T31" fmla="*/ 1 h 52"/>
                <a:gd name="T32" fmla="*/ 24 w 97"/>
                <a:gd name="T33" fmla="*/ 0 h 52"/>
                <a:gd name="T34" fmla="*/ 24 w 97"/>
                <a:gd name="T35" fmla="*/ 0 h 52"/>
                <a:gd name="T36" fmla="*/ 24 w 97"/>
                <a:gd name="T37" fmla="*/ 0 h 5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7"/>
                <a:gd name="T58" fmla="*/ 0 h 52"/>
                <a:gd name="T59" fmla="*/ 97 w 97"/>
                <a:gd name="T60" fmla="*/ 52 h 5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7" h="52">
                  <a:moveTo>
                    <a:pt x="0" y="51"/>
                  </a:moveTo>
                  <a:lnTo>
                    <a:pt x="24" y="51"/>
                  </a:lnTo>
                  <a:lnTo>
                    <a:pt x="30" y="51"/>
                  </a:lnTo>
                  <a:lnTo>
                    <a:pt x="36" y="48"/>
                  </a:lnTo>
                  <a:lnTo>
                    <a:pt x="49" y="48"/>
                  </a:lnTo>
                  <a:lnTo>
                    <a:pt x="54" y="48"/>
                  </a:lnTo>
                  <a:lnTo>
                    <a:pt x="60" y="45"/>
                  </a:lnTo>
                  <a:lnTo>
                    <a:pt x="67" y="43"/>
                  </a:lnTo>
                  <a:lnTo>
                    <a:pt x="69" y="37"/>
                  </a:lnTo>
                  <a:lnTo>
                    <a:pt x="72" y="32"/>
                  </a:lnTo>
                  <a:lnTo>
                    <a:pt x="72" y="27"/>
                  </a:lnTo>
                  <a:lnTo>
                    <a:pt x="76" y="21"/>
                  </a:lnTo>
                  <a:lnTo>
                    <a:pt x="81" y="16"/>
                  </a:lnTo>
                  <a:lnTo>
                    <a:pt x="85" y="11"/>
                  </a:lnTo>
                  <a:lnTo>
                    <a:pt x="90" y="8"/>
                  </a:lnTo>
                  <a:lnTo>
                    <a:pt x="90" y="3"/>
                  </a:lnTo>
                  <a:lnTo>
                    <a:pt x="96" y="0"/>
                  </a:lnTo>
                </a:path>
              </a:pathLst>
            </a:custGeom>
            <a:noFill/>
            <a:ln w="12700" cap="rnd" cmpd="sng">
              <a:solidFill>
                <a:srgbClr val="919191"/>
              </a:solidFill>
              <a:prstDash val="solid"/>
              <a:round/>
              <a:headEnd type="none" w="med" len="med"/>
              <a:tailEnd type="none" w="med" len="med"/>
            </a:ln>
          </p:spPr>
          <p:txBody>
            <a:bodyPr/>
            <a:lstStyle/>
            <a:p>
              <a:endParaRPr lang="en-US"/>
            </a:p>
          </p:txBody>
        </p:sp>
        <p:sp>
          <p:nvSpPr>
            <p:cNvPr id="20591" name="Freeform 69"/>
            <p:cNvSpPr>
              <a:spLocks noChangeAspect="1"/>
            </p:cNvSpPr>
            <p:nvPr/>
          </p:nvSpPr>
          <p:spPr bwMode="auto">
            <a:xfrm>
              <a:off x="5123" y="4283"/>
              <a:ext cx="32" cy="11"/>
            </a:xfrm>
            <a:custGeom>
              <a:avLst/>
              <a:gdLst>
                <a:gd name="T0" fmla="*/ 0 w 52"/>
                <a:gd name="T1" fmla="*/ 0 h 17"/>
                <a:gd name="T2" fmla="*/ 4 w 52"/>
                <a:gd name="T3" fmla="*/ 1 h 17"/>
                <a:gd name="T4" fmla="*/ 6 w 52"/>
                <a:gd name="T5" fmla="*/ 3 h 17"/>
                <a:gd name="T6" fmla="*/ 7 w 52"/>
                <a:gd name="T7" fmla="*/ 3 h 17"/>
                <a:gd name="T8" fmla="*/ 9 w 52"/>
                <a:gd name="T9" fmla="*/ 4 h 17"/>
                <a:gd name="T10" fmla="*/ 10 w 52"/>
                <a:gd name="T11" fmla="*/ 4 h 17"/>
                <a:gd name="T12" fmla="*/ 12 w 52"/>
                <a:gd name="T13" fmla="*/ 4 h 17"/>
                <a:gd name="T14" fmla="*/ 12 w 52"/>
                <a:gd name="T15" fmla="*/ 4 h 17"/>
                <a:gd name="T16" fmla="*/ 12 w 52"/>
                <a:gd name="T17" fmla="*/ 4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
                <a:gd name="T28" fmla="*/ 0 h 17"/>
                <a:gd name="T29" fmla="*/ 52 w 52"/>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 h="17">
                  <a:moveTo>
                    <a:pt x="0" y="0"/>
                  </a:moveTo>
                  <a:lnTo>
                    <a:pt x="16" y="3"/>
                  </a:lnTo>
                  <a:lnTo>
                    <a:pt x="27" y="13"/>
                  </a:lnTo>
                  <a:lnTo>
                    <a:pt x="33" y="13"/>
                  </a:lnTo>
                  <a:lnTo>
                    <a:pt x="39" y="16"/>
                  </a:lnTo>
                  <a:lnTo>
                    <a:pt x="44" y="16"/>
                  </a:lnTo>
                  <a:lnTo>
                    <a:pt x="51" y="16"/>
                  </a:lnTo>
                </a:path>
              </a:pathLst>
            </a:custGeom>
            <a:noFill/>
            <a:ln w="12700" cap="rnd" cmpd="sng">
              <a:solidFill>
                <a:srgbClr val="919191"/>
              </a:solidFill>
              <a:prstDash val="solid"/>
              <a:round/>
              <a:headEnd type="none" w="med" len="med"/>
              <a:tailEnd type="none" w="med" len="med"/>
            </a:ln>
          </p:spPr>
          <p:txBody>
            <a:bodyPr/>
            <a:lstStyle/>
            <a:p>
              <a:endParaRPr lang="en-US"/>
            </a:p>
          </p:txBody>
        </p:sp>
        <p:sp>
          <p:nvSpPr>
            <p:cNvPr id="20592" name="Freeform 70"/>
            <p:cNvSpPr>
              <a:spLocks noChangeAspect="1"/>
            </p:cNvSpPr>
            <p:nvPr/>
          </p:nvSpPr>
          <p:spPr bwMode="auto">
            <a:xfrm>
              <a:off x="4927" y="4443"/>
              <a:ext cx="72" cy="55"/>
            </a:xfrm>
            <a:custGeom>
              <a:avLst/>
              <a:gdLst>
                <a:gd name="T0" fmla="*/ 0 w 116"/>
                <a:gd name="T1" fmla="*/ 19 h 89"/>
                <a:gd name="T2" fmla="*/ 2 w 116"/>
                <a:gd name="T3" fmla="*/ 19 h 89"/>
                <a:gd name="T4" fmla="*/ 4 w 116"/>
                <a:gd name="T5" fmla="*/ 19 h 89"/>
                <a:gd name="T6" fmla="*/ 5 w 116"/>
                <a:gd name="T7" fmla="*/ 20 h 89"/>
                <a:gd name="T8" fmla="*/ 7 w 116"/>
                <a:gd name="T9" fmla="*/ 20 h 89"/>
                <a:gd name="T10" fmla="*/ 8 w 116"/>
                <a:gd name="T11" fmla="*/ 20 h 89"/>
                <a:gd name="T12" fmla="*/ 9 w 116"/>
                <a:gd name="T13" fmla="*/ 20 h 89"/>
                <a:gd name="T14" fmla="*/ 11 w 116"/>
                <a:gd name="T15" fmla="*/ 20 h 89"/>
                <a:gd name="T16" fmla="*/ 12 w 116"/>
                <a:gd name="T17" fmla="*/ 20 h 89"/>
                <a:gd name="T18" fmla="*/ 14 w 116"/>
                <a:gd name="T19" fmla="*/ 19 h 89"/>
                <a:gd name="T20" fmla="*/ 15 w 116"/>
                <a:gd name="T21" fmla="*/ 19 h 89"/>
                <a:gd name="T22" fmla="*/ 17 w 116"/>
                <a:gd name="T23" fmla="*/ 17 h 89"/>
                <a:gd name="T24" fmla="*/ 18 w 116"/>
                <a:gd name="T25" fmla="*/ 17 h 89"/>
                <a:gd name="T26" fmla="*/ 19 w 116"/>
                <a:gd name="T27" fmla="*/ 17 h 89"/>
                <a:gd name="T28" fmla="*/ 20 w 116"/>
                <a:gd name="T29" fmla="*/ 15 h 89"/>
                <a:gd name="T30" fmla="*/ 22 w 116"/>
                <a:gd name="T31" fmla="*/ 15 h 89"/>
                <a:gd name="T32" fmla="*/ 23 w 116"/>
                <a:gd name="T33" fmla="*/ 14 h 89"/>
                <a:gd name="T34" fmla="*/ 25 w 116"/>
                <a:gd name="T35" fmla="*/ 14 h 89"/>
                <a:gd name="T36" fmla="*/ 25 w 116"/>
                <a:gd name="T37" fmla="*/ 12 h 89"/>
                <a:gd name="T38" fmla="*/ 26 w 116"/>
                <a:gd name="T39" fmla="*/ 11 h 89"/>
                <a:gd name="T40" fmla="*/ 26 w 116"/>
                <a:gd name="T41" fmla="*/ 9 h 89"/>
                <a:gd name="T42" fmla="*/ 26 w 116"/>
                <a:gd name="T43" fmla="*/ 9 h 89"/>
                <a:gd name="T44" fmla="*/ 27 w 116"/>
                <a:gd name="T45" fmla="*/ 7 h 89"/>
                <a:gd name="T46" fmla="*/ 27 w 116"/>
                <a:gd name="T47" fmla="*/ 6 h 89"/>
                <a:gd name="T48" fmla="*/ 27 w 116"/>
                <a:gd name="T49" fmla="*/ 4 h 89"/>
                <a:gd name="T50" fmla="*/ 27 w 116"/>
                <a:gd name="T51" fmla="*/ 3 h 89"/>
                <a:gd name="T52" fmla="*/ 27 w 116"/>
                <a:gd name="T53" fmla="*/ 2 h 89"/>
                <a:gd name="T54" fmla="*/ 27 w 116"/>
                <a:gd name="T55" fmla="*/ 1 h 89"/>
                <a:gd name="T56" fmla="*/ 26 w 116"/>
                <a:gd name="T57" fmla="*/ 0 h 89"/>
                <a:gd name="T58" fmla="*/ 25 w 116"/>
                <a:gd name="T59" fmla="*/ 1 h 89"/>
                <a:gd name="T60" fmla="*/ 23 w 116"/>
                <a:gd name="T61" fmla="*/ 1 h 89"/>
                <a:gd name="T62" fmla="*/ 20 w 116"/>
                <a:gd name="T63" fmla="*/ 1 h 89"/>
                <a:gd name="T64" fmla="*/ 17 w 116"/>
                <a:gd name="T65" fmla="*/ 1 h 89"/>
                <a:gd name="T66" fmla="*/ 16 w 116"/>
                <a:gd name="T67" fmla="*/ 1 h 89"/>
                <a:gd name="T68" fmla="*/ 15 w 116"/>
                <a:gd name="T69" fmla="*/ 1 h 8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6"/>
                <a:gd name="T106" fmla="*/ 0 h 89"/>
                <a:gd name="T107" fmla="*/ 116 w 116"/>
                <a:gd name="T108" fmla="*/ 89 h 8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6" h="89">
                  <a:moveTo>
                    <a:pt x="0" y="80"/>
                  </a:moveTo>
                  <a:lnTo>
                    <a:pt x="9" y="80"/>
                  </a:lnTo>
                  <a:lnTo>
                    <a:pt x="16" y="80"/>
                  </a:lnTo>
                  <a:lnTo>
                    <a:pt x="21" y="83"/>
                  </a:lnTo>
                  <a:lnTo>
                    <a:pt x="27" y="83"/>
                  </a:lnTo>
                  <a:lnTo>
                    <a:pt x="34" y="85"/>
                  </a:lnTo>
                  <a:lnTo>
                    <a:pt x="39" y="88"/>
                  </a:lnTo>
                  <a:lnTo>
                    <a:pt x="45" y="88"/>
                  </a:lnTo>
                  <a:lnTo>
                    <a:pt x="52" y="85"/>
                  </a:lnTo>
                  <a:lnTo>
                    <a:pt x="58" y="80"/>
                  </a:lnTo>
                  <a:lnTo>
                    <a:pt x="63" y="77"/>
                  </a:lnTo>
                  <a:lnTo>
                    <a:pt x="70" y="75"/>
                  </a:lnTo>
                  <a:lnTo>
                    <a:pt x="76" y="72"/>
                  </a:lnTo>
                  <a:lnTo>
                    <a:pt x="81" y="69"/>
                  </a:lnTo>
                  <a:lnTo>
                    <a:pt x="85" y="64"/>
                  </a:lnTo>
                  <a:lnTo>
                    <a:pt x="90" y="64"/>
                  </a:lnTo>
                  <a:lnTo>
                    <a:pt x="97" y="59"/>
                  </a:lnTo>
                  <a:lnTo>
                    <a:pt x="103" y="56"/>
                  </a:lnTo>
                  <a:lnTo>
                    <a:pt x="106" y="51"/>
                  </a:lnTo>
                  <a:lnTo>
                    <a:pt x="108" y="45"/>
                  </a:lnTo>
                  <a:lnTo>
                    <a:pt x="108" y="40"/>
                  </a:lnTo>
                  <a:lnTo>
                    <a:pt x="108" y="35"/>
                  </a:lnTo>
                  <a:lnTo>
                    <a:pt x="112" y="29"/>
                  </a:lnTo>
                  <a:lnTo>
                    <a:pt x="112" y="24"/>
                  </a:lnTo>
                  <a:lnTo>
                    <a:pt x="112" y="19"/>
                  </a:lnTo>
                  <a:lnTo>
                    <a:pt x="115" y="13"/>
                  </a:lnTo>
                  <a:lnTo>
                    <a:pt x="115" y="8"/>
                  </a:lnTo>
                  <a:lnTo>
                    <a:pt x="115" y="3"/>
                  </a:lnTo>
                  <a:lnTo>
                    <a:pt x="108" y="0"/>
                  </a:lnTo>
                  <a:lnTo>
                    <a:pt x="103" y="3"/>
                  </a:lnTo>
                  <a:lnTo>
                    <a:pt x="97" y="3"/>
                  </a:lnTo>
                  <a:lnTo>
                    <a:pt x="85" y="3"/>
                  </a:lnTo>
                  <a:lnTo>
                    <a:pt x="72" y="3"/>
                  </a:lnTo>
                  <a:lnTo>
                    <a:pt x="67" y="3"/>
                  </a:lnTo>
                  <a:lnTo>
                    <a:pt x="61" y="3"/>
                  </a:lnTo>
                </a:path>
              </a:pathLst>
            </a:custGeom>
            <a:noFill/>
            <a:ln w="12700" cap="rnd" cmpd="sng">
              <a:solidFill>
                <a:srgbClr val="919191"/>
              </a:solidFill>
              <a:prstDash val="solid"/>
              <a:round/>
              <a:headEnd type="none" w="med" len="med"/>
              <a:tailEnd type="none" w="med" len="med"/>
            </a:ln>
          </p:spPr>
          <p:txBody>
            <a:bodyPr/>
            <a:lstStyle/>
            <a:p>
              <a:endParaRPr lang="en-US"/>
            </a:p>
          </p:txBody>
        </p:sp>
        <p:sp>
          <p:nvSpPr>
            <p:cNvPr id="20593" name="Freeform 71"/>
            <p:cNvSpPr>
              <a:spLocks noChangeAspect="1"/>
            </p:cNvSpPr>
            <p:nvPr/>
          </p:nvSpPr>
          <p:spPr bwMode="auto">
            <a:xfrm>
              <a:off x="4998" y="4366"/>
              <a:ext cx="71" cy="77"/>
            </a:xfrm>
            <a:custGeom>
              <a:avLst/>
              <a:gdLst>
                <a:gd name="T0" fmla="*/ 0 w 114"/>
                <a:gd name="T1" fmla="*/ 29 h 124"/>
                <a:gd name="T2" fmla="*/ 1 w 114"/>
                <a:gd name="T3" fmla="*/ 28 h 124"/>
                <a:gd name="T4" fmla="*/ 2 w 114"/>
                <a:gd name="T5" fmla="*/ 27 h 124"/>
                <a:gd name="T6" fmla="*/ 2 w 114"/>
                <a:gd name="T7" fmla="*/ 25 h 124"/>
                <a:gd name="T8" fmla="*/ 4 w 114"/>
                <a:gd name="T9" fmla="*/ 24 h 124"/>
                <a:gd name="T10" fmla="*/ 4 w 114"/>
                <a:gd name="T11" fmla="*/ 23 h 124"/>
                <a:gd name="T12" fmla="*/ 7 w 114"/>
                <a:gd name="T13" fmla="*/ 22 h 124"/>
                <a:gd name="T14" fmla="*/ 7 w 114"/>
                <a:gd name="T15" fmla="*/ 22 h 124"/>
                <a:gd name="T16" fmla="*/ 10 w 114"/>
                <a:gd name="T17" fmla="*/ 20 h 124"/>
                <a:gd name="T18" fmla="*/ 11 w 114"/>
                <a:gd name="T19" fmla="*/ 19 h 124"/>
                <a:gd name="T20" fmla="*/ 12 w 114"/>
                <a:gd name="T21" fmla="*/ 19 h 124"/>
                <a:gd name="T22" fmla="*/ 13 w 114"/>
                <a:gd name="T23" fmla="*/ 17 h 124"/>
                <a:gd name="T24" fmla="*/ 14 w 114"/>
                <a:gd name="T25" fmla="*/ 16 h 124"/>
                <a:gd name="T26" fmla="*/ 14 w 114"/>
                <a:gd name="T27" fmla="*/ 15 h 124"/>
                <a:gd name="T28" fmla="*/ 16 w 114"/>
                <a:gd name="T29" fmla="*/ 14 h 124"/>
                <a:gd name="T30" fmla="*/ 16 w 114"/>
                <a:gd name="T31" fmla="*/ 13 h 124"/>
                <a:gd name="T32" fmla="*/ 17 w 114"/>
                <a:gd name="T33" fmla="*/ 12 h 124"/>
                <a:gd name="T34" fmla="*/ 19 w 114"/>
                <a:gd name="T35" fmla="*/ 11 h 124"/>
                <a:gd name="T36" fmla="*/ 19 w 114"/>
                <a:gd name="T37" fmla="*/ 10 h 124"/>
                <a:gd name="T38" fmla="*/ 21 w 114"/>
                <a:gd name="T39" fmla="*/ 9 h 124"/>
                <a:gd name="T40" fmla="*/ 22 w 114"/>
                <a:gd name="T41" fmla="*/ 7 h 124"/>
                <a:gd name="T42" fmla="*/ 23 w 114"/>
                <a:gd name="T43" fmla="*/ 7 h 124"/>
                <a:gd name="T44" fmla="*/ 24 w 114"/>
                <a:gd name="T45" fmla="*/ 6 h 124"/>
                <a:gd name="T46" fmla="*/ 24 w 114"/>
                <a:gd name="T47" fmla="*/ 4 h 124"/>
                <a:gd name="T48" fmla="*/ 25 w 114"/>
                <a:gd name="T49" fmla="*/ 4 h 124"/>
                <a:gd name="T50" fmla="*/ 26 w 114"/>
                <a:gd name="T51" fmla="*/ 2 h 124"/>
                <a:gd name="T52" fmla="*/ 26 w 114"/>
                <a:gd name="T53" fmla="*/ 1 h 124"/>
                <a:gd name="T54" fmla="*/ 27 w 114"/>
                <a:gd name="T55" fmla="*/ 0 h 12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4"/>
                <a:gd name="T85" fmla="*/ 0 h 124"/>
                <a:gd name="T86" fmla="*/ 114 w 114"/>
                <a:gd name="T87" fmla="*/ 124 h 124"/>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4" h="124">
                  <a:moveTo>
                    <a:pt x="0" y="123"/>
                  </a:moveTo>
                  <a:lnTo>
                    <a:pt x="6" y="118"/>
                  </a:lnTo>
                  <a:lnTo>
                    <a:pt x="9" y="112"/>
                  </a:lnTo>
                  <a:lnTo>
                    <a:pt x="11" y="107"/>
                  </a:lnTo>
                  <a:lnTo>
                    <a:pt x="15" y="102"/>
                  </a:lnTo>
                  <a:lnTo>
                    <a:pt x="20" y="96"/>
                  </a:lnTo>
                  <a:lnTo>
                    <a:pt x="27" y="94"/>
                  </a:lnTo>
                  <a:lnTo>
                    <a:pt x="32" y="91"/>
                  </a:lnTo>
                  <a:lnTo>
                    <a:pt x="41" y="86"/>
                  </a:lnTo>
                  <a:lnTo>
                    <a:pt x="45" y="80"/>
                  </a:lnTo>
                  <a:lnTo>
                    <a:pt x="50" y="78"/>
                  </a:lnTo>
                  <a:lnTo>
                    <a:pt x="54" y="72"/>
                  </a:lnTo>
                  <a:lnTo>
                    <a:pt x="56" y="67"/>
                  </a:lnTo>
                  <a:lnTo>
                    <a:pt x="59" y="62"/>
                  </a:lnTo>
                  <a:lnTo>
                    <a:pt x="65" y="59"/>
                  </a:lnTo>
                  <a:lnTo>
                    <a:pt x="65" y="54"/>
                  </a:lnTo>
                  <a:lnTo>
                    <a:pt x="72" y="51"/>
                  </a:lnTo>
                  <a:lnTo>
                    <a:pt x="77" y="46"/>
                  </a:lnTo>
                  <a:lnTo>
                    <a:pt x="81" y="40"/>
                  </a:lnTo>
                  <a:lnTo>
                    <a:pt x="86" y="38"/>
                  </a:lnTo>
                  <a:lnTo>
                    <a:pt x="90" y="32"/>
                  </a:lnTo>
                  <a:lnTo>
                    <a:pt x="95" y="30"/>
                  </a:lnTo>
                  <a:lnTo>
                    <a:pt x="98" y="24"/>
                  </a:lnTo>
                  <a:lnTo>
                    <a:pt x="101" y="19"/>
                  </a:lnTo>
                  <a:lnTo>
                    <a:pt x="104" y="14"/>
                  </a:lnTo>
                  <a:lnTo>
                    <a:pt x="107" y="8"/>
                  </a:lnTo>
                  <a:lnTo>
                    <a:pt x="107" y="3"/>
                  </a:lnTo>
                  <a:lnTo>
                    <a:pt x="113" y="0"/>
                  </a:lnTo>
                </a:path>
              </a:pathLst>
            </a:custGeom>
            <a:noFill/>
            <a:ln w="12700" cap="rnd" cmpd="sng">
              <a:solidFill>
                <a:srgbClr val="919191"/>
              </a:solidFill>
              <a:prstDash val="solid"/>
              <a:round/>
              <a:headEnd type="none" w="med" len="med"/>
              <a:tailEnd type="none" w="med" len="med"/>
            </a:ln>
          </p:spPr>
          <p:txBody>
            <a:bodyPr/>
            <a:lstStyle/>
            <a:p>
              <a:endParaRPr lang="en-US"/>
            </a:p>
          </p:txBody>
        </p:sp>
        <p:sp>
          <p:nvSpPr>
            <p:cNvPr id="20594" name="Freeform 72"/>
            <p:cNvSpPr>
              <a:spLocks noChangeAspect="1"/>
            </p:cNvSpPr>
            <p:nvPr/>
          </p:nvSpPr>
          <p:spPr bwMode="auto">
            <a:xfrm>
              <a:off x="4994" y="4401"/>
              <a:ext cx="92" cy="77"/>
            </a:xfrm>
            <a:custGeom>
              <a:avLst/>
              <a:gdLst>
                <a:gd name="T0" fmla="*/ 0 w 148"/>
                <a:gd name="T1" fmla="*/ 28 h 124"/>
                <a:gd name="T2" fmla="*/ 1 w 148"/>
                <a:gd name="T3" fmla="*/ 28 h 124"/>
                <a:gd name="T4" fmla="*/ 2 w 148"/>
                <a:gd name="T5" fmla="*/ 28 h 124"/>
                <a:gd name="T6" fmla="*/ 4 w 148"/>
                <a:gd name="T7" fmla="*/ 28 h 124"/>
                <a:gd name="T8" fmla="*/ 6 w 148"/>
                <a:gd name="T9" fmla="*/ 28 h 124"/>
                <a:gd name="T10" fmla="*/ 7 w 148"/>
                <a:gd name="T11" fmla="*/ 28 h 124"/>
                <a:gd name="T12" fmla="*/ 11 w 148"/>
                <a:gd name="T13" fmla="*/ 29 h 124"/>
                <a:gd name="T14" fmla="*/ 13 w 148"/>
                <a:gd name="T15" fmla="*/ 29 h 124"/>
                <a:gd name="T16" fmla="*/ 15 w 148"/>
                <a:gd name="T17" fmla="*/ 29 h 124"/>
                <a:gd name="T18" fmla="*/ 16 w 148"/>
                <a:gd name="T19" fmla="*/ 29 h 124"/>
                <a:gd name="T20" fmla="*/ 17 w 148"/>
                <a:gd name="T21" fmla="*/ 29 h 124"/>
                <a:gd name="T22" fmla="*/ 19 w 148"/>
                <a:gd name="T23" fmla="*/ 29 h 124"/>
                <a:gd name="T24" fmla="*/ 20 w 148"/>
                <a:gd name="T25" fmla="*/ 27 h 124"/>
                <a:gd name="T26" fmla="*/ 21 w 148"/>
                <a:gd name="T27" fmla="*/ 26 h 124"/>
                <a:gd name="T28" fmla="*/ 22 w 148"/>
                <a:gd name="T29" fmla="*/ 25 h 124"/>
                <a:gd name="T30" fmla="*/ 24 w 148"/>
                <a:gd name="T31" fmla="*/ 24 h 124"/>
                <a:gd name="T32" fmla="*/ 24 w 148"/>
                <a:gd name="T33" fmla="*/ 23 h 124"/>
                <a:gd name="T34" fmla="*/ 25 w 148"/>
                <a:gd name="T35" fmla="*/ 22 h 124"/>
                <a:gd name="T36" fmla="*/ 27 w 148"/>
                <a:gd name="T37" fmla="*/ 21 h 124"/>
                <a:gd name="T38" fmla="*/ 27 w 148"/>
                <a:gd name="T39" fmla="*/ 20 h 124"/>
                <a:gd name="T40" fmla="*/ 29 w 148"/>
                <a:gd name="T41" fmla="*/ 19 h 124"/>
                <a:gd name="T42" fmla="*/ 30 w 148"/>
                <a:gd name="T43" fmla="*/ 19 h 124"/>
                <a:gd name="T44" fmla="*/ 31 w 148"/>
                <a:gd name="T45" fmla="*/ 17 h 124"/>
                <a:gd name="T46" fmla="*/ 32 w 148"/>
                <a:gd name="T47" fmla="*/ 17 h 124"/>
                <a:gd name="T48" fmla="*/ 33 w 148"/>
                <a:gd name="T49" fmla="*/ 16 h 124"/>
                <a:gd name="T50" fmla="*/ 35 w 148"/>
                <a:gd name="T51" fmla="*/ 15 h 124"/>
                <a:gd name="T52" fmla="*/ 35 w 148"/>
                <a:gd name="T53" fmla="*/ 14 h 124"/>
                <a:gd name="T54" fmla="*/ 35 w 148"/>
                <a:gd name="T55" fmla="*/ 12 h 124"/>
                <a:gd name="T56" fmla="*/ 35 w 148"/>
                <a:gd name="T57" fmla="*/ 11 h 124"/>
                <a:gd name="T58" fmla="*/ 34 w 148"/>
                <a:gd name="T59" fmla="*/ 10 h 124"/>
                <a:gd name="T60" fmla="*/ 34 w 148"/>
                <a:gd name="T61" fmla="*/ 9 h 124"/>
                <a:gd name="T62" fmla="*/ 34 w 148"/>
                <a:gd name="T63" fmla="*/ 7 h 124"/>
                <a:gd name="T64" fmla="*/ 33 w 148"/>
                <a:gd name="T65" fmla="*/ 6 h 124"/>
                <a:gd name="T66" fmla="*/ 33 w 148"/>
                <a:gd name="T67" fmla="*/ 4 h 124"/>
                <a:gd name="T68" fmla="*/ 33 w 148"/>
                <a:gd name="T69" fmla="*/ 4 h 124"/>
                <a:gd name="T70" fmla="*/ 32 w 148"/>
                <a:gd name="T71" fmla="*/ 2 h 124"/>
                <a:gd name="T72" fmla="*/ 32 w 148"/>
                <a:gd name="T73" fmla="*/ 1 h 124"/>
                <a:gd name="T74" fmla="*/ 31 w 148"/>
                <a:gd name="T75" fmla="*/ 0 h 124"/>
                <a:gd name="T76" fmla="*/ 28 w 148"/>
                <a:gd name="T77" fmla="*/ 0 h 124"/>
                <a:gd name="T78" fmla="*/ 25 w 148"/>
                <a:gd name="T79" fmla="*/ 0 h 124"/>
                <a:gd name="T80" fmla="*/ 24 w 148"/>
                <a:gd name="T81" fmla="*/ 0 h 124"/>
                <a:gd name="T82" fmla="*/ 22 w 148"/>
                <a:gd name="T83" fmla="*/ 1 h 124"/>
                <a:gd name="T84" fmla="*/ 21 w 148"/>
                <a:gd name="T85" fmla="*/ 1 h 124"/>
                <a:gd name="T86" fmla="*/ 19 w 148"/>
                <a:gd name="T87" fmla="*/ 1 h 124"/>
                <a:gd name="T88" fmla="*/ 18 w 148"/>
                <a:gd name="T89" fmla="*/ 1 h 124"/>
                <a:gd name="T90" fmla="*/ 17 w 148"/>
                <a:gd name="T91" fmla="*/ 1 h 12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48"/>
                <a:gd name="T139" fmla="*/ 0 h 124"/>
                <a:gd name="T140" fmla="*/ 148 w 148"/>
                <a:gd name="T141" fmla="*/ 124 h 124"/>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48" h="124">
                  <a:moveTo>
                    <a:pt x="0" y="118"/>
                  </a:moveTo>
                  <a:lnTo>
                    <a:pt x="7" y="118"/>
                  </a:lnTo>
                  <a:lnTo>
                    <a:pt x="12" y="118"/>
                  </a:lnTo>
                  <a:lnTo>
                    <a:pt x="18" y="118"/>
                  </a:lnTo>
                  <a:lnTo>
                    <a:pt x="25" y="118"/>
                  </a:lnTo>
                  <a:lnTo>
                    <a:pt x="30" y="118"/>
                  </a:lnTo>
                  <a:lnTo>
                    <a:pt x="43" y="123"/>
                  </a:lnTo>
                  <a:lnTo>
                    <a:pt x="54" y="123"/>
                  </a:lnTo>
                  <a:lnTo>
                    <a:pt x="61" y="123"/>
                  </a:lnTo>
                  <a:lnTo>
                    <a:pt x="66" y="123"/>
                  </a:lnTo>
                  <a:lnTo>
                    <a:pt x="72" y="123"/>
                  </a:lnTo>
                  <a:lnTo>
                    <a:pt x="79" y="120"/>
                  </a:lnTo>
                  <a:lnTo>
                    <a:pt x="84" y="115"/>
                  </a:lnTo>
                  <a:lnTo>
                    <a:pt x="88" y="110"/>
                  </a:lnTo>
                  <a:lnTo>
                    <a:pt x="93" y="107"/>
                  </a:lnTo>
                  <a:lnTo>
                    <a:pt x="99" y="102"/>
                  </a:lnTo>
                  <a:lnTo>
                    <a:pt x="102" y="96"/>
                  </a:lnTo>
                  <a:lnTo>
                    <a:pt x="105" y="91"/>
                  </a:lnTo>
                  <a:lnTo>
                    <a:pt x="111" y="88"/>
                  </a:lnTo>
                  <a:lnTo>
                    <a:pt x="114" y="83"/>
                  </a:lnTo>
                  <a:lnTo>
                    <a:pt x="120" y="80"/>
                  </a:lnTo>
                  <a:lnTo>
                    <a:pt x="126" y="78"/>
                  </a:lnTo>
                  <a:lnTo>
                    <a:pt x="129" y="72"/>
                  </a:lnTo>
                  <a:lnTo>
                    <a:pt x="135" y="70"/>
                  </a:lnTo>
                  <a:lnTo>
                    <a:pt x="138" y="64"/>
                  </a:lnTo>
                  <a:lnTo>
                    <a:pt x="144" y="62"/>
                  </a:lnTo>
                  <a:lnTo>
                    <a:pt x="147" y="56"/>
                  </a:lnTo>
                  <a:lnTo>
                    <a:pt x="147" y="51"/>
                  </a:lnTo>
                  <a:lnTo>
                    <a:pt x="147" y="46"/>
                  </a:lnTo>
                  <a:lnTo>
                    <a:pt x="141" y="40"/>
                  </a:lnTo>
                  <a:lnTo>
                    <a:pt x="141" y="35"/>
                  </a:lnTo>
                  <a:lnTo>
                    <a:pt x="141" y="30"/>
                  </a:lnTo>
                  <a:lnTo>
                    <a:pt x="138" y="24"/>
                  </a:lnTo>
                  <a:lnTo>
                    <a:pt x="138" y="19"/>
                  </a:lnTo>
                  <a:lnTo>
                    <a:pt x="138" y="14"/>
                  </a:lnTo>
                  <a:lnTo>
                    <a:pt x="135" y="8"/>
                  </a:lnTo>
                  <a:lnTo>
                    <a:pt x="135" y="3"/>
                  </a:lnTo>
                  <a:lnTo>
                    <a:pt x="129" y="0"/>
                  </a:lnTo>
                  <a:lnTo>
                    <a:pt x="117" y="0"/>
                  </a:lnTo>
                  <a:lnTo>
                    <a:pt x="105" y="0"/>
                  </a:lnTo>
                  <a:lnTo>
                    <a:pt x="99" y="0"/>
                  </a:lnTo>
                  <a:lnTo>
                    <a:pt x="93" y="3"/>
                  </a:lnTo>
                  <a:lnTo>
                    <a:pt x="88" y="3"/>
                  </a:lnTo>
                  <a:lnTo>
                    <a:pt x="81" y="6"/>
                  </a:lnTo>
                  <a:lnTo>
                    <a:pt x="75" y="6"/>
                  </a:lnTo>
                  <a:lnTo>
                    <a:pt x="70" y="6"/>
                  </a:lnTo>
                </a:path>
              </a:pathLst>
            </a:custGeom>
            <a:noFill/>
            <a:ln w="12700" cap="rnd" cmpd="sng">
              <a:solidFill>
                <a:srgbClr val="919191"/>
              </a:solidFill>
              <a:prstDash val="solid"/>
              <a:round/>
              <a:headEnd type="none" w="med" len="med"/>
              <a:tailEnd type="none" w="med" len="med"/>
            </a:ln>
          </p:spPr>
          <p:txBody>
            <a:bodyPr/>
            <a:lstStyle/>
            <a:p>
              <a:endParaRPr lang="en-US"/>
            </a:p>
          </p:txBody>
        </p:sp>
        <p:sp>
          <p:nvSpPr>
            <p:cNvPr id="20595" name="Freeform 73"/>
            <p:cNvSpPr>
              <a:spLocks noChangeAspect="1"/>
            </p:cNvSpPr>
            <p:nvPr/>
          </p:nvSpPr>
          <p:spPr bwMode="auto">
            <a:xfrm>
              <a:off x="5091" y="4395"/>
              <a:ext cx="59" cy="42"/>
            </a:xfrm>
            <a:custGeom>
              <a:avLst/>
              <a:gdLst>
                <a:gd name="T0" fmla="*/ 0 w 94"/>
                <a:gd name="T1" fmla="*/ 16 h 67"/>
                <a:gd name="T2" fmla="*/ 2 w 94"/>
                <a:gd name="T3" fmla="*/ 16 h 67"/>
                <a:gd name="T4" fmla="*/ 3 w 94"/>
                <a:gd name="T5" fmla="*/ 16 h 67"/>
                <a:gd name="T6" fmla="*/ 4 w 94"/>
                <a:gd name="T7" fmla="*/ 15 h 67"/>
                <a:gd name="T8" fmla="*/ 6 w 94"/>
                <a:gd name="T9" fmla="*/ 15 h 67"/>
                <a:gd name="T10" fmla="*/ 8 w 94"/>
                <a:gd name="T11" fmla="*/ 15 h 67"/>
                <a:gd name="T12" fmla="*/ 9 w 94"/>
                <a:gd name="T13" fmla="*/ 14 h 67"/>
                <a:gd name="T14" fmla="*/ 10 w 94"/>
                <a:gd name="T15" fmla="*/ 14 h 67"/>
                <a:gd name="T16" fmla="*/ 12 w 94"/>
                <a:gd name="T17" fmla="*/ 14 h 67"/>
                <a:gd name="T18" fmla="*/ 12 w 94"/>
                <a:gd name="T19" fmla="*/ 12 h 67"/>
                <a:gd name="T20" fmla="*/ 13 w 94"/>
                <a:gd name="T21" fmla="*/ 11 h 67"/>
                <a:gd name="T22" fmla="*/ 14 w 94"/>
                <a:gd name="T23" fmla="*/ 10 h 67"/>
                <a:gd name="T24" fmla="*/ 16 w 94"/>
                <a:gd name="T25" fmla="*/ 9 h 67"/>
                <a:gd name="T26" fmla="*/ 16 w 94"/>
                <a:gd name="T27" fmla="*/ 8 h 67"/>
                <a:gd name="T28" fmla="*/ 18 w 94"/>
                <a:gd name="T29" fmla="*/ 6 h 67"/>
                <a:gd name="T30" fmla="*/ 19 w 94"/>
                <a:gd name="T31" fmla="*/ 5 h 67"/>
                <a:gd name="T32" fmla="*/ 21 w 94"/>
                <a:gd name="T33" fmla="*/ 4 h 67"/>
                <a:gd name="T34" fmla="*/ 21 w 94"/>
                <a:gd name="T35" fmla="*/ 3 h 67"/>
                <a:gd name="T36" fmla="*/ 23 w 94"/>
                <a:gd name="T37" fmla="*/ 1 h 67"/>
                <a:gd name="T38" fmla="*/ 23 w 94"/>
                <a:gd name="T39" fmla="*/ 0 h 6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94"/>
                <a:gd name="T61" fmla="*/ 0 h 67"/>
                <a:gd name="T62" fmla="*/ 94 w 94"/>
                <a:gd name="T63" fmla="*/ 67 h 6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94" h="67">
                  <a:moveTo>
                    <a:pt x="0" y="66"/>
                  </a:moveTo>
                  <a:lnTo>
                    <a:pt x="6" y="66"/>
                  </a:lnTo>
                  <a:lnTo>
                    <a:pt x="12" y="64"/>
                  </a:lnTo>
                  <a:lnTo>
                    <a:pt x="18" y="61"/>
                  </a:lnTo>
                  <a:lnTo>
                    <a:pt x="24" y="61"/>
                  </a:lnTo>
                  <a:lnTo>
                    <a:pt x="30" y="61"/>
                  </a:lnTo>
                  <a:lnTo>
                    <a:pt x="36" y="58"/>
                  </a:lnTo>
                  <a:lnTo>
                    <a:pt x="41" y="58"/>
                  </a:lnTo>
                  <a:lnTo>
                    <a:pt x="48" y="56"/>
                  </a:lnTo>
                  <a:lnTo>
                    <a:pt x="50" y="50"/>
                  </a:lnTo>
                  <a:lnTo>
                    <a:pt x="54" y="45"/>
                  </a:lnTo>
                  <a:lnTo>
                    <a:pt x="57" y="40"/>
                  </a:lnTo>
                  <a:lnTo>
                    <a:pt x="63" y="37"/>
                  </a:lnTo>
                  <a:lnTo>
                    <a:pt x="66" y="32"/>
                  </a:lnTo>
                  <a:lnTo>
                    <a:pt x="72" y="26"/>
                  </a:lnTo>
                  <a:lnTo>
                    <a:pt x="77" y="21"/>
                  </a:lnTo>
                  <a:lnTo>
                    <a:pt x="84" y="16"/>
                  </a:lnTo>
                  <a:lnTo>
                    <a:pt x="86" y="10"/>
                  </a:lnTo>
                  <a:lnTo>
                    <a:pt x="93" y="5"/>
                  </a:lnTo>
                  <a:lnTo>
                    <a:pt x="93" y="0"/>
                  </a:lnTo>
                </a:path>
              </a:pathLst>
            </a:custGeom>
            <a:noFill/>
            <a:ln w="12700" cap="rnd" cmpd="sng">
              <a:solidFill>
                <a:srgbClr val="919191"/>
              </a:solidFill>
              <a:prstDash val="solid"/>
              <a:round/>
              <a:headEnd type="none" w="med" len="med"/>
              <a:tailEnd type="none" w="med" len="med"/>
            </a:ln>
          </p:spPr>
          <p:txBody>
            <a:bodyPr/>
            <a:lstStyle/>
            <a:p>
              <a:endParaRPr lang="en-US"/>
            </a:p>
          </p:txBody>
        </p:sp>
        <p:sp>
          <p:nvSpPr>
            <p:cNvPr id="20596" name="Freeform 74"/>
            <p:cNvSpPr>
              <a:spLocks noChangeAspect="1"/>
            </p:cNvSpPr>
            <p:nvPr/>
          </p:nvSpPr>
          <p:spPr bwMode="auto">
            <a:xfrm>
              <a:off x="5078" y="4360"/>
              <a:ext cx="79" cy="40"/>
            </a:xfrm>
            <a:custGeom>
              <a:avLst/>
              <a:gdLst>
                <a:gd name="T0" fmla="*/ 0 w 126"/>
                <a:gd name="T1" fmla="*/ 15 h 65"/>
                <a:gd name="T2" fmla="*/ 2 w 126"/>
                <a:gd name="T3" fmla="*/ 14 h 65"/>
                <a:gd name="T4" fmla="*/ 2 w 126"/>
                <a:gd name="T5" fmla="*/ 13 h 65"/>
                <a:gd name="T6" fmla="*/ 3 w 126"/>
                <a:gd name="T7" fmla="*/ 12 h 65"/>
                <a:gd name="T8" fmla="*/ 4 w 126"/>
                <a:gd name="T9" fmla="*/ 11 h 65"/>
                <a:gd name="T10" fmla="*/ 5 w 126"/>
                <a:gd name="T11" fmla="*/ 10 h 65"/>
                <a:gd name="T12" fmla="*/ 7 w 126"/>
                <a:gd name="T13" fmla="*/ 9 h 65"/>
                <a:gd name="T14" fmla="*/ 10 w 126"/>
                <a:gd name="T15" fmla="*/ 7 h 65"/>
                <a:gd name="T16" fmla="*/ 12 w 126"/>
                <a:gd name="T17" fmla="*/ 6 h 65"/>
                <a:gd name="T18" fmla="*/ 13 w 126"/>
                <a:gd name="T19" fmla="*/ 5 h 65"/>
                <a:gd name="T20" fmla="*/ 14 w 126"/>
                <a:gd name="T21" fmla="*/ 4 h 65"/>
                <a:gd name="T22" fmla="*/ 16 w 126"/>
                <a:gd name="T23" fmla="*/ 3 h 65"/>
                <a:gd name="T24" fmla="*/ 16 w 126"/>
                <a:gd name="T25" fmla="*/ 2 h 65"/>
                <a:gd name="T26" fmla="*/ 18 w 126"/>
                <a:gd name="T27" fmla="*/ 2 h 65"/>
                <a:gd name="T28" fmla="*/ 19 w 126"/>
                <a:gd name="T29" fmla="*/ 1 h 65"/>
                <a:gd name="T30" fmla="*/ 21 w 126"/>
                <a:gd name="T31" fmla="*/ 1 h 65"/>
                <a:gd name="T32" fmla="*/ 22 w 126"/>
                <a:gd name="T33" fmla="*/ 1 h 65"/>
                <a:gd name="T34" fmla="*/ 24 w 126"/>
                <a:gd name="T35" fmla="*/ 1 h 65"/>
                <a:gd name="T36" fmla="*/ 25 w 126"/>
                <a:gd name="T37" fmla="*/ 1 h 65"/>
                <a:gd name="T38" fmla="*/ 26 w 126"/>
                <a:gd name="T39" fmla="*/ 1 h 65"/>
                <a:gd name="T40" fmla="*/ 28 w 126"/>
                <a:gd name="T41" fmla="*/ 1 h 65"/>
                <a:gd name="T42" fmla="*/ 29 w 126"/>
                <a:gd name="T43" fmla="*/ 1 h 65"/>
                <a:gd name="T44" fmla="*/ 31 w 126"/>
                <a:gd name="T45" fmla="*/ 0 h 6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6"/>
                <a:gd name="T70" fmla="*/ 0 h 65"/>
                <a:gd name="T71" fmla="*/ 126 w 126"/>
                <a:gd name="T72" fmla="*/ 65 h 6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6" h="65">
                  <a:moveTo>
                    <a:pt x="0" y="64"/>
                  </a:moveTo>
                  <a:lnTo>
                    <a:pt x="7" y="61"/>
                  </a:lnTo>
                  <a:lnTo>
                    <a:pt x="7" y="56"/>
                  </a:lnTo>
                  <a:lnTo>
                    <a:pt x="12" y="53"/>
                  </a:lnTo>
                  <a:lnTo>
                    <a:pt x="16" y="48"/>
                  </a:lnTo>
                  <a:lnTo>
                    <a:pt x="21" y="42"/>
                  </a:lnTo>
                  <a:lnTo>
                    <a:pt x="27" y="37"/>
                  </a:lnTo>
                  <a:lnTo>
                    <a:pt x="42" y="29"/>
                  </a:lnTo>
                  <a:lnTo>
                    <a:pt x="48" y="24"/>
                  </a:lnTo>
                  <a:lnTo>
                    <a:pt x="54" y="21"/>
                  </a:lnTo>
                  <a:lnTo>
                    <a:pt x="57" y="16"/>
                  </a:lnTo>
                  <a:lnTo>
                    <a:pt x="63" y="13"/>
                  </a:lnTo>
                  <a:lnTo>
                    <a:pt x="66" y="8"/>
                  </a:lnTo>
                  <a:lnTo>
                    <a:pt x="71" y="8"/>
                  </a:lnTo>
                  <a:lnTo>
                    <a:pt x="78" y="5"/>
                  </a:lnTo>
                  <a:lnTo>
                    <a:pt x="84" y="5"/>
                  </a:lnTo>
                  <a:lnTo>
                    <a:pt x="89" y="2"/>
                  </a:lnTo>
                  <a:lnTo>
                    <a:pt x="96" y="2"/>
                  </a:lnTo>
                  <a:lnTo>
                    <a:pt x="102" y="2"/>
                  </a:lnTo>
                  <a:lnTo>
                    <a:pt x="107" y="2"/>
                  </a:lnTo>
                  <a:lnTo>
                    <a:pt x="114" y="2"/>
                  </a:lnTo>
                  <a:lnTo>
                    <a:pt x="119" y="2"/>
                  </a:lnTo>
                  <a:lnTo>
                    <a:pt x="125" y="0"/>
                  </a:lnTo>
                </a:path>
              </a:pathLst>
            </a:custGeom>
            <a:noFill/>
            <a:ln w="12700" cap="rnd" cmpd="sng">
              <a:solidFill>
                <a:srgbClr val="919191"/>
              </a:solidFill>
              <a:prstDash val="solid"/>
              <a:round/>
              <a:headEnd type="none" w="med" len="med"/>
              <a:tailEnd type="none" w="med" len="med"/>
            </a:ln>
          </p:spPr>
          <p:txBody>
            <a:bodyPr/>
            <a:lstStyle/>
            <a:p>
              <a:endParaRPr lang="en-US"/>
            </a:p>
          </p:txBody>
        </p:sp>
        <p:sp>
          <p:nvSpPr>
            <p:cNvPr id="20597" name="Freeform 75"/>
            <p:cNvSpPr>
              <a:spLocks noChangeAspect="1"/>
            </p:cNvSpPr>
            <p:nvPr/>
          </p:nvSpPr>
          <p:spPr bwMode="auto">
            <a:xfrm>
              <a:off x="5130" y="4333"/>
              <a:ext cx="9" cy="29"/>
            </a:xfrm>
            <a:custGeom>
              <a:avLst/>
              <a:gdLst>
                <a:gd name="T0" fmla="*/ 0 w 14"/>
                <a:gd name="T1" fmla="*/ 11 h 46"/>
                <a:gd name="T2" fmla="*/ 2 w 14"/>
                <a:gd name="T3" fmla="*/ 11 h 46"/>
                <a:gd name="T4" fmla="*/ 2 w 14"/>
                <a:gd name="T5" fmla="*/ 9 h 46"/>
                <a:gd name="T6" fmla="*/ 2 w 14"/>
                <a:gd name="T7" fmla="*/ 8 h 46"/>
                <a:gd name="T8" fmla="*/ 3 w 14"/>
                <a:gd name="T9" fmla="*/ 7 h 46"/>
                <a:gd name="T10" fmla="*/ 3 w 14"/>
                <a:gd name="T11" fmla="*/ 5 h 46"/>
                <a:gd name="T12" fmla="*/ 3 w 14"/>
                <a:gd name="T13" fmla="*/ 4 h 46"/>
                <a:gd name="T14" fmla="*/ 3 w 14"/>
                <a:gd name="T15" fmla="*/ 3 h 46"/>
                <a:gd name="T16" fmla="*/ 3 w 14"/>
                <a:gd name="T17" fmla="*/ 1 h 46"/>
                <a:gd name="T18" fmla="*/ 3 w 14"/>
                <a:gd name="T19" fmla="*/ 0 h 4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
                <a:gd name="T31" fmla="*/ 0 h 46"/>
                <a:gd name="T32" fmla="*/ 14 w 14"/>
                <a:gd name="T33" fmla="*/ 46 h 4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 h="46">
                  <a:moveTo>
                    <a:pt x="0" y="45"/>
                  </a:moveTo>
                  <a:lnTo>
                    <a:pt x="6" y="43"/>
                  </a:lnTo>
                  <a:lnTo>
                    <a:pt x="6" y="37"/>
                  </a:lnTo>
                  <a:lnTo>
                    <a:pt x="6" y="32"/>
                  </a:lnTo>
                  <a:lnTo>
                    <a:pt x="9" y="27"/>
                  </a:lnTo>
                  <a:lnTo>
                    <a:pt x="9" y="21"/>
                  </a:lnTo>
                  <a:lnTo>
                    <a:pt x="13" y="16"/>
                  </a:lnTo>
                  <a:lnTo>
                    <a:pt x="13" y="11"/>
                  </a:lnTo>
                  <a:lnTo>
                    <a:pt x="9" y="5"/>
                  </a:lnTo>
                  <a:lnTo>
                    <a:pt x="9" y="0"/>
                  </a:lnTo>
                </a:path>
              </a:pathLst>
            </a:custGeom>
            <a:noFill/>
            <a:ln w="12700" cap="rnd" cmpd="sng">
              <a:solidFill>
                <a:srgbClr val="919191"/>
              </a:solidFill>
              <a:prstDash val="solid"/>
              <a:round/>
              <a:headEnd type="none" w="med" len="med"/>
              <a:tailEnd type="none" w="med" len="med"/>
            </a:ln>
          </p:spPr>
          <p:txBody>
            <a:bodyPr/>
            <a:lstStyle/>
            <a:p>
              <a:endParaRPr lang="en-US"/>
            </a:p>
          </p:txBody>
        </p:sp>
        <p:sp>
          <p:nvSpPr>
            <p:cNvPr id="20598" name="Freeform 76"/>
            <p:cNvSpPr>
              <a:spLocks noChangeAspect="1"/>
            </p:cNvSpPr>
            <p:nvPr/>
          </p:nvSpPr>
          <p:spPr bwMode="auto">
            <a:xfrm>
              <a:off x="4955" y="4480"/>
              <a:ext cx="86" cy="45"/>
            </a:xfrm>
            <a:custGeom>
              <a:avLst/>
              <a:gdLst>
                <a:gd name="T0" fmla="*/ 33 w 139"/>
                <a:gd name="T1" fmla="*/ 0 h 73"/>
                <a:gd name="T2" fmla="*/ 33 w 139"/>
                <a:gd name="T3" fmla="*/ 1 h 73"/>
                <a:gd name="T4" fmla="*/ 33 w 139"/>
                <a:gd name="T5" fmla="*/ 2 h 73"/>
                <a:gd name="T6" fmla="*/ 32 w 139"/>
                <a:gd name="T7" fmla="*/ 4 h 73"/>
                <a:gd name="T8" fmla="*/ 32 w 139"/>
                <a:gd name="T9" fmla="*/ 5 h 73"/>
                <a:gd name="T10" fmla="*/ 32 w 139"/>
                <a:gd name="T11" fmla="*/ 6 h 73"/>
                <a:gd name="T12" fmla="*/ 32 w 139"/>
                <a:gd name="T13" fmla="*/ 7 h 73"/>
                <a:gd name="T14" fmla="*/ 30 w 139"/>
                <a:gd name="T15" fmla="*/ 9 h 73"/>
                <a:gd name="T16" fmla="*/ 29 w 139"/>
                <a:gd name="T17" fmla="*/ 9 h 73"/>
                <a:gd name="T18" fmla="*/ 28 w 139"/>
                <a:gd name="T19" fmla="*/ 9 h 73"/>
                <a:gd name="T20" fmla="*/ 27 w 139"/>
                <a:gd name="T21" fmla="*/ 10 h 73"/>
                <a:gd name="T22" fmla="*/ 25 w 139"/>
                <a:gd name="T23" fmla="*/ 10 h 73"/>
                <a:gd name="T24" fmla="*/ 24 w 139"/>
                <a:gd name="T25" fmla="*/ 10 h 73"/>
                <a:gd name="T26" fmla="*/ 23 w 139"/>
                <a:gd name="T27" fmla="*/ 12 h 73"/>
                <a:gd name="T28" fmla="*/ 22 w 139"/>
                <a:gd name="T29" fmla="*/ 12 h 73"/>
                <a:gd name="T30" fmla="*/ 20 w 139"/>
                <a:gd name="T31" fmla="*/ 14 h 73"/>
                <a:gd name="T32" fmla="*/ 19 w 139"/>
                <a:gd name="T33" fmla="*/ 14 h 73"/>
                <a:gd name="T34" fmla="*/ 17 w 139"/>
                <a:gd name="T35" fmla="*/ 15 h 73"/>
                <a:gd name="T36" fmla="*/ 17 w 139"/>
                <a:gd name="T37" fmla="*/ 15 h 73"/>
                <a:gd name="T38" fmla="*/ 15 w 139"/>
                <a:gd name="T39" fmla="*/ 17 h 73"/>
                <a:gd name="T40" fmla="*/ 14 w 139"/>
                <a:gd name="T41" fmla="*/ 17 h 73"/>
                <a:gd name="T42" fmla="*/ 12 w 139"/>
                <a:gd name="T43" fmla="*/ 17 h 73"/>
                <a:gd name="T44" fmla="*/ 11 w 139"/>
                <a:gd name="T45" fmla="*/ 17 h 73"/>
                <a:gd name="T46" fmla="*/ 9 w 139"/>
                <a:gd name="T47" fmla="*/ 15 h 73"/>
                <a:gd name="T48" fmla="*/ 8 w 139"/>
                <a:gd name="T49" fmla="*/ 15 h 73"/>
                <a:gd name="T50" fmla="*/ 7 w 139"/>
                <a:gd name="T51" fmla="*/ 15 h 73"/>
                <a:gd name="T52" fmla="*/ 5 w 139"/>
                <a:gd name="T53" fmla="*/ 15 h 73"/>
                <a:gd name="T54" fmla="*/ 4 w 139"/>
                <a:gd name="T55" fmla="*/ 15 h 73"/>
                <a:gd name="T56" fmla="*/ 2 w 139"/>
                <a:gd name="T57" fmla="*/ 15 h 73"/>
                <a:gd name="T58" fmla="*/ 1 w 139"/>
                <a:gd name="T59" fmla="*/ 15 h 73"/>
                <a:gd name="T60" fmla="*/ 0 w 139"/>
                <a:gd name="T61" fmla="*/ 14 h 73"/>
                <a:gd name="T62" fmla="*/ 1 w 139"/>
                <a:gd name="T63" fmla="*/ 12 h 73"/>
                <a:gd name="T64" fmla="*/ 1 w 139"/>
                <a:gd name="T65" fmla="*/ 11 h 73"/>
                <a:gd name="T66" fmla="*/ 1 w 139"/>
                <a:gd name="T67" fmla="*/ 10 h 73"/>
                <a:gd name="T68" fmla="*/ 2 w 139"/>
                <a:gd name="T69" fmla="*/ 9 h 73"/>
                <a:gd name="T70" fmla="*/ 2 w 139"/>
                <a:gd name="T71" fmla="*/ 7 h 73"/>
                <a:gd name="T72" fmla="*/ 2 w 139"/>
                <a:gd name="T73" fmla="*/ 6 h 73"/>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39"/>
                <a:gd name="T112" fmla="*/ 0 h 73"/>
                <a:gd name="T113" fmla="*/ 139 w 139"/>
                <a:gd name="T114" fmla="*/ 73 h 73"/>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39" h="73">
                  <a:moveTo>
                    <a:pt x="138" y="0"/>
                  </a:moveTo>
                  <a:lnTo>
                    <a:pt x="138" y="5"/>
                  </a:lnTo>
                  <a:lnTo>
                    <a:pt x="138" y="10"/>
                  </a:lnTo>
                  <a:lnTo>
                    <a:pt x="135" y="16"/>
                  </a:lnTo>
                  <a:lnTo>
                    <a:pt x="135" y="21"/>
                  </a:lnTo>
                  <a:lnTo>
                    <a:pt x="132" y="26"/>
                  </a:lnTo>
                  <a:lnTo>
                    <a:pt x="132" y="32"/>
                  </a:lnTo>
                  <a:lnTo>
                    <a:pt x="129" y="37"/>
                  </a:lnTo>
                  <a:lnTo>
                    <a:pt x="123" y="40"/>
                  </a:lnTo>
                  <a:lnTo>
                    <a:pt x="117" y="40"/>
                  </a:lnTo>
                  <a:lnTo>
                    <a:pt x="111" y="42"/>
                  </a:lnTo>
                  <a:lnTo>
                    <a:pt x="105" y="45"/>
                  </a:lnTo>
                  <a:lnTo>
                    <a:pt x="99" y="45"/>
                  </a:lnTo>
                  <a:lnTo>
                    <a:pt x="96" y="50"/>
                  </a:lnTo>
                  <a:lnTo>
                    <a:pt x="90" y="53"/>
                  </a:lnTo>
                  <a:lnTo>
                    <a:pt x="84" y="58"/>
                  </a:lnTo>
                  <a:lnTo>
                    <a:pt x="79" y="61"/>
                  </a:lnTo>
                  <a:lnTo>
                    <a:pt x="75" y="66"/>
                  </a:lnTo>
                  <a:lnTo>
                    <a:pt x="70" y="66"/>
                  </a:lnTo>
                  <a:lnTo>
                    <a:pt x="63" y="69"/>
                  </a:lnTo>
                  <a:lnTo>
                    <a:pt x="57" y="72"/>
                  </a:lnTo>
                  <a:lnTo>
                    <a:pt x="52" y="69"/>
                  </a:lnTo>
                  <a:lnTo>
                    <a:pt x="45" y="69"/>
                  </a:lnTo>
                  <a:lnTo>
                    <a:pt x="39" y="66"/>
                  </a:lnTo>
                  <a:lnTo>
                    <a:pt x="34" y="66"/>
                  </a:lnTo>
                  <a:lnTo>
                    <a:pt x="27" y="66"/>
                  </a:lnTo>
                  <a:lnTo>
                    <a:pt x="21" y="64"/>
                  </a:lnTo>
                  <a:lnTo>
                    <a:pt x="16" y="64"/>
                  </a:lnTo>
                  <a:lnTo>
                    <a:pt x="9" y="64"/>
                  </a:lnTo>
                  <a:lnTo>
                    <a:pt x="3" y="64"/>
                  </a:lnTo>
                  <a:lnTo>
                    <a:pt x="0" y="58"/>
                  </a:lnTo>
                  <a:lnTo>
                    <a:pt x="7" y="53"/>
                  </a:lnTo>
                  <a:lnTo>
                    <a:pt x="7" y="48"/>
                  </a:lnTo>
                  <a:lnTo>
                    <a:pt x="7" y="42"/>
                  </a:lnTo>
                  <a:lnTo>
                    <a:pt x="9" y="37"/>
                  </a:lnTo>
                  <a:lnTo>
                    <a:pt x="12" y="32"/>
                  </a:lnTo>
                  <a:lnTo>
                    <a:pt x="12" y="26"/>
                  </a:lnTo>
                </a:path>
              </a:pathLst>
            </a:custGeom>
            <a:noFill/>
            <a:ln w="12700" cap="rnd" cmpd="sng">
              <a:solidFill>
                <a:srgbClr val="919191"/>
              </a:solidFill>
              <a:prstDash val="solid"/>
              <a:round/>
              <a:headEnd type="none" w="med" len="med"/>
              <a:tailEnd type="none" w="med" len="med"/>
            </a:ln>
          </p:spPr>
          <p:txBody>
            <a:bodyPr/>
            <a:lstStyle/>
            <a:p>
              <a:endParaRPr lang="en-US"/>
            </a:p>
          </p:txBody>
        </p:sp>
        <p:sp>
          <p:nvSpPr>
            <p:cNvPr id="20599" name="Freeform 77"/>
            <p:cNvSpPr>
              <a:spLocks noChangeAspect="1"/>
            </p:cNvSpPr>
            <p:nvPr/>
          </p:nvSpPr>
          <p:spPr bwMode="auto">
            <a:xfrm>
              <a:off x="4882" y="4520"/>
              <a:ext cx="71" cy="43"/>
            </a:xfrm>
            <a:custGeom>
              <a:avLst/>
              <a:gdLst>
                <a:gd name="T0" fmla="*/ 27 w 115"/>
                <a:gd name="T1" fmla="*/ 0 h 70"/>
                <a:gd name="T2" fmla="*/ 27 w 115"/>
                <a:gd name="T3" fmla="*/ 7 h 70"/>
                <a:gd name="T4" fmla="*/ 27 w 115"/>
                <a:gd name="T5" fmla="*/ 8 h 70"/>
                <a:gd name="T6" fmla="*/ 27 w 115"/>
                <a:gd name="T7" fmla="*/ 9 h 70"/>
                <a:gd name="T8" fmla="*/ 25 w 115"/>
                <a:gd name="T9" fmla="*/ 10 h 70"/>
                <a:gd name="T10" fmla="*/ 24 w 115"/>
                <a:gd name="T11" fmla="*/ 10 h 70"/>
                <a:gd name="T12" fmla="*/ 22 w 115"/>
                <a:gd name="T13" fmla="*/ 12 h 70"/>
                <a:gd name="T14" fmla="*/ 21 w 115"/>
                <a:gd name="T15" fmla="*/ 12 h 70"/>
                <a:gd name="T16" fmla="*/ 20 w 115"/>
                <a:gd name="T17" fmla="*/ 13 h 70"/>
                <a:gd name="T18" fmla="*/ 19 w 115"/>
                <a:gd name="T19" fmla="*/ 13 h 70"/>
                <a:gd name="T20" fmla="*/ 17 w 115"/>
                <a:gd name="T21" fmla="*/ 14 h 70"/>
                <a:gd name="T22" fmla="*/ 15 w 115"/>
                <a:gd name="T23" fmla="*/ 14 h 70"/>
                <a:gd name="T24" fmla="*/ 14 w 115"/>
                <a:gd name="T25" fmla="*/ 14 h 70"/>
                <a:gd name="T26" fmla="*/ 12 w 115"/>
                <a:gd name="T27" fmla="*/ 15 h 70"/>
                <a:gd name="T28" fmla="*/ 12 w 115"/>
                <a:gd name="T29" fmla="*/ 15 h 70"/>
                <a:gd name="T30" fmla="*/ 10 w 115"/>
                <a:gd name="T31" fmla="*/ 15 h 70"/>
                <a:gd name="T32" fmla="*/ 9 w 115"/>
                <a:gd name="T33" fmla="*/ 16 h 70"/>
                <a:gd name="T34" fmla="*/ 7 w 115"/>
                <a:gd name="T35" fmla="*/ 16 h 70"/>
                <a:gd name="T36" fmla="*/ 6 w 115"/>
                <a:gd name="T37" fmla="*/ 15 h 70"/>
                <a:gd name="T38" fmla="*/ 4 w 115"/>
                <a:gd name="T39" fmla="*/ 15 h 70"/>
                <a:gd name="T40" fmla="*/ 2 w 115"/>
                <a:gd name="T41" fmla="*/ 15 h 70"/>
                <a:gd name="T42" fmla="*/ 1 w 115"/>
                <a:gd name="T43" fmla="*/ 15 h 70"/>
                <a:gd name="T44" fmla="*/ 0 w 115"/>
                <a:gd name="T45" fmla="*/ 14 h 7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5"/>
                <a:gd name="T70" fmla="*/ 0 h 70"/>
                <a:gd name="T71" fmla="*/ 115 w 115"/>
                <a:gd name="T72" fmla="*/ 70 h 7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5" h="70">
                  <a:moveTo>
                    <a:pt x="114" y="0"/>
                  </a:moveTo>
                  <a:lnTo>
                    <a:pt x="114" y="29"/>
                  </a:lnTo>
                  <a:lnTo>
                    <a:pt x="111" y="34"/>
                  </a:lnTo>
                  <a:lnTo>
                    <a:pt x="111" y="40"/>
                  </a:lnTo>
                  <a:lnTo>
                    <a:pt x="107" y="45"/>
                  </a:lnTo>
                  <a:lnTo>
                    <a:pt x="102" y="45"/>
                  </a:lnTo>
                  <a:lnTo>
                    <a:pt x="96" y="50"/>
                  </a:lnTo>
                  <a:lnTo>
                    <a:pt x="89" y="53"/>
                  </a:lnTo>
                  <a:lnTo>
                    <a:pt x="84" y="56"/>
                  </a:lnTo>
                  <a:lnTo>
                    <a:pt x="78" y="56"/>
                  </a:lnTo>
                  <a:lnTo>
                    <a:pt x="72" y="58"/>
                  </a:lnTo>
                  <a:lnTo>
                    <a:pt x="66" y="61"/>
                  </a:lnTo>
                  <a:lnTo>
                    <a:pt x="60" y="61"/>
                  </a:lnTo>
                  <a:lnTo>
                    <a:pt x="54" y="64"/>
                  </a:lnTo>
                  <a:lnTo>
                    <a:pt x="48" y="66"/>
                  </a:lnTo>
                  <a:lnTo>
                    <a:pt x="42" y="66"/>
                  </a:lnTo>
                  <a:lnTo>
                    <a:pt x="36" y="69"/>
                  </a:lnTo>
                  <a:lnTo>
                    <a:pt x="30" y="69"/>
                  </a:lnTo>
                  <a:lnTo>
                    <a:pt x="25" y="66"/>
                  </a:lnTo>
                  <a:lnTo>
                    <a:pt x="18" y="66"/>
                  </a:lnTo>
                  <a:lnTo>
                    <a:pt x="12" y="64"/>
                  </a:lnTo>
                  <a:lnTo>
                    <a:pt x="7" y="64"/>
                  </a:lnTo>
                  <a:lnTo>
                    <a:pt x="0" y="61"/>
                  </a:lnTo>
                </a:path>
              </a:pathLst>
            </a:custGeom>
            <a:noFill/>
            <a:ln w="12700" cap="rnd" cmpd="sng">
              <a:solidFill>
                <a:srgbClr val="919191"/>
              </a:solidFill>
              <a:prstDash val="solid"/>
              <a:round/>
              <a:headEnd type="none" w="med" len="med"/>
              <a:tailEnd type="none" w="med" len="med"/>
            </a:ln>
          </p:spPr>
          <p:txBody>
            <a:bodyPr/>
            <a:lstStyle/>
            <a:p>
              <a:endParaRPr lang="en-US"/>
            </a:p>
          </p:txBody>
        </p:sp>
        <p:sp>
          <p:nvSpPr>
            <p:cNvPr id="20600" name="Freeform 78"/>
            <p:cNvSpPr>
              <a:spLocks noChangeAspect="1"/>
            </p:cNvSpPr>
            <p:nvPr/>
          </p:nvSpPr>
          <p:spPr bwMode="auto">
            <a:xfrm>
              <a:off x="4925" y="4518"/>
              <a:ext cx="30" cy="0"/>
            </a:xfrm>
            <a:custGeom>
              <a:avLst/>
              <a:gdLst>
                <a:gd name="T0" fmla="*/ 0 w 49"/>
                <a:gd name="T1" fmla="*/ 0 h 1"/>
                <a:gd name="T2" fmla="*/ 6 w 49"/>
                <a:gd name="T3" fmla="*/ 0 h 1"/>
                <a:gd name="T4" fmla="*/ 7 w 49"/>
                <a:gd name="T5" fmla="*/ 0 h 1"/>
                <a:gd name="T6" fmla="*/ 9 w 49"/>
                <a:gd name="T7" fmla="*/ 0 h 1"/>
                <a:gd name="T8" fmla="*/ 10 w 49"/>
                <a:gd name="T9" fmla="*/ 0 h 1"/>
                <a:gd name="T10" fmla="*/ 11 w 49"/>
                <a:gd name="T11" fmla="*/ 0 h 1"/>
                <a:gd name="T12" fmla="*/ 11 w 49"/>
                <a:gd name="T13" fmla="*/ 0 h 1"/>
                <a:gd name="T14" fmla="*/ 11 w 49"/>
                <a:gd name="T15" fmla="*/ 0 h 1"/>
                <a:gd name="T16" fmla="*/ 0 60000 65536"/>
                <a:gd name="T17" fmla="*/ 0 60000 65536"/>
                <a:gd name="T18" fmla="*/ 0 60000 65536"/>
                <a:gd name="T19" fmla="*/ 0 60000 65536"/>
                <a:gd name="T20" fmla="*/ 0 60000 65536"/>
                <a:gd name="T21" fmla="*/ 0 60000 65536"/>
                <a:gd name="T22" fmla="*/ 0 60000 65536"/>
                <a:gd name="T23" fmla="*/ 0 60000 65536"/>
                <a:gd name="T24" fmla="*/ 0 w 49"/>
                <a:gd name="T25" fmla="*/ 0 h 1"/>
                <a:gd name="T26" fmla="*/ 49 w 49"/>
                <a:gd name="T27" fmla="*/ 0 h 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9" h="1">
                  <a:moveTo>
                    <a:pt x="0" y="0"/>
                  </a:moveTo>
                  <a:lnTo>
                    <a:pt x="24" y="0"/>
                  </a:lnTo>
                  <a:lnTo>
                    <a:pt x="30" y="0"/>
                  </a:lnTo>
                  <a:lnTo>
                    <a:pt x="37" y="0"/>
                  </a:lnTo>
                  <a:lnTo>
                    <a:pt x="42" y="0"/>
                  </a:lnTo>
                  <a:lnTo>
                    <a:pt x="48" y="0"/>
                  </a:lnTo>
                </a:path>
              </a:pathLst>
            </a:custGeom>
            <a:noFill/>
            <a:ln w="12700" cap="rnd" cmpd="sng">
              <a:solidFill>
                <a:srgbClr val="919191"/>
              </a:solidFill>
              <a:prstDash val="solid"/>
              <a:round/>
              <a:headEnd type="none" w="med" len="med"/>
              <a:tailEnd type="none" w="med" len="med"/>
            </a:ln>
          </p:spPr>
          <p:txBody>
            <a:bodyPr/>
            <a:lstStyle/>
            <a:p>
              <a:endParaRPr lang="en-US"/>
            </a:p>
          </p:txBody>
        </p:sp>
        <p:sp>
          <p:nvSpPr>
            <p:cNvPr id="20601" name="Freeform 79"/>
            <p:cNvSpPr>
              <a:spLocks noChangeAspect="1"/>
            </p:cNvSpPr>
            <p:nvPr/>
          </p:nvSpPr>
          <p:spPr bwMode="auto">
            <a:xfrm>
              <a:off x="4951" y="4548"/>
              <a:ext cx="44" cy="9"/>
            </a:xfrm>
            <a:custGeom>
              <a:avLst/>
              <a:gdLst>
                <a:gd name="T0" fmla="*/ 0 w 70"/>
                <a:gd name="T1" fmla="*/ 0 h 15"/>
                <a:gd name="T2" fmla="*/ 13 w 70"/>
                <a:gd name="T3" fmla="*/ 3 h 15"/>
                <a:gd name="T4" fmla="*/ 14 w 70"/>
                <a:gd name="T5" fmla="*/ 3 h 15"/>
                <a:gd name="T6" fmla="*/ 16 w 70"/>
                <a:gd name="T7" fmla="*/ 3 h 15"/>
                <a:gd name="T8" fmla="*/ 17 w 70"/>
                <a:gd name="T9" fmla="*/ 3 h 15"/>
                <a:gd name="T10" fmla="*/ 0 60000 65536"/>
                <a:gd name="T11" fmla="*/ 0 60000 65536"/>
                <a:gd name="T12" fmla="*/ 0 60000 65536"/>
                <a:gd name="T13" fmla="*/ 0 60000 65536"/>
                <a:gd name="T14" fmla="*/ 0 60000 65536"/>
                <a:gd name="T15" fmla="*/ 0 w 70"/>
                <a:gd name="T16" fmla="*/ 0 h 15"/>
                <a:gd name="T17" fmla="*/ 70 w 70"/>
                <a:gd name="T18" fmla="*/ 15 h 15"/>
              </a:gdLst>
              <a:ahLst/>
              <a:cxnLst>
                <a:cxn ang="T10">
                  <a:pos x="T0" y="T1"/>
                </a:cxn>
                <a:cxn ang="T11">
                  <a:pos x="T2" y="T3"/>
                </a:cxn>
                <a:cxn ang="T12">
                  <a:pos x="T4" y="T5"/>
                </a:cxn>
                <a:cxn ang="T13">
                  <a:pos x="T6" y="T7"/>
                </a:cxn>
                <a:cxn ang="T14">
                  <a:pos x="T8" y="T9"/>
                </a:cxn>
              </a:cxnLst>
              <a:rect l="T15" t="T16" r="T17" b="T18"/>
              <a:pathLst>
                <a:path w="70" h="15">
                  <a:moveTo>
                    <a:pt x="0" y="0"/>
                  </a:moveTo>
                  <a:lnTo>
                    <a:pt x="51" y="14"/>
                  </a:lnTo>
                  <a:lnTo>
                    <a:pt x="58" y="14"/>
                  </a:lnTo>
                  <a:lnTo>
                    <a:pt x="63" y="14"/>
                  </a:lnTo>
                  <a:lnTo>
                    <a:pt x="69" y="14"/>
                  </a:lnTo>
                </a:path>
              </a:pathLst>
            </a:custGeom>
            <a:noFill/>
            <a:ln w="12700" cap="rnd" cmpd="sng">
              <a:solidFill>
                <a:srgbClr val="919191"/>
              </a:solidFill>
              <a:prstDash val="solid"/>
              <a:round/>
              <a:headEnd type="none" w="med" len="med"/>
              <a:tailEnd type="none" w="med" len="med"/>
            </a:ln>
          </p:spPr>
          <p:txBody>
            <a:bodyPr/>
            <a:lstStyle/>
            <a:p>
              <a:endParaRPr lang="en-US"/>
            </a:p>
          </p:txBody>
        </p:sp>
        <p:sp>
          <p:nvSpPr>
            <p:cNvPr id="20602" name="Arc 80"/>
            <p:cNvSpPr>
              <a:spLocks noChangeAspect="1"/>
            </p:cNvSpPr>
            <p:nvPr/>
          </p:nvSpPr>
          <p:spPr bwMode="auto">
            <a:xfrm>
              <a:off x="5041" y="4484"/>
              <a:ext cx="50" cy="11"/>
            </a:xfrm>
            <a:custGeom>
              <a:avLst/>
              <a:gdLst>
                <a:gd name="T0" fmla="*/ 0 w 21868"/>
                <a:gd name="T1" fmla="*/ 0 h 21600"/>
                <a:gd name="T2" fmla="*/ 0 w 21868"/>
                <a:gd name="T3" fmla="*/ 0 h 21600"/>
                <a:gd name="T4" fmla="*/ 0 w 21868"/>
                <a:gd name="T5" fmla="*/ 0 h 21600"/>
                <a:gd name="T6" fmla="*/ 0 60000 65536"/>
                <a:gd name="T7" fmla="*/ 0 60000 65536"/>
                <a:gd name="T8" fmla="*/ 0 60000 65536"/>
                <a:gd name="T9" fmla="*/ 0 w 21868"/>
                <a:gd name="T10" fmla="*/ 0 h 21600"/>
                <a:gd name="T11" fmla="*/ 21868 w 21868"/>
                <a:gd name="T12" fmla="*/ 21600 h 21600"/>
              </a:gdLst>
              <a:ahLst/>
              <a:cxnLst>
                <a:cxn ang="T6">
                  <a:pos x="T0" y="T1"/>
                </a:cxn>
                <a:cxn ang="T7">
                  <a:pos x="T2" y="T3"/>
                </a:cxn>
                <a:cxn ang="T8">
                  <a:pos x="T4" y="T5"/>
                </a:cxn>
              </a:cxnLst>
              <a:rect l="T9" t="T10" r="T11" b="T12"/>
              <a:pathLst>
                <a:path w="21868" h="21600" fill="none" extrusionOk="0">
                  <a:moveTo>
                    <a:pt x="-1" y="1"/>
                  </a:moveTo>
                  <a:cubicBezTo>
                    <a:pt x="89" y="0"/>
                    <a:pt x="178" y="-1"/>
                    <a:pt x="268" y="0"/>
                  </a:cubicBezTo>
                  <a:cubicBezTo>
                    <a:pt x="12197" y="0"/>
                    <a:pt x="21868" y="9670"/>
                    <a:pt x="21868" y="21600"/>
                  </a:cubicBezTo>
                </a:path>
                <a:path w="21868" h="21600" stroke="0" extrusionOk="0">
                  <a:moveTo>
                    <a:pt x="-1" y="1"/>
                  </a:moveTo>
                  <a:cubicBezTo>
                    <a:pt x="89" y="0"/>
                    <a:pt x="178" y="-1"/>
                    <a:pt x="268" y="0"/>
                  </a:cubicBezTo>
                  <a:cubicBezTo>
                    <a:pt x="12197" y="0"/>
                    <a:pt x="21868" y="9670"/>
                    <a:pt x="21868" y="21600"/>
                  </a:cubicBezTo>
                  <a:lnTo>
                    <a:pt x="268" y="21600"/>
                  </a:lnTo>
                  <a:close/>
                </a:path>
              </a:pathLst>
            </a:custGeom>
            <a:noFill/>
            <a:ln w="12700" cap="rnd">
              <a:solidFill>
                <a:srgbClr val="919191"/>
              </a:solidFill>
              <a:round/>
              <a:headEnd/>
              <a:tailEnd/>
            </a:ln>
          </p:spPr>
          <p:txBody>
            <a:bodyPr wrap="none" anchor="ctr"/>
            <a:lstStyle/>
            <a:p>
              <a:endParaRPr lang="en-US"/>
            </a:p>
          </p:txBody>
        </p:sp>
      </p:grpSp>
      <p:sp>
        <p:nvSpPr>
          <p:cNvPr id="20491" name="Rectangle 81"/>
          <p:cNvSpPr>
            <a:spLocks noChangeAspect="1" noChangeArrowheads="1"/>
          </p:cNvSpPr>
          <p:nvPr/>
        </p:nvSpPr>
        <p:spPr bwMode="auto">
          <a:xfrm>
            <a:off x="1331913" y="5026025"/>
            <a:ext cx="2308225" cy="1389063"/>
          </a:xfrm>
          <a:prstGeom prst="rect">
            <a:avLst/>
          </a:prstGeom>
          <a:noFill/>
          <a:ln w="9525">
            <a:noFill/>
            <a:miter lim="800000"/>
            <a:headEnd/>
            <a:tailEnd/>
          </a:ln>
        </p:spPr>
        <p:txBody>
          <a:bodyPr wrap="none" anchor="ctr"/>
          <a:lstStyle/>
          <a:p>
            <a:endParaRPr lang="en-NZ">
              <a:latin typeface="Calibri" pitchFamily="34" charset="0"/>
            </a:endParaRPr>
          </a:p>
        </p:txBody>
      </p:sp>
      <p:grpSp>
        <p:nvGrpSpPr>
          <p:cNvPr id="20492" name="Group 82"/>
          <p:cNvGrpSpPr>
            <a:grpSpLocks/>
          </p:cNvGrpSpPr>
          <p:nvPr/>
        </p:nvGrpSpPr>
        <p:grpSpPr bwMode="auto">
          <a:xfrm>
            <a:off x="0" y="4652963"/>
            <a:ext cx="2420938" cy="1312862"/>
            <a:chOff x="624" y="2832"/>
            <a:chExt cx="1715" cy="827"/>
          </a:xfrm>
        </p:grpSpPr>
        <p:sp>
          <p:nvSpPr>
            <p:cNvPr id="20519" name="Rectangle 83"/>
            <p:cNvSpPr>
              <a:spLocks noChangeAspect="1" noChangeArrowheads="1"/>
            </p:cNvSpPr>
            <p:nvPr/>
          </p:nvSpPr>
          <p:spPr bwMode="auto">
            <a:xfrm>
              <a:off x="624" y="2832"/>
              <a:ext cx="652" cy="252"/>
            </a:xfrm>
            <a:prstGeom prst="rect">
              <a:avLst/>
            </a:prstGeom>
            <a:noFill/>
            <a:ln w="9525">
              <a:noFill/>
              <a:miter lim="800000"/>
              <a:headEnd/>
              <a:tailEnd/>
            </a:ln>
          </p:spPr>
          <p:txBody>
            <a:bodyPr wrap="none" lIns="93662" tIns="47625" rIns="93662" bIns="47625">
              <a:spAutoFit/>
            </a:bodyPr>
            <a:lstStyle/>
            <a:p>
              <a:pPr defTabSz="933450"/>
              <a:r>
                <a:rPr lang="en-US" sz="2000"/>
                <a:t>Potato</a:t>
              </a:r>
            </a:p>
          </p:txBody>
        </p:sp>
        <p:sp>
          <p:nvSpPr>
            <p:cNvPr id="20520" name="Oval 84"/>
            <p:cNvSpPr>
              <a:spLocks noChangeAspect="1" noChangeArrowheads="1"/>
            </p:cNvSpPr>
            <p:nvPr/>
          </p:nvSpPr>
          <p:spPr bwMode="auto">
            <a:xfrm>
              <a:off x="1138" y="3009"/>
              <a:ext cx="446" cy="574"/>
            </a:xfrm>
            <a:prstGeom prst="ellipse">
              <a:avLst/>
            </a:prstGeom>
            <a:solidFill>
              <a:srgbClr val="CECECE"/>
            </a:solidFill>
            <a:ln w="25400">
              <a:solidFill>
                <a:srgbClr val="919191"/>
              </a:solidFill>
              <a:round/>
              <a:headEnd/>
              <a:tailEnd/>
            </a:ln>
          </p:spPr>
          <p:txBody>
            <a:bodyPr wrap="none" anchor="ctr"/>
            <a:lstStyle/>
            <a:p>
              <a:endParaRPr lang="en-NZ">
                <a:latin typeface="Calibri" pitchFamily="34" charset="0"/>
              </a:endParaRPr>
            </a:p>
          </p:txBody>
        </p:sp>
        <p:sp>
          <p:nvSpPr>
            <p:cNvPr id="20521" name="Oval 85"/>
            <p:cNvSpPr>
              <a:spLocks noChangeAspect="1" noChangeArrowheads="1"/>
            </p:cNvSpPr>
            <p:nvPr/>
          </p:nvSpPr>
          <p:spPr bwMode="auto">
            <a:xfrm>
              <a:off x="1168" y="3026"/>
              <a:ext cx="356" cy="526"/>
            </a:xfrm>
            <a:prstGeom prst="ellipse">
              <a:avLst/>
            </a:prstGeom>
            <a:noFill/>
            <a:ln w="25400">
              <a:solidFill>
                <a:srgbClr val="919191"/>
              </a:solidFill>
              <a:round/>
              <a:headEnd/>
              <a:tailEnd/>
            </a:ln>
          </p:spPr>
          <p:txBody>
            <a:bodyPr wrap="none" anchor="ctr"/>
            <a:lstStyle/>
            <a:p>
              <a:endParaRPr lang="en-NZ">
                <a:latin typeface="Calibri" pitchFamily="34" charset="0"/>
              </a:endParaRPr>
            </a:p>
          </p:txBody>
        </p:sp>
        <p:sp>
          <p:nvSpPr>
            <p:cNvPr id="20522" name="Oval 86"/>
            <p:cNvSpPr>
              <a:spLocks noChangeAspect="1" noChangeArrowheads="1"/>
            </p:cNvSpPr>
            <p:nvPr/>
          </p:nvSpPr>
          <p:spPr bwMode="auto">
            <a:xfrm>
              <a:off x="1186" y="3040"/>
              <a:ext cx="293" cy="465"/>
            </a:xfrm>
            <a:prstGeom prst="ellipse">
              <a:avLst/>
            </a:prstGeom>
            <a:noFill/>
            <a:ln w="25400">
              <a:solidFill>
                <a:srgbClr val="919191"/>
              </a:solidFill>
              <a:round/>
              <a:headEnd/>
              <a:tailEnd/>
            </a:ln>
          </p:spPr>
          <p:txBody>
            <a:bodyPr wrap="none" anchor="ctr"/>
            <a:lstStyle/>
            <a:p>
              <a:endParaRPr lang="en-NZ">
                <a:latin typeface="Calibri" pitchFamily="34" charset="0"/>
              </a:endParaRPr>
            </a:p>
          </p:txBody>
        </p:sp>
        <p:sp>
          <p:nvSpPr>
            <p:cNvPr id="20523" name="Oval 87"/>
            <p:cNvSpPr>
              <a:spLocks noChangeAspect="1" noChangeArrowheads="1"/>
            </p:cNvSpPr>
            <p:nvPr/>
          </p:nvSpPr>
          <p:spPr bwMode="auto">
            <a:xfrm>
              <a:off x="1207" y="3059"/>
              <a:ext cx="237" cy="394"/>
            </a:xfrm>
            <a:prstGeom prst="ellipse">
              <a:avLst/>
            </a:prstGeom>
            <a:noFill/>
            <a:ln w="25400">
              <a:solidFill>
                <a:srgbClr val="919191"/>
              </a:solidFill>
              <a:round/>
              <a:headEnd/>
              <a:tailEnd/>
            </a:ln>
          </p:spPr>
          <p:txBody>
            <a:bodyPr wrap="none" anchor="ctr"/>
            <a:lstStyle/>
            <a:p>
              <a:endParaRPr lang="en-NZ">
                <a:latin typeface="Calibri" pitchFamily="34" charset="0"/>
              </a:endParaRPr>
            </a:p>
          </p:txBody>
        </p:sp>
        <p:sp>
          <p:nvSpPr>
            <p:cNvPr id="20524" name="Oval 88"/>
            <p:cNvSpPr>
              <a:spLocks noChangeAspect="1" noChangeArrowheads="1"/>
            </p:cNvSpPr>
            <p:nvPr/>
          </p:nvSpPr>
          <p:spPr bwMode="auto">
            <a:xfrm>
              <a:off x="1223" y="3078"/>
              <a:ext cx="182" cy="334"/>
            </a:xfrm>
            <a:prstGeom prst="ellipse">
              <a:avLst/>
            </a:prstGeom>
            <a:noFill/>
            <a:ln w="25400">
              <a:solidFill>
                <a:srgbClr val="919191"/>
              </a:solidFill>
              <a:round/>
              <a:headEnd/>
              <a:tailEnd/>
            </a:ln>
          </p:spPr>
          <p:txBody>
            <a:bodyPr wrap="none" anchor="ctr"/>
            <a:lstStyle/>
            <a:p>
              <a:endParaRPr lang="en-NZ">
                <a:latin typeface="Calibri" pitchFamily="34" charset="0"/>
              </a:endParaRPr>
            </a:p>
          </p:txBody>
        </p:sp>
        <p:sp>
          <p:nvSpPr>
            <p:cNvPr id="20525" name="Oval 89"/>
            <p:cNvSpPr>
              <a:spLocks noChangeAspect="1" noChangeArrowheads="1"/>
            </p:cNvSpPr>
            <p:nvPr/>
          </p:nvSpPr>
          <p:spPr bwMode="auto">
            <a:xfrm>
              <a:off x="1242" y="3093"/>
              <a:ext cx="120" cy="285"/>
            </a:xfrm>
            <a:prstGeom prst="ellipse">
              <a:avLst/>
            </a:prstGeom>
            <a:noFill/>
            <a:ln w="25400">
              <a:solidFill>
                <a:srgbClr val="919191"/>
              </a:solidFill>
              <a:round/>
              <a:headEnd/>
              <a:tailEnd/>
            </a:ln>
          </p:spPr>
          <p:txBody>
            <a:bodyPr wrap="none" anchor="ctr"/>
            <a:lstStyle/>
            <a:p>
              <a:endParaRPr lang="en-NZ">
                <a:latin typeface="Calibri" pitchFamily="34" charset="0"/>
              </a:endParaRPr>
            </a:p>
          </p:txBody>
        </p:sp>
        <p:sp>
          <p:nvSpPr>
            <p:cNvPr id="20526" name="Oval 90"/>
            <p:cNvSpPr>
              <a:spLocks noChangeAspect="1" noChangeArrowheads="1"/>
            </p:cNvSpPr>
            <p:nvPr/>
          </p:nvSpPr>
          <p:spPr bwMode="auto">
            <a:xfrm>
              <a:off x="1255" y="3101"/>
              <a:ext cx="81" cy="243"/>
            </a:xfrm>
            <a:prstGeom prst="ellipse">
              <a:avLst/>
            </a:prstGeom>
            <a:noFill/>
            <a:ln w="25400">
              <a:solidFill>
                <a:srgbClr val="919191"/>
              </a:solidFill>
              <a:round/>
              <a:headEnd/>
              <a:tailEnd/>
            </a:ln>
          </p:spPr>
          <p:txBody>
            <a:bodyPr wrap="none" anchor="ctr"/>
            <a:lstStyle/>
            <a:p>
              <a:endParaRPr lang="en-NZ">
                <a:latin typeface="Calibri" pitchFamily="34" charset="0"/>
              </a:endParaRPr>
            </a:p>
          </p:txBody>
        </p:sp>
        <p:sp>
          <p:nvSpPr>
            <p:cNvPr id="20527" name="Oval 91"/>
            <p:cNvSpPr>
              <a:spLocks noChangeAspect="1" noChangeArrowheads="1"/>
            </p:cNvSpPr>
            <p:nvPr/>
          </p:nvSpPr>
          <p:spPr bwMode="auto">
            <a:xfrm>
              <a:off x="1270" y="3109"/>
              <a:ext cx="40" cy="190"/>
            </a:xfrm>
            <a:prstGeom prst="ellipse">
              <a:avLst/>
            </a:prstGeom>
            <a:noFill/>
            <a:ln w="25400">
              <a:solidFill>
                <a:srgbClr val="919191"/>
              </a:solidFill>
              <a:round/>
              <a:headEnd/>
              <a:tailEnd/>
            </a:ln>
          </p:spPr>
          <p:txBody>
            <a:bodyPr wrap="none" anchor="ctr"/>
            <a:lstStyle/>
            <a:p>
              <a:endParaRPr lang="en-NZ">
                <a:latin typeface="Calibri" pitchFamily="34" charset="0"/>
              </a:endParaRPr>
            </a:p>
          </p:txBody>
        </p:sp>
        <p:sp>
          <p:nvSpPr>
            <p:cNvPr id="20528" name="Oval 92"/>
            <p:cNvSpPr>
              <a:spLocks noChangeAspect="1" noChangeArrowheads="1"/>
            </p:cNvSpPr>
            <p:nvPr/>
          </p:nvSpPr>
          <p:spPr bwMode="auto">
            <a:xfrm>
              <a:off x="1276" y="3167"/>
              <a:ext cx="13" cy="94"/>
            </a:xfrm>
            <a:prstGeom prst="ellipse">
              <a:avLst/>
            </a:prstGeom>
            <a:noFill/>
            <a:ln w="12700">
              <a:solidFill>
                <a:srgbClr val="919191"/>
              </a:solidFill>
              <a:round/>
              <a:headEnd/>
              <a:tailEnd/>
            </a:ln>
          </p:spPr>
          <p:txBody>
            <a:bodyPr wrap="none" anchor="ctr"/>
            <a:lstStyle/>
            <a:p>
              <a:endParaRPr lang="en-NZ">
                <a:latin typeface="Calibri" pitchFamily="34" charset="0"/>
              </a:endParaRPr>
            </a:p>
          </p:txBody>
        </p:sp>
        <p:sp>
          <p:nvSpPr>
            <p:cNvPr id="20529" name="Oval 93"/>
            <p:cNvSpPr>
              <a:spLocks noChangeAspect="1" noChangeArrowheads="1"/>
            </p:cNvSpPr>
            <p:nvPr/>
          </p:nvSpPr>
          <p:spPr bwMode="auto">
            <a:xfrm>
              <a:off x="1692" y="2962"/>
              <a:ext cx="647" cy="394"/>
            </a:xfrm>
            <a:prstGeom prst="ellipse">
              <a:avLst/>
            </a:prstGeom>
            <a:solidFill>
              <a:srgbClr val="CECECE"/>
            </a:solidFill>
            <a:ln w="25400">
              <a:solidFill>
                <a:srgbClr val="919191"/>
              </a:solidFill>
              <a:round/>
              <a:headEnd/>
              <a:tailEnd/>
            </a:ln>
          </p:spPr>
          <p:txBody>
            <a:bodyPr wrap="none" anchor="ctr"/>
            <a:lstStyle/>
            <a:p>
              <a:endParaRPr lang="en-NZ">
                <a:latin typeface="Calibri" pitchFamily="34" charset="0"/>
              </a:endParaRPr>
            </a:p>
          </p:txBody>
        </p:sp>
        <p:sp>
          <p:nvSpPr>
            <p:cNvPr id="20530" name="Oval 94"/>
            <p:cNvSpPr>
              <a:spLocks noChangeAspect="1" noChangeArrowheads="1"/>
            </p:cNvSpPr>
            <p:nvPr/>
          </p:nvSpPr>
          <p:spPr bwMode="auto">
            <a:xfrm>
              <a:off x="1703" y="2994"/>
              <a:ext cx="591" cy="315"/>
            </a:xfrm>
            <a:prstGeom prst="ellipse">
              <a:avLst/>
            </a:prstGeom>
            <a:noFill/>
            <a:ln w="25400">
              <a:solidFill>
                <a:srgbClr val="919191"/>
              </a:solidFill>
              <a:round/>
              <a:headEnd/>
              <a:tailEnd/>
            </a:ln>
          </p:spPr>
          <p:txBody>
            <a:bodyPr wrap="none" anchor="ctr"/>
            <a:lstStyle/>
            <a:p>
              <a:endParaRPr lang="en-NZ">
                <a:latin typeface="Calibri" pitchFamily="34" charset="0"/>
              </a:endParaRPr>
            </a:p>
          </p:txBody>
        </p:sp>
        <p:sp>
          <p:nvSpPr>
            <p:cNvPr id="20531" name="Oval 95"/>
            <p:cNvSpPr>
              <a:spLocks noChangeAspect="1" noChangeArrowheads="1"/>
            </p:cNvSpPr>
            <p:nvPr/>
          </p:nvSpPr>
          <p:spPr bwMode="auto">
            <a:xfrm>
              <a:off x="1725" y="3005"/>
              <a:ext cx="524" cy="260"/>
            </a:xfrm>
            <a:prstGeom prst="ellipse">
              <a:avLst/>
            </a:prstGeom>
            <a:noFill/>
            <a:ln w="25400">
              <a:solidFill>
                <a:srgbClr val="919191"/>
              </a:solidFill>
              <a:round/>
              <a:headEnd/>
              <a:tailEnd/>
            </a:ln>
          </p:spPr>
          <p:txBody>
            <a:bodyPr wrap="none" anchor="ctr"/>
            <a:lstStyle/>
            <a:p>
              <a:endParaRPr lang="en-NZ">
                <a:latin typeface="Calibri" pitchFamily="34" charset="0"/>
              </a:endParaRPr>
            </a:p>
          </p:txBody>
        </p:sp>
        <p:sp>
          <p:nvSpPr>
            <p:cNvPr id="20532" name="Oval 96"/>
            <p:cNvSpPr>
              <a:spLocks noChangeAspect="1" noChangeArrowheads="1"/>
            </p:cNvSpPr>
            <p:nvPr/>
          </p:nvSpPr>
          <p:spPr bwMode="auto">
            <a:xfrm>
              <a:off x="1756" y="3014"/>
              <a:ext cx="445" cy="210"/>
            </a:xfrm>
            <a:prstGeom prst="ellipse">
              <a:avLst/>
            </a:prstGeom>
            <a:noFill/>
            <a:ln w="25400">
              <a:solidFill>
                <a:srgbClr val="919191"/>
              </a:solidFill>
              <a:round/>
              <a:headEnd/>
              <a:tailEnd/>
            </a:ln>
          </p:spPr>
          <p:txBody>
            <a:bodyPr wrap="none" anchor="ctr"/>
            <a:lstStyle/>
            <a:p>
              <a:endParaRPr lang="en-NZ">
                <a:latin typeface="Calibri" pitchFamily="34" charset="0"/>
              </a:endParaRPr>
            </a:p>
          </p:txBody>
        </p:sp>
        <p:sp>
          <p:nvSpPr>
            <p:cNvPr id="20533" name="Oval 97"/>
            <p:cNvSpPr>
              <a:spLocks noChangeAspect="1" noChangeArrowheads="1"/>
            </p:cNvSpPr>
            <p:nvPr/>
          </p:nvSpPr>
          <p:spPr bwMode="auto">
            <a:xfrm>
              <a:off x="1777" y="3029"/>
              <a:ext cx="378" cy="160"/>
            </a:xfrm>
            <a:prstGeom prst="ellipse">
              <a:avLst/>
            </a:prstGeom>
            <a:noFill/>
            <a:ln w="25400">
              <a:solidFill>
                <a:srgbClr val="919191"/>
              </a:solidFill>
              <a:round/>
              <a:headEnd/>
              <a:tailEnd/>
            </a:ln>
          </p:spPr>
          <p:txBody>
            <a:bodyPr wrap="none" anchor="ctr"/>
            <a:lstStyle/>
            <a:p>
              <a:endParaRPr lang="en-NZ">
                <a:latin typeface="Calibri" pitchFamily="34" charset="0"/>
              </a:endParaRPr>
            </a:p>
          </p:txBody>
        </p:sp>
        <p:sp>
          <p:nvSpPr>
            <p:cNvPr id="20534" name="Oval 98"/>
            <p:cNvSpPr>
              <a:spLocks noChangeAspect="1" noChangeArrowheads="1"/>
            </p:cNvSpPr>
            <p:nvPr/>
          </p:nvSpPr>
          <p:spPr bwMode="auto">
            <a:xfrm>
              <a:off x="1794" y="3045"/>
              <a:ext cx="321" cy="105"/>
            </a:xfrm>
            <a:prstGeom prst="ellipse">
              <a:avLst/>
            </a:prstGeom>
            <a:noFill/>
            <a:ln w="25400">
              <a:solidFill>
                <a:srgbClr val="919191"/>
              </a:solidFill>
              <a:round/>
              <a:headEnd/>
              <a:tailEnd/>
            </a:ln>
          </p:spPr>
          <p:txBody>
            <a:bodyPr wrap="none" anchor="ctr"/>
            <a:lstStyle/>
            <a:p>
              <a:endParaRPr lang="en-NZ">
                <a:latin typeface="Calibri" pitchFamily="34" charset="0"/>
              </a:endParaRPr>
            </a:p>
          </p:txBody>
        </p:sp>
        <p:sp>
          <p:nvSpPr>
            <p:cNvPr id="20535" name="Oval 99"/>
            <p:cNvSpPr>
              <a:spLocks noChangeAspect="1" noChangeArrowheads="1"/>
            </p:cNvSpPr>
            <p:nvPr/>
          </p:nvSpPr>
          <p:spPr bwMode="auto">
            <a:xfrm>
              <a:off x="1811" y="3051"/>
              <a:ext cx="276" cy="71"/>
            </a:xfrm>
            <a:prstGeom prst="ellipse">
              <a:avLst/>
            </a:prstGeom>
            <a:noFill/>
            <a:ln w="25400">
              <a:solidFill>
                <a:srgbClr val="919191"/>
              </a:solidFill>
              <a:round/>
              <a:headEnd/>
              <a:tailEnd/>
            </a:ln>
          </p:spPr>
          <p:txBody>
            <a:bodyPr wrap="none" anchor="ctr"/>
            <a:lstStyle/>
            <a:p>
              <a:endParaRPr lang="en-NZ">
                <a:latin typeface="Calibri" pitchFamily="34" charset="0"/>
              </a:endParaRPr>
            </a:p>
          </p:txBody>
        </p:sp>
        <p:sp>
          <p:nvSpPr>
            <p:cNvPr id="20536" name="Oval 100"/>
            <p:cNvSpPr>
              <a:spLocks noChangeAspect="1" noChangeArrowheads="1"/>
            </p:cNvSpPr>
            <p:nvPr/>
          </p:nvSpPr>
          <p:spPr bwMode="auto">
            <a:xfrm>
              <a:off x="1838" y="3049"/>
              <a:ext cx="214" cy="35"/>
            </a:xfrm>
            <a:prstGeom prst="ellipse">
              <a:avLst/>
            </a:prstGeom>
            <a:noFill/>
            <a:ln w="25400">
              <a:solidFill>
                <a:srgbClr val="919191"/>
              </a:solidFill>
              <a:round/>
              <a:headEnd/>
              <a:tailEnd/>
            </a:ln>
          </p:spPr>
          <p:txBody>
            <a:bodyPr wrap="none" anchor="ctr"/>
            <a:lstStyle/>
            <a:p>
              <a:endParaRPr lang="en-NZ">
                <a:latin typeface="Calibri" pitchFamily="34" charset="0"/>
              </a:endParaRPr>
            </a:p>
          </p:txBody>
        </p:sp>
        <p:sp>
          <p:nvSpPr>
            <p:cNvPr id="20537" name="Oval 101"/>
            <p:cNvSpPr>
              <a:spLocks noChangeAspect="1" noChangeArrowheads="1"/>
            </p:cNvSpPr>
            <p:nvPr/>
          </p:nvSpPr>
          <p:spPr bwMode="auto">
            <a:xfrm>
              <a:off x="1884" y="3072"/>
              <a:ext cx="107" cy="10"/>
            </a:xfrm>
            <a:prstGeom prst="ellipse">
              <a:avLst/>
            </a:prstGeom>
            <a:noFill/>
            <a:ln w="12700">
              <a:solidFill>
                <a:srgbClr val="919191"/>
              </a:solidFill>
              <a:round/>
              <a:headEnd/>
              <a:tailEnd/>
            </a:ln>
          </p:spPr>
          <p:txBody>
            <a:bodyPr wrap="none" anchor="ctr"/>
            <a:lstStyle/>
            <a:p>
              <a:endParaRPr lang="en-NZ">
                <a:latin typeface="Calibri" pitchFamily="34" charset="0"/>
              </a:endParaRPr>
            </a:p>
          </p:txBody>
        </p:sp>
        <p:sp>
          <p:nvSpPr>
            <p:cNvPr id="20538" name="Oval 102"/>
            <p:cNvSpPr>
              <a:spLocks noChangeAspect="1" noChangeArrowheads="1"/>
            </p:cNvSpPr>
            <p:nvPr/>
          </p:nvSpPr>
          <p:spPr bwMode="auto">
            <a:xfrm rot="-3120000">
              <a:off x="1724" y="3369"/>
              <a:ext cx="252" cy="328"/>
            </a:xfrm>
            <a:prstGeom prst="ellipse">
              <a:avLst/>
            </a:prstGeom>
            <a:solidFill>
              <a:srgbClr val="CECECE"/>
            </a:solidFill>
            <a:ln w="25400">
              <a:solidFill>
                <a:srgbClr val="919191"/>
              </a:solidFill>
              <a:round/>
              <a:headEnd/>
              <a:tailEnd/>
            </a:ln>
          </p:spPr>
          <p:txBody>
            <a:bodyPr vert="eaVert" wrap="none" anchor="ctr"/>
            <a:lstStyle/>
            <a:p>
              <a:endParaRPr lang="en-NZ">
                <a:latin typeface="Calibri" pitchFamily="34" charset="0"/>
              </a:endParaRPr>
            </a:p>
          </p:txBody>
        </p:sp>
        <p:sp>
          <p:nvSpPr>
            <p:cNvPr id="20539" name="Oval 103"/>
            <p:cNvSpPr>
              <a:spLocks noChangeAspect="1" noChangeArrowheads="1"/>
            </p:cNvSpPr>
            <p:nvPr/>
          </p:nvSpPr>
          <p:spPr bwMode="auto">
            <a:xfrm rot="-3120000">
              <a:off x="1736" y="3376"/>
              <a:ext cx="212" cy="294"/>
            </a:xfrm>
            <a:prstGeom prst="ellipse">
              <a:avLst/>
            </a:prstGeom>
            <a:noFill/>
            <a:ln w="12700">
              <a:solidFill>
                <a:srgbClr val="919191"/>
              </a:solidFill>
              <a:round/>
              <a:headEnd/>
              <a:tailEnd/>
            </a:ln>
          </p:spPr>
          <p:txBody>
            <a:bodyPr vert="eaVert" wrap="none" anchor="ctr"/>
            <a:lstStyle/>
            <a:p>
              <a:endParaRPr lang="en-NZ">
                <a:latin typeface="Calibri" pitchFamily="34" charset="0"/>
              </a:endParaRPr>
            </a:p>
          </p:txBody>
        </p:sp>
        <p:sp>
          <p:nvSpPr>
            <p:cNvPr id="20540" name="Oval 104"/>
            <p:cNvSpPr>
              <a:spLocks noChangeAspect="1" noChangeArrowheads="1"/>
            </p:cNvSpPr>
            <p:nvPr/>
          </p:nvSpPr>
          <p:spPr bwMode="auto">
            <a:xfrm rot="-3120000">
              <a:off x="1756" y="3393"/>
              <a:ext cx="169" cy="246"/>
            </a:xfrm>
            <a:prstGeom prst="ellipse">
              <a:avLst/>
            </a:prstGeom>
            <a:noFill/>
            <a:ln w="25400">
              <a:solidFill>
                <a:srgbClr val="919191"/>
              </a:solidFill>
              <a:round/>
              <a:headEnd/>
              <a:tailEnd/>
            </a:ln>
          </p:spPr>
          <p:txBody>
            <a:bodyPr vert="eaVert" wrap="none" anchor="ctr"/>
            <a:lstStyle/>
            <a:p>
              <a:endParaRPr lang="en-NZ">
                <a:latin typeface="Calibri" pitchFamily="34" charset="0"/>
              </a:endParaRPr>
            </a:p>
          </p:txBody>
        </p:sp>
        <p:sp>
          <p:nvSpPr>
            <p:cNvPr id="20541" name="Oval 105"/>
            <p:cNvSpPr>
              <a:spLocks noChangeAspect="1" noChangeArrowheads="1"/>
            </p:cNvSpPr>
            <p:nvPr/>
          </p:nvSpPr>
          <p:spPr bwMode="auto">
            <a:xfrm rot="-3120000">
              <a:off x="1771" y="3409"/>
              <a:ext cx="127" cy="207"/>
            </a:xfrm>
            <a:prstGeom prst="ellipse">
              <a:avLst/>
            </a:prstGeom>
            <a:noFill/>
            <a:ln w="25400">
              <a:solidFill>
                <a:srgbClr val="919191"/>
              </a:solidFill>
              <a:round/>
              <a:headEnd/>
              <a:tailEnd/>
            </a:ln>
          </p:spPr>
          <p:txBody>
            <a:bodyPr vert="eaVert" wrap="none" anchor="ctr"/>
            <a:lstStyle/>
            <a:p>
              <a:endParaRPr lang="en-NZ">
                <a:latin typeface="Calibri" pitchFamily="34" charset="0"/>
              </a:endParaRPr>
            </a:p>
          </p:txBody>
        </p:sp>
        <p:sp>
          <p:nvSpPr>
            <p:cNvPr id="20542" name="Oval 106"/>
            <p:cNvSpPr>
              <a:spLocks noChangeAspect="1" noChangeArrowheads="1"/>
            </p:cNvSpPr>
            <p:nvPr/>
          </p:nvSpPr>
          <p:spPr bwMode="auto">
            <a:xfrm rot="-3120000">
              <a:off x="1786" y="3420"/>
              <a:ext cx="83" cy="177"/>
            </a:xfrm>
            <a:prstGeom prst="ellipse">
              <a:avLst/>
            </a:prstGeom>
            <a:noFill/>
            <a:ln w="25400">
              <a:solidFill>
                <a:srgbClr val="919191"/>
              </a:solidFill>
              <a:round/>
              <a:headEnd/>
              <a:tailEnd/>
            </a:ln>
          </p:spPr>
          <p:txBody>
            <a:bodyPr vert="eaVert" wrap="none" anchor="ctr"/>
            <a:lstStyle/>
            <a:p>
              <a:endParaRPr lang="en-NZ">
                <a:latin typeface="Calibri" pitchFamily="34" charset="0"/>
              </a:endParaRPr>
            </a:p>
          </p:txBody>
        </p:sp>
        <p:sp>
          <p:nvSpPr>
            <p:cNvPr id="20543" name="Oval 107"/>
            <p:cNvSpPr>
              <a:spLocks noChangeAspect="1" noChangeArrowheads="1"/>
            </p:cNvSpPr>
            <p:nvPr/>
          </p:nvSpPr>
          <p:spPr bwMode="auto">
            <a:xfrm rot="-3120000">
              <a:off x="1795" y="3423"/>
              <a:ext cx="60" cy="156"/>
            </a:xfrm>
            <a:prstGeom prst="ellipse">
              <a:avLst/>
            </a:prstGeom>
            <a:noFill/>
            <a:ln w="12700">
              <a:solidFill>
                <a:srgbClr val="919191"/>
              </a:solidFill>
              <a:round/>
              <a:headEnd/>
              <a:tailEnd/>
            </a:ln>
          </p:spPr>
          <p:txBody>
            <a:bodyPr vert="eaVert" wrap="none" anchor="ctr"/>
            <a:lstStyle/>
            <a:p>
              <a:endParaRPr lang="en-NZ">
                <a:latin typeface="Calibri" pitchFamily="34" charset="0"/>
              </a:endParaRPr>
            </a:p>
          </p:txBody>
        </p:sp>
        <p:sp>
          <p:nvSpPr>
            <p:cNvPr id="20544" name="Oval 108"/>
            <p:cNvSpPr>
              <a:spLocks noChangeAspect="1" noChangeArrowheads="1"/>
            </p:cNvSpPr>
            <p:nvPr/>
          </p:nvSpPr>
          <p:spPr bwMode="auto">
            <a:xfrm rot="-3120000">
              <a:off x="1811" y="3431"/>
              <a:ext cx="26" cy="115"/>
            </a:xfrm>
            <a:prstGeom prst="ellipse">
              <a:avLst/>
            </a:prstGeom>
            <a:noFill/>
            <a:ln w="25400">
              <a:solidFill>
                <a:srgbClr val="919191"/>
              </a:solidFill>
              <a:round/>
              <a:headEnd/>
              <a:tailEnd/>
            </a:ln>
          </p:spPr>
          <p:txBody>
            <a:bodyPr vert="eaVert" wrap="none" anchor="ctr"/>
            <a:lstStyle/>
            <a:p>
              <a:endParaRPr lang="en-NZ">
                <a:latin typeface="Calibri" pitchFamily="34" charset="0"/>
              </a:endParaRPr>
            </a:p>
          </p:txBody>
        </p:sp>
        <p:sp>
          <p:nvSpPr>
            <p:cNvPr id="20545" name="Oval 109"/>
            <p:cNvSpPr>
              <a:spLocks noChangeAspect="1" noChangeArrowheads="1"/>
            </p:cNvSpPr>
            <p:nvPr/>
          </p:nvSpPr>
          <p:spPr bwMode="auto">
            <a:xfrm rot="-3120000">
              <a:off x="1814" y="3452"/>
              <a:ext cx="12" cy="58"/>
            </a:xfrm>
            <a:prstGeom prst="ellipse">
              <a:avLst/>
            </a:prstGeom>
            <a:noFill/>
            <a:ln w="12700">
              <a:solidFill>
                <a:srgbClr val="919191"/>
              </a:solidFill>
              <a:round/>
              <a:headEnd/>
              <a:tailEnd/>
            </a:ln>
          </p:spPr>
          <p:txBody>
            <a:bodyPr vert="eaVert" wrap="none" anchor="ctr"/>
            <a:lstStyle/>
            <a:p>
              <a:endParaRPr lang="en-NZ">
                <a:latin typeface="Calibri" pitchFamily="34" charset="0"/>
              </a:endParaRPr>
            </a:p>
          </p:txBody>
        </p:sp>
      </p:grpSp>
      <p:grpSp>
        <p:nvGrpSpPr>
          <p:cNvPr id="20493" name="Group 110"/>
          <p:cNvGrpSpPr>
            <a:grpSpLocks/>
          </p:cNvGrpSpPr>
          <p:nvPr/>
        </p:nvGrpSpPr>
        <p:grpSpPr bwMode="auto">
          <a:xfrm>
            <a:off x="2627313" y="4724400"/>
            <a:ext cx="2484437" cy="1149350"/>
            <a:chOff x="624" y="3770"/>
            <a:chExt cx="1761" cy="724"/>
          </a:xfrm>
        </p:grpSpPr>
        <p:sp>
          <p:nvSpPr>
            <p:cNvPr id="20503" name="Rectangle 111"/>
            <p:cNvSpPr>
              <a:spLocks noChangeAspect="1" noChangeArrowheads="1"/>
            </p:cNvSpPr>
            <p:nvPr/>
          </p:nvSpPr>
          <p:spPr bwMode="auto">
            <a:xfrm>
              <a:off x="624" y="3770"/>
              <a:ext cx="512" cy="252"/>
            </a:xfrm>
            <a:prstGeom prst="rect">
              <a:avLst/>
            </a:prstGeom>
            <a:noFill/>
            <a:ln w="9525">
              <a:noFill/>
              <a:miter lim="800000"/>
              <a:headEnd/>
              <a:tailEnd/>
            </a:ln>
          </p:spPr>
          <p:txBody>
            <a:bodyPr wrap="none" lIns="93662" tIns="47625" rIns="93662" bIns="47625">
              <a:spAutoFit/>
            </a:bodyPr>
            <a:lstStyle/>
            <a:p>
              <a:pPr defTabSz="933450"/>
              <a:r>
                <a:rPr lang="en-US" sz="2000"/>
                <a:t>Oats</a:t>
              </a:r>
            </a:p>
          </p:txBody>
        </p:sp>
        <p:sp>
          <p:nvSpPr>
            <p:cNvPr id="20504" name="Oval 112"/>
            <p:cNvSpPr>
              <a:spLocks noChangeAspect="1" noChangeArrowheads="1"/>
            </p:cNvSpPr>
            <p:nvPr/>
          </p:nvSpPr>
          <p:spPr bwMode="auto">
            <a:xfrm>
              <a:off x="1124" y="3901"/>
              <a:ext cx="549" cy="292"/>
            </a:xfrm>
            <a:prstGeom prst="ellipse">
              <a:avLst/>
            </a:prstGeom>
            <a:solidFill>
              <a:srgbClr val="CECECE"/>
            </a:solidFill>
            <a:ln w="25400">
              <a:solidFill>
                <a:srgbClr val="919191"/>
              </a:solidFill>
              <a:round/>
              <a:headEnd/>
              <a:tailEnd/>
            </a:ln>
          </p:spPr>
          <p:txBody>
            <a:bodyPr wrap="none" anchor="ctr"/>
            <a:lstStyle/>
            <a:p>
              <a:endParaRPr lang="en-NZ">
                <a:latin typeface="Calibri" pitchFamily="34" charset="0"/>
              </a:endParaRPr>
            </a:p>
          </p:txBody>
        </p:sp>
        <p:sp>
          <p:nvSpPr>
            <p:cNvPr id="20505" name="Freeform 113"/>
            <p:cNvSpPr>
              <a:spLocks noChangeAspect="1"/>
            </p:cNvSpPr>
            <p:nvPr/>
          </p:nvSpPr>
          <p:spPr bwMode="auto">
            <a:xfrm>
              <a:off x="1211" y="3952"/>
              <a:ext cx="407" cy="187"/>
            </a:xfrm>
            <a:custGeom>
              <a:avLst/>
              <a:gdLst>
                <a:gd name="T0" fmla="*/ 29 w 653"/>
                <a:gd name="T1" fmla="*/ 33 h 300"/>
                <a:gd name="T2" fmla="*/ 42 w 653"/>
                <a:gd name="T3" fmla="*/ 29 h 300"/>
                <a:gd name="T4" fmla="*/ 50 w 653"/>
                <a:gd name="T5" fmla="*/ 15 h 300"/>
                <a:gd name="T6" fmla="*/ 55 w 653"/>
                <a:gd name="T7" fmla="*/ 0 h 300"/>
                <a:gd name="T8" fmla="*/ 65 w 653"/>
                <a:gd name="T9" fmla="*/ 6 h 300"/>
                <a:gd name="T10" fmla="*/ 62 w 653"/>
                <a:gd name="T11" fmla="*/ 16 h 300"/>
                <a:gd name="T12" fmla="*/ 73 w 653"/>
                <a:gd name="T13" fmla="*/ 26 h 300"/>
                <a:gd name="T14" fmla="*/ 82 w 653"/>
                <a:gd name="T15" fmla="*/ 16 h 300"/>
                <a:gd name="T16" fmla="*/ 96 w 653"/>
                <a:gd name="T17" fmla="*/ 19 h 300"/>
                <a:gd name="T18" fmla="*/ 97 w 653"/>
                <a:gd name="T19" fmla="*/ 34 h 300"/>
                <a:gd name="T20" fmla="*/ 111 w 653"/>
                <a:gd name="T21" fmla="*/ 27 h 300"/>
                <a:gd name="T22" fmla="*/ 121 w 653"/>
                <a:gd name="T23" fmla="*/ 27 h 300"/>
                <a:gd name="T24" fmla="*/ 130 w 653"/>
                <a:gd name="T25" fmla="*/ 18 h 300"/>
                <a:gd name="T26" fmla="*/ 140 w 653"/>
                <a:gd name="T27" fmla="*/ 27 h 300"/>
                <a:gd name="T28" fmla="*/ 152 w 653"/>
                <a:gd name="T29" fmla="*/ 40 h 300"/>
                <a:gd name="T30" fmla="*/ 150 w 653"/>
                <a:gd name="T31" fmla="*/ 48 h 300"/>
                <a:gd name="T32" fmla="*/ 136 w 653"/>
                <a:gd name="T33" fmla="*/ 44 h 300"/>
                <a:gd name="T34" fmla="*/ 136 w 653"/>
                <a:gd name="T35" fmla="*/ 55 h 300"/>
                <a:gd name="T36" fmla="*/ 137 w 653"/>
                <a:gd name="T37" fmla="*/ 64 h 300"/>
                <a:gd name="T38" fmla="*/ 130 w 653"/>
                <a:gd name="T39" fmla="*/ 66 h 300"/>
                <a:gd name="T40" fmla="*/ 125 w 653"/>
                <a:gd name="T41" fmla="*/ 52 h 300"/>
                <a:gd name="T42" fmla="*/ 114 w 653"/>
                <a:gd name="T43" fmla="*/ 48 h 300"/>
                <a:gd name="T44" fmla="*/ 97 w 653"/>
                <a:gd name="T45" fmla="*/ 50 h 300"/>
                <a:gd name="T46" fmla="*/ 87 w 653"/>
                <a:gd name="T47" fmla="*/ 50 h 300"/>
                <a:gd name="T48" fmla="*/ 76 w 653"/>
                <a:gd name="T49" fmla="*/ 52 h 300"/>
                <a:gd name="T50" fmla="*/ 78 w 653"/>
                <a:gd name="T51" fmla="*/ 65 h 300"/>
                <a:gd name="T52" fmla="*/ 70 w 653"/>
                <a:gd name="T53" fmla="*/ 72 h 300"/>
                <a:gd name="T54" fmla="*/ 62 w 653"/>
                <a:gd name="T55" fmla="*/ 59 h 300"/>
                <a:gd name="T56" fmla="*/ 55 w 653"/>
                <a:gd name="T57" fmla="*/ 49 h 300"/>
                <a:gd name="T58" fmla="*/ 34 w 653"/>
                <a:gd name="T59" fmla="*/ 51 h 300"/>
                <a:gd name="T60" fmla="*/ 21 w 653"/>
                <a:gd name="T61" fmla="*/ 52 h 300"/>
                <a:gd name="T62" fmla="*/ 22 w 653"/>
                <a:gd name="T63" fmla="*/ 50 h 300"/>
                <a:gd name="T64" fmla="*/ 14 w 653"/>
                <a:gd name="T65" fmla="*/ 36 h 300"/>
                <a:gd name="T66" fmla="*/ 0 w 653"/>
                <a:gd name="T67" fmla="*/ 27 h 300"/>
                <a:gd name="T68" fmla="*/ 10 w 653"/>
                <a:gd name="T69" fmla="*/ 21 h 300"/>
                <a:gd name="T70" fmla="*/ 22 w 653"/>
                <a:gd name="T71" fmla="*/ 29 h 30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653"/>
                <a:gd name="T109" fmla="*/ 0 h 300"/>
                <a:gd name="T110" fmla="*/ 653 w 653"/>
                <a:gd name="T111" fmla="*/ 300 h 30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653" h="300">
                  <a:moveTo>
                    <a:pt x="100" y="125"/>
                  </a:moveTo>
                  <a:lnTo>
                    <a:pt x="121" y="137"/>
                  </a:lnTo>
                  <a:lnTo>
                    <a:pt x="151" y="129"/>
                  </a:lnTo>
                  <a:lnTo>
                    <a:pt x="173" y="117"/>
                  </a:lnTo>
                  <a:lnTo>
                    <a:pt x="189" y="90"/>
                  </a:lnTo>
                  <a:lnTo>
                    <a:pt x="206" y="62"/>
                  </a:lnTo>
                  <a:lnTo>
                    <a:pt x="211" y="28"/>
                  </a:lnTo>
                  <a:lnTo>
                    <a:pt x="228" y="0"/>
                  </a:lnTo>
                  <a:lnTo>
                    <a:pt x="249" y="12"/>
                  </a:lnTo>
                  <a:lnTo>
                    <a:pt x="269" y="25"/>
                  </a:lnTo>
                  <a:lnTo>
                    <a:pt x="258" y="44"/>
                  </a:lnTo>
                  <a:lnTo>
                    <a:pt x="256" y="68"/>
                  </a:lnTo>
                  <a:lnTo>
                    <a:pt x="266" y="98"/>
                  </a:lnTo>
                  <a:lnTo>
                    <a:pt x="300" y="107"/>
                  </a:lnTo>
                  <a:lnTo>
                    <a:pt x="311" y="88"/>
                  </a:lnTo>
                  <a:lnTo>
                    <a:pt x="338" y="66"/>
                  </a:lnTo>
                  <a:lnTo>
                    <a:pt x="368" y="61"/>
                  </a:lnTo>
                  <a:lnTo>
                    <a:pt x="397" y="79"/>
                  </a:lnTo>
                  <a:lnTo>
                    <a:pt x="391" y="112"/>
                  </a:lnTo>
                  <a:lnTo>
                    <a:pt x="400" y="142"/>
                  </a:lnTo>
                  <a:lnTo>
                    <a:pt x="427" y="119"/>
                  </a:lnTo>
                  <a:lnTo>
                    <a:pt x="457" y="114"/>
                  </a:lnTo>
                  <a:lnTo>
                    <a:pt x="478" y="101"/>
                  </a:lnTo>
                  <a:lnTo>
                    <a:pt x="499" y="113"/>
                  </a:lnTo>
                  <a:lnTo>
                    <a:pt x="528" y="106"/>
                  </a:lnTo>
                  <a:lnTo>
                    <a:pt x="535" y="73"/>
                  </a:lnTo>
                  <a:lnTo>
                    <a:pt x="556" y="85"/>
                  </a:lnTo>
                  <a:lnTo>
                    <a:pt x="579" y="113"/>
                  </a:lnTo>
                  <a:lnTo>
                    <a:pt x="599" y="148"/>
                  </a:lnTo>
                  <a:lnTo>
                    <a:pt x="628" y="165"/>
                  </a:lnTo>
                  <a:lnTo>
                    <a:pt x="652" y="194"/>
                  </a:lnTo>
                  <a:lnTo>
                    <a:pt x="620" y="199"/>
                  </a:lnTo>
                  <a:lnTo>
                    <a:pt x="600" y="187"/>
                  </a:lnTo>
                  <a:lnTo>
                    <a:pt x="565" y="179"/>
                  </a:lnTo>
                  <a:lnTo>
                    <a:pt x="575" y="208"/>
                  </a:lnTo>
                  <a:lnTo>
                    <a:pt x="564" y="227"/>
                  </a:lnTo>
                  <a:lnTo>
                    <a:pt x="578" y="248"/>
                  </a:lnTo>
                  <a:lnTo>
                    <a:pt x="567" y="267"/>
                  </a:lnTo>
                  <a:lnTo>
                    <a:pt x="556" y="285"/>
                  </a:lnTo>
                  <a:lnTo>
                    <a:pt x="536" y="273"/>
                  </a:lnTo>
                  <a:lnTo>
                    <a:pt x="522" y="251"/>
                  </a:lnTo>
                  <a:lnTo>
                    <a:pt x="519" y="213"/>
                  </a:lnTo>
                  <a:lnTo>
                    <a:pt x="498" y="200"/>
                  </a:lnTo>
                  <a:lnTo>
                    <a:pt x="472" y="199"/>
                  </a:lnTo>
                  <a:lnTo>
                    <a:pt x="432" y="198"/>
                  </a:lnTo>
                  <a:lnTo>
                    <a:pt x="403" y="205"/>
                  </a:lnTo>
                  <a:lnTo>
                    <a:pt x="383" y="193"/>
                  </a:lnTo>
                  <a:lnTo>
                    <a:pt x="361" y="207"/>
                  </a:lnTo>
                  <a:lnTo>
                    <a:pt x="336" y="202"/>
                  </a:lnTo>
                  <a:lnTo>
                    <a:pt x="315" y="216"/>
                  </a:lnTo>
                  <a:lnTo>
                    <a:pt x="308" y="249"/>
                  </a:lnTo>
                  <a:lnTo>
                    <a:pt x="323" y="270"/>
                  </a:lnTo>
                  <a:lnTo>
                    <a:pt x="322" y="294"/>
                  </a:lnTo>
                  <a:lnTo>
                    <a:pt x="291" y="299"/>
                  </a:lnTo>
                  <a:lnTo>
                    <a:pt x="266" y="273"/>
                  </a:lnTo>
                  <a:lnTo>
                    <a:pt x="259" y="243"/>
                  </a:lnTo>
                  <a:lnTo>
                    <a:pt x="244" y="222"/>
                  </a:lnTo>
                  <a:lnTo>
                    <a:pt x="228" y="201"/>
                  </a:lnTo>
                  <a:lnTo>
                    <a:pt x="183" y="211"/>
                  </a:lnTo>
                  <a:lnTo>
                    <a:pt x="143" y="210"/>
                  </a:lnTo>
                  <a:lnTo>
                    <a:pt x="112" y="218"/>
                  </a:lnTo>
                  <a:lnTo>
                    <a:pt x="87" y="215"/>
                  </a:lnTo>
                  <a:lnTo>
                    <a:pt x="67" y="202"/>
                  </a:lnTo>
                  <a:lnTo>
                    <a:pt x="92" y="206"/>
                  </a:lnTo>
                  <a:lnTo>
                    <a:pt x="84" y="174"/>
                  </a:lnTo>
                  <a:lnTo>
                    <a:pt x="59" y="148"/>
                  </a:lnTo>
                  <a:lnTo>
                    <a:pt x="25" y="139"/>
                  </a:lnTo>
                  <a:lnTo>
                    <a:pt x="0" y="113"/>
                  </a:lnTo>
                  <a:lnTo>
                    <a:pt x="11" y="94"/>
                  </a:lnTo>
                  <a:lnTo>
                    <a:pt x="41" y="89"/>
                  </a:lnTo>
                  <a:lnTo>
                    <a:pt x="62" y="102"/>
                  </a:lnTo>
                  <a:lnTo>
                    <a:pt x="91" y="119"/>
                  </a:lnTo>
                  <a:lnTo>
                    <a:pt x="100" y="125"/>
                  </a:lnTo>
                </a:path>
              </a:pathLst>
            </a:custGeom>
            <a:solidFill>
              <a:schemeClr val="bg2"/>
            </a:solidFill>
            <a:ln w="12700" cap="rnd" cmpd="sng">
              <a:solidFill>
                <a:srgbClr val="919191"/>
              </a:solidFill>
              <a:prstDash val="solid"/>
              <a:round/>
              <a:headEnd type="none" w="med" len="med"/>
              <a:tailEnd type="none" w="med" len="med"/>
            </a:ln>
          </p:spPr>
          <p:txBody>
            <a:bodyPr/>
            <a:lstStyle/>
            <a:p>
              <a:endParaRPr lang="en-US"/>
            </a:p>
          </p:txBody>
        </p:sp>
        <p:sp>
          <p:nvSpPr>
            <p:cNvPr id="20506" name="Oval 114"/>
            <p:cNvSpPr>
              <a:spLocks noChangeAspect="1" noChangeArrowheads="1"/>
            </p:cNvSpPr>
            <p:nvPr/>
          </p:nvSpPr>
          <p:spPr bwMode="auto">
            <a:xfrm rot="-2280000">
              <a:off x="1721" y="3935"/>
              <a:ext cx="664" cy="349"/>
            </a:xfrm>
            <a:prstGeom prst="ellipse">
              <a:avLst/>
            </a:prstGeom>
            <a:solidFill>
              <a:srgbClr val="CECECE"/>
            </a:solidFill>
            <a:ln w="25400">
              <a:solidFill>
                <a:srgbClr val="919191"/>
              </a:solidFill>
              <a:round/>
              <a:headEnd/>
              <a:tailEnd/>
            </a:ln>
          </p:spPr>
          <p:txBody>
            <a:bodyPr wrap="none" anchor="ctr"/>
            <a:lstStyle/>
            <a:p>
              <a:endParaRPr lang="en-NZ">
                <a:latin typeface="Calibri" pitchFamily="34" charset="0"/>
              </a:endParaRPr>
            </a:p>
          </p:txBody>
        </p:sp>
        <p:sp>
          <p:nvSpPr>
            <p:cNvPr id="20507" name="Freeform 115"/>
            <p:cNvSpPr>
              <a:spLocks noChangeAspect="1"/>
            </p:cNvSpPr>
            <p:nvPr/>
          </p:nvSpPr>
          <p:spPr bwMode="auto">
            <a:xfrm>
              <a:off x="1832" y="3997"/>
              <a:ext cx="396" cy="200"/>
            </a:xfrm>
            <a:custGeom>
              <a:avLst/>
              <a:gdLst>
                <a:gd name="T0" fmla="*/ 0 w 635"/>
                <a:gd name="T1" fmla="*/ 73 h 321"/>
                <a:gd name="T2" fmla="*/ 9 w 635"/>
                <a:gd name="T3" fmla="*/ 73 h 321"/>
                <a:gd name="T4" fmla="*/ 17 w 635"/>
                <a:gd name="T5" fmla="*/ 73 h 321"/>
                <a:gd name="T6" fmla="*/ 26 w 635"/>
                <a:gd name="T7" fmla="*/ 70 h 321"/>
                <a:gd name="T8" fmla="*/ 35 w 635"/>
                <a:gd name="T9" fmla="*/ 67 h 321"/>
                <a:gd name="T10" fmla="*/ 44 w 635"/>
                <a:gd name="T11" fmla="*/ 65 h 321"/>
                <a:gd name="T12" fmla="*/ 52 w 635"/>
                <a:gd name="T13" fmla="*/ 62 h 321"/>
                <a:gd name="T14" fmla="*/ 61 w 635"/>
                <a:gd name="T15" fmla="*/ 62 h 321"/>
                <a:gd name="T16" fmla="*/ 70 w 635"/>
                <a:gd name="T17" fmla="*/ 57 h 321"/>
                <a:gd name="T18" fmla="*/ 75 w 635"/>
                <a:gd name="T19" fmla="*/ 52 h 321"/>
                <a:gd name="T20" fmla="*/ 81 w 635"/>
                <a:gd name="T21" fmla="*/ 49 h 321"/>
                <a:gd name="T22" fmla="*/ 87 w 635"/>
                <a:gd name="T23" fmla="*/ 47 h 321"/>
                <a:gd name="T24" fmla="*/ 96 w 635"/>
                <a:gd name="T25" fmla="*/ 42 h 321"/>
                <a:gd name="T26" fmla="*/ 96 w 635"/>
                <a:gd name="T27" fmla="*/ 36 h 321"/>
                <a:gd name="T28" fmla="*/ 102 w 635"/>
                <a:gd name="T29" fmla="*/ 31 h 321"/>
                <a:gd name="T30" fmla="*/ 107 w 635"/>
                <a:gd name="T31" fmla="*/ 26 h 321"/>
                <a:gd name="T32" fmla="*/ 110 w 635"/>
                <a:gd name="T33" fmla="*/ 21 h 321"/>
                <a:gd name="T34" fmla="*/ 116 w 635"/>
                <a:gd name="T35" fmla="*/ 18 h 321"/>
                <a:gd name="T36" fmla="*/ 122 w 635"/>
                <a:gd name="T37" fmla="*/ 16 h 321"/>
                <a:gd name="T38" fmla="*/ 131 w 635"/>
                <a:gd name="T39" fmla="*/ 7 h 321"/>
                <a:gd name="T40" fmla="*/ 140 w 635"/>
                <a:gd name="T41" fmla="*/ 2 h 321"/>
                <a:gd name="T42" fmla="*/ 148 w 635"/>
                <a:gd name="T43" fmla="*/ 0 h 321"/>
                <a:gd name="T44" fmla="*/ 153 w 635"/>
                <a:gd name="T45" fmla="*/ 6 h 321"/>
                <a:gd name="T46" fmla="*/ 148 w 635"/>
                <a:gd name="T47" fmla="*/ 11 h 321"/>
                <a:gd name="T48" fmla="*/ 142 w 635"/>
                <a:gd name="T49" fmla="*/ 13 h 321"/>
                <a:gd name="T50" fmla="*/ 140 w 635"/>
                <a:gd name="T51" fmla="*/ 18 h 321"/>
                <a:gd name="T52" fmla="*/ 134 w 635"/>
                <a:gd name="T53" fmla="*/ 21 h 321"/>
                <a:gd name="T54" fmla="*/ 131 w 635"/>
                <a:gd name="T55" fmla="*/ 26 h 321"/>
                <a:gd name="T56" fmla="*/ 125 w 635"/>
                <a:gd name="T57" fmla="*/ 29 h 321"/>
                <a:gd name="T58" fmla="*/ 125 w 635"/>
                <a:gd name="T59" fmla="*/ 34 h 321"/>
                <a:gd name="T60" fmla="*/ 119 w 635"/>
                <a:gd name="T61" fmla="*/ 36 h 321"/>
                <a:gd name="T62" fmla="*/ 116 w 635"/>
                <a:gd name="T63" fmla="*/ 42 h 321"/>
                <a:gd name="T64" fmla="*/ 110 w 635"/>
                <a:gd name="T65" fmla="*/ 47 h 321"/>
                <a:gd name="T66" fmla="*/ 107 w 635"/>
                <a:gd name="T67" fmla="*/ 52 h 321"/>
                <a:gd name="T68" fmla="*/ 105 w 635"/>
                <a:gd name="T69" fmla="*/ 57 h 321"/>
                <a:gd name="T70" fmla="*/ 99 w 635"/>
                <a:gd name="T71" fmla="*/ 62 h 321"/>
                <a:gd name="T72" fmla="*/ 96 w 635"/>
                <a:gd name="T73" fmla="*/ 67 h 321"/>
                <a:gd name="T74" fmla="*/ 90 w 635"/>
                <a:gd name="T75" fmla="*/ 67 h 321"/>
                <a:gd name="T76" fmla="*/ 84 w 635"/>
                <a:gd name="T77" fmla="*/ 67 h 321"/>
                <a:gd name="T78" fmla="*/ 75 w 635"/>
                <a:gd name="T79" fmla="*/ 70 h 321"/>
                <a:gd name="T80" fmla="*/ 67 w 635"/>
                <a:gd name="T81" fmla="*/ 73 h 321"/>
                <a:gd name="T82" fmla="*/ 57 w 635"/>
                <a:gd name="T83" fmla="*/ 75 h 321"/>
                <a:gd name="T84" fmla="*/ 49 w 635"/>
                <a:gd name="T85" fmla="*/ 75 h 321"/>
                <a:gd name="T86" fmla="*/ 41 w 635"/>
                <a:gd name="T87" fmla="*/ 77 h 321"/>
                <a:gd name="T88" fmla="*/ 32 w 635"/>
                <a:gd name="T89" fmla="*/ 77 h 321"/>
                <a:gd name="T90" fmla="*/ 23 w 635"/>
                <a:gd name="T91" fmla="*/ 77 h 321"/>
                <a:gd name="T92" fmla="*/ 14 w 635"/>
                <a:gd name="T93" fmla="*/ 75 h 321"/>
                <a:gd name="T94" fmla="*/ 6 w 635"/>
                <a:gd name="T95" fmla="*/ 73 h 321"/>
                <a:gd name="T96" fmla="*/ 0 w 635"/>
                <a:gd name="T97" fmla="*/ 73 h 321"/>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635"/>
                <a:gd name="T148" fmla="*/ 0 h 321"/>
                <a:gd name="T149" fmla="*/ 635 w 635"/>
                <a:gd name="T150" fmla="*/ 321 h 321"/>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635" h="321">
                  <a:moveTo>
                    <a:pt x="0" y="300"/>
                  </a:moveTo>
                  <a:lnTo>
                    <a:pt x="36" y="300"/>
                  </a:lnTo>
                  <a:lnTo>
                    <a:pt x="72" y="300"/>
                  </a:lnTo>
                  <a:lnTo>
                    <a:pt x="108" y="288"/>
                  </a:lnTo>
                  <a:lnTo>
                    <a:pt x="144" y="278"/>
                  </a:lnTo>
                  <a:lnTo>
                    <a:pt x="180" y="268"/>
                  </a:lnTo>
                  <a:lnTo>
                    <a:pt x="216" y="256"/>
                  </a:lnTo>
                  <a:lnTo>
                    <a:pt x="252" y="256"/>
                  </a:lnTo>
                  <a:lnTo>
                    <a:pt x="288" y="236"/>
                  </a:lnTo>
                  <a:lnTo>
                    <a:pt x="310" y="214"/>
                  </a:lnTo>
                  <a:lnTo>
                    <a:pt x="335" y="204"/>
                  </a:lnTo>
                  <a:lnTo>
                    <a:pt x="360" y="192"/>
                  </a:lnTo>
                  <a:lnTo>
                    <a:pt x="396" y="172"/>
                  </a:lnTo>
                  <a:lnTo>
                    <a:pt x="396" y="150"/>
                  </a:lnTo>
                  <a:lnTo>
                    <a:pt x="418" y="128"/>
                  </a:lnTo>
                  <a:lnTo>
                    <a:pt x="443" y="108"/>
                  </a:lnTo>
                  <a:lnTo>
                    <a:pt x="454" y="86"/>
                  </a:lnTo>
                  <a:lnTo>
                    <a:pt x="479" y="76"/>
                  </a:lnTo>
                  <a:lnTo>
                    <a:pt x="504" y="64"/>
                  </a:lnTo>
                  <a:lnTo>
                    <a:pt x="540" y="32"/>
                  </a:lnTo>
                  <a:lnTo>
                    <a:pt x="576" y="12"/>
                  </a:lnTo>
                  <a:lnTo>
                    <a:pt x="612" y="0"/>
                  </a:lnTo>
                  <a:lnTo>
                    <a:pt x="634" y="22"/>
                  </a:lnTo>
                  <a:lnTo>
                    <a:pt x="612" y="44"/>
                  </a:lnTo>
                  <a:lnTo>
                    <a:pt x="587" y="54"/>
                  </a:lnTo>
                  <a:lnTo>
                    <a:pt x="576" y="76"/>
                  </a:lnTo>
                  <a:lnTo>
                    <a:pt x="551" y="86"/>
                  </a:lnTo>
                  <a:lnTo>
                    <a:pt x="540" y="108"/>
                  </a:lnTo>
                  <a:lnTo>
                    <a:pt x="515" y="118"/>
                  </a:lnTo>
                  <a:lnTo>
                    <a:pt x="515" y="140"/>
                  </a:lnTo>
                  <a:lnTo>
                    <a:pt x="490" y="150"/>
                  </a:lnTo>
                  <a:lnTo>
                    <a:pt x="479" y="172"/>
                  </a:lnTo>
                  <a:lnTo>
                    <a:pt x="454" y="192"/>
                  </a:lnTo>
                  <a:lnTo>
                    <a:pt x="443" y="214"/>
                  </a:lnTo>
                  <a:lnTo>
                    <a:pt x="432" y="236"/>
                  </a:lnTo>
                  <a:lnTo>
                    <a:pt x="407" y="256"/>
                  </a:lnTo>
                  <a:lnTo>
                    <a:pt x="396" y="278"/>
                  </a:lnTo>
                  <a:lnTo>
                    <a:pt x="371" y="278"/>
                  </a:lnTo>
                  <a:lnTo>
                    <a:pt x="346" y="278"/>
                  </a:lnTo>
                  <a:lnTo>
                    <a:pt x="310" y="288"/>
                  </a:lnTo>
                  <a:lnTo>
                    <a:pt x="274" y="300"/>
                  </a:lnTo>
                  <a:lnTo>
                    <a:pt x="238" y="310"/>
                  </a:lnTo>
                  <a:lnTo>
                    <a:pt x="202" y="310"/>
                  </a:lnTo>
                  <a:lnTo>
                    <a:pt x="166" y="320"/>
                  </a:lnTo>
                  <a:lnTo>
                    <a:pt x="130" y="320"/>
                  </a:lnTo>
                  <a:lnTo>
                    <a:pt x="94" y="320"/>
                  </a:lnTo>
                  <a:lnTo>
                    <a:pt x="58" y="310"/>
                  </a:lnTo>
                  <a:lnTo>
                    <a:pt x="22" y="300"/>
                  </a:lnTo>
                  <a:lnTo>
                    <a:pt x="0" y="300"/>
                  </a:lnTo>
                </a:path>
              </a:pathLst>
            </a:custGeom>
            <a:solidFill>
              <a:srgbClr val="919191"/>
            </a:solidFill>
            <a:ln w="12700" cap="rnd" cmpd="sng">
              <a:solidFill>
                <a:srgbClr val="919191"/>
              </a:solidFill>
              <a:prstDash val="solid"/>
              <a:round/>
              <a:headEnd type="none" w="med" len="med"/>
              <a:tailEnd type="none" w="med" len="med"/>
            </a:ln>
          </p:spPr>
          <p:txBody>
            <a:bodyPr/>
            <a:lstStyle/>
            <a:p>
              <a:endParaRPr lang="en-US"/>
            </a:p>
          </p:txBody>
        </p:sp>
        <p:sp>
          <p:nvSpPr>
            <p:cNvPr id="20508" name="Freeform 116"/>
            <p:cNvSpPr>
              <a:spLocks noChangeAspect="1"/>
            </p:cNvSpPr>
            <p:nvPr/>
          </p:nvSpPr>
          <p:spPr bwMode="auto">
            <a:xfrm>
              <a:off x="2240" y="3930"/>
              <a:ext cx="38" cy="126"/>
            </a:xfrm>
            <a:custGeom>
              <a:avLst/>
              <a:gdLst>
                <a:gd name="T0" fmla="*/ 11 w 61"/>
                <a:gd name="T1" fmla="*/ 0 h 203"/>
                <a:gd name="T2" fmla="*/ 11 w 61"/>
                <a:gd name="T3" fmla="*/ 7 h 203"/>
                <a:gd name="T4" fmla="*/ 14 w 61"/>
                <a:gd name="T5" fmla="*/ 16 h 203"/>
                <a:gd name="T6" fmla="*/ 14 w 61"/>
                <a:gd name="T7" fmla="*/ 23 h 203"/>
                <a:gd name="T8" fmla="*/ 14 w 61"/>
                <a:gd name="T9" fmla="*/ 30 h 203"/>
                <a:gd name="T10" fmla="*/ 11 w 61"/>
                <a:gd name="T11" fmla="*/ 38 h 203"/>
                <a:gd name="T12" fmla="*/ 2 w 61"/>
                <a:gd name="T13" fmla="*/ 43 h 203"/>
                <a:gd name="T14" fmla="*/ 0 w 61"/>
                <a:gd name="T15" fmla="*/ 48 h 203"/>
                <a:gd name="T16" fmla="*/ 0 60000 65536"/>
                <a:gd name="T17" fmla="*/ 0 60000 65536"/>
                <a:gd name="T18" fmla="*/ 0 60000 65536"/>
                <a:gd name="T19" fmla="*/ 0 60000 65536"/>
                <a:gd name="T20" fmla="*/ 0 60000 65536"/>
                <a:gd name="T21" fmla="*/ 0 60000 65536"/>
                <a:gd name="T22" fmla="*/ 0 60000 65536"/>
                <a:gd name="T23" fmla="*/ 0 60000 65536"/>
                <a:gd name="T24" fmla="*/ 0 w 61"/>
                <a:gd name="T25" fmla="*/ 0 h 203"/>
                <a:gd name="T26" fmla="*/ 61 w 61"/>
                <a:gd name="T27" fmla="*/ 203 h 20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1" h="203">
                  <a:moveTo>
                    <a:pt x="47" y="0"/>
                  </a:moveTo>
                  <a:lnTo>
                    <a:pt x="47" y="32"/>
                  </a:lnTo>
                  <a:lnTo>
                    <a:pt x="60" y="64"/>
                  </a:lnTo>
                  <a:lnTo>
                    <a:pt x="60" y="96"/>
                  </a:lnTo>
                  <a:lnTo>
                    <a:pt x="60" y="128"/>
                  </a:lnTo>
                  <a:lnTo>
                    <a:pt x="47" y="160"/>
                  </a:lnTo>
                  <a:lnTo>
                    <a:pt x="11" y="180"/>
                  </a:lnTo>
                  <a:lnTo>
                    <a:pt x="0" y="202"/>
                  </a:lnTo>
                </a:path>
              </a:pathLst>
            </a:custGeom>
            <a:noFill/>
            <a:ln w="12700" cap="rnd" cmpd="sng">
              <a:solidFill>
                <a:srgbClr val="919191"/>
              </a:solidFill>
              <a:prstDash val="solid"/>
              <a:round/>
              <a:headEnd type="none" w="med" len="med"/>
              <a:tailEnd type="none" w="med" len="med"/>
            </a:ln>
          </p:spPr>
          <p:txBody>
            <a:bodyPr/>
            <a:lstStyle/>
            <a:p>
              <a:endParaRPr lang="en-US"/>
            </a:p>
          </p:txBody>
        </p:sp>
        <p:sp>
          <p:nvSpPr>
            <p:cNvPr id="20509" name="Freeform 117"/>
            <p:cNvSpPr>
              <a:spLocks noChangeAspect="1"/>
            </p:cNvSpPr>
            <p:nvPr/>
          </p:nvSpPr>
          <p:spPr bwMode="auto">
            <a:xfrm>
              <a:off x="2135" y="4001"/>
              <a:ext cx="23" cy="94"/>
            </a:xfrm>
            <a:custGeom>
              <a:avLst/>
              <a:gdLst>
                <a:gd name="T0" fmla="*/ 6 w 37"/>
                <a:gd name="T1" fmla="*/ 0 h 151"/>
                <a:gd name="T2" fmla="*/ 9 w 37"/>
                <a:gd name="T3" fmla="*/ 6 h 151"/>
                <a:gd name="T4" fmla="*/ 9 w 37"/>
                <a:gd name="T5" fmla="*/ 13 h 151"/>
                <a:gd name="T6" fmla="*/ 6 w 37"/>
                <a:gd name="T7" fmla="*/ 21 h 151"/>
                <a:gd name="T8" fmla="*/ 4 w 37"/>
                <a:gd name="T9" fmla="*/ 28 h 151"/>
                <a:gd name="T10" fmla="*/ 0 w 37"/>
                <a:gd name="T11" fmla="*/ 36 h 151"/>
                <a:gd name="T12" fmla="*/ 0 60000 65536"/>
                <a:gd name="T13" fmla="*/ 0 60000 65536"/>
                <a:gd name="T14" fmla="*/ 0 60000 65536"/>
                <a:gd name="T15" fmla="*/ 0 60000 65536"/>
                <a:gd name="T16" fmla="*/ 0 60000 65536"/>
                <a:gd name="T17" fmla="*/ 0 60000 65536"/>
                <a:gd name="T18" fmla="*/ 0 w 37"/>
                <a:gd name="T19" fmla="*/ 0 h 151"/>
                <a:gd name="T20" fmla="*/ 37 w 37"/>
                <a:gd name="T21" fmla="*/ 151 h 151"/>
              </a:gdLst>
              <a:ahLst/>
              <a:cxnLst>
                <a:cxn ang="T12">
                  <a:pos x="T0" y="T1"/>
                </a:cxn>
                <a:cxn ang="T13">
                  <a:pos x="T2" y="T3"/>
                </a:cxn>
                <a:cxn ang="T14">
                  <a:pos x="T4" y="T5"/>
                </a:cxn>
                <a:cxn ang="T15">
                  <a:pos x="T6" y="T7"/>
                </a:cxn>
                <a:cxn ang="T16">
                  <a:pos x="T8" y="T9"/>
                </a:cxn>
                <a:cxn ang="T17">
                  <a:pos x="T10" y="T11"/>
                </a:cxn>
              </a:cxnLst>
              <a:rect l="T18" t="T19" r="T20" b="T21"/>
              <a:pathLst>
                <a:path w="37" h="151">
                  <a:moveTo>
                    <a:pt x="25" y="0"/>
                  </a:moveTo>
                  <a:lnTo>
                    <a:pt x="36" y="22"/>
                  </a:lnTo>
                  <a:lnTo>
                    <a:pt x="36" y="54"/>
                  </a:lnTo>
                  <a:lnTo>
                    <a:pt x="25" y="86"/>
                  </a:lnTo>
                  <a:lnTo>
                    <a:pt x="14" y="118"/>
                  </a:lnTo>
                  <a:lnTo>
                    <a:pt x="0" y="150"/>
                  </a:lnTo>
                </a:path>
              </a:pathLst>
            </a:custGeom>
            <a:noFill/>
            <a:ln w="12700" cap="rnd" cmpd="sng">
              <a:solidFill>
                <a:srgbClr val="919191"/>
              </a:solidFill>
              <a:prstDash val="solid"/>
              <a:round/>
              <a:headEnd type="none" w="med" len="med"/>
              <a:tailEnd type="none" w="med" len="med"/>
            </a:ln>
          </p:spPr>
          <p:txBody>
            <a:bodyPr/>
            <a:lstStyle/>
            <a:p>
              <a:endParaRPr lang="en-US"/>
            </a:p>
          </p:txBody>
        </p:sp>
        <p:sp>
          <p:nvSpPr>
            <p:cNvPr id="20510" name="Freeform 118"/>
            <p:cNvSpPr>
              <a:spLocks noChangeAspect="1"/>
            </p:cNvSpPr>
            <p:nvPr/>
          </p:nvSpPr>
          <p:spPr bwMode="auto">
            <a:xfrm>
              <a:off x="1802" y="4201"/>
              <a:ext cx="173" cy="101"/>
            </a:xfrm>
            <a:custGeom>
              <a:avLst/>
              <a:gdLst>
                <a:gd name="T0" fmla="*/ 0 w 277"/>
                <a:gd name="T1" fmla="*/ 0 h 161"/>
                <a:gd name="T2" fmla="*/ 2 w 277"/>
                <a:gd name="T3" fmla="*/ 6 h 161"/>
                <a:gd name="T4" fmla="*/ 6 w 277"/>
                <a:gd name="T5" fmla="*/ 11 h 161"/>
                <a:gd name="T6" fmla="*/ 9 w 277"/>
                <a:gd name="T7" fmla="*/ 19 h 161"/>
                <a:gd name="T8" fmla="*/ 11 w 277"/>
                <a:gd name="T9" fmla="*/ 27 h 161"/>
                <a:gd name="T10" fmla="*/ 17 w 277"/>
                <a:gd name="T11" fmla="*/ 31 h 161"/>
                <a:gd name="T12" fmla="*/ 23 w 277"/>
                <a:gd name="T13" fmla="*/ 35 h 161"/>
                <a:gd name="T14" fmla="*/ 32 w 277"/>
                <a:gd name="T15" fmla="*/ 37 h 161"/>
                <a:gd name="T16" fmla="*/ 41 w 277"/>
                <a:gd name="T17" fmla="*/ 40 h 161"/>
                <a:gd name="T18" fmla="*/ 49 w 277"/>
                <a:gd name="T19" fmla="*/ 40 h 161"/>
                <a:gd name="T20" fmla="*/ 59 w 277"/>
                <a:gd name="T21" fmla="*/ 37 h 161"/>
                <a:gd name="T22" fmla="*/ 67 w 277"/>
                <a:gd name="T23" fmla="*/ 35 h 1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7"/>
                <a:gd name="T37" fmla="*/ 0 h 161"/>
                <a:gd name="T38" fmla="*/ 277 w 277"/>
                <a:gd name="T39" fmla="*/ 161 h 1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7" h="161">
                  <a:moveTo>
                    <a:pt x="0" y="0"/>
                  </a:moveTo>
                  <a:lnTo>
                    <a:pt x="11" y="22"/>
                  </a:lnTo>
                  <a:lnTo>
                    <a:pt x="25" y="44"/>
                  </a:lnTo>
                  <a:lnTo>
                    <a:pt x="36" y="76"/>
                  </a:lnTo>
                  <a:lnTo>
                    <a:pt x="47" y="108"/>
                  </a:lnTo>
                  <a:lnTo>
                    <a:pt x="72" y="128"/>
                  </a:lnTo>
                  <a:lnTo>
                    <a:pt x="96" y="140"/>
                  </a:lnTo>
                  <a:lnTo>
                    <a:pt x="132" y="150"/>
                  </a:lnTo>
                  <a:lnTo>
                    <a:pt x="168" y="160"/>
                  </a:lnTo>
                  <a:lnTo>
                    <a:pt x="204" y="160"/>
                  </a:lnTo>
                  <a:lnTo>
                    <a:pt x="240" y="150"/>
                  </a:lnTo>
                  <a:lnTo>
                    <a:pt x="276" y="140"/>
                  </a:lnTo>
                </a:path>
              </a:pathLst>
            </a:custGeom>
            <a:noFill/>
            <a:ln w="25400" cap="rnd" cmpd="sng">
              <a:solidFill>
                <a:srgbClr val="919191"/>
              </a:solidFill>
              <a:prstDash val="solid"/>
              <a:round/>
              <a:headEnd type="none" w="med" len="med"/>
              <a:tailEnd type="none" w="med" len="med"/>
            </a:ln>
          </p:spPr>
          <p:txBody>
            <a:bodyPr/>
            <a:lstStyle/>
            <a:p>
              <a:endParaRPr lang="en-US"/>
            </a:p>
          </p:txBody>
        </p:sp>
        <p:sp>
          <p:nvSpPr>
            <p:cNvPr id="20511" name="Freeform 119"/>
            <p:cNvSpPr>
              <a:spLocks noChangeAspect="1"/>
            </p:cNvSpPr>
            <p:nvPr/>
          </p:nvSpPr>
          <p:spPr bwMode="auto">
            <a:xfrm>
              <a:off x="1863" y="4247"/>
              <a:ext cx="62" cy="13"/>
            </a:xfrm>
            <a:custGeom>
              <a:avLst/>
              <a:gdLst>
                <a:gd name="T0" fmla="*/ 0 w 98"/>
                <a:gd name="T1" fmla="*/ 0 h 21"/>
                <a:gd name="T2" fmla="*/ 6 w 98"/>
                <a:gd name="T3" fmla="*/ 2 h 21"/>
                <a:gd name="T4" fmla="*/ 16 w 98"/>
                <a:gd name="T5" fmla="*/ 2 h 21"/>
                <a:gd name="T6" fmla="*/ 25 w 98"/>
                <a:gd name="T7" fmla="*/ 4 h 21"/>
                <a:gd name="T8" fmla="*/ 0 60000 65536"/>
                <a:gd name="T9" fmla="*/ 0 60000 65536"/>
                <a:gd name="T10" fmla="*/ 0 60000 65536"/>
                <a:gd name="T11" fmla="*/ 0 60000 65536"/>
                <a:gd name="T12" fmla="*/ 0 w 98"/>
                <a:gd name="T13" fmla="*/ 0 h 21"/>
                <a:gd name="T14" fmla="*/ 98 w 98"/>
                <a:gd name="T15" fmla="*/ 21 h 21"/>
              </a:gdLst>
              <a:ahLst/>
              <a:cxnLst>
                <a:cxn ang="T8">
                  <a:pos x="T0" y="T1"/>
                </a:cxn>
                <a:cxn ang="T9">
                  <a:pos x="T2" y="T3"/>
                </a:cxn>
                <a:cxn ang="T10">
                  <a:pos x="T4" y="T5"/>
                </a:cxn>
                <a:cxn ang="T11">
                  <a:pos x="T6" y="T7"/>
                </a:cxn>
              </a:cxnLst>
              <a:rect l="T12" t="T13" r="T14" b="T15"/>
              <a:pathLst>
                <a:path w="98" h="21">
                  <a:moveTo>
                    <a:pt x="0" y="0"/>
                  </a:moveTo>
                  <a:lnTo>
                    <a:pt x="25" y="10"/>
                  </a:lnTo>
                  <a:lnTo>
                    <a:pt x="61" y="10"/>
                  </a:lnTo>
                  <a:lnTo>
                    <a:pt x="97" y="20"/>
                  </a:lnTo>
                </a:path>
              </a:pathLst>
            </a:custGeom>
            <a:noFill/>
            <a:ln w="25400" cap="rnd" cmpd="sng">
              <a:solidFill>
                <a:srgbClr val="919191"/>
              </a:solidFill>
              <a:prstDash val="solid"/>
              <a:round/>
              <a:headEnd type="none" w="med" len="med"/>
              <a:tailEnd type="none" w="med" len="med"/>
            </a:ln>
          </p:spPr>
          <p:txBody>
            <a:bodyPr/>
            <a:lstStyle/>
            <a:p>
              <a:endParaRPr lang="en-US"/>
            </a:p>
          </p:txBody>
        </p:sp>
        <p:sp>
          <p:nvSpPr>
            <p:cNvPr id="20512" name="Freeform 120"/>
            <p:cNvSpPr>
              <a:spLocks noChangeAspect="1"/>
            </p:cNvSpPr>
            <p:nvPr/>
          </p:nvSpPr>
          <p:spPr bwMode="auto">
            <a:xfrm>
              <a:off x="2212" y="3921"/>
              <a:ext cx="68" cy="120"/>
            </a:xfrm>
            <a:custGeom>
              <a:avLst/>
              <a:gdLst>
                <a:gd name="T0" fmla="*/ 0 w 109"/>
                <a:gd name="T1" fmla="*/ 0 h 193"/>
                <a:gd name="T2" fmla="*/ 10 w 109"/>
                <a:gd name="T3" fmla="*/ 1 h 193"/>
                <a:gd name="T4" fmla="*/ 17 w 109"/>
                <a:gd name="T5" fmla="*/ 4 h 193"/>
                <a:gd name="T6" fmla="*/ 17 w 109"/>
                <a:gd name="T7" fmla="*/ 11 h 193"/>
                <a:gd name="T8" fmla="*/ 25 w 109"/>
                <a:gd name="T9" fmla="*/ 14 h 193"/>
                <a:gd name="T10" fmla="*/ 25 w 109"/>
                <a:gd name="T11" fmla="*/ 20 h 193"/>
                <a:gd name="T12" fmla="*/ 25 w 109"/>
                <a:gd name="T13" fmla="*/ 29 h 193"/>
                <a:gd name="T14" fmla="*/ 26 w 109"/>
                <a:gd name="T15" fmla="*/ 46 h 193"/>
                <a:gd name="T16" fmla="*/ 0 60000 65536"/>
                <a:gd name="T17" fmla="*/ 0 60000 65536"/>
                <a:gd name="T18" fmla="*/ 0 60000 65536"/>
                <a:gd name="T19" fmla="*/ 0 60000 65536"/>
                <a:gd name="T20" fmla="*/ 0 60000 65536"/>
                <a:gd name="T21" fmla="*/ 0 60000 65536"/>
                <a:gd name="T22" fmla="*/ 0 60000 65536"/>
                <a:gd name="T23" fmla="*/ 0 60000 65536"/>
                <a:gd name="T24" fmla="*/ 0 w 109"/>
                <a:gd name="T25" fmla="*/ 0 h 193"/>
                <a:gd name="T26" fmla="*/ 109 w 109"/>
                <a:gd name="T27" fmla="*/ 193 h 19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9" h="193">
                  <a:moveTo>
                    <a:pt x="0" y="0"/>
                  </a:moveTo>
                  <a:lnTo>
                    <a:pt x="42" y="3"/>
                  </a:lnTo>
                  <a:lnTo>
                    <a:pt x="72" y="16"/>
                  </a:lnTo>
                  <a:lnTo>
                    <a:pt x="72" y="43"/>
                  </a:lnTo>
                  <a:lnTo>
                    <a:pt x="102" y="56"/>
                  </a:lnTo>
                  <a:lnTo>
                    <a:pt x="102" y="83"/>
                  </a:lnTo>
                  <a:lnTo>
                    <a:pt x="102" y="123"/>
                  </a:lnTo>
                  <a:lnTo>
                    <a:pt x="108" y="192"/>
                  </a:lnTo>
                </a:path>
              </a:pathLst>
            </a:custGeom>
            <a:solidFill>
              <a:srgbClr val="919191"/>
            </a:solidFill>
            <a:ln w="25400" cap="rnd" cmpd="sng">
              <a:solidFill>
                <a:srgbClr val="919191"/>
              </a:solidFill>
              <a:prstDash val="solid"/>
              <a:round/>
              <a:headEnd type="none" w="med" len="med"/>
              <a:tailEnd type="none" w="med" len="med"/>
            </a:ln>
          </p:spPr>
          <p:txBody>
            <a:bodyPr/>
            <a:lstStyle/>
            <a:p>
              <a:endParaRPr lang="en-US"/>
            </a:p>
          </p:txBody>
        </p:sp>
        <p:sp>
          <p:nvSpPr>
            <p:cNvPr id="20513" name="Freeform 121"/>
            <p:cNvSpPr>
              <a:spLocks noChangeAspect="1"/>
            </p:cNvSpPr>
            <p:nvPr/>
          </p:nvSpPr>
          <p:spPr bwMode="auto">
            <a:xfrm>
              <a:off x="2208" y="3921"/>
              <a:ext cx="10" cy="90"/>
            </a:xfrm>
            <a:custGeom>
              <a:avLst/>
              <a:gdLst>
                <a:gd name="T0" fmla="*/ 2 w 16"/>
                <a:gd name="T1" fmla="*/ 0 h 145"/>
                <a:gd name="T2" fmla="*/ 4 w 16"/>
                <a:gd name="T3" fmla="*/ 14 h 145"/>
                <a:gd name="T4" fmla="*/ 4 w 16"/>
                <a:gd name="T5" fmla="*/ 20 h 145"/>
                <a:gd name="T6" fmla="*/ 0 w 16"/>
                <a:gd name="T7" fmla="*/ 29 h 145"/>
                <a:gd name="T8" fmla="*/ 2 w 16"/>
                <a:gd name="T9" fmla="*/ 34 h 145"/>
                <a:gd name="T10" fmla="*/ 0 60000 65536"/>
                <a:gd name="T11" fmla="*/ 0 60000 65536"/>
                <a:gd name="T12" fmla="*/ 0 60000 65536"/>
                <a:gd name="T13" fmla="*/ 0 60000 65536"/>
                <a:gd name="T14" fmla="*/ 0 60000 65536"/>
                <a:gd name="T15" fmla="*/ 0 w 16"/>
                <a:gd name="T16" fmla="*/ 0 h 145"/>
                <a:gd name="T17" fmla="*/ 16 w 16"/>
                <a:gd name="T18" fmla="*/ 145 h 145"/>
              </a:gdLst>
              <a:ahLst/>
              <a:cxnLst>
                <a:cxn ang="T10">
                  <a:pos x="T0" y="T1"/>
                </a:cxn>
                <a:cxn ang="T11">
                  <a:pos x="T2" y="T3"/>
                </a:cxn>
                <a:cxn ang="T12">
                  <a:pos x="T4" y="T5"/>
                </a:cxn>
                <a:cxn ang="T13">
                  <a:pos x="T6" y="T7"/>
                </a:cxn>
                <a:cxn ang="T14">
                  <a:pos x="T8" y="T9"/>
                </a:cxn>
              </a:cxnLst>
              <a:rect l="T15" t="T16" r="T17" b="T18"/>
              <a:pathLst>
                <a:path w="16" h="145">
                  <a:moveTo>
                    <a:pt x="6" y="0"/>
                  </a:moveTo>
                  <a:lnTo>
                    <a:pt x="15" y="56"/>
                  </a:lnTo>
                  <a:lnTo>
                    <a:pt x="15" y="83"/>
                  </a:lnTo>
                  <a:lnTo>
                    <a:pt x="0" y="123"/>
                  </a:lnTo>
                  <a:lnTo>
                    <a:pt x="6" y="144"/>
                  </a:lnTo>
                </a:path>
              </a:pathLst>
            </a:custGeom>
            <a:noFill/>
            <a:ln w="25400" cap="rnd" cmpd="sng">
              <a:solidFill>
                <a:srgbClr val="919191"/>
              </a:solidFill>
              <a:prstDash val="solid"/>
              <a:round/>
              <a:headEnd type="none" w="med" len="med"/>
              <a:tailEnd type="none" w="med" len="med"/>
            </a:ln>
          </p:spPr>
          <p:txBody>
            <a:bodyPr/>
            <a:lstStyle/>
            <a:p>
              <a:endParaRPr lang="en-US"/>
            </a:p>
          </p:txBody>
        </p:sp>
        <p:grpSp>
          <p:nvGrpSpPr>
            <p:cNvPr id="20514" name="Group 122"/>
            <p:cNvGrpSpPr>
              <a:grpSpLocks noChangeAspect="1"/>
            </p:cNvGrpSpPr>
            <p:nvPr/>
          </p:nvGrpSpPr>
          <p:grpSpPr bwMode="auto">
            <a:xfrm>
              <a:off x="1180" y="4312"/>
              <a:ext cx="515" cy="182"/>
              <a:chOff x="1033" y="3477"/>
              <a:chExt cx="826" cy="292"/>
            </a:xfrm>
          </p:grpSpPr>
          <p:sp>
            <p:nvSpPr>
              <p:cNvPr id="20515" name="Oval 123"/>
              <p:cNvSpPr>
                <a:spLocks noChangeAspect="1" noChangeArrowheads="1"/>
              </p:cNvSpPr>
              <p:nvPr/>
            </p:nvSpPr>
            <p:spPr bwMode="auto">
              <a:xfrm rot="-1800000">
                <a:off x="1033" y="3477"/>
                <a:ext cx="826" cy="292"/>
              </a:xfrm>
              <a:prstGeom prst="ellipse">
                <a:avLst/>
              </a:prstGeom>
              <a:solidFill>
                <a:srgbClr val="474747"/>
              </a:solidFill>
              <a:ln w="25400">
                <a:solidFill>
                  <a:srgbClr val="919191"/>
                </a:solidFill>
                <a:round/>
                <a:headEnd/>
                <a:tailEnd/>
              </a:ln>
            </p:spPr>
            <p:txBody>
              <a:bodyPr wrap="none" anchor="ctr"/>
              <a:lstStyle/>
              <a:p>
                <a:endParaRPr lang="en-NZ">
                  <a:latin typeface="Calibri" pitchFamily="34" charset="0"/>
                </a:endParaRPr>
              </a:p>
            </p:txBody>
          </p:sp>
          <p:sp>
            <p:nvSpPr>
              <p:cNvPr id="20516" name="Oval 124"/>
              <p:cNvSpPr>
                <a:spLocks noChangeAspect="1" noChangeArrowheads="1"/>
              </p:cNvSpPr>
              <p:nvPr/>
            </p:nvSpPr>
            <p:spPr bwMode="auto">
              <a:xfrm rot="-1800000">
                <a:off x="1062" y="3549"/>
                <a:ext cx="632" cy="154"/>
              </a:xfrm>
              <a:prstGeom prst="ellipse">
                <a:avLst/>
              </a:prstGeom>
              <a:solidFill>
                <a:schemeClr val="bg2"/>
              </a:solidFill>
              <a:ln w="25400">
                <a:solidFill>
                  <a:srgbClr val="919191"/>
                </a:solidFill>
                <a:round/>
                <a:headEnd/>
                <a:tailEnd/>
              </a:ln>
            </p:spPr>
            <p:txBody>
              <a:bodyPr wrap="none" anchor="ctr"/>
              <a:lstStyle/>
              <a:p>
                <a:endParaRPr lang="en-NZ">
                  <a:latin typeface="Calibri" pitchFamily="34" charset="0"/>
                </a:endParaRPr>
              </a:p>
            </p:txBody>
          </p:sp>
          <p:sp>
            <p:nvSpPr>
              <p:cNvPr id="20517" name="Oval 125"/>
              <p:cNvSpPr>
                <a:spLocks noChangeAspect="1" noChangeArrowheads="1"/>
              </p:cNvSpPr>
              <p:nvPr/>
            </p:nvSpPr>
            <p:spPr bwMode="auto">
              <a:xfrm rot="-2280000">
                <a:off x="1069" y="3603"/>
                <a:ext cx="452" cy="102"/>
              </a:xfrm>
              <a:prstGeom prst="ellipse">
                <a:avLst/>
              </a:prstGeom>
              <a:solidFill>
                <a:srgbClr val="CECECE"/>
              </a:solidFill>
              <a:ln w="25400">
                <a:solidFill>
                  <a:srgbClr val="919191"/>
                </a:solidFill>
                <a:round/>
                <a:headEnd/>
                <a:tailEnd/>
              </a:ln>
            </p:spPr>
            <p:txBody>
              <a:bodyPr wrap="none" anchor="ctr"/>
              <a:lstStyle/>
              <a:p>
                <a:endParaRPr lang="en-NZ">
                  <a:latin typeface="Calibri" pitchFamily="34" charset="0"/>
                </a:endParaRPr>
              </a:p>
            </p:txBody>
          </p:sp>
          <p:sp>
            <p:nvSpPr>
              <p:cNvPr id="20518" name="Oval 126"/>
              <p:cNvSpPr>
                <a:spLocks noChangeAspect="1" noChangeArrowheads="1"/>
              </p:cNvSpPr>
              <p:nvPr/>
            </p:nvSpPr>
            <p:spPr bwMode="auto">
              <a:xfrm rot="-2400000">
                <a:off x="1147" y="3681"/>
                <a:ext cx="211" cy="26"/>
              </a:xfrm>
              <a:prstGeom prst="ellipse">
                <a:avLst/>
              </a:prstGeom>
              <a:solidFill>
                <a:srgbClr val="FFFFFF"/>
              </a:solidFill>
              <a:ln w="25400">
                <a:solidFill>
                  <a:srgbClr val="919191"/>
                </a:solidFill>
                <a:round/>
                <a:headEnd/>
                <a:tailEnd/>
              </a:ln>
            </p:spPr>
            <p:txBody>
              <a:bodyPr wrap="none" anchor="ctr"/>
              <a:lstStyle/>
              <a:p>
                <a:endParaRPr lang="en-NZ">
                  <a:latin typeface="Calibri" pitchFamily="34" charset="0"/>
                </a:endParaRPr>
              </a:p>
            </p:txBody>
          </p:sp>
        </p:grpSp>
      </p:grpSp>
      <p:sp>
        <p:nvSpPr>
          <p:cNvPr id="20494" name="Rectangle 127"/>
          <p:cNvSpPr>
            <a:spLocks noChangeArrowheads="1"/>
          </p:cNvSpPr>
          <p:nvPr/>
        </p:nvSpPr>
        <p:spPr bwMode="auto">
          <a:xfrm>
            <a:off x="68263" y="1219200"/>
            <a:ext cx="4740275" cy="1828800"/>
          </a:xfrm>
          <a:prstGeom prst="rect">
            <a:avLst/>
          </a:prstGeom>
          <a:noFill/>
          <a:ln w="12700">
            <a:solidFill>
              <a:schemeClr val="hlink"/>
            </a:solidFill>
            <a:miter lim="800000"/>
            <a:headEnd/>
            <a:tailEnd/>
          </a:ln>
        </p:spPr>
        <p:txBody>
          <a:bodyPr wrap="none" anchor="ctr"/>
          <a:lstStyle/>
          <a:p>
            <a:pPr algn="ctr"/>
            <a:endParaRPr lang="en-GB" sz="2800">
              <a:solidFill>
                <a:srgbClr val="FFFE03"/>
              </a:solidFill>
            </a:endParaRPr>
          </a:p>
        </p:txBody>
      </p:sp>
      <p:sp>
        <p:nvSpPr>
          <p:cNvPr id="20495" name="Rectangle 128"/>
          <p:cNvSpPr>
            <a:spLocks noChangeArrowheads="1"/>
          </p:cNvSpPr>
          <p:nvPr/>
        </p:nvSpPr>
        <p:spPr bwMode="auto">
          <a:xfrm>
            <a:off x="68263" y="3098800"/>
            <a:ext cx="4740275" cy="1320800"/>
          </a:xfrm>
          <a:prstGeom prst="rect">
            <a:avLst/>
          </a:prstGeom>
          <a:noFill/>
          <a:ln w="12700">
            <a:solidFill>
              <a:schemeClr val="hlink"/>
            </a:solidFill>
            <a:miter lim="800000"/>
            <a:headEnd/>
            <a:tailEnd/>
          </a:ln>
        </p:spPr>
        <p:txBody>
          <a:bodyPr wrap="none" anchor="ctr"/>
          <a:lstStyle/>
          <a:p>
            <a:pPr algn="ctr"/>
            <a:endParaRPr lang="en-GB" sz="2800">
              <a:solidFill>
                <a:srgbClr val="FFFE03"/>
              </a:solidFill>
            </a:endParaRPr>
          </a:p>
        </p:txBody>
      </p:sp>
      <p:sp>
        <p:nvSpPr>
          <p:cNvPr id="20496" name="Rectangle 129"/>
          <p:cNvSpPr>
            <a:spLocks noChangeArrowheads="1"/>
          </p:cNvSpPr>
          <p:nvPr/>
        </p:nvSpPr>
        <p:spPr bwMode="auto">
          <a:xfrm>
            <a:off x="4876800" y="3098800"/>
            <a:ext cx="4154488" cy="1320800"/>
          </a:xfrm>
          <a:prstGeom prst="rect">
            <a:avLst/>
          </a:prstGeom>
          <a:noFill/>
          <a:ln w="12700">
            <a:solidFill>
              <a:schemeClr val="hlink"/>
            </a:solidFill>
            <a:miter lim="800000"/>
            <a:headEnd/>
            <a:tailEnd/>
          </a:ln>
        </p:spPr>
        <p:txBody>
          <a:bodyPr wrap="none" anchor="ctr"/>
          <a:lstStyle/>
          <a:p>
            <a:pPr algn="ctr"/>
            <a:endParaRPr lang="en-GB" sz="2800">
              <a:solidFill>
                <a:srgbClr val="FFFE03"/>
              </a:solidFill>
            </a:endParaRPr>
          </a:p>
        </p:txBody>
      </p:sp>
      <p:sp>
        <p:nvSpPr>
          <p:cNvPr id="20497" name="Rectangle 130"/>
          <p:cNvSpPr>
            <a:spLocks noChangeArrowheads="1"/>
          </p:cNvSpPr>
          <p:nvPr/>
        </p:nvSpPr>
        <p:spPr bwMode="auto">
          <a:xfrm>
            <a:off x="4876800" y="1219200"/>
            <a:ext cx="4154488" cy="1828800"/>
          </a:xfrm>
          <a:prstGeom prst="rect">
            <a:avLst/>
          </a:prstGeom>
          <a:noFill/>
          <a:ln w="12700">
            <a:solidFill>
              <a:schemeClr val="hlink"/>
            </a:solidFill>
            <a:miter lim="800000"/>
            <a:headEnd/>
            <a:tailEnd/>
          </a:ln>
        </p:spPr>
        <p:txBody>
          <a:bodyPr wrap="none" anchor="ctr"/>
          <a:lstStyle/>
          <a:p>
            <a:pPr algn="ctr"/>
            <a:endParaRPr lang="en-GB" sz="2800">
              <a:solidFill>
                <a:srgbClr val="FFFE03"/>
              </a:solidFill>
            </a:endParaRPr>
          </a:p>
        </p:txBody>
      </p:sp>
      <p:grpSp>
        <p:nvGrpSpPr>
          <p:cNvPr id="20498" name="Group 136"/>
          <p:cNvGrpSpPr>
            <a:grpSpLocks/>
          </p:cNvGrpSpPr>
          <p:nvPr/>
        </p:nvGrpSpPr>
        <p:grpSpPr bwMode="auto">
          <a:xfrm>
            <a:off x="68263" y="1235075"/>
            <a:ext cx="8940800" cy="2859088"/>
            <a:chOff x="48" y="778"/>
            <a:chExt cx="6336" cy="1801"/>
          </a:xfrm>
        </p:grpSpPr>
        <p:sp>
          <p:nvSpPr>
            <p:cNvPr id="20499" name="Rectangle 131"/>
            <p:cNvSpPr>
              <a:spLocks noChangeArrowheads="1"/>
            </p:cNvSpPr>
            <p:nvPr/>
          </p:nvSpPr>
          <p:spPr bwMode="auto">
            <a:xfrm>
              <a:off x="48" y="778"/>
              <a:ext cx="1341" cy="603"/>
            </a:xfrm>
            <a:prstGeom prst="rect">
              <a:avLst/>
            </a:prstGeom>
            <a:noFill/>
            <a:ln w="9525">
              <a:noFill/>
              <a:miter lim="800000"/>
              <a:headEnd/>
              <a:tailEnd/>
            </a:ln>
          </p:spPr>
          <p:txBody>
            <a:bodyPr lIns="93662" tIns="47625" rIns="93662" bIns="47625">
              <a:spAutoFit/>
            </a:bodyPr>
            <a:lstStyle/>
            <a:p>
              <a:pPr marL="114300" lvl="1" indent="11113" defTabSz="933450">
                <a:spcBef>
                  <a:spcPct val="20000"/>
                </a:spcBef>
                <a:buSzPct val="125000"/>
              </a:pPr>
              <a:r>
                <a:rPr lang="en-US" sz="2800" b="1">
                  <a:latin typeface="Times New Roman" pitchFamily="18" charset="0"/>
                </a:rPr>
                <a:t>What is it?</a:t>
              </a:r>
              <a:endParaRPr lang="en-US" sz="2800" b="1">
                <a:solidFill>
                  <a:srgbClr val="FF9900"/>
                </a:solidFill>
                <a:latin typeface="Times New Roman" pitchFamily="18" charset="0"/>
              </a:endParaRPr>
            </a:p>
          </p:txBody>
        </p:sp>
        <p:sp>
          <p:nvSpPr>
            <p:cNvPr id="20500" name="Rectangle 132"/>
            <p:cNvSpPr>
              <a:spLocks noChangeArrowheads="1"/>
            </p:cNvSpPr>
            <p:nvPr/>
          </p:nvSpPr>
          <p:spPr bwMode="auto">
            <a:xfrm>
              <a:off x="3365" y="1976"/>
              <a:ext cx="3019" cy="329"/>
            </a:xfrm>
            <a:prstGeom prst="rect">
              <a:avLst/>
            </a:prstGeom>
            <a:noFill/>
            <a:ln w="9525">
              <a:noFill/>
              <a:miter lim="800000"/>
              <a:headEnd/>
              <a:tailEnd/>
            </a:ln>
          </p:spPr>
          <p:txBody>
            <a:bodyPr lIns="93662" tIns="47625" rIns="93662" bIns="47625">
              <a:spAutoFit/>
            </a:bodyPr>
            <a:lstStyle/>
            <a:p>
              <a:pPr marL="114300" lvl="1" indent="11113" defTabSz="933450">
                <a:spcBef>
                  <a:spcPct val="20000"/>
                </a:spcBef>
                <a:buSzPct val="125000"/>
              </a:pPr>
              <a:r>
                <a:rPr lang="en-US" sz="2800" b="1">
                  <a:latin typeface="Times New Roman" pitchFamily="18" charset="0"/>
                </a:rPr>
                <a:t>If too much…</a:t>
              </a:r>
            </a:p>
          </p:txBody>
        </p:sp>
        <p:sp>
          <p:nvSpPr>
            <p:cNvPr id="20501" name="Rectangle 133"/>
            <p:cNvSpPr>
              <a:spLocks noChangeArrowheads="1"/>
            </p:cNvSpPr>
            <p:nvPr/>
          </p:nvSpPr>
          <p:spPr bwMode="auto">
            <a:xfrm>
              <a:off x="48" y="1976"/>
              <a:ext cx="1824" cy="603"/>
            </a:xfrm>
            <a:prstGeom prst="rect">
              <a:avLst/>
            </a:prstGeom>
            <a:noFill/>
            <a:ln w="9525">
              <a:noFill/>
              <a:miter lim="800000"/>
              <a:headEnd/>
              <a:tailEnd/>
            </a:ln>
          </p:spPr>
          <p:txBody>
            <a:bodyPr lIns="93662" tIns="47625" rIns="93662" bIns="47625">
              <a:spAutoFit/>
            </a:bodyPr>
            <a:lstStyle/>
            <a:p>
              <a:pPr marL="114300" lvl="1" indent="11113" defTabSz="933450">
                <a:spcBef>
                  <a:spcPct val="20000"/>
                </a:spcBef>
                <a:buSzPct val="125000"/>
              </a:pPr>
              <a:r>
                <a:rPr lang="en-US" sz="2800" b="1">
                  <a:latin typeface="Times New Roman" pitchFamily="18" charset="0"/>
                </a:rPr>
                <a:t>If not enough…</a:t>
              </a:r>
              <a:r>
                <a:rPr lang="en-US" sz="2800" b="1">
                  <a:solidFill>
                    <a:srgbClr val="FAFD00"/>
                  </a:solidFill>
                  <a:latin typeface="Times New Roman" pitchFamily="18" charset="0"/>
                </a:rPr>
                <a:t> </a:t>
              </a:r>
            </a:p>
          </p:txBody>
        </p:sp>
        <p:sp>
          <p:nvSpPr>
            <p:cNvPr id="20502" name="Rectangle 134"/>
            <p:cNvSpPr>
              <a:spLocks noChangeArrowheads="1"/>
            </p:cNvSpPr>
            <p:nvPr/>
          </p:nvSpPr>
          <p:spPr bwMode="auto">
            <a:xfrm>
              <a:off x="3360" y="778"/>
              <a:ext cx="3013" cy="603"/>
            </a:xfrm>
            <a:prstGeom prst="rect">
              <a:avLst/>
            </a:prstGeom>
            <a:noFill/>
            <a:ln w="9525">
              <a:noFill/>
              <a:miter lim="800000"/>
              <a:headEnd/>
              <a:tailEnd/>
            </a:ln>
          </p:spPr>
          <p:txBody>
            <a:bodyPr lIns="93662" tIns="47625" rIns="93662" bIns="47625">
              <a:spAutoFit/>
            </a:bodyPr>
            <a:lstStyle/>
            <a:p>
              <a:pPr marL="114300" lvl="1" indent="11113" defTabSz="933450">
                <a:spcBef>
                  <a:spcPct val="20000"/>
                </a:spcBef>
                <a:buSzPct val="125000"/>
              </a:pPr>
              <a:r>
                <a:rPr lang="en-US" sz="2800" b="1">
                  <a:latin typeface="Times New Roman" pitchFamily="18" charset="0"/>
                </a:rPr>
                <a:t>What does it do for the cow?</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38627">
                                            <p:txEl>
                                              <p:pRg st="0" end="0"/>
                                            </p:txEl>
                                          </p:spTgt>
                                        </p:tgtEl>
                                        <p:attrNameLst>
                                          <p:attrName>style.visibility</p:attrName>
                                        </p:attrNameLst>
                                      </p:cBhvr>
                                      <p:to>
                                        <p:strVal val="visible"/>
                                      </p:to>
                                    </p:set>
                                    <p:animEffect transition="in" filter="wipe(left)">
                                      <p:cBhvr>
                                        <p:cTn id="7" dur="500"/>
                                        <p:tgtEl>
                                          <p:spTgt spid="5386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38627">
                                            <p:txEl>
                                              <p:pRg st="1" end="1"/>
                                            </p:txEl>
                                          </p:spTgt>
                                        </p:tgtEl>
                                        <p:attrNameLst>
                                          <p:attrName>style.visibility</p:attrName>
                                        </p:attrNameLst>
                                      </p:cBhvr>
                                      <p:to>
                                        <p:strVal val="visible"/>
                                      </p:to>
                                    </p:set>
                                    <p:animEffect transition="in" filter="wipe(left)">
                                      <p:cBhvr>
                                        <p:cTn id="12" dur="500"/>
                                        <p:tgtEl>
                                          <p:spTgt spid="5386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38632">
                                            <p:txEl>
                                              <p:pRg st="0" end="0"/>
                                            </p:txEl>
                                          </p:spTgt>
                                        </p:tgtEl>
                                        <p:attrNameLst>
                                          <p:attrName>style.visibility</p:attrName>
                                        </p:attrNameLst>
                                      </p:cBhvr>
                                      <p:to>
                                        <p:strVal val="visible"/>
                                      </p:to>
                                    </p:set>
                                    <p:animEffect transition="in" filter="wipe(left)">
                                      <p:cBhvr>
                                        <p:cTn id="17" dur="500"/>
                                        <p:tgtEl>
                                          <p:spTgt spid="538632">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38632">
                                            <p:txEl>
                                              <p:pRg st="1" end="1"/>
                                            </p:txEl>
                                          </p:spTgt>
                                        </p:tgtEl>
                                        <p:attrNameLst>
                                          <p:attrName>style.visibility</p:attrName>
                                        </p:attrNameLst>
                                      </p:cBhvr>
                                      <p:to>
                                        <p:strVal val="visible"/>
                                      </p:to>
                                    </p:set>
                                    <p:animEffect transition="in" filter="wipe(left)">
                                      <p:cBhvr>
                                        <p:cTn id="22" dur="500"/>
                                        <p:tgtEl>
                                          <p:spTgt spid="538632">
                                            <p:txEl>
                                              <p:pRg st="1" end="1"/>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38631">
                                            <p:txEl>
                                              <p:pRg st="0" end="0"/>
                                            </p:txEl>
                                          </p:spTgt>
                                        </p:tgtEl>
                                        <p:attrNameLst>
                                          <p:attrName>style.visibility</p:attrName>
                                        </p:attrNameLst>
                                      </p:cBhvr>
                                      <p:to>
                                        <p:strVal val="visible"/>
                                      </p:to>
                                    </p:set>
                                    <p:animEffect transition="in" filter="wipe(left)">
                                      <p:cBhvr>
                                        <p:cTn id="27" dur="500"/>
                                        <p:tgtEl>
                                          <p:spTgt spid="538631">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38630">
                                            <p:txEl>
                                              <p:pRg st="0" end="0"/>
                                            </p:txEl>
                                          </p:spTgt>
                                        </p:tgtEl>
                                        <p:attrNameLst>
                                          <p:attrName>style.visibility</p:attrName>
                                        </p:attrNameLst>
                                      </p:cBhvr>
                                      <p:to>
                                        <p:strVal val="visible"/>
                                      </p:to>
                                    </p:set>
                                    <p:animEffect transition="in" filter="wipe(left)">
                                      <p:cBhvr>
                                        <p:cTn id="32" dur="500"/>
                                        <p:tgtEl>
                                          <p:spTgt spid="53863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8627" grpId="0" build="p" bldLvl="2" autoUpdateAnimBg="0"/>
      <p:bldP spid="538630" grpId="0" build="p" bldLvl="2" autoUpdateAnimBg="0"/>
      <p:bldP spid="538631" grpId="0" build="p" bldLvl="2" autoUpdateAnimBg="0"/>
      <p:bldP spid="538632" grpId="0" build="p" bldLvl="2" autoUpdateAnimBg="0"/>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 name="Slide Number Placeholder 5"/>
          <p:cNvSpPr>
            <a:spLocks noGrp="1"/>
          </p:cNvSpPr>
          <p:nvPr>
            <p:ph type="sldNum" sz="quarter" idx="12"/>
          </p:nvPr>
        </p:nvSpPr>
        <p:spPr/>
        <p:txBody>
          <a:bodyPr/>
          <a:lstStyle/>
          <a:p>
            <a:pPr>
              <a:defRPr/>
            </a:pPr>
            <a:r>
              <a:rPr lang="en-US" dirty="0"/>
              <a:t> </a:t>
            </a:r>
            <a:endParaRPr lang="en-US" sz="1800" dirty="0">
              <a:solidFill>
                <a:schemeClr val="tx1"/>
              </a:solidFill>
            </a:endParaRPr>
          </a:p>
        </p:txBody>
      </p:sp>
      <p:sp>
        <p:nvSpPr>
          <p:cNvPr id="1035" name="Rectangle 2"/>
          <p:cNvSpPr>
            <a:spLocks noGrp="1" noChangeArrowheads="1"/>
          </p:cNvSpPr>
          <p:nvPr>
            <p:ph type="title"/>
          </p:nvPr>
        </p:nvSpPr>
        <p:spPr>
          <a:xfrm>
            <a:off x="598488" y="182563"/>
            <a:ext cx="7732712" cy="579437"/>
          </a:xfrm>
        </p:spPr>
        <p:txBody>
          <a:bodyPr/>
          <a:lstStyle/>
          <a:p>
            <a:pPr eaLnBrk="1" hangingPunct="1"/>
            <a:r>
              <a:rPr lang="en-US" sz="3200" b="1" smtClean="0"/>
              <a:t>CONCENTRATES - ENERGY SOURCES</a:t>
            </a:r>
          </a:p>
        </p:txBody>
      </p:sp>
      <p:graphicFrame>
        <p:nvGraphicFramePr>
          <p:cNvPr id="546819" name="Object 8"/>
          <p:cNvGraphicFramePr>
            <a:graphicFrameLocks noChangeAspect="1"/>
          </p:cNvGraphicFramePr>
          <p:nvPr>
            <p:ph type="chart" idx="1"/>
          </p:nvPr>
        </p:nvGraphicFramePr>
        <p:xfrm>
          <a:off x="146050" y="747713"/>
          <a:ext cx="5689600" cy="3009900"/>
        </p:xfrm>
        <a:graphic>
          <a:graphicData uri="http://schemas.openxmlformats.org/presentationml/2006/ole">
            <p:oleObj spid="_x0000_s1032" name="Chart" r:id="rId3" imgW="8743933" imgH="4114800" progId="MSGraph.Chart.8">
              <p:embed followColorScheme="full"/>
            </p:oleObj>
          </a:graphicData>
        </a:graphic>
      </p:graphicFrame>
      <p:sp>
        <p:nvSpPr>
          <p:cNvPr id="1036" name="Text Box 4"/>
          <p:cNvSpPr txBox="1">
            <a:spLocks noChangeArrowheads="1"/>
          </p:cNvSpPr>
          <p:nvPr/>
        </p:nvSpPr>
        <p:spPr bwMode="auto">
          <a:xfrm>
            <a:off x="1760538" y="1082675"/>
            <a:ext cx="4595812" cy="400050"/>
          </a:xfrm>
          <a:prstGeom prst="rect">
            <a:avLst/>
          </a:prstGeom>
          <a:noFill/>
          <a:ln w="9525">
            <a:noFill/>
            <a:miter lim="800000"/>
            <a:headEnd/>
            <a:tailEnd/>
          </a:ln>
        </p:spPr>
        <p:txBody>
          <a:bodyPr wrap="none">
            <a:spAutoFit/>
          </a:bodyPr>
          <a:lstStyle/>
          <a:p>
            <a:r>
              <a:rPr lang="en-US" sz="2000" b="1"/>
              <a:t>NFC = Non structural carbohydrates</a:t>
            </a:r>
            <a:endParaRPr lang="en-US" sz="2000"/>
          </a:p>
        </p:txBody>
      </p:sp>
      <p:sp>
        <p:nvSpPr>
          <p:cNvPr id="1037" name="Text Box 5"/>
          <p:cNvSpPr txBox="1">
            <a:spLocks noChangeArrowheads="1"/>
          </p:cNvSpPr>
          <p:nvPr/>
        </p:nvSpPr>
        <p:spPr bwMode="auto">
          <a:xfrm>
            <a:off x="1760538" y="1447800"/>
            <a:ext cx="3751262" cy="400050"/>
          </a:xfrm>
          <a:prstGeom prst="rect">
            <a:avLst/>
          </a:prstGeom>
          <a:noFill/>
          <a:ln w="9525">
            <a:noFill/>
            <a:miter lim="800000"/>
            <a:headEnd/>
            <a:tailEnd/>
          </a:ln>
        </p:spPr>
        <p:txBody>
          <a:bodyPr wrap="none">
            <a:spAutoFit/>
          </a:bodyPr>
          <a:lstStyle/>
          <a:p>
            <a:r>
              <a:rPr lang="en-US" sz="2000" b="1">
                <a:solidFill>
                  <a:srgbClr val="FF9900"/>
                </a:solidFill>
              </a:rPr>
              <a:t>NDF = Neutral detergent fiber</a:t>
            </a:r>
            <a:endParaRPr lang="en-US" sz="2000">
              <a:solidFill>
                <a:srgbClr val="FF9900"/>
              </a:solidFill>
            </a:endParaRPr>
          </a:p>
        </p:txBody>
      </p:sp>
      <p:sp>
        <p:nvSpPr>
          <p:cNvPr id="1038" name="Text Box 6"/>
          <p:cNvSpPr txBox="1">
            <a:spLocks noChangeArrowheads="1"/>
          </p:cNvSpPr>
          <p:nvPr/>
        </p:nvSpPr>
        <p:spPr bwMode="auto">
          <a:xfrm>
            <a:off x="615950" y="822325"/>
            <a:ext cx="1060450" cy="366713"/>
          </a:xfrm>
          <a:prstGeom prst="rect">
            <a:avLst/>
          </a:prstGeom>
          <a:noFill/>
          <a:ln w="9525">
            <a:noFill/>
            <a:miter lim="800000"/>
            <a:headEnd/>
            <a:tailEnd/>
          </a:ln>
        </p:spPr>
        <p:txBody>
          <a:bodyPr wrap="none">
            <a:spAutoFit/>
          </a:bodyPr>
          <a:lstStyle/>
          <a:p>
            <a:r>
              <a:rPr lang="en-US"/>
              <a:t>% of DM</a:t>
            </a:r>
          </a:p>
        </p:txBody>
      </p:sp>
      <p:grpSp>
        <p:nvGrpSpPr>
          <p:cNvPr id="546823" name="Group 7"/>
          <p:cNvGrpSpPr>
            <a:grpSpLocks/>
          </p:cNvGrpSpPr>
          <p:nvPr/>
        </p:nvGrpSpPr>
        <p:grpSpPr bwMode="auto">
          <a:xfrm>
            <a:off x="133350" y="3581400"/>
            <a:ext cx="5662613" cy="2986088"/>
            <a:chOff x="291" y="2438"/>
            <a:chExt cx="4009" cy="1882"/>
          </a:xfrm>
        </p:grpSpPr>
        <p:graphicFrame>
          <p:nvGraphicFramePr>
            <p:cNvPr id="1033" name="Object 9"/>
            <p:cNvGraphicFramePr>
              <a:graphicFrameLocks noChangeAspect="1"/>
            </p:cNvGraphicFramePr>
            <p:nvPr/>
          </p:nvGraphicFramePr>
          <p:xfrm>
            <a:off x="291" y="2438"/>
            <a:ext cx="4009" cy="1882"/>
          </p:xfrm>
          <a:graphic>
            <a:graphicData uri="http://schemas.openxmlformats.org/presentationml/2006/ole">
              <p:oleObj spid="_x0000_s1033" name="Chart" r:id="rId4" imgW="8743933" imgH="4114800" progId="MSGraph.Chart.8">
                <p:embed followColorScheme="full"/>
              </p:oleObj>
            </a:graphicData>
          </a:graphic>
        </p:graphicFrame>
        <p:sp>
          <p:nvSpPr>
            <p:cNvPr id="1044" name="Text Box 9"/>
            <p:cNvSpPr txBox="1">
              <a:spLocks noChangeArrowheads="1"/>
            </p:cNvSpPr>
            <p:nvPr/>
          </p:nvSpPr>
          <p:spPr bwMode="auto">
            <a:xfrm>
              <a:off x="624" y="2534"/>
              <a:ext cx="2773" cy="231"/>
            </a:xfrm>
            <a:prstGeom prst="rect">
              <a:avLst/>
            </a:prstGeom>
            <a:noFill/>
            <a:ln w="9525">
              <a:noFill/>
              <a:miter lim="800000"/>
              <a:headEnd/>
              <a:tailEnd/>
            </a:ln>
          </p:spPr>
          <p:txBody>
            <a:bodyPr wrap="none">
              <a:spAutoFit/>
            </a:bodyPr>
            <a:lstStyle/>
            <a:p>
              <a:r>
                <a:rPr lang="en-US"/>
                <a:t>Net energy of Lactation, Mcal/Kg DM</a:t>
              </a:r>
            </a:p>
          </p:txBody>
        </p:sp>
      </p:grpSp>
      <p:sp>
        <p:nvSpPr>
          <p:cNvPr id="1040" name="Text Box 10"/>
          <p:cNvSpPr txBox="1">
            <a:spLocks noChangeArrowheads="1"/>
          </p:cNvSpPr>
          <p:nvPr/>
        </p:nvSpPr>
        <p:spPr bwMode="auto">
          <a:xfrm>
            <a:off x="6457950" y="765175"/>
            <a:ext cx="2686050" cy="4211638"/>
          </a:xfrm>
          <a:prstGeom prst="rect">
            <a:avLst/>
          </a:prstGeom>
          <a:noFill/>
          <a:ln w="9525">
            <a:noFill/>
            <a:miter lim="800000"/>
            <a:headEnd/>
            <a:tailEnd/>
          </a:ln>
        </p:spPr>
        <p:txBody>
          <a:bodyPr wrap="none">
            <a:spAutoFit/>
          </a:bodyPr>
          <a:lstStyle/>
          <a:p>
            <a:r>
              <a:rPr lang="en-US"/>
              <a:t>1. Cotton seed hulls</a:t>
            </a:r>
          </a:p>
          <a:p>
            <a:r>
              <a:rPr lang="en-US"/>
              <a:t>2. Peanut hulls</a:t>
            </a:r>
          </a:p>
          <a:p>
            <a:r>
              <a:rPr lang="en-US"/>
              <a:t>3. Soybean hulls</a:t>
            </a:r>
          </a:p>
          <a:p>
            <a:r>
              <a:rPr lang="en-US"/>
              <a:t>4. Wheat bran</a:t>
            </a:r>
          </a:p>
          <a:p>
            <a:r>
              <a:rPr lang="en-US"/>
              <a:t>5. Alfalfa dehy. (17%CP)</a:t>
            </a:r>
          </a:p>
          <a:p>
            <a:r>
              <a:rPr lang="en-US"/>
              <a:t>6. Beet pulp w/Mol.</a:t>
            </a:r>
          </a:p>
          <a:p>
            <a:r>
              <a:rPr lang="en-US"/>
              <a:t>7. Wheat middlings</a:t>
            </a:r>
          </a:p>
          <a:p>
            <a:r>
              <a:rPr lang="en-US"/>
              <a:t>8. Oats</a:t>
            </a:r>
          </a:p>
          <a:p>
            <a:r>
              <a:rPr lang="en-US"/>
              <a:t>9. Corn, ear</a:t>
            </a:r>
          </a:p>
          <a:p>
            <a:r>
              <a:rPr lang="en-US"/>
              <a:t>10. Hominy feed</a:t>
            </a:r>
          </a:p>
          <a:p>
            <a:r>
              <a:rPr lang="en-US"/>
              <a:t>11. Barley</a:t>
            </a:r>
          </a:p>
          <a:p>
            <a:r>
              <a:rPr lang="en-US"/>
              <a:t>12. Wheat</a:t>
            </a:r>
          </a:p>
          <a:p>
            <a:r>
              <a:rPr lang="en-US"/>
              <a:t>13. Triticale</a:t>
            </a:r>
          </a:p>
          <a:p>
            <a:r>
              <a:rPr lang="en-US"/>
              <a:t>14. Rye</a:t>
            </a:r>
          </a:p>
          <a:p>
            <a:r>
              <a:rPr lang="en-US"/>
              <a:t>15. Corn, shelled</a:t>
            </a:r>
          </a:p>
        </p:txBody>
      </p:sp>
      <p:grpSp>
        <p:nvGrpSpPr>
          <p:cNvPr id="546827" name="Group 11"/>
          <p:cNvGrpSpPr>
            <a:grpSpLocks/>
          </p:cNvGrpSpPr>
          <p:nvPr/>
        </p:nvGrpSpPr>
        <p:grpSpPr bwMode="auto">
          <a:xfrm>
            <a:off x="598488" y="4664075"/>
            <a:ext cx="5105400" cy="666750"/>
            <a:chOff x="624" y="3120"/>
            <a:chExt cx="3618" cy="420"/>
          </a:xfrm>
        </p:grpSpPr>
        <p:sp>
          <p:nvSpPr>
            <p:cNvPr id="1042" name="Rectangle 12"/>
            <p:cNvSpPr>
              <a:spLocks noChangeArrowheads="1"/>
            </p:cNvSpPr>
            <p:nvPr/>
          </p:nvSpPr>
          <p:spPr bwMode="auto">
            <a:xfrm>
              <a:off x="624" y="3168"/>
              <a:ext cx="3618" cy="372"/>
            </a:xfrm>
            <a:prstGeom prst="rect">
              <a:avLst/>
            </a:prstGeom>
            <a:solidFill>
              <a:srgbClr val="FFFFFF">
                <a:alpha val="50195"/>
              </a:srgbClr>
            </a:solidFill>
            <a:ln w="9525">
              <a:noFill/>
              <a:miter lim="800000"/>
              <a:headEnd/>
              <a:tailEnd/>
            </a:ln>
          </p:spPr>
          <p:txBody>
            <a:bodyPr wrap="none" anchor="ctr"/>
            <a:lstStyle/>
            <a:p>
              <a:endParaRPr lang="en-NZ">
                <a:latin typeface="Calibri" pitchFamily="34" charset="0"/>
              </a:endParaRPr>
            </a:p>
          </p:txBody>
        </p:sp>
        <p:sp>
          <p:nvSpPr>
            <p:cNvPr id="1043" name="Text Box 13"/>
            <p:cNvSpPr txBox="1">
              <a:spLocks noChangeArrowheads="1"/>
            </p:cNvSpPr>
            <p:nvPr/>
          </p:nvSpPr>
          <p:spPr bwMode="auto">
            <a:xfrm>
              <a:off x="624" y="3120"/>
              <a:ext cx="1512" cy="233"/>
            </a:xfrm>
            <a:prstGeom prst="rect">
              <a:avLst/>
            </a:prstGeom>
            <a:noFill/>
            <a:ln w="9525">
              <a:noFill/>
              <a:miter lim="800000"/>
              <a:headEnd/>
              <a:tailEnd/>
            </a:ln>
          </p:spPr>
          <p:txBody>
            <a:bodyPr wrap="none">
              <a:spAutoFit/>
            </a:bodyPr>
            <a:lstStyle/>
            <a:p>
              <a:r>
                <a:rPr lang="en-US" b="1">
                  <a:solidFill>
                    <a:schemeClr val="tx2"/>
                  </a:solidFill>
                </a:rPr>
                <a:t>Energy in forages</a:t>
              </a:r>
              <a:endParaRPr lang="en-US">
                <a:solidFill>
                  <a:schemeClr val="tx2"/>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46819">
                                            <p:oleChartEl type="series" lvl="1"/>
                                          </p:spTgt>
                                        </p:tgtEl>
                                        <p:attrNameLst>
                                          <p:attrName>style.visibility</p:attrName>
                                        </p:attrNameLst>
                                      </p:cBhvr>
                                      <p:to>
                                        <p:strVal val="visible"/>
                                      </p:to>
                                    </p:set>
                                    <p:animEffect transition="in" filter="wipe(left)">
                                      <p:cBhvr>
                                        <p:cTn id="7" dur="500"/>
                                        <p:tgtEl>
                                          <p:spTgt spid="546819">
                                            <p:oleChartEl type="series" lvl="1"/>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46819">
                                            <p:oleChartEl type="series" lvl="2"/>
                                          </p:spTgt>
                                        </p:tgtEl>
                                        <p:attrNameLst>
                                          <p:attrName>style.visibility</p:attrName>
                                        </p:attrNameLst>
                                      </p:cBhvr>
                                      <p:to>
                                        <p:strVal val="visible"/>
                                      </p:to>
                                    </p:set>
                                    <p:animEffect transition="in" filter="wipe(left)">
                                      <p:cBhvr>
                                        <p:cTn id="12" dur="500"/>
                                        <p:tgtEl>
                                          <p:spTgt spid="546819">
                                            <p:oleChartEl type="series" lvl="2"/>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7" presetClass="entr" presetSubtype="4" fill="hold" nodeType="clickEffect">
                                  <p:stCondLst>
                                    <p:cond delay="0"/>
                                  </p:stCondLst>
                                  <p:childTnLst>
                                    <p:set>
                                      <p:cBhvr>
                                        <p:cTn id="16" dur="1" fill="hold">
                                          <p:stCondLst>
                                            <p:cond delay="0"/>
                                          </p:stCondLst>
                                        </p:cTn>
                                        <p:tgtEl>
                                          <p:spTgt spid="546823"/>
                                        </p:tgtEl>
                                        <p:attrNameLst>
                                          <p:attrName>style.visibility</p:attrName>
                                        </p:attrNameLst>
                                      </p:cBhvr>
                                      <p:to>
                                        <p:strVal val="visible"/>
                                      </p:to>
                                    </p:set>
                                    <p:anim calcmode="lin" valueType="num">
                                      <p:cBhvr>
                                        <p:cTn id="17" dur="500" fill="hold"/>
                                        <p:tgtEl>
                                          <p:spTgt spid="546823"/>
                                        </p:tgtEl>
                                        <p:attrNameLst>
                                          <p:attrName>ppt_x</p:attrName>
                                        </p:attrNameLst>
                                      </p:cBhvr>
                                      <p:tavLst>
                                        <p:tav tm="0">
                                          <p:val>
                                            <p:strVal val="#ppt_x"/>
                                          </p:val>
                                        </p:tav>
                                        <p:tav tm="100000">
                                          <p:val>
                                            <p:strVal val="#ppt_x"/>
                                          </p:val>
                                        </p:tav>
                                      </p:tavLst>
                                    </p:anim>
                                    <p:anim calcmode="lin" valueType="num">
                                      <p:cBhvr>
                                        <p:cTn id="18" dur="500" fill="hold"/>
                                        <p:tgtEl>
                                          <p:spTgt spid="546823"/>
                                        </p:tgtEl>
                                        <p:attrNameLst>
                                          <p:attrName>ppt_y</p:attrName>
                                        </p:attrNameLst>
                                      </p:cBhvr>
                                      <p:tavLst>
                                        <p:tav tm="0">
                                          <p:val>
                                            <p:strVal val="#ppt_y+#ppt_h/2"/>
                                          </p:val>
                                        </p:tav>
                                        <p:tav tm="100000">
                                          <p:val>
                                            <p:strVal val="#ppt_y"/>
                                          </p:val>
                                        </p:tav>
                                      </p:tavLst>
                                    </p:anim>
                                    <p:anim calcmode="lin" valueType="num">
                                      <p:cBhvr>
                                        <p:cTn id="19" dur="500" fill="hold"/>
                                        <p:tgtEl>
                                          <p:spTgt spid="546823"/>
                                        </p:tgtEl>
                                        <p:attrNameLst>
                                          <p:attrName>ppt_w</p:attrName>
                                        </p:attrNameLst>
                                      </p:cBhvr>
                                      <p:tavLst>
                                        <p:tav tm="0">
                                          <p:val>
                                            <p:strVal val="#ppt_w"/>
                                          </p:val>
                                        </p:tav>
                                        <p:tav tm="100000">
                                          <p:val>
                                            <p:strVal val="#ppt_w"/>
                                          </p:val>
                                        </p:tav>
                                      </p:tavLst>
                                    </p:anim>
                                    <p:anim calcmode="lin" valueType="num">
                                      <p:cBhvr>
                                        <p:cTn id="20" dur="500" fill="hold"/>
                                        <p:tgtEl>
                                          <p:spTgt spid="546823"/>
                                        </p:tgtEl>
                                        <p:attrNameLst>
                                          <p:attrName>ppt_h</p:attrName>
                                        </p:attrNameLst>
                                      </p:cBhvr>
                                      <p:tavLst>
                                        <p:tav tm="0">
                                          <p:val>
                                            <p:fltVal val="0"/>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9" presetClass="entr" presetSubtype="0" fill="hold" nodeType="clickEffect">
                                  <p:stCondLst>
                                    <p:cond delay="0"/>
                                  </p:stCondLst>
                                  <p:childTnLst>
                                    <p:set>
                                      <p:cBhvr>
                                        <p:cTn id="24" dur="1" fill="hold">
                                          <p:stCondLst>
                                            <p:cond delay="0"/>
                                          </p:stCondLst>
                                        </p:cTn>
                                        <p:tgtEl>
                                          <p:spTgt spid="546827"/>
                                        </p:tgtEl>
                                        <p:attrNameLst>
                                          <p:attrName>style.visibility</p:attrName>
                                        </p:attrNameLst>
                                      </p:cBhvr>
                                      <p:to>
                                        <p:strVal val="visible"/>
                                      </p:to>
                                    </p:set>
                                    <p:animEffect transition="in" filter="dissolve">
                                      <p:cBhvr>
                                        <p:cTn id="25" dur="500"/>
                                        <p:tgtEl>
                                          <p:spTgt spid="5468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OleChart spid="546819" grpId="0" bld="series" 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Slide Number Placeholder 4"/>
          <p:cNvSpPr>
            <a:spLocks noGrp="1"/>
          </p:cNvSpPr>
          <p:nvPr>
            <p:ph type="sldNum" sz="quarter" idx="12"/>
          </p:nvPr>
        </p:nvSpPr>
        <p:spPr/>
        <p:txBody>
          <a:bodyPr/>
          <a:lstStyle/>
          <a:p>
            <a:pPr>
              <a:defRPr/>
            </a:pPr>
            <a:r>
              <a:rPr lang="en-US" dirty="0"/>
              <a:t> </a:t>
            </a:r>
            <a:endParaRPr lang="en-US" sz="1800" dirty="0">
              <a:solidFill>
                <a:schemeClr val="tx1"/>
              </a:solidFill>
            </a:endParaRPr>
          </a:p>
        </p:txBody>
      </p:sp>
      <p:sp>
        <p:nvSpPr>
          <p:cNvPr id="372738" name="Rectangle 2"/>
          <p:cNvSpPr>
            <a:spLocks noGrp="1" noChangeArrowheads="1"/>
          </p:cNvSpPr>
          <p:nvPr>
            <p:ph type="title"/>
          </p:nvPr>
        </p:nvSpPr>
        <p:spPr>
          <a:xfrm>
            <a:off x="800100" y="312738"/>
            <a:ext cx="7558088" cy="522287"/>
          </a:xfrm>
          <a:extLst>
            <a:ext uri="{909E8E84-426E-40DD-AFC4-6F175D3DCCD1}"/>
            <a:ext uri="{91240B29-F687-4F45-9708-019B960494DF}"/>
            <a:ext uri="{AF507438-7753-43E0-B8FC-AC1667EBCBE1}"/>
          </a:extLst>
        </p:spPr>
        <p:txBody>
          <a:bodyPr wrap="none" lIns="93662" tIns="47625" rIns="93662" bIns="47625" rtlCol="0">
            <a:normAutofit fontScale="90000"/>
          </a:bodyPr>
          <a:lstStyle/>
          <a:p>
            <a:pPr eaLnBrk="1" fontAlgn="auto" hangingPunct="1">
              <a:spcAft>
                <a:spcPts val="0"/>
              </a:spcAft>
              <a:defRPr/>
            </a:pPr>
            <a:r>
              <a:rPr lang="en-US" sz="3600" b="1" dirty="0" smtClean="0"/>
              <a:t>PHASES OF A LACTATION CYCLE </a:t>
            </a:r>
            <a:r>
              <a:rPr lang="en-US" sz="3200" b="1" dirty="0" smtClean="0"/>
              <a:t/>
            </a:r>
            <a:br>
              <a:rPr lang="en-US" sz="3200" b="1" dirty="0" smtClean="0"/>
            </a:br>
            <a:r>
              <a:rPr lang="en-US" sz="2200" b="1" dirty="0" smtClean="0"/>
              <a:t>(MULTIPAROUS COW, NRC 1989</a:t>
            </a:r>
            <a:r>
              <a:rPr lang="en-US" sz="2200" dirty="0" smtClean="0"/>
              <a:t>)</a:t>
            </a:r>
            <a:endParaRPr lang="en-US" sz="2200" dirty="0"/>
          </a:p>
        </p:txBody>
      </p:sp>
      <p:grpSp>
        <p:nvGrpSpPr>
          <p:cNvPr id="372739" name="Group 3"/>
          <p:cNvGrpSpPr>
            <a:grpSpLocks/>
          </p:cNvGrpSpPr>
          <p:nvPr/>
        </p:nvGrpSpPr>
        <p:grpSpPr bwMode="auto">
          <a:xfrm>
            <a:off x="47625" y="1814513"/>
            <a:ext cx="8024813" cy="4448175"/>
            <a:chOff x="34" y="1143"/>
            <a:chExt cx="5687" cy="2802"/>
          </a:xfrm>
        </p:grpSpPr>
        <p:sp>
          <p:nvSpPr>
            <p:cNvPr id="23616" name="Rectangle 4"/>
            <p:cNvSpPr>
              <a:spLocks noChangeArrowheads="1"/>
            </p:cNvSpPr>
            <p:nvPr/>
          </p:nvSpPr>
          <p:spPr bwMode="auto">
            <a:xfrm>
              <a:off x="604" y="2060"/>
              <a:ext cx="897" cy="565"/>
            </a:xfrm>
            <a:prstGeom prst="rect">
              <a:avLst/>
            </a:prstGeom>
            <a:noFill/>
            <a:ln w="9525">
              <a:noFill/>
              <a:miter lim="800000"/>
              <a:headEnd/>
              <a:tailEnd/>
            </a:ln>
          </p:spPr>
          <p:txBody>
            <a:bodyPr wrap="none" lIns="93662" tIns="47625" rIns="93662" bIns="47625">
              <a:spAutoFit/>
            </a:bodyPr>
            <a:lstStyle/>
            <a:p>
              <a:pPr algn="r" defTabSz="933450"/>
              <a:r>
                <a:rPr lang="en-US"/>
                <a:t>Dry matter</a:t>
              </a:r>
            </a:p>
            <a:p>
              <a:pPr algn="r" defTabSz="933450"/>
              <a:r>
                <a:rPr lang="en-US"/>
                <a:t>intake</a:t>
              </a:r>
            </a:p>
            <a:p>
              <a:pPr algn="r" defTabSz="933450"/>
              <a:r>
                <a:rPr lang="en-US" sz="1600"/>
                <a:t>kg/day</a:t>
              </a:r>
            </a:p>
          </p:txBody>
        </p:sp>
        <p:sp>
          <p:nvSpPr>
            <p:cNvPr id="23617" name="Rectangle 5"/>
            <p:cNvSpPr>
              <a:spLocks noChangeArrowheads="1"/>
            </p:cNvSpPr>
            <p:nvPr/>
          </p:nvSpPr>
          <p:spPr bwMode="auto">
            <a:xfrm>
              <a:off x="694" y="1147"/>
              <a:ext cx="807" cy="390"/>
            </a:xfrm>
            <a:prstGeom prst="rect">
              <a:avLst/>
            </a:prstGeom>
            <a:noFill/>
            <a:ln w="9525">
              <a:noFill/>
              <a:miter lim="800000"/>
              <a:headEnd/>
              <a:tailEnd/>
            </a:ln>
          </p:spPr>
          <p:txBody>
            <a:bodyPr wrap="none" lIns="93662" tIns="47625" rIns="93662" bIns="47625">
              <a:spAutoFit/>
            </a:bodyPr>
            <a:lstStyle/>
            <a:p>
              <a:pPr algn="r" defTabSz="933450"/>
              <a:r>
                <a:rPr lang="en-US"/>
                <a:t>Milk yield</a:t>
              </a:r>
            </a:p>
            <a:p>
              <a:pPr algn="r" defTabSz="933450"/>
              <a:r>
                <a:rPr lang="en-US" sz="1600"/>
                <a:t>kg/day</a:t>
              </a:r>
            </a:p>
          </p:txBody>
        </p:sp>
        <p:sp>
          <p:nvSpPr>
            <p:cNvPr id="23618" name="Line 6"/>
            <p:cNvSpPr>
              <a:spLocks noChangeShapeType="1"/>
            </p:cNvSpPr>
            <p:nvPr/>
          </p:nvSpPr>
          <p:spPr bwMode="auto">
            <a:xfrm flipH="1">
              <a:off x="1799" y="1877"/>
              <a:ext cx="3701" cy="0"/>
            </a:xfrm>
            <a:prstGeom prst="line">
              <a:avLst/>
            </a:prstGeom>
            <a:noFill/>
            <a:ln w="12700">
              <a:solidFill>
                <a:srgbClr val="FFFFFF"/>
              </a:solidFill>
              <a:round/>
              <a:headEnd/>
              <a:tailEnd/>
            </a:ln>
          </p:spPr>
          <p:txBody>
            <a:bodyPr wrap="none" anchor="ctr"/>
            <a:lstStyle/>
            <a:p>
              <a:endParaRPr lang="en-US"/>
            </a:p>
          </p:txBody>
        </p:sp>
        <p:sp>
          <p:nvSpPr>
            <p:cNvPr id="23619" name="Line 7"/>
            <p:cNvSpPr>
              <a:spLocks noChangeShapeType="1"/>
            </p:cNvSpPr>
            <p:nvPr/>
          </p:nvSpPr>
          <p:spPr bwMode="auto">
            <a:xfrm flipH="1">
              <a:off x="1791" y="2827"/>
              <a:ext cx="3709" cy="0"/>
            </a:xfrm>
            <a:prstGeom prst="line">
              <a:avLst/>
            </a:prstGeom>
            <a:noFill/>
            <a:ln w="12700">
              <a:solidFill>
                <a:srgbClr val="FFFFFF"/>
              </a:solidFill>
              <a:round/>
              <a:headEnd/>
              <a:tailEnd/>
            </a:ln>
          </p:spPr>
          <p:txBody>
            <a:bodyPr wrap="none" anchor="ctr"/>
            <a:lstStyle/>
            <a:p>
              <a:endParaRPr lang="en-US"/>
            </a:p>
          </p:txBody>
        </p:sp>
        <p:sp>
          <p:nvSpPr>
            <p:cNvPr id="23620" name="Line 8"/>
            <p:cNvSpPr>
              <a:spLocks noChangeShapeType="1"/>
            </p:cNvSpPr>
            <p:nvPr/>
          </p:nvSpPr>
          <p:spPr bwMode="auto">
            <a:xfrm>
              <a:off x="1807" y="2094"/>
              <a:ext cx="0" cy="739"/>
            </a:xfrm>
            <a:prstGeom prst="line">
              <a:avLst/>
            </a:prstGeom>
            <a:noFill/>
            <a:ln w="25400">
              <a:solidFill>
                <a:srgbClr val="FFFFFF"/>
              </a:solidFill>
              <a:round/>
              <a:headEnd/>
              <a:tailEnd/>
            </a:ln>
          </p:spPr>
          <p:txBody>
            <a:bodyPr wrap="none" anchor="ctr"/>
            <a:lstStyle/>
            <a:p>
              <a:endParaRPr lang="en-US"/>
            </a:p>
          </p:txBody>
        </p:sp>
        <p:sp>
          <p:nvSpPr>
            <p:cNvPr id="23621" name="Line 9"/>
            <p:cNvSpPr>
              <a:spLocks noChangeShapeType="1"/>
            </p:cNvSpPr>
            <p:nvPr/>
          </p:nvSpPr>
          <p:spPr bwMode="auto">
            <a:xfrm>
              <a:off x="1807" y="1143"/>
              <a:ext cx="0" cy="739"/>
            </a:xfrm>
            <a:prstGeom prst="line">
              <a:avLst/>
            </a:prstGeom>
            <a:noFill/>
            <a:ln w="25400">
              <a:solidFill>
                <a:srgbClr val="FFFFFF"/>
              </a:solidFill>
              <a:round/>
              <a:headEnd/>
              <a:tailEnd/>
            </a:ln>
          </p:spPr>
          <p:txBody>
            <a:bodyPr wrap="none" anchor="ctr"/>
            <a:lstStyle/>
            <a:p>
              <a:endParaRPr lang="en-US"/>
            </a:p>
          </p:txBody>
        </p:sp>
        <p:sp>
          <p:nvSpPr>
            <p:cNvPr id="23622" name="Line 10"/>
            <p:cNvSpPr>
              <a:spLocks noChangeShapeType="1"/>
            </p:cNvSpPr>
            <p:nvPr/>
          </p:nvSpPr>
          <p:spPr bwMode="auto">
            <a:xfrm flipH="1">
              <a:off x="1808" y="3734"/>
              <a:ext cx="3888" cy="0"/>
            </a:xfrm>
            <a:prstGeom prst="line">
              <a:avLst/>
            </a:prstGeom>
            <a:noFill/>
            <a:ln w="25400">
              <a:solidFill>
                <a:srgbClr val="FFFFFF"/>
              </a:solidFill>
              <a:round/>
              <a:headEnd/>
              <a:tailEnd/>
            </a:ln>
          </p:spPr>
          <p:txBody>
            <a:bodyPr wrap="none" anchor="ctr"/>
            <a:lstStyle/>
            <a:p>
              <a:endParaRPr lang="en-US"/>
            </a:p>
          </p:txBody>
        </p:sp>
        <p:sp>
          <p:nvSpPr>
            <p:cNvPr id="23623" name="Rectangle 11"/>
            <p:cNvSpPr>
              <a:spLocks noChangeArrowheads="1"/>
            </p:cNvSpPr>
            <p:nvPr/>
          </p:nvSpPr>
          <p:spPr bwMode="auto">
            <a:xfrm>
              <a:off x="34" y="3702"/>
              <a:ext cx="1467" cy="235"/>
            </a:xfrm>
            <a:prstGeom prst="rect">
              <a:avLst/>
            </a:prstGeom>
            <a:noFill/>
            <a:ln w="9525">
              <a:noFill/>
              <a:miter lim="800000"/>
              <a:headEnd/>
              <a:tailEnd/>
            </a:ln>
          </p:spPr>
          <p:txBody>
            <a:bodyPr wrap="none" lIns="93662" tIns="47625" rIns="93662" bIns="47625">
              <a:spAutoFit/>
            </a:bodyPr>
            <a:lstStyle/>
            <a:p>
              <a:pPr algn="r" defTabSz="933450"/>
              <a:r>
                <a:rPr lang="en-US"/>
                <a:t>Weeks of lactation</a:t>
              </a:r>
            </a:p>
          </p:txBody>
        </p:sp>
        <p:sp>
          <p:nvSpPr>
            <p:cNvPr id="23624" name="Rectangle 12"/>
            <p:cNvSpPr>
              <a:spLocks noChangeArrowheads="1"/>
            </p:cNvSpPr>
            <p:nvPr/>
          </p:nvSpPr>
          <p:spPr bwMode="auto">
            <a:xfrm>
              <a:off x="476" y="2949"/>
              <a:ext cx="1025" cy="390"/>
            </a:xfrm>
            <a:prstGeom prst="rect">
              <a:avLst/>
            </a:prstGeom>
            <a:noFill/>
            <a:ln w="9525">
              <a:noFill/>
              <a:miter lim="800000"/>
              <a:headEnd/>
              <a:tailEnd/>
            </a:ln>
          </p:spPr>
          <p:txBody>
            <a:bodyPr wrap="none" lIns="93662" tIns="47625" rIns="93662" bIns="47625">
              <a:spAutoFit/>
            </a:bodyPr>
            <a:lstStyle/>
            <a:p>
              <a:pPr algn="r" defTabSz="933450"/>
              <a:r>
                <a:rPr lang="en-US"/>
                <a:t>Body weight</a:t>
              </a:r>
            </a:p>
            <a:p>
              <a:pPr algn="r" defTabSz="933450"/>
              <a:r>
                <a:rPr lang="en-US" sz="1600"/>
                <a:t>kg</a:t>
              </a:r>
            </a:p>
          </p:txBody>
        </p:sp>
        <p:sp>
          <p:nvSpPr>
            <p:cNvPr id="23625" name="Rectangle 13"/>
            <p:cNvSpPr>
              <a:spLocks noChangeArrowheads="1"/>
            </p:cNvSpPr>
            <p:nvPr/>
          </p:nvSpPr>
          <p:spPr bwMode="auto">
            <a:xfrm>
              <a:off x="1713" y="3712"/>
              <a:ext cx="301" cy="233"/>
            </a:xfrm>
            <a:prstGeom prst="rect">
              <a:avLst/>
            </a:prstGeom>
            <a:noFill/>
            <a:ln w="9525">
              <a:noFill/>
              <a:miter lim="800000"/>
              <a:headEnd/>
              <a:tailEnd/>
            </a:ln>
          </p:spPr>
          <p:txBody>
            <a:bodyPr lIns="93662" tIns="47625" rIns="93662" bIns="47625">
              <a:spAutoFit/>
            </a:bodyPr>
            <a:lstStyle/>
            <a:p>
              <a:pPr algn="ctr" defTabSz="933450"/>
              <a:r>
                <a:rPr lang="en-US"/>
                <a:t>0</a:t>
              </a:r>
            </a:p>
          </p:txBody>
        </p:sp>
        <p:sp>
          <p:nvSpPr>
            <p:cNvPr id="23626" name="Line 14"/>
            <p:cNvSpPr>
              <a:spLocks noChangeShapeType="1"/>
            </p:cNvSpPr>
            <p:nvPr/>
          </p:nvSpPr>
          <p:spPr bwMode="auto">
            <a:xfrm>
              <a:off x="1807" y="3011"/>
              <a:ext cx="0" cy="720"/>
            </a:xfrm>
            <a:prstGeom prst="line">
              <a:avLst/>
            </a:prstGeom>
            <a:noFill/>
            <a:ln w="25400">
              <a:solidFill>
                <a:srgbClr val="FFFFFF"/>
              </a:solidFill>
              <a:round/>
              <a:headEnd/>
              <a:tailEnd/>
            </a:ln>
          </p:spPr>
          <p:txBody>
            <a:bodyPr wrap="none" anchor="ctr"/>
            <a:lstStyle/>
            <a:p>
              <a:endParaRPr lang="en-US"/>
            </a:p>
          </p:txBody>
        </p:sp>
        <p:sp>
          <p:nvSpPr>
            <p:cNvPr id="23627" name="Rectangle 15"/>
            <p:cNvSpPr>
              <a:spLocks noChangeArrowheads="1"/>
            </p:cNvSpPr>
            <p:nvPr/>
          </p:nvSpPr>
          <p:spPr bwMode="auto">
            <a:xfrm>
              <a:off x="4738" y="3712"/>
              <a:ext cx="423" cy="233"/>
            </a:xfrm>
            <a:prstGeom prst="rect">
              <a:avLst/>
            </a:prstGeom>
            <a:noFill/>
            <a:ln w="9525">
              <a:noFill/>
              <a:miter lim="800000"/>
              <a:headEnd/>
              <a:tailEnd/>
            </a:ln>
          </p:spPr>
          <p:txBody>
            <a:bodyPr lIns="93662" tIns="47625" rIns="93662" bIns="47625">
              <a:spAutoFit/>
            </a:bodyPr>
            <a:lstStyle/>
            <a:p>
              <a:pPr algn="ctr" defTabSz="933450"/>
              <a:r>
                <a:rPr lang="en-US"/>
                <a:t>44</a:t>
              </a:r>
            </a:p>
          </p:txBody>
        </p:sp>
        <p:sp>
          <p:nvSpPr>
            <p:cNvPr id="23628" name="Rectangle 16"/>
            <p:cNvSpPr>
              <a:spLocks noChangeArrowheads="1"/>
            </p:cNvSpPr>
            <p:nvPr/>
          </p:nvSpPr>
          <p:spPr bwMode="auto">
            <a:xfrm>
              <a:off x="5298" y="3712"/>
              <a:ext cx="423" cy="233"/>
            </a:xfrm>
            <a:prstGeom prst="rect">
              <a:avLst/>
            </a:prstGeom>
            <a:noFill/>
            <a:ln w="9525">
              <a:noFill/>
              <a:miter lim="800000"/>
              <a:headEnd/>
              <a:tailEnd/>
            </a:ln>
          </p:spPr>
          <p:txBody>
            <a:bodyPr lIns="93662" tIns="47625" rIns="93662" bIns="47625">
              <a:spAutoFit/>
            </a:bodyPr>
            <a:lstStyle/>
            <a:p>
              <a:pPr algn="ctr" defTabSz="933450"/>
              <a:r>
                <a:rPr lang="en-US"/>
                <a:t>52</a:t>
              </a:r>
            </a:p>
          </p:txBody>
        </p:sp>
        <p:sp>
          <p:nvSpPr>
            <p:cNvPr id="23629" name="Rectangle 17"/>
            <p:cNvSpPr>
              <a:spLocks noChangeArrowheads="1"/>
            </p:cNvSpPr>
            <p:nvPr/>
          </p:nvSpPr>
          <p:spPr bwMode="auto">
            <a:xfrm>
              <a:off x="5010" y="3712"/>
              <a:ext cx="423" cy="233"/>
            </a:xfrm>
            <a:prstGeom prst="rect">
              <a:avLst/>
            </a:prstGeom>
            <a:noFill/>
            <a:ln w="9525">
              <a:noFill/>
              <a:miter lim="800000"/>
              <a:headEnd/>
              <a:tailEnd/>
            </a:ln>
          </p:spPr>
          <p:txBody>
            <a:bodyPr lIns="93662" tIns="47625" rIns="93662" bIns="47625">
              <a:spAutoFit/>
            </a:bodyPr>
            <a:lstStyle/>
            <a:p>
              <a:pPr algn="ctr" defTabSz="933450"/>
              <a:r>
                <a:rPr lang="en-US"/>
                <a:t>48</a:t>
              </a:r>
            </a:p>
          </p:txBody>
        </p:sp>
        <p:sp>
          <p:nvSpPr>
            <p:cNvPr id="23630" name="Rectangle 18"/>
            <p:cNvSpPr>
              <a:spLocks noChangeArrowheads="1"/>
            </p:cNvSpPr>
            <p:nvPr/>
          </p:nvSpPr>
          <p:spPr bwMode="auto">
            <a:xfrm>
              <a:off x="3650" y="3712"/>
              <a:ext cx="423" cy="233"/>
            </a:xfrm>
            <a:prstGeom prst="rect">
              <a:avLst/>
            </a:prstGeom>
            <a:noFill/>
            <a:ln w="9525">
              <a:noFill/>
              <a:miter lim="800000"/>
              <a:headEnd/>
              <a:tailEnd/>
            </a:ln>
          </p:spPr>
          <p:txBody>
            <a:bodyPr lIns="93662" tIns="47625" rIns="93662" bIns="47625">
              <a:spAutoFit/>
            </a:bodyPr>
            <a:lstStyle/>
            <a:p>
              <a:pPr algn="ctr" defTabSz="933450"/>
              <a:r>
                <a:rPr lang="en-US"/>
                <a:t>28</a:t>
              </a:r>
            </a:p>
          </p:txBody>
        </p:sp>
        <p:sp>
          <p:nvSpPr>
            <p:cNvPr id="23631" name="Rectangle 19"/>
            <p:cNvSpPr>
              <a:spLocks noChangeArrowheads="1"/>
            </p:cNvSpPr>
            <p:nvPr/>
          </p:nvSpPr>
          <p:spPr bwMode="auto">
            <a:xfrm>
              <a:off x="3962" y="3712"/>
              <a:ext cx="423" cy="233"/>
            </a:xfrm>
            <a:prstGeom prst="rect">
              <a:avLst/>
            </a:prstGeom>
            <a:noFill/>
            <a:ln w="9525">
              <a:noFill/>
              <a:miter lim="800000"/>
              <a:headEnd/>
              <a:tailEnd/>
            </a:ln>
          </p:spPr>
          <p:txBody>
            <a:bodyPr lIns="93662" tIns="47625" rIns="93662" bIns="47625">
              <a:spAutoFit/>
            </a:bodyPr>
            <a:lstStyle/>
            <a:p>
              <a:pPr algn="ctr" defTabSz="933450"/>
              <a:r>
                <a:rPr lang="en-US"/>
                <a:t>32</a:t>
              </a:r>
            </a:p>
          </p:txBody>
        </p:sp>
        <p:sp>
          <p:nvSpPr>
            <p:cNvPr id="23632" name="Rectangle 20"/>
            <p:cNvSpPr>
              <a:spLocks noChangeArrowheads="1"/>
            </p:cNvSpPr>
            <p:nvPr/>
          </p:nvSpPr>
          <p:spPr bwMode="auto">
            <a:xfrm>
              <a:off x="2730" y="3712"/>
              <a:ext cx="423" cy="233"/>
            </a:xfrm>
            <a:prstGeom prst="rect">
              <a:avLst/>
            </a:prstGeom>
            <a:noFill/>
            <a:ln w="9525">
              <a:noFill/>
              <a:miter lim="800000"/>
              <a:headEnd/>
              <a:tailEnd/>
            </a:ln>
          </p:spPr>
          <p:txBody>
            <a:bodyPr lIns="93662" tIns="47625" rIns="93662" bIns="47625">
              <a:spAutoFit/>
            </a:bodyPr>
            <a:lstStyle/>
            <a:p>
              <a:pPr algn="ctr" defTabSz="933450"/>
              <a:r>
                <a:rPr lang="en-US"/>
                <a:t>16</a:t>
              </a:r>
            </a:p>
          </p:txBody>
        </p:sp>
        <p:sp>
          <p:nvSpPr>
            <p:cNvPr id="23633" name="Rectangle 21"/>
            <p:cNvSpPr>
              <a:spLocks noChangeArrowheads="1"/>
            </p:cNvSpPr>
            <p:nvPr/>
          </p:nvSpPr>
          <p:spPr bwMode="auto">
            <a:xfrm>
              <a:off x="3338" y="3712"/>
              <a:ext cx="423" cy="233"/>
            </a:xfrm>
            <a:prstGeom prst="rect">
              <a:avLst/>
            </a:prstGeom>
            <a:noFill/>
            <a:ln w="9525">
              <a:noFill/>
              <a:miter lim="800000"/>
              <a:headEnd/>
              <a:tailEnd/>
            </a:ln>
          </p:spPr>
          <p:txBody>
            <a:bodyPr lIns="93662" tIns="47625" rIns="93662" bIns="47625">
              <a:spAutoFit/>
            </a:bodyPr>
            <a:lstStyle/>
            <a:p>
              <a:pPr algn="ctr" defTabSz="933450"/>
              <a:r>
                <a:rPr lang="en-US"/>
                <a:t>24</a:t>
              </a:r>
            </a:p>
          </p:txBody>
        </p:sp>
        <p:sp>
          <p:nvSpPr>
            <p:cNvPr id="23634" name="Rectangle 22"/>
            <p:cNvSpPr>
              <a:spLocks noChangeArrowheads="1"/>
            </p:cNvSpPr>
            <p:nvPr/>
          </p:nvSpPr>
          <p:spPr bwMode="auto">
            <a:xfrm>
              <a:off x="3034" y="3712"/>
              <a:ext cx="423" cy="233"/>
            </a:xfrm>
            <a:prstGeom prst="rect">
              <a:avLst/>
            </a:prstGeom>
            <a:noFill/>
            <a:ln w="9525">
              <a:noFill/>
              <a:miter lim="800000"/>
              <a:headEnd/>
              <a:tailEnd/>
            </a:ln>
          </p:spPr>
          <p:txBody>
            <a:bodyPr lIns="93662" tIns="47625" rIns="93662" bIns="47625">
              <a:spAutoFit/>
            </a:bodyPr>
            <a:lstStyle/>
            <a:p>
              <a:pPr algn="ctr" defTabSz="933450"/>
              <a:r>
                <a:rPr lang="en-US"/>
                <a:t>20</a:t>
              </a:r>
            </a:p>
          </p:txBody>
        </p:sp>
        <p:sp>
          <p:nvSpPr>
            <p:cNvPr id="23635" name="Rectangle 23"/>
            <p:cNvSpPr>
              <a:spLocks noChangeArrowheads="1"/>
            </p:cNvSpPr>
            <p:nvPr/>
          </p:nvSpPr>
          <p:spPr bwMode="auto">
            <a:xfrm>
              <a:off x="1953" y="3712"/>
              <a:ext cx="301" cy="233"/>
            </a:xfrm>
            <a:prstGeom prst="rect">
              <a:avLst/>
            </a:prstGeom>
            <a:noFill/>
            <a:ln w="9525">
              <a:noFill/>
              <a:miter lim="800000"/>
              <a:headEnd/>
              <a:tailEnd/>
            </a:ln>
          </p:spPr>
          <p:txBody>
            <a:bodyPr lIns="93662" tIns="47625" rIns="93662" bIns="47625">
              <a:spAutoFit/>
            </a:bodyPr>
            <a:lstStyle/>
            <a:p>
              <a:pPr algn="ctr" defTabSz="933450"/>
              <a:r>
                <a:rPr lang="en-US"/>
                <a:t>4</a:t>
              </a:r>
            </a:p>
          </p:txBody>
        </p:sp>
        <p:sp>
          <p:nvSpPr>
            <p:cNvPr id="23636" name="Rectangle 24"/>
            <p:cNvSpPr>
              <a:spLocks noChangeArrowheads="1"/>
            </p:cNvSpPr>
            <p:nvPr/>
          </p:nvSpPr>
          <p:spPr bwMode="auto">
            <a:xfrm>
              <a:off x="2442" y="3712"/>
              <a:ext cx="423" cy="233"/>
            </a:xfrm>
            <a:prstGeom prst="rect">
              <a:avLst/>
            </a:prstGeom>
            <a:noFill/>
            <a:ln w="9525">
              <a:noFill/>
              <a:miter lim="800000"/>
              <a:headEnd/>
              <a:tailEnd/>
            </a:ln>
          </p:spPr>
          <p:txBody>
            <a:bodyPr lIns="93662" tIns="47625" rIns="93662" bIns="47625">
              <a:spAutoFit/>
            </a:bodyPr>
            <a:lstStyle/>
            <a:p>
              <a:pPr algn="ctr" defTabSz="933450"/>
              <a:r>
                <a:rPr lang="en-US"/>
                <a:t>12</a:t>
              </a:r>
            </a:p>
          </p:txBody>
        </p:sp>
        <p:sp>
          <p:nvSpPr>
            <p:cNvPr id="23637" name="Rectangle 25"/>
            <p:cNvSpPr>
              <a:spLocks noChangeArrowheads="1"/>
            </p:cNvSpPr>
            <p:nvPr/>
          </p:nvSpPr>
          <p:spPr bwMode="auto">
            <a:xfrm>
              <a:off x="2201" y="3712"/>
              <a:ext cx="301" cy="233"/>
            </a:xfrm>
            <a:prstGeom prst="rect">
              <a:avLst/>
            </a:prstGeom>
            <a:noFill/>
            <a:ln w="9525">
              <a:noFill/>
              <a:miter lim="800000"/>
              <a:headEnd/>
              <a:tailEnd/>
            </a:ln>
          </p:spPr>
          <p:txBody>
            <a:bodyPr lIns="93662" tIns="47625" rIns="93662" bIns="47625">
              <a:spAutoFit/>
            </a:bodyPr>
            <a:lstStyle/>
            <a:p>
              <a:pPr algn="ctr" defTabSz="933450"/>
              <a:r>
                <a:rPr lang="en-US"/>
                <a:t>8</a:t>
              </a:r>
            </a:p>
          </p:txBody>
        </p:sp>
        <p:sp>
          <p:nvSpPr>
            <p:cNvPr id="23638" name="Rectangle 26"/>
            <p:cNvSpPr>
              <a:spLocks noChangeArrowheads="1"/>
            </p:cNvSpPr>
            <p:nvPr/>
          </p:nvSpPr>
          <p:spPr bwMode="auto">
            <a:xfrm>
              <a:off x="4498" y="3712"/>
              <a:ext cx="423" cy="233"/>
            </a:xfrm>
            <a:prstGeom prst="rect">
              <a:avLst/>
            </a:prstGeom>
            <a:noFill/>
            <a:ln w="9525">
              <a:noFill/>
              <a:miter lim="800000"/>
              <a:headEnd/>
              <a:tailEnd/>
            </a:ln>
          </p:spPr>
          <p:txBody>
            <a:bodyPr lIns="93662" tIns="47625" rIns="93662" bIns="47625">
              <a:spAutoFit/>
            </a:bodyPr>
            <a:lstStyle/>
            <a:p>
              <a:pPr algn="ctr" defTabSz="933450"/>
              <a:r>
                <a:rPr lang="en-US"/>
                <a:t>40</a:t>
              </a:r>
            </a:p>
          </p:txBody>
        </p:sp>
        <p:sp>
          <p:nvSpPr>
            <p:cNvPr id="23639" name="Rectangle 27"/>
            <p:cNvSpPr>
              <a:spLocks noChangeArrowheads="1"/>
            </p:cNvSpPr>
            <p:nvPr/>
          </p:nvSpPr>
          <p:spPr bwMode="auto">
            <a:xfrm>
              <a:off x="4242" y="3712"/>
              <a:ext cx="423" cy="233"/>
            </a:xfrm>
            <a:prstGeom prst="rect">
              <a:avLst/>
            </a:prstGeom>
            <a:noFill/>
            <a:ln w="9525">
              <a:noFill/>
              <a:miter lim="800000"/>
              <a:headEnd/>
              <a:tailEnd/>
            </a:ln>
          </p:spPr>
          <p:txBody>
            <a:bodyPr lIns="93662" tIns="47625" rIns="93662" bIns="47625">
              <a:spAutoFit/>
            </a:bodyPr>
            <a:lstStyle/>
            <a:p>
              <a:pPr algn="ctr" defTabSz="933450"/>
              <a:r>
                <a:rPr lang="en-US"/>
                <a:t>36</a:t>
              </a:r>
            </a:p>
          </p:txBody>
        </p:sp>
      </p:grpSp>
      <p:grpSp>
        <p:nvGrpSpPr>
          <p:cNvPr id="372764" name="Group 28"/>
          <p:cNvGrpSpPr>
            <a:grpSpLocks/>
          </p:cNvGrpSpPr>
          <p:nvPr/>
        </p:nvGrpSpPr>
        <p:grpSpPr bwMode="auto">
          <a:xfrm>
            <a:off x="2476500" y="1920875"/>
            <a:ext cx="1924050" cy="3916363"/>
            <a:chOff x="1755" y="1210"/>
            <a:chExt cx="1364" cy="2467"/>
          </a:xfrm>
        </p:grpSpPr>
        <p:sp>
          <p:nvSpPr>
            <p:cNvPr id="23611" name="Freeform 29"/>
            <p:cNvSpPr>
              <a:spLocks/>
            </p:cNvSpPr>
            <p:nvPr/>
          </p:nvSpPr>
          <p:spPr bwMode="auto">
            <a:xfrm>
              <a:off x="1821" y="2383"/>
              <a:ext cx="694" cy="199"/>
            </a:xfrm>
            <a:custGeom>
              <a:avLst/>
              <a:gdLst>
                <a:gd name="T0" fmla="*/ 0 w 694"/>
                <a:gd name="T1" fmla="*/ 199 h 199"/>
                <a:gd name="T2" fmla="*/ 113 w 694"/>
                <a:gd name="T3" fmla="*/ 163 h 199"/>
                <a:gd name="T4" fmla="*/ 261 w 694"/>
                <a:gd name="T5" fmla="*/ 120 h 199"/>
                <a:gd name="T6" fmla="*/ 386 w 694"/>
                <a:gd name="T7" fmla="*/ 84 h 199"/>
                <a:gd name="T8" fmla="*/ 694 w 694"/>
                <a:gd name="T9" fmla="*/ 0 h 199"/>
                <a:gd name="T10" fmla="*/ 0 60000 65536"/>
                <a:gd name="T11" fmla="*/ 0 60000 65536"/>
                <a:gd name="T12" fmla="*/ 0 60000 65536"/>
                <a:gd name="T13" fmla="*/ 0 60000 65536"/>
                <a:gd name="T14" fmla="*/ 0 60000 65536"/>
                <a:gd name="T15" fmla="*/ 0 w 694"/>
                <a:gd name="T16" fmla="*/ 0 h 199"/>
                <a:gd name="T17" fmla="*/ 694 w 694"/>
                <a:gd name="T18" fmla="*/ 199 h 199"/>
              </a:gdLst>
              <a:ahLst/>
              <a:cxnLst>
                <a:cxn ang="T10">
                  <a:pos x="T0" y="T1"/>
                </a:cxn>
                <a:cxn ang="T11">
                  <a:pos x="T2" y="T3"/>
                </a:cxn>
                <a:cxn ang="T12">
                  <a:pos x="T4" y="T5"/>
                </a:cxn>
                <a:cxn ang="T13">
                  <a:pos x="T6" y="T7"/>
                </a:cxn>
                <a:cxn ang="T14">
                  <a:pos x="T8" y="T9"/>
                </a:cxn>
              </a:cxnLst>
              <a:rect l="T15" t="T16" r="T17" b="T18"/>
              <a:pathLst>
                <a:path w="694" h="199">
                  <a:moveTo>
                    <a:pt x="0" y="199"/>
                  </a:moveTo>
                  <a:lnTo>
                    <a:pt x="113" y="163"/>
                  </a:lnTo>
                  <a:lnTo>
                    <a:pt x="261" y="120"/>
                  </a:lnTo>
                  <a:lnTo>
                    <a:pt x="386" y="84"/>
                  </a:lnTo>
                  <a:lnTo>
                    <a:pt x="694" y="0"/>
                  </a:lnTo>
                </a:path>
              </a:pathLst>
            </a:custGeom>
            <a:noFill/>
            <a:ln w="25400" cap="rnd" cmpd="sng">
              <a:solidFill>
                <a:srgbClr val="FE9B03"/>
              </a:solidFill>
              <a:prstDash val="solid"/>
              <a:round/>
              <a:headEnd type="none" w="med" len="med"/>
              <a:tailEnd type="none" w="med" len="med"/>
            </a:ln>
          </p:spPr>
          <p:txBody>
            <a:bodyPr/>
            <a:lstStyle/>
            <a:p>
              <a:endParaRPr lang="en-US"/>
            </a:p>
          </p:txBody>
        </p:sp>
        <p:sp>
          <p:nvSpPr>
            <p:cNvPr id="23612" name="Freeform 30"/>
            <p:cNvSpPr>
              <a:spLocks/>
            </p:cNvSpPr>
            <p:nvPr/>
          </p:nvSpPr>
          <p:spPr bwMode="auto">
            <a:xfrm>
              <a:off x="1821" y="1397"/>
              <a:ext cx="687" cy="325"/>
            </a:xfrm>
            <a:custGeom>
              <a:avLst/>
              <a:gdLst>
                <a:gd name="T0" fmla="*/ 0 w 687"/>
                <a:gd name="T1" fmla="*/ 325 h 325"/>
                <a:gd name="T2" fmla="*/ 279 w 687"/>
                <a:gd name="T3" fmla="*/ 176 h 325"/>
                <a:gd name="T4" fmla="*/ 430 w 687"/>
                <a:gd name="T5" fmla="*/ 86 h 325"/>
                <a:gd name="T6" fmla="*/ 562 w 687"/>
                <a:gd name="T7" fmla="*/ 21 h 325"/>
                <a:gd name="T8" fmla="*/ 687 w 687"/>
                <a:gd name="T9" fmla="*/ 0 h 325"/>
                <a:gd name="T10" fmla="*/ 687 w 687"/>
                <a:gd name="T11" fmla="*/ 0 h 325"/>
                <a:gd name="T12" fmla="*/ 0 60000 65536"/>
                <a:gd name="T13" fmla="*/ 0 60000 65536"/>
                <a:gd name="T14" fmla="*/ 0 60000 65536"/>
                <a:gd name="T15" fmla="*/ 0 60000 65536"/>
                <a:gd name="T16" fmla="*/ 0 60000 65536"/>
                <a:gd name="T17" fmla="*/ 0 60000 65536"/>
                <a:gd name="T18" fmla="*/ 0 w 687"/>
                <a:gd name="T19" fmla="*/ 0 h 325"/>
                <a:gd name="T20" fmla="*/ 687 w 687"/>
                <a:gd name="T21" fmla="*/ 325 h 325"/>
              </a:gdLst>
              <a:ahLst/>
              <a:cxnLst>
                <a:cxn ang="T12">
                  <a:pos x="T0" y="T1"/>
                </a:cxn>
                <a:cxn ang="T13">
                  <a:pos x="T2" y="T3"/>
                </a:cxn>
                <a:cxn ang="T14">
                  <a:pos x="T4" y="T5"/>
                </a:cxn>
                <a:cxn ang="T15">
                  <a:pos x="T6" y="T7"/>
                </a:cxn>
                <a:cxn ang="T16">
                  <a:pos x="T8" y="T9"/>
                </a:cxn>
                <a:cxn ang="T17">
                  <a:pos x="T10" y="T11"/>
                </a:cxn>
              </a:cxnLst>
              <a:rect l="T18" t="T19" r="T20" b="T21"/>
              <a:pathLst>
                <a:path w="687" h="325">
                  <a:moveTo>
                    <a:pt x="0" y="325"/>
                  </a:moveTo>
                  <a:lnTo>
                    <a:pt x="279" y="176"/>
                  </a:lnTo>
                  <a:lnTo>
                    <a:pt x="430" y="86"/>
                  </a:lnTo>
                  <a:lnTo>
                    <a:pt x="562" y="21"/>
                  </a:lnTo>
                  <a:lnTo>
                    <a:pt x="687" y="0"/>
                  </a:lnTo>
                </a:path>
              </a:pathLst>
            </a:custGeom>
            <a:noFill/>
            <a:ln w="25400" cap="rnd" cmpd="sng">
              <a:solidFill>
                <a:srgbClr val="FE9B03"/>
              </a:solidFill>
              <a:prstDash val="solid"/>
              <a:round/>
              <a:headEnd type="none" w="med" len="med"/>
              <a:tailEnd type="none" w="med" len="med"/>
            </a:ln>
          </p:spPr>
          <p:txBody>
            <a:bodyPr/>
            <a:lstStyle/>
            <a:p>
              <a:endParaRPr lang="en-US"/>
            </a:p>
          </p:txBody>
        </p:sp>
        <p:sp>
          <p:nvSpPr>
            <p:cNvPr id="23613" name="Rectangle 31"/>
            <p:cNvSpPr>
              <a:spLocks noChangeArrowheads="1"/>
            </p:cNvSpPr>
            <p:nvPr/>
          </p:nvSpPr>
          <p:spPr bwMode="auto">
            <a:xfrm>
              <a:off x="1755" y="3212"/>
              <a:ext cx="925" cy="340"/>
            </a:xfrm>
            <a:prstGeom prst="rect">
              <a:avLst/>
            </a:prstGeom>
            <a:noFill/>
            <a:ln w="9525">
              <a:noFill/>
              <a:miter lim="800000"/>
              <a:headEnd/>
              <a:tailEnd/>
            </a:ln>
          </p:spPr>
          <p:txBody>
            <a:bodyPr wrap="none" lIns="93662" tIns="47625" rIns="93662" bIns="47625">
              <a:spAutoFit/>
            </a:bodyPr>
            <a:lstStyle/>
            <a:p>
              <a:pPr algn="ctr" defTabSz="933450">
                <a:lnSpc>
                  <a:spcPct val="90000"/>
                </a:lnSpc>
              </a:pPr>
              <a:r>
                <a:rPr lang="en-US" sz="1600"/>
                <a:t>Body weight</a:t>
              </a:r>
            </a:p>
            <a:p>
              <a:pPr algn="ctr" defTabSz="933450">
                <a:lnSpc>
                  <a:spcPct val="90000"/>
                </a:lnSpc>
              </a:pPr>
              <a:r>
                <a:rPr lang="en-US" sz="1600"/>
                <a:t>loss</a:t>
              </a:r>
            </a:p>
          </p:txBody>
        </p:sp>
        <p:sp>
          <p:nvSpPr>
            <p:cNvPr id="23614" name="Freeform 32"/>
            <p:cNvSpPr>
              <a:spLocks/>
            </p:cNvSpPr>
            <p:nvPr/>
          </p:nvSpPr>
          <p:spPr bwMode="auto">
            <a:xfrm>
              <a:off x="1816" y="3413"/>
              <a:ext cx="697" cy="264"/>
            </a:xfrm>
            <a:custGeom>
              <a:avLst/>
              <a:gdLst>
                <a:gd name="T0" fmla="*/ 0 w 630"/>
                <a:gd name="T1" fmla="*/ 0 h 257"/>
                <a:gd name="T2" fmla="*/ 93 w 630"/>
                <a:gd name="T3" fmla="*/ 51 h 257"/>
                <a:gd name="T4" fmla="*/ 166 w 630"/>
                <a:gd name="T5" fmla="*/ 105 h 257"/>
                <a:gd name="T6" fmla="*/ 253 w 630"/>
                <a:gd name="T7" fmla="*/ 156 h 257"/>
                <a:gd name="T8" fmla="*/ 346 w 630"/>
                <a:gd name="T9" fmla="*/ 191 h 257"/>
                <a:gd name="T10" fmla="*/ 476 w 630"/>
                <a:gd name="T11" fmla="*/ 237 h 257"/>
                <a:gd name="T12" fmla="*/ 591 w 630"/>
                <a:gd name="T13" fmla="*/ 255 h 257"/>
                <a:gd name="T14" fmla="*/ 737 w 630"/>
                <a:gd name="T15" fmla="*/ 267 h 257"/>
                <a:gd name="T16" fmla="*/ 852 w 630"/>
                <a:gd name="T17" fmla="*/ 277 h 2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30"/>
                <a:gd name="T28" fmla="*/ 0 h 257"/>
                <a:gd name="T29" fmla="*/ 630 w 630"/>
                <a:gd name="T30" fmla="*/ 257 h 25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30" h="257">
                  <a:moveTo>
                    <a:pt x="0" y="0"/>
                  </a:moveTo>
                  <a:lnTo>
                    <a:pt x="69" y="48"/>
                  </a:lnTo>
                  <a:lnTo>
                    <a:pt x="123" y="96"/>
                  </a:lnTo>
                  <a:lnTo>
                    <a:pt x="187" y="144"/>
                  </a:lnTo>
                  <a:lnTo>
                    <a:pt x="256" y="176"/>
                  </a:lnTo>
                  <a:lnTo>
                    <a:pt x="352" y="219"/>
                  </a:lnTo>
                  <a:lnTo>
                    <a:pt x="437" y="235"/>
                  </a:lnTo>
                  <a:lnTo>
                    <a:pt x="544" y="246"/>
                  </a:lnTo>
                  <a:lnTo>
                    <a:pt x="629" y="256"/>
                  </a:lnTo>
                </a:path>
              </a:pathLst>
            </a:custGeom>
            <a:noFill/>
            <a:ln w="25400" cap="rnd" cmpd="sng">
              <a:solidFill>
                <a:srgbClr val="FE9B03"/>
              </a:solidFill>
              <a:prstDash val="solid"/>
              <a:round/>
              <a:headEnd type="none" w="med" len="med"/>
              <a:tailEnd type="none" w="med" len="med"/>
            </a:ln>
          </p:spPr>
          <p:txBody>
            <a:bodyPr/>
            <a:lstStyle/>
            <a:p>
              <a:endParaRPr lang="en-US"/>
            </a:p>
          </p:txBody>
        </p:sp>
        <p:sp>
          <p:nvSpPr>
            <p:cNvPr id="23615" name="Rectangle 33"/>
            <p:cNvSpPr>
              <a:spLocks noChangeArrowheads="1"/>
            </p:cNvSpPr>
            <p:nvPr/>
          </p:nvSpPr>
          <p:spPr bwMode="auto">
            <a:xfrm>
              <a:off x="1935" y="1210"/>
              <a:ext cx="1184" cy="216"/>
            </a:xfrm>
            <a:prstGeom prst="rect">
              <a:avLst/>
            </a:prstGeom>
            <a:noFill/>
            <a:ln w="9525">
              <a:noFill/>
              <a:miter lim="800000"/>
              <a:headEnd/>
              <a:tailEnd/>
            </a:ln>
          </p:spPr>
          <p:txBody>
            <a:bodyPr wrap="none" lIns="93662" tIns="47625" rIns="93662" bIns="47625">
              <a:spAutoFit/>
            </a:bodyPr>
            <a:lstStyle/>
            <a:p>
              <a:pPr defTabSz="933450"/>
              <a:r>
                <a:rPr lang="en-US" sz="1600"/>
                <a:t>Production peak</a:t>
              </a:r>
            </a:p>
          </p:txBody>
        </p:sp>
      </p:grpSp>
      <p:grpSp>
        <p:nvGrpSpPr>
          <p:cNvPr id="372770" name="Group 34"/>
          <p:cNvGrpSpPr>
            <a:grpSpLocks/>
          </p:cNvGrpSpPr>
          <p:nvPr/>
        </p:nvGrpSpPr>
        <p:grpSpPr bwMode="auto">
          <a:xfrm>
            <a:off x="325438" y="887413"/>
            <a:ext cx="8223250" cy="830262"/>
            <a:chOff x="231" y="559"/>
            <a:chExt cx="5827" cy="523"/>
          </a:xfrm>
        </p:grpSpPr>
        <p:sp>
          <p:nvSpPr>
            <p:cNvPr id="23596" name="Rectangle 35"/>
            <p:cNvSpPr>
              <a:spLocks noChangeArrowheads="1"/>
            </p:cNvSpPr>
            <p:nvPr/>
          </p:nvSpPr>
          <p:spPr bwMode="auto">
            <a:xfrm>
              <a:off x="560" y="559"/>
              <a:ext cx="4805" cy="244"/>
            </a:xfrm>
            <a:prstGeom prst="rect">
              <a:avLst/>
            </a:prstGeom>
            <a:noFill/>
            <a:ln w="9525">
              <a:noFill/>
              <a:miter lim="800000"/>
              <a:headEnd/>
              <a:tailEnd/>
            </a:ln>
          </p:spPr>
          <p:txBody>
            <a:bodyPr wrap="none" anchor="ctr"/>
            <a:lstStyle/>
            <a:p>
              <a:endParaRPr lang="en-NZ">
                <a:latin typeface="Calibri" pitchFamily="34" charset="0"/>
              </a:endParaRPr>
            </a:p>
          </p:txBody>
        </p:sp>
        <p:sp>
          <p:nvSpPr>
            <p:cNvPr id="23597" name="Rectangle 36"/>
            <p:cNvSpPr>
              <a:spLocks noChangeArrowheads="1"/>
            </p:cNvSpPr>
            <p:nvPr/>
          </p:nvSpPr>
          <p:spPr bwMode="auto">
            <a:xfrm>
              <a:off x="3274" y="622"/>
              <a:ext cx="1415" cy="235"/>
            </a:xfrm>
            <a:prstGeom prst="rect">
              <a:avLst/>
            </a:prstGeom>
            <a:noFill/>
            <a:ln w="9525">
              <a:noFill/>
              <a:miter lim="800000"/>
              <a:headEnd/>
              <a:tailEnd/>
            </a:ln>
          </p:spPr>
          <p:txBody>
            <a:bodyPr wrap="none" lIns="93662" tIns="47625" rIns="93662" bIns="47625">
              <a:spAutoFit/>
            </a:bodyPr>
            <a:lstStyle/>
            <a:p>
              <a:pPr algn="ctr" defTabSz="933450"/>
              <a:r>
                <a:rPr lang="en-US">
                  <a:solidFill>
                    <a:srgbClr val="FAFD00"/>
                  </a:solidFill>
                </a:rPr>
                <a:t>Mid- late lactation</a:t>
              </a:r>
            </a:p>
          </p:txBody>
        </p:sp>
        <p:sp>
          <p:nvSpPr>
            <p:cNvPr id="23598" name="Rectangle 37"/>
            <p:cNvSpPr>
              <a:spLocks noChangeArrowheads="1"/>
            </p:cNvSpPr>
            <p:nvPr/>
          </p:nvSpPr>
          <p:spPr bwMode="auto">
            <a:xfrm>
              <a:off x="1871" y="622"/>
              <a:ext cx="1161" cy="235"/>
            </a:xfrm>
            <a:prstGeom prst="rect">
              <a:avLst/>
            </a:prstGeom>
            <a:noFill/>
            <a:ln w="9525">
              <a:noFill/>
              <a:miter lim="800000"/>
              <a:headEnd/>
              <a:tailEnd/>
            </a:ln>
          </p:spPr>
          <p:txBody>
            <a:bodyPr wrap="none" lIns="93662" tIns="47625" rIns="93662" bIns="47625">
              <a:spAutoFit/>
            </a:bodyPr>
            <a:lstStyle/>
            <a:p>
              <a:pPr algn="ctr" defTabSz="933450"/>
              <a:r>
                <a:rPr lang="en-US">
                  <a:solidFill>
                    <a:srgbClr val="FE9B03"/>
                  </a:solidFill>
                </a:rPr>
                <a:t>Early lactation</a:t>
              </a:r>
            </a:p>
          </p:txBody>
        </p:sp>
        <p:sp>
          <p:nvSpPr>
            <p:cNvPr id="23599" name="Rectangle 38"/>
            <p:cNvSpPr>
              <a:spLocks noChangeArrowheads="1"/>
            </p:cNvSpPr>
            <p:nvPr/>
          </p:nvSpPr>
          <p:spPr bwMode="auto">
            <a:xfrm>
              <a:off x="4860" y="614"/>
              <a:ext cx="974" cy="233"/>
            </a:xfrm>
            <a:prstGeom prst="rect">
              <a:avLst/>
            </a:prstGeom>
            <a:noFill/>
            <a:ln w="9525">
              <a:noFill/>
              <a:miter lim="800000"/>
              <a:headEnd/>
              <a:tailEnd/>
            </a:ln>
          </p:spPr>
          <p:txBody>
            <a:bodyPr lIns="93662" tIns="47625" rIns="93662" bIns="47625">
              <a:spAutoFit/>
            </a:bodyPr>
            <a:lstStyle/>
            <a:p>
              <a:pPr defTabSz="933450"/>
              <a:r>
                <a:rPr lang="en-US">
                  <a:solidFill>
                    <a:srgbClr val="51DC00"/>
                  </a:solidFill>
                </a:rPr>
                <a:t>Dry period</a:t>
              </a:r>
            </a:p>
          </p:txBody>
        </p:sp>
        <p:sp>
          <p:nvSpPr>
            <p:cNvPr id="23600" name="Rectangle 39"/>
            <p:cNvSpPr>
              <a:spLocks noChangeArrowheads="1"/>
            </p:cNvSpPr>
            <p:nvPr/>
          </p:nvSpPr>
          <p:spPr bwMode="auto">
            <a:xfrm>
              <a:off x="1833" y="842"/>
              <a:ext cx="779" cy="235"/>
            </a:xfrm>
            <a:prstGeom prst="rect">
              <a:avLst/>
            </a:prstGeom>
            <a:noFill/>
            <a:ln w="9525">
              <a:noFill/>
              <a:miter lim="800000"/>
              <a:headEnd/>
              <a:tailEnd/>
            </a:ln>
          </p:spPr>
          <p:txBody>
            <a:bodyPr wrap="none" lIns="93662" tIns="47625" rIns="93662" bIns="47625">
              <a:spAutoFit/>
            </a:bodyPr>
            <a:lstStyle/>
            <a:p>
              <a:pPr algn="ctr" defTabSz="933450"/>
              <a:r>
                <a:rPr lang="en-US">
                  <a:solidFill>
                    <a:srgbClr val="FE9B03"/>
                  </a:solidFill>
                </a:rPr>
                <a:t>Negative</a:t>
              </a:r>
            </a:p>
          </p:txBody>
        </p:sp>
        <p:sp>
          <p:nvSpPr>
            <p:cNvPr id="23601" name="Rectangle 40"/>
            <p:cNvSpPr>
              <a:spLocks noChangeArrowheads="1"/>
            </p:cNvSpPr>
            <p:nvPr/>
          </p:nvSpPr>
          <p:spPr bwMode="auto">
            <a:xfrm>
              <a:off x="280" y="618"/>
              <a:ext cx="1288" cy="235"/>
            </a:xfrm>
            <a:prstGeom prst="rect">
              <a:avLst/>
            </a:prstGeom>
            <a:noFill/>
            <a:ln w="9525">
              <a:noFill/>
              <a:miter lim="800000"/>
              <a:headEnd/>
              <a:tailEnd/>
            </a:ln>
          </p:spPr>
          <p:txBody>
            <a:bodyPr wrap="none" lIns="93662" tIns="47625" rIns="93662" bIns="47625">
              <a:spAutoFit/>
            </a:bodyPr>
            <a:lstStyle/>
            <a:p>
              <a:pPr algn="r" defTabSz="933450"/>
              <a:r>
                <a:rPr lang="en-US"/>
                <a:t>Lactation phase</a:t>
              </a:r>
            </a:p>
          </p:txBody>
        </p:sp>
        <p:sp>
          <p:nvSpPr>
            <p:cNvPr id="23602" name="Rectangle 41"/>
            <p:cNvSpPr>
              <a:spLocks noChangeArrowheads="1"/>
            </p:cNvSpPr>
            <p:nvPr/>
          </p:nvSpPr>
          <p:spPr bwMode="auto">
            <a:xfrm>
              <a:off x="231" y="847"/>
              <a:ext cx="1270" cy="235"/>
            </a:xfrm>
            <a:prstGeom prst="rect">
              <a:avLst/>
            </a:prstGeom>
            <a:noFill/>
            <a:ln w="9525">
              <a:noFill/>
              <a:miter lim="800000"/>
              <a:headEnd/>
              <a:tailEnd/>
            </a:ln>
          </p:spPr>
          <p:txBody>
            <a:bodyPr wrap="none" lIns="93662" tIns="47625" rIns="93662" bIns="47625">
              <a:spAutoFit/>
            </a:bodyPr>
            <a:lstStyle/>
            <a:p>
              <a:pPr algn="r" defTabSz="933450"/>
              <a:r>
                <a:rPr lang="en-US"/>
                <a:t>Energy balance</a:t>
              </a:r>
            </a:p>
          </p:txBody>
        </p:sp>
        <p:sp>
          <p:nvSpPr>
            <p:cNvPr id="23603" name="Rectangle 42"/>
            <p:cNvSpPr>
              <a:spLocks noChangeArrowheads="1"/>
            </p:cNvSpPr>
            <p:nvPr/>
          </p:nvSpPr>
          <p:spPr bwMode="auto">
            <a:xfrm>
              <a:off x="4852" y="842"/>
              <a:ext cx="1206" cy="235"/>
            </a:xfrm>
            <a:prstGeom prst="rect">
              <a:avLst/>
            </a:prstGeom>
            <a:noFill/>
            <a:ln w="9525">
              <a:noFill/>
              <a:miter lim="800000"/>
              <a:headEnd/>
              <a:tailEnd/>
            </a:ln>
          </p:spPr>
          <p:txBody>
            <a:bodyPr wrap="none" lIns="93662" tIns="47625" rIns="93662" bIns="47625">
              <a:spAutoFit/>
            </a:bodyPr>
            <a:lstStyle/>
            <a:p>
              <a:pPr defTabSz="933450"/>
              <a:r>
                <a:rPr lang="en-US">
                  <a:solidFill>
                    <a:srgbClr val="51DC00"/>
                  </a:solidFill>
                </a:rPr>
                <a:t>Null or positive</a:t>
              </a:r>
            </a:p>
          </p:txBody>
        </p:sp>
        <p:sp>
          <p:nvSpPr>
            <p:cNvPr id="23604" name="Rectangle 43"/>
            <p:cNvSpPr>
              <a:spLocks noChangeArrowheads="1"/>
            </p:cNvSpPr>
            <p:nvPr/>
          </p:nvSpPr>
          <p:spPr bwMode="auto">
            <a:xfrm>
              <a:off x="2640" y="842"/>
              <a:ext cx="416" cy="235"/>
            </a:xfrm>
            <a:prstGeom prst="rect">
              <a:avLst/>
            </a:prstGeom>
            <a:noFill/>
            <a:ln w="9525">
              <a:noFill/>
              <a:miter lim="800000"/>
              <a:headEnd/>
              <a:tailEnd/>
            </a:ln>
          </p:spPr>
          <p:txBody>
            <a:bodyPr wrap="none" lIns="93662" tIns="47625" rIns="93662" bIns="47625">
              <a:spAutoFit/>
            </a:bodyPr>
            <a:lstStyle/>
            <a:p>
              <a:pPr algn="ctr" defTabSz="933450"/>
              <a:r>
                <a:rPr lang="en-US">
                  <a:solidFill>
                    <a:srgbClr val="FE9B03"/>
                  </a:solidFill>
                </a:rPr>
                <a:t>Null</a:t>
              </a:r>
            </a:p>
          </p:txBody>
        </p:sp>
        <p:sp>
          <p:nvSpPr>
            <p:cNvPr id="23605" name="Rectangle 44"/>
            <p:cNvSpPr>
              <a:spLocks noChangeArrowheads="1"/>
            </p:cNvSpPr>
            <p:nvPr/>
          </p:nvSpPr>
          <p:spPr bwMode="auto">
            <a:xfrm>
              <a:off x="3639" y="842"/>
              <a:ext cx="707" cy="235"/>
            </a:xfrm>
            <a:prstGeom prst="rect">
              <a:avLst/>
            </a:prstGeom>
            <a:noFill/>
            <a:ln w="9525">
              <a:noFill/>
              <a:miter lim="800000"/>
              <a:headEnd/>
              <a:tailEnd/>
            </a:ln>
          </p:spPr>
          <p:txBody>
            <a:bodyPr wrap="none" lIns="93662" tIns="47625" rIns="93662" bIns="47625">
              <a:spAutoFit/>
            </a:bodyPr>
            <a:lstStyle/>
            <a:p>
              <a:pPr algn="ctr" defTabSz="933450"/>
              <a:r>
                <a:rPr lang="en-US">
                  <a:solidFill>
                    <a:srgbClr val="FAFD00"/>
                  </a:solidFill>
                </a:rPr>
                <a:t>Positive</a:t>
              </a:r>
            </a:p>
          </p:txBody>
        </p:sp>
        <p:sp>
          <p:nvSpPr>
            <p:cNvPr id="23606" name="Line 45"/>
            <p:cNvSpPr>
              <a:spLocks noChangeShapeType="1"/>
            </p:cNvSpPr>
            <p:nvPr/>
          </p:nvSpPr>
          <p:spPr bwMode="auto">
            <a:xfrm>
              <a:off x="1807" y="696"/>
              <a:ext cx="0" cy="336"/>
            </a:xfrm>
            <a:prstGeom prst="line">
              <a:avLst/>
            </a:prstGeom>
            <a:noFill/>
            <a:ln w="25400">
              <a:solidFill>
                <a:srgbClr val="FFFFFF"/>
              </a:solidFill>
              <a:round/>
              <a:headEnd/>
              <a:tailEnd/>
            </a:ln>
          </p:spPr>
          <p:txBody>
            <a:bodyPr wrap="none" anchor="ctr"/>
            <a:lstStyle/>
            <a:p>
              <a:endParaRPr lang="en-US"/>
            </a:p>
          </p:txBody>
        </p:sp>
        <p:sp>
          <p:nvSpPr>
            <p:cNvPr id="23607" name="Line 46"/>
            <p:cNvSpPr>
              <a:spLocks noChangeShapeType="1"/>
            </p:cNvSpPr>
            <p:nvPr/>
          </p:nvSpPr>
          <p:spPr bwMode="auto">
            <a:xfrm>
              <a:off x="2958" y="660"/>
              <a:ext cx="0" cy="354"/>
            </a:xfrm>
            <a:prstGeom prst="line">
              <a:avLst/>
            </a:prstGeom>
            <a:noFill/>
            <a:ln w="12700">
              <a:solidFill>
                <a:srgbClr val="FFFFFF"/>
              </a:solidFill>
              <a:prstDash val="sysDot"/>
              <a:round/>
              <a:headEnd/>
              <a:tailEnd/>
            </a:ln>
          </p:spPr>
          <p:txBody>
            <a:bodyPr wrap="none" anchor="ctr"/>
            <a:lstStyle/>
            <a:p>
              <a:endParaRPr lang="en-US"/>
            </a:p>
          </p:txBody>
        </p:sp>
        <p:sp>
          <p:nvSpPr>
            <p:cNvPr id="23608" name="Line 47"/>
            <p:cNvSpPr>
              <a:spLocks noChangeShapeType="1"/>
            </p:cNvSpPr>
            <p:nvPr/>
          </p:nvSpPr>
          <p:spPr bwMode="auto">
            <a:xfrm>
              <a:off x="4878" y="670"/>
              <a:ext cx="0" cy="343"/>
            </a:xfrm>
            <a:prstGeom prst="line">
              <a:avLst/>
            </a:prstGeom>
            <a:noFill/>
            <a:ln w="12700">
              <a:solidFill>
                <a:srgbClr val="FFFFFF"/>
              </a:solidFill>
              <a:prstDash val="sysDot"/>
              <a:round/>
              <a:headEnd/>
              <a:tailEnd/>
            </a:ln>
          </p:spPr>
          <p:txBody>
            <a:bodyPr wrap="none" anchor="ctr"/>
            <a:lstStyle/>
            <a:p>
              <a:endParaRPr lang="en-US"/>
            </a:p>
          </p:txBody>
        </p:sp>
        <p:sp>
          <p:nvSpPr>
            <p:cNvPr id="23609" name="Line 48"/>
            <p:cNvSpPr>
              <a:spLocks noChangeShapeType="1"/>
            </p:cNvSpPr>
            <p:nvPr/>
          </p:nvSpPr>
          <p:spPr bwMode="auto">
            <a:xfrm flipH="1">
              <a:off x="1812" y="1037"/>
              <a:ext cx="3701" cy="0"/>
            </a:xfrm>
            <a:prstGeom prst="line">
              <a:avLst/>
            </a:prstGeom>
            <a:noFill/>
            <a:ln w="12700">
              <a:solidFill>
                <a:srgbClr val="FFFFFF"/>
              </a:solidFill>
              <a:prstDash val="sysDot"/>
              <a:round/>
              <a:headEnd/>
              <a:tailEnd/>
            </a:ln>
          </p:spPr>
          <p:txBody>
            <a:bodyPr wrap="none" anchor="ctr"/>
            <a:lstStyle/>
            <a:p>
              <a:endParaRPr lang="en-US"/>
            </a:p>
          </p:txBody>
        </p:sp>
        <p:sp>
          <p:nvSpPr>
            <p:cNvPr id="23610" name="Line 49"/>
            <p:cNvSpPr>
              <a:spLocks noChangeShapeType="1"/>
            </p:cNvSpPr>
            <p:nvPr/>
          </p:nvSpPr>
          <p:spPr bwMode="auto">
            <a:xfrm flipH="1">
              <a:off x="1812" y="834"/>
              <a:ext cx="3701" cy="0"/>
            </a:xfrm>
            <a:prstGeom prst="line">
              <a:avLst/>
            </a:prstGeom>
            <a:noFill/>
            <a:ln w="12700">
              <a:solidFill>
                <a:srgbClr val="FFFFFF"/>
              </a:solidFill>
              <a:prstDash val="sysDot"/>
              <a:round/>
              <a:headEnd/>
              <a:tailEnd/>
            </a:ln>
          </p:spPr>
          <p:txBody>
            <a:bodyPr wrap="none" anchor="ctr"/>
            <a:lstStyle/>
            <a:p>
              <a:endParaRPr lang="en-US"/>
            </a:p>
          </p:txBody>
        </p:sp>
      </p:grpSp>
      <p:grpSp>
        <p:nvGrpSpPr>
          <p:cNvPr id="372786" name="Group 50"/>
          <p:cNvGrpSpPr>
            <a:grpSpLocks/>
          </p:cNvGrpSpPr>
          <p:nvPr/>
        </p:nvGrpSpPr>
        <p:grpSpPr bwMode="auto">
          <a:xfrm>
            <a:off x="3413125" y="1801813"/>
            <a:ext cx="1498600" cy="4965700"/>
            <a:chOff x="2419" y="1135"/>
            <a:chExt cx="1062" cy="3128"/>
          </a:xfrm>
        </p:grpSpPr>
        <p:sp>
          <p:nvSpPr>
            <p:cNvPr id="23582" name="Freeform 51"/>
            <p:cNvSpPr>
              <a:spLocks/>
            </p:cNvSpPr>
            <p:nvPr/>
          </p:nvSpPr>
          <p:spPr bwMode="auto">
            <a:xfrm>
              <a:off x="2520" y="2309"/>
              <a:ext cx="451" cy="74"/>
            </a:xfrm>
            <a:custGeom>
              <a:avLst/>
              <a:gdLst>
                <a:gd name="T0" fmla="*/ 0 w 451"/>
                <a:gd name="T1" fmla="*/ 74 h 74"/>
                <a:gd name="T2" fmla="*/ 202 w 451"/>
                <a:gd name="T3" fmla="*/ 36 h 74"/>
                <a:gd name="T4" fmla="*/ 352 w 451"/>
                <a:gd name="T5" fmla="*/ 14 h 74"/>
                <a:gd name="T6" fmla="*/ 451 w 451"/>
                <a:gd name="T7" fmla="*/ 0 h 74"/>
                <a:gd name="T8" fmla="*/ 0 60000 65536"/>
                <a:gd name="T9" fmla="*/ 0 60000 65536"/>
                <a:gd name="T10" fmla="*/ 0 60000 65536"/>
                <a:gd name="T11" fmla="*/ 0 60000 65536"/>
                <a:gd name="T12" fmla="*/ 0 w 451"/>
                <a:gd name="T13" fmla="*/ 0 h 74"/>
                <a:gd name="T14" fmla="*/ 451 w 451"/>
                <a:gd name="T15" fmla="*/ 74 h 74"/>
              </a:gdLst>
              <a:ahLst/>
              <a:cxnLst>
                <a:cxn ang="T8">
                  <a:pos x="T0" y="T1"/>
                </a:cxn>
                <a:cxn ang="T9">
                  <a:pos x="T2" y="T3"/>
                </a:cxn>
                <a:cxn ang="T10">
                  <a:pos x="T4" y="T5"/>
                </a:cxn>
                <a:cxn ang="T11">
                  <a:pos x="T6" y="T7"/>
                </a:cxn>
              </a:cxnLst>
              <a:rect l="T12" t="T13" r="T14" b="T15"/>
              <a:pathLst>
                <a:path w="451" h="74">
                  <a:moveTo>
                    <a:pt x="0" y="74"/>
                  </a:moveTo>
                  <a:lnTo>
                    <a:pt x="202" y="36"/>
                  </a:lnTo>
                  <a:lnTo>
                    <a:pt x="352" y="14"/>
                  </a:lnTo>
                  <a:lnTo>
                    <a:pt x="451" y="0"/>
                  </a:lnTo>
                </a:path>
              </a:pathLst>
            </a:custGeom>
            <a:noFill/>
            <a:ln w="25400" cap="rnd" cmpd="sng">
              <a:solidFill>
                <a:srgbClr val="FE9B03"/>
              </a:solidFill>
              <a:prstDash val="solid"/>
              <a:round/>
              <a:headEnd type="none" w="med" len="med"/>
              <a:tailEnd type="none" w="med" len="med"/>
            </a:ln>
          </p:spPr>
          <p:txBody>
            <a:bodyPr/>
            <a:lstStyle/>
            <a:p>
              <a:endParaRPr lang="en-US"/>
            </a:p>
          </p:txBody>
        </p:sp>
        <p:sp>
          <p:nvSpPr>
            <p:cNvPr id="23583" name="Freeform 52"/>
            <p:cNvSpPr>
              <a:spLocks/>
            </p:cNvSpPr>
            <p:nvPr/>
          </p:nvSpPr>
          <p:spPr bwMode="auto">
            <a:xfrm>
              <a:off x="2520" y="3633"/>
              <a:ext cx="443" cy="47"/>
            </a:xfrm>
            <a:custGeom>
              <a:avLst/>
              <a:gdLst>
                <a:gd name="T0" fmla="*/ 0 w 443"/>
                <a:gd name="T1" fmla="*/ 40 h 46"/>
                <a:gd name="T2" fmla="*/ 64 w 443"/>
                <a:gd name="T3" fmla="*/ 49 h 46"/>
                <a:gd name="T4" fmla="*/ 223 w 443"/>
                <a:gd name="T5" fmla="*/ 43 h 46"/>
                <a:gd name="T6" fmla="*/ 443 w 443"/>
                <a:gd name="T7" fmla="*/ 0 h 46"/>
                <a:gd name="T8" fmla="*/ 0 60000 65536"/>
                <a:gd name="T9" fmla="*/ 0 60000 65536"/>
                <a:gd name="T10" fmla="*/ 0 60000 65536"/>
                <a:gd name="T11" fmla="*/ 0 60000 65536"/>
                <a:gd name="T12" fmla="*/ 0 w 443"/>
                <a:gd name="T13" fmla="*/ 0 h 46"/>
                <a:gd name="T14" fmla="*/ 443 w 443"/>
                <a:gd name="T15" fmla="*/ 46 h 46"/>
              </a:gdLst>
              <a:ahLst/>
              <a:cxnLst>
                <a:cxn ang="T8">
                  <a:pos x="T0" y="T1"/>
                </a:cxn>
                <a:cxn ang="T9">
                  <a:pos x="T2" y="T3"/>
                </a:cxn>
                <a:cxn ang="T10">
                  <a:pos x="T4" y="T5"/>
                </a:cxn>
                <a:cxn ang="T11">
                  <a:pos x="T6" y="T7"/>
                </a:cxn>
              </a:cxnLst>
              <a:rect l="T12" t="T13" r="T14" b="T15"/>
              <a:pathLst>
                <a:path w="443" h="46">
                  <a:moveTo>
                    <a:pt x="0" y="37"/>
                  </a:moveTo>
                  <a:lnTo>
                    <a:pt x="64" y="46"/>
                  </a:lnTo>
                  <a:lnTo>
                    <a:pt x="223" y="40"/>
                  </a:lnTo>
                  <a:lnTo>
                    <a:pt x="443" y="0"/>
                  </a:lnTo>
                </a:path>
              </a:pathLst>
            </a:custGeom>
            <a:noFill/>
            <a:ln w="25400" cap="rnd" cmpd="sng">
              <a:solidFill>
                <a:srgbClr val="FE9B03"/>
              </a:solidFill>
              <a:prstDash val="solid"/>
              <a:round/>
              <a:headEnd type="none" w="med" len="med"/>
              <a:tailEnd type="none" w="med" len="med"/>
            </a:ln>
          </p:spPr>
          <p:txBody>
            <a:bodyPr/>
            <a:lstStyle/>
            <a:p>
              <a:endParaRPr lang="en-US"/>
            </a:p>
          </p:txBody>
        </p:sp>
        <p:grpSp>
          <p:nvGrpSpPr>
            <p:cNvPr id="23584" name="Group 53"/>
            <p:cNvGrpSpPr>
              <a:grpSpLocks/>
            </p:cNvGrpSpPr>
            <p:nvPr/>
          </p:nvGrpSpPr>
          <p:grpSpPr bwMode="auto">
            <a:xfrm>
              <a:off x="2419" y="1135"/>
              <a:ext cx="1062" cy="3128"/>
              <a:chOff x="2419" y="1135"/>
              <a:chExt cx="1062" cy="3128"/>
            </a:xfrm>
          </p:grpSpPr>
          <p:sp>
            <p:nvSpPr>
              <p:cNvPr id="23585" name="Freeform 54"/>
              <p:cNvSpPr>
                <a:spLocks/>
              </p:cNvSpPr>
              <p:nvPr/>
            </p:nvSpPr>
            <p:spPr bwMode="auto">
              <a:xfrm>
                <a:off x="2521" y="1398"/>
                <a:ext cx="436" cy="28"/>
              </a:xfrm>
              <a:custGeom>
                <a:avLst/>
                <a:gdLst>
                  <a:gd name="T0" fmla="*/ 0 w 436"/>
                  <a:gd name="T1" fmla="*/ 0 h 28"/>
                  <a:gd name="T2" fmla="*/ 188 w 436"/>
                  <a:gd name="T3" fmla="*/ 0 h 28"/>
                  <a:gd name="T4" fmla="*/ 300 w 436"/>
                  <a:gd name="T5" fmla="*/ 9 h 28"/>
                  <a:gd name="T6" fmla="*/ 436 w 436"/>
                  <a:gd name="T7" fmla="*/ 28 h 28"/>
                  <a:gd name="T8" fmla="*/ 0 60000 65536"/>
                  <a:gd name="T9" fmla="*/ 0 60000 65536"/>
                  <a:gd name="T10" fmla="*/ 0 60000 65536"/>
                  <a:gd name="T11" fmla="*/ 0 60000 65536"/>
                  <a:gd name="T12" fmla="*/ 0 w 436"/>
                  <a:gd name="T13" fmla="*/ 0 h 28"/>
                  <a:gd name="T14" fmla="*/ 436 w 436"/>
                  <a:gd name="T15" fmla="*/ 28 h 28"/>
                </a:gdLst>
                <a:ahLst/>
                <a:cxnLst>
                  <a:cxn ang="T8">
                    <a:pos x="T0" y="T1"/>
                  </a:cxn>
                  <a:cxn ang="T9">
                    <a:pos x="T2" y="T3"/>
                  </a:cxn>
                  <a:cxn ang="T10">
                    <a:pos x="T4" y="T5"/>
                  </a:cxn>
                  <a:cxn ang="T11">
                    <a:pos x="T6" y="T7"/>
                  </a:cxn>
                </a:cxnLst>
                <a:rect l="T12" t="T13" r="T14" b="T15"/>
                <a:pathLst>
                  <a:path w="436" h="28">
                    <a:moveTo>
                      <a:pt x="0" y="0"/>
                    </a:moveTo>
                    <a:lnTo>
                      <a:pt x="188" y="0"/>
                    </a:lnTo>
                    <a:lnTo>
                      <a:pt x="300" y="9"/>
                    </a:lnTo>
                    <a:lnTo>
                      <a:pt x="436" y="28"/>
                    </a:lnTo>
                  </a:path>
                </a:pathLst>
              </a:custGeom>
              <a:noFill/>
              <a:ln w="25400" cap="rnd" cmpd="sng">
                <a:solidFill>
                  <a:srgbClr val="FE9B03"/>
                </a:solidFill>
                <a:prstDash val="solid"/>
                <a:round/>
                <a:headEnd type="none" w="med" len="med"/>
                <a:tailEnd type="none" w="med" len="med"/>
              </a:ln>
            </p:spPr>
            <p:txBody>
              <a:bodyPr/>
              <a:lstStyle/>
              <a:p>
                <a:endParaRPr lang="en-US"/>
              </a:p>
            </p:txBody>
          </p:sp>
          <p:sp>
            <p:nvSpPr>
              <p:cNvPr id="23586" name="Rectangle 55"/>
              <p:cNvSpPr>
                <a:spLocks noChangeArrowheads="1"/>
              </p:cNvSpPr>
              <p:nvPr/>
            </p:nvSpPr>
            <p:spPr bwMode="auto">
              <a:xfrm>
                <a:off x="2595" y="2074"/>
                <a:ext cx="886" cy="216"/>
              </a:xfrm>
              <a:prstGeom prst="rect">
                <a:avLst/>
              </a:prstGeom>
              <a:noFill/>
              <a:ln w="9525">
                <a:noFill/>
                <a:miter lim="800000"/>
                <a:headEnd/>
                <a:tailEnd/>
              </a:ln>
            </p:spPr>
            <p:txBody>
              <a:bodyPr wrap="none" lIns="93662" tIns="47625" rIns="93662" bIns="47625">
                <a:spAutoFit/>
              </a:bodyPr>
              <a:lstStyle/>
              <a:p>
                <a:pPr defTabSz="933450"/>
                <a:r>
                  <a:rPr lang="en-US" sz="1600"/>
                  <a:t>Intake peak</a:t>
                </a:r>
              </a:p>
            </p:txBody>
          </p:sp>
          <p:sp>
            <p:nvSpPr>
              <p:cNvPr id="23587" name="Line 56"/>
              <p:cNvSpPr>
                <a:spLocks noChangeShapeType="1"/>
              </p:cNvSpPr>
              <p:nvPr/>
            </p:nvSpPr>
            <p:spPr bwMode="auto">
              <a:xfrm>
                <a:off x="2516" y="2101"/>
                <a:ext cx="0" cy="735"/>
              </a:xfrm>
              <a:prstGeom prst="line">
                <a:avLst/>
              </a:prstGeom>
              <a:noFill/>
              <a:ln w="12700">
                <a:solidFill>
                  <a:srgbClr val="FFFFFF"/>
                </a:solidFill>
                <a:prstDash val="sysDot"/>
                <a:round/>
                <a:headEnd/>
                <a:tailEnd/>
              </a:ln>
            </p:spPr>
            <p:txBody>
              <a:bodyPr wrap="none" anchor="ctr"/>
              <a:lstStyle/>
              <a:p>
                <a:endParaRPr lang="en-US"/>
              </a:p>
            </p:txBody>
          </p:sp>
          <p:sp>
            <p:nvSpPr>
              <p:cNvPr id="23588" name="Line 57"/>
              <p:cNvSpPr>
                <a:spLocks noChangeShapeType="1"/>
              </p:cNvSpPr>
              <p:nvPr/>
            </p:nvSpPr>
            <p:spPr bwMode="auto">
              <a:xfrm>
                <a:off x="2958" y="2274"/>
                <a:ext cx="0" cy="562"/>
              </a:xfrm>
              <a:prstGeom prst="line">
                <a:avLst/>
              </a:prstGeom>
              <a:noFill/>
              <a:ln w="12700">
                <a:solidFill>
                  <a:srgbClr val="FFFFFF"/>
                </a:solidFill>
                <a:prstDash val="sysDot"/>
                <a:round/>
                <a:headEnd/>
                <a:tailEnd/>
              </a:ln>
            </p:spPr>
            <p:txBody>
              <a:bodyPr wrap="none" anchor="ctr"/>
              <a:lstStyle/>
              <a:p>
                <a:endParaRPr lang="en-US"/>
              </a:p>
            </p:txBody>
          </p:sp>
          <p:sp>
            <p:nvSpPr>
              <p:cNvPr id="23589" name="Line 58"/>
              <p:cNvSpPr>
                <a:spLocks noChangeShapeType="1"/>
              </p:cNvSpPr>
              <p:nvPr/>
            </p:nvSpPr>
            <p:spPr bwMode="auto">
              <a:xfrm>
                <a:off x="2516" y="1454"/>
                <a:ext cx="0" cy="432"/>
              </a:xfrm>
              <a:prstGeom prst="line">
                <a:avLst/>
              </a:prstGeom>
              <a:noFill/>
              <a:ln w="12700">
                <a:solidFill>
                  <a:srgbClr val="FFFFFF"/>
                </a:solidFill>
                <a:prstDash val="sysDot"/>
                <a:round/>
                <a:headEnd/>
                <a:tailEnd/>
              </a:ln>
            </p:spPr>
            <p:txBody>
              <a:bodyPr wrap="none" anchor="ctr"/>
              <a:lstStyle/>
              <a:p>
                <a:endParaRPr lang="en-US"/>
              </a:p>
            </p:txBody>
          </p:sp>
          <p:sp>
            <p:nvSpPr>
              <p:cNvPr id="23590" name="Line 59"/>
              <p:cNvSpPr>
                <a:spLocks noChangeShapeType="1"/>
              </p:cNvSpPr>
              <p:nvPr/>
            </p:nvSpPr>
            <p:spPr bwMode="auto">
              <a:xfrm>
                <a:off x="2958" y="1151"/>
                <a:ext cx="0" cy="724"/>
              </a:xfrm>
              <a:prstGeom prst="line">
                <a:avLst/>
              </a:prstGeom>
              <a:noFill/>
              <a:ln w="12700">
                <a:solidFill>
                  <a:srgbClr val="FFFFFF"/>
                </a:solidFill>
                <a:prstDash val="sysDot"/>
                <a:round/>
                <a:headEnd/>
                <a:tailEnd/>
              </a:ln>
            </p:spPr>
            <p:txBody>
              <a:bodyPr wrap="none" anchor="ctr"/>
              <a:lstStyle/>
              <a:p>
                <a:endParaRPr lang="en-US"/>
              </a:p>
            </p:txBody>
          </p:sp>
          <p:sp>
            <p:nvSpPr>
              <p:cNvPr id="23591" name="Line 60"/>
              <p:cNvSpPr>
                <a:spLocks noChangeShapeType="1"/>
              </p:cNvSpPr>
              <p:nvPr/>
            </p:nvSpPr>
            <p:spPr bwMode="auto">
              <a:xfrm>
                <a:off x="2516" y="3028"/>
                <a:ext cx="0" cy="696"/>
              </a:xfrm>
              <a:prstGeom prst="line">
                <a:avLst/>
              </a:prstGeom>
              <a:noFill/>
              <a:ln w="12700">
                <a:solidFill>
                  <a:srgbClr val="FFFFFF"/>
                </a:solidFill>
                <a:prstDash val="sysDot"/>
                <a:round/>
                <a:headEnd/>
                <a:tailEnd/>
              </a:ln>
            </p:spPr>
            <p:txBody>
              <a:bodyPr wrap="none" anchor="ctr"/>
              <a:lstStyle/>
              <a:p>
                <a:endParaRPr lang="en-US"/>
              </a:p>
            </p:txBody>
          </p:sp>
          <p:sp>
            <p:nvSpPr>
              <p:cNvPr id="23592" name="Line 61"/>
              <p:cNvSpPr>
                <a:spLocks noChangeShapeType="1"/>
              </p:cNvSpPr>
              <p:nvPr/>
            </p:nvSpPr>
            <p:spPr bwMode="auto">
              <a:xfrm>
                <a:off x="2958" y="3039"/>
                <a:ext cx="0" cy="685"/>
              </a:xfrm>
              <a:prstGeom prst="line">
                <a:avLst/>
              </a:prstGeom>
              <a:noFill/>
              <a:ln w="12700">
                <a:solidFill>
                  <a:srgbClr val="FFFFFF"/>
                </a:solidFill>
                <a:prstDash val="sysDot"/>
                <a:round/>
                <a:headEnd/>
                <a:tailEnd/>
              </a:ln>
            </p:spPr>
            <p:txBody>
              <a:bodyPr wrap="none" anchor="ctr"/>
              <a:lstStyle/>
              <a:p>
                <a:endParaRPr lang="en-US"/>
              </a:p>
            </p:txBody>
          </p:sp>
          <p:sp>
            <p:nvSpPr>
              <p:cNvPr id="23593" name="Line 62"/>
              <p:cNvSpPr>
                <a:spLocks noChangeShapeType="1"/>
              </p:cNvSpPr>
              <p:nvPr/>
            </p:nvSpPr>
            <p:spPr bwMode="auto">
              <a:xfrm>
                <a:off x="2516" y="1135"/>
                <a:ext cx="0" cy="105"/>
              </a:xfrm>
              <a:prstGeom prst="line">
                <a:avLst/>
              </a:prstGeom>
              <a:noFill/>
              <a:ln w="12700">
                <a:solidFill>
                  <a:srgbClr val="FFFFFF"/>
                </a:solidFill>
                <a:prstDash val="sysDot"/>
                <a:round/>
                <a:headEnd/>
                <a:tailEnd/>
              </a:ln>
            </p:spPr>
            <p:txBody>
              <a:bodyPr wrap="none" anchor="ctr"/>
              <a:lstStyle/>
              <a:p>
                <a:endParaRPr lang="en-US"/>
              </a:p>
            </p:txBody>
          </p:sp>
          <p:sp>
            <p:nvSpPr>
              <p:cNvPr id="23594" name="Line 63"/>
              <p:cNvSpPr>
                <a:spLocks noChangeShapeType="1"/>
              </p:cNvSpPr>
              <p:nvPr/>
            </p:nvSpPr>
            <p:spPr bwMode="auto">
              <a:xfrm flipH="1">
                <a:off x="2515" y="4013"/>
                <a:ext cx="435" cy="0"/>
              </a:xfrm>
              <a:prstGeom prst="line">
                <a:avLst/>
              </a:prstGeom>
              <a:noFill/>
              <a:ln w="38100">
                <a:solidFill>
                  <a:schemeClr val="tx1"/>
                </a:solidFill>
                <a:round/>
                <a:headEnd type="triangle" w="med" len="med"/>
                <a:tailEnd type="triangle" w="med" len="med"/>
              </a:ln>
            </p:spPr>
            <p:txBody>
              <a:bodyPr wrap="none" anchor="ctr">
                <a:spAutoFit/>
              </a:bodyPr>
              <a:lstStyle/>
              <a:p>
                <a:endParaRPr lang="en-US"/>
              </a:p>
            </p:txBody>
          </p:sp>
          <p:sp>
            <p:nvSpPr>
              <p:cNvPr id="23595" name="Text Box 64"/>
              <p:cNvSpPr txBox="1">
                <a:spLocks noChangeArrowheads="1"/>
              </p:cNvSpPr>
              <p:nvPr/>
            </p:nvSpPr>
            <p:spPr bwMode="auto">
              <a:xfrm>
                <a:off x="2419" y="4030"/>
                <a:ext cx="666" cy="233"/>
              </a:xfrm>
              <a:prstGeom prst="rect">
                <a:avLst/>
              </a:prstGeom>
              <a:noFill/>
              <a:ln w="9525">
                <a:noFill/>
                <a:miter lim="800000"/>
                <a:headEnd/>
                <a:tailEnd/>
              </a:ln>
            </p:spPr>
            <p:txBody>
              <a:bodyPr wrap="none">
                <a:spAutoFit/>
              </a:bodyPr>
              <a:lstStyle/>
              <a:p>
                <a:r>
                  <a:rPr lang="en-US">
                    <a:latin typeface="Calibri" pitchFamily="34" charset="0"/>
                  </a:rPr>
                  <a:t>6 weeks</a:t>
                </a:r>
              </a:p>
            </p:txBody>
          </p:sp>
        </p:grpSp>
      </p:grpSp>
      <p:grpSp>
        <p:nvGrpSpPr>
          <p:cNvPr id="372801" name="Group 65"/>
          <p:cNvGrpSpPr>
            <a:grpSpLocks/>
          </p:cNvGrpSpPr>
          <p:nvPr/>
        </p:nvGrpSpPr>
        <p:grpSpPr bwMode="auto">
          <a:xfrm>
            <a:off x="6878638" y="4022725"/>
            <a:ext cx="866775" cy="1684338"/>
            <a:chOff x="4875" y="2534"/>
            <a:chExt cx="614" cy="1061"/>
          </a:xfrm>
        </p:grpSpPr>
        <p:sp>
          <p:nvSpPr>
            <p:cNvPr id="23576" name="Freeform 66"/>
            <p:cNvSpPr>
              <a:spLocks/>
            </p:cNvSpPr>
            <p:nvPr/>
          </p:nvSpPr>
          <p:spPr bwMode="auto">
            <a:xfrm>
              <a:off x="4875" y="2534"/>
              <a:ext cx="614" cy="267"/>
            </a:xfrm>
            <a:custGeom>
              <a:avLst/>
              <a:gdLst>
                <a:gd name="T0" fmla="*/ 0 w 617"/>
                <a:gd name="T1" fmla="*/ 0 h 267"/>
                <a:gd name="T2" fmla="*/ 43 w 617"/>
                <a:gd name="T3" fmla="*/ 209 h 267"/>
                <a:gd name="T4" fmla="*/ 215 w 617"/>
                <a:gd name="T5" fmla="*/ 228 h 267"/>
                <a:gd name="T6" fmla="*/ 301 w 617"/>
                <a:gd name="T7" fmla="*/ 230 h 267"/>
                <a:gd name="T8" fmla="*/ 394 w 617"/>
                <a:gd name="T9" fmla="*/ 230 h 267"/>
                <a:gd name="T10" fmla="*/ 458 w 617"/>
                <a:gd name="T11" fmla="*/ 219 h 267"/>
                <a:gd name="T12" fmla="*/ 608 w 617"/>
                <a:gd name="T13" fmla="*/ 176 h 267"/>
                <a:gd name="T14" fmla="*/ 608 w 617"/>
                <a:gd name="T15" fmla="*/ 267 h 267"/>
                <a:gd name="T16" fmla="*/ 0 60000 65536"/>
                <a:gd name="T17" fmla="*/ 0 60000 65536"/>
                <a:gd name="T18" fmla="*/ 0 60000 65536"/>
                <a:gd name="T19" fmla="*/ 0 60000 65536"/>
                <a:gd name="T20" fmla="*/ 0 60000 65536"/>
                <a:gd name="T21" fmla="*/ 0 60000 65536"/>
                <a:gd name="T22" fmla="*/ 0 60000 65536"/>
                <a:gd name="T23" fmla="*/ 0 60000 65536"/>
                <a:gd name="T24" fmla="*/ 0 w 617"/>
                <a:gd name="T25" fmla="*/ 0 h 267"/>
                <a:gd name="T26" fmla="*/ 617 w 617"/>
                <a:gd name="T27" fmla="*/ 267 h 26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17" h="267">
                  <a:moveTo>
                    <a:pt x="0" y="0"/>
                  </a:moveTo>
                  <a:lnTo>
                    <a:pt x="43" y="209"/>
                  </a:lnTo>
                  <a:lnTo>
                    <a:pt x="218" y="228"/>
                  </a:lnTo>
                  <a:lnTo>
                    <a:pt x="304" y="230"/>
                  </a:lnTo>
                  <a:lnTo>
                    <a:pt x="400" y="230"/>
                  </a:lnTo>
                  <a:lnTo>
                    <a:pt x="464" y="219"/>
                  </a:lnTo>
                  <a:lnTo>
                    <a:pt x="617" y="176"/>
                  </a:lnTo>
                  <a:lnTo>
                    <a:pt x="617" y="267"/>
                  </a:lnTo>
                </a:path>
              </a:pathLst>
            </a:custGeom>
            <a:noFill/>
            <a:ln w="25400" cap="rnd" cmpd="sng">
              <a:solidFill>
                <a:srgbClr val="51DC00"/>
              </a:solidFill>
              <a:prstDash val="solid"/>
              <a:round/>
              <a:headEnd type="none" w="med" len="med"/>
              <a:tailEnd type="none" w="med" len="med"/>
            </a:ln>
          </p:spPr>
          <p:txBody>
            <a:bodyPr/>
            <a:lstStyle/>
            <a:p>
              <a:endParaRPr lang="en-US"/>
            </a:p>
          </p:txBody>
        </p:sp>
        <p:grpSp>
          <p:nvGrpSpPr>
            <p:cNvPr id="23577" name="Group 67"/>
            <p:cNvGrpSpPr>
              <a:grpSpLocks/>
            </p:cNvGrpSpPr>
            <p:nvPr/>
          </p:nvGrpSpPr>
          <p:grpSpPr bwMode="auto">
            <a:xfrm>
              <a:off x="4877" y="3163"/>
              <a:ext cx="583" cy="432"/>
              <a:chOff x="4877" y="3163"/>
              <a:chExt cx="583" cy="432"/>
            </a:xfrm>
          </p:grpSpPr>
          <p:grpSp>
            <p:nvGrpSpPr>
              <p:cNvPr id="23578" name="Group 68"/>
              <p:cNvGrpSpPr>
                <a:grpSpLocks/>
              </p:cNvGrpSpPr>
              <p:nvPr/>
            </p:nvGrpSpPr>
            <p:grpSpPr bwMode="auto">
              <a:xfrm>
                <a:off x="4877" y="3163"/>
                <a:ext cx="583" cy="244"/>
                <a:chOff x="4877" y="3163"/>
                <a:chExt cx="583" cy="244"/>
              </a:xfrm>
            </p:grpSpPr>
            <p:sp>
              <p:nvSpPr>
                <p:cNvPr id="23580" name="Freeform 69"/>
                <p:cNvSpPr>
                  <a:spLocks/>
                </p:cNvSpPr>
                <p:nvPr/>
              </p:nvSpPr>
              <p:spPr bwMode="auto">
                <a:xfrm>
                  <a:off x="4877" y="3163"/>
                  <a:ext cx="583" cy="129"/>
                </a:xfrm>
                <a:custGeom>
                  <a:avLst/>
                  <a:gdLst>
                    <a:gd name="T0" fmla="*/ 0 w 583"/>
                    <a:gd name="T1" fmla="*/ 128 h 129"/>
                    <a:gd name="T2" fmla="*/ 288 w 583"/>
                    <a:gd name="T3" fmla="*/ 53 h 129"/>
                    <a:gd name="T4" fmla="*/ 582 w 583"/>
                    <a:gd name="T5" fmla="*/ 0 h 129"/>
                    <a:gd name="T6" fmla="*/ 0 60000 65536"/>
                    <a:gd name="T7" fmla="*/ 0 60000 65536"/>
                    <a:gd name="T8" fmla="*/ 0 60000 65536"/>
                    <a:gd name="T9" fmla="*/ 0 w 583"/>
                    <a:gd name="T10" fmla="*/ 0 h 129"/>
                    <a:gd name="T11" fmla="*/ 583 w 583"/>
                    <a:gd name="T12" fmla="*/ 129 h 129"/>
                  </a:gdLst>
                  <a:ahLst/>
                  <a:cxnLst>
                    <a:cxn ang="T6">
                      <a:pos x="T0" y="T1"/>
                    </a:cxn>
                    <a:cxn ang="T7">
                      <a:pos x="T2" y="T3"/>
                    </a:cxn>
                    <a:cxn ang="T8">
                      <a:pos x="T4" y="T5"/>
                    </a:cxn>
                  </a:cxnLst>
                  <a:rect l="T9" t="T10" r="T11" b="T12"/>
                  <a:pathLst>
                    <a:path w="583" h="129">
                      <a:moveTo>
                        <a:pt x="0" y="128"/>
                      </a:moveTo>
                      <a:lnTo>
                        <a:pt x="288" y="53"/>
                      </a:lnTo>
                      <a:lnTo>
                        <a:pt x="582" y="0"/>
                      </a:lnTo>
                    </a:path>
                  </a:pathLst>
                </a:custGeom>
                <a:noFill/>
                <a:ln w="25400" cap="rnd" cmpd="sng">
                  <a:solidFill>
                    <a:srgbClr val="51DC00"/>
                  </a:solidFill>
                  <a:prstDash val="solid"/>
                  <a:round/>
                  <a:headEnd type="none" w="med" len="med"/>
                  <a:tailEnd type="none" w="med" len="med"/>
                </a:ln>
              </p:spPr>
              <p:txBody>
                <a:bodyPr/>
                <a:lstStyle/>
                <a:p>
                  <a:endParaRPr lang="en-US"/>
                </a:p>
              </p:txBody>
            </p:sp>
            <p:sp>
              <p:nvSpPr>
                <p:cNvPr id="23581" name="Freeform 70"/>
                <p:cNvSpPr>
                  <a:spLocks/>
                </p:cNvSpPr>
                <p:nvPr/>
              </p:nvSpPr>
              <p:spPr bwMode="auto">
                <a:xfrm>
                  <a:off x="4877" y="3174"/>
                  <a:ext cx="131" cy="233"/>
                </a:xfrm>
                <a:custGeom>
                  <a:avLst/>
                  <a:gdLst>
                    <a:gd name="T0" fmla="*/ 0 w 585"/>
                    <a:gd name="T1" fmla="*/ 106 h 249"/>
                    <a:gd name="T2" fmla="*/ 3 w 585"/>
                    <a:gd name="T3" fmla="*/ 43 h 249"/>
                    <a:gd name="T4" fmla="*/ 6 w 585"/>
                    <a:gd name="T5" fmla="*/ 0 h 249"/>
                    <a:gd name="T6" fmla="*/ 6 w 585"/>
                    <a:gd name="T7" fmla="*/ 145 h 249"/>
                    <a:gd name="T8" fmla="*/ 4 w 585"/>
                    <a:gd name="T9" fmla="*/ 172 h 249"/>
                    <a:gd name="T10" fmla="*/ 0 w 585"/>
                    <a:gd name="T11" fmla="*/ 204 h 249"/>
                    <a:gd name="T12" fmla="*/ 0 w 585"/>
                    <a:gd name="T13" fmla="*/ 106 h 249"/>
                    <a:gd name="T14" fmla="*/ 0 60000 65536"/>
                    <a:gd name="T15" fmla="*/ 0 60000 65536"/>
                    <a:gd name="T16" fmla="*/ 0 60000 65536"/>
                    <a:gd name="T17" fmla="*/ 0 60000 65536"/>
                    <a:gd name="T18" fmla="*/ 0 60000 65536"/>
                    <a:gd name="T19" fmla="*/ 0 60000 65536"/>
                    <a:gd name="T20" fmla="*/ 0 60000 65536"/>
                    <a:gd name="T21" fmla="*/ 0 w 585"/>
                    <a:gd name="T22" fmla="*/ 0 h 249"/>
                    <a:gd name="T23" fmla="*/ 585 w 585"/>
                    <a:gd name="T24" fmla="*/ 249 h 24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85" h="249">
                      <a:moveTo>
                        <a:pt x="2" y="129"/>
                      </a:moveTo>
                      <a:lnTo>
                        <a:pt x="295" y="52"/>
                      </a:lnTo>
                      <a:lnTo>
                        <a:pt x="585" y="0"/>
                      </a:lnTo>
                      <a:lnTo>
                        <a:pt x="585" y="177"/>
                      </a:lnTo>
                      <a:lnTo>
                        <a:pt x="326" y="211"/>
                      </a:lnTo>
                      <a:lnTo>
                        <a:pt x="0" y="249"/>
                      </a:lnTo>
                      <a:lnTo>
                        <a:pt x="2" y="129"/>
                      </a:lnTo>
                      <a:close/>
                    </a:path>
                  </a:pathLst>
                </a:custGeom>
                <a:solidFill>
                  <a:schemeClr val="accent1"/>
                </a:solidFill>
                <a:ln w="9525">
                  <a:noFill/>
                  <a:round/>
                  <a:headEnd/>
                  <a:tailEnd/>
                </a:ln>
              </p:spPr>
              <p:txBody>
                <a:bodyPr wrap="none" anchor="ctr">
                  <a:spAutoFit/>
                </a:bodyPr>
                <a:lstStyle/>
                <a:p>
                  <a:endParaRPr lang="en-US"/>
                </a:p>
              </p:txBody>
            </p:sp>
          </p:grpSp>
          <p:sp>
            <p:nvSpPr>
              <p:cNvPr id="23579" name="Line 71"/>
              <p:cNvSpPr>
                <a:spLocks noChangeShapeType="1"/>
              </p:cNvSpPr>
              <p:nvPr/>
            </p:nvSpPr>
            <p:spPr bwMode="auto">
              <a:xfrm flipV="1">
                <a:off x="5339" y="3327"/>
                <a:ext cx="0" cy="268"/>
              </a:xfrm>
              <a:prstGeom prst="line">
                <a:avLst/>
              </a:prstGeom>
              <a:noFill/>
              <a:ln w="25400">
                <a:solidFill>
                  <a:srgbClr val="FFFFFF"/>
                </a:solidFill>
                <a:round/>
                <a:headEnd/>
                <a:tailEnd type="triangle" w="med" len="med"/>
              </a:ln>
            </p:spPr>
            <p:txBody>
              <a:bodyPr wrap="none" anchor="ctr"/>
              <a:lstStyle/>
              <a:p>
                <a:endParaRPr lang="en-US"/>
              </a:p>
            </p:txBody>
          </p:sp>
        </p:grpSp>
      </p:grpSp>
      <p:grpSp>
        <p:nvGrpSpPr>
          <p:cNvPr id="372808" name="Group 72"/>
          <p:cNvGrpSpPr>
            <a:grpSpLocks/>
          </p:cNvGrpSpPr>
          <p:nvPr/>
        </p:nvGrpSpPr>
        <p:grpSpPr bwMode="auto">
          <a:xfrm>
            <a:off x="4160838" y="1809750"/>
            <a:ext cx="4056062" cy="4156075"/>
            <a:chOff x="2949" y="1140"/>
            <a:chExt cx="2874" cy="2618"/>
          </a:xfrm>
        </p:grpSpPr>
        <p:sp>
          <p:nvSpPr>
            <p:cNvPr id="23565" name="Line 73"/>
            <p:cNvSpPr>
              <a:spLocks noChangeShapeType="1"/>
            </p:cNvSpPr>
            <p:nvPr/>
          </p:nvSpPr>
          <p:spPr bwMode="auto">
            <a:xfrm>
              <a:off x="4878" y="2101"/>
              <a:ext cx="0" cy="738"/>
            </a:xfrm>
            <a:prstGeom prst="line">
              <a:avLst/>
            </a:prstGeom>
            <a:noFill/>
            <a:ln w="12700">
              <a:solidFill>
                <a:srgbClr val="FFFFFF"/>
              </a:solidFill>
              <a:prstDash val="sysDot"/>
              <a:round/>
              <a:headEnd/>
              <a:tailEnd/>
            </a:ln>
          </p:spPr>
          <p:txBody>
            <a:bodyPr wrap="none" anchor="ctr"/>
            <a:lstStyle/>
            <a:p>
              <a:endParaRPr lang="en-US"/>
            </a:p>
          </p:txBody>
        </p:sp>
        <p:sp>
          <p:nvSpPr>
            <p:cNvPr id="23566" name="Line 74"/>
            <p:cNvSpPr>
              <a:spLocks noChangeShapeType="1"/>
            </p:cNvSpPr>
            <p:nvPr/>
          </p:nvSpPr>
          <p:spPr bwMode="auto">
            <a:xfrm>
              <a:off x="4878" y="1140"/>
              <a:ext cx="0" cy="738"/>
            </a:xfrm>
            <a:prstGeom prst="line">
              <a:avLst/>
            </a:prstGeom>
            <a:noFill/>
            <a:ln w="12700">
              <a:solidFill>
                <a:srgbClr val="FFFFFF"/>
              </a:solidFill>
              <a:prstDash val="sysDot"/>
              <a:round/>
              <a:headEnd/>
              <a:tailEnd/>
            </a:ln>
          </p:spPr>
          <p:txBody>
            <a:bodyPr wrap="none" anchor="ctr"/>
            <a:lstStyle/>
            <a:p>
              <a:endParaRPr lang="en-US"/>
            </a:p>
          </p:txBody>
        </p:sp>
        <p:sp>
          <p:nvSpPr>
            <p:cNvPr id="23567" name="Freeform 75"/>
            <p:cNvSpPr>
              <a:spLocks/>
            </p:cNvSpPr>
            <p:nvPr/>
          </p:nvSpPr>
          <p:spPr bwMode="auto">
            <a:xfrm>
              <a:off x="2957" y="1427"/>
              <a:ext cx="1934" cy="435"/>
            </a:xfrm>
            <a:custGeom>
              <a:avLst/>
              <a:gdLst>
                <a:gd name="T0" fmla="*/ 0 w 1761"/>
                <a:gd name="T1" fmla="*/ 0 h 390"/>
                <a:gd name="T2" fmla="*/ 812 w 1761"/>
                <a:gd name="T3" fmla="*/ 155 h 390"/>
                <a:gd name="T4" fmla="*/ 1780 w 1761"/>
                <a:gd name="T5" fmla="*/ 385 h 390"/>
                <a:gd name="T6" fmla="*/ 2332 w 1761"/>
                <a:gd name="T7" fmla="*/ 540 h 390"/>
                <a:gd name="T8" fmla="*/ 0 60000 65536"/>
                <a:gd name="T9" fmla="*/ 0 60000 65536"/>
                <a:gd name="T10" fmla="*/ 0 60000 65536"/>
                <a:gd name="T11" fmla="*/ 0 60000 65536"/>
                <a:gd name="T12" fmla="*/ 0 w 1761"/>
                <a:gd name="T13" fmla="*/ 0 h 390"/>
                <a:gd name="T14" fmla="*/ 1761 w 1761"/>
                <a:gd name="T15" fmla="*/ 390 h 390"/>
              </a:gdLst>
              <a:ahLst/>
              <a:cxnLst>
                <a:cxn ang="T8">
                  <a:pos x="T0" y="T1"/>
                </a:cxn>
                <a:cxn ang="T9">
                  <a:pos x="T2" y="T3"/>
                </a:cxn>
                <a:cxn ang="T10">
                  <a:pos x="T4" y="T5"/>
                </a:cxn>
                <a:cxn ang="T11">
                  <a:pos x="T6" y="T7"/>
                </a:cxn>
              </a:cxnLst>
              <a:rect l="T12" t="T13" r="T14" b="T15"/>
              <a:pathLst>
                <a:path w="1761" h="390">
                  <a:moveTo>
                    <a:pt x="0" y="0"/>
                  </a:moveTo>
                  <a:lnTo>
                    <a:pt x="613" y="112"/>
                  </a:lnTo>
                  <a:lnTo>
                    <a:pt x="1344" y="277"/>
                  </a:lnTo>
                  <a:lnTo>
                    <a:pt x="1760" y="389"/>
                  </a:lnTo>
                </a:path>
              </a:pathLst>
            </a:custGeom>
            <a:noFill/>
            <a:ln w="25400" cap="rnd" cmpd="sng">
              <a:solidFill>
                <a:srgbClr val="FAFD00"/>
              </a:solidFill>
              <a:prstDash val="solid"/>
              <a:round/>
              <a:headEnd type="none" w="med" len="med"/>
              <a:tailEnd type="none" w="med" len="med"/>
            </a:ln>
          </p:spPr>
          <p:txBody>
            <a:bodyPr/>
            <a:lstStyle/>
            <a:p>
              <a:endParaRPr lang="en-US"/>
            </a:p>
          </p:txBody>
        </p:sp>
        <p:sp>
          <p:nvSpPr>
            <p:cNvPr id="23568" name="Freeform 76"/>
            <p:cNvSpPr>
              <a:spLocks/>
            </p:cNvSpPr>
            <p:nvPr/>
          </p:nvSpPr>
          <p:spPr bwMode="auto">
            <a:xfrm>
              <a:off x="2949" y="2312"/>
              <a:ext cx="1928" cy="221"/>
            </a:xfrm>
            <a:custGeom>
              <a:avLst/>
              <a:gdLst>
                <a:gd name="T0" fmla="*/ 0 w 1928"/>
                <a:gd name="T1" fmla="*/ 0 h 221"/>
                <a:gd name="T2" fmla="*/ 741 w 1928"/>
                <a:gd name="T3" fmla="*/ 12 h 221"/>
                <a:gd name="T4" fmla="*/ 1005 w 1928"/>
                <a:gd name="T5" fmla="*/ 42 h 221"/>
                <a:gd name="T6" fmla="*/ 1658 w 1928"/>
                <a:gd name="T7" fmla="*/ 151 h 221"/>
                <a:gd name="T8" fmla="*/ 1928 w 1928"/>
                <a:gd name="T9" fmla="*/ 221 h 221"/>
                <a:gd name="T10" fmla="*/ 0 60000 65536"/>
                <a:gd name="T11" fmla="*/ 0 60000 65536"/>
                <a:gd name="T12" fmla="*/ 0 60000 65536"/>
                <a:gd name="T13" fmla="*/ 0 60000 65536"/>
                <a:gd name="T14" fmla="*/ 0 60000 65536"/>
                <a:gd name="T15" fmla="*/ 0 w 1928"/>
                <a:gd name="T16" fmla="*/ 0 h 221"/>
                <a:gd name="T17" fmla="*/ 1928 w 1928"/>
                <a:gd name="T18" fmla="*/ 221 h 221"/>
              </a:gdLst>
              <a:ahLst/>
              <a:cxnLst>
                <a:cxn ang="T10">
                  <a:pos x="T0" y="T1"/>
                </a:cxn>
                <a:cxn ang="T11">
                  <a:pos x="T2" y="T3"/>
                </a:cxn>
                <a:cxn ang="T12">
                  <a:pos x="T4" y="T5"/>
                </a:cxn>
                <a:cxn ang="T13">
                  <a:pos x="T6" y="T7"/>
                </a:cxn>
                <a:cxn ang="T14">
                  <a:pos x="T8" y="T9"/>
                </a:cxn>
              </a:cxnLst>
              <a:rect l="T15" t="T16" r="T17" b="T18"/>
              <a:pathLst>
                <a:path w="1928" h="221">
                  <a:moveTo>
                    <a:pt x="0" y="0"/>
                  </a:moveTo>
                  <a:lnTo>
                    <a:pt x="741" y="12"/>
                  </a:lnTo>
                  <a:lnTo>
                    <a:pt x="1005" y="42"/>
                  </a:lnTo>
                  <a:lnTo>
                    <a:pt x="1658" y="151"/>
                  </a:lnTo>
                  <a:lnTo>
                    <a:pt x="1928" y="221"/>
                  </a:lnTo>
                </a:path>
              </a:pathLst>
            </a:custGeom>
            <a:noFill/>
            <a:ln w="25400" cap="rnd" cmpd="sng">
              <a:solidFill>
                <a:srgbClr val="FAFD00"/>
              </a:solidFill>
              <a:prstDash val="solid"/>
              <a:round/>
              <a:headEnd type="none" w="med" len="med"/>
              <a:tailEnd type="none" w="med" len="med"/>
            </a:ln>
          </p:spPr>
          <p:txBody>
            <a:bodyPr/>
            <a:lstStyle/>
            <a:p>
              <a:endParaRPr lang="en-US"/>
            </a:p>
          </p:txBody>
        </p:sp>
        <p:sp>
          <p:nvSpPr>
            <p:cNvPr id="23569" name="Rectangle 77"/>
            <p:cNvSpPr>
              <a:spLocks noChangeArrowheads="1"/>
            </p:cNvSpPr>
            <p:nvPr/>
          </p:nvSpPr>
          <p:spPr bwMode="auto">
            <a:xfrm>
              <a:off x="3575" y="3111"/>
              <a:ext cx="925" cy="340"/>
            </a:xfrm>
            <a:prstGeom prst="rect">
              <a:avLst/>
            </a:prstGeom>
            <a:noFill/>
            <a:ln w="9525">
              <a:noFill/>
              <a:miter lim="800000"/>
              <a:headEnd/>
              <a:tailEnd/>
            </a:ln>
          </p:spPr>
          <p:txBody>
            <a:bodyPr wrap="none" lIns="93662" tIns="47625" rIns="93662" bIns="47625">
              <a:spAutoFit/>
            </a:bodyPr>
            <a:lstStyle/>
            <a:p>
              <a:pPr algn="ctr" defTabSz="933450">
                <a:lnSpc>
                  <a:spcPct val="90000"/>
                </a:lnSpc>
              </a:pPr>
              <a:r>
                <a:rPr lang="en-US" sz="1600"/>
                <a:t>Body weight</a:t>
              </a:r>
            </a:p>
            <a:p>
              <a:pPr algn="ctr" defTabSz="933450">
                <a:lnSpc>
                  <a:spcPct val="90000"/>
                </a:lnSpc>
              </a:pPr>
              <a:r>
                <a:rPr lang="en-US" sz="1600"/>
                <a:t>gain</a:t>
              </a:r>
            </a:p>
          </p:txBody>
        </p:sp>
        <p:sp>
          <p:nvSpPr>
            <p:cNvPr id="23570" name="Line 78"/>
            <p:cNvSpPr>
              <a:spLocks noChangeShapeType="1"/>
            </p:cNvSpPr>
            <p:nvPr/>
          </p:nvSpPr>
          <p:spPr bwMode="auto">
            <a:xfrm>
              <a:off x="4878" y="3039"/>
              <a:ext cx="0" cy="450"/>
            </a:xfrm>
            <a:prstGeom prst="line">
              <a:avLst/>
            </a:prstGeom>
            <a:noFill/>
            <a:ln w="12700">
              <a:solidFill>
                <a:srgbClr val="FFFFFF"/>
              </a:solidFill>
              <a:prstDash val="sysDot"/>
              <a:round/>
              <a:headEnd/>
              <a:tailEnd/>
            </a:ln>
          </p:spPr>
          <p:txBody>
            <a:bodyPr wrap="none" anchor="ctr"/>
            <a:lstStyle/>
            <a:p>
              <a:endParaRPr lang="en-US"/>
            </a:p>
          </p:txBody>
        </p:sp>
        <p:grpSp>
          <p:nvGrpSpPr>
            <p:cNvPr id="23571" name="Group 79"/>
            <p:cNvGrpSpPr>
              <a:grpSpLocks/>
            </p:cNvGrpSpPr>
            <p:nvPr/>
          </p:nvGrpSpPr>
          <p:grpSpPr bwMode="auto">
            <a:xfrm>
              <a:off x="2963" y="3291"/>
              <a:ext cx="2860" cy="467"/>
              <a:chOff x="2963" y="3291"/>
              <a:chExt cx="2860" cy="467"/>
            </a:xfrm>
          </p:grpSpPr>
          <p:sp>
            <p:nvSpPr>
              <p:cNvPr id="23572" name="Freeform 80"/>
              <p:cNvSpPr>
                <a:spLocks/>
              </p:cNvSpPr>
              <p:nvPr/>
            </p:nvSpPr>
            <p:spPr bwMode="auto">
              <a:xfrm>
                <a:off x="3504" y="3296"/>
                <a:ext cx="1376" cy="278"/>
              </a:xfrm>
              <a:custGeom>
                <a:avLst/>
                <a:gdLst>
                  <a:gd name="T0" fmla="*/ 0 w 1376"/>
                  <a:gd name="T1" fmla="*/ 265 h 278"/>
                  <a:gd name="T2" fmla="*/ 578 w 1376"/>
                  <a:gd name="T3" fmla="*/ 155 h 278"/>
                  <a:gd name="T4" fmla="*/ 967 w 1376"/>
                  <a:gd name="T5" fmla="*/ 85 h 278"/>
                  <a:gd name="T6" fmla="*/ 1163 w 1376"/>
                  <a:gd name="T7" fmla="*/ 37 h 278"/>
                  <a:gd name="T8" fmla="*/ 1376 w 1376"/>
                  <a:gd name="T9" fmla="*/ 0 h 278"/>
                  <a:gd name="T10" fmla="*/ 1375 w 1376"/>
                  <a:gd name="T11" fmla="*/ 117 h 278"/>
                  <a:gd name="T12" fmla="*/ 1188 w 1376"/>
                  <a:gd name="T13" fmla="*/ 136 h 278"/>
                  <a:gd name="T14" fmla="*/ 979 w 1376"/>
                  <a:gd name="T15" fmla="*/ 162 h 278"/>
                  <a:gd name="T16" fmla="*/ 737 w 1376"/>
                  <a:gd name="T17" fmla="*/ 186 h 278"/>
                  <a:gd name="T18" fmla="*/ 552 w 1376"/>
                  <a:gd name="T19" fmla="*/ 209 h 278"/>
                  <a:gd name="T20" fmla="*/ 373 w 1376"/>
                  <a:gd name="T21" fmla="*/ 230 h 278"/>
                  <a:gd name="T22" fmla="*/ 196 w 1376"/>
                  <a:gd name="T23" fmla="*/ 257 h 278"/>
                  <a:gd name="T24" fmla="*/ 8 w 1376"/>
                  <a:gd name="T25" fmla="*/ 278 h 27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376"/>
                  <a:gd name="T40" fmla="*/ 0 h 278"/>
                  <a:gd name="T41" fmla="*/ 1376 w 1376"/>
                  <a:gd name="T42" fmla="*/ 278 h 27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376" h="278">
                    <a:moveTo>
                      <a:pt x="0" y="265"/>
                    </a:moveTo>
                    <a:lnTo>
                      <a:pt x="578" y="155"/>
                    </a:lnTo>
                    <a:lnTo>
                      <a:pt x="967" y="85"/>
                    </a:lnTo>
                    <a:lnTo>
                      <a:pt x="1163" y="37"/>
                    </a:lnTo>
                    <a:lnTo>
                      <a:pt x="1376" y="0"/>
                    </a:lnTo>
                    <a:lnTo>
                      <a:pt x="1375" y="117"/>
                    </a:lnTo>
                    <a:lnTo>
                      <a:pt x="1188" y="136"/>
                    </a:lnTo>
                    <a:lnTo>
                      <a:pt x="979" y="162"/>
                    </a:lnTo>
                    <a:lnTo>
                      <a:pt x="737" y="186"/>
                    </a:lnTo>
                    <a:lnTo>
                      <a:pt x="552" y="209"/>
                    </a:lnTo>
                    <a:lnTo>
                      <a:pt x="373" y="230"/>
                    </a:lnTo>
                    <a:lnTo>
                      <a:pt x="196" y="257"/>
                    </a:lnTo>
                    <a:lnTo>
                      <a:pt x="8" y="278"/>
                    </a:lnTo>
                  </a:path>
                </a:pathLst>
              </a:custGeom>
              <a:solidFill>
                <a:schemeClr val="accent1"/>
              </a:solidFill>
              <a:ln w="9525">
                <a:noFill/>
                <a:round/>
                <a:headEnd/>
                <a:tailEnd/>
              </a:ln>
            </p:spPr>
            <p:txBody>
              <a:bodyPr/>
              <a:lstStyle/>
              <a:p>
                <a:endParaRPr lang="en-US"/>
              </a:p>
            </p:txBody>
          </p:sp>
          <p:sp>
            <p:nvSpPr>
              <p:cNvPr id="23573" name="Rectangle 81"/>
              <p:cNvSpPr>
                <a:spLocks noChangeArrowheads="1"/>
              </p:cNvSpPr>
              <p:nvPr/>
            </p:nvSpPr>
            <p:spPr bwMode="auto">
              <a:xfrm>
                <a:off x="4615" y="3542"/>
                <a:ext cx="1208" cy="216"/>
              </a:xfrm>
              <a:prstGeom prst="rect">
                <a:avLst/>
              </a:prstGeom>
              <a:noFill/>
              <a:ln w="9525">
                <a:noFill/>
                <a:miter lim="800000"/>
                <a:headEnd/>
                <a:tailEnd/>
              </a:ln>
            </p:spPr>
            <p:txBody>
              <a:bodyPr wrap="none" lIns="93662" tIns="47625" rIns="93662" bIns="47625">
                <a:spAutoFit/>
              </a:bodyPr>
              <a:lstStyle/>
              <a:p>
                <a:pPr defTabSz="933450"/>
                <a:r>
                  <a:rPr lang="en-US" sz="1600"/>
                  <a:t>Calf body weight</a:t>
                </a:r>
              </a:p>
            </p:txBody>
          </p:sp>
          <p:sp>
            <p:nvSpPr>
              <p:cNvPr id="23574" name="Freeform 82"/>
              <p:cNvSpPr>
                <a:spLocks/>
              </p:cNvSpPr>
              <p:nvPr/>
            </p:nvSpPr>
            <p:spPr bwMode="auto">
              <a:xfrm>
                <a:off x="2963" y="3291"/>
                <a:ext cx="1921" cy="341"/>
              </a:xfrm>
              <a:custGeom>
                <a:avLst/>
                <a:gdLst>
                  <a:gd name="T0" fmla="*/ 0 w 1751"/>
                  <a:gd name="T1" fmla="*/ 326 h 348"/>
                  <a:gd name="T2" fmla="*/ 325 w 1751"/>
                  <a:gd name="T3" fmla="*/ 297 h 348"/>
                  <a:gd name="T4" fmla="*/ 993 w 1751"/>
                  <a:gd name="T5" fmla="*/ 207 h 348"/>
                  <a:gd name="T6" fmla="*/ 1606 w 1751"/>
                  <a:gd name="T7" fmla="*/ 117 h 348"/>
                  <a:gd name="T8" fmla="*/ 2310 w 1751"/>
                  <a:gd name="T9" fmla="*/ 0 h 348"/>
                  <a:gd name="T10" fmla="*/ 2310 w 1751"/>
                  <a:gd name="T11" fmla="*/ 0 h 348"/>
                  <a:gd name="T12" fmla="*/ 0 60000 65536"/>
                  <a:gd name="T13" fmla="*/ 0 60000 65536"/>
                  <a:gd name="T14" fmla="*/ 0 60000 65536"/>
                  <a:gd name="T15" fmla="*/ 0 60000 65536"/>
                  <a:gd name="T16" fmla="*/ 0 60000 65536"/>
                  <a:gd name="T17" fmla="*/ 0 60000 65536"/>
                  <a:gd name="T18" fmla="*/ 0 w 1751"/>
                  <a:gd name="T19" fmla="*/ 0 h 348"/>
                  <a:gd name="T20" fmla="*/ 1751 w 1751"/>
                  <a:gd name="T21" fmla="*/ 348 h 348"/>
                </a:gdLst>
                <a:ahLst/>
                <a:cxnLst>
                  <a:cxn ang="T12">
                    <a:pos x="T0" y="T1"/>
                  </a:cxn>
                  <a:cxn ang="T13">
                    <a:pos x="T2" y="T3"/>
                  </a:cxn>
                  <a:cxn ang="T14">
                    <a:pos x="T4" y="T5"/>
                  </a:cxn>
                  <a:cxn ang="T15">
                    <a:pos x="T6" y="T7"/>
                  </a:cxn>
                  <a:cxn ang="T16">
                    <a:pos x="T8" y="T9"/>
                  </a:cxn>
                  <a:cxn ang="T17">
                    <a:pos x="T10" y="T11"/>
                  </a:cxn>
                </a:cxnLst>
                <a:rect l="T18" t="T19" r="T20" b="T21"/>
                <a:pathLst>
                  <a:path w="1751" h="348">
                    <a:moveTo>
                      <a:pt x="0" y="347"/>
                    </a:moveTo>
                    <a:lnTo>
                      <a:pt x="246" y="315"/>
                    </a:lnTo>
                    <a:lnTo>
                      <a:pt x="752" y="219"/>
                    </a:lnTo>
                    <a:lnTo>
                      <a:pt x="1216" y="123"/>
                    </a:lnTo>
                    <a:lnTo>
                      <a:pt x="1750" y="0"/>
                    </a:lnTo>
                  </a:path>
                </a:pathLst>
              </a:custGeom>
              <a:noFill/>
              <a:ln w="25400" cap="rnd" cmpd="sng">
                <a:solidFill>
                  <a:srgbClr val="FAFD00"/>
                </a:solidFill>
                <a:prstDash val="solid"/>
                <a:round/>
                <a:headEnd type="none" w="med" len="med"/>
                <a:tailEnd type="none" w="med" len="med"/>
              </a:ln>
            </p:spPr>
            <p:txBody>
              <a:bodyPr/>
              <a:lstStyle/>
              <a:p>
                <a:endParaRPr lang="en-US"/>
              </a:p>
            </p:txBody>
          </p:sp>
          <p:sp>
            <p:nvSpPr>
              <p:cNvPr id="23575" name="Line 83"/>
              <p:cNvSpPr>
                <a:spLocks noChangeShapeType="1"/>
              </p:cNvSpPr>
              <p:nvPr/>
            </p:nvSpPr>
            <p:spPr bwMode="auto">
              <a:xfrm flipV="1">
                <a:off x="4796" y="3327"/>
                <a:ext cx="0" cy="268"/>
              </a:xfrm>
              <a:prstGeom prst="line">
                <a:avLst/>
              </a:prstGeom>
              <a:noFill/>
              <a:ln w="25400">
                <a:solidFill>
                  <a:srgbClr val="FFFFFF"/>
                </a:solidFill>
                <a:round/>
                <a:headEnd/>
                <a:tailEnd type="triangle" w="med" len="med"/>
              </a:ln>
            </p:spPr>
            <p:txBody>
              <a:bodyPr wrap="none" anchor="ctr"/>
              <a:lstStyle/>
              <a:p>
                <a:endParaRPr lang="en-US"/>
              </a:p>
            </p:txBody>
          </p:sp>
        </p:grpSp>
      </p:grpSp>
      <p:grpSp>
        <p:nvGrpSpPr>
          <p:cNvPr id="372820" name="Group 84"/>
          <p:cNvGrpSpPr>
            <a:grpSpLocks/>
          </p:cNvGrpSpPr>
          <p:nvPr/>
        </p:nvGrpSpPr>
        <p:grpSpPr bwMode="auto">
          <a:xfrm>
            <a:off x="2592388" y="2289175"/>
            <a:ext cx="2852737" cy="3560763"/>
            <a:chOff x="1837" y="1442"/>
            <a:chExt cx="2022" cy="2243"/>
          </a:xfrm>
        </p:grpSpPr>
        <p:sp>
          <p:nvSpPr>
            <p:cNvPr id="23562" name="Freeform 85"/>
            <p:cNvSpPr>
              <a:spLocks/>
            </p:cNvSpPr>
            <p:nvPr/>
          </p:nvSpPr>
          <p:spPr bwMode="auto">
            <a:xfrm>
              <a:off x="1837" y="1442"/>
              <a:ext cx="131" cy="233"/>
            </a:xfrm>
            <a:custGeom>
              <a:avLst/>
              <a:gdLst>
                <a:gd name="T0" fmla="*/ 0 w 1369"/>
                <a:gd name="T1" fmla="*/ 102 h 352"/>
                <a:gd name="T2" fmla="*/ 0 w 1369"/>
                <a:gd name="T3" fmla="*/ 58 h 352"/>
                <a:gd name="T4" fmla="*/ 1 w 1369"/>
                <a:gd name="T5" fmla="*/ 21 h 352"/>
                <a:gd name="T6" fmla="*/ 1 w 1369"/>
                <a:gd name="T7" fmla="*/ 6 h 352"/>
                <a:gd name="T8" fmla="*/ 1 w 1369"/>
                <a:gd name="T9" fmla="*/ 0 h 352"/>
                <a:gd name="T10" fmla="*/ 0 60000 65536"/>
                <a:gd name="T11" fmla="*/ 0 60000 65536"/>
                <a:gd name="T12" fmla="*/ 0 60000 65536"/>
                <a:gd name="T13" fmla="*/ 0 60000 65536"/>
                <a:gd name="T14" fmla="*/ 0 60000 65536"/>
                <a:gd name="T15" fmla="*/ 0 w 1369"/>
                <a:gd name="T16" fmla="*/ 0 h 352"/>
                <a:gd name="T17" fmla="*/ 1369 w 1369"/>
                <a:gd name="T18" fmla="*/ 352 h 352"/>
              </a:gdLst>
              <a:ahLst/>
              <a:cxnLst>
                <a:cxn ang="T10">
                  <a:pos x="T0" y="T1"/>
                </a:cxn>
                <a:cxn ang="T11">
                  <a:pos x="T2" y="T3"/>
                </a:cxn>
                <a:cxn ang="T12">
                  <a:pos x="T4" y="T5"/>
                </a:cxn>
                <a:cxn ang="T13">
                  <a:pos x="T6" y="T7"/>
                </a:cxn>
                <a:cxn ang="T14">
                  <a:pos x="T8" y="T9"/>
                </a:cxn>
              </a:cxnLst>
              <a:rect l="T15" t="T16" r="T17" b="T18"/>
              <a:pathLst>
                <a:path w="1369" h="352">
                  <a:moveTo>
                    <a:pt x="0" y="352"/>
                  </a:moveTo>
                  <a:cubicBezTo>
                    <a:pt x="161" y="299"/>
                    <a:pt x="322" y="246"/>
                    <a:pt x="461" y="199"/>
                  </a:cubicBezTo>
                  <a:cubicBezTo>
                    <a:pt x="600" y="152"/>
                    <a:pt x="727" y="101"/>
                    <a:pt x="832" y="71"/>
                  </a:cubicBezTo>
                  <a:cubicBezTo>
                    <a:pt x="937" y="41"/>
                    <a:pt x="1005" y="32"/>
                    <a:pt x="1094" y="20"/>
                  </a:cubicBezTo>
                  <a:cubicBezTo>
                    <a:pt x="1183" y="8"/>
                    <a:pt x="1276" y="4"/>
                    <a:pt x="1369" y="0"/>
                  </a:cubicBezTo>
                </a:path>
              </a:pathLst>
            </a:custGeom>
            <a:noFill/>
            <a:ln w="38100" cap="flat" cmpd="sng">
              <a:solidFill>
                <a:schemeClr val="hlink"/>
              </a:solidFill>
              <a:prstDash val="sysDot"/>
              <a:round/>
              <a:headEnd type="none" w="med" len="med"/>
              <a:tailEnd type="none" w="med" len="med"/>
            </a:ln>
          </p:spPr>
          <p:txBody>
            <a:bodyPr wrap="none" anchor="ctr">
              <a:spAutoFit/>
            </a:bodyPr>
            <a:lstStyle/>
            <a:p>
              <a:endParaRPr lang="en-US"/>
            </a:p>
          </p:txBody>
        </p:sp>
        <p:sp>
          <p:nvSpPr>
            <p:cNvPr id="23563" name="Freeform 86"/>
            <p:cNvSpPr>
              <a:spLocks/>
            </p:cNvSpPr>
            <p:nvPr/>
          </p:nvSpPr>
          <p:spPr bwMode="auto">
            <a:xfrm>
              <a:off x="1837" y="2328"/>
              <a:ext cx="2022" cy="233"/>
            </a:xfrm>
            <a:custGeom>
              <a:avLst/>
              <a:gdLst>
                <a:gd name="T0" fmla="*/ 0 w 1369"/>
                <a:gd name="T1" fmla="*/ 102 h 352"/>
                <a:gd name="T2" fmla="*/ 1486 w 1369"/>
                <a:gd name="T3" fmla="*/ 58 h 352"/>
                <a:gd name="T4" fmla="*/ 2681 w 1369"/>
                <a:gd name="T5" fmla="*/ 21 h 352"/>
                <a:gd name="T6" fmla="*/ 3526 w 1369"/>
                <a:gd name="T7" fmla="*/ 6 h 352"/>
                <a:gd name="T8" fmla="*/ 4410 w 1369"/>
                <a:gd name="T9" fmla="*/ 0 h 352"/>
                <a:gd name="T10" fmla="*/ 0 60000 65536"/>
                <a:gd name="T11" fmla="*/ 0 60000 65536"/>
                <a:gd name="T12" fmla="*/ 0 60000 65536"/>
                <a:gd name="T13" fmla="*/ 0 60000 65536"/>
                <a:gd name="T14" fmla="*/ 0 60000 65536"/>
                <a:gd name="T15" fmla="*/ 0 w 1369"/>
                <a:gd name="T16" fmla="*/ 0 h 352"/>
                <a:gd name="T17" fmla="*/ 1369 w 1369"/>
                <a:gd name="T18" fmla="*/ 352 h 352"/>
              </a:gdLst>
              <a:ahLst/>
              <a:cxnLst>
                <a:cxn ang="T10">
                  <a:pos x="T0" y="T1"/>
                </a:cxn>
                <a:cxn ang="T11">
                  <a:pos x="T2" y="T3"/>
                </a:cxn>
                <a:cxn ang="T12">
                  <a:pos x="T4" y="T5"/>
                </a:cxn>
                <a:cxn ang="T13">
                  <a:pos x="T6" y="T7"/>
                </a:cxn>
                <a:cxn ang="T14">
                  <a:pos x="T8" y="T9"/>
                </a:cxn>
              </a:cxnLst>
              <a:rect l="T15" t="T16" r="T17" b="T18"/>
              <a:pathLst>
                <a:path w="1369" h="352">
                  <a:moveTo>
                    <a:pt x="0" y="352"/>
                  </a:moveTo>
                  <a:cubicBezTo>
                    <a:pt x="161" y="299"/>
                    <a:pt x="322" y="246"/>
                    <a:pt x="461" y="199"/>
                  </a:cubicBezTo>
                  <a:cubicBezTo>
                    <a:pt x="600" y="152"/>
                    <a:pt x="727" y="101"/>
                    <a:pt x="832" y="71"/>
                  </a:cubicBezTo>
                  <a:cubicBezTo>
                    <a:pt x="937" y="41"/>
                    <a:pt x="1005" y="32"/>
                    <a:pt x="1094" y="20"/>
                  </a:cubicBezTo>
                  <a:cubicBezTo>
                    <a:pt x="1183" y="8"/>
                    <a:pt x="1276" y="4"/>
                    <a:pt x="1369" y="0"/>
                  </a:cubicBezTo>
                </a:path>
              </a:pathLst>
            </a:custGeom>
            <a:noFill/>
            <a:ln w="38100" cap="flat" cmpd="sng">
              <a:solidFill>
                <a:schemeClr val="hlink"/>
              </a:solidFill>
              <a:prstDash val="sysDot"/>
              <a:round/>
              <a:headEnd type="none" w="med" len="med"/>
              <a:tailEnd type="none" w="med" len="med"/>
            </a:ln>
          </p:spPr>
          <p:txBody>
            <a:bodyPr anchor="ctr">
              <a:spAutoFit/>
            </a:bodyPr>
            <a:lstStyle/>
            <a:p>
              <a:endParaRPr lang="en-US"/>
            </a:p>
          </p:txBody>
        </p:sp>
        <p:sp>
          <p:nvSpPr>
            <p:cNvPr id="23564" name="Freeform 87"/>
            <p:cNvSpPr>
              <a:spLocks/>
            </p:cNvSpPr>
            <p:nvPr/>
          </p:nvSpPr>
          <p:spPr bwMode="auto">
            <a:xfrm>
              <a:off x="1837" y="3452"/>
              <a:ext cx="1785" cy="233"/>
            </a:xfrm>
            <a:custGeom>
              <a:avLst/>
              <a:gdLst>
                <a:gd name="T0" fmla="*/ 0 w 1785"/>
                <a:gd name="T1" fmla="*/ 0 h 338"/>
                <a:gd name="T2" fmla="*/ 326 w 1785"/>
                <a:gd name="T3" fmla="*/ 94 h 338"/>
                <a:gd name="T4" fmla="*/ 1126 w 1785"/>
                <a:gd name="T5" fmla="*/ 101 h 338"/>
                <a:gd name="T6" fmla="*/ 1421 w 1785"/>
                <a:gd name="T7" fmla="*/ 86 h 338"/>
                <a:gd name="T8" fmla="*/ 1785 w 1785"/>
                <a:gd name="T9" fmla="*/ 61 h 338"/>
                <a:gd name="T10" fmla="*/ 0 60000 65536"/>
                <a:gd name="T11" fmla="*/ 0 60000 65536"/>
                <a:gd name="T12" fmla="*/ 0 60000 65536"/>
                <a:gd name="T13" fmla="*/ 0 60000 65536"/>
                <a:gd name="T14" fmla="*/ 0 60000 65536"/>
                <a:gd name="T15" fmla="*/ 0 w 1785"/>
                <a:gd name="T16" fmla="*/ 0 h 338"/>
                <a:gd name="T17" fmla="*/ 1785 w 1785"/>
                <a:gd name="T18" fmla="*/ 338 h 338"/>
              </a:gdLst>
              <a:ahLst/>
              <a:cxnLst>
                <a:cxn ang="T10">
                  <a:pos x="T0" y="T1"/>
                </a:cxn>
                <a:cxn ang="T11">
                  <a:pos x="T2" y="T3"/>
                </a:cxn>
                <a:cxn ang="T12">
                  <a:pos x="T4" y="T5"/>
                </a:cxn>
                <a:cxn ang="T13">
                  <a:pos x="T6" y="T7"/>
                </a:cxn>
                <a:cxn ang="T14">
                  <a:pos x="T8" y="T9"/>
                </a:cxn>
              </a:cxnLst>
              <a:rect l="T15" t="T16" r="T17" b="T18"/>
              <a:pathLst>
                <a:path w="1785" h="338">
                  <a:moveTo>
                    <a:pt x="0" y="0"/>
                  </a:moveTo>
                  <a:cubicBezTo>
                    <a:pt x="54" y="48"/>
                    <a:pt x="138" y="236"/>
                    <a:pt x="326" y="287"/>
                  </a:cubicBezTo>
                  <a:cubicBezTo>
                    <a:pt x="514" y="338"/>
                    <a:pt x="944" y="311"/>
                    <a:pt x="1126" y="307"/>
                  </a:cubicBezTo>
                  <a:cubicBezTo>
                    <a:pt x="1308" y="303"/>
                    <a:pt x="1311" y="282"/>
                    <a:pt x="1421" y="262"/>
                  </a:cubicBezTo>
                  <a:cubicBezTo>
                    <a:pt x="1531" y="242"/>
                    <a:pt x="1709" y="201"/>
                    <a:pt x="1785" y="185"/>
                  </a:cubicBezTo>
                </a:path>
              </a:pathLst>
            </a:custGeom>
            <a:noFill/>
            <a:ln w="38100" cap="flat" cmpd="sng">
              <a:solidFill>
                <a:schemeClr val="hlink"/>
              </a:solidFill>
              <a:prstDash val="sysDot"/>
              <a:round/>
              <a:headEnd type="none" w="med" len="med"/>
              <a:tailEnd type="none" w="med" len="med"/>
            </a:ln>
          </p:spPr>
          <p:txBody>
            <a:bodyPr anchor="ctr">
              <a:spAutoFit/>
            </a:bodyPr>
            <a:lstStyle/>
            <a:p>
              <a:endParaRPr 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72770"/>
                                        </p:tgtEl>
                                        <p:attrNameLst>
                                          <p:attrName>style.visibility</p:attrName>
                                        </p:attrNameLst>
                                      </p:cBhvr>
                                      <p:to>
                                        <p:strVal val="visible"/>
                                      </p:to>
                                    </p:set>
                                    <p:animEffect transition="in" filter="wipe(left)">
                                      <p:cBhvr>
                                        <p:cTn id="7" dur="500"/>
                                        <p:tgtEl>
                                          <p:spTgt spid="37277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72739"/>
                                        </p:tgtEl>
                                        <p:attrNameLst>
                                          <p:attrName>style.visibility</p:attrName>
                                        </p:attrNameLst>
                                      </p:cBhvr>
                                      <p:to>
                                        <p:strVal val="visible"/>
                                      </p:to>
                                    </p:set>
                                    <p:animEffect transition="in" filter="wipe(left)">
                                      <p:cBhvr>
                                        <p:cTn id="12" dur="500"/>
                                        <p:tgtEl>
                                          <p:spTgt spid="37273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72764"/>
                                        </p:tgtEl>
                                        <p:attrNameLst>
                                          <p:attrName>style.visibility</p:attrName>
                                        </p:attrNameLst>
                                      </p:cBhvr>
                                      <p:to>
                                        <p:strVal val="visible"/>
                                      </p:to>
                                    </p:set>
                                    <p:animEffect transition="in" filter="wipe(left)">
                                      <p:cBhvr>
                                        <p:cTn id="17" dur="500"/>
                                        <p:tgtEl>
                                          <p:spTgt spid="37276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72786"/>
                                        </p:tgtEl>
                                        <p:attrNameLst>
                                          <p:attrName>style.visibility</p:attrName>
                                        </p:attrNameLst>
                                      </p:cBhvr>
                                      <p:to>
                                        <p:strVal val="visible"/>
                                      </p:to>
                                    </p:set>
                                    <p:animEffect transition="in" filter="wipe(left)">
                                      <p:cBhvr>
                                        <p:cTn id="22" dur="500"/>
                                        <p:tgtEl>
                                          <p:spTgt spid="37278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372808"/>
                                        </p:tgtEl>
                                        <p:attrNameLst>
                                          <p:attrName>style.visibility</p:attrName>
                                        </p:attrNameLst>
                                      </p:cBhvr>
                                      <p:to>
                                        <p:strVal val="visible"/>
                                      </p:to>
                                    </p:set>
                                    <p:animEffect transition="in" filter="wipe(left)">
                                      <p:cBhvr>
                                        <p:cTn id="27" dur="500"/>
                                        <p:tgtEl>
                                          <p:spTgt spid="37280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372801"/>
                                        </p:tgtEl>
                                        <p:attrNameLst>
                                          <p:attrName>style.visibility</p:attrName>
                                        </p:attrNameLst>
                                      </p:cBhvr>
                                      <p:to>
                                        <p:strVal val="visible"/>
                                      </p:to>
                                    </p:set>
                                    <p:animEffect transition="in" filter="wipe(left)">
                                      <p:cBhvr>
                                        <p:cTn id="32" dur="500"/>
                                        <p:tgtEl>
                                          <p:spTgt spid="37280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372820"/>
                                        </p:tgtEl>
                                        <p:attrNameLst>
                                          <p:attrName>style.visibility</p:attrName>
                                        </p:attrNameLst>
                                      </p:cBhvr>
                                      <p:to>
                                        <p:strVal val="visible"/>
                                      </p:to>
                                    </p:set>
                                    <p:animEffect transition="in" filter="wipe(left)">
                                      <p:cBhvr>
                                        <p:cTn id="37" dur="500"/>
                                        <p:tgtEl>
                                          <p:spTgt spid="3728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Slide Number Placeholder 4"/>
          <p:cNvSpPr>
            <a:spLocks noGrp="1"/>
          </p:cNvSpPr>
          <p:nvPr>
            <p:ph type="sldNum" sz="quarter" idx="12"/>
          </p:nvPr>
        </p:nvSpPr>
        <p:spPr/>
        <p:txBody>
          <a:bodyPr/>
          <a:lstStyle/>
          <a:p>
            <a:pPr>
              <a:defRPr/>
            </a:pPr>
            <a:r>
              <a:rPr lang="en-US" dirty="0"/>
              <a:t> </a:t>
            </a:r>
            <a:endParaRPr lang="en-US" sz="1800" dirty="0">
              <a:solidFill>
                <a:schemeClr val="tx1"/>
              </a:solidFill>
            </a:endParaRPr>
          </a:p>
        </p:txBody>
      </p:sp>
      <p:sp>
        <p:nvSpPr>
          <p:cNvPr id="25602" name="Rectangle 2"/>
          <p:cNvSpPr>
            <a:spLocks noGrp="1" noChangeArrowheads="1"/>
          </p:cNvSpPr>
          <p:nvPr>
            <p:ph type="title"/>
          </p:nvPr>
        </p:nvSpPr>
        <p:spPr>
          <a:xfrm>
            <a:off x="660400" y="228600"/>
            <a:ext cx="7772400" cy="1066800"/>
          </a:xfrm>
        </p:spPr>
        <p:txBody>
          <a:bodyPr/>
          <a:lstStyle/>
          <a:p>
            <a:pPr eaLnBrk="1" hangingPunct="1"/>
            <a:r>
              <a:rPr lang="en-US" sz="3200" b="1" smtClean="0"/>
              <a:t>IMPACT OF DIETARY FIBER (NDF) AND CRUDE PROTEIN (CP) ON DMI</a:t>
            </a:r>
          </a:p>
        </p:txBody>
      </p:sp>
      <p:sp>
        <p:nvSpPr>
          <p:cNvPr id="25603" name="Text Box 3"/>
          <p:cNvSpPr txBox="1">
            <a:spLocks noChangeArrowheads="1"/>
          </p:cNvSpPr>
          <p:nvPr/>
        </p:nvSpPr>
        <p:spPr bwMode="auto">
          <a:xfrm>
            <a:off x="612775" y="6484938"/>
            <a:ext cx="1239838" cy="369887"/>
          </a:xfrm>
          <a:prstGeom prst="rect">
            <a:avLst/>
          </a:prstGeom>
          <a:noFill/>
          <a:ln w="9525">
            <a:noFill/>
            <a:miter lim="800000"/>
            <a:headEnd/>
            <a:tailEnd/>
          </a:ln>
        </p:spPr>
        <p:txBody>
          <a:bodyPr wrap="none">
            <a:spAutoFit/>
          </a:bodyPr>
          <a:lstStyle/>
          <a:p>
            <a:r>
              <a:rPr lang="en-US">
                <a:latin typeface="Calibri" pitchFamily="34" charset="0"/>
              </a:rPr>
              <a:t>Allen, 2000</a:t>
            </a:r>
          </a:p>
        </p:txBody>
      </p:sp>
      <p:grpSp>
        <p:nvGrpSpPr>
          <p:cNvPr id="596996" name="Group 4"/>
          <p:cNvGrpSpPr>
            <a:grpSpLocks/>
          </p:cNvGrpSpPr>
          <p:nvPr/>
        </p:nvGrpSpPr>
        <p:grpSpPr bwMode="auto">
          <a:xfrm>
            <a:off x="250825" y="1052513"/>
            <a:ext cx="4256088" cy="5091112"/>
            <a:chOff x="84" y="624"/>
            <a:chExt cx="3016" cy="3207"/>
          </a:xfrm>
        </p:grpSpPr>
        <p:grpSp>
          <p:nvGrpSpPr>
            <p:cNvPr id="25644" name="Group 5"/>
            <p:cNvGrpSpPr>
              <a:grpSpLocks/>
            </p:cNvGrpSpPr>
            <p:nvPr/>
          </p:nvGrpSpPr>
          <p:grpSpPr bwMode="auto">
            <a:xfrm>
              <a:off x="414" y="924"/>
              <a:ext cx="96" cy="2148"/>
              <a:chOff x="576" y="696"/>
              <a:chExt cx="96" cy="2148"/>
            </a:xfrm>
          </p:grpSpPr>
          <p:sp>
            <p:nvSpPr>
              <p:cNvPr id="25668" name="Line 6"/>
              <p:cNvSpPr>
                <a:spLocks noChangeShapeType="1"/>
              </p:cNvSpPr>
              <p:nvPr/>
            </p:nvSpPr>
            <p:spPr bwMode="auto">
              <a:xfrm flipH="1">
                <a:off x="576" y="696"/>
                <a:ext cx="96" cy="0"/>
              </a:xfrm>
              <a:prstGeom prst="line">
                <a:avLst/>
              </a:prstGeom>
              <a:noFill/>
              <a:ln w="28575">
                <a:solidFill>
                  <a:schemeClr val="accent1"/>
                </a:solidFill>
                <a:round/>
                <a:headEnd/>
                <a:tailEnd/>
              </a:ln>
            </p:spPr>
            <p:txBody>
              <a:bodyPr wrap="none" anchor="ctr"/>
              <a:lstStyle/>
              <a:p>
                <a:endParaRPr lang="en-US"/>
              </a:p>
            </p:txBody>
          </p:sp>
          <p:sp>
            <p:nvSpPr>
              <p:cNvPr id="25669" name="Line 7"/>
              <p:cNvSpPr>
                <a:spLocks noChangeShapeType="1"/>
              </p:cNvSpPr>
              <p:nvPr/>
            </p:nvSpPr>
            <p:spPr bwMode="auto">
              <a:xfrm flipH="1">
                <a:off x="576" y="1128"/>
                <a:ext cx="96" cy="0"/>
              </a:xfrm>
              <a:prstGeom prst="line">
                <a:avLst/>
              </a:prstGeom>
              <a:noFill/>
              <a:ln w="28575">
                <a:solidFill>
                  <a:schemeClr val="accent1"/>
                </a:solidFill>
                <a:round/>
                <a:headEnd/>
                <a:tailEnd/>
              </a:ln>
            </p:spPr>
            <p:txBody>
              <a:bodyPr wrap="none" anchor="ctr"/>
              <a:lstStyle/>
              <a:p>
                <a:endParaRPr lang="en-US"/>
              </a:p>
            </p:txBody>
          </p:sp>
          <p:sp>
            <p:nvSpPr>
              <p:cNvPr id="25670" name="Line 8"/>
              <p:cNvSpPr>
                <a:spLocks noChangeShapeType="1"/>
              </p:cNvSpPr>
              <p:nvPr/>
            </p:nvSpPr>
            <p:spPr bwMode="auto">
              <a:xfrm flipH="1">
                <a:off x="576" y="1552"/>
                <a:ext cx="96" cy="0"/>
              </a:xfrm>
              <a:prstGeom prst="line">
                <a:avLst/>
              </a:prstGeom>
              <a:noFill/>
              <a:ln w="28575">
                <a:solidFill>
                  <a:schemeClr val="accent1"/>
                </a:solidFill>
                <a:round/>
                <a:headEnd/>
                <a:tailEnd/>
              </a:ln>
            </p:spPr>
            <p:txBody>
              <a:bodyPr wrap="none" anchor="ctr"/>
              <a:lstStyle/>
              <a:p>
                <a:endParaRPr lang="en-US"/>
              </a:p>
            </p:txBody>
          </p:sp>
          <p:sp>
            <p:nvSpPr>
              <p:cNvPr id="25671" name="Line 9"/>
              <p:cNvSpPr>
                <a:spLocks noChangeShapeType="1"/>
              </p:cNvSpPr>
              <p:nvPr/>
            </p:nvSpPr>
            <p:spPr bwMode="auto">
              <a:xfrm flipH="1">
                <a:off x="576" y="1984"/>
                <a:ext cx="96" cy="0"/>
              </a:xfrm>
              <a:prstGeom prst="line">
                <a:avLst/>
              </a:prstGeom>
              <a:noFill/>
              <a:ln w="28575">
                <a:solidFill>
                  <a:schemeClr val="accent1"/>
                </a:solidFill>
                <a:round/>
                <a:headEnd/>
                <a:tailEnd/>
              </a:ln>
            </p:spPr>
            <p:txBody>
              <a:bodyPr wrap="none" anchor="ctr"/>
              <a:lstStyle/>
              <a:p>
                <a:endParaRPr lang="en-US"/>
              </a:p>
            </p:txBody>
          </p:sp>
          <p:sp>
            <p:nvSpPr>
              <p:cNvPr id="25672" name="Line 10"/>
              <p:cNvSpPr>
                <a:spLocks noChangeShapeType="1"/>
              </p:cNvSpPr>
              <p:nvPr/>
            </p:nvSpPr>
            <p:spPr bwMode="auto">
              <a:xfrm flipH="1">
                <a:off x="576" y="2412"/>
                <a:ext cx="96" cy="0"/>
              </a:xfrm>
              <a:prstGeom prst="line">
                <a:avLst/>
              </a:prstGeom>
              <a:noFill/>
              <a:ln w="28575">
                <a:solidFill>
                  <a:schemeClr val="accent1"/>
                </a:solidFill>
                <a:round/>
                <a:headEnd/>
                <a:tailEnd/>
              </a:ln>
            </p:spPr>
            <p:txBody>
              <a:bodyPr wrap="none" anchor="ctr"/>
              <a:lstStyle/>
              <a:p>
                <a:endParaRPr lang="en-US"/>
              </a:p>
            </p:txBody>
          </p:sp>
          <p:sp>
            <p:nvSpPr>
              <p:cNvPr id="25673" name="Line 11"/>
              <p:cNvSpPr>
                <a:spLocks noChangeShapeType="1"/>
              </p:cNvSpPr>
              <p:nvPr/>
            </p:nvSpPr>
            <p:spPr bwMode="auto">
              <a:xfrm flipH="1">
                <a:off x="576" y="2844"/>
                <a:ext cx="96" cy="0"/>
              </a:xfrm>
              <a:prstGeom prst="line">
                <a:avLst/>
              </a:prstGeom>
              <a:noFill/>
              <a:ln w="28575">
                <a:solidFill>
                  <a:schemeClr val="accent1"/>
                </a:solidFill>
                <a:round/>
                <a:headEnd/>
                <a:tailEnd/>
              </a:ln>
            </p:spPr>
            <p:txBody>
              <a:bodyPr wrap="none" anchor="ctr"/>
              <a:lstStyle/>
              <a:p>
                <a:endParaRPr lang="en-US"/>
              </a:p>
            </p:txBody>
          </p:sp>
        </p:grpSp>
        <p:grpSp>
          <p:nvGrpSpPr>
            <p:cNvPr id="25645" name="Group 12"/>
            <p:cNvGrpSpPr>
              <a:grpSpLocks/>
            </p:cNvGrpSpPr>
            <p:nvPr/>
          </p:nvGrpSpPr>
          <p:grpSpPr bwMode="auto">
            <a:xfrm>
              <a:off x="694" y="3303"/>
              <a:ext cx="2152" cy="100"/>
              <a:chOff x="880" y="3100"/>
              <a:chExt cx="2152" cy="100"/>
            </a:xfrm>
          </p:grpSpPr>
          <p:sp>
            <p:nvSpPr>
              <p:cNvPr id="25662" name="Line 13"/>
              <p:cNvSpPr>
                <a:spLocks noChangeShapeType="1"/>
              </p:cNvSpPr>
              <p:nvPr/>
            </p:nvSpPr>
            <p:spPr bwMode="auto">
              <a:xfrm rot="5400000">
                <a:off x="832" y="3152"/>
                <a:ext cx="96" cy="0"/>
              </a:xfrm>
              <a:prstGeom prst="line">
                <a:avLst/>
              </a:prstGeom>
              <a:noFill/>
              <a:ln w="28575">
                <a:solidFill>
                  <a:schemeClr val="accent1"/>
                </a:solidFill>
                <a:round/>
                <a:headEnd/>
                <a:tailEnd/>
              </a:ln>
            </p:spPr>
            <p:txBody>
              <a:bodyPr wrap="none" anchor="ctr"/>
              <a:lstStyle/>
              <a:p>
                <a:endParaRPr lang="en-US"/>
              </a:p>
            </p:txBody>
          </p:sp>
          <p:sp>
            <p:nvSpPr>
              <p:cNvPr id="25663" name="Line 14"/>
              <p:cNvSpPr>
                <a:spLocks noChangeShapeType="1"/>
              </p:cNvSpPr>
              <p:nvPr/>
            </p:nvSpPr>
            <p:spPr bwMode="auto">
              <a:xfrm rot="5400000">
                <a:off x="1276" y="3148"/>
                <a:ext cx="96" cy="0"/>
              </a:xfrm>
              <a:prstGeom prst="line">
                <a:avLst/>
              </a:prstGeom>
              <a:noFill/>
              <a:ln w="28575">
                <a:solidFill>
                  <a:schemeClr val="accent1"/>
                </a:solidFill>
                <a:round/>
                <a:headEnd/>
                <a:tailEnd/>
              </a:ln>
            </p:spPr>
            <p:txBody>
              <a:bodyPr wrap="none" anchor="ctr"/>
              <a:lstStyle/>
              <a:p>
                <a:endParaRPr lang="en-US"/>
              </a:p>
            </p:txBody>
          </p:sp>
          <p:sp>
            <p:nvSpPr>
              <p:cNvPr id="25664" name="Line 15"/>
              <p:cNvSpPr>
                <a:spLocks noChangeShapeType="1"/>
              </p:cNvSpPr>
              <p:nvPr/>
            </p:nvSpPr>
            <p:spPr bwMode="auto">
              <a:xfrm rot="5400000">
                <a:off x="1692" y="3152"/>
                <a:ext cx="96" cy="0"/>
              </a:xfrm>
              <a:prstGeom prst="line">
                <a:avLst/>
              </a:prstGeom>
              <a:noFill/>
              <a:ln w="28575">
                <a:solidFill>
                  <a:schemeClr val="accent1"/>
                </a:solidFill>
                <a:round/>
                <a:headEnd/>
                <a:tailEnd/>
              </a:ln>
            </p:spPr>
            <p:txBody>
              <a:bodyPr wrap="none" anchor="ctr"/>
              <a:lstStyle/>
              <a:p>
                <a:endParaRPr lang="en-US"/>
              </a:p>
            </p:txBody>
          </p:sp>
          <p:sp>
            <p:nvSpPr>
              <p:cNvPr id="25665" name="Line 16"/>
              <p:cNvSpPr>
                <a:spLocks noChangeShapeType="1"/>
              </p:cNvSpPr>
              <p:nvPr/>
            </p:nvSpPr>
            <p:spPr bwMode="auto">
              <a:xfrm rot="5400000">
                <a:off x="2124" y="3148"/>
                <a:ext cx="96" cy="0"/>
              </a:xfrm>
              <a:prstGeom prst="line">
                <a:avLst/>
              </a:prstGeom>
              <a:noFill/>
              <a:ln w="28575">
                <a:solidFill>
                  <a:schemeClr val="accent1"/>
                </a:solidFill>
                <a:round/>
                <a:headEnd/>
                <a:tailEnd/>
              </a:ln>
            </p:spPr>
            <p:txBody>
              <a:bodyPr wrap="none" anchor="ctr"/>
              <a:lstStyle/>
              <a:p>
                <a:endParaRPr lang="en-US"/>
              </a:p>
            </p:txBody>
          </p:sp>
          <p:sp>
            <p:nvSpPr>
              <p:cNvPr id="25666" name="Line 17"/>
              <p:cNvSpPr>
                <a:spLocks noChangeShapeType="1"/>
              </p:cNvSpPr>
              <p:nvPr/>
            </p:nvSpPr>
            <p:spPr bwMode="auto">
              <a:xfrm rot="5400000">
                <a:off x="2568" y="3148"/>
                <a:ext cx="96" cy="0"/>
              </a:xfrm>
              <a:prstGeom prst="line">
                <a:avLst/>
              </a:prstGeom>
              <a:noFill/>
              <a:ln w="28575">
                <a:solidFill>
                  <a:schemeClr val="accent1"/>
                </a:solidFill>
                <a:round/>
                <a:headEnd/>
                <a:tailEnd/>
              </a:ln>
            </p:spPr>
            <p:txBody>
              <a:bodyPr wrap="none" anchor="ctr"/>
              <a:lstStyle/>
              <a:p>
                <a:endParaRPr lang="en-US"/>
              </a:p>
            </p:txBody>
          </p:sp>
          <p:sp>
            <p:nvSpPr>
              <p:cNvPr id="25667" name="Line 18"/>
              <p:cNvSpPr>
                <a:spLocks noChangeShapeType="1"/>
              </p:cNvSpPr>
              <p:nvPr/>
            </p:nvSpPr>
            <p:spPr bwMode="auto">
              <a:xfrm rot="5400000">
                <a:off x="2984" y="3152"/>
                <a:ext cx="96" cy="0"/>
              </a:xfrm>
              <a:prstGeom prst="line">
                <a:avLst/>
              </a:prstGeom>
              <a:noFill/>
              <a:ln w="28575">
                <a:solidFill>
                  <a:schemeClr val="accent1"/>
                </a:solidFill>
                <a:round/>
                <a:headEnd/>
                <a:tailEnd/>
              </a:ln>
            </p:spPr>
            <p:txBody>
              <a:bodyPr wrap="none" anchor="ctr"/>
              <a:lstStyle/>
              <a:p>
                <a:endParaRPr lang="en-US"/>
              </a:p>
            </p:txBody>
          </p:sp>
        </p:grpSp>
        <p:pic>
          <p:nvPicPr>
            <p:cNvPr id="25646" name="Picture 19"/>
            <p:cNvPicPr>
              <a:picLocks noChangeAspect="1" noChangeArrowheads="1"/>
            </p:cNvPicPr>
            <p:nvPr/>
          </p:nvPicPr>
          <p:blipFill>
            <a:blip r:embed="rId2"/>
            <a:srcRect/>
            <a:stretch>
              <a:fillRect/>
            </a:stretch>
          </p:blipFill>
          <p:spPr bwMode="auto">
            <a:xfrm>
              <a:off x="486" y="908"/>
              <a:ext cx="2614" cy="2424"/>
            </a:xfrm>
            <a:prstGeom prst="rect">
              <a:avLst/>
            </a:prstGeom>
            <a:noFill/>
            <a:ln w="9525">
              <a:noFill/>
              <a:miter lim="800000"/>
              <a:headEnd/>
              <a:tailEnd/>
            </a:ln>
          </p:spPr>
        </p:pic>
        <p:sp>
          <p:nvSpPr>
            <p:cNvPr id="25647" name="Rectangle 20"/>
            <p:cNvSpPr>
              <a:spLocks noChangeArrowheads="1"/>
            </p:cNvSpPr>
            <p:nvPr/>
          </p:nvSpPr>
          <p:spPr bwMode="auto">
            <a:xfrm>
              <a:off x="510" y="924"/>
              <a:ext cx="2560" cy="2384"/>
            </a:xfrm>
            <a:prstGeom prst="rect">
              <a:avLst/>
            </a:prstGeom>
            <a:noFill/>
            <a:ln w="57150">
              <a:solidFill>
                <a:schemeClr val="accent1"/>
              </a:solidFill>
              <a:miter lim="800000"/>
              <a:headEnd/>
              <a:tailEnd/>
            </a:ln>
          </p:spPr>
          <p:txBody>
            <a:bodyPr wrap="none" anchor="ctr"/>
            <a:lstStyle/>
            <a:p>
              <a:endParaRPr lang="en-NZ">
                <a:latin typeface="Calibri" pitchFamily="34" charset="0"/>
              </a:endParaRPr>
            </a:p>
          </p:txBody>
        </p:sp>
        <p:sp>
          <p:nvSpPr>
            <p:cNvPr id="25648" name="Text Box 21"/>
            <p:cNvSpPr txBox="1">
              <a:spLocks noChangeArrowheads="1"/>
            </p:cNvSpPr>
            <p:nvPr/>
          </p:nvSpPr>
          <p:spPr bwMode="auto">
            <a:xfrm>
              <a:off x="529" y="3403"/>
              <a:ext cx="295" cy="231"/>
            </a:xfrm>
            <a:prstGeom prst="rect">
              <a:avLst/>
            </a:prstGeom>
            <a:noFill/>
            <a:ln w="9525">
              <a:noFill/>
              <a:miter lim="800000"/>
              <a:headEnd/>
              <a:tailEnd/>
            </a:ln>
          </p:spPr>
          <p:txBody>
            <a:bodyPr wrap="none">
              <a:spAutoFit/>
            </a:bodyPr>
            <a:lstStyle/>
            <a:p>
              <a:r>
                <a:rPr lang="en-US">
                  <a:latin typeface="Calibri" pitchFamily="34" charset="0"/>
                </a:rPr>
                <a:t>20</a:t>
              </a:r>
            </a:p>
          </p:txBody>
        </p:sp>
        <p:sp>
          <p:nvSpPr>
            <p:cNvPr id="25649" name="Text Box 22"/>
            <p:cNvSpPr txBox="1">
              <a:spLocks noChangeArrowheads="1"/>
            </p:cNvSpPr>
            <p:nvPr/>
          </p:nvSpPr>
          <p:spPr bwMode="auto">
            <a:xfrm>
              <a:off x="973" y="3403"/>
              <a:ext cx="294" cy="231"/>
            </a:xfrm>
            <a:prstGeom prst="rect">
              <a:avLst/>
            </a:prstGeom>
            <a:noFill/>
            <a:ln w="9525">
              <a:noFill/>
              <a:miter lim="800000"/>
              <a:headEnd/>
              <a:tailEnd/>
            </a:ln>
          </p:spPr>
          <p:txBody>
            <a:bodyPr wrap="none">
              <a:spAutoFit/>
            </a:bodyPr>
            <a:lstStyle/>
            <a:p>
              <a:r>
                <a:rPr lang="en-US">
                  <a:latin typeface="Calibri" pitchFamily="34" charset="0"/>
                </a:rPr>
                <a:t>25</a:t>
              </a:r>
            </a:p>
          </p:txBody>
        </p:sp>
        <p:sp>
          <p:nvSpPr>
            <p:cNvPr id="25650" name="Text Box 23"/>
            <p:cNvSpPr txBox="1">
              <a:spLocks noChangeArrowheads="1"/>
            </p:cNvSpPr>
            <p:nvPr/>
          </p:nvSpPr>
          <p:spPr bwMode="auto">
            <a:xfrm>
              <a:off x="1389" y="3403"/>
              <a:ext cx="295" cy="231"/>
            </a:xfrm>
            <a:prstGeom prst="rect">
              <a:avLst/>
            </a:prstGeom>
            <a:noFill/>
            <a:ln w="9525">
              <a:noFill/>
              <a:miter lim="800000"/>
              <a:headEnd/>
              <a:tailEnd/>
            </a:ln>
          </p:spPr>
          <p:txBody>
            <a:bodyPr wrap="none">
              <a:spAutoFit/>
            </a:bodyPr>
            <a:lstStyle/>
            <a:p>
              <a:r>
                <a:rPr lang="en-US">
                  <a:latin typeface="Calibri" pitchFamily="34" charset="0"/>
                </a:rPr>
                <a:t>30</a:t>
              </a:r>
            </a:p>
          </p:txBody>
        </p:sp>
        <p:sp>
          <p:nvSpPr>
            <p:cNvPr id="25651" name="Text Box 24"/>
            <p:cNvSpPr txBox="1">
              <a:spLocks noChangeArrowheads="1"/>
            </p:cNvSpPr>
            <p:nvPr/>
          </p:nvSpPr>
          <p:spPr bwMode="auto">
            <a:xfrm>
              <a:off x="1833" y="3403"/>
              <a:ext cx="295" cy="231"/>
            </a:xfrm>
            <a:prstGeom prst="rect">
              <a:avLst/>
            </a:prstGeom>
            <a:noFill/>
            <a:ln w="9525">
              <a:noFill/>
              <a:miter lim="800000"/>
              <a:headEnd/>
              <a:tailEnd/>
            </a:ln>
          </p:spPr>
          <p:txBody>
            <a:bodyPr wrap="none">
              <a:spAutoFit/>
            </a:bodyPr>
            <a:lstStyle/>
            <a:p>
              <a:r>
                <a:rPr lang="en-US">
                  <a:latin typeface="Calibri" pitchFamily="34" charset="0"/>
                </a:rPr>
                <a:t>35</a:t>
              </a:r>
            </a:p>
          </p:txBody>
        </p:sp>
        <p:sp>
          <p:nvSpPr>
            <p:cNvPr id="25652" name="Text Box 25"/>
            <p:cNvSpPr txBox="1">
              <a:spLocks noChangeArrowheads="1"/>
            </p:cNvSpPr>
            <p:nvPr/>
          </p:nvSpPr>
          <p:spPr bwMode="auto">
            <a:xfrm>
              <a:off x="2265" y="3403"/>
              <a:ext cx="295" cy="231"/>
            </a:xfrm>
            <a:prstGeom prst="rect">
              <a:avLst/>
            </a:prstGeom>
            <a:noFill/>
            <a:ln w="9525">
              <a:noFill/>
              <a:miter lim="800000"/>
              <a:headEnd/>
              <a:tailEnd/>
            </a:ln>
          </p:spPr>
          <p:txBody>
            <a:bodyPr wrap="none">
              <a:spAutoFit/>
            </a:bodyPr>
            <a:lstStyle/>
            <a:p>
              <a:r>
                <a:rPr lang="en-US">
                  <a:latin typeface="Calibri" pitchFamily="34" charset="0"/>
                </a:rPr>
                <a:t>40</a:t>
              </a:r>
            </a:p>
          </p:txBody>
        </p:sp>
        <p:sp>
          <p:nvSpPr>
            <p:cNvPr id="25653" name="Text Box 26"/>
            <p:cNvSpPr txBox="1">
              <a:spLocks noChangeArrowheads="1"/>
            </p:cNvSpPr>
            <p:nvPr/>
          </p:nvSpPr>
          <p:spPr bwMode="auto">
            <a:xfrm>
              <a:off x="2709" y="3403"/>
              <a:ext cx="294" cy="231"/>
            </a:xfrm>
            <a:prstGeom prst="rect">
              <a:avLst/>
            </a:prstGeom>
            <a:noFill/>
            <a:ln w="9525">
              <a:noFill/>
              <a:miter lim="800000"/>
              <a:headEnd/>
              <a:tailEnd/>
            </a:ln>
          </p:spPr>
          <p:txBody>
            <a:bodyPr wrap="none">
              <a:spAutoFit/>
            </a:bodyPr>
            <a:lstStyle/>
            <a:p>
              <a:r>
                <a:rPr lang="en-US">
                  <a:latin typeface="Calibri" pitchFamily="34" charset="0"/>
                </a:rPr>
                <a:t>45</a:t>
              </a:r>
            </a:p>
          </p:txBody>
        </p:sp>
        <p:sp>
          <p:nvSpPr>
            <p:cNvPr id="25654" name="Text Box 27"/>
            <p:cNvSpPr txBox="1">
              <a:spLocks noChangeArrowheads="1"/>
            </p:cNvSpPr>
            <p:nvPr/>
          </p:nvSpPr>
          <p:spPr bwMode="auto">
            <a:xfrm>
              <a:off x="84" y="2496"/>
              <a:ext cx="295" cy="231"/>
            </a:xfrm>
            <a:prstGeom prst="rect">
              <a:avLst/>
            </a:prstGeom>
            <a:noFill/>
            <a:ln w="9525">
              <a:noFill/>
              <a:miter lim="800000"/>
              <a:headEnd/>
              <a:tailEnd/>
            </a:ln>
          </p:spPr>
          <p:txBody>
            <a:bodyPr wrap="none">
              <a:spAutoFit/>
            </a:bodyPr>
            <a:lstStyle/>
            <a:p>
              <a:r>
                <a:rPr lang="en-US">
                  <a:latin typeface="Calibri" pitchFamily="34" charset="0"/>
                </a:rPr>
                <a:t>20</a:t>
              </a:r>
            </a:p>
          </p:txBody>
        </p:sp>
        <p:sp>
          <p:nvSpPr>
            <p:cNvPr id="25655" name="Text Box 28"/>
            <p:cNvSpPr txBox="1">
              <a:spLocks noChangeArrowheads="1"/>
            </p:cNvSpPr>
            <p:nvPr/>
          </p:nvSpPr>
          <p:spPr bwMode="auto">
            <a:xfrm>
              <a:off x="84" y="2919"/>
              <a:ext cx="295" cy="231"/>
            </a:xfrm>
            <a:prstGeom prst="rect">
              <a:avLst/>
            </a:prstGeom>
            <a:noFill/>
            <a:ln w="9525">
              <a:noFill/>
              <a:miter lim="800000"/>
              <a:headEnd/>
              <a:tailEnd/>
            </a:ln>
          </p:spPr>
          <p:txBody>
            <a:bodyPr wrap="none">
              <a:spAutoFit/>
            </a:bodyPr>
            <a:lstStyle/>
            <a:p>
              <a:r>
                <a:rPr lang="en-US">
                  <a:latin typeface="Calibri" pitchFamily="34" charset="0"/>
                </a:rPr>
                <a:t>18</a:t>
              </a:r>
            </a:p>
          </p:txBody>
        </p:sp>
        <p:sp>
          <p:nvSpPr>
            <p:cNvPr id="25656" name="Text Box 29"/>
            <p:cNvSpPr txBox="1">
              <a:spLocks noChangeArrowheads="1"/>
            </p:cNvSpPr>
            <p:nvPr/>
          </p:nvSpPr>
          <p:spPr bwMode="auto">
            <a:xfrm>
              <a:off x="84" y="1645"/>
              <a:ext cx="295" cy="231"/>
            </a:xfrm>
            <a:prstGeom prst="rect">
              <a:avLst/>
            </a:prstGeom>
            <a:noFill/>
            <a:ln w="9525">
              <a:noFill/>
              <a:miter lim="800000"/>
              <a:headEnd/>
              <a:tailEnd/>
            </a:ln>
          </p:spPr>
          <p:txBody>
            <a:bodyPr wrap="none">
              <a:spAutoFit/>
            </a:bodyPr>
            <a:lstStyle/>
            <a:p>
              <a:r>
                <a:rPr lang="en-US">
                  <a:latin typeface="Calibri" pitchFamily="34" charset="0"/>
                </a:rPr>
                <a:t>24</a:t>
              </a:r>
            </a:p>
          </p:txBody>
        </p:sp>
        <p:sp>
          <p:nvSpPr>
            <p:cNvPr id="25657" name="Text Box 30"/>
            <p:cNvSpPr txBox="1">
              <a:spLocks noChangeArrowheads="1"/>
            </p:cNvSpPr>
            <p:nvPr/>
          </p:nvSpPr>
          <p:spPr bwMode="auto">
            <a:xfrm>
              <a:off x="84" y="2068"/>
              <a:ext cx="295" cy="231"/>
            </a:xfrm>
            <a:prstGeom prst="rect">
              <a:avLst/>
            </a:prstGeom>
            <a:noFill/>
            <a:ln w="9525">
              <a:noFill/>
              <a:miter lim="800000"/>
              <a:headEnd/>
              <a:tailEnd/>
            </a:ln>
          </p:spPr>
          <p:txBody>
            <a:bodyPr wrap="none">
              <a:spAutoFit/>
            </a:bodyPr>
            <a:lstStyle/>
            <a:p>
              <a:r>
                <a:rPr lang="en-US">
                  <a:latin typeface="Calibri" pitchFamily="34" charset="0"/>
                </a:rPr>
                <a:t>22</a:t>
              </a:r>
            </a:p>
          </p:txBody>
        </p:sp>
        <p:sp>
          <p:nvSpPr>
            <p:cNvPr id="25658" name="Text Box 31"/>
            <p:cNvSpPr txBox="1">
              <a:spLocks noChangeArrowheads="1"/>
            </p:cNvSpPr>
            <p:nvPr/>
          </p:nvSpPr>
          <p:spPr bwMode="auto">
            <a:xfrm>
              <a:off x="84" y="789"/>
              <a:ext cx="295" cy="231"/>
            </a:xfrm>
            <a:prstGeom prst="rect">
              <a:avLst/>
            </a:prstGeom>
            <a:noFill/>
            <a:ln w="9525">
              <a:noFill/>
              <a:miter lim="800000"/>
              <a:headEnd/>
              <a:tailEnd/>
            </a:ln>
          </p:spPr>
          <p:txBody>
            <a:bodyPr wrap="none">
              <a:spAutoFit/>
            </a:bodyPr>
            <a:lstStyle/>
            <a:p>
              <a:r>
                <a:rPr lang="en-US">
                  <a:latin typeface="Calibri" pitchFamily="34" charset="0"/>
                </a:rPr>
                <a:t>28</a:t>
              </a:r>
            </a:p>
          </p:txBody>
        </p:sp>
        <p:sp>
          <p:nvSpPr>
            <p:cNvPr id="25659" name="Text Box 32"/>
            <p:cNvSpPr txBox="1">
              <a:spLocks noChangeArrowheads="1"/>
            </p:cNvSpPr>
            <p:nvPr/>
          </p:nvSpPr>
          <p:spPr bwMode="auto">
            <a:xfrm>
              <a:off x="84" y="1212"/>
              <a:ext cx="295" cy="231"/>
            </a:xfrm>
            <a:prstGeom prst="rect">
              <a:avLst/>
            </a:prstGeom>
            <a:noFill/>
            <a:ln w="9525">
              <a:noFill/>
              <a:miter lim="800000"/>
              <a:headEnd/>
              <a:tailEnd/>
            </a:ln>
          </p:spPr>
          <p:txBody>
            <a:bodyPr wrap="none">
              <a:spAutoFit/>
            </a:bodyPr>
            <a:lstStyle/>
            <a:p>
              <a:r>
                <a:rPr lang="en-US">
                  <a:latin typeface="Calibri" pitchFamily="34" charset="0"/>
                </a:rPr>
                <a:t>26</a:t>
              </a:r>
            </a:p>
          </p:txBody>
        </p:sp>
        <p:sp>
          <p:nvSpPr>
            <p:cNvPr id="25660" name="Text Box 33"/>
            <p:cNvSpPr txBox="1">
              <a:spLocks noChangeArrowheads="1"/>
            </p:cNvSpPr>
            <p:nvPr/>
          </p:nvSpPr>
          <p:spPr bwMode="auto">
            <a:xfrm>
              <a:off x="1953" y="3600"/>
              <a:ext cx="841" cy="231"/>
            </a:xfrm>
            <a:prstGeom prst="rect">
              <a:avLst/>
            </a:prstGeom>
            <a:noFill/>
            <a:ln w="9525">
              <a:noFill/>
              <a:miter lim="800000"/>
              <a:headEnd/>
              <a:tailEnd/>
            </a:ln>
          </p:spPr>
          <p:txBody>
            <a:bodyPr wrap="none">
              <a:spAutoFit/>
            </a:bodyPr>
            <a:lstStyle/>
            <a:p>
              <a:r>
                <a:rPr lang="en-US">
                  <a:latin typeface="Calibri" pitchFamily="34" charset="0"/>
                </a:rPr>
                <a:t>NDF, %DM</a:t>
              </a:r>
            </a:p>
          </p:txBody>
        </p:sp>
        <p:sp>
          <p:nvSpPr>
            <p:cNvPr id="25661" name="Text Box 34"/>
            <p:cNvSpPr txBox="1">
              <a:spLocks noChangeArrowheads="1"/>
            </p:cNvSpPr>
            <p:nvPr/>
          </p:nvSpPr>
          <p:spPr bwMode="auto">
            <a:xfrm>
              <a:off x="414" y="624"/>
              <a:ext cx="785" cy="231"/>
            </a:xfrm>
            <a:prstGeom prst="rect">
              <a:avLst/>
            </a:prstGeom>
            <a:noFill/>
            <a:ln w="9525">
              <a:noFill/>
              <a:miter lim="800000"/>
              <a:headEnd/>
              <a:tailEnd/>
            </a:ln>
          </p:spPr>
          <p:txBody>
            <a:bodyPr wrap="none">
              <a:spAutoFit/>
            </a:bodyPr>
            <a:lstStyle/>
            <a:p>
              <a:r>
                <a:rPr lang="en-US">
                  <a:latin typeface="Calibri" pitchFamily="34" charset="0"/>
                </a:rPr>
                <a:t>DMI, kg/d</a:t>
              </a:r>
            </a:p>
          </p:txBody>
        </p:sp>
      </p:grpSp>
      <p:grpSp>
        <p:nvGrpSpPr>
          <p:cNvPr id="597027" name="Group 35"/>
          <p:cNvGrpSpPr>
            <a:grpSpLocks/>
          </p:cNvGrpSpPr>
          <p:nvPr/>
        </p:nvGrpSpPr>
        <p:grpSpPr bwMode="auto">
          <a:xfrm>
            <a:off x="4800600" y="1219200"/>
            <a:ext cx="4297363" cy="5094288"/>
            <a:chOff x="3402" y="624"/>
            <a:chExt cx="3045" cy="3209"/>
          </a:xfrm>
        </p:grpSpPr>
        <p:pic>
          <p:nvPicPr>
            <p:cNvPr id="25606" name="Picture 36"/>
            <p:cNvPicPr>
              <a:picLocks noChangeAspect="1" noChangeArrowheads="1"/>
            </p:cNvPicPr>
            <p:nvPr/>
          </p:nvPicPr>
          <p:blipFill>
            <a:blip r:embed="rId3"/>
            <a:srcRect/>
            <a:stretch>
              <a:fillRect/>
            </a:stretch>
          </p:blipFill>
          <p:spPr bwMode="auto">
            <a:xfrm>
              <a:off x="3812" y="900"/>
              <a:ext cx="2577" cy="2424"/>
            </a:xfrm>
            <a:prstGeom prst="rect">
              <a:avLst/>
            </a:prstGeom>
            <a:noFill/>
            <a:ln w="9525">
              <a:noFill/>
              <a:miter lim="800000"/>
              <a:headEnd/>
              <a:tailEnd/>
            </a:ln>
          </p:spPr>
        </p:pic>
        <p:grpSp>
          <p:nvGrpSpPr>
            <p:cNvPr id="25607" name="Group 37"/>
            <p:cNvGrpSpPr>
              <a:grpSpLocks/>
            </p:cNvGrpSpPr>
            <p:nvPr/>
          </p:nvGrpSpPr>
          <p:grpSpPr bwMode="auto">
            <a:xfrm>
              <a:off x="3732" y="924"/>
              <a:ext cx="96" cy="2323"/>
              <a:chOff x="3633" y="696"/>
              <a:chExt cx="96" cy="2323"/>
            </a:xfrm>
          </p:grpSpPr>
          <p:sp>
            <p:nvSpPr>
              <p:cNvPr id="25636" name="Line 38"/>
              <p:cNvSpPr>
                <a:spLocks noChangeShapeType="1"/>
              </p:cNvSpPr>
              <p:nvPr/>
            </p:nvSpPr>
            <p:spPr bwMode="auto">
              <a:xfrm flipH="1">
                <a:off x="3633" y="696"/>
                <a:ext cx="96" cy="0"/>
              </a:xfrm>
              <a:prstGeom prst="line">
                <a:avLst/>
              </a:prstGeom>
              <a:noFill/>
              <a:ln w="28575">
                <a:solidFill>
                  <a:schemeClr val="accent1"/>
                </a:solidFill>
                <a:round/>
                <a:headEnd/>
                <a:tailEnd/>
              </a:ln>
            </p:spPr>
            <p:txBody>
              <a:bodyPr wrap="none" anchor="ctr"/>
              <a:lstStyle/>
              <a:p>
                <a:endParaRPr lang="en-US"/>
              </a:p>
            </p:txBody>
          </p:sp>
          <p:sp>
            <p:nvSpPr>
              <p:cNvPr id="25637" name="Line 39"/>
              <p:cNvSpPr>
                <a:spLocks noChangeShapeType="1"/>
              </p:cNvSpPr>
              <p:nvPr/>
            </p:nvSpPr>
            <p:spPr bwMode="auto">
              <a:xfrm flipH="1">
                <a:off x="3633" y="1044"/>
                <a:ext cx="96" cy="0"/>
              </a:xfrm>
              <a:prstGeom prst="line">
                <a:avLst/>
              </a:prstGeom>
              <a:noFill/>
              <a:ln w="28575">
                <a:solidFill>
                  <a:schemeClr val="accent1"/>
                </a:solidFill>
                <a:round/>
                <a:headEnd/>
                <a:tailEnd/>
              </a:ln>
            </p:spPr>
            <p:txBody>
              <a:bodyPr wrap="none" anchor="ctr"/>
              <a:lstStyle/>
              <a:p>
                <a:endParaRPr lang="en-US"/>
              </a:p>
            </p:txBody>
          </p:sp>
          <p:sp>
            <p:nvSpPr>
              <p:cNvPr id="25638" name="Line 40"/>
              <p:cNvSpPr>
                <a:spLocks noChangeShapeType="1"/>
              </p:cNvSpPr>
              <p:nvPr/>
            </p:nvSpPr>
            <p:spPr bwMode="auto">
              <a:xfrm flipH="1">
                <a:off x="3633" y="1372"/>
                <a:ext cx="96" cy="0"/>
              </a:xfrm>
              <a:prstGeom prst="line">
                <a:avLst/>
              </a:prstGeom>
              <a:noFill/>
              <a:ln w="28575">
                <a:solidFill>
                  <a:schemeClr val="accent1"/>
                </a:solidFill>
                <a:round/>
                <a:headEnd/>
                <a:tailEnd/>
              </a:ln>
            </p:spPr>
            <p:txBody>
              <a:bodyPr wrap="none" anchor="ctr"/>
              <a:lstStyle/>
              <a:p>
                <a:endParaRPr lang="en-US"/>
              </a:p>
            </p:txBody>
          </p:sp>
          <p:sp>
            <p:nvSpPr>
              <p:cNvPr id="25639" name="Line 41"/>
              <p:cNvSpPr>
                <a:spLocks noChangeShapeType="1"/>
              </p:cNvSpPr>
              <p:nvPr/>
            </p:nvSpPr>
            <p:spPr bwMode="auto">
              <a:xfrm flipH="1">
                <a:off x="3633" y="1700"/>
                <a:ext cx="96" cy="0"/>
              </a:xfrm>
              <a:prstGeom prst="line">
                <a:avLst/>
              </a:prstGeom>
              <a:noFill/>
              <a:ln w="28575">
                <a:solidFill>
                  <a:schemeClr val="accent1"/>
                </a:solidFill>
                <a:round/>
                <a:headEnd/>
                <a:tailEnd/>
              </a:ln>
            </p:spPr>
            <p:txBody>
              <a:bodyPr wrap="none" anchor="ctr"/>
              <a:lstStyle/>
              <a:p>
                <a:endParaRPr lang="en-US"/>
              </a:p>
            </p:txBody>
          </p:sp>
          <p:sp>
            <p:nvSpPr>
              <p:cNvPr id="25640" name="Line 42"/>
              <p:cNvSpPr>
                <a:spLocks noChangeShapeType="1"/>
              </p:cNvSpPr>
              <p:nvPr/>
            </p:nvSpPr>
            <p:spPr bwMode="auto">
              <a:xfrm flipH="1">
                <a:off x="3633" y="2031"/>
                <a:ext cx="96" cy="0"/>
              </a:xfrm>
              <a:prstGeom prst="line">
                <a:avLst/>
              </a:prstGeom>
              <a:noFill/>
              <a:ln w="28575">
                <a:solidFill>
                  <a:schemeClr val="accent1"/>
                </a:solidFill>
                <a:round/>
                <a:headEnd/>
                <a:tailEnd/>
              </a:ln>
            </p:spPr>
            <p:txBody>
              <a:bodyPr wrap="none" anchor="ctr"/>
              <a:lstStyle/>
              <a:p>
                <a:endParaRPr lang="en-US"/>
              </a:p>
            </p:txBody>
          </p:sp>
          <p:sp>
            <p:nvSpPr>
              <p:cNvPr id="25641" name="Line 43"/>
              <p:cNvSpPr>
                <a:spLocks noChangeShapeType="1"/>
              </p:cNvSpPr>
              <p:nvPr/>
            </p:nvSpPr>
            <p:spPr bwMode="auto">
              <a:xfrm flipH="1">
                <a:off x="3633" y="2363"/>
                <a:ext cx="96" cy="0"/>
              </a:xfrm>
              <a:prstGeom prst="line">
                <a:avLst/>
              </a:prstGeom>
              <a:noFill/>
              <a:ln w="28575">
                <a:solidFill>
                  <a:schemeClr val="accent1"/>
                </a:solidFill>
                <a:round/>
                <a:headEnd/>
                <a:tailEnd/>
              </a:ln>
            </p:spPr>
            <p:txBody>
              <a:bodyPr wrap="none" anchor="ctr"/>
              <a:lstStyle/>
              <a:p>
                <a:endParaRPr lang="en-US"/>
              </a:p>
            </p:txBody>
          </p:sp>
          <p:sp>
            <p:nvSpPr>
              <p:cNvPr id="25642" name="Line 44"/>
              <p:cNvSpPr>
                <a:spLocks noChangeShapeType="1"/>
              </p:cNvSpPr>
              <p:nvPr/>
            </p:nvSpPr>
            <p:spPr bwMode="auto">
              <a:xfrm flipH="1">
                <a:off x="3633" y="2691"/>
                <a:ext cx="96" cy="0"/>
              </a:xfrm>
              <a:prstGeom prst="line">
                <a:avLst/>
              </a:prstGeom>
              <a:noFill/>
              <a:ln w="28575">
                <a:solidFill>
                  <a:schemeClr val="accent1"/>
                </a:solidFill>
                <a:round/>
                <a:headEnd/>
                <a:tailEnd/>
              </a:ln>
            </p:spPr>
            <p:txBody>
              <a:bodyPr wrap="none" anchor="ctr"/>
              <a:lstStyle/>
              <a:p>
                <a:endParaRPr lang="en-US"/>
              </a:p>
            </p:txBody>
          </p:sp>
          <p:sp>
            <p:nvSpPr>
              <p:cNvPr id="25643" name="Line 45"/>
              <p:cNvSpPr>
                <a:spLocks noChangeShapeType="1"/>
              </p:cNvSpPr>
              <p:nvPr/>
            </p:nvSpPr>
            <p:spPr bwMode="auto">
              <a:xfrm flipH="1">
                <a:off x="3633" y="3019"/>
                <a:ext cx="96" cy="0"/>
              </a:xfrm>
              <a:prstGeom prst="line">
                <a:avLst/>
              </a:prstGeom>
              <a:noFill/>
              <a:ln w="28575">
                <a:solidFill>
                  <a:schemeClr val="accent1"/>
                </a:solidFill>
                <a:round/>
                <a:headEnd/>
                <a:tailEnd/>
              </a:ln>
            </p:spPr>
            <p:txBody>
              <a:bodyPr wrap="none" anchor="ctr"/>
              <a:lstStyle/>
              <a:p>
                <a:endParaRPr lang="en-US"/>
              </a:p>
            </p:txBody>
          </p:sp>
        </p:grpSp>
        <p:grpSp>
          <p:nvGrpSpPr>
            <p:cNvPr id="25608" name="Group 46"/>
            <p:cNvGrpSpPr>
              <a:grpSpLocks/>
            </p:cNvGrpSpPr>
            <p:nvPr/>
          </p:nvGrpSpPr>
          <p:grpSpPr bwMode="auto">
            <a:xfrm>
              <a:off x="3828" y="3299"/>
              <a:ext cx="2492" cy="104"/>
              <a:chOff x="3744" y="3096"/>
              <a:chExt cx="2492" cy="104"/>
            </a:xfrm>
          </p:grpSpPr>
          <p:sp>
            <p:nvSpPr>
              <p:cNvPr id="25628" name="Line 47"/>
              <p:cNvSpPr>
                <a:spLocks noChangeShapeType="1"/>
              </p:cNvSpPr>
              <p:nvPr/>
            </p:nvSpPr>
            <p:spPr bwMode="auto">
              <a:xfrm rot="5400000">
                <a:off x="3696" y="3152"/>
                <a:ext cx="96" cy="0"/>
              </a:xfrm>
              <a:prstGeom prst="line">
                <a:avLst/>
              </a:prstGeom>
              <a:noFill/>
              <a:ln w="28575">
                <a:solidFill>
                  <a:schemeClr val="accent1"/>
                </a:solidFill>
                <a:round/>
                <a:headEnd/>
                <a:tailEnd/>
              </a:ln>
            </p:spPr>
            <p:txBody>
              <a:bodyPr wrap="none" anchor="ctr"/>
              <a:lstStyle/>
              <a:p>
                <a:endParaRPr lang="en-US"/>
              </a:p>
            </p:txBody>
          </p:sp>
          <p:sp>
            <p:nvSpPr>
              <p:cNvPr id="25629" name="Line 48"/>
              <p:cNvSpPr>
                <a:spLocks noChangeShapeType="1"/>
              </p:cNvSpPr>
              <p:nvPr/>
            </p:nvSpPr>
            <p:spPr bwMode="auto">
              <a:xfrm rot="5400000">
                <a:off x="4064" y="3148"/>
                <a:ext cx="96" cy="0"/>
              </a:xfrm>
              <a:prstGeom prst="line">
                <a:avLst/>
              </a:prstGeom>
              <a:noFill/>
              <a:ln w="28575">
                <a:solidFill>
                  <a:schemeClr val="accent1"/>
                </a:solidFill>
                <a:round/>
                <a:headEnd/>
                <a:tailEnd/>
              </a:ln>
            </p:spPr>
            <p:txBody>
              <a:bodyPr wrap="none" anchor="ctr"/>
              <a:lstStyle/>
              <a:p>
                <a:endParaRPr lang="en-US"/>
              </a:p>
            </p:txBody>
          </p:sp>
          <p:sp>
            <p:nvSpPr>
              <p:cNvPr id="25630" name="Line 49"/>
              <p:cNvSpPr>
                <a:spLocks noChangeShapeType="1"/>
              </p:cNvSpPr>
              <p:nvPr/>
            </p:nvSpPr>
            <p:spPr bwMode="auto">
              <a:xfrm rot="5400000">
                <a:off x="4428" y="3152"/>
                <a:ext cx="96" cy="0"/>
              </a:xfrm>
              <a:prstGeom prst="line">
                <a:avLst/>
              </a:prstGeom>
              <a:noFill/>
              <a:ln w="28575">
                <a:solidFill>
                  <a:schemeClr val="accent1"/>
                </a:solidFill>
                <a:round/>
                <a:headEnd/>
                <a:tailEnd/>
              </a:ln>
            </p:spPr>
            <p:txBody>
              <a:bodyPr wrap="none" anchor="ctr"/>
              <a:lstStyle/>
              <a:p>
                <a:endParaRPr lang="en-US"/>
              </a:p>
            </p:txBody>
          </p:sp>
          <p:sp>
            <p:nvSpPr>
              <p:cNvPr id="25631" name="Line 50"/>
              <p:cNvSpPr>
                <a:spLocks noChangeShapeType="1"/>
              </p:cNvSpPr>
              <p:nvPr/>
            </p:nvSpPr>
            <p:spPr bwMode="auto">
              <a:xfrm rot="5400000">
                <a:off x="4776" y="3148"/>
                <a:ext cx="96" cy="0"/>
              </a:xfrm>
              <a:prstGeom prst="line">
                <a:avLst/>
              </a:prstGeom>
              <a:noFill/>
              <a:ln w="28575">
                <a:solidFill>
                  <a:schemeClr val="accent1"/>
                </a:solidFill>
                <a:round/>
                <a:headEnd/>
                <a:tailEnd/>
              </a:ln>
            </p:spPr>
            <p:txBody>
              <a:bodyPr wrap="none" anchor="ctr"/>
              <a:lstStyle/>
              <a:p>
                <a:endParaRPr lang="en-US"/>
              </a:p>
            </p:txBody>
          </p:sp>
          <p:sp>
            <p:nvSpPr>
              <p:cNvPr id="25632" name="Line 51"/>
              <p:cNvSpPr>
                <a:spLocks noChangeShapeType="1"/>
              </p:cNvSpPr>
              <p:nvPr/>
            </p:nvSpPr>
            <p:spPr bwMode="auto">
              <a:xfrm rot="5400000">
                <a:off x="5136" y="3148"/>
                <a:ext cx="96" cy="0"/>
              </a:xfrm>
              <a:prstGeom prst="line">
                <a:avLst/>
              </a:prstGeom>
              <a:noFill/>
              <a:ln w="28575">
                <a:solidFill>
                  <a:schemeClr val="accent1"/>
                </a:solidFill>
                <a:round/>
                <a:headEnd/>
                <a:tailEnd/>
              </a:ln>
            </p:spPr>
            <p:txBody>
              <a:bodyPr wrap="none" anchor="ctr"/>
              <a:lstStyle/>
              <a:p>
                <a:endParaRPr lang="en-US"/>
              </a:p>
            </p:txBody>
          </p:sp>
          <p:sp>
            <p:nvSpPr>
              <p:cNvPr id="25633" name="Line 52"/>
              <p:cNvSpPr>
                <a:spLocks noChangeShapeType="1"/>
              </p:cNvSpPr>
              <p:nvPr/>
            </p:nvSpPr>
            <p:spPr bwMode="auto">
              <a:xfrm rot="5400000">
                <a:off x="5484" y="3152"/>
                <a:ext cx="96" cy="0"/>
              </a:xfrm>
              <a:prstGeom prst="line">
                <a:avLst/>
              </a:prstGeom>
              <a:noFill/>
              <a:ln w="28575">
                <a:solidFill>
                  <a:schemeClr val="accent1"/>
                </a:solidFill>
                <a:round/>
                <a:headEnd/>
                <a:tailEnd/>
              </a:ln>
            </p:spPr>
            <p:txBody>
              <a:bodyPr wrap="none" anchor="ctr"/>
              <a:lstStyle/>
              <a:p>
                <a:endParaRPr lang="en-US"/>
              </a:p>
            </p:txBody>
          </p:sp>
          <p:sp>
            <p:nvSpPr>
              <p:cNvPr id="25634" name="Line 53"/>
              <p:cNvSpPr>
                <a:spLocks noChangeShapeType="1"/>
              </p:cNvSpPr>
              <p:nvPr/>
            </p:nvSpPr>
            <p:spPr bwMode="auto">
              <a:xfrm rot="5400000">
                <a:off x="5844" y="3148"/>
                <a:ext cx="96" cy="0"/>
              </a:xfrm>
              <a:prstGeom prst="line">
                <a:avLst/>
              </a:prstGeom>
              <a:noFill/>
              <a:ln w="28575">
                <a:solidFill>
                  <a:schemeClr val="accent1"/>
                </a:solidFill>
                <a:round/>
                <a:headEnd/>
                <a:tailEnd/>
              </a:ln>
            </p:spPr>
            <p:txBody>
              <a:bodyPr wrap="none" anchor="ctr"/>
              <a:lstStyle/>
              <a:p>
                <a:endParaRPr lang="en-US"/>
              </a:p>
            </p:txBody>
          </p:sp>
          <p:sp>
            <p:nvSpPr>
              <p:cNvPr id="25635" name="Line 54"/>
              <p:cNvSpPr>
                <a:spLocks noChangeShapeType="1"/>
              </p:cNvSpPr>
              <p:nvPr/>
            </p:nvSpPr>
            <p:spPr bwMode="auto">
              <a:xfrm rot="5400000">
                <a:off x="6188" y="3144"/>
                <a:ext cx="96" cy="0"/>
              </a:xfrm>
              <a:prstGeom prst="line">
                <a:avLst/>
              </a:prstGeom>
              <a:noFill/>
              <a:ln w="28575">
                <a:solidFill>
                  <a:schemeClr val="accent1"/>
                </a:solidFill>
                <a:round/>
                <a:headEnd/>
                <a:tailEnd/>
              </a:ln>
            </p:spPr>
            <p:txBody>
              <a:bodyPr wrap="none" anchor="ctr"/>
              <a:lstStyle/>
              <a:p>
                <a:endParaRPr lang="en-US"/>
              </a:p>
            </p:txBody>
          </p:sp>
        </p:grpSp>
        <p:sp>
          <p:nvSpPr>
            <p:cNvPr id="25609" name="Rectangle 55"/>
            <p:cNvSpPr>
              <a:spLocks noChangeArrowheads="1"/>
            </p:cNvSpPr>
            <p:nvPr/>
          </p:nvSpPr>
          <p:spPr bwMode="auto">
            <a:xfrm>
              <a:off x="3812" y="924"/>
              <a:ext cx="2560" cy="2384"/>
            </a:xfrm>
            <a:prstGeom prst="rect">
              <a:avLst/>
            </a:prstGeom>
            <a:noFill/>
            <a:ln w="57150">
              <a:solidFill>
                <a:schemeClr val="accent1"/>
              </a:solidFill>
              <a:miter lim="800000"/>
              <a:headEnd/>
              <a:tailEnd/>
            </a:ln>
          </p:spPr>
          <p:txBody>
            <a:bodyPr wrap="none" anchor="ctr"/>
            <a:lstStyle/>
            <a:p>
              <a:endParaRPr lang="en-NZ">
                <a:latin typeface="Calibri" pitchFamily="34" charset="0"/>
              </a:endParaRPr>
            </a:p>
          </p:txBody>
        </p:sp>
        <p:sp>
          <p:nvSpPr>
            <p:cNvPr id="25610" name="Text Box 56"/>
            <p:cNvSpPr txBox="1">
              <a:spLocks noChangeArrowheads="1"/>
            </p:cNvSpPr>
            <p:nvPr/>
          </p:nvSpPr>
          <p:spPr bwMode="auto">
            <a:xfrm>
              <a:off x="3663" y="3403"/>
              <a:ext cx="297" cy="233"/>
            </a:xfrm>
            <a:prstGeom prst="rect">
              <a:avLst/>
            </a:prstGeom>
            <a:noFill/>
            <a:ln w="9525">
              <a:noFill/>
              <a:miter lim="800000"/>
              <a:headEnd/>
              <a:tailEnd/>
            </a:ln>
          </p:spPr>
          <p:txBody>
            <a:bodyPr wrap="none">
              <a:spAutoFit/>
            </a:bodyPr>
            <a:lstStyle/>
            <a:p>
              <a:r>
                <a:rPr lang="en-US">
                  <a:latin typeface="Calibri" pitchFamily="34" charset="0"/>
                </a:rPr>
                <a:t>10</a:t>
              </a:r>
            </a:p>
          </p:txBody>
        </p:sp>
        <p:sp>
          <p:nvSpPr>
            <p:cNvPr id="25611" name="Text Box 57"/>
            <p:cNvSpPr txBox="1">
              <a:spLocks noChangeArrowheads="1"/>
            </p:cNvSpPr>
            <p:nvPr/>
          </p:nvSpPr>
          <p:spPr bwMode="auto">
            <a:xfrm>
              <a:off x="4031" y="3403"/>
              <a:ext cx="297" cy="233"/>
            </a:xfrm>
            <a:prstGeom prst="rect">
              <a:avLst/>
            </a:prstGeom>
            <a:noFill/>
            <a:ln w="9525">
              <a:noFill/>
              <a:miter lim="800000"/>
              <a:headEnd/>
              <a:tailEnd/>
            </a:ln>
          </p:spPr>
          <p:txBody>
            <a:bodyPr wrap="none">
              <a:spAutoFit/>
            </a:bodyPr>
            <a:lstStyle/>
            <a:p>
              <a:r>
                <a:rPr lang="en-US">
                  <a:latin typeface="Calibri" pitchFamily="34" charset="0"/>
                </a:rPr>
                <a:t>12</a:t>
              </a:r>
            </a:p>
          </p:txBody>
        </p:sp>
        <p:sp>
          <p:nvSpPr>
            <p:cNvPr id="25612" name="Text Box 58"/>
            <p:cNvSpPr txBox="1">
              <a:spLocks noChangeArrowheads="1"/>
            </p:cNvSpPr>
            <p:nvPr/>
          </p:nvSpPr>
          <p:spPr bwMode="auto">
            <a:xfrm>
              <a:off x="4395" y="3403"/>
              <a:ext cx="297" cy="233"/>
            </a:xfrm>
            <a:prstGeom prst="rect">
              <a:avLst/>
            </a:prstGeom>
            <a:noFill/>
            <a:ln w="9525">
              <a:noFill/>
              <a:miter lim="800000"/>
              <a:headEnd/>
              <a:tailEnd/>
            </a:ln>
          </p:spPr>
          <p:txBody>
            <a:bodyPr wrap="none">
              <a:spAutoFit/>
            </a:bodyPr>
            <a:lstStyle/>
            <a:p>
              <a:r>
                <a:rPr lang="en-US">
                  <a:latin typeface="Calibri" pitchFamily="34" charset="0"/>
                </a:rPr>
                <a:t>14</a:t>
              </a:r>
            </a:p>
          </p:txBody>
        </p:sp>
        <p:sp>
          <p:nvSpPr>
            <p:cNvPr id="25613" name="Text Box 59"/>
            <p:cNvSpPr txBox="1">
              <a:spLocks noChangeArrowheads="1"/>
            </p:cNvSpPr>
            <p:nvPr/>
          </p:nvSpPr>
          <p:spPr bwMode="auto">
            <a:xfrm>
              <a:off x="4773" y="3403"/>
              <a:ext cx="297" cy="233"/>
            </a:xfrm>
            <a:prstGeom prst="rect">
              <a:avLst/>
            </a:prstGeom>
            <a:noFill/>
            <a:ln w="9525">
              <a:noFill/>
              <a:miter lim="800000"/>
              <a:headEnd/>
              <a:tailEnd/>
            </a:ln>
          </p:spPr>
          <p:txBody>
            <a:bodyPr wrap="none">
              <a:spAutoFit/>
            </a:bodyPr>
            <a:lstStyle/>
            <a:p>
              <a:r>
                <a:rPr lang="en-US">
                  <a:latin typeface="Calibri" pitchFamily="34" charset="0"/>
                </a:rPr>
                <a:t>16</a:t>
              </a:r>
            </a:p>
          </p:txBody>
        </p:sp>
        <p:sp>
          <p:nvSpPr>
            <p:cNvPr id="25614" name="Text Box 60"/>
            <p:cNvSpPr txBox="1">
              <a:spLocks noChangeArrowheads="1"/>
            </p:cNvSpPr>
            <p:nvPr/>
          </p:nvSpPr>
          <p:spPr bwMode="auto">
            <a:xfrm>
              <a:off x="5103" y="3403"/>
              <a:ext cx="297" cy="233"/>
            </a:xfrm>
            <a:prstGeom prst="rect">
              <a:avLst/>
            </a:prstGeom>
            <a:noFill/>
            <a:ln w="9525">
              <a:noFill/>
              <a:miter lim="800000"/>
              <a:headEnd/>
              <a:tailEnd/>
            </a:ln>
          </p:spPr>
          <p:txBody>
            <a:bodyPr wrap="none">
              <a:spAutoFit/>
            </a:bodyPr>
            <a:lstStyle/>
            <a:p>
              <a:r>
                <a:rPr lang="en-US">
                  <a:latin typeface="Calibri" pitchFamily="34" charset="0"/>
                </a:rPr>
                <a:t>18</a:t>
              </a:r>
            </a:p>
          </p:txBody>
        </p:sp>
        <p:sp>
          <p:nvSpPr>
            <p:cNvPr id="25615" name="Text Box 61"/>
            <p:cNvSpPr txBox="1">
              <a:spLocks noChangeArrowheads="1"/>
            </p:cNvSpPr>
            <p:nvPr/>
          </p:nvSpPr>
          <p:spPr bwMode="auto">
            <a:xfrm>
              <a:off x="5433" y="3403"/>
              <a:ext cx="297" cy="233"/>
            </a:xfrm>
            <a:prstGeom prst="rect">
              <a:avLst/>
            </a:prstGeom>
            <a:noFill/>
            <a:ln w="9525">
              <a:noFill/>
              <a:miter lim="800000"/>
              <a:headEnd/>
              <a:tailEnd/>
            </a:ln>
          </p:spPr>
          <p:txBody>
            <a:bodyPr wrap="none">
              <a:spAutoFit/>
            </a:bodyPr>
            <a:lstStyle/>
            <a:p>
              <a:r>
                <a:rPr lang="en-US">
                  <a:latin typeface="Calibri" pitchFamily="34" charset="0"/>
                </a:rPr>
                <a:t>20</a:t>
              </a:r>
            </a:p>
          </p:txBody>
        </p:sp>
        <p:sp>
          <p:nvSpPr>
            <p:cNvPr id="25616" name="Text Box 62"/>
            <p:cNvSpPr txBox="1">
              <a:spLocks noChangeArrowheads="1"/>
            </p:cNvSpPr>
            <p:nvPr/>
          </p:nvSpPr>
          <p:spPr bwMode="auto">
            <a:xfrm>
              <a:off x="5804" y="3403"/>
              <a:ext cx="297" cy="233"/>
            </a:xfrm>
            <a:prstGeom prst="rect">
              <a:avLst/>
            </a:prstGeom>
            <a:noFill/>
            <a:ln w="9525">
              <a:noFill/>
              <a:miter lim="800000"/>
              <a:headEnd/>
              <a:tailEnd/>
            </a:ln>
          </p:spPr>
          <p:txBody>
            <a:bodyPr wrap="none">
              <a:spAutoFit/>
            </a:bodyPr>
            <a:lstStyle/>
            <a:p>
              <a:r>
                <a:rPr lang="en-US">
                  <a:latin typeface="Calibri" pitchFamily="34" charset="0"/>
                </a:rPr>
                <a:t>22</a:t>
              </a:r>
            </a:p>
          </p:txBody>
        </p:sp>
        <p:sp>
          <p:nvSpPr>
            <p:cNvPr id="25617" name="Text Box 63"/>
            <p:cNvSpPr txBox="1">
              <a:spLocks noChangeArrowheads="1"/>
            </p:cNvSpPr>
            <p:nvPr/>
          </p:nvSpPr>
          <p:spPr bwMode="auto">
            <a:xfrm>
              <a:off x="6150" y="3395"/>
              <a:ext cx="297" cy="233"/>
            </a:xfrm>
            <a:prstGeom prst="rect">
              <a:avLst/>
            </a:prstGeom>
            <a:noFill/>
            <a:ln w="9525">
              <a:noFill/>
              <a:miter lim="800000"/>
              <a:headEnd/>
              <a:tailEnd/>
            </a:ln>
          </p:spPr>
          <p:txBody>
            <a:bodyPr wrap="none">
              <a:spAutoFit/>
            </a:bodyPr>
            <a:lstStyle/>
            <a:p>
              <a:r>
                <a:rPr lang="en-US">
                  <a:latin typeface="Calibri" pitchFamily="34" charset="0"/>
                </a:rPr>
                <a:t>24</a:t>
              </a:r>
            </a:p>
          </p:txBody>
        </p:sp>
        <p:sp>
          <p:nvSpPr>
            <p:cNvPr id="25618" name="Text Box 64"/>
            <p:cNvSpPr txBox="1">
              <a:spLocks noChangeArrowheads="1"/>
            </p:cNvSpPr>
            <p:nvPr/>
          </p:nvSpPr>
          <p:spPr bwMode="auto">
            <a:xfrm>
              <a:off x="3402" y="789"/>
              <a:ext cx="297" cy="233"/>
            </a:xfrm>
            <a:prstGeom prst="rect">
              <a:avLst/>
            </a:prstGeom>
            <a:noFill/>
            <a:ln w="9525">
              <a:noFill/>
              <a:miter lim="800000"/>
              <a:headEnd/>
              <a:tailEnd/>
            </a:ln>
          </p:spPr>
          <p:txBody>
            <a:bodyPr wrap="none">
              <a:spAutoFit/>
            </a:bodyPr>
            <a:lstStyle/>
            <a:p>
              <a:r>
                <a:rPr lang="en-US">
                  <a:latin typeface="Calibri" pitchFamily="34" charset="0"/>
                </a:rPr>
                <a:t>28</a:t>
              </a:r>
            </a:p>
          </p:txBody>
        </p:sp>
        <p:sp>
          <p:nvSpPr>
            <p:cNvPr id="25619" name="Text Box 65"/>
            <p:cNvSpPr txBox="1">
              <a:spLocks noChangeArrowheads="1"/>
            </p:cNvSpPr>
            <p:nvPr/>
          </p:nvSpPr>
          <p:spPr bwMode="auto">
            <a:xfrm>
              <a:off x="3402" y="1128"/>
              <a:ext cx="297" cy="233"/>
            </a:xfrm>
            <a:prstGeom prst="rect">
              <a:avLst/>
            </a:prstGeom>
            <a:noFill/>
            <a:ln w="9525">
              <a:noFill/>
              <a:miter lim="800000"/>
              <a:headEnd/>
              <a:tailEnd/>
            </a:ln>
          </p:spPr>
          <p:txBody>
            <a:bodyPr wrap="none">
              <a:spAutoFit/>
            </a:bodyPr>
            <a:lstStyle/>
            <a:p>
              <a:r>
                <a:rPr lang="en-US">
                  <a:latin typeface="Calibri" pitchFamily="34" charset="0"/>
                </a:rPr>
                <a:t>26</a:t>
              </a:r>
            </a:p>
          </p:txBody>
        </p:sp>
        <p:sp>
          <p:nvSpPr>
            <p:cNvPr id="25620" name="Text Box 66"/>
            <p:cNvSpPr txBox="1">
              <a:spLocks noChangeArrowheads="1"/>
            </p:cNvSpPr>
            <p:nvPr/>
          </p:nvSpPr>
          <p:spPr bwMode="auto">
            <a:xfrm>
              <a:off x="3402" y="1445"/>
              <a:ext cx="297" cy="233"/>
            </a:xfrm>
            <a:prstGeom prst="rect">
              <a:avLst/>
            </a:prstGeom>
            <a:noFill/>
            <a:ln w="9525">
              <a:noFill/>
              <a:miter lim="800000"/>
              <a:headEnd/>
              <a:tailEnd/>
            </a:ln>
          </p:spPr>
          <p:txBody>
            <a:bodyPr wrap="none">
              <a:spAutoFit/>
            </a:bodyPr>
            <a:lstStyle/>
            <a:p>
              <a:r>
                <a:rPr lang="en-US">
                  <a:latin typeface="Calibri" pitchFamily="34" charset="0"/>
                </a:rPr>
                <a:t>24</a:t>
              </a:r>
            </a:p>
          </p:txBody>
        </p:sp>
        <p:sp>
          <p:nvSpPr>
            <p:cNvPr id="25621" name="Text Box 67"/>
            <p:cNvSpPr txBox="1">
              <a:spLocks noChangeArrowheads="1"/>
            </p:cNvSpPr>
            <p:nvPr/>
          </p:nvSpPr>
          <p:spPr bwMode="auto">
            <a:xfrm>
              <a:off x="3402" y="1784"/>
              <a:ext cx="297" cy="233"/>
            </a:xfrm>
            <a:prstGeom prst="rect">
              <a:avLst/>
            </a:prstGeom>
            <a:noFill/>
            <a:ln w="9525">
              <a:noFill/>
              <a:miter lim="800000"/>
              <a:headEnd/>
              <a:tailEnd/>
            </a:ln>
          </p:spPr>
          <p:txBody>
            <a:bodyPr wrap="none">
              <a:spAutoFit/>
            </a:bodyPr>
            <a:lstStyle/>
            <a:p>
              <a:r>
                <a:rPr lang="en-US">
                  <a:latin typeface="Calibri" pitchFamily="34" charset="0"/>
                </a:rPr>
                <a:t>22</a:t>
              </a:r>
            </a:p>
          </p:txBody>
        </p:sp>
        <p:sp>
          <p:nvSpPr>
            <p:cNvPr id="25622" name="Text Box 68"/>
            <p:cNvSpPr txBox="1">
              <a:spLocks noChangeArrowheads="1"/>
            </p:cNvSpPr>
            <p:nvPr/>
          </p:nvSpPr>
          <p:spPr bwMode="auto">
            <a:xfrm>
              <a:off x="3402" y="2120"/>
              <a:ext cx="297" cy="233"/>
            </a:xfrm>
            <a:prstGeom prst="rect">
              <a:avLst/>
            </a:prstGeom>
            <a:noFill/>
            <a:ln w="9525">
              <a:noFill/>
              <a:miter lim="800000"/>
              <a:headEnd/>
              <a:tailEnd/>
            </a:ln>
          </p:spPr>
          <p:txBody>
            <a:bodyPr wrap="none">
              <a:spAutoFit/>
            </a:bodyPr>
            <a:lstStyle/>
            <a:p>
              <a:r>
                <a:rPr lang="en-US">
                  <a:latin typeface="Calibri" pitchFamily="34" charset="0"/>
                </a:rPr>
                <a:t>20</a:t>
              </a:r>
            </a:p>
          </p:txBody>
        </p:sp>
        <p:sp>
          <p:nvSpPr>
            <p:cNvPr id="25623" name="Text Box 69"/>
            <p:cNvSpPr txBox="1">
              <a:spLocks noChangeArrowheads="1"/>
            </p:cNvSpPr>
            <p:nvPr/>
          </p:nvSpPr>
          <p:spPr bwMode="auto">
            <a:xfrm>
              <a:off x="3402" y="2459"/>
              <a:ext cx="297" cy="233"/>
            </a:xfrm>
            <a:prstGeom prst="rect">
              <a:avLst/>
            </a:prstGeom>
            <a:noFill/>
            <a:ln w="9525">
              <a:noFill/>
              <a:miter lim="800000"/>
              <a:headEnd/>
              <a:tailEnd/>
            </a:ln>
          </p:spPr>
          <p:txBody>
            <a:bodyPr wrap="none">
              <a:spAutoFit/>
            </a:bodyPr>
            <a:lstStyle/>
            <a:p>
              <a:r>
                <a:rPr lang="en-US">
                  <a:latin typeface="Calibri" pitchFamily="34" charset="0"/>
                </a:rPr>
                <a:t>18</a:t>
              </a:r>
            </a:p>
          </p:txBody>
        </p:sp>
        <p:sp>
          <p:nvSpPr>
            <p:cNvPr id="25624" name="Text Box 70"/>
            <p:cNvSpPr txBox="1">
              <a:spLocks noChangeArrowheads="1"/>
            </p:cNvSpPr>
            <p:nvPr/>
          </p:nvSpPr>
          <p:spPr bwMode="auto">
            <a:xfrm>
              <a:off x="3402" y="2776"/>
              <a:ext cx="297" cy="233"/>
            </a:xfrm>
            <a:prstGeom prst="rect">
              <a:avLst/>
            </a:prstGeom>
            <a:noFill/>
            <a:ln w="9525">
              <a:noFill/>
              <a:miter lim="800000"/>
              <a:headEnd/>
              <a:tailEnd/>
            </a:ln>
          </p:spPr>
          <p:txBody>
            <a:bodyPr wrap="none">
              <a:spAutoFit/>
            </a:bodyPr>
            <a:lstStyle/>
            <a:p>
              <a:r>
                <a:rPr lang="en-US">
                  <a:latin typeface="Calibri" pitchFamily="34" charset="0"/>
                </a:rPr>
                <a:t>16</a:t>
              </a:r>
            </a:p>
          </p:txBody>
        </p:sp>
        <p:sp>
          <p:nvSpPr>
            <p:cNvPr id="25625" name="Text Box 71"/>
            <p:cNvSpPr txBox="1">
              <a:spLocks noChangeArrowheads="1"/>
            </p:cNvSpPr>
            <p:nvPr/>
          </p:nvSpPr>
          <p:spPr bwMode="auto">
            <a:xfrm>
              <a:off x="3402" y="3115"/>
              <a:ext cx="297" cy="233"/>
            </a:xfrm>
            <a:prstGeom prst="rect">
              <a:avLst/>
            </a:prstGeom>
            <a:noFill/>
            <a:ln w="9525">
              <a:noFill/>
              <a:miter lim="800000"/>
              <a:headEnd/>
              <a:tailEnd/>
            </a:ln>
          </p:spPr>
          <p:txBody>
            <a:bodyPr wrap="none">
              <a:spAutoFit/>
            </a:bodyPr>
            <a:lstStyle/>
            <a:p>
              <a:r>
                <a:rPr lang="en-US">
                  <a:latin typeface="Calibri" pitchFamily="34" charset="0"/>
                </a:rPr>
                <a:t>14</a:t>
              </a:r>
            </a:p>
          </p:txBody>
        </p:sp>
        <p:sp>
          <p:nvSpPr>
            <p:cNvPr id="25626" name="Text Box 72"/>
            <p:cNvSpPr txBox="1">
              <a:spLocks noChangeArrowheads="1"/>
            </p:cNvSpPr>
            <p:nvPr/>
          </p:nvSpPr>
          <p:spPr bwMode="auto">
            <a:xfrm>
              <a:off x="5493" y="3600"/>
              <a:ext cx="718" cy="233"/>
            </a:xfrm>
            <a:prstGeom prst="rect">
              <a:avLst/>
            </a:prstGeom>
            <a:noFill/>
            <a:ln w="9525">
              <a:noFill/>
              <a:miter lim="800000"/>
              <a:headEnd/>
              <a:tailEnd/>
            </a:ln>
          </p:spPr>
          <p:txBody>
            <a:bodyPr wrap="none">
              <a:spAutoFit/>
            </a:bodyPr>
            <a:lstStyle/>
            <a:p>
              <a:r>
                <a:rPr lang="en-US">
                  <a:latin typeface="Calibri" pitchFamily="34" charset="0"/>
                </a:rPr>
                <a:t>CP, %DM</a:t>
              </a:r>
            </a:p>
          </p:txBody>
        </p:sp>
        <p:sp>
          <p:nvSpPr>
            <p:cNvPr id="25627" name="Text Box 73"/>
            <p:cNvSpPr txBox="1">
              <a:spLocks noChangeArrowheads="1"/>
            </p:cNvSpPr>
            <p:nvPr/>
          </p:nvSpPr>
          <p:spPr bwMode="auto">
            <a:xfrm>
              <a:off x="3727" y="624"/>
              <a:ext cx="798" cy="233"/>
            </a:xfrm>
            <a:prstGeom prst="rect">
              <a:avLst/>
            </a:prstGeom>
            <a:noFill/>
            <a:ln w="9525">
              <a:noFill/>
              <a:miter lim="800000"/>
              <a:headEnd/>
              <a:tailEnd/>
            </a:ln>
          </p:spPr>
          <p:txBody>
            <a:bodyPr wrap="none">
              <a:spAutoFit/>
            </a:bodyPr>
            <a:lstStyle/>
            <a:p>
              <a:r>
                <a:rPr lang="en-US">
                  <a:latin typeface="Calibri" pitchFamily="34" charset="0"/>
                </a:rPr>
                <a:t>DMI, kg/d</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96996"/>
                                        </p:tgtEl>
                                        <p:attrNameLst>
                                          <p:attrName>style.visibility</p:attrName>
                                        </p:attrNameLst>
                                      </p:cBhvr>
                                      <p:to>
                                        <p:strVal val="visible"/>
                                      </p:to>
                                    </p:set>
                                    <p:animEffect transition="in" filter="wipe(left)">
                                      <p:cBhvr>
                                        <p:cTn id="7" dur="500"/>
                                        <p:tgtEl>
                                          <p:spTgt spid="5969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97027"/>
                                        </p:tgtEl>
                                        <p:attrNameLst>
                                          <p:attrName>style.visibility</p:attrName>
                                        </p:attrNameLst>
                                      </p:cBhvr>
                                      <p:to>
                                        <p:strVal val="visible"/>
                                      </p:to>
                                    </p:set>
                                    <p:animEffect transition="in" filter="wipe(left)">
                                      <p:cBhvr>
                                        <p:cTn id="12" dur="500"/>
                                        <p:tgtEl>
                                          <p:spTgt spid="5970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p:cNvSpPr>
            <a:spLocks noGrp="1"/>
          </p:cNvSpPr>
          <p:nvPr>
            <p:ph type="sldNum" sz="quarter" idx="12"/>
          </p:nvPr>
        </p:nvSpPr>
        <p:spPr/>
        <p:txBody>
          <a:bodyPr/>
          <a:lstStyle/>
          <a:p>
            <a:pPr>
              <a:defRPr/>
            </a:pPr>
            <a:r>
              <a:rPr lang="en-US" dirty="0"/>
              <a:t> </a:t>
            </a:r>
            <a:endParaRPr lang="en-US" sz="1800" dirty="0">
              <a:solidFill>
                <a:schemeClr val="tx1"/>
              </a:solidFill>
            </a:endParaRPr>
          </a:p>
        </p:txBody>
      </p:sp>
      <p:sp>
        <p:nvSpPr>
          <p:cNvPr id="548866" name="Rectangle 2"/>
          <p:cNvSpPr>
            <a:spLocks noChangeArrowheads="1"/>
          </p:cNvSpPr>
          <p:nvPr/>
        </p:nvSpPr>
        <p:spPr bwMode="auto">
          <a:xfrm>
            <a:off x="1557338" y="3017838"/>
            <a:ext cx="6435725" cy="582612"/>
          </a:xfrm>
          <a:prstGeom prst="rect">
            <a:avLst/>
          </a:prstGeom>
          <a:noFill/>
          <a:ln>
            <a:noFill/>
          </a:ln>
          <a:effectLst/>
          <a:extLst>
            <a:ext uri="{909E8E84-426E-40DD-AFC4-6F175D3DCCD1}"/>
            <a:ext uri="{91240B29-F687-4F45-9708-019B960494DF}"/>
            <a:ext uri="{AF507438-7753-43E0-B8FC-AC1667EBCBE1}"/>
          </a:extLst>
        </p:spPr>
        <p:txBody>
          <a:bodyPr lIns="90488" tIns="44450" rIns="90488" bIns="44450">
            <a:spAutoFit/>
          </a:bodyPr>
          <a:lstStyle/>
          <a:p>
            <a:pPr algn="ctr" fontAlgn="auto">
              <a:spcBef>
                <a:spcPts val="0"/>
              </a:spcBef>
              <a:spcAft>
                <a:spcPts val="0"/>
              </a:spcAft>
              <a:defRPr/>
            </a:pPr>
            <a:r>
              <a:rPr lang="en-US" sz="3200" b="1" dirty="0">
                <a:latin typeface="+mj-lt"/>
                <a:cs typeface="+mn-cs"/>
              </a:rPr>
              <a:t>ENERGY UTILIZATION</a:t>
            </a:r>
            <a:endParaRPr lang="en-US" sz="3200" dirty="0">
              <a:latin typeface="+mj-lt"/>
              <a:cs typeface="+mn-cs"/>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Oval 2"/>
          <p:cNvSpPr>
            <a:spLocks noChangeArrowheads="1"/>
          </p:cNvSpPr>
          <p:nvPr/>
        </p:nvSpPr>
        <p:spPr bwMode="auto">
          <a:xfrm rot="-2460000">
            <a:off x="3433763" y="2436813"/>
            <a:ext cx="1568450" cy="2611437"/>
          </a:xfrm>
          <a:prstGeom prst="ellipse">
            <a:avLst/>
          </a:prstGeom>
          <a:noFill/>
          <a:ln w="12700">
            <a:solidFill>
              <a:schemeClr val="tx1"/>
            </a:solidFill>
            <a:round/>
            <a:headEnd/>
            <a:tailEnd/>
          </a:ln>
        </p:spPr>
        <p:txBody>
          <a:bodyPr wrap="none" anchor="ctr"/>
          <a:lstStyle/>
          <a:p>
            <a:endParaRPr lang="en-NZ">
              <a:latin typeface="Calibri" pitchFamily="34" charset="0"/>
            </a:endParaRPr>
          </a:p>
        </p:txBody>
      </p:sp>
      <p:grpSp>
        <p:nvGrpSpPr>
          <p:cNvPr id="27650" name="Group 3"/>
          <p:cNvGrpSpPr>
            <a:grpSpLocks/>
          </p:cNvGrpSpPr>
          <p:nvPr/>
        </p:nvGrpSpPr>
        <p:grpSpPr bwMode="auto">
          <a:xfrm>
            <a:off x="1982788" y="1577975"/>
            <a:ext cx="6253162" cy="3413125"/>
            <a:chOff x="1405" y="994"/>
            <a:chExt cx="4431" cy="2150"/>
          </a:xfrm>
        </p:grpSpPr>
        <p:sp>
          <p:nvSpPr>
            <p:cNvPr id="27852" name="Line 4"/>
            <p:cNvSpPr>
              <a:spLocks noChangeShapeType="1"/>
            </p:cNvSpPr>
            <p:nvPr/>
          </p:nvSpPr>
          <p:spPr bwMode="auto">
            <a:xfrm>
              <a:off x="1488" y="1308"/>
              <a:ext cx="449" cy="0"/>
            </a:xfrm>
            <a:prstGeom prst="line">
              <a:avLst/>
            </a:prstGeom>
            <a:noFill/>
            <a:ln w="50800">
              <a:solidFill>
                <a:srgbClr val="00B7A5"/>
              </a:solidFill>
              <a:round/>
              <a:headEnd/>
              <a:tailEnd/>
            </a:ln>
          </p:spPr>
          <p:txBody>
            <a:bodyPr wrap="none" anchor="ctr"/>
            <a:lstStyle/>
            <a:p>
              <a:endParaRPr lang="en-US"/>
            </a:p>
          </p:txBody>
        </p:sp>
        <p:sp>
          <p:nvSpPr>
            <p:cNvPr id="27853" name="Arc 5"/>
            <p:cNvSpPr>
              <a:spLocks/>
            </p:cNvSpPr>
            <p:nvPr/>
          </p:nvSpPr>
          <p:spPr bwMode="auto">
            <a:xfrm>
              <a:off x="1934" y="995"/>
              <a:ext cx="504" cy="305"/>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687"/>
                    <a:pt x="9644" y="23"/>
                    <a:pt x="21557" y="0"/>
                  </a:cubicBezTo>
                </a:path>
                <a:path w="21600" h="21600" stroke="0" extrusionOk="0">
                  <a:moveTo>
                    <a:pt x="0" y="21600"/>
                  </a:moveTo>
                  <a:cubicBezTo>
                    <a:pt x="0" y="9687"/>
                    <a:pt x="9644" y="23"/>
                    <a:pt x="21557" y="0"/>
                  </a:cubicBezTo>
                  <a:lnTo>
                    <a:pt x="21600" y="21600"/>
                  </a:lnTo>
                  <a:close/>
                </a:path>
              </a:pathLst>
            </a:custGeom>
            <a:noFill/>
            <a:ln w="50800" cap="rnd">
              <a:solidFill>
                <a:srgbClr val="00B7A5"/>
              </a:solidFill>
              <a:round/>
              <a:headEnd/>
              <a:tailEnd/>
            </a:ln>
          </p:spPr>
          <p:txBody>
            <a:bodyPr wrap="none" anchor="ctr"/>
            <a:lstStyle/>
            <a:p>
              <a:endParaRPr lang="en-US"/>
            </a:p>
          </p:txBody>
        </p:sp>
        <p:sp>
          <p:nvSpPr>
            <p:cNvPr id="27854" name="Line 6"/>
            <p:cNvSpPr>
              <a:spLocks noChangeShapeType="1"/>
            </p:cNvSpPr>
            <p:nvPr/>
          </p:nvSpPr>
          <p:spPr bwMode="auto">
            <a:xfrm>
              <a:off x="2438" y="994"/>
              <a:ext cx="1410" cy="0"/>
            </a:xfrm>
            <a:prstGeom prst="line">
              <a:avLst/>
            </a:prstGeom>
            <a:noFill/>
            <a:ln w="50800">
              <a:solidFill>
                <a:srgbClr val="00B7A5"/>
              </a:solidFill>
              <a:round/>
              <a:headEnd/>
              <a:tailEnd/>
            </a:ln>
          </p:spPr>
          <p:txBody>
            <a:bodyPr wrap="none" anchor="ctr"/>
            <a:lstStyle/>
            <a:p>
              <a:endParaRPr lang="en-US"/>
            </a:p>
          </p:txBody>
        </p:sp>
        <p:sp>
          <p:nvSpPr>
            <p:cNvPr id="27855" name="Arc 7"/>
            <p:cNvSpPr>
              <a:spLocks/>
            </p:cNvSpPr>
            <p:nvPr/>
          </p:nvSpPr>
          <p:spPr bwMode="auto">
            <a:xfrm>
              <a:off x="3852" y="995"/>
              <a:ext cx="505" cy="305"/>
            </a:xfrm>
            <a:custGeom>
              <a:avLst/>
              <a:gdLst>
                <a:gd name="T0" fmla="*/ 0 w 21643"/>
                <a:gd name="T1" fmla="*/ 0 h 21600"/>
                <a:gd name="T2" fmla="*/ 0 w 21643"/>
                <a:gd name="T3" fmla="*/ 0 h 21600"/>
                <a:gd name="T4" fmla="*/ 0 w 21643"/>
                <a:gd name="T5" fmla="*/ 0 h 21600"/>
                <a:gd name="T6" fmla="*/ 0 60000 65536"/>
                <a:gd name="T7" fmla="*/ 0 60000 65536"/>
                <a:gd name="T8" fmla="*/ 0 60000 65536"/>
                <a:gd name="T9" fmla="*/ 0 w 21643"/>
                <a:gd name="T10" fmla="*/ 0 h 21600"/>
                <a:gd name="T11" fmla="*/ 21643 w 21643"/>
                <a:gd name="T12" fmla="*/ 21600 h 21600"/>
              </a:gdLst>
              <a:ahLst/>
              <a:cxnLst>
                <a:cxn ang="T6">
                  <a:pos x="T0" y="T1"/>
                </a:cxn>
                <a:cxn ang="T7">
                  <a:pos x="T2" y="T3"/>
                </a:cxn>
                <a:cxn ang="T8">
                  <a:pos x="T4" y="T5"/>
                </a:cxn>
              </a:cxnLst>
              <a:rect l="T9" t="T10" r="T11" b="T12"/>
              <a:pathLst>
                <a:path w="21643" h="21600" fill="none" extrusionOk="0">
                  <a:moveTo>
                    <a:pt x="0" y="0"/>
                  </a:moveTo>
                  <a:cubicBezTo>
                    <a:pt x="14" y="0"/>
                    <a:pt x="28" y="-1"/>
                    <a:pt x="43" y="0"/>
                  </a:cubicBezTo>
                  <a:cubicBezTo>
                    <a:pt x="11972" y="0"/>
                    <a:pt x="21643" y="9670"/>
                    <a:pt x="21643" y="21600"/>
                  </a:cubicBezTo>
                </a:path>
                <a:path w="21643" h="21600" stroke="0" extrusionOk="0">
                  <a:moveTo>
                    <a:pt x="0" y="0"/>
                  </a:moveTo>
                  <a:cubicBezTo>
                    <a:pt x="14" y="0"/>
                    <a:pt x="28" y="-1"/>
                    <a:pt x="43" y="0"/>
                  </a:cubicBezTo>
                  <a:cubicBezTo>
                    <a:pt x="11972" y="0"/>
                    <a:pt x="21643" y="9670"/>
                    <a:pt x="21643" y="21600"/>
                  </a:cubicBezTo>
                  <a:lnTo>
                    <a:pt x="43" y="21600"/>
                  </a:lnTo>
                  <a:close/>
                </a:path>
              </a:pathLst>
            </a:custGeom>
            <a:noFill/>
            <a:ln w="50800" cap="rnd">
              <a:solidFill>
                <a:srgbClr val="00B7A5"/>
              </a:solidFill>
              <a:round/>
              <a:headEnd/>
              <a:tailEnd/>
            </a:ln>
          </p:spPr>
          <p:txBody>
            <a:bodyPr wrap="none" anchor="ctr"/>
            <a:lstStyle/>
            <a:p>
              <a:endParaRPr lang="en-US"/>
            </a:p>
          </p:txBody>
        </p:sp>
        <p:sp>
          <p:nvSpPr>
            <p:cNvPr id="27856" name="Line 8"/>
            <p:cNvSpPr>
              <a:spLocks noChangeShapeType="1"/>
            </p:cNvSpPr>
            <p:nvPr/>
          </p:nvSpPr>
          <p:spPr bwMode="auto">
            <a:xfrm>
              <a:off x="4353" y="1299"/>
              <a:ext cx="1407" cy="0"/>
            </a:xfrm>
            <a:prstGeom prst="line">
              <a:avLst/>
            </a:prstGeom>
            <a:noFill/>
            <a:ln w="50800">
              <a:solidFill>
                <a:srgbClr val="00B7A5"/>
              </a:solidFill>
              <a:round/>
              <a:headEnd/>
              <a:tailEnd/>
            </a:ln>
          </p:spPr>
          <p:txBody>
            <a:bodyPr wrap="none" anchor="ctr"/>
            <a:lstStyle/>
            <a:p>
              <a:endParaRPr lang="en-US"/>
            </a:p>
          </p:txBody>
        </p:sp>
        <p:sp>
          <p:nvSpPr>
            <p:cNvPr id="27857" name="Line 9"/>
            <p:cNvSpPr>
              <a:spLocks noChangeShapeType="1"/>
            </p:cNvSpPr>
            <p:nvPr/>
          </p:nvSpPr>
          <p:spPr bwMode="auto">
            <a:xfrm>
              <a:off x="1405" y="1358"/>
              <a:ext cx="37" cy="0"/>
            </a:xfrm>
            <a:prstGeom prst="line">
              <a:avLst/>
            </a:prstGeom>
            <a:noFill/>
            <a:ln w="50800">
              <a:solidFill>
                <a:srgbClr val="00B7A5"/>
              </a:solidFill>
              <a:round/>
              <a:headEnd/>
              <a:tailEnd/>
            </a:ln>
          </p:spPr>
          <p:txBody>
            <a:bodyPr wrap="none" anchor="ctr"/>
            <a:lstStyle/>
            <a:p>
              <a:endParaRPr lang="en-US"/>
            </a:p>
          </p:txBody>
        </p:sp>
        <p:sp>
          <p:nvSpPr>
            <p:cNvPr id="27858" name="Arc 10"/>
            <p:cNvSpPr>
              <a:spLocks/>
            </p:cNvSpPr>
            <p:nvPr/>
          </p:nvSpPr>
          <p:spPr bwMode="auto">
            <a:xfrm>
              <a:off x="1448" y="1309"/>
              <a:ext cx="29" cy="35"/>
            </a:xfrm>
            <a:custGeom>
              <a:avLst/>
              <a:gdLst>
                <a:gd name="T0" fmla="*/ 0 w 21600"/>
                <a:gd name="T1" fmla="*/ 0 h 21587"/>
                <a:gd name="T2" fmla="*/ 0 w 21600"/>
                <a:gd name="T3" fmla="*/ 0 h 21587"/>
                <a:gd name="T4" fmla="*/ 0 w 21600"/>
                <a:gd name="T5" fmla="*/ 0 h 21587"/>
                <a:gd name="T6" fmla="*/ 0 60000 65536"/>
                <a:gd name="T7" fmla="*/ 0 60000 65536"/>
                <a:gd name="T8" fmla="*/ 0 60000 65536"/>
                <a:gd name="T9" fmla="*/ 0 w 21600"/>
                <a:gd name="T10" fmla="*/ 0 h 21587"/>
                <a:gd name="T11" fmla="*/ 21600 w 21600"/>
                <a:gd name="T12" fmla="*/ 21587 h 21587"/>
              </a:gdLst>
              <a:ahLst/>
              <a:cxnLst>
                <a:cxn ang="T6">
                  <a:pos x="T0" y="T1"/>
                </a:cxn>
                <a:cxn ang="T7">
                  <a:pos x="T2" y="T3"/>
                </a:cxn>
                <a:cxn ang="T8">
                  <a:pos x="T4" y="T5"/>
                </a:cxn>
              </a:cxnLst>
              <a:rect l="T9" t="T10" r="T11" b="T12"/>
              <a:pathLst>
                <a:path w="21600" h="21587" fill="none" extrusionOk="0">
                  <a:moveTo>
                    <a:pt x="0" y="21587"/>
                  </a:moveTo>
                  <a:cubicBezTo>
                    <a:pt x="0" y="9947"/>
                    <a:pt x="9223" y="400"/>
                    <a:pt x="20855" y="-1"/>
                  </a:cubicBezTo>
                </a:path>
                <a:path w="21600" h="21587" stroke="0" extrusionOk="0">
                  <a:moveTo>
                    <a:pt x="0" y="21587"/>
                  </a:moveTo>
                  <a:cubicBezTo>
                    <a:pt x="0" y="9947"/>
                    <a:pt x="9223" y="400"/>
                    <a:pt x="20855" y="-1"/>
                  </a:cubicBezTo>
                  <a:lnTo>
                    <a:pt x="21600" y="21587"/>
                  </a:lnTo>
                  <a:close/>
                </a:path>
              </a:pathLst>
            </a:custGeom>
            <a:noFill/>
            <a:ln w="50800" cap="rnd">
              <a:solidFill>
                <a:srgbClr val="00B7A5"/>
              </a:solidFill>
              <a:round/>
              <a:headEnd/>
              <a:tailEnd/>
            </a:ln>
          </p:spPr>
          <p:txBody>
            <a:bodyPr wrap="none" anchor="ctr"/>
            <a:lstStyle/>
            <a:p>
              <a:endParaRPr lang="en-US"/>
            </a:p>
          </p:txBody>
        </p:sp>
        <p:sp>
          <p:nvSpPr>
            <p:cNvPr id="27859" name="Arc 11"/>
            <p:cNvSpPr>
              <a:spLocks/>
            </p:cNvSpPr>
            <p:nvPr/>
          </p:nvSpPr>
          <p:spPr bwMode="auto">
            <a:xfrm>
              <a:off x="2112" y="2335"/>
              <a:ext cx="208" cy="113"/>
            </a:xfrm>
            <a:custGeom>
              <a:avLst/>
              <a:gdLst>
                <a:gd name="T0" fmla="*/ 0 w 21704"/>
                <a:gd name="T1" fmla="*/ 0 h 21600"/>
                <a:gd name="T2" fmla="*/ 0 w 21704"/>
                <a:gd name="T3" fmla="*/ 0 h 21600"/>
                <a:gd name="T4" fmla="*/ 0 w 21704"/>
                <a:gd name="T5" fmla="*/ 0 h 21600"/>
                <a:gd name="T6" fmla="*/ 0 60000 65536"/>
                <a:gd name="T7" fmla="*/ 0 60000 65536"/>
                <a:gd name="T8" fmla="*/ 0 60000 65536"/>
                <a:gd name="T9" fmla="*/ 0 w 21704"/>
                <a:gd name="T10" fmla="*/ 0 h 21600"/>
                <a:gd name="T11" fmla="*/ 21704 w 21704"/>
                <a:gd name="T12" fmla="*/ 21600 h 21600"/>
              </a:gdLst>
              <a:ahLst/>
              <a:cxnLst>
                <a:cxn ang="T6">
                  <a:pos x="T0" y="T1"/>
                </a:cxn>
                <a:cxn ang="T7">
                  <a:pos x="T2" y="T3"/>
                </a:cxn>
                <a:cxn ang="T8">
                  <a:pos x="T4" y="T5"/>
                </a:cxn>
              </a:cxnLst>
              <a:rect l="T9" t="T10" r="T11" b="T12"/>
              <a:pathLst>
                <a:path w="21704" h="21600" fill="none" extrusionOk="0">
                  <a:moveTo>
                    <a:pt x="21704" y="0"/>
                  </a:moveTo>
                  <a:cubicBezTo>
                    <a:pt x="21704" y="11929"/>
                    <a:pt x="12033" y="21600"/>
                    <a:pt x="104" y="21600"/>
                  </a:cubicBezTo>
                  <a:cubicBezTo>
                    <a:pt x="69" y="21600"/>
                    <a:pt x="34" y="21599"/>
                    <a:pt x="0" y="21599"/>
                  </a:cubicBezTo>
                </a:path>
                <a:path w="21704" h="21600" stroke="0" extrusionOk="0">
                  <a:moveTo>
                    <a:pt x="21704" y="0"/>
                  </a:moveTo>
                  <a:cubicBezTo>
                    <a:pt x="21704" y="11929"/>
                    <a:pt x="12033" y="21600"/>
                    <a:pt x="104" y="21600"/>
                  </a:cubicBezTo>
                  <a:cubicBezTo>
                    <a:pt x="69" y="21600"/>
                    <a:pt x="34" y="21599"/>
                    <a:pt x="0" y="21599"/>
                  </a:cubicBezTo>
                  <a:lnTo>
                    <a:pt x="104" y="0"/>
                  </a:lnTo>
                  <a:close/>
                </a:path>
              </a:pathLst>
            </a:custGeom>
            <a:noFill/>
            <a:ln w="50800" cap="rnd">
              <a:solidFill>
                <a:srgbClr val="00B7A5"/>
              </a:solidFill>
              <a:round/>
              <a:headEnd/>
              <a:tailEnd/>
            </a:ln>
          </p:spPr>
          <p:txBody>
            <a:bodyPr wrap="none" anchor="ctr"/>
            <a:lstStyle/>
            <a:p>
              <a:endParaRPr lang="en-US"/>
            </a:p>
          </p:txBody>
        </p:sp>
        <p:sp>
          <p:nvSpPr>
            <p:cNvPr id="27860" name="Line 12"/>
            <p:cNvSpPr>
              <a:spLocks noChangeShapeType="1"/>
            </p:cNvSpPr>
            <p:nvPr/>
          </p:nvSpPr>
          <p:spPr bwMode="auto">
            <a:xfrm>
              <a:off x="4534" y="1821"/>
              <a:ext cx="1210" cy="0"/>
            </a:xfrm>
            <a:prstGeom prst="line">
              <a:avLst/>
            </a:prstGeom>
            <a:noFill/>
            <a:ln w="50800">
              <a:solidFill>
                <a:srgbClr val="00B7A5"/>
              </a:solidFill>
              <a:round/>
              <a:headEnd/>
              <a:tailEnd/>
            </a:ln>
          </p:spPr>
          <p:txBody>
            <a:bodyPr wrap="none" anchor="ctr"/>
            <a:lstStyle/>
            <a:p>
              <a:endParaRPr lang="en-US"/>
            </a:p>
          </p:txBody>
        </p:sp>
        <p:grpSp>
          <p:nvGrpSpPr>
            <p:cNvPr id="27861" name="Group 13"/>
            <p:cNvGrpSpPr>
              <a:grpSpLocks/>
            </p:cNvGrpSpPr>
            <p:nvPr/>
          </p:nvGrpSpPr>
          <p:grpSpPr bwMode="auto">
            <a:xfrm>
              <a:off x="5761" y="1298"/>
              <a:ext cx="75" cy="523"/>
              <a:chOff x="5761" y="1298"/>
              <a:chExt cx="75" cy="523"/>
            </a:xfrm>
          </p:grpSpPr>
          <p:sp>
            <p:nvSpPr>
              <p:cNvPr id="27869" name="Arc 14"/>
              <p:cNvSpPr>
                <a:spLocks/>
              </p:cNvSpPr>
              <p:nvPr/>
            </p:nvSpPr>
            <p:spPr bwMode="auto">
              <a:xfrm>
                <a:off x="5762" y="1298"/>
                <a:ext cx="43" cy="42"/>
              </a:xfrm>
              <a:custGeom>
                <a:avLst/>
                <a:gdLst>
                  <a:gd name="T0" fmla="*/ 0 w 22096"/>
                  <a:gd name="T1" fmla="*/ 0 h 21600"/>
                  <a:gd name="T2" fmla="*/ 0 w 22096"/>
                  <a:gd name="T3" fmla="*/ 0 h 21600"/>
                  <a:gd name="T4" fmla="*/ 0 w 22096"/>
                  <a:gd name="T5" fmla="*/ 0 h 21600"/>
                  <a:gd name="T6" fmla="*/ 0 60000 65536"/>
                  <a:gd name="T7" fmla="*/ 0 60000 65536"/>
                  <a:gd name="T8" fmla="*/ 0 60000 65536"/>
                  <a:gd name="T9" fmla="*/ 0 w 22096"/>
                  <a:gd name="T10" fmla="*/ 0 h 21600"/>
                  <a:gd name="T11" fmla="*/ 22096 w 22096"/>
                  <a:gd name="T12" fmla="*/ 21600 h 21600"/>
                </a:gdLst>
                <a:ahLst/>
                <a:cxnLst>
                  <a:cxn ang="T6">
                    <a:pos x="T0" y="T1"/>
                  </a:cxn>
                  <a:cxn ang="T7">
                    <a:pos x="T2" y="T3"/>
                  </a:cxn>
                  <a:cxn ang="T8">
                    <a:pos x="T4" y="T5"/>
                  </a:cxn>
                </a:cxnLst>
                <a:rect l="T9" t="T10" r="T11" b="T12"/>
                <a:pathLst>
                  <a:path w="22096" h="21600" fill="none" extrusionOk="0">
                    <a:moveTo>
                      <a:pt x="-1" y="5"/>
                    </a:moveTo>
                    <a:cubicBezTo>
                      <a:pt x="167" y="1"/>
                      <a:pt x="334" y="-1"/>
                      <a:pt x="502" y="0"/>
                    </a:cubicBezTo>
                    <a:cubicBezTo>
                      <a:pt x="12226" y="0"/>
                      <a:pt x="21809" y="9352"/>
                      <a:pt x="22095" y="21073"/>
                    </a:cubicBezTo>
                  </a:path>
                  <a:path w="22096" h="21600" stroke="0" extrusionOk="0">
                    <a:moveTo>
                      <a:pt x="-1" y="5"/>
                    </a:moveTo>
                    <a:cubicBezTo>
                      <a:pt x="167" y="1"/>
                      <a:pt x="334" y="-1"/>
                      <a:pt x="502" y="0"/>
                    </a:cubicBezTo>
                    <a:cubicBezTo>
                      <a:pt x="12226" y="0"/>
                      <a:pt x="21809" y="9352"/>
                      <a:pt x="22095" y="21073"/>
                    </a:cubicBezTo>
                    <a:lnTo>
                      <a:pt x="502" y="21600"/>
                    </a:lnTo>
                    <a:close/>
                  </a:path>
                </a:pathLst>
              </a:custGeom>
              <a:noFill/>
              <a:ln w="50800" cap="rnd">
                <a:solidFill>
                  <a:srgbClr val="00B7A5"/>
                </a:solidFill>
                <a:round/>
                <a:headEnd/>
                <a:tailEnd/>
              </a:ln>
            </p:spPr>
            <p:txBody>
              <a:bodyPr wrap="none" anchor="ctr"/>
              <a:lstStyle/>
              <a:p>
                <a:endParaRPr lang="en-US"/>
              </a:p>
            </p:txBody>
          </p:sp>
          <p:sp>
            <p:nvSpPr>
              <p:cNvPr id="27870" name="Line 15"/>
              <p:cNvSpPr>
                <a:spLocks noChangeShapeType="1"/>
              </p:cNvSpPr>
              <p:nvPr/>
            </p:nvSpPr>
            <p:spPr bwMode="auto">
              <a:xfrm>
                <a:off x="5799" y="1347"/>
                <a:ext cx="37" cy="0"/>
              </a:xfrm>
              <a:prstGeom prst="line">
                <a:avLst/>
              </a:prstGeom>
              <a:noFill/>
              <a:ln w="50800">
                <a:solidFill>
                  <a:srgbClr val="00B7A5"/>
                </a:solidFill>
                <a:round/>
                <a:headEnd/>
                <a:tailEnd/>
              </a:ln>
            </p:spPr>
            <p:txBody>
              <a:bodyPr wrap="none" anchor="ctr"/>
              <a:lstStyle/>
              <a:p>
                <a:endParaRPr lang="en-US"/>
              </a:p>
            </p:txBody>
          </p:sp>
          <p:sp>
            <p:nvSpPr>
              <p:cNvPr id="27871" name="Arc 16"/>
              <p:cNvSpPr>
                <a:spLocks/>
              </p:cNvSpPr>
              <p:nvPr/>
            </p:nvSpPr>
            <p:spPr bwMode="auto">
              <a:xfrm>
                <a:off x="5761" y="1779"/>
                <a:ext cx="35" cy="42"/>
              </a:xfrm>
              <a:custGeom>
                <a:avLst/>
                <a:gdLst>
                  <a:gd name="T0" fmla="*/ 0 w 22253"/>
                  <a:gd name="T1" fmla="*/ 0 h 22141"/>
                  <a:gd name="T2" fmla="*/ 0 w 22253"/>
                  <a:gd name="T3" fmla="*/ 0 h 22141"/>
                  <a:gd name="T4" fmla="*/ 0 w 22253"/>
                  <a:gd name="T5" fmla="*/ 0 h 22141"/>
                  <a:gd name="T6" fmla="*/ 0 60000 65536"/>
                  <a:gd name="T7" fmla="*/ 0 60000 65536"/>
                  <a:gd name="T8" fmla="*/ 0 60000 65536"/>
                  <a:gd name="T9" fmla="*/ 0 w 22253"/>
                  <a:gd name="T10" fmla="*/ 0 h 22141"/>
                  <a:gd name="T11" fmla="*/ 22253 w 22253"/>
                  <a:gd name="T12" fmla="*/ 22141 h 22141"/>
                </a:gdLst>
                <a:ahLst/>
                <a:cxnLst>
                  <a:cxn ang="T6">
                    <a:pos x="T0" y="T1"/>
                  </a:cxn>
                  <a:cxn ang="T7">
                    <a:pos x="T2" y="T3"/>
                  </a:cxn>
                  <a:cxn ang="T8">
                    <a:pos x="T4" y="T5"/>
                  </a:cxn>
                </a:cxnLst>
                <a:rect l="T9" t="T10" r="T11" b="T12"/>
                <a:pathLst>
                  <a:path w="22253" h="22141" fill="none" extrusionOk="0">
                    <a:moveTo>
                      <a:pt x="22246" y="-1"/>
                    </a:moveTo>
                    <a:cubicBezTo>
                      <a:pt x="22250" y="180"/>
                      <a:pt x="22253" y="360"/>
                      <a:pt x="22253" y="541"/>
                    </a:cubicBezTo>
                    <a:cubicBezTo>
                      <a:pt x="22253" y="12470"/>
                      <a:pt x="12582" y="22141"/>
                      <a:pt x="653" y="22141"/>
                    </a:cubicBezTo>
                    <a:cubicBezTo>
                      <a:pt x="435" y="22141"/>
                      <a:pt x="217" y="22137"/>
                      <a:pt x="-1" y="22131"/>
                    </a:cubicBezTo>
                  </a:path>
                  <a:path w="22253" h="22141" stroke="0" extrusionOk="0">
                    <a:moveTo>
                      <a:pt x="22246" y="-1"/>
                    </a:moveTo>
                    <a:cubicBezTo>
                      <a:pt x="22250" y="180"/>
                      <a:pt x="22253" y="360"/>
                      <a:pt x="22253" y="541"/>
                    </a:cubicBezTo>
                    <a:cubicBezTo>
                      <a:pt x="22253" y="12470"/>
                      <a:pt x="12582" y="22141"/>
                      <a:pt x="653" y="22141"/>
                    </a:cubicBezTo>
                    <a:cubicBezTo>
                      <a:pt x="435" y="22141"/>
                      <a:pt x="217" y="22137"/>
                      <a:pt x="-1" y="22131"/>
                    </a:cubicBezTo>
                    <a:lnTo>
                      <a:pt x="653" y="541"/>
                    </a:lnTo>
                    <a:close/>
                  </a:path>
                </a:pathLst>
              </a:custGeom>
              <a:noFill/>
              <a:ln w="50800" cap="rnd">
                <a:solidFill>
                  <a:srgbClr val="00B7A5"/>
                </a:solidFill>
                <a:round/>
                <a:headEnd/>
                <a:tailEnd/>
              </a:ln>
            </p:spPr>
            <p:txBody>
              <a:bodyPr wrap="none" anchor="ctr"/>
              <a:lstStyle/>
              <a:p>
                <a:endParaRPr lang="en-US"/>
              </a:p>
            </p:txBody>
          </p:sp>
          <p:sp>
            <p:nvSpPr>
              <p:cNvPr id="27872" name="Line 17"/>
              <p:cNvSpPr>
                <a:spLocks noChangeShapeType="1"/>
              </p:cNvSpPr>
              <p:nvPr/>
            </p:nvSpPr>
            <p:spPr bwMode="auto">
              <a:xfrm>
                <a:off x="5789" y="1764"/>
                <a:ext cx="37" cy="0"/>
              </a:xfrm>
              <a:prstGeom prst="line">
                <a:avLst/>
              </a:prstGeom>
              <a:noFill/>
              <a:ln w="50800">
                <a:solidFill>
                  <a:srgbClr val="00B7A5"/>
                </a:solidFill>
                <a:round/>
                <a:headEnd/>
                <a:tailEnd/>
              </a:ln>
            </p:spPr>
            <p:txBody>
              <a:bodyPr wrap="none" anchor="ctr"/>
              <a:lstStyle/>
              <a:p>
                <a:endParaRPr lang="en-US"/>
              </a:p>
            </p:txBody>
          </p:sp>
        </p:grpSp>
        <p:sp>
          <p:nvSpPr>
            <p:cNvPr id="27862" name="Arc 18"/>
            <p:cNvSpPr>
              <a:spLocks/>
            </p:cNvSpPr>
            <p:nvPr/>
          </p:nvSpPr>
          <p:spPr bwMode="auto">
            <a:xfrm>
              <a:off x="3838" y="1822"/>
              <a:ext cx="702" cy="1318"/>
            </a:xfrm>
            <a:custGeom>
              <a:avLst/>
              <a:gdLst>
                <a:gd name="T0" fmla="*/ 1 w 21631"/>
                <a:gd name="T1" fmla="*/ 0 h 21616"/>
                <a:gd name="T2" fmla="*/ 0 w 21631"/>
                <a:gd name="T3" fmla="*/ 5 h 21616"/>
                <a:gd name="T4" fmla="*/ 0 w 21631"/>
                <a:gd name="T5" fmla="*/ 0 h 21616"/>
                <a:gd name="T6" fmla="*/ 0 60000 65536"/>
                <a:gd name="T7" fmla="*/ 0 60000 65536"/>
                <a:gd name="T8" fmla="*/ 0 60000 65536"/>
                <a:gd name="T9" fmla="*/ 0 w 21631"/>
                <a:gd name="T10" fmla="*/ 0 h 21616"/>
                <a:gd name="T11" fmla="*/ 21631 w 21631"/>
                <a:gd name="T12" fmla="*/ 21616 h 21616"/>
              </a:gdLst>
              <a:ahLst/>
              <a:cxnLst>
                <a:cxn ang="T6">
                  <a:pos x="T0" y="T1"/>
                </a:cxn>
                <a:cxn ang="T7">
                  <a:pos x="T2" y="T3"/>
                </a:cxn>
                <a:cxn ang="T8">
                  <a:pos x="T4" y="T5"/>
                </a:cxn>
              </a:cxnLst>
              <a:rect l="T9" t="T10" r="T11" b="T12"/>
              <a:pathLst>
                <a:path w="21631" h="21616" fill="none" extrusionOk="0">
                  <a:moveTo>
                    <a:pt x="21630" y="0"/>
                  </a:moveTo>
                  <a:cubicBezTo>
                    <a:pt x="21630" y="5"/>
                    <a:pt x="21631" y="10"/>
                    <a:pt x="21631" y="16"/>
                  </a:cubicBezTo>
                  <a:cubicBezTo>
                    <a:pt x="21631" y="11945"/>
                    <a:pt x="11960" y="21616"/>
                    <a:pt x="31" y="21616"/>
                  </a:cubicBezTo>
                  <a:cubicBezTo>
                    <a:pt x="20" y="21616"/>
                    <a:pt x="10" y="21615"/>
                    <a:pt x="0" y="21615"/>
                  </a:cubicBezTo>
                </a:path>
                <a:path w="21631" h="21616" stroke="0" extrusionOk="0">
                  <a:moveTo>
                    <a:pt x="21630" y="0"/>
                  </a:moveTo>
                  <a:cubicBezTo>
                    <a:pt x="21630" y="5"/>
                    <a:pt x="21631" y="10"/>
                    <a:pt x="21631" y="16"/>
                  </a:cubicBezTo>
                  <a:cubicBezTo>
                    <a:pt x="21631" y="11945"/>
                    <a:pt x="11960" y="21616"/>
                    <a:pt x="31" y="21616"/>
                  </a:cubicBezTo>
                  <a:cubicBezTo>
                    <a:pt x="20" y="21616"/>
                    <a:pt x="10" y="21615"/>
                    <a:pt x="0" y="21615"/>
                  </a:cubicBezTo>
                  <a:lnTo>
                    <a:pt x="31" y="16"/>
                  </a:lnTo>
                  <a:close/>
                </a:path>
              </a:pathLst>
            </a:custGeom>
            <a:noFill/>
            <a:ln w="50800" cap="rnd">
              <a:solidFill>
                <a:srgbClr val="00B7A5"/>
              </a:solidFill>
              <a:round/>
              <a:headEnd/>
              <a:tailEnd/>
            </a:ln>
          </p:spPr>
          <p:txBody>
            <a:bodyPr wrap="none" anchor="ctr"/>
            <a:lstStyle/>
            <a:p>
              <a:endParaRPr lang="en-US"/>
            </a:p>
          </p:txBody>
        </p:sp>
        <p:sp>
          <p:nvSpPr>
            <p:cNvPr id="27863" name="Line 19"/>
            <p:cNvSpPr>
              <a:spLocks noChangeShapeType="1"/>
            </p:cNvSpPr>
            <p:nvPr/>
          </p:nvSpPr>
          <p:spPr bwMode="auto">
            <a:xfrm flipH="1">
              <a:off x="3260" y="3144"/>
              <a:ext cx="587" cy="0"/>
            </a:xfrm>
            <a:prstGeom prst="line">
              <a:avLst/>
            </a:prstGeom>
            <a:noFill/>
            <a:ln w="50800">
              <a:solidFill>
                <a:srgbClr val="00B7A5"/>
              </a:solidFill>
              <a:round/>
              <a:headEnd/>
              <a:tailEnd/>
            </a:ln>
          </p:spPr>
          <p:txBody>
            <a:bodyPr wrap="none" anchor="ctr"/>
            <a:lstStyle/>
            <a:p>
              <a:endParaRPr lang="en-US"/>
            </a:p>
          </p:txBody>
        </p:sp>
        <p:sp>
          <p:nvSpPr>
            <p:cNvPr id="27864" name="Arc 20"/>
            <p:cNvSpPr>
              <a:spLocks/>
            </p:cNvSpPr>
            <p:nvPr/>
          </p:nvSpPr>
          <p:spPr bwMode="auto">
            <a:xfrm>
              <a:off x="2822" y="2916"/>
              <a:ext cx="461" cy="223"/>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553" y="21599"/>
                  </a:moveTo>
                  <a:cubicBezTo>
                    <a:pt x="9642" y="21574"/>
                    <a:pt x="0" y="11911"/>
                    <a:pt x="0" y="0"/>
                  </a:cubicBezTo>
                </a:path>
                <a:path w="21600" h="21600" stroke="0" extrusionOk="0">
                  <a:moveTo>
                    <a:pt x="21553" y="21599"/>
                  </a:moveTo>
                  <a:cubicBezTo>
                    <a:pt x="9642" y="21574"/>
                    <a:pt x="0" y="11911"/>
                    <a:pt x="0" y="0"/>
                  </a:cubicBezTo>
                  <a:lnTo>
                    <a:pt x="21600" y="0"/>
                  </a:lnTo>
                  <a:close/>
                </a:path>
              </a:pathLst>
            </a:custGeom>
            <a:noFill/>
            <a:ln w="50800" cap="rnd">
              <a:solidFill>
                <a:srgbClr val="00B7A5"/>
              </a:solidFill>
              <a:round/>
              <a:headEnd/>
              <a:tailEnd/>
            </a:ln>
          </p:spPr>
          <p:txBody>
            <a:bodyPr wrap="none" anchor="ctr"/>
            <a:lstStyle/>
            <a:p>
              <a:endParaRPr lang="en-US"/>
            </a:p>
          </p:txBody>
        </p:sp>
        <p:sp>
          <p:nvSpPr>
            <p:cNvPr id="27865" name="Arc 21"/>
            <p:cNvSpPr>
              <a:spLocks/>
            </p:cNvSpPr>
            <p:nvPr/>
          </p:nvSpPr>
          <p:spPr bwMode="auto">
            <a:xfrm>
              <a:off x="2661" y="2854"/>
              <a:ext cx="169" cy="189"/>
            </a:xfrm>
            <a:custGeom>
              <a:avLst/>
              <a:gdLst>
                <a:gd name="T0" fmla="*/ 0 w 21729"/>
                <a:gd name="T1" fmla="*/ 0 h 21716"/>
                <a:gd name="T2" fmla="*/ 0 w 21729"/>
                <a:gd name="T3" fmla="*/ 0 h 21716"/>
                <a:gd name="T4" fmla="*/ 0 w 21729"/>
                <a:gd name="T5" fmla="*/ 0 h 21716"/>
                <a:gd name="T6" fmla="*/ 0 60000 65536"/>
                <a:gd name="T7" fmla="*/ 0 60000 65536"/>
                <a:gd name="T8" fmla="*/ 0 60000 65536"/>
                <a:gd name="T9" fmla="*/ 0 w 21729"/>
                <a:gd name="T10" fmla="*/ 0 h 21716"/>
                <a:gd name="T11" fmla="*/ 21729 w 21729"/>
                <a:gd name="T12" fmla="*/ 21716 h 21716"/>
              </a:gdLst>
              <a:ahLst/>
              <a:cxnLst>
                <a:cxn ang="T6">
                  <a:pos x="T0" y="T1"/>
                </a:cxn>
                <a:cxn ang="T7">
                  <a:pos x="T2" y="T3"/>
                </a:cxn>
                <a:cxn ang="T8">
                  <a:pos x="T4" y="T5"/>
                </a:cxn>
              </a:cxnLst>
              <a:rect l="T9" t="T10" r="T11" b="T12"/>
              <a:pathLst>
                <a:path w="21729" h="21716" fill="none" extrusionOk="0">
                  <a:moveTo>
                    <a:pt x="21728" y="0"/>
                  </a:moveTo>
                  <a:cubicBezTo>
                    <a:pt x="21728" y="38"/>
                    <a:pt x="21729" y="77"/>
                    <a:pt x="21729" y="116"/>
                  </a:cubicBezTo>
                  <a:cubicBezTo>
                    <a:pt x="21729" y="12045"/>
                    <a:pt x="12058" y="21716"/>
                    <a:pt x="129" y="21716"/>
                  </a:cubicBezTo>
                  <a:cubicBezTo>
                    <a:pt x="86" y="21716"/>
                    <a:pt x="43" y="21715"/>
                    <a:pt x="0" y="21715"/>
                  </a:cubicBezTo>
                </a:path>
                <a:path w="21729" h="21716" stroke="0" extrusionOk="0">
                  <a:moveTo>
                    <a:pt x="21728" y="0"/>
                  </a:moveTo>
                  <a:cubicBezTo>
                    <a:pt x="21728" y="38"/>
                    <a:pt x="21729" y="77"/>
                    <a:pt x="21729" y="116"/>
                  </a:cubicBezTo>
                  <a:cubicBezTo>
                    <a:pt x="21729" y="12045"/>
                    <a:pt x="12058" y="21716"/>
                    <a:pt x="129" y="21716"/>
                  </a:cubicBezTo>
                  <a:cubicBezTo>
                    <a:pt x="86" y="21716"/>
                    <a:pt x="43" y="21715"/>
                    <a:pt x="0" y="21715"/>
                  </a:cubicBezTo>
                  <a:lnTo>
                    <a:pt x="129" y="116"/>
                  </a:lnTo>
                  <a:close/>
                </a:path>
              </a:pathLst>
            </a:custGeom>
            <a:noFill/>
            <a:ln w="50800" cap="rnd">
              <a:solidFill>
                <a:srgbClr val="00B7A5"/>
              </a:solidFill>
              <a:round/>
              <a:headEnd/>
              <a:tailEnd/>
            </a:ln>
          </p:spPr>
          <p:txBody>
            <a:bodyPr wrap="none" anchor="ctr"/>
            <a:lstStyle/>
            <a:p>
              <a:endParaRPr lang="en-US"/>
            </a:p>
          </p:txBody>
        </p:sp>
        <p:sp>
          <p:nvSpPr>
            <p:cNvPr id="27866" name="Arc 22"/>
            <p:cNvSpPr>
              <a:spLocks/>
            </p:cNvSpPr>
            <p:nvPr/>
          </p:nvSpPr>
          <p:spPr bwMode="auto">
            <a:xfrm>
              <a:off x="2317" y="2332"/>
              <a:ext cx="351" cy="710"/>
            </a:xfrm>
            <a:custGeom>
              <a:avLst/>
              <a:gdLst>
                <a:gd name="T0" fmla="*/ 0 w 21600"/>
                <a:gd name="T1" fmla="*/ 1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538" y="21599"/>
                  </a:moveTo>
                  <a:cubicBezTo>
                    <a:pt x="9632" y="21565"/>
                    <a:pt x="0" y="11905"/>
                    <a:pt x="0" y="0"/>
                  </a:cubicBezTo>
                </a:path>
                <a:path w="21600" h="21600" stroke="0" extrusionOk="0">
                  <a:moveTo>
                    <a:pt x="21538" y="21599"/>
                  </a:moveTo>
                  <a:cubicBezTo>
                    <a:pt x="9632" y="21565"/>
                    <a:pt x="0" y="11905"/>
                    <a:pt x="0" y="0"/>
                  </a:cubicBezTo>
                  <a:lnTo>
                    <a:pt x="21600" y="0"/>
                  </a:lnTo>
                  <a:close/>
                </a:path>
              </a:pathLst>
            </a:custGeom>
            <a:noFill/>
            <a:ln w="50800" cap="rnd">
              <a:solidFill>
                <a:srgbClr val="00B7A5"/>
              </a:solidFill>
              <a:round/>
              <a:headEnd/>
              <a:tailEnd/>
            </a:ln>
          </p:spPr>
          <p:txBody>
            <a:bodyPr wrap="none" anchor="ctr"/>
            <a:lstStyle/>
            <a:p>
              <a:endParaRPr lang="en-US"/>
            </a:p>
          </p:txBody>
        </p:sp>
        <p:sp>
          <p:nvSpPr>
            <p:cNvPr id="27867" name="Arc 23"/>
            <p:cNvSpPr>
              <a:spLocks/>
            </p:cNvSpPr>
            <p:nvPr/>
          </p:nvSpPr>
          <p:spPr bwMode="auto">
            <a:xfrm>
              <a:off x="1961" y="2019"/>
              <a:ext cx="157" cy="42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50800" cap="rnd">
              <a:solidFill>
                <a:srgbClr val="00B7A5"/>
              </a:solidFill>
              <a:round/>
              <a:headEnd/>
              <a:tailEnd/>
            </a:ln>
          </p:spPr>
          <p:txBody>
            <a:bodyPr wrap="none" anchor="ctr"/>
            <a:lstStyle/>
            <a:p>
              <a:endParaRPr lang="en-US"/>
            </a:p>
          </p:txBody>
        </p:sp>
        <p:sp>
          <p:nvSpPr>
            <p:cNvPr id="27868" name="Line 24"/>
            <p:cNvSpPr>
              <a:spLocks noChangeShapeType="1"/>
            </p:cNvSpPr>
            <p:nvPr/>
          </p:nvSpPr>
          <p:spPr bwMode="auto">
            <a:xfrm>
              <a:off x="1859" y="2018"/>
              <a:ext cx="97" cy="0"/>
            </a:xfrm>
            <a:prstGeom prst="line">
              <a:avLst/>
            </a:prstGeom>
            <a:noFill/>
            <a:ln w="50800">
              <a:solidFill>
                <a:srgbClr val="00B7A5"/>
              </a:solidFill>
              <a:round/>
              <a:headEnd/>
              <a:tailEnd/>
            </a:ln>
          </p:spPr>
          <p:txBody>
            <a:bodyPr wrap="none" anchor="ctr"/>
            <a:lstStyle/>
            <a:p>
              <a:endParaRPr lang="en-US"/>
            </a:p>
          </p:txBody>
        </p:sp>
      </p:grpSp>
      <p:sp>
        <p:nvSpPr>
          <p:cNvPr id="27651" name="Rectangle 25"/>
          <p:cNvSpPr>
            <a:spLocks noGrp="1" noChangeArrowheads="1"/>
          </p:cNvSpPr>
          <p:nvPr>
            <p:ph type="ctrTitle"/>
          </p:nvPr>
        </p:nvSpPr>
        <p:spPr>
          <a:xfrm>
            <a:off x="1452563" y="112713"/>
            <a:ext cx="6249987" cy="1069975"/>
          </a:xfrm>
        </p:spPr>
        <p:txBody>
          <a:bodyPr wrap="none" lIns="93662" tIns="47625" rIns="93662" bIns="47625"/>
          <a:lstStyle/>
          <a:p>
            <a:pPr eaLnBrk="1" hangingPunct="1"/>
            <a:r>
              <a:rPr lang="en-US" sz="3200" b="1" smtClean="0">
                <a:cs typeface="Calibri" pitchFamily="34" charset="0"/>
              </a:rPr>
              <a:t>RUMINAL METABOLISM:</a:t>
            </a:r>
            <a:br>
              <a:rPr lang="en-US" sz="3200" b="1" smtClean="0">
                <a:cs typeface="Calibri" pitchFamily="34" charset="0"/>
              </a:rPr>
            </a:br>
            <a:r>
              <a:rPr lang="en-US" sz="3200" b="1" smtClean="0">
                <a:cs typeface="Calibri" pitchFamily="34" charset="0"/>
              </a:rPr>
              <a:t>ENERGY AND MILK PRECURSORS SUPPLY</a:t>
            </a:r>
          </a:p>
        </p:txBody>
      </p:sp>
      <p:grpSp>
        <p:nvGrpSpPr>
          <p:cNvPr id="447514" name="Group 26"/>
          <p:cNvGrpSpPr>
            <a:grpSpLocks/>
          </p:cNvGrpSpPr>
          <p:nvPr/>
        </p:nvGrpSpPr>
        <p:grpSpPr bwMode="auto">
          <a:xfrm>
            <a:off x="2638425" y="2581275"/>
            <a:ext cx="1804988" cy="369888"/>
            <a:chOff x="1870" y="1626"/>
            <a:chExt cx="1279" cy="233"/>
          </a:xfrm>
        </p:grpSpPr>
        <p:sp>
          <p:nvSpPr>
            <p:cNvPr id="27849" name="Rectangle 27"/>
            <p:cNvSpPr>
              <a:spLocks noChangeArrowheads="1"/>
            </p:cNvSpPr>
            <p:nvPr/>
          </p:nvSpPr>
          <p:spPr bwMode="auto">
            <a:xfrm>
              <a:off x="2162" y="1626"/>
              <a:ext cx="550" cy="233"/>
            </a:xfrm>
            <a:prstGeom prst="rect">
              <a:avLst/>
            </a:prstGeom>
            <a:noFill/>
            <a:ln w="9525">
              <a:noFill/>
              <a:miter lim="800000"/>
              <a:headEnd/>
              <a:tailEnd/>
            </a:ln>
          </p:spPr>
          <p:txBody>
            <a:bodyPr wrap="none" lIns="93662" tIns="47625" rIns="93662" bIns="47625">
              <a:spAutoFit/>
            </a:bodyPr>
            <a:lstStyle/>
            <a:p>
              <a:pPr algn="ctr" defTabSz="933450"/>
              <a:r>
                <a:rPr lang="en-US" b="1">
                  <a:latin typeface="Calibri" pitchFamily="34" charset="0"/>
                </a:rPr>
                <a:t>Gases</a:t>
              </a:r>
            </a:p>
          </p:txBody>
        </p:sp>
        <p:sp>
          <p:nvSpPr>
            <p:cNvPr id="27850" name="Line 28"/>
            <p:cNvSpPr>
              <a:spLocks noChangeShapeType="1"/>
            </p:cNvSpPr>
            <p:nvPr/>
          </p:nvSpPr>
          <p:spPr bwMode="auto">
            <a:xfrm flipH="1">
              <a:off x="1870" y="1727"/>
              <a:ext cx="302" cy="0"/>
            </a:xfrm>
            <a:prstGeom prst="line">
              <a:avLst/>
            </a:prstGeom>
            <a:noFill/>
            <a:ln w="25400">
              <a:solidFill>
                <a:srgbClr val="FFFFFF"/>
              </a:solidFill>
              <a:round/>
              <a:headEnd/>
              <a:tailEnd type="triangle" w="med" len="med"/>
            </a:ln>
          </p:spPr>
          <p:txBody>
            <a:bodyPr wrap="none" anchor="ctr"/>
            <a:lstStyle/>
            <a:p>
              <a:endParaRPr lang="en-US"/>
            </a:p>
          </p:txBody>
        </p:sp>
        <p:sp>
          <p:nvSpPr>
            <p:cNvPr id="27851" name="Line 29"/>
            <p:cNvSpPr>
              <a:spLocks noChangeShapeType="1"/>
            </p:cNvSpPr>
            <p:nvPr/>
          </p:nvSpPr>
          <p:spPr bwMode="auto">
            <a:xfrm>
              <a:off x="2688" y="1730"/>
              <a:ext cx="461" cy="0"/>
            </a:xfrm>
            <a:prstGeom prst="line">
              <a:avLst/>
            </a:prstGeom>
            <a:noFill/>
            <a:ln w="25400">
              <a:solidFill>
                <a:srgbClr val="FFFFFF"/>
              </a:solidFill>
              <a:round/>
              <a:headEnd type="triangle" w="med" len="med"/>
              <a:tailEnd/>
            </a:ln>
          </p:spPr>
          <p:txBody>
            <a:bodyPr wrap="none" anchor="ctr"/>
            <a:lstStyle/>
            <a:p>
              <a:endParaRPr lang="en-US"/>
            </a:p>
          </p:txBody>
        </p:sp>
      </p:grpSp>
      <p:sp>
        <p:nvSpPr>
          <p:cNvPr id="27653" name="Rectangle 30"/>
          <p:cNvSpPr>
            <a:spLocks noChangeArrowheads="1"/>
          </p:cNvSpPr>
          <p:nvPr/>
        </p:nvSpPr>
        <p:spPr bwMode="auto">
          <a:xfrm>
            <a:off x="6648450" y="1074738"/>
            <a:ext cx="1011238" cy="373062"/>
          </a:xfrm>
          <a:prstGeom prst="rect">
            <a:avLst/>
          </a:prstGeom>
          <a:noFill/>
          <a:ln w="9525">
            <a:noFill/>
            <a:miter lim="800000"/>
            <a:headEnd/>
            <a:tailEnd/>
          </a:ln>
        </p:spPr>
        <p:txBody>
          <a:bodyPr wrap="none" lIns="93662" tIns="47625" rIns="93662" bIns="47625">
            <a:spAutoFit/>
          </a:bodyPr>
          <a:lstStyle/>
          <a:p>
            <a:pPr algn="ctr" defTabSz="933450"/>
            <a:r>
              <a:rPr lang="en-US">
                <a:latin typeface="Calibri" pitchFamily="34" charset="0"/>
              </a:rPr>
              <a:t>Intestine</a:t>
            </a:r>
          </a:p>
        </p:txBody>
      </p:sp>
      <p:grpSp>
        <p:nvGrpSpPr>
          <p:cNvPr id="447519" name="Group 31"/>
          <p:cNvGrpSpPr>
            <a:grpSpLocks/>
          </p:cNvGrpSpPr>
          <p:nvPr/>
        </p:nvGrpSpPr>
        <p:grpSpPr bwMode="auto">
          <a:xfrm>
            <a:off x="3895725" y="2682875"/>
            <a:ext cx="855663" cy="1157288"/>
            <a:chOff x="2760" y="1690"/>
            <a:chExt cx="607" cy="729"/>
          </a:xfrm>
        </p:grpSpPr>
        <p:sp>
          <p:nvSpPr>
            <p:cNvPr id="27847" name="Rectangle 32"/>
            <p:cNvSpPr>
              <a:spLocks noChangeArrowheads="1"/>
            </p:cNvSpPr>
            <p:nvPr/>
          </p:nvSpPr>
          <p:spPr bwMode="auto">
            <a:xfrm>
              <a:off x="2760" y="2186"/>
              <a:ext cx="607" cy="233"/>
            </a:xfrm>
            <a:prstGeom prst="rect">
              <a:avLst/>
            </a:prstGeom>
            <a:noFill/>
            <a:ln w="9525">
              <a:noFill/>
              <a:miter lim="800000"/>
              <a:headEnd/>
              <a:tailEnd/>
            </a:ln>
          </p:spPr>
          <p:txBody>
            <a:bodyPr wrap="none" lIns="93662" tIns="47625" rIns="93662" bIns="47625">
              <a:spAutoFit/>
            </a:bodyPr>
            <a:lstStyle/>
            <a:p>
              <a:pPr algn="ctr" defTabSz="933450"/>
              <a:r>
                <a:rPr lang="en-US" b="1">
                  <a:solidFill>
                    <a:srgbClr val="FE9B03"/>
                  </a:solidFill>
                  <a:latin typeface="Calibri" pitchFamily="34" charset="0"/>
                </a:rPr>
                <a:t>Energy</a:t>
              </a:r>
            </a:p>
          </p:txBody>
        </p:sp>
        <p:sp>
          <p:nvSpPr>
            <p:cNvPr id="27848" name="Line 33"/>
            <p:cNvSpPr>
              <a:spLocks noChangeShapeType="1"/>
            </p:cNvSpPr>
            <p:nvPr/>
          </p:nvSpPr>
          <p:spPr bwMode="auto">
            <a:xfrm>
              <a:off x="3149" y="1690"/>
              <a:ext cx="0" cy="491"/>
            </a:xfrm>
            <a:prstGeom prst="line">
              <a:avLst/>
            </a:prstGeom>
            <a:noFill/>
            <a:ln w="50800">
              <a:solidFill>
                <a:srgbClr val="A2FFA3"/>
              </a:solidFill>
              <a:round/>
              <a:headEnd/>
              <a:tailEnd type="triangle" w="med" len="med"/>
            </a:ln>
          </p:spPr>
          <p:txBody>
            <a:bodyPr wrap="none" anchor="ctr"/>
            <a:lstStyle/>
            <a:p>
              <a:endParaRPr lang="en-US"/>
            </a:p>
          </p:txBody>
        </p:sp>
      </p:grpSp>
      <p:sp>
        <p:nvSpPr>
          <p:cNvPr id="27655" name="Rectangle 34"/>
          <p:cNvSpPr>
            <a:spLocks noChangeArrowheads="1"/>
          </p:cNvSpPr>
          <p:nvPr/>
        </p:nvSpPr>
        <p:spPr bwMode="auto">
          <a:xfrm>
            <a:off x="481013" y="1074738"/>
            <a:ext cx="796925" cy="373062"/>
          </a:xfrm>
          <a:prstGeom prst="rect">
            <a:avLst/>
          </a:prstGeom>
          <a:noFill/>
          <a:ln w="9525">
            <a:noFill/>
            <a:miter lim="800000"/>
            <a:headEnd/>
            <a:tailEnd/>
          </a:ln>
        </p:spPr>
        <p:txBody>
          <a:bodyPr wrap="none" lIns="93662" tIns="47625" rIns="93662" bIns="47625">
            <a:spAutoFit/>
          </a:bodyPr>
          <a:lstStyle/>
          <a:p>
            <a:pPr algn="ctr" defTabSz="933450"/>
            <a:r>
              <a:rPr lang="en-US">
                <a:latin typeface="Calibri" pitchFamily="34" charset="0"/>
              </a:rPr>
              <a:t>Ration</a:t>
            </a:r>
          </a:p>
        </p:txBody>
      </p:sp>
      <p:sp>
        <p:nvSpPr>
          <p:cNvPr id="27656" name="Rectangle 35"/>
          <p:cNvSpPr>
            <a:spLocks noChangeArrowheads="1"/>
          </p:cNvSpPr>
          <p:nvPr/>
        </p:nvSpPr>
        <p:spPr bwMode="auto">
          <a:xfrm>
            <a:off x="4016375" y="1074738"/>
            <a:ext cx="857250" cy="373062"/>
          </a:xfrm>
          <a:prstGeom prst="rect">
            <a:avLst/>
          </a:prstGeom>
          <a:noFill/>
          <a:ln w="9525">
            <a:noFill/>
            <a:miter lim="800000"/>
            <a:headEnd/>
            <a:tailEnd/>
          </a:ln>
        </p:spPr>
        <p:txBody>
          <a:bodyPr wrap="none" lIns="93662" tIns="47625" rIns="93662" bIns="47625">
            <a:spAutoFit/>
          </a:bodyPr>
          <a:lstStyle/>
          <a:p>
            <a:pPr algn="ctr" defTabSz="933450"/>
            <a:r>
              <a:rPr lang="en-US">
                <a:latin typeface="Calibri" pitchFamily="34" charset="0"/>
              </a:rPr>
              <a:t>Rumen</a:t>
            </a:r>
          </a:p>
        </p:txBody>
      </p:sp>
      <p:grpSp>
        <p:nvGrpSpPr>
          <p:cNvPr id="447524" name="Group 36"/>
          <p:cNvGrpSpPr>
            <a:grpSpLocks/>
          </p:cNvGrpSpPr>
          <p:nvPr/>
        </p:nvGrpSpPr>
        <p:grpSpPr bwMode="auto">
          <a:xfrm>
            <a:off x="214313" y="2660650"/>
            <a:ext cx="2176462" cy="1322388"/>
            <a:chOff x="152" y="1676"/>
            <a:chExt cx="1542" cy="833"/>
          </a:xfrm>
        </p:grpSpPr>
        <p:sp>
          <p:nvSpPr>
            <p:cNvPr id="27841" name="Rectangle 37"/>
            <p:cNvSpPr>
              <a:spLocks noChangeArrowheads="1"/>
            </p:cNvSpPr>
            <p:nvPr/>
          </p:nvSpPr>
          <p:spPr bwMode="auto">
            <a:xfrm>
              <a:off x="512" y="1860"/>
              <a:ext cx="1054" cy="231"/>
            </a:xfrm>
            <a:prstGeom prst="rect">
              <a:avLst/>
            </a:prstGeom>
            <a:noFill/>
            <a:ln w="9525">
              <a:noFill/>
              <a:miter lim="800000"/>
              <a:headEnd/>
              <a:tailEnd/>
            </a:ln>
          </p:spPr>
          <p:txBody>
            <a:bodyPr wrap="none" lIns="90488" tIns="44450" rIns="90488" bIns="44450">
              <a:spAutoFit/>
            </a:bodyPr>
            <a:lstStyle/>
            <a:p>
              <a:r>
                <a:rPr lang="en-US" b="1">
                  <a:latin typeface="Calibri" pitchFamily="34" charset="0"/>
                </a:rPr>
                <a:t>Simple sugars</a:t>
              </a:r>
            </a:p>
          </p:txBody>
        </p:sp>
        <p:sp>
          <p:nvSpPr>
            <p:cNvPr id="27842" name="Rectangle 38"/>
            <p:cNvSpPr>
              <a:spLocks noChangeArrowheads="1"/>
            </p:cNvSpPr>
            <p:nvPr/>
          </p:nvSpPr>
          <p:spPr bwMode="auto">
            <a:xfrm>
              <a:off x="152" y="2103"/>
              <a:ext cx="1542" cy="406"/>
            </a:xfrm>
            <a:prstGeom prst="rect">
              <a:avLst/>
            </a:prstGeom>
            <a:noFill/>
            <a:ln w="9525">
              <a:noFill/>
              <a:miter lim="800000"/>
              <a:headEnd/>
              <a:tailEnd/>
            </a:ln>
          </p:spPr>
          <p:txBody>
            <a:bodyPr wrap="none" lIns="93662" tIns="47625" rIns="93662" bIns="47625">
              <a:spAutoFit/>
            </a:bodyPr>
            <a:lstStyle/>
            <a:p>
              <a:pPr defTabSz="933450"/>
              <a:r>
                <a:rPr lang="en-US" b="1">
                  <a:solidFill>
                    <a:srgbClr val="FAFD00"/>
                  </a:solidFill>
                  <a:latin typeface="Calibri" pitchFamily="34" charset="0"/>
                </a:rPr>
                <a:t>Non-fibrous</a:t>
              </a:r>
            </a:p>
            <a:p>
              <a:pPr defTabSz="933450"/>
              <a:r>
                <a:rPr lang="en-US" b="1">
                  <a:solidFill>
                    <a:srgbClr val="FAFD00"/>
                  </a:solidFill>
                  <a:latin typeface="Calibri" pitchFamily="34" charset="0"/>
                </a:rPr>
                <a:t>carbohydrates (NFC)</a:t>
              </a:r>
            </a:p>
          </p:txBody>
        </p:sp>
        <p:sp>
          <p:nvSpPr>
            <p:cNvPr id="27843" name="Line 39"/>
            <p:cNvSpPr>
              <a:spLocks noChangeShapeType="1"/>
            </p:cNvSpPr>
            <p:nvPr/>
          </p:nvSpPr>
          <p:spPr bwMode="auto">
            <a:xfrm>
              <a:off x="335" y="1774"/>
              <a:ext cx="0" cy="305"/>
            </a:xfrm>
            <a:prstGeom prst="line">
              <a:avLst/>
            </a:prstGeom>
            <a:noFill/>
            <a:ln w="25400">
              <a:solidFill>
                <a:srgbClr val="438E00"/>
              </a:solidFill>
              <a:round/>
              <a:headEnd/>
              <a:tailEnd/>
            </a:ln>
          </p:spPr>
          <p:txBody>
            <a:bodyPr wrap="none" anchor="ctr"/>
            <a:lstStyle/>
            <a:p>
              <a:endParaRPr lang="en-US"/>
            </a:p>
          </p:txBody>
        </p:sp>
        <p:sp>
          <p:nvSpPr>
            <p:cNvPr id="27844" name="Line 40"/>
            <p:cNvSpPr>
              <a:spLocks noChangeShapeType="1"/>
            </p:cNvSpPr>
            <p:nvPr/>
          </p:nvSpPr>
          <p:spPr bwMode="auto">
            <a:xfrm>
              <a:off x="336" y="1973"/>
              <a:ext cx="179" cy="0"/>
            </a:xfrm>
            <a:prstGeom prst="line">
              <a:avLst/>
            </a:prstGeom>
            <a:noFill/>
            <a:ln w="25400">
              <a:solidFill>
                <a:srgbClr val="438E00"/>
              </a:solidFill>
              <a:round/>
              <a:headEnd/>
              <a:tailEnd type="triangle" w="med" len="med"/>
            </a:ln>
          </p:spPr>
          <p:txBody>
            <a:bodyPr wrap="none" anchor="ctr"/>
            <a:lstStyle/>
            <a:p>
              <a:endParaRPr lang="en-US"/>
            </a:p>
          </p:txBody>
        </p:sp>
        <p:sp>
          <p:nvSpPr>
            <p:cNvPr id="27845" name="Line 41"/>
            <p:cNvSpPr>
              <a:spLocks noChangeShapeType="1"/>
            </p:cNvSpPr>
            <p:nvPr/>
          </p:nvSpPr>
          <p:spPr bwMode="auto">
            <a:xfrm>
              <a:off x="336" y="1779"/>
              <a:ext cx="179" cy="0"/>
            </a:xfrm>
            <a:prstGeom prst="line">
              <a:avLst/>
            </a:prstGeom>
            <a:noFill/>
            <a:ln w="25400">
              <a:solidFill>
                <a:srgbClr val="438E00"/>
              </a:solidFill>
              <a:round/>
              <a:headEnd/>
              <a:tailEnd type="triangle" w="med" len="med"/>
            </a:ln>
          </p:spPr>
          <p:txBody>
            <a:bodyPr wrap="none" anchor="ctr"/>
            <a:lstStyle/>
            <a:p>
              <a:endParaRPr lang="en-US"/>
            </a:p>
          </p:txBody>
        </p:sp>
        <p:sp>
          <p:nvSpPr>
            <p:cNvPr id="27846" name="Rectangle 42"/>
            <p:cNvSpPr>
              <a:spLocks noChangeArrowheads="1"/>
            </p:cNvSpPr>
            <p:nvPr/>
          </p:nvSpPr>
          <p:spPr bwMode="auto">
            <a:xfrm>
              <a:off x="512" y="1676"/>
              <a:ext cx="562" cy="229"/>
            </a:xfrm>
            <a:prstGeom prst="rect">
              <a:avLst/>
            </a:prstGeom>
            <a:noFill/>
            <a:ln w="9525">
              <a:noFill/>
              <a:miter lim="800000"/>
              <a:headEnd/>
              <a:tailEnd/>
            </a:ln>
          </p:spPr>
          <p:txBody>
            <a:bodyPr wrap="none" lIns="90488" tIns="44450" rIns="90488" bIns="44450">
              <a:spAutoFit/>
            </a:bodyPr>
            <a:lstStyle/>
            <a:p>
              <a:r>
                <a:rPr lang="en-US" b="1">
                  <a:latin typeface="Calibri" pitchFamily="34" charset="0"/>
                </a:rPr>
                <a:t>Starch</a:t>
              </a:r>
            </a:p>
          </p:txBody>
        </p:sp>
      </p:grpSp>
      <p:grpSp>
        <p:nvGrpSpPr>
          <p:cNvPr id="447531" name="Group 43"/>
          <p:cNvGrpSpPr>
            <a:grpSpLocks/>
          </p:cNvGrpSpPr>
          <p:nvPr/>
        </p:nvGrpSpPr>
        <p:grpSpPr bwMode="auto">
          <a:xfrm>
            <a:off x="201613" y="1382713"/>
            <a:ext cx="2368550" cy="1336675"/>
            <a:chOff x="143" y="871"/>
            <a:chExt cx="1678" cy="842"/>
          </a:xfrm>
        </p:grpSpPr>
        <p:sp>
          <p:nvSpPr>
            <p:cNvPr id="27835" name="Rectangle 44"/>
            <p:cNvSpPr>
              <a:spLocks noChangeArrowheads="1"/>
            </p:cNvSpPr>
            <p:nvPr/>
          </p:nvSpPr>
          <p:spPr bwMode="auto">
            <a:xfrm>
              <a:off x="143" y="871"/>
              <a:ext cx="1678" cy="406"/>
            </a:xfrm>
            <a:prstGeom prst="rect">
              <a:avLst/>
            </a:prstGeom>
            <a:noFill/>
            <a:ln w="9525">
              <a:noFill/>
              <a:miter lim="800000"/>
              <a:headEnd/>
              <a:tailEnd/>
            </a:ln>
          </p:spPr>
          <p:txBody>
            <a:bodyPr wrap="none" lIns="93662" tIns="47625" rIns="93662" bIns="47625">
              <a:spAutoFit/>
            </a:bodyPr>
            <a:lstStyle/>
            <a:p>
              <a:pPr defTabSz="933450"/>
              <a:r>
                <a:rPr lang="en-US" b="1">
                  <a:solidFill>
                    <a:srgbClr val="FAFD00"/>
                  </a:solidFill>
                  <a:latin typeface="Calibri" pitchFamily="34" charset="0"/>
                </a:rPr>
                <a:t>Fibrous carbohydrates</a:t>
              </a:r>
            </a:p>
            <a:p>
              <a:pPr defTabSz="933450"/>
              <a:r>
                <a:rPr lang="en-US" b="1">
                  <a:solidFill>
                    <a:srgbClr val="FAFD00"/>
                  </a:solidFill>
                  <a:latin typeface="Calibri" pitchFamily="34" charset="0"/>
                </a:rPr>
                <a:t>(NDF)</a:t>
              </a:r>
            </a:p>
          </p:txBody>
        </p:sp>
        <p:sp>
          <p:nvSpPr>
            <p:cNvPr id="27836" name="Rectangle 45"/>
            <p:cNvSpPr>
              <a:spLocks noChangeArrowheads="1"/>
            </p:cNvSpPr>
            <p:nvPr/>
          </p:nvSpPr>
          <p:spPr bwMode="auto">
            <a:xfrm>
              <a:off x="511" y="1279"/>
              <a:ext cx="758" cy="233"/>
            </a:xfrm>
            <a:prstGeom prst="rect">
              <a:avLst/>
            </a:prstGeom>
            <a:noFill/>
            <a:ln w="9525">
              <a:noFill/>
              <a:miter lim="800000"/>
              <a:headEnd/>
              <a:tailEnd/>
            </a:ln>
          </p:spPr>
          <p:txBody>
            <a:bodyPr wrap="none" lIns="93662" tIns="47625" rIns="93662" bIns="47625">
              <a:spAutoFit/>
            </a:bodyPr>
            <a:lstStyle/>
            <a:p>
              <a:pPr defTabSz="933450"/>
              <a:r>
                <a:rPr lang="en-US" b="1">
                  <a:latin typeface="Calibri" pitchFamily="34" charset="0"/>
                </a:rPr>
                <a:t>Cellulose</a:t>
              </a:r>
            </a:p>
          </p:txBody>
        </p:sp>
        <p:sp>
          <p:nvSpPr>
            <p:cNvPr id="27837" name="Line 46"/>
            <p:cNvSpPr>
              <a:spLocks noChangeShapeType="1"/>
            </p:cNvSpPr>
            <p:nvPr/>
          </p:nvSpPr>
          <p:spPr bwMode="auto">
            <a:xfrm>
              <a:off x="335" y="1266"/>
              <a:ext cx="0" cy="338"/>
            </a:xfrm>
            <a:prstGeom prst="line">
              <a:avLst/>
            </a:prstGeom>
            <a:noFill/>
            <a:ln w="25400">
              <a:solidFill>
                <a:srgbClr val="438E00"/>
              </a:solidFill>
              <a:round/>
              <a:headEnd/>
              <a:tailEnd/>
            </a:ln>
          </p:spPr>
          <p:txBody>
            <a:bodyPr wrap="none" anchor="ctr"/>
            <a:lstStyle/>
            <a:p>
              <a:endParaRPr lang="en-US"/>
            </a:p>
          </p:txBody>
        </p:sp>
        <p:sp>
          <p:nvSpPr>
            <p:cNvPr id="27838" name="Line 47"/>
            <p:cNvSpPr>
              <a:spLocks noChangeShapeType="1"/>
            </p:cNvSpPr>
            <p:nvPr/>
          </p:nvSpPr>
          <p:spPr bwMode="auto">
            <a:xfrm>
              <a:off x="336" y="1597"/>
              <a:ext cx="181" cy="0"/>
            </a:xfrm>
            <a:prstGeom prst="line">
              <a:avLst/>
            </a:prstGeom>
            <a:noFill/>
            <a:ln w="25400">
              <a:solidFill>
                <a:srgbClr val="438E00"/>
              </a:solidFill>
              <a:round/>
              <a:headEnd/>
              <a:tailEnd type="triangle" w="med" len="med"/>
            </a:ln>
          </p:spPr>
          <p:txBody>
            <a:bodyPr wrap="none" anchor="ctr"/>
            <a:lstStyle/>
            <a:p>
              <a:endParaRPr lang="en-US"/>
            </a:p>
          </p:txBody>
        </p:sp>
        <p:sp>
          <p:nvSpPr>
            <p:cNvPr id="27839" name="Line 48"/>
            <p:cNvSpPr>
              <a:spLocks noChangeShapeType="1"/>
            </p:cNvSpPr>
            <p:nvPr/>
          </p:nvSpPr>
          <p:spPr bwMode="auto">
            <a:xfrm>
              <a:off x="339" y="1396"/>
              <a:ext cx="179" cy="0"/>
            </a:xfrm>
            <a:prstGeom prst="line">
              <a:avLst/>
            </a:prstGeom>
            <a:noFill/>
            <a:ln w="25400">
              <a:solidFill>
                <a:srgbClr val="438E00"/>
              </a:solidFill>
              <a:round/>
              <a:headEnd/>
              <a:tailEnd type="triangle" w="med" len="med"/>
            </a:ln>
          </p:spPr>
          <p:txBody>
            <a:bodyPr wrap="none" anchor="ctr"/>
            <a:lstStyle/>
            <a:p>
              <a:endParaRPr lang="en-US"/>
            </a:p>
          </p:txBody>
        </p:sp>
        <p:sp>
          <p:nvSpPr>
            <p:cNvPr id="27840" name="Rectangle 49"/>
            <p:cNvSpPr>
              <a:spLocks noChangeArrowheads="1"/>
            </p:cNvSpPr>
            <p:nvPr/>
          </p:nvSpPr>
          <p:spPr bwMode="auto">
            <a:xfrm>
              <a:off x="512" y="1484"/>
              <a:ext cx="1082" cy="229"/>
            </a:xfrm>
            <a:prstGeom prst="rect">
              <a:avLst/>
            </a:prstGeom>
            <a:noFill/>
            <a:ln w="9525">
              <a:noFill/>
              <a:miter lim="800000"/>
              <a:headEnd/>
              <a:tailEnd/>
            </a:ln>
          </p:spPr>
          <p:txBody>
            <a:bodyPr wrap="none" lIns="90488" tIns="44450" rIns="90488" bIns="44450">
              <a:spAutoFit/>
            </a:bodyPr>
            <a:lstStyle/>
            <a:p>
              <a:r>
                <a:rPr lang="en-US" b="1">
                  <a:latin typeface="Calibri" pitchFamily="34" charset="0"/>
                </a:rPr>
                <a:t>Hemicellulose</a:t>
              </a:r>
            </a:p>
          </p:txBody>
        </p:sp>
      </p:grpSp>
      <p:grpSp>
        <p:nvGrpSpPr>
          <p:cNvPr id="447538" name="Group 50"/>
          <p:cNvGrpSpPr>
            <a:grpSpLocks/>
          </p:cNvGrpSpPr>
          <p:nvPr/>
        </p:nvGrpSpPr>
        <p:grpSpPr bwMode="auto">
          <a:xfrm>
            <a:off x="1922463" y="3810000"/>
            <a:ext cx="1662112" cy="2300288"/>
            <a:chOff x="1362" y="2400"/>
            <a:chExt cx="1178" cy="1449"/>
          </a:xfrm>
        </p:grpSpPr>
        <p:sp>
          <p:nvSpPr>
            <p:cNvPr id="27828" name="Rectangle 51"/>
            <p:cNvSpPr>
              <a:spLocks noChangeArrowheads="1"/>
            </p:cNvSpPr>
            <p:nvPr/>
          </p:nvSpPr>
          <p:spPr bwMode="auto">
            <a:xfrm>
              <a:off x="1451" y="2487"/>
              <a:ext cx="865" cy="460"/>
            </a:xfrm>
            <a:prstGeom prst="rect">
              <a:avLst/>
            </a:prstGeom>
            <a:noFill/>
            <a:ln w="9525">
              <a:noFill/>
              <a:miter lim="800000"/>
              <a:headEnd/>
              <a:tailEnd/>
            </a:ln>
          </p:spPr>
          <p:txBody>
            <a:bodyPr wrap="none" lIns="93662" tIns="47625" rIns="93662" bIns="47625">
              <a:spAutoFit/>
            </a:bodyPr>
            <a:lstStyle/>
            <a:p>
              <a:pPr algn="ctr" defTabSz="933450">
                <a:lnSpc>
                  <a:spcPct val="130000"/>
                </a:lnSpc>
              </a:pPr>
              <a:r>
                <a:rPr lang="en-US" sz="1600" b="1">
                  <a:latin typeface="Calibri" pitchFamily="34" charset="0"/>
                </a:rPr>
                <a:t>Absorbed in</a:t>
              </a:r>
            </a:p>
            <a:p>
              <a:pPr algn="ctr" defTabSz="933450">
                <a:lnSpc>
                  <a:spcPct val="130000"/>
                </a:lnSpc>
              </a:pPr>
              <a:r>
                <a:rPr lang="en-US" sz="1600" b="1">
                  <a:latin typeface="Calibri" pitchFamily="34" charset="0"/>
                </a:rPr>
                <a:t>the blood</a:t>
              </a:r>
            </a:p>
          </p:txBody>
        </p:sp>
        <p:sp>
          <p:nvSpPr>
            <p:cNvPr id="27829" name="Line 52"/>
            <p:cNvSpPr>
              <a:spLocks noChangeShapeType="1"/>
            </p:cNvSpPr>
            <p:nvPr/>
          </p:nvSpPr>
          <p:spPr bwMode="auto">
            <a:xfrm flipH="1">
              <a:off x="1548" y="2729"/>
              <a:ext cx="992" cy="0"/>
            </a:xfrm>
            <a:prstGeom prst="line">
              <a:avLst/>
            </a:prstGeom>
            <a:noFill/>
            <a:ln w="50800">
              <a:solidFill>
                <a:srgbClr val="FE9B03"/>
              </a:solidFill>
              <a:round/>
              <a:headEnd/>
              <a:tailEnd/>
            </a:ln>
          </p:spPr>
          <p:txBody>
            <a:bodyPr wrap="none" anchor="ctr"/>
            <a:lstStyle/>
            <a:p>
              <a:endParaRPr lang="en-US"/>
            </a:p>
          </p:txBody>
        </p:sp>
        <p:sp>
          <p:nvSpPr>
            <p:cNvPr id="27830" name="Line 53"/>
            <p:cNvSpPr>
              <a:spLocks noChangeShapeType="1"/>
            </p:cNvSpPr>
            <p:nvPr/>
          </p:nvSpPr>
          <p:spPr bwMode="auto">
            <a:xfrm>
              <a:off x="2528" y="2400"/>
              <a:ext cx="0" cy="318"/>
            </a:xfrm>
            <a:prstGeom prst="line">
              <a:avLst/>
            </a:prstGeom>
            <a:noFill/>
            <a:ln w="50800">
              <a:solidFill>
                <a:srgbClr val="FE9B03"/>
              </a:solidFill>
              <a:round/>
              <a:headEnd/>
              <a:tailEnd/>
            </a:ln>
          </p:spPr>
          <p:txBody>
            <a:bodyPr wrap="none" anchor="ctr"/>
            <a:lstStyle/>
            <a:p>
              <a:endParaRPr lang="en-US"/>
            </a:p>
          </p:txBody>
        </p:sp>
        <p:sp>
          <p:nvSpPr>
            <p:cNvPr id="27831" name="Rectangle 54"/>
            <p:cNvSpPr>
              <a:spLocks noChangeArrowheads="1"/>
            </p:cNvSpPr>
            <p:nvPr/>
          </p:nvSpPr>
          <p:spPr bwMode="auto">
            <a:xfrm>
              <a:off x="1362" y="3568"/>
              <a:ext cx="1106" cy="281"/>
            </a:xfrm>
            <a:prstGeom prst="rect">
              <a:avLst/>
            </a:prstGeom>
            <a:noFill/>
            <a:ln w="9525">
              <a:noFill/>
              <a:miter lim="800000"/>
              <a:headEnd/>
              <a:tailEnd/>
            </a:ln>
          </p:spPr>
          <p:txBody>
            <a:bodyPr wrap="none" lIns="90488" tIns="44450" rIns="90488" bIns="44450">
              <a:spAutoFit/>
            </a:bodyPr>
            <a:lstStyle/>
            <a:p>
              <a:pPr>
                <a:lnSpc>
                  <a:spcPct val="130000"/>
                </a:lnSpc>
              </a:pPr>
              <a:r>
                <a:rPr lang="en-US" b="1">
                  <a:latin typeface="Calibri" pitchFamily="34" charset="0"/>
                </a:rPr>
                <a:t>Propionic acid</a:t>
              </a:r>
            </a:p>
          </p:txBody>
        </p:sp>
        <p:sp>
          <p:nvSpPr>
            <p:cNvPr id="27832" name="Rectangle 55"/>
            <p:cNvSpPr>
              <a:spLocks noChangeArrowheads="1"/>
            </p:cNvSpPr>
            <p:nvPr/>
          </p:nvSpPr>
          <p:spPr bwMode="auto">
            <a:xfrm>
              <a:off x="1362" y="3310"/>
              <a:ext cx="938" cy="281"/>
            </a:xfrm>
            <a:prstGeom prst="rect">
              <a:avLst/>
            </a:prstGeom>
            <a:noFill/>
            <a:ln w="9525">
              <a:noFill/>
              <a:miter lim="800000"/>
              <a:headEnd/>
              <a:tailEnd/>
            </a:ln>
          </p:spPr>
          <p:txBody>
            <a:bodyPr wrap="none" lIns="90488" tIns="44450" rIns="90488" bIns="44450">
              <a:spAutoFit/>
            </a:bodyPr>
            <a:lstStyle/>
            <a:p>
              <a:pPr>
                <a:lnSpc>
                  <a:spcPct val="130000"/>
                </a:lnSpc>
              </a:pPr>
              <a:r>
                <a:rPr lang="en-US" b="1">
                  <a:latin typeface="Calibri" pitchFamily="34" charset="0"/>
                </a:rPr>
                <a:t>Butyric acid</a:t>
              </a:r>
            </a:p>
          </p:txBody>
        </p:sp>
        <p:sp>
          <p:nvSpPr>
            <p:cNvPr id="27833" name="Rectangle 56"/>
            <p:cNvSpPr>
              <a:spLocks noChangeArrowheads="1"/>
            </p:cNvSpPr>
            <p:nvPr/>
          </p:nvSpPr>
          <p:spPr bwMode="auto">
            <a:xfrm>
              <a:off x="1362" y="3102"/>
              <a:ext cx="874" cy="281"/>
            </a:xfrm>
            <a:prstGeom prst="rect">
              <a:avLst/>
            </a:prstGeom>
            <a:noFill/>
            <a:ln w="9525">
              <a:noFill/>
              <a:miter lim="800000"/>
              <a:headEnd/>
              <a:tailEnd/>
            </a:ln>
          </p:spPr>
          <p:txBody>
            <a:bodyPr wrap="none" lIns="90488" tIns="44450" rIns="90488" bIns="44450">
              <a:spAutoFit/>
            </a:bodyPr>
            <a:lstStyle/>
            <a:p>
              <a:pPr>
                <a:lnSpc>
                  <a:spcPct val="130000"/>
                </a:lnSpc>
              </a:pPr>
              <a:r>
                <a:rPr lang="en-US" b="1">
                  <a:latin typeface="Calibri" pitchFamily="34" charset="0"/>
                </a:rPr>
                <a:t>Acetic acid</a:t>
              </a:r>
            </a:p>
          </p:txBody>
        </p:sp>
        <p:sp>
          <p:nvSpPr>
            <p:cNvPr id="27834" name="Line 57"/>
            <p:cNvSpPr>
              <a:spLocks noChangeShapeType="1"/>
            </p:cNvSpPr>
            <p:nvPr/>
          </p:nvSpPr>
          <p:spPr bwMode="auto">
            <a:xfrm flipV="1">
              <a:off x="1561" y="2736"/>
              <a:ext cx="0" cy="448"/>
            </a:xfrm>
            <a:prstGeom prst="line">
              <a:avLst/>
            </a:prstGeom>
            <a:noFill/>
            <a:ln w="50800">
              <a:solidFill>
                <a:srgbClr val="FE9B03"/>
              </a:solidFill>
              <a:round/>
              <a:headEnd type="triangle" w="med" len="med"/>
              <a:tailEnd/>
            </a:ln>
          </p:spPr>
          <p:txBody>
            <a:bodyPr wrap="none" anchor="ctr"/>
            <a:lstStyle/>
            <a:p>
              <a:endParaRPr lang="en-US"/>
            </a:p>
          </p:txBody>
        </p:sp>
      </p:grpSp>
      <p:grpSp>
        <p:nvGrpSpPr>
          <p:cNvPr id="447546" name="Group 58"/>
          <p:cNvGrpSpPr>
            <a:grpSpLocks/>
          </p:cNvGrpSpPr>
          <p:nvPr/>
        </p:nvGrpSpPr>
        <p:grpSpPr bwMode="auto">
          <a:xfrm>
            <a:off x="3429000" y="5070475"/>
            <a:ext cx="5067300" cy="446088"/>
            <a:chOff x="2430" y="3194"/>
            <a:chExt cx="3591" cy="281"/>
          </a:xfrm>
        </p:grpSpPr>
        <p:sp>
          <p:nvSpPr>
            <p:cNvPr id="27821" name="Line 59"/>
            <p:cNvSpPr>
              <a:spLocks noChangeShapeType="1"/>
            </p:cNvSpPr>
            <p:nvPr/>
          </p:nvSpPr>
          <p:spPr bwMode="auto">
            <a:xfrm>
              <a:off x="4464" y="3347"/>
              <a:ext cx="536" cy="0"/>
            </a:xfrm>
            <a:prstGeom prst="line">
              <a:avLst/>
            </a:prstGeom>
            <a:noFill/>
            <a:ln w="25400">
              <a:solidFill>
                <a:srgbClr val="FFFFFF"/>
              </a:solidFill>
              <a:round/>
              <a:headEnd/>
              <a:tailEnd type="triangle" w="med" len="med"/>
            </a:ln>
          </p:spPr>
          <p:txBody>
            <a:bodyPr wrap="none" anchor="ctr"/>
            <a:lstStyle/>
            <a:p>
              <a:endParaRPr lang="en-US"/>
            </a:p>
          </p:txBody>
        </p:sp>
        <p:sp>
          <p:nvSpPr>
            <p:cNvPr id="27822" name="Line 60"/>
            <p:cNvSpPr>
              <a:spLocks noChangeShapeType="1"/>
            </p:cNvSpPr>
            <p:nvPr/>
          </p:nvSpPr>
          <p:spPr bwMode="auto">
            <a:xfrm>
              <a:off x="2430" y="3465"/>
              <a:ext cx="344" cy="0"/>
            </a:xfrm>
            <a:prstGeom prst="line">
              <a:avLst/>
            </a:prstGeom>
            <a:noFill/>
            <a:ln w="25400">
              <a:solidFill>
                <a:srgbClr val="FFFFFF"/>
              </a:solidFill>
              <a:round/>
              <a:headEnd/>
              <a:tailEnd/>
            </a:ln>
          </p:spPr>
          <p:txBody>
            <a:bodyPr wrap="none" anchor="ctr"/>
            <a:lstStyle/>
            <a:p>
              <a:endParaRPr lang="en-US"/>
            </a:p>
          </p:txBody>
        </p:sp>
        <p:sp>
          <p:nvSpPr>
            <p:cNvPr id="27823" name="Rectangle 61"/>
            <p:cNvSpPr>
              <a:spLocks noChangeArrowheads="1"/>
            </p:cNvSpPr>
            <p:nvPr/>
          </p:nvSpPr>
          <p:spPr bwMode="auto">
            <a:xfrm>
              <a:off x="5039" y="3246"/>
              <a:ext cx="982" cy="212"/>
            </a:xfrm>
            <a:prstGeom prst="rect">
              <a:avLst/>
            </a:prstGeom>
            <a:noFill/>
            <a:ln w="9525">
              <a:noFill/>
              <a:miter lim="800000"/>
              <a:headEnd/>
              <a:tailEnd/>
            </a:ln>
          </p:spPr>
          <p:txBody>
            <a:bodyPr wrap="none" lIns="90488" tIns="44450" rIns="90488" bIns="44450">
              <a:spAutoFit/>
            </a:bodyPr>
            <a:lstStyle/>
            <a:p>
              <a:pPr>
                <a:lnSpc>
                  <a:spcPct val="90000"/>
                </a:lnSpc>
              </a:pPr>
              <a:r>
                <a:rPr lang="en-US" b="1">
                  <a:latin typeface="Calibri" pitchFamily="34" charset="0"/>
                </a:rPr>
                <a:t>% Fat in milk</a:t>
              </a:r>
            </a:p>
          </p:txBody>
        </p:sp>
        <p:sp>
          <p:nvSpPr>
            <p:cNvPr id="27824" name="Rectangle 62"/>
            <p:cNvSpPr>
              <a:spLocks noChangeArrowheads="1"/>
            </p:cNvSpPr>
            <p:nvPr/>
          </p:nvSpPr>
          <p:spPr bwMode="auto">
            <a:xfrm>
              <a:off x="3005" y="3194"/>
              <a:ext cx="1493" cy="281"/>
            </a:xfrm>
            <a:prstGeom prst="rect">
              <a:avLst/>
            </a:prstGeom>
            <a:noFill/>
            <a:ln w="9525">
              <a:noFill/>
              <a:miter lim="800000"/>
              <a:headEnd/>
              <a:tailEnd/>
            </a:ln>
          </p:spPr>
          <p:txBody>
            <a:bodyPr lIns="90488" tIns="44450" rIns="90488" bIns="44450">
              <a:spAutoFit/>
            </a:bodyPr>
            <a:lstStyle/>
            <a:p>
              <a:pPr algn="ctr">
                <a:lnSpc>
                  <a:spcPct val="130000"/>
                </a:lnSpc>
              </a:pPr>
              <a:r>
                <a:rPr lang="en-US" b="1">
                  <a:latin typeface="Calibri" pitchFamily="34" charset="0"/>
                </a:rPr>
                <a:t>Triglycerides (Fats)</a:t>
              </a:r>
            </a:p>
          </p:txBody>
        </p:sp>
        <p:sp>
          <p:nvSpPr>
            <p:cNvPr id="27825" name="Line 63"/>
            <p:cNvSpPr>
              <a:spLocks noChangeShapeType="1"/>
            </p:cNvSpPr>
            <p:nvPr/>
          </p:nvSpPr>
          <p:spPr bwMode="auto">
            <a:xfrm>
              <a:off x="2430" y="3256"/>
              <a:ext cx="350" cy="0"/>
            </a:xfrm>
            <a:prstGeom prst="line">
              <a:avLst/>
            </a:prstGeom>
            <a:noFill/>
            <a:ln w="25400">
              <a:solidFill>
                <a:srgbClr val="FFFFFF"/>
              </a:solidFill>
              <a:round/>
              <a:headEnd/>
              <a:tailEnd/>
            </a:ln>
          </p:spPr>
          <p:txBody>
            <a:bodyPr wrap="none" anchor="ctr"/>
            <a:lstStyle/>
            <a:p>
              <a:endParaRPr lang="en-US"/>
            </a:p>
          </p:txBody>
        </p:sp>
        <p:sp>
          <p:nvSpPr>
            <p:cNvPr id="27826" name="Line 64"/>
            <p:cNvSpPr>
              <a:spLocks noChangeShapeType="1"/>
            </p:cNvSpPr>
            <p:nvPr/>
          </p:nvSpPr>
          <p:spPr bwMode="auto">
            <a:xfrm flipV="1">
              <a:off x="2786" y="3243"/>
              <a:ext cx="0" cy="229"/>
            </a:xfrm>
            <a:prstGeom prst="line">
              <a:avLst/>
            </a:prstGeom>
            <a:noFill/>
            <a:ln w="25400">
              <a:solidFill>
                <a:srgbClr val="FFFFFF"/>
              </a:solidFill>
              <a:round/>
              <a:headEnd/>
              <a:tailEnd/>
            </a:ln>
          </p:spPr>
          <p:txBody>
            <a:bodyPr wrap="none" anchor="ctr"/>
            <a:lstStyle/>
            <a:p>
              <a:endParaRPr lang="en-US"/>
            </a:p>
          </p:txBody>
        </p:sp>
        <p:sp>
          <p:nvSpPr>
            <p:cNvPr id="27827" name="Line 65"/>
            <p:cNvSpPr>
              <a:spLocks noChangeShapeType="1"/>
            </p:cNvSpPr>
            <p:nvPr/>
          </p:nvSpPr>
          <p:spPr bwMode="auto">
            <a:xfrm>
              <a:off x="2799" y="3359"/>
              <a:ext cx="177" cy="0"/>
            </a:xfrm>
            <a:prstGeom prst="line">
              <a:avLst/>
            </a:prstGeom>
            <a:noFill/>
            <a:ln w="25400">
              <a:solidFill>
                <a:srgbClr val="FFFFFF"/>
              </a:solidFill>
              <a:round/>
              <a:headEnd/>
              <a:tailEnd type="triangle" w="med" len="med"/>
            </a:ln>
          </p:spPr>
          <p:txBody>
            <a:bodyPr wrap="none" anchor="ctr"/>
            <a:lstStyle/>
            <a:p>
              <a:endParaRPr lang="en-US"/>
            </a:p>
          </p:txBody>
        </p:sp>
      </p:grpSp>
      <p:grpSp>
        <p:nvGrpSpPr>
          <p:cNvPr id="447554" name="Group 66"/>
          <p:cNvGrpSpPr>
            <a:grpSpLocks/>
          </p:cNvGrpSpPr>
          <p:nvPr/>
        </p:nvGrpSpPr>
        <p:grpSpPr bwMode="auto">
          <a:xfrm>
            <a:off x="325438" y="5135563"/>
            <a:ext cx="1616075" cy="1228725"/>
            <a:chOff x="231" y="3235"/>
            <a:chExt cx="1145" cy="774"/>
          </a:xfrm>
        </p:grpSpPr>
        <p:sp>
          <p:nvSpPr>
            <p:cNvPr id="27814" name="Rectangle 67"/>
            <p:cNvSpPr>
              <a:spLocks noChangeArrowheads="1"/>
            </p:cNvSpPr>
            <p:nvPr/>
          </p:nvSpPr>
          <p:spPr bwMode="auto">
            <a:xfrm>
              <a:off x="231" y="3341"/>
              <a:ext cx="999" cy="668"/>
            </a:xfrm>
            <a:prstGeom prst="rect">
              <a:avLst/>
            </a:prstGeom>
            <a:noFill/>
            <a:ln w="9525">
              <a:noFill/>
              <a:miter lim="800000"/>
              <a:headEnd/>
              <a:tailEnd/>
            </a:ln>
          </p:spPr>
          <p:txBody>
            <a:bodyPr wrap="none" lIns="93662" tIns="47625" rIns="93662" bIns="47625">
              <a:spAutoFit/>
            </a:bodyPr>
            <a:lstStyle/>
            <a:p>
              <a:pPr defTabSz="933450">
                <a:lnSpc>
                  <a:spcPct val="95000"/>
                </a:lnSpc>
              </a:pPr>
              <a:r>
                <a:rPr lang="en-US" b="1">
                  <a:latin typeface="Calibri" pitchFamily="34" charset="0"/>
                </a:rPr>
                <a:t>Energy</a:t>
              </a:r>
            </a:p>
            <a:p>
              <a:pPr defTabSz="933450">
                <a:lnSpc>
                  <a:spcPct val="95000"/>
                </a:lnSpc>
              </a:pPr>
              <a:r>
                <a:rPr lang="en-US" sz="1600" b="1">
                  <a:latin typeface="Calibri" pitchFamily="34" charset="0"/>
                </a:rPr>
                <a:t>(Maintenance</a:t>
              </a:r>
            </a:p>
            <a:p>
              <a:pPr defTabSz="933450">
                <a:lnSpc>
                  <a:spcPct val="95000"/>
                </a:lnSpc>
              </a:pPr>
              <a:r>
                <a:rPr lang="en-US" sz="1600" b="1">
                  <a:latin typeface="Calibri" pitchFamily="34" charset="0"/>
                </a:rPr>
                <a:t>pregnancy,</a:t>
              </a:r>
            </a:p>
            <a:p>
              <a:pPr defTabSz="933450">
                <a:lnSpc>
                  <a:spcPct val="95000"/>
                </a:lnSpc>
              </a:pPr>
              <a:r>
                <a:rPr lang="en-US" sz="1600" b="1">
                  <a:latin typeface="Calibri" pitchFamily="34" charset="0"/>
                </a:rPr>
                <a:t>lactation, etc.)</a:t>
              </a:r>
            </a:p>
          </p:txBody>
        </p:sp>
        <p:sp>
          <p:nvSpPr>
            <p:cNvPr id="27815" name="Line 68"/>
            <p:cNvSpPr>
              <a:spLocks noChangeShapeType="1"/>
            </p:cNvSpPr>
            <p:nvPr/>
          </p:nvSpPr>
          <p:spPr bwMode="auto">
            <a:xfrm flipH="1">
              <a:off x="1168" y="3251"/>
              <a:ext cx="200" cy="0"/>
            </a:xfrm>
            <a:prstGeom prst="line">
              <a:avLst/>
            </a:prstGeom>
            <a:noFill/>
            <a:ln w="25400">
              <a:solidFill>
                <a:srgbClr val="FFFFFF"/>
              </a:solidFill>
              <a:round/>
              <a:headEnd/>
              <a:tailEnd/>
            </a:ln>
          </p:spPr>
          <p:txBody>
            <a:bodyPr wrap="none" anchor="ctr"/>
            <a:lstStyle/>
            <a:p>
              <a:endParaRPr lang="en-US"/>
            </a:p>
          </p:txBody>
        </p:sp>
        <p:sp>
          <p:nvSpPr>
            <p:cNvPr id="27816" name="Line 69"/>
            <p:cNvSpPr>
              <a:spLocks noChangeShapeType="1"/>
            </p:cNvSpPr>
            <p:nvPr/>
          </p:nvSpPr>
          <p:spPr bwMode="auto">
            <a:xfrm flipH="1">
              <a:off x="1157" y="3459"/>
              <a:ext cx="200" cy="0"/>
            </a:xfrm>
            <a:prstGeom prst="line">
              <a:avLst/>
            </a:prstGeom>
            <a:noFill/>
            <a:ln w="25400">
              <a:solidFill>
                <a:srgbClr val="FFFFFF"/>
              </a:solidFill>
              <a:round/>
              <a:headEnd/>
              <a:tailEnd/>
            </a:ln>
          </p:spPr>
          <p:txBody>
            <a:bodyPr wrap="none" anchor="ctr"/>
            <a:lstStyle/>
            <a:p>
              <a:endParaRPr lang="en-US"/>
            </a:p>
          </p:txBody>
        </p:sp>
        <p:sp>
          <p:nvSpPr>
            <p:cNvPr id="27817" name="Line 70"/>
            <p:cNvSpPr>
              <a:spLocks noChangeShapeType="1"/>
            </p:cNvSpPr>
            <p:nvPr/>
          </p:nvSpPr>
          <p:spPr bwMode="auto">
            <a:xfrm flipH="1">
              <a:off x="1160" y="3741"/>
              <a:ext cx="216" cy="0"/>
            </a:xfrm>
            <a:prstGeom prst="line">
              <a:avLst/>
            </a:prstGeom>
            <a:noFill/>
            <a:ln w="25400">
              <a:solidFill>
                <a:srgbClr val="FFFFFF"/>
              </a:solidFill>
              <a:round/>
              <a:headEnd/>
              <a:tailEnd/>
            </a:ln>
          </p:spPr>
          <p:txBody>
            <a:bodyPr wrap="none" anchor="ctr"/>
            <a:lstStyle/>
            <a:p>
              <a:endParaRPr lang="en-US"/>
            </a:p>
          </p:txBody>
        </p:sp>
        <p:sp>
          <p:nvSpPr>
            <p:cNvPr id="27818" name="Line 71"/>
            <p:cNvSpPr>
              <a:spLocks noChangeShapeType="1"/>
            </p:cNvSpPr>
            <p:nvPr/>
          </p:nvSpPr>
          <p:spPr bwMode="auto">
            <a:xfrm flipV="1">
              <a:off x="1176" y="3451"/>
              <a:ext cx="0" cy="293"/>
            </a:xfrm>
            <a:prstGeom prst="line">
              <a:avLst/>
            </a:prstGeom>
            <a:noFill/>
            <a:ln w="25400">
              <a:solidFill>
                <a:srgbClr val="FFFFFF"/>
              </a:solidFill>
              <a:round/>
              <a:headEnd/>
              <a:tailEnd/>
            </a:ln>
          </p:spPr>
          <p:txBody>
            <a:bodyPr wrap="none" anchor="ctr"/>
            <a:lstStyle/>
            <a:p>
              <a:endParaRPr lang="en-US"/>
            </a:p>
          </p:txBody>
        </p:sp>
        <p:sp>
          <p:nvSpPr>
            <p:cNvPr id="27819" name="Line 72"/>
            <p:cNvSpPr>
              <a:spLocks noChangeShapeType="1"/>
            </p:cNvSpPr>
            <p:nvPr/>
          </p:nvSpPr>
          <p:spPr bwMode="auto">
            <a:xfrm flipH="1">
              <a:off x="832" y="3459"/>
              <a:ext cx="344" cy="0"/>
            </a:xfrm>
            <a:prstGeom prst="line">
              <a:avLst/>
            </a:prstGeom>
            <a:noFill/>
            <a:ln w="25400">
              <a:solidFill>
                <a:srgbClr val="FFFFFF"/>
              </a:solidFill>
              <a:round/>
              <a:headEnd/>
              <a:tailEnd type="triangle" w="med" len="med"/>
            </a:ln>
          </p:spPr>
          <p:txBody>
            <a:bodyPr wrap="none" anchor="ctr"/>
            <a:lstStyle/>
            <a:p>
              <a:endParaRPr lang="en-US"/>
            </a:p>
          </p:txBody>
        </p:sp>
        <p:sp>
          <p:nvSpPr>
            <p:cNvPr id="27820" name="Line 73"/>
            <p:cNvSpPr>
              <a:spLocks noChangeShapeType="1"/>
            </p:cNvSpPr>
            <p:nvPr/>
          </p:nvSpPr>
          <p:spPr bwMode="auto">
            <a:xfrm flipV="1">
              <a:off x="1176" y="3235"/>
              <a:ext cx="0" cy="228"/>
            </a:xfrm>
            <a:prstGeom prst="line">
              <a:avLst/>
            </a:prstGeom>
            <a:noFill/>
            <a:ln w="25400">
              <a:solidFill>
                <a:srgbClr val="FFFFFF"/>
              </a:solidFill>
              <a:round/>
              <a:headEnd/>
              <a:tailEnd/>
            </a:ln>
          </p:spPr>
          <p:txBody>
            <a:bodyPr wrap="none" anchor="ctr"/>
            <a:lstStyle/>
            <a:p>
              <a:endParaRPr lang="en-US"/>
            </a:p>
          </p:txBody>
        </p:sp>
      </p:grpSp>
      <p:grpSp>
        <p:nvGrpSpPr>
          <p:cNvPr id="447562" name="Group 74"/>
          <p:cNvGrpSpPr>
            <a:grpSpLocks/>
          </p:cNvGrpSpPr>
          <p:nvPr/>
        </p:nvGrpSpPr>
        <p:grpSpPr bwMode="auto">
          <a:xfrm>
            <a:off x="2235200" y="2235200"/>
            <a:ext cx="2470150" cy="927100"/>
            <a:chOff x="1584" y="1408"/>
            <a:chExt cx="1750" cy="584"/>
          </a:xfrm>
        </p:grpSpPr>
        <p:sp>
          <p:nvSpPr>
            <p:cNvPr id="27804" name="Line 75"/>
            <p:cNvSpPr>
              <a:spLocks noChangeShapeType="1"/>
            </p:cNvSpPr>
            <p:nvPr/>
          </p:nvSpPr>
          <p:spPr bwMode="auto">
            <a:xfrm>
              <a:off x="1600" y="1801"/>
              <a:ext cx="49" cy="0"/>
            </a:xfrm>
            <a:prstGeom prst="line">
              <a:avLst/>
            </a:prstGeom>
            <a:noFill/>
            <a:ln w="50800">
              <a:solidFill>
                <a:srgbClr val="438E00"/>
              </a:solidFill>
              <a:round/>
              <a:headEnd/>
              <a:tailEnd/>
            </a:ln>
          </p:spPr>
          <p:txBody>
            <a:bodyPr wrap="none" anchor="ctr"/>
            <a:lstStyle/>
            <a:p>
              <a:endParaRPr lang="en-US"/>
            </a:p>
          </p:txBody>
        </p:sp>
        <p:sp>
          <p:nvSpPr>
            <p:cNvPr id="27805" name="Rectangle 76"/>
            <p:cNvSpPr>
              <a:spLocks noChangeArrowheads="1"/>
            </p:cNvSpPr>
            <p:nvPr/>
          </p:nvSpPr>
          <p:spPr bwMode="auto">
            <a:xfrm>
              <a:off x="2648" y="1474"/>
              <a:ext cx="686" cy="233"/>
            </a:xfrm>
            <a:prstGeom prst="rect">
              <a:avLst/>
            </a:prstGeom>
            <a:noFill/>
            <a:ln w="9525">
              <a:noFill/>
              <a:miter lim="800000"/>
              <a:headEnd/>
              <a:tailEnd/>
            </a:ln>
          </p:spPr>
          <p:txBody>
            <a:bodyPr wrap="none" lIns="93662" tIns="47625" rIns="93662" bIns="47625">
              <a:spAutoFit/>
            </a:bodyPr>
            <a:lstStyle/>
            <a:p>
              <a:pPr algn="ctr" defTabSz="933450"/>
              <a:r>
                <a:rPr lang="en-US" b="1">
                  <a:latin typeface="Calibri" pitchFamily="34" charset="0"/>
                </a:rPr>
                <a:t>Glucose</a:t>
              </a:r>
            </a:p>
          </p:txBody>
        </p:sp>
        <p:sp>
          <p:nvSpPr>
            <p:cNvPr id="27806" name="Line 77"/>
            <p:cNvSpPr>
              <a:spLocks noChangeShapeType="1"/>
            </p:cNvSpPr>
            <p:nvPr/>
          </p:nvSpPr>
          <p:spPr bwMode="auto">
            <a:xfrm>
              <a:off x="1653" y="1418"/>
              <a:ext cx="496" cy="0"/>
            </a:xfrm>
            <a:prstGeom prst="line">
              <a:avLst/>
            </a:prstGeom>
            <a:noFill/>
            <a:ln w="76200">
              <a:solidFill>
                <a:srgbClr val="438E00"/>
              </a:solidFill>
              <a:round/>
              <a:headEnd/>
              <a:tailEnd/>
            </a:ln>
          </p:spPr>
          <p:txBody>
            <a:bodyPr wrap="none" anchor="ctr"/>
            <a:lstStyle/>
            <a:p>
              <a:endParaRPr lang="en-US"/>
            </a:p>
          </p:txBody>
        </p:sp>
        <p:sp>
          <p:nvSpPr>
            <p:cNvPr id="27807" name="Line 78"/>
            <p:cNvSpPr>
              <a:spLocks noChangeShapeType="1"/>
            </p:cNvSpPr>
            <p:nvPr/>
          </p:nvSpPr>
          <p:spPr bwMode="auto">
            <a:xfrm>
              <a:off x="2308" y="1590"/>
              <a:ext cx="345" cy="0"/>
            </a:xfrm>
            <a:prstGeom prst="line">
              <a:avLst/>
            </a:prstGeom>
            <a:noFill/>
            <a:ln w="50800">
              <a:solidFill>
                <a:srgbClr val="438E00"/>
              </a:solidFill>
              <a:round/>
              <a:headEnd/>
              <a:tailEnd type="triangle" w="med" len="med"/>
            </a:ln>
          </p:spPr>
          <p:txBody>
            <a:bodyPr wrap="none" anchor="ctr"/>
            <a:lstStyle/>
            <a:p>
              <a:endParaRPr lang="en-US"/>
            </a:p>
          </p:txBody>
        </p:sp>
        <p:sp>
          <p:nvSpPr>
            <p:cNvPr id="27808" name="Arc 79"/>
            <p:cNvSpPr>
              <a:spLocks/>
            </p:cNvSpPr>
            <p:nvPr/>
          </p:nvSpPr>
          <p:spPr bwMode="auto">
            <a:xfrm rot="10800000">
              <a:off x="2228" y="1510"/>
              <a:ext cx="64" cy="80"/>
            </a:xfrm>
            <a:custGeom>
              <a:avLst/>
              <a:gdLst>
                <a:gd name="T0" fmla="*/ 0 w 21940"/>
                <a:gd name="T1" fmla="*/ 0 h 21600"/>
                <a:gd name="T2" fmla="*/ 0 w 21940"/>
                <a:gd name="T3" fmla="*/ 0 h 21600"/>
                <a:gd name="T4" fmla="*/ 0 w 21940"/>
                <a:gd name="T5" fmla="*/ 0 h 21600"/>
                <a:gd name="T6" fmla="*/ 0 60000 65536"/>
                <a:gd name="T7" fmla="*/ 0 60000 65536"/>
                <a:gd name="T8" fmla="*/ 0 60000 65536"/>
                <a:gd name="T9" fmla="*/ 0 w 21940"/>
                <a:gd name="T10" fmla="*/ 0 h 21600"/>
                <a:gd name="T11" fmla="*/ 21940 w 21940"/>
                <a:gd name="T12" fmla="*/ 21600 h 21600"/>
              </a:gdLst>
              <a:ahLst/>
              <a:cxnLst>
                <a:cxn ang="T6">
                  <a:pos x="T0" y="T1"/>
                </a:cxn>
                <a:cxn ang="T7">
                  <a:pos x="T2" y="T3"/>
                </a:cxn>
                <a:cxn ang="T8">
                  <a:pos x="T4" y="T5"/>
                </a:cxn>
              </a:cxnLst>
              <a:rect l="T9" t="T10" r="T11" b="T12"/>
              <a:pathLst>
                <a:path w="21940" h="21600" fill="none" extrusionOk="0">
                  <a:moveTo>
                    <a:pt x="-1" y="2"/>
                  </a:moveTo>
                  <a:cubicBezTo>
                    <a:pt x="113" y="0"/>
                    <a:pt x="226" y="-1"/>
                    <a:pt x="340" y="0"/>
                  </a:cubicBezTo>
                  <a:cubicBezTo>
                    <a:pt x="12269" y="0"/>
                    <a:pt x="21940" y="9670"/>
                    <a:pt x="21940" y="21600"/>
                  </a:cubicBezTo>
                </a:path>
                <a:path w="21940" h="21600" stroke="0" extrusionOk="0">
                  <a:moveTo>
                    <a:pt x="-1" y="2"/>
                  </a:moveTo>
                  <a:cubicBezTo>
                    <a:pt x="113" y="0"/>
                    <a:pt x="226" y="-1"/>
                    <a:pt x="340" y="0"/>
                  </a:cubicBezTo>
                  <a:cubicBezTo>
                    <a:pt x="12269" y="0"/>
                    <a:pt x="21940" y="9670"/>
                    <a:pt x="21940" y="21600"/>
                  </a:cubicBezTo>
                  <a:lnTo>
                    <a:pt x="340" y="21600"/>
                  </a:lnTo>
                  <a:close/>
                </a:path>
              </a:pathLst>
            </a:custGeom>
            <a:noFill/>
            <a:ln w="50800" cap="rnd">
              <a:solidFill>
                <a:srgbClr val="438E00"/>
              </a:solidFill>
              <a:round/>
              <a:headEnd/>
              <a:tailEnd/>
            </a:ln>
          </p:spPr>
          <p:txBody>
            <a:bodyPr wrap="none" anchor="ctr"/>
            <a:lstStyle/>
            <a:p>
              <a:endParaRPr lang="en-US"/>
            </a:p>
          </p:txBody>
        </p:sp>
        <p:sp>
          <p:nvSpPr>
            <p:cNvPr id="27809" name="Arc 80"/>
            <p:cNvSpPr>
              <a:spLocks/>
            </p:cNvSpPr>
            <p:nvPr/>
          </p:nvSpPr>
          <p:spPr bwMode="auto">
            <a:xfrm rot="10800000">
              <a:off x="2145" y="1422"/>
              <a:ext cx="74" cy="77"/>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50800" cap="rnd">
              <a:solidFill>
                <a:srgbClr val="438E00"/>
              </a:solidFill>
              <a:round/>
              <a:headEnd/>
              <a:tailEnd/>
            </a:ln>
          </p:spPr>
          <p:txBody>
            <a:bodyPr wrap="none" anchor="ctr"/>
            <a:lstStyle/>
            <a:p>
              <a:endParaRPr lang="en-US"/>
            </a:p>
          </p:txBody>
        </p:sp>
        <p:sp>
          <p:nvSpPr>
            <p:cNvPr id="27810" name="Line 81"/>
            <p:cNvSpPr>
              <a:spLocks noChangeShapeType="1"/>
            </p:cNvSpPr>
            <p:nvPr/>
          </p:nvSpPr>
          <p:spPr bwMode="auto">
            <a:xfrm>
              <a:off x="1648" y="1408"/>
              <a:ext cx="0" cy="570"/>
            </a:xfrm>
            <a:prstGeom prst="line">
              <a:avLst/>
            </a:prstGeom>
            <a:noFill/>
            <a:ln w="50800">
              <a:solidFill>
                <a:srgbClr val="438E00"/>
              </a:solidFill>
              <a:round/>
              <a:headEnd/>
              <a:tailEnd/>
            </a:ln>
          </p:spPr>
          <p:txBody>
            <a:bodyPr wrap="none" anchor="ctr"/>
            <a:lstStyle/>
            <a:p>
              <a:endParaRPr lang="en-US"/>
            </a:p>
          </p:txBody>
        </p:sp>
        <p:sp>
          <p:nvSpPr>
            <p:cNvPr id="27811" name="Line 82"/>
            <p:cNvSpPr>
              <a:spLocks noChangeShapeType="1"/>
            </p:cNvSpPr>
            <p:nvPr/>
          </p:nvSpPr>
          <p:spPr bwMode="auto">
            <a:xfrm>
              <a:off x="1600" y="1614"/>
              <a:ext cx="49" cy="0"/>
            </a:xfrm>
            <a:prstGeom prst="line">
              <a:avLst/>
            </a:prstGeom>
            <a:noFill/>
            <a:ln w="50800">
              <a:solidFill>
                <a:srgbClr val="438E00"/>
              </a:solidFill>
              <a:round/>
              <a:headEnd/>
              <a:tailEnd/>
            </a:ln>
          </p:spPr>
          <p:txBody>
            <a:bodyPr wrap="none" anchor="ctr"/>
            <a:lstStyle/>
            <a:p>
              <a:endParaRPr lang="en-US"/>
            </a:p>
          </p:txBody>
        </p:sp>
        <p:sp>
          <p:nvSpPr>
            <p:cNvPr id="27812" name="Line 83"/>
            <p:cNvSpPr>
              <a:spLocks noChangeShapeType="1"/>
            </p:cNvSpPr>
            <p:nvPr/>
          </p:nvSpPr>
          <p:spPr bwMode="auto">
            <a:xfrm>
              <a:off x="1594" y="1992"/>
              <a:ext cx="71" cy="0"/>
            </a:xfrm>
            <a:prstGeom prst="line">
              <a:avLst/>
            </a:prstGeom>
            <a:noFill/>
            <a:ln w="50800">
              <a:solidFill>
                <a:srgbClr val="438E00"/>
              </a:solidFill>
              <a:round/>
              <a:headEnd/>
              <a:tailEnd/>
            </a:ln>
          </p:spPr>
          <p:txBody>
            <a:bodyPr wrap="none" anchor="ctr"/>
            <a:lstStyle/>
            <a:p>
              <a:endParaRPr lang="en-US"/>
            </a:p>
          </p:txBody>
        </p:sp>
        <p:sp>
          <p:nvSpPr>
            <p:cNvPr id="27813" name="Line 84"/>
            <p:cNvSpPr>
              <a:spLocks noChangeShapeType="1"/>
            </p:cNvSpPr>
            <p:nvPr/>
          </p:nvSpPr>
          <p:spPr bwMode="auto">
            <a:xfrm>
              <a:off x="1584" y="1412"/>
              <a:ext cx="96" cy="0"/>
            </a:xfrm>
            <a:prstGeom prst="line">
              <a:avLst/>
            </a:prstGeom>
            <a:noFill/>
            <a:ln w="50800">
              <a:solidFill>
                <a:srgbClr val="438E00"/>
              </a:solidFill>
              <a:round/>
              <a:headEnd/>
              <a:tailEnd/>
            </a:ln>
          </p:spPr>
          <p:txBody>
            <a:bodyPr wrap="none" anchor="ctr"/>
            <a:lstStyle/>
            <a:p>
              <a:endParaRPr lang="en-US"/>
            </a:p>
          </p:txBody>
        </p:sp>
      </p:grpSp>
      <p:sp>
        <p:nvSpPr>
          <p:cNvPr id="27663" name="Rectangle 86"/>
          <p:cNvSpPr>
            <a:spLocks noChangeArrowheads="1"/>
          </p:cNvSpPr>
          <p:nvPr/>
        </p:nvSpPr>
        <p:spPr bwMode="auto">
          <a:xfrm>
            <a:off x="8050213" y="3719513"/>
            <a:ext cx="658812" cy="303212"/>
          </a:xfrm>
          <a:prstGeom prst="rect">
            <a:avLst/>
          </a:prstGeom>
          <a:noFill/>
          <a:ln w="9525">
            <a:noFill/>
            <a:miter lim="800000"/>
            <a:headEnd/>
            <a:tailEnd/>
          </a:ln>
        </p:spPr>
        <p:txBody>
          <a:bodyPr wrap="none" lIns="93662" tIns="47625" rIns="93662" bIns="47625">
            <a:spAutoFit/>
          </a:bodyPr>
          <a:lstStyle/>
          <a:p>
            <a:pPr algn="ctr" defTabSz="933450">
              <a:lnSpc>
                <a:spcPct val="85000"/>
              </a:lnSpc>
            </a:pPr>
            <a:r>
              <a:rPr lang="en-US" sz="1600">
                <a:latin typeface="Calibri" pitchFamily="34" charset="0"/>
              </a:rPr>
              <a:t>Feces</a:t>
            </a:r>
          </a:p>
        </p:txBody>
      </p:sp>
      <p:grpSp>
        <p:nvGrpSpPr>
          <p:cNvPr id="447720" name="Group 232"/>
          <p:cNvGrpSpPr>
            <a:grpSpLocks/>
          </p:cNvGrpSpPr>
          <p:nvPr/>
        </p:nvGrpSpPr>
        <p:grpSpPr bwMode="auto">
          <a:xfrm>
            <a:off x="2986088" y="1663700"/>
            <a:ext cx="5437187" cy="1965325"/>
            <a:chOff x="5929" y="1016"/>
            <a:chExt cx="3853" cy="1238"/>
          </a:xfrm>
        </p:grpSpPr>
        <p:sp>
          <p:nvSpPr>
            <p:cNvPr id="27781" name="Rectangle 87"/>
            <p:cNvSpPr>
              <a:spLocks noChangeArrowheads="1"/>
            </p:cNvSpPr>
            <p:nvPr/>
          </p:nvSpPr>
          <p:spPr bwMode="auto">
            <a:xfrm>
              <a:off x="8903" y="1311"/>
              <a:ext cx="782" cy="233"/>
            </a:xfrm>
            <a:prstGeom prst="rect">
              <a:avLst/>
            </a:prstGeom>
            <a:noFill/>
            <a:ln w="9525">
              <a:noFill/>
              <a:miter lim="800000"/>
              <a:headEnd/>
              <a:tailEnd/>
            </a:ln>
          </p:spPr>
          <p:txBody>
            <a:bodyPr wrap="none" lIns="93662" tIns="47625" rIns="93662" bIns="47625">
              <a:spAutoFit/>
            </a:bodyPr>
            <a:lstStyle/>
            <a:p>
              <a:pPr algn="ctr" defTabSz="933450"/>
              <a:r>
                <a:rPr lang="en-US" b="1">
                  <a:latin typeface="Calibri" pitchFamily="34" charset="0"/>
                </a:rPr>
                <a:t>(Glucose)</a:t>
              </a:r>
            </a:p>
          </p:txBody>
        </p:sp>
        <p:sp>
          <p:nvSpPr>
            <p:cNvPr id="27782" name="Rectangle 88"/>
            <p:cNvSpPr>
              <a:spLocks noChangeArrowheads="1"/>
            </p:cNvSpPr>
            <p:nvPr/>
          </p:nvSpPr>
          <p:spPr bwMode="auto">
            <a:xfrm>
              <a:off x="5929" y="1016"/>
              <a:ext cx="2015" cy="476"/>
            </a:xfrm>
            <a:prstGeom prst="rect">
              <a:avLst/>
            </a:prstGeom>
            <a:noFill/>
            <a:ln w="9525">
              <a:noFill/>
              <a:miter lim="800000"/>
              <a:headEnd/>
              <a:tailEnd/>
            </a:ln>
          </p:spPr>
          <p:txBody>
            <a:bodyPr wrap="none" lIns="93662" tIns="47625" rIns="93662" bIns="47625">
              <a:spAutoFit/>
            </a:bodyPr>
            <a:lstStyle/>
            <a:p>
              <a:pPr algn="ctr" defTabSz="933450">
                <a:lnSpc>
                  <a:spcPct val="120000"/>
                </a:lnSpc>
              </a:pPr>
              <a:r>
                <a:rPr lang="en-US" b="1">
                  <a:latin typeface="Calibri" pitchFamily="34" charset="0"/>
                </a:rPr>
                <a:t>(Carbohydrates that escape</a:t>
              </a:r>
            </a:p>
            <a:p>
              <a:pPr algn="ctr" defTabSz="933450">
                <a:lnSpc>
                  <a:spcPct val="120000"/>
                </a:lnSpc>
              </a:pPr>
              <a:r>
                <a:rPr lang="en-US" b="1">
                  <a:latin typeface="Calibri" pitchFamily="34" charset="0"/>
                </a:rPr>
                <a:t>microbial fermentation)</a:t>
              </a:r>
            </a:p>
          </p:txBody>
        </p:sp>
        <p:grpSp>
          <p:nvGrpSpPr>
            <p:cNvPr id="27783" name="Group 89"/>
            <p:cNvGrpSpPr>
              <a:grpSpLocks/>
            </p:cNvGrpSpPr>
            <p:nvPr/>
          </p:nvGrpSpPr>
          <p:grpSpPr bwMode="auto">
            <a:xfrm>
              <a:off x="5977" y="1233"/>
              <a:ext cx="2157" cy="173"/>
              <a:chOff x="2146" y="1243"/>
              <a:chExt cx="2158" cy="173"/>
            </a:xfrm>
          </p:grpSpPr>
          <p:sp>
            <p:nvSpPr>
              <p:cNvPr id="27798" name="Arc 90"/>
              <p:cNvSpPr>
                <a:spLocks/>
              </p:cNvSpPr>
              <p:nvPr/>
            </p:nvSpPr>
            <p:spPr bwMode="auto">
              <a:xfrm>
                <a:off x="3807" y="1250"/>
                <a:ext cx="129" cy="108"/>
              </a:xfrm>
              <a:custGeom>
                <a:avLst/>
                <a:gdLst>
                  <a:gd name="T0" fmla="*/ 0 w 21715"/>
                  <a:gd name="T1" fmla="*/ 0 h 21600"/>
                  <a:gd name="T2" fmla="*/ 0 w 21715"/>
                  <a:gd name="T3" fmla="*/ 0 h 21600"/>
                  <a:gd name="T4" fmla="*/ 0 w 21715"/>
                  <a:gd name="T5" fmla="*/ 0 h 21600"/>
                  <a:gd name="T6" fmla="*/ 0 60000 65536"/>
                  <a:gd name="T7" fmla="*/ 0 60000 65536"/>
                  <a:gd name="T8" fmla="*/ 0 60000 65536"/>
                  <a:gd name="T9" fmla="*/ 0 w 21715"/>
                  <a:gd name="T10" fmla="*/ 0 h 21600"/>
                  <a:gd name="T11" fmla="*/ 21715 w 21715"/>
                  <a:gd name="T12" fmla="*/ 21600 h 21600"/>
                </a:gdLst>
                <a:ahLst/>
                <a:cxnLst>
                  <a:cxn ang="T6">
                    <a:pos x="T0" y="T1"/>
                  </a:cxn>
                  <a:cxn ang="T7">
                    <a:pos x="T2" y="T3"/>
                  </a:cxn>
                  <a:cxn ang="T8">
                    <a:pos x="T4" y="T5"/>
                  </a:cxn>
                </a:cxnLst>
                <a:rect l="T9" t="T10" r="T11" b="T12"/>
                <a:pathLst>
                  <a:path w="21715" h="21600" fill="none" extrusionOk="0">
                    <a:moveTo>
                      <a:pt x="0" y="1"/>
                    </a:moveTo>
                    <a:cubicBezTo>
                      <a:pt x="72" y="0"/>
                      <a:pt x="144" y="-1"/>
                      <a:pt x="217" y="0"/>
                    </a:cubicBezTo>
                    <a:cubicBezTo>
                      <a:pt x="11335" y="0"/>
                      <a:pt x="20637" y="8440"/>
                      <a:pt x="21715" y="19506"/>
                    </a:cubicBezTo>
                  </a:path>
                  <a:path w="21715" h="21600" stroke="0" extrusionOk="0">
                    <a:moveTo>
                      <a:pt x="0" y="1"/>
                    </a:moveTo>
                    <a:cubicBezTo>
                      <a:pt x="72" y="0"/>
                      <a:pt x="144" y="-1"/>
                      <a:pt x="217" y="0"/>
                    </a:cubicBezTo>
                    <a:cubicBezTo>
                      <a:pt x="11335" y="0"/>
                      <a:pt x="20637" y="8440"/>
                      <a:pt x="21715" y="19506"/>
                    </a:cubicBezTo>
                    <a:lnTo>
                      <a:pt x="217" y="21600"/>
                    </a:lnTo>
                    <a:close/>
                  </a:path>
                </a:pathLst>
              </a:custGeom>
              <a:noFill/>
              <a:ln w="25400" cap="rnd">
                <a:solidFill>
                  <a:srgbClr val="438E00"/>
                </a:solidFill>
                <a:round/>
                <a:headEnd/>
                <a:tailEnd/>
              </a:ln>
            </p:spPr>
            <p:txBody>
              <a:bodyPr wrap="none" anchor="ctr"/>
              <a:lstStyle/>
              <a:p>
                <a:endParaRPr lang="en-US"/>
              </a:p>
            </p:txBody>
          </p:sp>
          <p:sp>
            <p:nvSpPr>
              <p:cNvPr id="27799" name="Arc 91"/>
              <p:cNvSpPr>
                <a:spLocks/>
              </p:cNvSpPr>
              <p:nvPr/>
            </p:nvSpPr>
            <p:spPr bwMode="auto">
              <a:xfrm>
                <a:off x="3938" y="1327"/>
                <a:ext cx="94" cy="88"/>
              </a:xfrm>
              <a:custGeom>
                <a:avLst/>
                <a:gdLst>
                  <a:gd name="T0" fmla="*/ 0 w 21600"/>
                  <a:gd name="T1" fmla="*/ 0 h 21599"/>
                  <a:gd name="T2" fmla="*/ 0 w 21600"/>
                  <a:gd name="T3" fmla="*/ 0 h 21599"/>
                  <a:gd name="T4" fmla="*/ 0 w 21600"/>
                  <a:gd name="T5" fmla="*/ 0 h 21599"/>
                  <a:gd name="T6" fmla="*/ 0 60000 65536"/>
                  <a:gd name="T7" fmla="*/ 0 60000 65536"/>
                  <a:gd name="T8" fmla="*/ 0 60000 65536"/>
                  <a:gd name="T9" fmla="*/ 0 w 21600"/>
                  <a:gd name="T10" fmla="*/ 0 h 21599"/>
                  <a:gd name="T11" fmla="*/ 21600 w 21600"/>
                  <a:gd name="T12" fmla="*/ 21599 h 21599"/>
                </a:gdLst>
                <a:ahLst/>
                <a:cxnLst>
                  <a:cxn ang="T6">
                    <a:pos x="T0" y="T1"/>
                  </a:cxn>
                  <a:cxn ang="T7">
                    <a:pos x="T2" y="T3"/>
                  </a:cxn>
                  <a:cxn ang="T8">
                    <a:pos x="T4" y="T5"/>
                  </a:cxn>
                </a:cxnLst>
                <a:rect l="T9" t="T10" r="T11" b="T12"/>
                <a:pathLst>
                  <a:path w="21600" h="21599" fill="none" extrusionOk="0">
                    <a:moveTo>
                      <a:pt x="21369" y="21598"/>
                    </a:moveTo>
                    <a:cubicBezTo>
                      <a:pt x="9530" y="21472"/>
                      <a:pt x="0" y="11839"/>
                      <a:pt x="0" y="0"/>
                    </a:cubicBezTo>
                  </a:path>
                  <a:path w="21600" h="21599" stroke="0" extrusionOk="0">
                    <a:moveTo>
                      <a:pt x="21369" y="21598"/>
                    </a:moveTo>
                    <a:cubicBezTo>
                      <a:pt x="9530" y="21472"/>
                      <a:pt x="0" y="11839"/>
                      <a:pt x="0" y="0"/>
                    </a:cubicBezTo>
                    <a:lnTo>
                      <a:pt x="21600" y="0"/>
                    </a:lnTo>
                    <a:close/>
                  </a:path>
                </a:pathLst>
              </a:custGeom>
              <a:noFill/>
              <a:ln w="25400" cap="rnd">
                <a:solidFill>
                  <a:srgbClr val="438E00"/>
                </a:solidFill>
                <a:round/>
                <a:headEnd/>
                <a:tailEnd/>
              </a:ln>
            </p:spPr>
            <p:txBody>
              <a:bodyPr wrap="none" anchor="ctr"/>
              <a:lstStyle/>
              <a:p>
                <a:endParaRPr lang="en-US"/>
              </a:p>
            </p:txBody>
          </p:sp>
          <p:sp>
            <p:nvSpPr>
              <p:cNvPr id="27800" name="Line 92"/>
              <p:cNvSpPr>
                <a:spLocks noChangeShapeType="1"/>
              </p:cNvSpPr>
              <p:nvPr/>
            </p:nvSpPr>
            <p:spPr bwMode="auto">
              <a:xfrm>
                <a:off x="4032" y="1414"/>
                <a:ext cx="272" cy="2"/>
              </a:xfrm>
              <a:prstGeom prst="line">
                <a:avLst/>
              </a:prstGeom>
              <a:noFill/>
              <a:ln w="25400">
                <a:solidFill>
                  <a:srgbClr val="438E00"/>
                </a:solidFill>
                <a:round/>
                <a:headEnd/>
                <a:tailEnd type="triangle" w="med" len="med"/>
              </a:ln>
            </p:spPr>
            <p:txBody>
              <a:bodyPr wrap="none" anchor="ctr"/>
              <a:lstStyle/>
              <a:p>
                <a:endParaRPr lang="en-US"/>
              </a:p>
            </p:txBody>
          </p:sp>
          <p:sp>
            <p:nvSpPr>
              <p:cNvPr id="27801" name="Line 93"/>
              <p:cNvSpPr>
                <a:spLocks noChangeShapeType="1"/>
              </p:cNvSpPr>
              <p:nvPr/>
            </p:nvSpPr>
            <p:spPr bwMode="auto">
              <a:xfrm flipV="1">
                <a:off x="2303" y="1243"/>
                <a:ext cx="1503" cy="4"/>
              </a:xfrm>
              <a:prstGeom prst="line">
                <a:avLst/>
              </a:prstGeom>
              <a:noFill/>
              <a:ln w="25400">
                <a:solidFill>
                  <a:srgbClr val="438E00"/>
                </a:solidFill>
                <a:round/>
                <a:headEnd/>
                <a:tailEnd/>
              </a:ln>
            </p:spPr>
            <p:txBody>
              <a:bodyPr wrap="none" anchor="ctr"/>
              <a:lstStyle/>
              <a:p>
                <a:endParaRPr lang="en-US"/>
              </a:p>
            </p:txBody>
          </p:sp>
          <p:sp>
            <p:nvSpPr>
              <p:cNvPr id="27802" name="Arc 94"/>
              <p:cNvSpPr>
                <a:spLocks/>
              </p:cNvSpPr>
              <p:nvPr/>
            </p:nvSpPr>
            <p:spPr bwMode="auto">
              <a:xfrm>
                <a:off x="2146" y="1319"/>
                <a:ext cx="82" cy="85"/>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25400" cap="rnd">
                <a:solidFill>
                  <a:srgbClr val="438E00"/>
                </a:solidFill>
                <a:round/>
                <a:headEnd/>
                <a:tailEnd/>
              </a:ln>
            </p:spPr>
            <p:txBody>
              <a:bodyPr wrap="none" anchor="ctr"/>
              <a:lstStyle/>
              <a:p>
                <a:endParaRPr lang="en-US"/>
              </a:p>
            </p:txBody>
          </p:sp>
          <p:sp>
            <p:nvSpPr>
              <p:cNvPr id="27803" name="Arc 95"/>
              <p:cNvSpPr>
                <a:spLocks/>
              </p:cNvSpPr>
              <p:nvPr/>
            </p:nvSpPr>
            <p:spPr bwMode="auto">
              <a:xfrm>
                <a:off x="2233" y="1247"/>
                <a:ext cx="72" cy="88"/>
              </a:xfrm>
              <a:custGeom>
                <a:avLst/>
                <a:gdLst>
                  <a:gd name="T0" fmla="*/ 0 w 21600"/>
                  <a:gd name="T1" fmla="*/ 0 h 21598"/>
                  <a:gd name="T2" fmla="*/ 0 w 21600"/>
                  <a:gd name="T3" fmla="*/ 0 h 21598"/>
                  <a:gd name="T4" fmla="*/ 0 w 21600"/>
                  <a:gd name="T5" fmla="*/ 0 h 21598"/>
                  <a:gd name="T6" fmla="*/ 0 60000 65536"/>
                  <a:gd name="T7" fmla="*/ 0 60000 65536"/>
                  <a:gd name="T8" fmla="*/ 0 60000 65536"/>
                  <a:gd name="T9" fmla="*/ 0 w 21600"/>
                  <a:gd name="T10" fmla="*/ 0 h 21598"/>
                  <a:gd name="T11" fmla="*/ 21600 w 21600"/>
                  <a:gd name="T12" fmla="*/ 21598 h 21598"/>
                </a:gdLst>
                <a:ahLst/>
                <a:cxnLst>
                  <a:cxn ang="T6">
                    <a:pos x="T0" y="T1"/>
                  </a:cxn>
                  <a:cxn ang="T7">
                    <a:pos x="T2" y="T3"/>
                  </a:cxn>
                  <a:cxn ang="T8">
                    <a:pos x="T4" y="T5"/>
                  </a:cxn>
                </a:cxnLst>
                <a:rect l="T9" t="T10" r="T11" b="T12"/>
                <a:pathLst>
                  <a:path w="21600" h="21598" fill="none" extrusionOk="0">
                    <a:moveTo>
                      <a:pt x="0" y="21598"/>
                    </a:moveTo>
                    <a:cubicBezTo>
                      <a:pt x="0" y="9786"/>
                      <a:pt x="9487" y="165"/>
                      <a:pt x="21298" y="0"/>
                    </a:cubicBezTo>
                  </a:path>
                  <a:path w="21600" h="21598" stroke="0" extrusionOk="0">
                    <a:moveTo>
                      <a:pt x="0" y="21598"/>
                    </a:moveTo>
                    <a:cubicBezTo>
                      <a:pt x="0" y="9786"/>
                      <a:pt x="9487" y="165"/>
                      <a:pt x="21298" y="0"/>
                    </a:cubicBezTo>
                    <a:lnTo>
                      <a:pt x="21600" y="21598"/>
                    </a:lnTo>
                    <a:close/>
                  </a:path>
                </a:pathLst>
              </a:custGeom>
              <a:noFill/>
              <a:ln w="25400" cap="rnd">
                <a:solidFill>
                  <a:srgbClr val="438E00"/>
                </a:solidFill>
                <a:round/>
                <a:headEnd/>
                <a:tailEnd/>
              </a:ln>
            </p:spPr>
            <p:txBody>
              <a:bodyPr wrap="none" anchor="ctr"/>
              <a:lstStyle/>
              <a:p>
                <a:endParaRPr lang="en-US"/>
              </a:p>
            </p:txBody>
          </p:sp>
        </p:grpSp>
        <p:sp>
          <p:nvSpPr>
            <p:cNvPr id="27784" name="Rectangle 96"/>
            <p:cNvSpPr>
              <a:spLocks noChangeArrowheads="1"/>
            </p:cNvSpPr>
            <p:nvPr/>
          </p:nvSpPr>
          <p:spPr bwMode="auto">
            <a:xfrm>
              <a:off x="8077" y="1311"/>
              <a:ext cx="662" cy="233"/>
            </a:xfrm>
            <a:prstGeom prst="rect">
              <a:avLst/>
            </a:prstGeom>
            <a:noFill/>
            <a:ln w="9525">
              <a:noFill/>
              <a:miter lim="800000"/>
              <a:headEnd/>
              <a:tailEnd/>
            </a:ln>
          </p:spPr>
          <p:txBody>
            <a:bodyPr wrap="none" lIns="93662" tIns="47625" rIns="93662" bIns="47625">
              <a:spAutoFit/>
            </a:bodyPr>
            <a:lstStyle/>
            <a:p>
              <a:pPr algn="ctr" defTabSz="933450"/>
              <a:r>
                <a:rPr lang="en-US" b="1">
                  <a:latin typeface="Calibri" pitchFamily="34" charset="0"/>
                </a:rPr>
                <a:t>(Starch)</a:t>
              </a:r>
            </a:p>
          </p:txBody>
        </p:sp>
        <p:sp>
          <p:nvSpPr>
            <p:cNvPr id="27785" name="Line 97"/>
            <p:cNvSpPr>
              <a:spLocks noChangeShapeType="1"/>
            </p:cNvSpPr>
            <p:nvPr/>
          </p:nvSpPr>
          <p:spPr bwMode="auto">
            <a:xfrm>
              <a:off x="9242" y="1500"/>
              <a:ext cx="0" cy="754"/>
            </a:xfrm>
            <a:prstGeom prst="line">
              <a:avLst/>
            </a:prstGeom>
            <a:noFill/>
            <a:ln w="25400">
              <a:solidFill>
                <a:srgbClr val="FE9B03"/>
              </a:solidFill>
              <a:round/>
              <a:headEnd/>
              <a:tailEnd type="triangle" w="med" len="med"/>
            </a:ln>
          </p:spPr>
          <p:txBody>
            <a:bodyPr wrap="none" anchor="ctr"/>
            <a:lstStyle/>
            <a:p>
              <a:endParaRPr lang="en-US"/>
            </a:p>
          </p:txBody>
        </p:sp>
        <p:grpSp>
          <p:nvGrpSpPr>
            <p:cNvPr id="27786" name="Group 98"/>
            <p:cNvGrpSpPr>
              <a:grpSpLocks/>
            </p:cNvGrpSpPr>
            <p:nvPr/>
          </p:nvGrpSpPr>
          <p:grpSpPr bwMode="auto">
            <a:xfrm>
              <a:off x="8690" y="1414"/>
              <a:ext cx="1092" cy="813"/>
              <a:chOff x="4860" y="1424"/>
              <a:chExt cx="1092" cy="813"/>
            </a:xfrm>
          </p:grpSpPr>
          <p:sp>
            <p:nvSpPr>
              <p:cNvPr id="27787" name="Line 99"/>
              <p:cNvSpPr>
                <a:spLocks noChangeShapeType="1"/>
              </p:cNvSpPr>
              <p:nvPr/>
            </p:nvSpPr>
            <p:spPr bwMode="auto">
              <a:xfrm>
                <a:off x="5949" y="1712"/>
                <a:ext cx="0" cy="525"/>
              </a:xfrm>
              <a:prstGeom prst="line">
                <a:avLst/>
              </a:prstGeom>
              <a:noFill/>
              <a:ln w="25400">
                <a:solidFill>
                  <a:srgbClr val="438E00"/>
                </a:solidFill>
                <a:round/>
                <a:headEnd/>
                <a:tailEnd type="triangle" w="med" len="med"/>
              </a:ln>
            </p:spPr>
            <p:txBody>
              <a:bodyPr wrap="none" anchor="ctr"/>
              <a:lstStyle/>
              <a:p>
                <a:endParaRPr lang="en-US"/>
              </a:p>
            </p:txBody>
          </p:sp>
          <p:sp>
            <p:nvSpPr>
              <p:cNvPr id="27788" name="Line 100"/>
              <p:cNvSpPr>
                <a:spLocks noChangeShapeType="1"/>
              </p:cNvSpPr>
              <p:nvPr/>
            </p:nvSpPr>
            <p:spPr bwMode="auto">
              <a:xfrm>
                <a:off x="4860" y="1424"/>
                <a:ext cx="256" cy="0"/>
              </a:xfrm>
              <a:prstGeom prst="line">
                <a:avLst/>
              </a:prstGeom>
              <a:noFill/>
              <a:ln w="12700">
                <a:solidFill>
                  <a:srgbClr val="438E00"/>
                </a:solidFill>
                <a:round/>
                <a:headEnd/>
                <a:tailEnd type="triangle" w="med" len="med"/>
              </a:ln>
            </p:spPr>
            <p:txBody>
              <a:bodyPr wrap="none" anchor="ctr"/>
              <a:lstStyle/>
              <a:p>
                <a:endParaRPr lang="en-US"/>
              </a:p>
            </p:txBody>
          </p:sp>
          <p:grpSp>
            <p:nvGrpSpPr>
              <p:cNvPr id="27789" name="Group 101"/>
              <p:cNvGrpSpPr>
                <a:grpSpLocks/>
              </p:cNvGrpSpPr>
              <p:nvPr/>
            </p:nvGrpSpPr>
            <p:grpSpPr bwMode="auto">
              <a:xfrm>
                <a:off x="4904" y="1428"/>
                <a:ext cx="63" cy="111"/>
                <a:chOff x="4904" y="1428"/>
                <a:chExt cx="63" cy="111"/>
              </a:xfrm>
            </p:grpSpPr>
            <p:sp>
              <p:nvSpPr>
                <p:cNvPr id="27796" name="Arc 102"/>
                <p:cNvSpPr>
                  <a:spLocks/>
                </p:cNvSpPr>
                <p:nvPr/>
              </p:nvSpPr>
              <p:spPr bwMode="auto">
                <a:xfrm rot="-5400000">
                  <a:off x="4907" y="1479"/>
                  <a:ext cx="64" cy="56"/>
                </a:xfrm>
                <a:custGeom>
                  <a:avLst/>
                  <a:gdLst>
                    <a:gd name="T0" fmla="*/ 0 w 21600"/>
                    <a:gd name="T1" fmla="*/ 0 h 21597"/>
                    <a:gd name="T2" fmla="*/ 0 w 21600"/>
                    <a:gd name="T3" fmla="*/ 0 h 21597"/>
                    <a:gd name="T4" fmla="*/ 0 w 21600"/>
                    <a:gd name="T5" fmla="*/ 0 h 21597"/>
                    <a:gd name="T6" fmla="*/ 0 60000 65536"/>
                    <a:gd name="T7" fmla="*/ 0 60000 65536"/>
                    <a:gd name="T8" fmla="*/ 0 60000 65536"/>
                    <a:gd name="T9" fmla="*/ 0 w 21600"/>
                    <a:gd name="T10" fmla="*/ 0 h 21597"/>
                    <a:gd name="T11" fmla="*/ 21600 w 21600"/>
                    <a:gd name="T12" fmla="*/ 21597 h 21597"/>
                  </a:gdLst>
                  <a:ahLst/>
                  <a:cxnLst>
                    <a:cxn ang="T6">
                      <a:pos x="T0" y="T1"/>
                    </a:cxn>
                    <a:cxn ang="T7">
                      <a:pos x="T2" y="T3"/>
                    </a:cxn>
                    <a:cxn ang="T8">
                      <a:pos x="T4" y="T5"/>
                    </a:cxn>
                  </a:cxnLst>
                  <a:rect l="T9" t="T10" r="T11" b="T12"/>
                  <a:pathLst>
                    <a:path w="21600" h="21597" fill="none" extrusionOk="0">
                      <a:moveTo>
                        <a:pt x="0" y="21597"/>
                      </a:moveTo>
                      <a:cubicBezTo>
                        <a:pt x="0" y="9800"/>
                        <a:pt x="9464" y="185"/>
                        <a:pt x="21259" y="-1"/>
                      </a:cubicBezTo>
                    </a:path>
                    <a:path w="21600" h="21597" stroke="0" extrusionOk="0">
                      <a:moveTo>
                        <a:pt x="0" y="21597"/>
                      </a:moveTo>
                      <a:cubicBezTo>
                        <a:pt x="0" y="9800"/>
                        <a:pt x="9464" y="185"/>
                        <a:pt x="21259" y="-1"/>
                      </a:cubicBezTo>
                      <a:lnTo>
                        <a:pt x="21600" y="21597"/>
                      </a:lnTo>
                      <a:close/>
                    </a:path>
                  </a:pathLst>
                </a:custGeom>
                <a:noFill/>
                <a:ln w="12700" cap="rnd">
                  <a:solidFill>
                    <a:srgbClr val="438E00"/>
                  </a:solidFill>
                  <a:round/>
                  <a:headEnd/>
                  <a:tailEnd/>
                </a:ln>
              </p:spPr>
              <p:txBody>
                <a:bodyPr wrap="none" anchor="ctr"/>
                <a:lstStyle/>
                <a:p>
                  <a:endParaRPr lang="en-US"/>
                </a:p>
              </p:txBody>
            </p:sp>
            <p:sp>
              <p:nvSpPr>
                <p:cNvPr id="27797" name="Line 103"/>
                <p:cNvSpPr>
                  <a:spLocks noChangeShapeType="1"/>
                </p:cNvSpPr>
                <p:nvPr/>
              </p:nvSpPr>
              <p:spPr bwMode="auto">
                <a:xfrm>
                  <a:off x="4904" y="1428"/>
                  <a:ext cx="0" cy="48"/>
                </a:xfrm>
                <a:prstGeom prst="line">
                  <a:avLst/>
                </a:prstGeom>
                <a:noFill/>
                <a:ln w="12700">
                  <a:solidFill>
                    <a:srgbClr val="438E00"/>
                  </a:solidFill>
                  <a:round/>
                  <a:headEnd/>
                  <a:tailEnd/>
                </a:ln>
              </p:spPr>
              <p:txBody>
                <a:bodyPr wrap="none" anchor="ctr"/>
                <a:lstStyle/>
                <a:p>
                  <a:endParaRPr lang="en-US"/>
                </a:p>
              </p:txBody>
            </p:sp>
          </p:grpSp>
          <p:sp>
            <p:nvSpPr>
              <p:cNvPr id="27790" name="Line 104"/>
              <p:cNvSpPr>
                <a:spLocks noChangeShapeType="1"/>
              </p:cNvSpPr>
              <p:nvPr/>
            </p:nvSpPr>
            <p:spPr bwMode="auto">
              <a:xfrm>
                <a:off x="4961" y="1537"/>
                <a:ext cx="927" cy="0"/>
              </a:xfrm>
              <a:prstGeom prst="line">
                <a:avLst/>
              </a:prstGeom>
              <a:noFill/>
              <a:ln w="12700">
                <a:solidFill>
                  <a:srgbClr val="438E00"/>
                </a:solidFill>
                <a:round/>
                <a:headEnd/>
                <a:tailEnd/>
              </a:ln>
            </p:spPr>
            <p:txBody>
              <a:bodyPr wrap="none" anchor="ctr"/>
              <a:lstStyle/>
              <a:p>
                <a:endParaRPr lang="en-US"/>
              </a:p>
            </p:txBody>
          </p:sp>
          <p:sp>
            <p:nvSpPr>
              <p:cNvPr id="27791" name="Arc 105"/>
              <p:cNvSpPr>
                <a:spLocks/>
              </p:cNvSpPr>
              <p:nvPr/>
            </p:nvSpPr>
            <p:spPr bwMode="auto">
              <a:xfrm>
                <a:off x="5884" y="1538"/>
                <a:ext cx="64" cy="56"/>
              </a:xfrm>
              <a:custGeom>
                <a:avLst/>
                <a:gdLst>
                  <a:gd name="T0" fmla="*/ 0 w 21940"/>
                  <a:gd name="T1" fmla="*/ 0 h 21600"/>
                  <a:gd name="T2" fmla="*/ 0 w 21940"/>
                  <a:gd name="T3" fmla="*/ 0 h 21600"/>
                  <a:gd name="T4" fmla="*/ 0 w 21940"/>
                  <a:gd name="T5" fmla="*/ 0 h 21600"/>
                  <a:gd name="T6" fmla="*/ 0 60000 65536"/>
                  <a:gd name="T7" fmla="*/ 0 60000 65536"/>
                  <a:gd name="T8" fmla="*/ 0 60000 65536"/>
                  <a:gd name="T9" fmla="*/ 0 w 21940"/>
                  <a:gd name="T10" fmla="*/ 0 h 21600"/>
                  <a:gd name="T11" fmla="*/ 21940 w 21940"/>
                  <a:gd name="T12" fmla="*/ 21600 h 21600"/>
                </a:gdLst>
                <a:ahLst/>
                <a:cxnLst>
                  <a:cxn ang="T6">
                    <a:pos x="T0" y="T1"/>
                  </a:cxn>
                  <a:cxn ang="T7">
                    <a:pos x="T2" y="T3"/>
                  </a:cxn>
                  <a:cxn ang="T8">
                    <a:pos x="T4" y="T5"/>
                  </a:cxn>
                </a:cxnLst>
                <a:rect l="T9" t="T10" r="T11" b="T12"/>
                <a:pathLst>
                  <a:path w="21940" h="21600" fill="none" extrusionOk="0">
                    <a:moveTo>
                      <a:pt x="-1" y="2"/>
                    </a:moveTo>
                    <a:cubicBezTo>
                      <a:pt x="113" y="0"/>
                      <a:pt x="226" y="-1"/>
                      <a:pt x="340" y="0"/>
                    </a:cubicBezTo>
                    <a:cubicBezTo>
                      <a:pt x="12269" y="0"/>
                      <a:pt x="21940" y="9670"/>
                      <a:pt x="21940" y="21600"/>
                    </a:cubicBezTo>
                  </a:path>
                  <a:path w="21940" h="21600" stroke="0" extrusionOk="0">
                    <a:moveTo>
                      <a:pt x="-1" y="2"/>
                    </a:moveTo>
                    <a:cubicBezTo>
                      <a:pt x="113" y="0"/>
                      <a:pt x="226" y="-1"/>
                      <a:pt x="340" y="0"/>
                    </a:cubicBezTo>
                    <a:cubicBezTo>
                      <a:pt x="12269" y="0"/>
                      <a:pt x="21940" y="9670"/>
                      <a:pt x="21940" y="21600"/>
                    </a:cubicBezTo>
                    <a:lnTo>
                      <a:pt x="340" y="21600"/>
                    </a:lnTo>
                    <a:close/>
                  </a:path>
                </a:pathLst>
              </a:custGeom>
              <a:noFill/>
              <a:ln w="12700" cap="rnd">
                <a:solidFill>
                  <a:srgbClr val="438E00"/>
                </a:solidFill>
                <a:round/>
                <a:headEnd/>
                <a:tailEnd/>
              </a:ln>
            </p:spPr>
            <p:txBody>
              <a:bodyPr wrap="none" anchor="ctr"/>
              <a:lstStyle/>
              <a:p>
                <a:endParaRPr lang="en-US"/>
              </a:p>
            </p:txBody>
          </p:sp>
          <p:sp>
            <p:nvSpPr>
              <p:cNvPr id="27792" name="Line 106"/>
              <p:cNvSpPr>
                <a:spLocks noChangeShapeType="1"/>
              </p:cNvSpPr>
              <p:nvPr/>
            </p:nvSpPr>
            <p:spPr bwMode="auto">
              <a:xfrm>
                <a:off x="5952" y="1592"/>
                <a:ext cx="0" cy="112"/>
              </a:xfrm>
              <a:prstGeom prst="line">
                <a:avLst/>
              </a:prstGeom>
              <a:noFill/>
              <a:ln w="12700">
                <a:solidFill>
                  <a:srgbClr val="438E00"/>
                </a:solidFill>
                <a:round/>
                <a:headEnd/>
                <a:tailEnd/>
              </a:ln>
            </p:spPr>
            <p:txBody>
              <a:bodyPr wrap="none" anchor="ctr"/>
              <a:lstStyle/>
              <a:p>
                <a:endParaRPr lang="en-US"/>
              </a:p>
            </p:txBody>
          </p:sp>
          <p:grpSp>
            <p:nvGrpSpPr>
              <p:cNvPr id="27793" name="Group 107"/>
              <p:cNvGrpSpPr>
                <a:grpSpLocks/>
              </p:cNvGrpSpPr>
              <p:nvPr/>
            </p:nvGrpSpPr>
            <p:grpSpPr bwMode="auto">
              <a:xfrm>
                <a:off x="5688" y="1665"/>
                <a:ext cx="256" cy="57"/>
                <a:chOff x="5688" y="1665"/>
                <a:chExt cx="256" cy="57"/>
              </a:xfrm>
            </p:grpSpPr>
            <p:sp>
              <p:nvSpPr>
                <p:cNvPr id="27794" name="Line 108"/>
                <p:cNvSpPr>
                  <a:spLocks noChangeShapeType="1"/>
                </p:cNvSpPr>
                <p:nvPr/>
              </p:nvSpPr>
              <p:spPr bwMode="auto">
                <a:xfrm>
                  <a:off x="5688" y="1665"/>
                  <a:ext cx="188" cy="0"/>
                </a:xfrm>
                <a:prstGeom prst="line">
                  <a:avLst/>
                </a:prstGeom>
                <a:noFill/>
                <a:ln w="12700">
                  <a:solidFill>
                    <a:srgbClr val="438E00"/>
                  </a:solidFill>
                  <a:round/>
                  <a:headEnd/>
                  <a:tailEnd/>
                </a:ln>
              </p:spPr>
              <p:txBody>
                <a:bodyPr wrap="none" anchor="ctr"/>
                <a:lstStyle/>
                <a:p>
                  <a:endParaRPr lang="en-US"/>
                </a:p>
              </p:txBody>
            </p:sp>
            <p:sp>
              <p:nvSpPr>
                <p:cNvPr id="27795" name="Arc 109"/>
                <p:cNvSpPr>
                  <a:spLocks/>
                </p:cNvSpPr>
                <p:nvPr/>
              </p:nvSpPr>
              <p:spPr bwMode="auto">
                <a:xfrm>
                  <a:off x="5880" y="1666"/>
                  <a:ext cx="64" cy="56"/>
                </a:xfrm>
                <a:custGeom>
                  <a:avLst/>
                  <a:gdLst>
                    <a:gd name="T0" fmla="*/ 0 w 21940"/>
                    <a:gd name="T1" fmla="*/ 0 h 21600"/>
                    <a:gd name="T2" fmla="*/ 0 w 21940"/>
                    <a:gd name="T3" fmla="*/ 0 h 21600"/>
                    <a:gd name="T4" fmla="*/ 0 w 21940"/>
                    <a:gd name="T5" fmla="*/ 0 h 21600"/>
                    <a:gd name="T6" fmla="*/ 0 60000 65536"/>
                    <a:gd name="T7" fmla="*/ 0 60000 65536"/>
                    <a:gd name="T8" fmla="*/ 0 60000 65536"/>
                    <a:gd name="T9" fmla="*/ 0 w 21940"/>
                    <a:gd name="T10" fmla="*/ 0 h 21600"/>
                    <a:gd name="T11" fmla="*/ 21940 w 21940"/>
                    <a:gd name="T12" fmla="*/ 21600 h 21600"/>
                  </a:gdLst>
                  <a:ahLst/>
                  <a:cxnLst>
                    <a:cxn ang="T6">
                      <a:pos x="T0" y="T1"/>
                    </a:cxn>
                    <a:cxn ang="T7">
                      <a:pos x="T2" y="T3"/>
                    </a:cxn>
                    <a:cxn ang="T8">
                      <a:pos x="T4" y="T5"/>
                    </a:cxn>
                  </a:cxnLst>
                  <a:rect l="T9" t="T10" r="T11" b="T12"/>
                  <a:pathLst>
                    <a:path w="21940" h="21600" fill="none" extrusionOk="0">
                      <a:moveTo>
                        <a:pt x="-1" y="2"/>
                      </a:moveTo>
                      <a:cubicBezTo>
                        <a:pt x="113" y="0"/>
                        <a:pt x="226" y="-1"/>
                        <a:pt x="340" y="0"/>
                      </a:cubicBezTo>
                      <a:cubicBezTo>
                        <a:pt x="12269" y="0"/>
                        <a:pt x="21940" y="9670"/>
                        <a:pt x="21940" y="21600"/>
                      </a:cubicBezTo>
                    </a:path>
                    <a:path w="21940" h="21600" stroke="0" extrusionOk="0">
                      <a:moveTo>
                        <a:pt x="-1" y="2"/>
                      </a:moveTo>
                      <a:cubicBezTo>
                        <a:pt x="113" y="0"/>
                        <a:pt x="226" y="-1"/>
                        <a:pt x="340" y="0"/>
                      </a:cubicBezTo>
                      <a:cubicBezTo>
                        <a:pt x="12269" y="0"/>
                        <a:pt x="21940" y="9670"/>
                        <a:pt x="21940" y="21600"/>
                      </a:cubicBezTo>
                      <a:lnTo>
                        <a:pt x="340" y="21600"/>
                      </a:lnTo>
                      <a:close/>
                    </a:path>
                  </a:pathLst>
                </a:custGeom>
                <a:noFill/>
                <a:ln w="12700" cap="rnd">
                  <a:solidFill>
                    <a:srgbClr val="438E00"/>
                  </a:solidFill>
                  <a:round/>
                  <a:headEnd/>
                  <a:tailEnd/>
                </a:ln>
              </p:spPr>
              <p:txBody>
                <a:bodyPr wrap="none" anchor="ctr"/>
                <a:lstStyle/>
                <a:p>
                  <a:endParaRPr lang="en-US"/>
                </a:p>
              </p:txBody>
            </p:sp>
          </p:grpSp>
        </p:grpSp>
      </p:grpSp>
      <p:grpSp>
        <p:nvGrpSpPr>
          <p:cNvPr id="447598" name="Group 110"/>
          <p:cNvGrpSpPr>
            <a:grpSpLocks/>
          </p:cNvGrpSpPr>
          <p:nvPr/>
        </p:nvGrpSpPr>
        <p:grpSpPr bwMode="auto">
          <a:xfrm>
            <a:off x="3065463" y="2855913"/>
            <a:ext cx="1366837" cy="927100"/>
            <a:chOff x="2171" y="1799"/>
            <a:chExt cx="970" cy="584"/>
          </a:xfrm>
        </p:grpSpPr>
        <p:sp>
          <p:nvSpPr>
            <p:cNvPr id="27779" name="Line 111"/>
            <p:cNvSpPr>
              <a:spLocks noChangeShapeType="1"/>
            </p:cNvSpPr>
            <p:nvPr/>
          </p:nvSpPr>
          <p:spPr bwMode="auto">
            <a:xfrm flipH="1">
              <a:off x="2699" y="1834"/>
              <a:ext cx="442" cy="216"/>
            </a:xfrm>
            <a:prstGeom prst="line">
              <a:avLst/>
            </a:prstGeom>
            <a:noFill/>
            <a:ln w="25400">
              <a:solidFill>
                <a:srgbClr val="A2FFA3"/>
              </a:solidFill>
              <a:round/>
              <a:headEnd/>
              <a:tailEnd type="triangle" w="med" len="med"/>
            </a:ln>
          </p:spPr>
          <p:txBody>
            <a:bodyPr wrap="none" anchor="ctr"/>
            <a:lstStyle/>
            <a:p>
              <a:endParaRPr lang="en-US"/>
            </a:p>
          </p:txBody>
        </p:sp>
        <p:sp>
          <p:nvSpPr>
            <p:cNvPr id="27780" name="Rectangle 112"/>
            <p:cNvSpPr>
              <a:spLocks noChangeArrowheads="1"/>
            </p:cNvSpPr>
            <p:nvPr/>
          </p:nvSpPr>
          <p:spPr bwMode="auto">
            <a:xfrm>
              <a:off x="2171" y="1799"/>
              <a:ext cx="648" cy="584"/>
            </a:xfrm>
            <a:prstGeom prst="rect">
              <a:avLst/>
            </a:prstGeom>
            <a:noFill/>
            <a:ln w="9525">
              <a:noFill/>
              <a:miter lim="800000"/>
              <a:headEnd/>
              <a:tailEnd/>
            </a:ln>
          </p:spPr>
          <p:txBody>
            <a:bodyPr wrap="none" lIns="93662" tIns="47625" rIns="93662" bIns="47625">
              <a:spAutoFit/>
            </a:bodyPr>
            <a:lstStyle/>
            <a:p>
              <a:pPr algn="ctr" defTabSz="933450"/>
              <a:r>
                <a:rPr lang="en-US" b="1">
                  <a:solidFill>
                    <a:srgbClr val="FAFD00"/>
                  </a:solidFill>
                  <a:latin typeface="Calibri" pitchFamily="34" charset="0"/>
                </a:rPr>
                <a:t>Volatile</a:t>
              </a:r>
            </a:p>
            <a:p>
              <a:pPr algn="ctr" defTabSz="933450"/>
              <a:r>
                <a:rPr lang="en-US" b="1">
                  <a:solidFill>
                    <a:srgbClr val="FAFD00"/>
                  </a:solidFill>
                  <a:latin typeface="Calibri" pitchFamily="34" charset="0"/>
                </a:rPr>
                <a:t>fatty</a:t>
              </a:r>
            </a:p>
            <a:p>
              <a:pPr algn="ctr" defTabSz="933450"/>
              <a:r>
                <a:rPr lang="en-US" b="1">
                  <a:solidFill>
                    <a:srgbClr val="FAFD00"/>
                  </a:solidFill>
                  <a:latin typeface="Calibri" pitchFamily="34" charset="0"/>
                </a:rPr>
                <a:t>acids</a:t>
              </a:r>
            </a:p>
          </p:txBody>
        </p:sp>
      </p:grpSp>
      <p:grpSp>
        <p:nvGrpSpPr>
          <p:cNvPr id="447601" name="Group 113"/>
          <p:cNvGrpSpPr>
            <a:grpSpLocks/>
          </p:cNvGrpSpPr>
          <p:nvPr/>
        </p:nvGrpSpPr>
        <p:grpSpPr bwMode="auto">
          <a:xfrm>
            <a:off x="3429000" y="5759450"/>
            <a:ext cx="5373688" cy="642938"/>
            <a:chOff x="2430" y="3628"/>
            <a:chExt cx="3808" cy="405"/>
          </a:xfrm>
        </p:grpSpPr>
        <p:sp>
          <p:nvSpPr>
            <p:cNvPr id="27773" name="Line 114"/>
            <p:cNvSpPr>
              <a:spLocks noChangeShapeType="1"/>
            </p:cNvSpPr>
            <p:nvPr/>
          </p:nvSpPr>
          <p:spPr bwMode="auto">
            <a:xfrm>
              <a:off x="2430" y="3723"/>
              <a:ext cx="546" cy="5"/>
            </a:xfrm>
            <a:prstGeom prst="line">
              <a:avLst/>
            </a:prstGeom>
            <a:noFill/>
            <a:ln w="25400">
              <a:solidFill>
                <a:srgbClr val="FFFFFF"/>
              </a:solidFill>
              <a:round/>
              <a:headEnd/>
              <a:tailEnd type="triangle" w="med" len="med"/>
            </a:ln>
          </p:spPr>
          <p:txBody>
            <a:bodyPr wrap="none" anchor="ctr"/>
            <a:lstStyle/>
            <a:p>
              <a:endParaRPr lang="en-US"/>
            </a:p>
          </p:txBody>
        </p:sp>
        <p:sp>
          <p:nvSpPr>
            <p:cNvPr id="27774" name="Rectangle 115"/>
            <p:cNvSpPr>
              <a:spLocks noChangeArrowheads="1"/>
            </p:cNvSpPr>
            <p:nvPr/>
          </p:nvSpPr>
          <p:spPr bwMode="auto">
            <a:xfrm>
              <a:off x="5063" y="3649"/>
              <a:ext cx="1175" cy="384"/>
            </a:xfrm>
            <a:prstGeom prst="rect">
              <a:avLst/>
            </a:prstGeom>
            <a:noFill/>
            <a:ln w="9525">
              <a:noFill/>
              <a:miter lim="800000"/>
              <a:headEnd/>
              <a:tailEnd/>
            </a:ln>
          </p:spPr>
          <p:txBody>
            <a:bodyPr wrap="none" lIns="90488" tIns="44450" rIns="90488" bIns="44450">
              <a:spAutoFit/>
            </a:bodyPr>
            <a:lstStyle/>
            <a:p>
              <a:pPr>
                <a:lnSpc>
                  <a:spcPct val="95000"/>
                </a:lnSpc>
              </a:pPr>
              <a:r>
                <a:rPr lang="en-US" b="1">
                  <a:latin typeface="Calibri" pitchFamily="34" charset="0"/>
                </a:rPr>
                <a:t>Amount of milk</a:t>
              </a:r>
            </a:p>
            <a:p>
              <a:pPr>
                <a:lnSpc>
                  <a:spcPct val="95000"/>
                </a:lnSpc>
              </a:pPr>
              <a:r>
                <a:rPr lang="en-US" b="1">
                  <a:latin typeface="Calibri" pitchFamily="34" charset="0"/>
                </a:rPr>
                <a:t>produced </a:t>
              </a:r>
            </a:p>
          </p:txBody>
        </p:sp>
        <p:sp>
          <p:nvSpPr>
            <p:cNvPr id="27775" name="Rectangle 116"/>
            <p:cNvSpPr>
              <a:spLocks noChangeArrowheads="1"/>
            </p:cNvSpPr>
            <p:nvPr/>
          </p:nvSpPr>
          <p:spPr bwMode="auto">
            <a:xfrm>
              <a:off x="4064" y="3649"/>
              <a:ext cx="838" cy="370"/>
            </a:xfrm>
            <a:prstGeom prst="rect">
              <a:avLst/>
            </a:prstGeom>
            <a:noFill/>
            <a:ln w="9525">
              <a:noFill/>
              <a:miter lim="800000"/>
              <a:headEnd/>
              <a:tailEnd/>
            </a:ln>
          </p:spPr>
          <p:txBody>
            <a:bodyPr wrap="none" lIns="90488" tIns="44450" rIns="90488" bIns="44450">
              <a:spAutoFit/>
            </a:bodyPr>
            <a:lstStyle/>
            <a:p>
              <a:pPr>
                <a:lnSpc>
                  <a:spcPct val="95000"/>
                </a:lnSpc>
              </a:pPr>
              <a:r>
                <a:rPr lang="en-US" b="1">
                  <a:latin typeface="Calibri" pitchFamily="34" charset="0"/>
                </a:rPr>
                <a:t>Lactose</a:t>
              </a:r>
            </a:p>
            <a:p>
              <a:pPr>
                <a:lnSpc>
                  <a:spcPct val="95000"/>
                </a:lnSpc>
              </a:pPr>
              <a:r>
                <a:rPr lang="en-US" sz="1600" b="1">
                  <a:latin typeface="Calibri" pitchFamily="34" charset="0"/>
                </a:rPr>
                <a:t>(milk sugar)</a:t>
              </a:r>
            </a:p>
          </p:txBody>
        </p:sp>
        <p:sp>
          <p:nvSpPr>
            <p:cNvPr id="27776" name="Line 117"/>
            <p:cNvSpPr>
              <a:spLocks noChangeShapeType="1"/>
            </p:cNvSpPr>
            <p:nvPr/>
          </p:nvSpPr>
          <p:spPr bwMode="auto">
            <a:xfrm>
              <a:off x="4712" y="3753"/>
              <a:ext cx="286" cy="0"/>
            </a:xfrm>
            <a:prstGeom prst="line">
              <a:avLst/>
            </a:prstGeom>
            <a:noFill/>
            <a:ln w="25400">
              <a:solidFill>
                <a:srgbClr val="FFFFFF"/>
              </a:solidFill>
              <a:round/>
              <a:headEnd/>
              <a:tailEnd type="triangle" w="med" len="med"/>
            </a:ln>
          </p:spPr>
          <p:txBody>
            <a:bodyPr wrap="none" anchor="ctr"/>
            <a:lstStyle/>
            <a:p>
              <a:endParaRPr lang="en-US"/>
            </a:p>
          </p:txBody>
        </p:sp>
        <p:sp>
          <p:nvSpPr>
            <p:cNvPr id="27777" name="Rectangle 118"/>
            <p:cNvSpPr>
              <a:spLocks noChangeArrowheads="1"/>
            </p:cNvSpPr>
            <p:nvPr/>
          </p:nvSpPr>
          <p:spPr bwMode="auto">
            <a:xfrm>
              <a:off x="3044" y="3628"/>
              <a:ext cx="686" cy="233"/>
            </a:xfrm>
            <a:prstGeom prst="rect">
              <a:avLst/>
            </a:prstGeom>
            <a:noFill/>
            <a:ln w="9525">
              <a:noFill/>
              <a:miter lim="800000"/>
              <a:headEnd/>
              <a:tailEnd/>
            </a:ln>
          </p:spPr>
          <p:txBody>
            <a:bodyPr wrap="none" lIns="93662" tIns="47625" rIns="93662" bIns="47625">
              <a:spAutoFit/>
            </a:bodyPr>
            <a:lstStyle/>
            <a:p>
              <a:pPr algn="ctr" defTabSz="933450"/>
              <a:r>
                <a:rPr lang="en-US" b="1">
                  <a:latin typeface="Calibri" pitchFamily="34" charset="0"/>
                </a:rPr>
                <a:t>Glucose</a:t>
              </a:r>
            </a:p>
          </p:txBody>
        </p:sp>
        <p:sp>
          <p:nvSpPr>
            <p:cNvPr id="27778" name="Line 119"/>
            <p:cNvSpPr>
              <a:spLocks noChangeShapeType="1"/>
            </p:cNvSpPr>
            <p:nvPr/>
          </p:nvSpPr>
          <p:spPr bwMode="auto">
            <a:xfrm>
              <a:off x="3700" y="3754"/>
              <a:ext cx="348" cy="0"/>
            </a:xfrm>
            <a:prstGeom prst="line">
              <a:avLst/>
            </a:prstGeom>
            <a:noFill/>
            <a:ln w="25400">
              <a:solidFill>
                <a:srgbClr val="FFFFFF"/>
              </a:solidFill>
              <a:round/>
              <a:headEnd/>
              <a:tailEnd type="triangle" w="med" len="med"/>
            </a:ln>
          </p:spPr>
          <p:txBody>
            <a:bodyPr wrap="none" anchor="ctr"/>
            <a:lstStyle/>
            <a:p>
              <a:endParaRPr lang="en-US"/>
            </a:p>
          </p:txBody>
        </p:sp>
      </p:grpSp>
      <p:grpSp>
        <p:nvGrpSpPr>
          <p:cNvPr id="447608" name="Group 120"/>
          <p:cNvGrpSpPr>
            <a:grpSpLocks/>
          </p:cNvGrpSpPr>
          <p:nvPr/>
        </p:nvGrpSpPr>
        <p:grpSpPr bwMode="auto">
          <a:xfrm>
            <a:off x="3973513" y="2343150"/>
            <a:ext cx="3997325" cy="2479675"/>
            <a:chOff x="2816" y="1476"/>
            <a:chExt cx="2833" cy="1562"/>
          </a:xfrm>
        </p:grpSpPr>
        <p:sp>
          <p:nvSpPr>
            <p:cNvPr id="27668" name="Rectangle 121"/>
            <p:cNvSpPr>
              <a:spLocks noChangeArrowheads="1"/>
            </p:cNvSpPr>
            <p:nvPr/>
          </p:nvSpPr>
          <p:spPr bwMode="auto">
            <a:xfrm>
              <a:off x="3450" y="1476"/>
              <a:ext cx="794" cy="235"/>
            </a:xfrm>
            <a:prstGeom prst="rect">
              <a:avLst/>
            </a:prstGeom>
            <a:noFill/>
            <a:ln w="9525">
              <a:noFill/>
              <a:miter lim="800000"/>
              <a:headEnd/>
              <a:tailEnd/>
            </a:ln>
          </p:spPr>
          <p:txBody>
            <a:bodyPr wrap="none" lIns="93662" tIns="47625" rIns="93662" bIns="47625">
              <a:spAutoFit/>
            </a:bodyPr>
            <a:lstStyle/>
            <a:p>
              <a:pPr algn="ctr" defTabSz="933450"/>
              <a:r>
                <a:rPr lang="en-US" b="1">
                  <a:latin typeface="Calibri" pitchFamily="34" charset="0"/>
                </a:rPr>
                <a:t>Ammonia</a:t>
              </a:r>
            </a:p>
          </p:txBody>
        </p:sp>
        <p:sp>
          <p:nvSpPr>
            <p:cNvPr id="27669" name="Rectangle 122"/>
            <p:cNvSpPr>
              <a:spLocks noChangeArrowheads="1"/>
            </p:cNvSpPr>
            <p:nvPr/>
          </p:nvSpPr>
          <p:spPr bwMode="auto">
            <a:xfrm>
              <a:off x="2816" y="2586"/>
              <a:ext cx="686" cy="233"/>
            </a:xfrm>
            <a:prstGeom prst="rect">
              <a:avLst/>
            </a:prstGeom>
            <a:noFill/>
            <a:ln w="9525">
              <a:noFill/>
              <a:miter lim="800000"/>
              <a:headEnd/>
              <a:tailEnd/>
            </a:ln>
          </p:spPr>
          <p:txBody>
            <a:bodyPr wrap="none" lIns="93662" tIns="47625" rIns="93662" bIns="47625">
              <a:spAutoFit/>
            </a:bodyPr>
            <a:lstStyle/>
            <a:p>
              <a:pPr algn="ctr" defTabSz="933450"/>
              <a:r>
                <a:rPr lang="en-US" b="1">
                  <a:solidFill>
                    <a:srgbClr val="FAFD00"/>
                  </a:solidFill>
                  <a:latin typeface="Calibri" pitchFamily="34" charset="0"/>
                </a:rPr>
                <a:t>Bacteria</a:t>
              </a:r>
            </a:p>
          </p:txBody>
        </p:sp>
        <p:grpSp>
          <p:nvGrpSpPr>
            <p:cNvPr id="27670" name="Group 123"/>
            <p:cNvGrpSpPr>
              <a:grpSpLocks/>
            </p:cNvGrpSpPr>
            <p:nvPr/>
          </p:nvGrpSpPr>
          <p:grpSpPr bwMode="auto">
            <a:xfrm>
              <a:off x="4248" y="1632"/>
              <a:ext cx="379" cy="306"/>
              <a:chOff x="4248" y="1632"/>
              <a:chExt cx="379" cy="306"/>
            </a:xfrm>
          </p:grpSpPr>
          <p:sp>
            <p:nvSpPr>
              <p:cNvPr id="27770" name="Line 124"/>
              <p:cNvSpPr>
                <a:spLocks noChangeShapeType="1"/>
              </p:cNvSpPr>
              <p:nvPr/>
            </p:nvSpPr>
            <p:spPr bwMode="auto">
              <a:xfrm flipV="1">
                <a:off x="4248" y="1705"/>
                <a:ext cx="72" cy="233"/>
              </a:xfrm>
              <a:prstGeom prst="line">
                <a:avLst/>
              </a:prstGeom>
              <a:noFill/>
              <a:ln w="50800">
                <a:solidFill>
                  <a:srgbClr val="438E00"/>
                </a:solidFill>
                <a:round/>
                <a:headEnd/>
                <a:tailEnd/>
              </a:ln>
            </p:spPr>
            <p:txBody>
              <a:bodyPr wrap="none" anchor="ctr"/>
              <a:lstStyle/>
              <a:p>
                <a:endParaRPr lang="en-US"/>
              </a:p>
            </p:txBody>
          </p:sp>
          <p:sp>
            <p:nvSpPr>
              <p:cNvPr id="27771" name="Arc 125"/>
              <p:cNvSpPr>
                <a:spLocks/>
              </p:cNvSpPr>
              <p:nvPr/>
            </p:nvSpPr>
            <p:spPr bwMode="auto">
              <a:xfrm>
                <a:off x="4320" y="1632"/>
                <a:ext cx="97" cy="72"/>
              </a:xfrm>
              <a:custGeom>
                <a:avLst/>
                <a:gdLst>
                  <a:gd name="T0" fmla="*/ 0 w 21600"/>
                  <a:gd name="T1" fmla="*/ 0 h 21599"/>
                  <a:gd name="T2" fmla="*/ 0 w 21600"/>
                  <a:gd name="T3" fmla="*/ 0 h 21599"/>
                  <a:gd name="T4" fmla="*/ 0 w 21600"/>
                  <a:gd name="T5" fmla="*/ 0 h 21599"/>
                  <a:gd name="T6" fmla="*/ 0 60000 65536"/>
                  <a:gd name="T7" fmla="*/ 0 60000 65536"/>
                  <a:gd name="T8" fmla="*/ 0 60000 65536"/>
                  <a:gd name="T9" fmla="*/ 0 w 21600"/>
                  <a:gd name="T10" fmla="*/ 0 h 21599"/>
                  <a:gd name="T11" fmla="*/ 21600 w 21600"/>
                  <a:gd name="T12" fmla="*/ 21599 h 21599"/>
                </a:gdLst>
                <a:ahLst/>
                <a:cxnLst>
                  <a:cxn ang="T6">
                    <a:pos x="T0" y="T1"/>
                  </a:cxn>
                  <a:cxn ang="T7">
                    <a:pos x="T2" y="T3"/>
                  </a:cxn>
                  <a:cxn ang="T8">
                    <a:pos x="T4" y="T5"/>
                  </a:cxn>
                </a:cxnLst>
                <a:rect l="T9" t="T10" r="T11" b="T12"/>
                <a:pathLst>
                  <a:path w="21600" h="21599" fill="none" extrusionOk="0">
                    <a:moveTo>
                      <a:pt x="0" y="21599"/>
                    </a:moveTo>
                    <a:cubicBezTo>
                      <a:pt x="0" y="9757"/>
                      <a:pt x="9534" y="122"/>
                      <a:pt x="21376" y="0"/>
                    </a:cubicBezTo>
                  </a:path>
                  <a:path w="21600" h="21599" stroke="0" extrusionOk="0">
                    <a:moveTo>
                      <a:pt x="0" y="21599"/>
                    </a:moveTo>
                    <a:cubicBezTo>
                      <a:pt x="0" y="9757"/>
                      <a:pt x="9534" y="122"/>
                      <a:pt x="21376" y="0"/>
                    </a:cubicBezTo>
                    <a:lnTo>
                      <a:pt x="21600" y="21599"/>
                    </a:lnTo>
                    <a:close/>
                  </a:path>
                </a:pathLst>
              </a:custGeom>
              <a:noFill/>
              <a:ln w="50800" cap="rnd">
                <a:solidFill>
                  <a:srgbClr val="438E00"/>
                </a:solidFill>
                <a:round/>
                <a:headEnd/>
                <a:tailEnd/>
              </a:ln>
            </p:spPr>
            <p:txBody>
              <a:bodyPr wrap="none" anchor="ctr"/>
              <a:lstStyle/>
              <a:p>
                <a:endParaRPr lang="en-US"/>
              </a:p>
            </p:txBody>
          </p:sp>
          <p:sp>
            <p:nvSpPr>
              <p:cNvPr id="27772" name="Line 126"/>
              <p:cNvSpPr>
                <a:spLocks noChangeShapeType="1"/>
              </p:cNvSpPr>
              <p:nvPr/>
            </p:nvSpPr>
            <p:spPr bwMode="auto">
              <a:xfrm>
                <a:off x="4416" y="1632"/>
                <a:ext cx="211" cy="0"/>
              </a:xfrm>
              <a:prstGeom prst="line">
                <a:avLst/>
              </a:prstGeom>
              <a:noFill/>
              <a:ln w="50800">
                <a:solidFill>
                  <a:srgbClr val="438E00"/>
                </a:solidFill>
                <a:round/>
                <a:headEnd/>
                <a:tailEnd type="triangle" w="med" len="med"/>
              </a:ln>
            </p:spPr>
            <p:txBody>
              <a:bodyPr wrap="none" anchor="ctr"/>
              <a:lstStyle/>
              <a:p>
                <a:endParaRPr lang="en-US"/>
              </a:p>
            </p:txBody>
          </p:sp>
        </p:grpSp>
        <p:sp>
          <p:nvSpPr>
            <p:cNvPr id="27671" name="Rectangle 127"/>
            <p:cNvSpPr>
              <a:spLocks noChangeArrowheads="1"/>
            </p:cNvSpPr>
            <p:nvPr/>
          </p:nvSpPr>
          <p:spPr bwMode="auto">
            <a:xfrm>
              <a:off x="3789" y="1913"/>
              <a:ext cx="722" cy="402"/>
            </a:xfrm>
            <a:prstGeom prst="rect">
              <a:avLst/>
            </a:prstGeom>
            <a:noFill/>
            <a:ln w="9525">
              <a:noFill/>
              <a:miter lim="800000"/>
              <a:headEnd/>
              <a:tailEnd/>
            </a:ln>
          </p:spPr>
          <p:txBody>
            <a:bodyPr wrap="none" lIns="90488" tIns="44450" rIns="90488" bIns="44450">
              <a:spAutoFit/>
            </a:bodyPr>
            <a:lstStyle/>
            <a:p>
              <a:pPr algn="r"/>
              <a:r>
                <a:rPr lang="en-US" b="1">
                  <a:solidFill>
                    <a:srgbClr val="FFFE03"/>
                  </a:solidFill>
                  <a:latin typeface="Calibri" pitchFamily="34" charset="0"/>
                </a:rPr>
                <a:t>Bacterial</a:t>
              </a:r>
            </a:p>
            <a:p>
              <a:pPr algn="r"/>
              <a:r>
                <a:rPr lang="en-US" b="1">
                  <a:solidFill>
                    <a:srgbClr val="FFFE03"/>
                  </a:solidFill>
                  <a:latin typeface="Calibri" pitchFamily="34" charset="0"/>
                </a:rPr>
                <a:t>protein</a:t>
              </a:r>
            </a:p>
          </p:txBody>
        </p:sp>
        <p:grpSp>
          <p:nvGrpSpPr>
            <p:cNvPr id="27672" name="Group 128"/>
            <p:cNvGrpSpPr>
              <a:grpSpLocks/>
            </p:cNvGrpSpPr>
            <p:nvPr/>
          </p:nvGrpSpPr>
          <p:grpSpPr bwMode="auto">
            <a:xfrm>
              <a:off x="3232" y="2908"/>
              <a:ext cx="642" cy="130"/>
              <a:chOff x="3232" y="2908"/>
              <a:chExt cx="642" cy="130"/>
            </a:xfrm>
          </p:grpSpPr>
          <p:sp>
            <p:nvSpPr>
              <p:cNvPr id="27767" name="Arc 129"/>
              <p:cNvSpPr>
                <a:spLocks/>
              </p:cNvSpPr>
              <p:nvPr/>
            </p:nvSpPr>
            <p:spPr bwMode="auto">
              <a:xfrm>
                <a:off x="3232" y="2908"/>
                <a:ext cx="91" cy="127"/>
              </a:xfrm>
              <a:custGeom>
                <a:avLst/>
                <a:gdLst>
                  <a:gd name="T0" fmla="*/ 0 w 21600"/>
                  <a:gd name="T1" fmla="*/ 0 h 21769"/>
                  <a:gd name="T2" fmla="*/ 0 w 21600"/>
                  <a:gd name="T3" fmla="*/ 0 h 21769"/>
                  <a:gd name="T4" fmla="*/ 0 w 21600"/>
                  <a:gd name="T5" fmla="*/ 0 h 21769"/>
                  <a:gd name="T6" fmla="*/ 0 60000 65536"/>
                  <a:gd name="T7" fmla="*/ 0 60000 65536"/>
                  <a:gd name="T8" fmla="*/ 0 60000 65536"/>
                  <a:gd name="T9" fmla="*/ 0 w 21600"/>
                  <a:gd name="T10" fmla="*/ 0 h 21769"/>
                  <a:gd name="T11" fmla="*/ 21600 w 21600"/>
                  <a:gd name="T12" fmla="*/ 21769 h 21769"/>
                </a:gdLst>
                <a:ahLst/>
                <a:cxnLst>
                  <a:cxn ang="T6">
                    <a:pos x="T0" y="T1"/>
                  </a:cxn>
                  <a:cxn ang="T7">
                    <a:pos x="T2" y="T3"/>
                  </a:cxn>
                  <a:cxn ang="T8">
                    <a:pos x="T4" y="T5"/>
                  </a:cxn>
                </a:cxnLst>
                <a:rect l="T9" t="T10" r="T11" b="T12"/>
                <a:pathLst>
                  <a:path w="21600" h="21769" fill="none" extrusionOk="0">
                    <a:moveTo>
                      <a:pt x="21360" y="21768"/>
                    </a:moveTo>
                    <a:cubicBezTo>
                      <a:pt x="9525" y="21637"/>
                      <a:pt x="0" y="12005"/>
                      <a:pt x="0" y="170"/>
                    </a:cubicBezTo>
                    <a:cubicBezTo>
                      <a:pt x="-1" y="113"/>
                      <a:pt x="0" y="56"/>
                      <a:pt x="0" y="-1"/>
                    </a:cubicBezTo>
                  </a:path>
                  <a:path w="21600" h="21769" stroke="0" extrusionOk="0">
                    <a:moveTo>
                      <a:pt x="21360" y="21768"/>
                    </a:moveTo>
                    <a:cubicBezTo>
                      <a:pt x="9525" y="21637"/>
                      <a:pt x="0" y="12005"/>
                      <a:pt x="0" y="170"/>
                    </a:cubicBezTo>
                    <a:cubicBezTo>
                      <a:pt x="-1" y="113"/>
                      <a:pt x="0" y="56"/>
                      <a:pt x="0" y="-1"/>
                    </a:cubicBezTo>
                    <a:lnTo>
                      <a:pt x="21600" y="170"/>
                    </a:lnTo>
                    <a:close/>
                  </a:path>
                </a:pathLst>
              </a:custGeom>
              <a:noFill/>
              <a:ln w="50800" cap="rnd">
                <a:solidFill>
                  <a:srgbClr val="438E00"/>
                </a:solidFill>
                <a:round/>
                <a:headEnd/>
                <a:tailEnd/>
              </a:ln>
            </p:spPr>
            <p:txBody>
              <a:bodyPr wrap="none" anchor="ctr"/>
              <a:lstStyle/>
              <a:p>
                <a:endParaRPr lang="en-US"/>
              </a:p>
            </p:txBody>
          </p:sp>
          <p:sp>
            <p:nvSpPr>
              <p:cNvPr id="27768" name="Line 130"/>
              <p:cNvSpPr>
                <a:spLocks noChangeShapeType="1"/>
              </p:cNvSpPr>
              <p:nvPr/>
            </p:nvSpPr>
            <p:spPr bwMode="auto">
              <a:xfrm>
                <a:off x="3333" y="3038"/>
                <a:ext cx="391" cy="0"/>
              </a:xfrm>
              <a:prstGeom prst="line">
                <a:avLst/>
              </a:prstGeom>
              <a:noFill/>
              <a:ln w="50800">
                <a:solidFill>
                  <a:srgbClr val="438E00"/>
                </a:solidFill>
                <a:round/>
                <a:headEnd/>
                <a:tailEnd/>
              </a:ln>
            </p:spPr>
            <p:txBody>
              <a:bodyPr wrap="none" anchor="ctr"/>
              <a:lstStyle/>
              <a:p>
                <a:endParaRPr lang="en-US"/>
              </a:p>
            </p:txBody>
          </p:sp>
          <p:sp>
            <p:nvSpPr>
              <p:cNvPr id="27769" name="Arc 131"/>
              <p:cNvSpPr>
                <a:spLocks/>
              </p:cNvSpPr>
              <p:nvPr/>
            </p:nvSpPr>
            <p:spPr bwMode="auto">
              <a:xfrm>
                <a:off x="3720" y="2946"/>
                <a:ext cx="154" cy="90"/>
              </a:xfrm>
              <a:custGeom>
                <a:avLst/>
                <a:gdLst>
                  <a:gd name="T0" fmla="*/ 0 w 21563"/>
                  <a:gd name="T1" fmla="*/ 0 h 21600"/>
                  <a:gd name="T2" fmla="*/ 0 w 21563"/>
                  <a:gd name="T3" fmla="*/ 0 h 21600"/>
                  <a:gd name="T4" fmla="*/ 0 w 21563"/>
                  <a:gd name="T5" fmla="*/ 0 h 21600"/>
                  <a:gd name="T6" fmla="*/ 0 60000 65536"/>
                  <a:gd name="T7" fmla="*/ 0 60000 65536"/>
                  <a:gd name="T8" fmla="*/ 0 60000 65536"/>
                  <a:gd name="T9" fmla="*/ 0 w 21563"/>
                  <a:gd name="T10" fmla="*/ 0 h 21600"/>
                  <a:gd name="T11" fmla="*/ 21563 w 21563"/>
                  <a:gd name="T12" fmla="*/ 21600 h 21600"/>
                </a:gdLst>
                <a:ahLst/>
                <a:cxnLst>
                  <a:cxn ang="T6">
                    <a:pos x="T0" y="T1"/>
                  </a:cxn>
                  <a:cxn ang="T7">
                    <a:pos x="T2" y="T3"/>
                  </a:cxn>
                  <a:cxn ang="T8">
                    <a:pos x="T4" y="T5"/>
                  </a:cxn>
                </a:cxnLst>
                <a:rect l="T9" t="T10" r="T11" b="T12"/>
                <a:pathLst>
                  <a:path w="21563" h="21600" fill="none" extrusionOk="0">
                    <a:moveTo>
                      <a:pt x="21563" y="2775"/>
                    </a:moveTo>
                    <a:cubicBezTo>
                      <a:pt x="20168" y="13541"/>
                      <a:pt x="10998" y="21599"/>
                      <a:pt x="142" y="21600"/>
                    </a:cubicBezTo>
                    <a:cubicBezTo>
                      <a:pt x="94" y="21600"/>
                      <a:pt x="47" y="21599"/>
                      <a:pt x="0" y="21599"/>
                    </a:cubicBezTo>
                  </a:path>
                  <a:path w="21563" h="21600" stroke="0" extrusionOk="0">
                    <a:moveTo>
                      <a:pt x="21563" y="2775"/>
                    </a:moveTo>
                    <a:cubicBezTo>
                      <a:pt x="20168" y="13541"/>
                      <a:pt x="10998" y="21599"/>
                      <a:pt x="142" y="21600"/>
                    </a:cubicBezTo>
                    <a:cubicBezTo>
                      <a:pt x="94" y="21600"/>
                      <a:pt x="47" y="21599"/>
                      <a:pt x="0" y="21599"/>
                    </a:cubicBezTo>
                    <a:lnTo>
                      <a:pt x="142" y="0"/>
                    </a:lnTo>
                    <a:close/>
                  </a:path>
                </a:pathLst>
              </a:custGeom>
              <a:noFill/>
              <a:ln w="50800" cap="rnd">
                <a:solidFill>
                  <a:srgbClr val="438E00"/>
                </a:solidFill>
                <a:round/>
                <a:headEnd/>
                <a:tailEnd/>
              </a:ln>
            </p:spPr>
            <p:txBody>
              <a:bodyPr wrap="none" anchor="ctr"/>
              <a:lstStyle/>
              <a:p>
                <a:endParaRPr lang="en-US"/>
              </a:p>
            </p:txBody>
          </p:sp>
        </p:grpSp>
        <p:sp>
          <p:nvSpPr>
            <p:cNvPr id="27673" name="Line 132"/>
            <p:cNvSpPr>
              <a:spLocks noChangeShapeType="1"/>
            </p:cNvSpPr>
            <p:nvPr/>
          </p:nvSpPr>
          <p:spPr bwMode="auto">
            <a:xfrm flipV="1">
              <a:off x="3868" y="2286"/>
              <a:ext cx="227" cy="681"/>
            </a:xfrm>
            <a:prstGeom prst="line">
              <a:avLst/>
            </a:prstGeom>
            <a:noFill/>
            <a:ln w="50800">
              <a:solidFill>
                <a:srgbClr val="438E00"/>
              </a:solidFill>
              <a:round/>
              <a:headEnd/>
              <a:tailEnd/>
            </a:ln>
          </p:spPr>
          <p:txBody>
            <a:bodyPr wrap="none" anchor="ctr"/>
            <a:lstStyle/>
            <a:p>
              <a:endParaRPr lang="en-US"/>
            </a:p>
          </p:txBody>
        </p:sp>
        <p:sp>
          <p:nvSpPr>
            <p:cNvPr id="27674" name="Line 133"/>
            <p:cNvSpPr>
              <a:spLocks noChangeShapeType="1"/>
            </p:cNvSpPr>
            <p:nvPr/>
          </p:nvSpPr>
          <p:spPr bwMode="auto">
            <a:xfrm>
              <a:off x="5070" y="1762"/>
              <a:ext cx="0" cy="492"/>
            </a:xfrm>
            <a:prstGeom prst="line">
              <a:avLst/>
            </a:prstGeom>
            <a:noFill/>
            <a:ln w="50800">
              <a:solidFill>
                <a:srgbClr val="FE9B03"/>
              </a:solidFill>
              <a:round/>
              <a:headEnd/>
              <a:tailEnd type="triangle" w="med" len="med"/>
            </a:ln>
          </p:spPr>
          <p:txBody>
            <a:bodyPr wrap="none" anchor="ctr"/>
            <a:lstStyle/>
            <a:p>
              <a:endParaRPr lang="en-US"/>
            </a:p>
          </p:txBody>
        </p:sp>
        <p:grpSp>
          <p:nvGrpSpPr>
            <p:cNvPr id="27675" name="Group 134"/>
            <p:cNvGrpSpPr>
              <a:grpSpLocks/>
            </p:cNvGrpSpPr>
            <p:nvPr/>
          </p:nvGrpSpPr>
          <p:grpSpPr bwMode="auto">
            <a:xfrm>
              <a:off x="3364" y="1635"/>
              <a:ext cx="824" cy="739"/>
              <a:chOff x="3364" y="1635"/>
              <a:chExt cx="824" cy="739"/>
            </a:xfrm>
          </p:grpSpPr>
          <p:sp>
            <p:nvSpPr>
              <p:cNvPr id="27762" name="Freeform 135" descr="25%"/>
              <p:cNvSpPr>
                <a:spLocks/>
              </p:cNvSpPr>
              <p:nvPr/>
            </p:nvSpPr>
            <p:spPr bwMode="auto">
              <a:xfrm>
                <a:off x="3373" y="1674"/>
                <a:ext cx="769" cy="700"/>
              </a:xfrm>
              <a:custGeom>
                <a:avLst/>
                <a:gdLst>
                  <a:gd name="T0" fmla="*/ 102 w 769"/>
                  <a:gd name="T1" fmla="*/ 11 h 700"/>
                  <a:gd name="T2" fmla="*/ 326 w 769"/>
                  <a:gd name="T3" fmla="*/ 256 h 700"/>
                  <a:gd name="T4" fmla="*/ 0 w 769"/>
                  <a:gd name="T5" fmla="*/ 560 h 700"/>
                  <a:gd name="T6" fmla="*/ 0 w 769"/>
                  <a:gd name="T7" fmla="*/ 699 h 700"/>
                  <a:gd name="T8" fmla="*/ 768 w 769"/>
                  <a:gd name="T9" fmla="*/ 0 h 700"/>
                  <a:gd name="T10" fmla="*/ 144 w 769"/>
                  <a:gd name="T11" fmla="*/ 0 h 700"/>
                  <a:gd name="T12" fmla="*/ 80 w 769"/>
                  <a:gd name="T13" fmla="*/ 0 h 700"/>
                  <a:gd name="T14" fmla="*/ 102 w 769"/>
                  <a:gd name="T15" fmla="*/ 11 h 700"/>
                  <a:gd name="T16" fmla="*/ 0 60000 65536"/>
                  <a:gd name="T17" fmla="*/ 0 60000 65536"/>
                  <a:gd name="T18" fmla="*/ 0 60000 65536"/>
                  <a:gd name="T19" fmla="*/ 0 60000 65536"/>
                  <a:gd name="T20" fmla="*/ 0 60000 65536"/>
                  <a:gd name="T21" fmla="*/ 0 60000 65536"/>
                  <a:gd name="T22" fmla="*/ 0 60000 65536"/>
                  <a:gd name="T23" fmla="*/ 0 60000 65536"/>
                  <a:gd name="T24" fmla="*/ 0 w 769"/>
                  <a:gd name="T25" fmla="*/ 0 h 700"/>
                  <a:gd name="T26" fmla="*/ 769 w 769"/>
                  <a:gd name="T27" fmla="*/ 700 h 7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69" h="700">
                    <a:moveTo>
                      <a:pt x="102" y="11"/>
                    </a:moveTo>
                    <a:lnTo>
                      <a:pt x="326" y="256"/>
                    </a:lnTo>
                    <a:lnTo>
                      <a:pt x="0" y="560"/>
                    </a:lnTo>
                    <a:lnTo>
                      <a:pt x="0" y="699"/>
                    </a:lnTo>
                    <a:lnTo>
                      <a:pt x="768" y="0"/>
                    </a:lnTo>
                    <a:lnTo>
                      <a:pt x="144" y="0"/>
                    </a:lnTo>
                    <a:lnTo>
                      <a:pt x="80" y="0"/>
                    </a:lnTo>
                    <a:lnTo>
                      <a:pt x="102" y="11"/>
                    </a:lnTo>
                  </a:path>
                </a:pathLst>
              </a:custGeom>
              <a:pattFill prst="pct25">
                <a:fgClr>
                  <a:srgbClr val="F35B1B"/>
                </a:fgClr>
                <a:bgClr>
                  <a:schemeClr val="bg1"/>
                </a:bgClr>
              </a:pattFill>
              <a:ln w="9525">
                <a:noFill/>
                <a:round/>
                <a:headEnd/>
                <a:tailEnd/>
              </a:ln>
            </p:spPr>
            <p:txBody>
              <a:bodyPr/>
              <a:lstStyle/>
              <a:p>
                <a:endParaRPr lang="en-US"/>
              </a:p>
            </p:txBody>
          </p:sp>
          <p:sp>
            <p:nvSpPr>
              <p:cNvPr id="27763" name="Line 136"/>
              <p:cNvSpPr>
                <a:spLocks noChangeShapeType="1"/>
              </p:cNvSpPr>
              <p:nvPr/>
            </p:nvSpPr>
            <p:spPr bwMode="auto">
              <a:xfrm>
                <a:off x="3431" y="1635"/>
                <a:ext cx="264" cy="291"/>
              </a:xfrm>
              <a:prstGeom prst="line">
                <a:avLst/>
              </a:prstGeom>
              <a:noFill/>
              <a:ln w="12700">
                <a:solidFill>
                  <a:srgbClr val="FFFFFF"/>
                </a:solidFill>
                <a:round/>
                <a:headEnd/>
                <a:tailEnd/>
              </a:ln>
            </p:spPr>
            <p:txBody>
              <a:bodyPr wrap="none" anchor="ctr"/>
              <a:lstStyle/>
              <a:p>
                <a:endParaRPr lang="en-US"/>
              </a:p>
            </p:txBody>
          </p:sp>
          <p:sp>
            <p:nvSpPr>
              <p:cNvPr id="27764" name="Line 137"/>
              <p:cNvSpPr>
                <a:spLocks noChangeShapeType="1"/>
              </p:cNvSpPr>
              <p:nvPr/>
            </p:nvSpPr>
            <p:spPr bwMode="auto">
              <a:xfrm flipH="1">
                <a:off x="3364" y="1635"/>
                <a:ext cx="824" cy="734"/>
              </a:xfrm>
              <a:prstGeom prst="line">
                <a:avLst/>
              </a:prstGeom>
              <a:noFill/>
              <a:ln w="12700">
                <a:solidFill>
                  <a:srgbClr val="FFFFFF"/>
                </a:solidFill>
                <a:round/>
                <a:headEnd/>
                <a:tailEnd/>
              </a:ln>
            </p:spPr>
            <p:txBody>
              <a:bodyPr wrap="none" anchor="ctr"/>
              <a:lstStyle/>
              <a:p>
                <a:endParaRPr lang="en-US"/>
              </a:p>
            </p:txBody>
          </p:sp>
          <p:sp>
            <p:nvSpPr>
              <p:cNvPr id="27765" name="Line 138"/>
              <p:cNvSpPr>
                <a:spLocks noChangeShapeType="1"/>
              </p:cNvSpPr>
              <p:nvPr/>
            </p:nvSpPr>
            <p:spPr bwMode="auto">
              <a:xfrm flipH="1">
                <a:off x="3364" y="1939"/>
                <a:ext cx="339" cy="291"/>
              </a:xfrm>
              <a:prstGeom prst="line">
                <a:avLst/>
              </a:prstGeom>
              <a:noFill/>
              <a:ln w="12700">
                <a:solidFill>
                  <a:srgbClr val="FFFFFF"/>
                </a:solidFill>
                <a:round/>
                <a:headEnd/>
                <a:tailEnd/>
              </a:ln>
            </p:spPr>
            <p:txBody>
              <a:bodyPr wrap="none" anchor="ctr"/>
              <a:lstStyle/>
              <a:p>
                <a:endParaRPr lang="en-US"/>
              </a:p>
            </p:txBody>
          </p:sp>
          <p:sp>
            <p:nvSpPr>
              <p:cNvPr id="27766" name="AutoShape 139"/>
              <p:cNvSpPr>
                <a:spLocks noChangeArrowheads="1"/>
              </p:cNvSpPr>
              <p:nvPr/>
            </p:nvSpPr>
            <p:spPr bwMode="auto">
              <a:xfrm rot="18900000" flipH="1">
                <a:off x="3734" y="1800"/>
                <a:ext cx="211" cy="72"/>
              </a:xfrm>
              <a:prstGeom prst="rightArrow">
                <a:avLst>
                  <a:gd name="adj1" fmla="val 50000"/>
                  <a:gd name="adj2" fmla="val 146541"/>
                </a:avLst>
              </a:prstGeom>
              <a:solidFill>
                <a:schemeClr val="hlink"/>
              </a:solidFill>
              <a:ln w="12700">
                <a:solidFill>
                  <a:schemeClr val="tx2"/>
                </a:solidFill>
                <a:miter lim="800000"/>
                <a:headEnd/>
                <a:tailEnd/>
              </a:ln>
            </p:spPr>
            <p:txBody>
              <a:bodyPr wrap="none" anchor="ctr"/>
              <a:lstStyle/>
              <a:p>
                <a:endParaRPr lang="en-NZ">
                  <a:latin typeface="Calibri" pitchFamily="34" charset="0"/>
                </a:endParaRPr>
              </a:p>
            </p:txBody>
          </p:sp>
        </p:grpSp>
        <p:sp>
          <p:nvSpPr>
            <p:cNvPr id="27676" name="Rectangle 140"/>
            <p:cNvSpPr>
              <a:spLocks noChangeArrowheads="1"/>
            </p:cNvSpPr>
            <p:nvPr/>
          </p:nvSpPr>
          <p:spPr bwMode="auto">
            <a:xfrm>
              <a:off x="4675" y="1527"/>
              <a:ext cx="974" cy="233"/>
            </a:xfrm>
            <a:prstGeom prst="rect">
              <a:avLst/>
            </a:prstGeom>
            <a:noFill/>
            <a:ln w="9525">
              <a:noFill/>
              <a:miter lim="800000"/>
              <a:headEnd/>
              <a:tailEnd/>
            </a:ln>
          </p:spPr>
          <p:txBody>
            <a:bodyPr wrap="none" lIns="93662" tIns="47625" rIns="93662" bIns="47625">
              <a:spAutoFit/>
            </a:bodyPr>
            <a:lstStyle/>
            <a:p>
              <a:pPr algn="ctr" defTabSz="933450"/>
              <a:r>
                <a:rPr lang="en-US" b="1">
                  <a:solidFill>
                    <a:srgbClr val="FAFD00"/>
                  </a:solidFill>
                  <a:latin typeface="Calibri" pitchFamily="34" charset="0"/>
                </a:rPr>
                <a:t>Amino acids</a:t>
              </a:r>
            </a:p>
          </p:txBody>
        </p:sp>
        <p:sp>
          <p:nvSpPr>
            <p:cNvPr id="27677" name="Rectangle 141"/>
            <p:cNvSpPr>
              <a:spLocks noChangeArrowheads="1"/>
            </p:cNvSpPr>
            <p:nvPr/>
          </p:nvSpPr>
          <p:spPr bwMode="auto">
            <a:xfrm>
              <a:off x="4501" y="2294"/>
              <a:ext cx="1092" cy="322"/>
            </a:xfrm>
            <a:prstGeom prst="rect">
              <a:avLst/>
            </a:prstGeom>
            <a:noFill/>
            <a:ln w="9525">
              <a:noFill/>
              <a:miter lim="800000"/>
              <a:headEnd/>
              <a:tailEnd/>
            </a:ln>
          </p:spPr>
          <p:txBody>
            <a:bodyPr wrap="none" lIns="93662" tIns="47625" rIns="93662" bIns="47625">
              <a:spAutoFit/>
            </a:bodyPr>
            <a:lstStyle/>
            <a:p>
              <a:pPr algn="ctr" defTabSz="933450">
                <a:lnSpc>
                  <a:spcPct val="85000"/>
                </a:lnSpc>
              </a:pPr>
              <a:r>
                <a:rPr lang="en-US" sz="1600" b="1">
                  <a:latin typeface="Calibri" pitchFamily="34" charset="0"/>
                </a:rPr>
                <a:t>Absorbed in the</a:t>
              </a:r>
            </a:p>
            <a:p>
              <a:pPr algn="ctr" defTabSz="933450">
                <a:lnSpc>
                  <a:spcPct val="85000"/>
                </a:lnSpc>
              </a:pPr>
              <a:r>
                <a:rPr lang="en-US" sz="1600" b="1">
                  <a:latin typeface="Calibri" pitchFamily="34" charset="0"/>
                </a:rPr>
                <a:t>blood</a:t>
              </a:r>
            </a:p>
          </p:txBody>
        </p:sp>
        <p:grpSp>
          <p:nvGrpSpPr>
            <p:cNvPr id="27678" name="Group 142"/>
            <p:cNvGrpSpPr>
              <a:grpSpLocks/>
            </p:cNvGrpSpPr>
            <p:nvPr/>
          </p:nvGrpSpPr>
          <p:grpSpPr bwMode="auto">
            <a:xfrm>
              <a:off x="2968" y="2388"/>
              <a:ext cx="383" cy="594"/>
              <a:chOff x="2968" y="2388"/>
              <a:chExt cx="383" cy="594"/>
            </a:xfrm>
          </p:grpSpPr>
          <p:grpSp>
            <p:nvGrpSpPr>
              <p:cNvPr id="27679" name="Group 143"/>
              <p:cNvGrpSpPr>
                <a:grpSpLocks/>
              </p:cNvGrpSpPr>
              <p:nvPr/>
            </p:nvGrpSpPr>
            <p:grpSpPr bwMode="auto">
              <a:xfrm>
                <a:off x="2971" y="2470"/>
                <a:ext cx="380" cy="512"/>
                <a:chOff x="2971" y="2470"/>
                <a:chExt cx="380" cy="512"/>
              </a:xfrm>
            </p:grpSpPr>
            <p:sp>
              <p:nvSpPr>
                <p:cNvPr id="27682" name="Line 144"/>
                <p:cNvSpPr>
                  <a:spLocks noChangeShapeType="1"/>
                </p:cNvSpPr>
                <p:nvPr/>
              </p:nvSpPr>
              <p:spPr bwMode="auto">
                <a:xfrm>
                  <a:off x="3285" y="2550"/>
                  <a:ext cx="0" cy="69"/>
                </a:xfrm>
                <a:prstGeom prst="line">
                  <a:avLst/>
                </a:prstGeom>
                <a:noFill/>
                <a:ln w="25400">
                  <a:solidFill>
                    <a:srgbClr val="FFFFFF"/>
                  </a:solidFill>
                  <a:round/>
                  <a:headEnd/>
                  <a:tailEnd/>
                </a:ln>
              </p:spPr>
              <p:txBody>
                <a:bodyPr wrap="none" anchor="ctr"/>
                <a:lstStyle/>
                <a:p>
                  <a:endParaRPr lang="en-US"/>
                </a:p>
              </p:txBody>
            </p:sp>
            <p:sp>
              <p:nvSpPr>
                <p:cNvPr id="27683" name="Line 145"/>
                <p:cNvSpPr>
                  <a:spLocks noChangeShapeType="1"/>
                </p:cNvSpPr>
                <p:nvPr/>
              </p:nvSpPr>
              <p:spPr bwMode="auto">
                <a:xfrm flipV="1">
                  <a:off x="3285" y="2795"/>
                  <a:ext cx="0" cy="115"/>
                </a:xfrm>
                <a:prstGeom prst="line">
                  <a:avLst/>
                </a:prstGeom>
                <a:noFill/>
                <a:ln w="25400">
                  <a:solidFill>
                    <a:srgbClr val="FFFFFF"/>
                  </a:solidFill>
                  <a:round/>
                  <a:headEnd/>
                  <a:tailEnd/>
                </a:ln>
              </p:spPr>
              <p:txBody>
                <a:bodyPr wrap="none" anchor="ctr"/>
                <a:lstStyle/>
                <a:p>
                  <a:endParaRPr lang="en-US"/>
                </a:p>
              </p:txBody>
            </p:sp>
            <p:grpSp>
              <p:nvGrpSpPr>
                <p:cNvPr id="27684" name="Group 146"/>
                <p:cNvGrpSpPr>
                  <a:grpSpLocks/>
                </p:cNvGrpSpPr>
                <p:nvPr/>
              </p:nvGrpSpPr>
              <p:grpSpPr bwMode="auto">
                <a:xfrm>
                  <a:off x="3153" y="2531"/>
                  <a:ext cx="73" cy="408"/>
                  <a:chOff x="3153" y="2531"/>
                  <a:chExt cx="73" cy="408"/>
                </a:xfrm>
              </p:grpSpPr>
              <p:sp>
                <p:nvSpPr>
                  <p:cNvPr id="27745" name="Oval 147"/>
                  <p:cNvSpPr>
                    <a:spLocks noChangeArrowheads="1"/>
                  </p:cNvSpPr>
                  <p:nvPr/>
                </p:nvSpPr>
                <p:spPr bwMode="auto">
                  <a:xfrm>
                    <a:off x="3162" y="2571"/>
                    <a:ext cx="9" cy="8"/>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746" name="Oval 148"/>
                  <p:cNvSpPr>
                    <a:spLocks noChangeArrowheads="1"/>
                  </p:cNvSpPr>
                  <p:nvPr/>
                </p:nvSpPr>
                <p:spPr bwMode="auto">
                  <a:xfrm>
                    <a:off x="3225" y="2587"/>
                    <a:ext cx="1" cy="8"/>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747" name="Oval 149"/>
                  <p:cNvSpPr>
                    <a:spLocks noChangeArrowheads="1"/>
                  </p:cNvSpPr>
                  <p:nvPr/>
                </p:nvSpPr>
                <p:spPr bwMode="auto">
                  <a:xfrm>
                    <a:off x="3189" y="2531"/>
                    <a:ext cx="1" cy="1"/>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748" name="Oval 150"/>
                  <p:cNvSpPr>
                    <a:spLocks noChangeArrowheads="1"/>
                  </p:cNvSpPr>
                  <p:nvPr/>
                </p:nvSpPr>
                <p:spPr bwMode="auto">
                  <a:xfrm>
                    <a:off x="3216" y="2555"/>
                    <a:ext cx="9" cy="1"/>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749" name="Oval 151"/>
                  <p:cNvSpPr>
                    <a:spLocks noChangeArrowheads="1"/>
                  </p:cNvSpPr>
                  <p:nvPr/>
                </p:nvSpPr>
                <p:spPr bwMode="auto">
                  <a:xfrm>
                    <a:off x="3189" y="2627"/>
                    <a:ext cx="9" cy="8"/>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750" name="Oval 152"/>
                  <p:cNvSpPr>
                    <a:spLocks noChangeArrowheads="1"/>
                  </p:cNvSpPr>
                  <p:nvPr/>
                </p:nvSpPr>
                <p:spPr bwMode="auto">
                  <a:xfrm>
                    <a:off x="3162" y="2611"/>
                    <a:ext cx="1" cy="8"/>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751" name="Oval 153"/>
                  <p:cNvSpPr>
                    <a:spLocks noChangeArrowheads="1"/>
                  </p:cNvSpPr>
                  <p:nvPr/>
                </p:nvSpPr>
                <p:spPr bwMode="auto">
                  <a:xfrm>
                    <a:off x="3162" y="2787"/>
                    <a:ext cx="9" cy="1"/>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752" name="Oval 154"/>
                  <p:cNvSpPr>
                    <a:spLocks noChangeArrowheads="1"/>
                  </p:cNvSpPr>
                  <p:nvPr/>
                </p:nvSpPr>
                <p:spPr bwMode="auto">
                  <a:xfrm>
                    <a:off x="3162" y="2859"/>
                    <a:ext cx="1" cy="8"/>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753" name="Oval 155"/>
                  <p:cNvSpPr>
                    <a:spLocks noChangeArrowheads="1"/>
                  </p:cNvSpPr>
                  <p:nvPr/>
                </p:nvSpPr>
                <p:spPr bwMode="auto">
                  <a:xfrm>
                    <a:off x="3207" y="2867"/>
                    <a:ext cx="1" cy="8"/>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754" name="Oval 156"/>
                  <p:cNvSpPr>
                    <a:spLocks noChangeArrowheads="1"/>
                  </p:cNvSpPr>
                  <p:nvPr/>
                </p:nvSpPr>
                <p:spPr bwMode="auto">
                  <a:xfrm>
                    <a:off x="3198" y="2811"/>
                    <a:ext cx="9" cy="8"/>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755" name="Oval 157"/>
                  <p:cNvSpPr>
                    <a:spLocks noChangeArrowheads="1"/>
                  </p:cNvSpPr>
                  <p:nvPr/>
                </p:nvSpPr>
                <p:spPr bwMode="auto">
                  <a:xfrm>
                    <a:off x="3171" y="2891"/>
                    <a:ext cx="9" cy="1"/>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756" name="Oval 158"/>
                  <p:cNvSpPr>
                    <a:spLocks noChangeArrowheads="1"/>
                  </p:cNvSpPr>
                  <p:nvPr/>
                </p:nvSpPr>
                <p:spPr bwMode="auto">
                  <a:xfrm>
                    <a:off x="3180" y="2851"/>
                    <a:ext cx="1" cy="1"/>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757" name="Oval 159"/>
                  <p:cNvSpPr>
                    <a:spLocks noChangeArrowheads="1"/>
                  </p:cNvSpPr>
                  <p:nvPr/>
                </p:nvSpPr>
                <p:spPr bwMode="auto">
                  <a:xfrm>
                    <a:off x="3207" y="2907"/>
                    <a:ext cx="9" cy="8"/>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758" name="Oval 160"/>
                  <p:cNvSpPr>
                    <a:spLocks noChangeArrowheads="1"/>
                  </p:cNvSpPr>
                  <p:nvPr/>
                </p:nvSpPr>
                <p:spPr bwMode="auto">
                  <a:xfrm>
                    <a:off x="3207" y="2779"/>
                    <a:ext cx="1" cy="1"/>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759" name="Oval 161"/>
                  <p:cNvSpPr>
                    <a:spLocks noChangeArrowheads="1"/>
                  </p:cNvSpPr>
                  <p:nvPr/>
                </p:nvSpPr>
                <p:spPr bwMode="auto">
                  <a:xfrm>
                    <a:off x="3153" y="2931"/>
                    <a:ext cx="9" cy="8"/>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760" name="Oval 162"/>
                  <p:cNvSpPr>
                    <a:spLocks noChangeArrowheads="1"/>
                  </p:cNvSpPr>
                  <p:nvPr/>
                </p:nvSpPr>
                <p:spPr bwMode="auto">
                  <a:xfrm>
                    <a:off x="3189" y="2931"/>
                    <a:ext cx="1" cy="1"/>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761" name="Oval 163"/>
                  <p:cNvSpPr>
                    <a:spLocks noChangeArrowheads="1"/>
                  </p:cNvSpPr>
                  <p:nvPr/>
                </p:nvSpPr>
                <p:spPr bwMode="auto">
                  <a:xfrm>
                    <a:off x="3153" y="2819"/>
                    <a:ext cx="9" cy="1"/>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grpSp>
            <p:sp>
              <p:nvSpPr>
                <p:cNvPr id="27685" name="Line 164"/>
                <p:cNvSpPr>
                  <a:spLocks noChangeShapeType="1"/>
                </p:cNvSpPr>
                <p:nvPr/>
              </p:nvSpPr>
              <p:spPr bwMode="auto">
                <a:xfrm flipH="1">
                  <a:off x="3272" y="2470"/>
                  <a:ext cx="79" cy="64"/>
                </a:xfrm>
                <a:prstGeom prst="line">
                  <a:avLst/>
                </a:prstGeom>
                <a:noFill/>
                <a:ln w="25400">
                  <a:solidFill>
                    <a:srgbClr val="FFFFFF"/>
                  </a:solidFill>
                  <a:round/>
                  <a:headEnd/>
                  <a:tailEnd/>
                </a:ln>
              </p:spPr>
              <p:txBody>
                <a:bodyPr wrap="none" anchor="ctr"/>
                <a:lstStyle/>
                <a:p>
                  <a:endParaRPr lang="en-US"/>
                </a:p>
              </p:txBody>
            </p:sp>
            <p:sp>
              <p:nvSpPr>
                <p:cNvPr id="27686" name="Line 165"/>
                <p:cNvSpPr>
                  <a:spLocks noChangeShapeType="1"/>
                </p:cNvSpPr>
                <p:nvPr/>
              </p:nvSpPr>
              <p:spPr bwMode="auto">
                <a:xfrm>
                  <a:off x="2971" y="2478"/>
                  <a:ext cx="47" cy="64"/>
                </a:xfrm>
                <a:prstGeom prst="line">
                  <a:avLst/>
                </a:prstGeom>
                <a:noFill/>
                <a:ln w="25400">
                  <a:solidFill>
                    <a:srgbClr val="FFFFFF"/>
                  </a:solidFill>
                  <a:round/>
                  <a:headEnd/>
                  <a:tailEnd/>
                </a:ln>
              </p:spPr>
              <p:txBody>
                <a:bodyPr wrap="none" anchor="ctr"/>
                <a:lstStyle/>
                <a:p>
                  <a:endParaRPr lang="en-US"/>
                </a:p>
              </p:txBody>
            </p:sp>
            <p:sp>
              <p:nvSpPr>
                <p:cNvPr id="27687" name="Line 166"/>
                <p:cNvSpPr>
                  <a:spLocks noChangeShapeType="1"/>
                </p:cNvSpPr>
                <p:nvPr/>
              </p:nvSpPr>
              <p:spPr bwMode="auto">
                <a:xfrm flipH="1" flipV="1">
                  <a:off x="3272" y="2894"/>
                  <a:ext cx="79" cy="88"/>
                </a:xfrm>
                <a:prstGeom prst="line">
                  <a:avLst/>
                </a:prstGeom>
                <a:noFill/>
                <a:ln w="25400">
                  <a:solidFill>
                    <a:srgbClr val="FFFFFF"/>
                  </a:solidFill>
                  <a:round/>
                  <a:headEnd/>
                  <a:tailEnd/>
                </a:ln>
              </p:spPr>
              <p:txBody>
                <a:bodyPr wrap="none" anchor="ctr"/>
                <a:lstStyle/>
                <a:p>
                  <a:endParaRPr lang="en-US"/>
                </a:p>
              </p:txBody>
            </p:sp>
            <p:sp>
              <p:nvSpPr>
                <p:cNvPr id="27688" name="Line 167"/>
                <p:cNvSpPr>
                  <a:spLocks noChangeShapeType="1"/>
                </p:cNvSpPr>
                <p:nvPr/>
              </p:nvSpPr>
              <p:spPr bwMode="auto">
                <a:xfrm flipV="1">
                  <a:off x="2971" y="2886"/>
                  <a:ext cx="47" cy="96"/>
                </a:xfrm>
                <a:prstGeom prst="line">
                  <a:avLst/>
                </a:prstGeom>
                <a:noFill/>
                <a:ln w="25400">
                  <a:solidFill>
                    <a:srgbClr val="FFFFFF"/>
                  </a:solidFill>
                  <a:round/>
                  <a:headEnd/>
                  <a:tailEnd/>
                </a:ln>
              </p:spPr>
              <p:txBody>
                <a:bodyPr wrap="none" anchor="ctr"/>
                <a:lstStyle/>
                <a:p>
                  <a:endParaRPr lang="en-US"/>
                </a:p>
              </p:txBody>
            </p:sp>
            <p:grpSp>
              <p:nvGrpSpPr>
                <p:cNvPr id="27689" name="Group 168"/>
                <p:cNvGrpSpPr>
                  <a:grpSpLocks/>
                </p:cNvGrpSpPr>
                <p:nvPr/>
              </p:nvGrpSpPr>
              <p:grpSpPr bwMode="auto">
                <a:xfrm>
                  <a:off x="3021" y="2542"/>
                  <a:ext cx="87" cy="408"/>
                  <a:chOff x="3021" y="2542"/>
                  <a:chExt cx="87" cy="408"/>
                </a:xfrm>
              </p:grpSpPr>
              <p:sp>
                <p:nvSpPr>
                  <p:cNvPr id="27726" name="Oval 169"/>
                  <p:cNvSpPr>
                    <a:spLocks noChangeArrowheads="1"/>
                  </p:cNvSpPr>
                  <p:nvPr/>
                </p:nvSpPr>
                <p:spPr bwMode="auto">
                  <a:xfrm>
                    <a:off x="3044" y="2582"/>
                    <a:ext cx="9" cy="8"/>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727" name="Oval 170"/>
                  <p:cNvSpPr>
                    <a:spLocks noChangeArrowheads="1"/>
                  </p:cNvSpPr>
                  <p:nvPr/>
                </p:nvSpPr>
                <p:spPr bwMode="auto">
                  <a:xfrm>
                    <a:off x="3107" y="2598"/>
                    <a:ext cx="1" cy="8"/>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728" name="Oval 171"/>
                  <p:cNvSpPr>
                    <a:spLocks noChangeArrowheads="1"/>
                  </p:cNvSpPr>
                  <p:nvPr/>
                </p:nvSpPr>
                <p:spPr bwMode="auto">
                  <a:xfrm>
                    <a:off x="3071" y="2542"/>
                    <a:ext cx="1" cy="1"/>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729" name="Oval 172"/>
                  <p:cNvSpPr>
                    <a:spLocks noChangeArrowheads="1"/>
                  </p:cNvSpPr>
                  <p:nvPr/>
                </p:nvSpPr>
                <p:spPr bwMode="auto">
                  <a:xfrm>
                    <a:off x="3098" y="2566"/>
                    <a:ext cx="9" cy="1"/>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730" name="Oval 173"/>
                  <p:cNvSpPr>
                    <a:spLocks noChangeArrowheads="1"/>
                  </p:cNvSpPr>
                  <p:nvPr/>
                </p:nvSpPr>
                <p:spPr bwMode="auto">
                  <a:xfrm>
                    <a:off x="3071" y="2638"/>
                    <a:ext cx="9" cy="8"/>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731" name="Line 174"/>
                  <p:cNvSpPr>
                    <a:spLocks noChangeShapeType="1"/>
                  </p:cNvSpPr>
                  <p:nvPr/>
                </p:nvSpPr>
                <p:spPr bwMode="auto">
                  <a:xfrm>
                    <a:off x="3021" y="2550"/>
                    <a:ext cx="0" cy="75"/>
                  </a:xfrm>
                  <a:prstGeom prst="line">
                    <a:avLst/>
                  </a:prstGeom>
                  <a:noFill/>
                  <a:ln w="25400">
                    <a:solidFill>
                      <a:srgbClr val="FFFFFF"/>
                    </a:solidFill>
                    <a:round/>
                    <a:headEnd/>
                    <a:tailEnd/>
                  </a:ln>
                </p:spPr>
                <p:txBody>
                  <a:bodyPr wrap="none" anchor="ctr"/>
                  <a:lstStyle/>
                  <a:p>
                    <a:endParaRPr lang="en-US"/>
                  </a:p>
                </p:txBody>
              </p:sp>
              <p:sp>
                <p:nvSpPr>
                  <p:cNvPr id="27732" name="Oval 175"/>
                  <p:cNvSpPr>
                    <a:spLocks noChangeArrowheads="1"/>
                  </p:cNvSpPr>
                  <p:nvPr/>
                </p:nvSpPr>
                <p:spPr bwMode="auto">
                  <a:xfrm>
                    <a:off x="3044" y="2622"/>
                    <a:ext cx="1" cy="8"/>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733" name="Line 176"/>
                  <p:cNvSpPr>
                    <a:spLocks noChangeShapeType="1"/>
                  </p:cNvSpPr>
                  <p:nvPr/>
                </p:nvSpPr>
                <p:spPr bwMode="auto">
                  <a:xfrm flipV="1">
                    <a:off x="3021" y="2790"/>
                    <a:ext cx="0" cy="110"/>
                  </a:xfrm>
                  <a:prstGeom prst="line">
                    <a:avLst/>
                  </a:prstGeom>
                  <a:noFill/>
                  <a:ln w="25400">
                    <a:solidFill>
                      <a:srgbClr val="FFFFFF"/>
                    </a:solidFill>
                    <a:round/>
                    <a:headEnd/>
                    <a:tailEnd/>
                  </a:ln>
                </p:spPr>
                <p:txBody>
                  <a:bodyPr wrap="none" anchor="ctr"/>
                  <a:lstStyle/>
                  <a:p>
                    <a:endParaRPr lang="en-US"/>
                  </a:p>
                </p:txBody>
              </p:sp>
              <p:sp>
                <p:nvSpPr>
                  <p:cNvPr id="27734" name="Oval 177"/>
                  <p:cNvSpPr>
                    <a:spLocks noChangeArrowheads="1"/>
                  </p:cNvSpPr>
                  <p:nvPr/>
                </p:nvSpPr>
                <p:spPr bwMode="auto">
                  <a:xfrm>
                    <a:off x="3044" y="2798"/>
                    <a:ext cx="9" cy="1"/>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735" name="Oval 178"/>
                  <p:cNvSpPr>
                    <a:spLocks noChangeArrowheads="1"/>
                  </p:cNvSpPr>
                  <p:nvPr/>
                </p:nvSpPr>
                <p:spPr bwMode="auto">
                  <a:xfrm>
                    <a:off x="3044" y="2870"/>
                    <a:ext cx="1" cy="8"/>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736" name="Oval 179"/>
                  <p:cNvSpPr>
                    <a:spLocks noChangeArrowheads="1"/>
                  </p:cNvSpPr>
                  <p:nvPr/>
                </p:nvSpPr>
                <p:spPr bwMode="auto">
                  <a:xfrm>
                    <a:off x="3089" y="2878"/>
                    <a:ext cx="1" cy="8"/>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737" name="Oval 180"/>
                  <p:cNvSpPr>
                    <a:spLocks noChangeArrowheads="1"/>
                  </p:cNvSpPr>
                  <p:nvPr/>
                </p:nvSpPr>
                <p:spPr bwMode="auto">
                  <a:xfrm>
                    <a:off x="3080" y="2822"/>
                    <a:ext cx="9" cy="8"/>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738" name="Oval 181"/>
                  <p:cNvSpPr>
                    <a:spLocks noChangeArrowheads="1"/>
                  </p:cNvSpPr>
                  <p:nvPr/>
                </p:nvSpPr>
                <p:spPr bwMode="auto">
                  <a:xfrm>
                    <a:off x="3053" y="2902"/>
                    <a:ext cx="9" cy="1"/>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739" name="Oval 182"/>
                  <p:cNvSpPr>
                    <a:spLocks noChangeArrowheads="1"/>
                  </p:cNvSpPr>
                  <p:nvPr/>
                </p:nvSpPr>
                <p:spPr bwMode="auto">
                  <a:xfrm>
                    <a:off x="3062" y="2862"/>
                    <a:ext cx="1" cy="1"/>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740" name="Oval 183"/>
                  <p:cNvSpPr>
                    <a:spLocks noChangeArrowheads="1"/>
                  </p:cNvSpPr>
                  <p:nvPr/>
                </p:nvSpPr>
                <p:spPr bwMode="auto">
                  <a:xfrm>
                    <a:off x="3089" y="2918"/>
                    <a:ext cx="9" cy="8"/>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741" name="Oval 184"/>
                  <p:cNvSpPr>
                    <a:spLocks noChangeArrowheads="1"/>
                  </p:cNvSpPr>
                  <p:nvPr/>
                </p:nvSpPr>
                <p:spPr bwMode="auto">
                  <a:xfrm>
                    <a:off x="3089" y="2790"/>
                    <a:ext cx="1" cy="1"/>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742" name="Oval 185"/>
                  <p:cNvSpPr>
                    <a:spLocks noChangeArrowheads="1"/>
                  </p:cNvSpPr>
                  <p:nvPr/>
                </p:nvSpPr>
                <p:spPr bwMode="auto">
                  <a:xfrm>
                    <a:off x="3035" y="2942"/>
                    <a:ext cx="9" cy="8"/>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743" name="Oval 186"/>
                  <p:cNvSpPr>
                    <a:spLocks noChangeArrowheads="1"/>
                  </p:cNvSpPr>
                  <p:nvPr/>
                </p:nvSpPr>
                <p:spPr bwMode="auto">
                  <a:xfrm>
                    <a:off x="3071" y="2942"/>
                    <a:ext cx="1" cy="1"/>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744" name="Oval 187"/>
                  <p:cNvSpPr>
                    <a:spLocks noChangeArrowheads="1"/>
                  </p:cNvSpPr>
                  <p:nvPr/>
                </p:nvSpPr>
                <p:spPr bwMode="auto">
                  <a:xfrm>
                    <a:off x="3035" y="2830"/>
                    <a:ext cx="9" cy="1"/>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grpSp>
            <p:grpSp>
              <p:nvGrpSpPr>
                <p:cNvPr id="27690" name="Group 188"/>
                <p:cNvGrpSpPr>
                  <a:grpSpLocks/>
                </p:cNvGrpSpPr>
                <p:nvPr/>
              </p:nvGrpSpPr>
              <p:grpSpPr bwMode="auto">
                <a:xfrm>
                  <a:off x="3094" y="2531"/>
                  <a:ext cx="73" cy="408"/>
                  <a:chOff x="3094" y="2531"/>
                  <a:chExt cx="73" cy="408"/>
                </a:xfrm>
              </p:grpSpPr>
              <p:sp>
                <p:nvSpPr>
                  <p:cNvPr id="27709" name="Oval 189"/>
                  <p:cNvSpPr>
                    <a:spLocks noChangeArrowheads="1"/>
                  </p:cNvSpPr>
                  <p:nvPr/>
                </p:nvSpPr>
                <p:spPr bwMode="auto">
                  <a:xfrm>
                    <a:off x="3103" y="2571"/>
                    <a:ext cx="9" cy="8"/>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710" name="Oval 190"/>
                  <p:cNvSpPr>
                    <a:spLocks noChangeArrowheads="1"/>
                  </p:cNvSpPr>
                  <p:nvPr/>
                </p:nvSpPr>
                <p:spPr bwMode="auto">
                  <a:xfrm>
                    <a:off x="3166" y="2587"/>
                    <a:ext cx="1" cy="8"/>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711" name="Oval 191"/>
                  <p:cNvSpPr>
                    <a:spLocks noChangeArrowheads="1"/>
                  </p:cNvSpPr>
                  <p:nvPr/>
                </p:nvSpPr>
                <p:spPr bwMode="auto">
                  <a:xfrm>
                    <a:off x="3130" y="2531"/>
                    <a:ext cx="1" cy="1"/>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712" name="Oval 192"/>
                  <p:cNvSpPr>
                    <a:spLocks noChangeArrowheads="1"/>
                  </p:cNvSpPr>
                  <p:nvPr/>
                </p:nvSpPr>
                <p:spPr bwMode="auto">
                  <a:xfrm>
                    <a:off x="3157" y="2555"/>
                    <a:ext cx="9" cy="1"/>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713" name="Oval 193"/>
                  <p:cNvSpPr>
                    <a:spLocks noChangeArrowheads="1"/>
                  </p:cNvSpPr>
                  <p:nvPr/>
                </p:nvSpPr>
                <p:spPr bwMode="auto">
                  <a:xfrm>
                    <a:off x="3130" y="2627"/>
                    <a:ext cx="9" cy="8"/>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714" name="Oval 194"/>
                  <p:cNvSpPr>
                    <a:spLocks noChangeArrowheads="1"/>
                  </p:cNvSpPr>
                  <p:nvPr/>
                </p:nvSpPr>
                <p:spPr bwMode="auto">
                  <a:xfrm>
                    <a:off x="3103" y="2611"/>
                    <a:ext cx="1" cy="8"/>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715" name="Oval 195"/>
                  <p:cNvSpPr>
                    <a:spLocks noChangeArrowheads="1"/>
                  </p:cNvSpPr>
                  <p:nvPr/>
                </p:nvSpPr>
                <p:spPr bwMode="auto">
                  <a:xfrm>
                    <a:off x="3103" y="2787"/>
                    <a:ext cx="9" cy="1"/>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716" name="Oval 196"/>
                  <p:cNvSpPr>
                    <a:spLocks noChangeArrowheads="1"/>
                  </p:cNvSpPr>
                  <p:nvPr/>
                </p:nvSpPr>
                <p:spPr bwMode="auto">
                  <a:xfrm>
                    <a:off x="3103" y="2859"/>
                    <a:ext cx="1" cy="8"/>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717" name="Oval 197"/>
                  <p:cNvSpPr>
                    <a:spLocks noChangeArrowheads="1"/>
                  </p:cNvSpPr>
                  <p:nvPr/>
                </p:nvSpPr>
                <p:spPr bwMode="auto">
                  <a:xfrm>
                    <a:off x="3148" y="2867"/>
                    <a:ext cx="1" cy="8"/>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718" name="Oval 198"/>
                  <p:cNvSpPr>
                    <a:spLocks noChangeArrowheads="1"/>
                  </p:cNvSpPr>
                  <p:nvPr/>
                </p:nvSpPr>
                <p:spPr bwMode="auto">
                  <a:xfrm>
                    <a:off x="3139" y="2811"/>
                    <a:ext cx="9" cy="8"/>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719" name="Oval 199"/>
                  <p:cNvSpPr>
                    <a:spLocks noChangeArrowheads="1"/>
                  </p:cNvSpPr>
                  <p:nvPr/>
                </p:nvSpPr>
                <p:spPr bwMode="auto">
                  <a:xfrm>
                    <a:off x="3112" y="2891"/>
                    <a:ext cx="9" cy="1"/>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720" name="Oval 200"/>
                  <p:cNvSpPr>
                    <a:spLocks noChangeArrowheads="1"/>
                  </p:cNvSpPr>
                  <p:nvPr/>
                </p:nvSpPr>
                <p:spPr bwMode="auto">
                  <a:xfrm>
                    <a:off x="3121" y="2851"/>
                    <a:ext cx="1" cy="1"/>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721" name="Oval 201"/>
                  <p:cNvSpPr>
                    <a:spLocks noChangeArrowheads="1"/>
                  </p:cNvSpPr>
                  <p:nvPr/>
                </p:nvSpPr>
                <p:spPr bwMode="auto">
                  <a:xfrm>
                    <a:off x="3148" y="2907"/>
                    <a:ext cx="9" cy="8"/>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722" name="Oval 202"/>
                  <p:cNvSpPr>
                    <a:spLocks noChangeArrowheads="1"/>
                  </p:cNvSpPr>
                  <p:nvPr/>
                </p:nvSpPr>
                <p:spPr bwMode="auto">
                  <a:xfrm>
                    <a:off x="3148" y="2779"/>
                    <a:ext cx="1" cy="1"/>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723" name="Oval 203"/>
                  <p:cNvSpPr>
                    <a:spLocks noChangeArrowheads="1"/>
                  </p:cNvSpPr>
                  <p:nvPr/>
                </p:nvSpPr>
                <p:spPr bwMode="auto">
                  <a:xfrm>
                    <a:off x="3094" y="2931"/>
                    <a:ext cx="9" cy="8"/>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724" name="Oval 204"/>
                  <p:cNvSpPr>
                    <a:spLocks noChangeArrowheads="1"/>
                  </p:cNvSpPr>
                  <p:nvPr/>
                </p:nvSpPr>
                <p:spPr bwMode="auto">
                  <a:xfrm>
                    <a:off x="3130" y="2931"/>
                    <a:ext cx="1" cy="1"/>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725" name="Oval 205"/>
                  <p:cNvSpPr>
                    <a:spLocks noChangeArrowheads="1"/>
                  </p:cNvSpPr>
                  <p:nvPr/>
                </p:nvSpPr>
                <p:spPr bwMode="auto">
                  <a:xfrm>
                    <a:off x="3094" y="2819"/>
                    <a:ext cx="9" cy="1"/>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grpSp>
            <p:grpSp>
              <p:nvGrpSpPr>
                <p:cNvPr id="27691" name="Group 206"/>
                <p:cNvGrpSpPr>
                  <a:grpSpLocks/>
                </p:cNvGrpSpPr>
                <p:nvPr/>
              </p:nvGrpSpPr>
              <p:grpSpPr bwMode="auto">
                <a:xfrm>
                  <a:off x="3200" y="2531"/>
                  <a:ext cx="73" cy="408"/>
                  <a:chOff x="3200" y="2531"/>
                  <a:chExt cx="73" cy="408"/>
                </a:xfrm>
              </p:grpSpPr>
              <p:sp>
                <p:nvSpPr>
                  <p:cNvPr id="27692" name="Oval 207"/>
                  <p:cNvSpPr>
                    <a:spLocks noChangeArrowheads="1"/>
                  </p:cNvSpPr>
                  <p:nvPr/>
                </p:nvSpPr>
                <p:spPr bwMode="auto">
                  <a:xfrm>
                    <a:off x="3209" y="2571"/>
                    <a:ext cx="9" cy="8"/>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693" name="Oval 208"/>
                  <p:cNvSpPr>
                    <a:spLocks noChangeArrowheads="1"/>
                  </p:cNvSpPr>
                  <p:nvPr/>
                </p:nvSpPr>
                <p:spPr bwMode="auto">
                  <a:xfrm>
                    <a:off x="3272" y="2587"/>
                    <a:ext cx="1" cy="8"/>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694" name="Oval 209"/>
                  <p:cNvSpPr>
                    <a:spLocks noChangeArrowheads="1"/>
                  </p:cNvSpPr>
                  <p:nvPr/>
                </p:nvSpPr>
                <p:spPr bwMode="auto">
                  <a:xfrm>
                    <a:off x="3236" y="2531"/>
                    <a:ext cx="1" cy="1"/>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695" name="Oval 210"/>
                  <p:cNvSpPr>
                    <a:spLocks noChangeArrowheads="1"/>
                  </p:cNvSpPr>
                  <p:nvPr/>
                </p:nvSpPr>
                <p:spPr bwMode="auto">
                  <a:xfrm>
                    <a:off x="3263" y="2555"/>
                    <a:ext cx="9" cy="1"/>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696" name="Oval 211"/>
                  <p:cNvSpPr>
                    <a:spLocks noChangeArrowheads="1"/>
                  </p:cNvSpPr>
                  <p:nvPr/>
                </p:nvSpPr>
                <p:spPr bwMode="auto">
                  <a:xfrm>
                    <a:off x="3236" y="2627"/>
                    <a:ext cx="9" cy="8"/>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697" name="Oval 212"/>
                  <p:cNvSpPr>
                    <a:spLocks noChangeArrowheads="1"/>
                  </p:cNvSpPr>
                  <p:nvPr/>
                </p:nvSpPr>
                <p:spPr bwMode="auto">
                  <a:xfrm>
                    <a:off x="3209" y="2611"/>
                    <a:ext cx="1" cy="8"/>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698" name="Oval 213"/>
                  <p:cNvSpPr>
                    <a:spLocks noChangeArrowheads="1"/>
                  </p:cNvSpPr>
                  <p:nvPr/>
                </p:nvSpPr>
                <p:spPr bwMode="auto">
                  <a:xfrm>
                    <a:off x="3209" y="2787"/>
                    <a:ext cx="9" cy="1"/>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699" name="Oval 214"/>
                  <p:cNvSpPr>
                    <a:spLocks noChangeArrowheads="1"/>
                  </p:cNvSpPr>
                  <p:nvPr/>
                </p:nvSpPr>
                <p:spPr bwMode="auto">
                  <a:xfrm>
                    <a:off x="3209" y="2859"/>
                    <a:ext cx="1" cy="8"/>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700" name="Oval 215"/>
                  <p:cNvSpPr>
                    <a:spLocks noChangeArrowheads="1"/>
                  </p:cNvSpPr>
                  <p:nvPr/>
                </p:nvSpPr>
                <p:spPr bwMode="auto">
                  <a:xfrm>
                    <a:off x="3254" y="2867"/>
                    <a:ext cx="1" cy="8"/>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701" name="Oval 216"/>
                  <p:cNvSpPr>
                    <a:spLocks noChangeArrowheads="1"/>
                  </p:cNvSpPr>
                  <p:nvPr/>
                </p:nvSpPr>
                <p:spPr bwMode="auto">
                  <a:xfrm>
                    <a:off x="3245" y="2811"/>
                    <a:ext cx="9" cy="8"/>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702" name="Oval 217"/>
                  <p:cNvSpPr>
                    <a:spLocks noChangeArrowheads="1"/>
                  </p:cNvSpPr>
                  <p:nvPr/>
                </p:nvSpPr>
                <p:spPr bwMode="auto">
                  <a:xfrm>
                    <a:off x="3218" y="2891"/>
                    <a:ext cx="9" cy="1"/>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703" name="Oval 218"/>
                  <p:cNvSpPr>
                    <a:spLocks noChangeArrowheads="1"/>
                  </p:cNvSpPr>
                  <p:nvPr/>
                </p:nvSpPr>
                <p:spPr bwMode="auto">
                  <a:xfrm>
                    <a:off x="3227" y="2851"/>
                    <a:ext cx="1" cy="1"/>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704" name="Oval 219"/>
                  <p:cNvSpPr>
                    <a:spLocks noChangeArrowheads="1"/>
                  </p:cNvSpPr>
                  <p:nvPr/>
                </p:nvSpPr>
                <p:spPr bwMode="auto">
                  <a:xfrm>
                    <a:off x="3254" y="2907"/>
                    <a:ext cx="9" cy="8"/>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705" name="Oval 220"/>
                  <p:cNvSpPr>
                    <a:spLocks noChangeArrowheads="1"/>
                  </p:cNvSpPr>
                  <p:nvPr/>
                </p:nvSpPr>
                <p:spPr bwMode="auto">
                  <a:xfrm>
                    <a:off x="3254" y="2779"/>
                    <a:ext cx="1" cy="1"/>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706" name="Oval 221"/>
                  <p:cNvSpPr>
                    <a:spLocks noChangeArrowheads="1"/>
                  </p:cNvSpPr>
                  <p:nvPr/>
                </p:nvSpPr>
                <p:spPr bwMode="auto">
                  <a:xfrm>
                    <a:off x="3200" y="2931"/>
                    <a:ext cx="9" cy="8"/>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707" name="Oval 222"/>
                  <p:cNvSpPr>
                    <a:spLocks noChangeArrowheads="1"/>
                  </p:cNvSpPr>
                  <p:nvPr/>
                </p:nvSpPr>
                <p:spPr bwMode="auto">
                  <a:xfrm>
                    <a:off x="3236" y="2931"/>
                    <a:ext cx="1" cy="1"/>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sp>
                <p:nvSpPr>
                  <p:cNvPr id="27708" name="Oval 223"/>
                  <p:cNvSpPr>
                    <a:spLocks noChangeArrowheads="1"/>
                  </p:cNvSpPr>
                  <p:nvPr/>
                </p:nvSpPr>
                <p:spPr bwMode="auto">
                  <a:xfrm>
                    <a:off x="3200" y="2819"/>
                    <a:ext cx="9" cy="1"/>
                  </a:xfrm>
                  <a:prstGeom prst="ellipse">
                    <a:avLst/>
                  </a:prstGeom>
                  <a:solidFill>
                    <a:srgbClr val="FFFFFF"/>
                  </a:solidFill>
                  <a:ln w="25400">
                    <a:solidFill>
                      <a:srgbClr val="FFFFFF"/>
                    </a:solidFill>
                    <a:round/>
                    <a:headEnd/>
                    <a:tailEnd/>
                  </a:ln>
                </p:spPr>
                <p:txBody>
                  <a:bodyPr wrap="none" anchor="ctr"/>
                  <a:lstStyle/>
                  <a:p>
                    <a:endParaRPr lang="en-NZ">
                      <a:latin typeface="Calibri" pitchFamily="34" charset="0"/>
                    </a:endParaRPr>
                  </a:p>
                </p:txBody>
              </p:sp>
            </p:grpSp>
          </p:grpSp>
          <p:sp>
            <p:nvSpPr>
              <p:cNvPr id="27680" name="Line 224"/>
              <p:cNvSpPr>
                <a:spLocks noChangeShapeType="1"/>
              </p:cNvSpPr>
              <p:nvPr/>
            </p:nvSpPr>
            <p:spPr bwMode="auto">
              <a:xfrm flipV="1">
                <a:off x="2968" y="2388"/>
                <a:ext cx="96" cy="84"/>
              </a:xfrm>
              <a:prstGeom prst="line">
                <a:avLst/>
              </a:prstGeom>
              <a:noFill/>
              <a:ln w="25400">
                <a:solidFill>
                  <a:srgbClr val="FFFFFF"/>
                </a:solidFill>
                <a:round/>
                <a:headEnd/>
                <a:tailEnd/>
              </a:ln>
            </p:spPr>
            <p:txBody>
              <a:bodyPr wrap="none" anchor="ctr"/>
              <a:lstStyle/>
              <a:p>
                <a:endParaRPr lang="en-US"/>
              </a:p>
            </p:txBody>
          </p:sp>
          <p:sp>
            <p:nvSpPr>
              <p:cNvPr id="27681" name="Line 225"/>
              <p:cNvSpPr>
                <a:spLocks noChangeShapeType="1"/>
              </p:cNvSpPr>
              <p:nvPr/>
            </p:nvSpPr>
            <p:spPr bwMode="auto">
              <a:xfrm>
                <a:off x="3236" y="2404"/>
                <a:ext cx="96" cy="52"/>
              </a:xfrm>
              <a:prstGeom prst="line">
                <a:avLst/>
              </a:prstGeom>
              <a:noFill/>
              <a:ln w="25400">
                <a:solidFill>
                  <a:srgbClr val="FFFFFF"/>
                </a:solidFill>
                <a:round/>
                <a:headEnd/>
                <a:tailEnd/>
              </a:ln>
            </p:spPr>
            <p:txBody>
              <a:bodyPr wrap="none" anchor="ctr"/>
              <a:lstStyle/>
              <a:p>
                <a:endParaRPr lang="en-US"/>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447531"/>
                                        </p:tgtEl>
                                        <p:attrNameLst>
                                          <p:attrName>style.visibility</p:attrName>
                                        </p:attrNameLst>
                                      </p:cBhvr>
                                      <p:to>
                                        <p:strVal val="visible"/>
                                      </p:to>
                                    </p:set>
                                    <p:anim calcmode="lin" valueType="num">
                                      <p:cBhvr additive="base">
                                        <p:cTn id="7" dur="500" fill="hold"/>
                                        <p:tgtEl>
                                          <p:spTgt spid="447531"/>
                                        </p:tgtEl>
                                        <p:attrNameLst>
                                          <p:attrName>ppt_x</p:attrName>
                                        </p:attrNameLst>
                                      </p:cBhvr>
                                      <p:tavLst>
                                        <p:tav tm="0">
                                          <p:val>
                                            <p:strVal val="0-#ppt_w/2"/>
                                          </p:val>
                                        </p:tav>
                                        <p:tav tm="100000">
                                          <p:val>
                                            <p:strVal val="#ppt_x"/>
                                          </p:val>
                                        </p:tav>
                                      </p:tavLst>
                                    </p:anim>
                                    <p:anim calcmode="lin" valueType="num">
                                      <p:cBhvr additive="base">
                                        <p:cTn id="8" dur="500" fill="hold"/>
                                        <p:tgtEl>
                                          <p:spTgt spid="44753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447524"/>
                                        </p:tgtEl>
                                        <p:attrNameLst>
                                          <p:attrName>style.visibility</p:attrName>
                                        </p:attrNameLst>
                                      </p:cBhvr>
                                      <p:to>
                                        <p:strVal val="visible"/>
                                      </p:to>
                                    </p:set>
                                    <p:anim calcmode="lin" valueType="num">
                                      <p:cBhvr additive="base">
                                        <p:cTn id="13" dur="500" fill="hold"/>
                                        <p:tgtEl>
                                          <p:spTgt spid="447524"/>
                                        </p:tgtEl>
                                        <p:attrNameLst>
                                          <p:attrName>ppt_x</p:attrName>
                                        </p:attrNameLst>
                                      </p:cBhvr>
                                      <p:tavLst>
                                        <p:tav tm="0">
                                          <p:val>
                                            <p:strVal val="0-#ppt_w/2"/>
                                          </p:val>
                                        </p:tav>
                                        <p:tav tm="100000">
                                          <p:val>
                                            <p:strVal val="#ppt_x"/>
                                          </p:val>
                                        </p:tav>
                                      </p:tavLst>
                                    </p:anim>
                                    <p:anim calcmode="lin" valueType="num">
                                      <p:cBhvr additive="base">
                                        <p:cTn id="14" dur="500" fill="hold"/>
                                        <p:tgtEl>
                                          <p:spTgt spid="447524"/>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7" presetClass="entr" presetSubtype="8" fill="hold" nodeType="clickEffect">
                                  <p:stCondLst>
                                    <p:cond delay="0"/>
                                  </p:stCondLst>
                                  <p:childTnLst>
                                    <p:set>
                                      <p:cBhvr>
                                        <p:cTn id="18" dur="1" fill="hold">
                                          <p:stCondLst>
                                            <p:cond delay="0"/>
                                          </p:stCondLst>
                                        </p:cTn>
                                        <p:tgtEl>
                                          <p:spTgt spid="447562"/>
                                        </p:tgtEl>
                                        <p:attrNameLst>
                                          <p:attrName>style.visibility</p:attrName>
                                        </p:attrNameLst>
                                      </p:cBhvr>
                                      <p:to>
                                        <p:strVal val="visible"/>
                                      </p:to>
                                    </p:set>
                                    <p:anim calcmode="lin" valueType="num">
                                      <p:cBhvr>
                                        <p:cTn id="19" dur="500" fill="hold"/>
                                        <p:tgtEl>
                                          <p:spTgt spid="447562"/>
                                        </p:tgtEl>
                                        <p:attrNameLst>
                                          <p:attrName>ppt_x</p:attrName>
                                        </p:attrNameLst>
                                      </p:cBhvr>
                                      <p:tavLst>
                                        <p:tav tm="0">
                                          <p:val>
                                            <p:strVal val="#ppt_x-#ppt_w/2"/>
                                          </p:val>
                                        </p:tav>
                                        <p:tav tm="100000">
                                          <p:val>
                                            <p:strVal val="#ppt_x"/>
                                          </p:val>
                                        </p:tav>
                                      </p:tavLst>
                                    </p:anim>
                                    <p:anim calcmode="lin" valueType="num">
                                      <p:cBhvr>
                                        <p:cTn id="20" dur="500" fill="hold"/>
                                        <p:tgtEl>
                                          <p:spTgt spid="447562"/>
                                        </p:tgtEl>
                                        <p:attrNameLst>
                                          <p:attrName>ppt_y</p:attrName>
                                        </p:attrNameLst>
                                      </p:cBhvr>
                                      <p:tavLst>
                                        <p:tav tm="0">
                                          <p:val>
                                            <p:strVal val="#ppt_y"/>
                                          </p:val>
                                        </p:tav>
                                        <p:tav tm="100000">
                                          <p:val>
                                            <p:strVal val="#ppt_y"/>
                                          </p:val>
                                        </p:tav>
                                      </p:tavLst>
                                    </p:anim>
                                    <p:anim calcmode="lin" valueType="num">
                                      <p:cBhvr>
                                        <p:cTn id="21" dur="500" fill="hold"/>
                                        <p:tgtEl>
                                          <p:spTgt spid="447562"/>
                                        </p:tgtEl>
                                        <p:attrNameLst>
                                          <p:attrName>ppt_w</p:attrName>
                                        </p:attrNameLst>
                                      </p:cBhvr>
                                      <p:tavLst>
                                        <p:tav tm="0">
                                          <p:val>
                                            <p:fltVal val="0"/>
                                          </p:val>
                                        </p:tav>
                                        <p:tav tm="100000">
                                          <p:val>
                                            <p:strVal val="#ppt_w"/>
                                          </p:val>
                                        </p:tav>
                                      </p:tavLst>
                                    </p:anim>
                                    <p:anim calcmode="lin" valueType="num">
                                      <p:cBhvr>
                                        <p:cTn id="22" dur="500" fill="hold"/>
                                        <p:tgtEl>
                                          <p:spTgt spid="447562"/>
                                        </p:tgtEl>
                                        <p:attrNameLst>
                                          <p:attrName>ppt_h</p:attrName>
                                        </p:attrNameLst>
                                      </p:cBhvr>
                                      <p:tavLst>
                                        <p:tav tm="0">
                                          <p:val>
                                            <p:strVal val="#ppt_h"/>
                                          </p:val>
                                        </p:tav>
                                        <p:tav tm="100000">
                                          <p:val>
                                            <p:strVal val="#ppt_h"/>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17" presetClass="entr" presetSubtype="1" fill="hold" nodeType="clickEffect">
                                  <p:stCondLst>
                                    <p:cond delay="0"/>
                                  </p:stCondLst>
                                  <p:childTnLst>
                                    <p:set>
                                      <p:cBhvr>
                                        <p:cTn id="26" dur="1" fill="hold">
                                          <p:stCondLst>
                                            <p:cond delay="0"/>
                                          </p:stCondLst>
                                        </p:cTn>
                                        <p:tgtEl>
                                          <p:spTgt spid="447519"/>
                                        </p:tgtEl>
                                        <p:attrNameLst>
                                          <p:attrName>style.visibility</p:attrName>
                                        </p:attrNameLst>
                                      </p:cBhvr>
                                      <p:to>
                                        <p:strVal val="visible"/>
                                      </p:to>
                                    </p:set>
                                    <p:anim calcmode="lin" valueType="num">
                                      <p:cBhvr>
                                        <p:cTn id="27" dur="500" fill="hold"/>
                                        <p:tgtEl>
                                          <p:spTgt spid="447519"/>
                                        </p:tgtEl>
                                        <p:attrNameLst>
                                          <p:attrName>ppt_x</p:attrName>
                                        </p:attrNameLst>
                                      </p:cBhvr>
                                      <p:tavLst>
                                        <p:tav tm="0">
                                          <p:val>
                                            <p:strVal val="#ppt_x"/>
                                          </p:val>
                                        </p:tav>
                                        <p:tav tm="100000">
                                          <p:val>
                                            <p:strVal val="#ppt_x"/>
                                          </p:val>
                                        </p:tav>
                                      </p:tavLst>
                                    </p:anim>
                                    <p:anim calcmode="lin" valueType="num">
                                      <p:cBhvr>
                                        <p:cTn id="28" dur="500" fill="hold"/>
                                        <p:tgtEl>
                                          <p:spTgt spid="447519"/>
                                        </p:tgtEl>
                                        <p:attrNameLst>
                                          <p:attrName>ppt_y</p:attrName>
                                        </p:attrNameLst>
                                      </p:cBhvr>
                                      <p:tavLst>
                                        <p:tav tm="0">
                                          <p:val>
                                            <p:strVal val="#ppt_y-#ppt_h/2"/>
                                          </p:val>
                                        </p:tav>
                                        <p:tav tm="100000">
                                          <p:val>
                                            <p:strVal val="#ppt_y"/>
                                          </p:val>
                                        </p:tav>
                                      </p:tavLst>
                                    </p:anim>
                                    <p:anim calcmode="lin" valueType="num">
                                      <p:cBhvr>
                                        <p:cTn id="29" dur="500" fill="hold"/>
                                        <p:tgtEl>
                                          <p:spTgt spid="447519"/>
                                        </p:tgtEl>
                                        <p:attrNameLst>
                                          <p:attrName>ppt_w</p:attrName>
                                        </p:attrNameLst>
                                      </p:cBhvr>
                                      <p:tavLst>
                                        <p:tav tm="0">
                                          <p:val>
                                            <p:strVal val="#ppt_w"/>
                                          </p:val>
                                        </p:tav>
                                        <p:tav tm="100000">
                                          <p:val>
                                            <p:strVal val="#ppt_w"/>
                                          </p:val>
                                        </p:tav>
                                      </p:tavLst>
                                    </p:anim>
                                    <p:anim calcmode="lin" valueType="num">
                                      <p:cBhvr>
                                        <p:cTn id="30" dur="500" fill="hold"/>
                                        <p:tgtEl>
                                          <p:spTgt spid="447519"/>
                                        </p:tgtEl>
                                        <p:attrNameLst>
                                          <p:attrName>ppt_h</p:attrName>
                                        </p:attrNameLst>
                                      </p:cBhvr>
                                      <p:tavLst>
                                        <p:tav tm="0">
                                          <p:val>
                                            <p:fltVal val="0"/>
                                          </p:val>
                                        </p:tav>
                                        <p:tav tm="100000">
                                          <p:val>
                                            <p:strVal val="#ppt_h"/>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17" presetClass="entr" presetSubtype="2" fill="hold" nodeType="clickEffect">
                                  <p:stCondLst>
                                    <p:cond delay="0"/>
                                  </p:stCondLst>
                                  <p:childTnLst>
                                    <p:set>
                                      <p:cBhvr>
                                        <p:cTn id="34" dur="1" fill="hold">
                                          <p:stCondLst>
                                            <p:cond delay="0"/>
                                          </p:stCondLst>
                                        </p:cTn>
                                        <p:tgtEl>
                                          <p:spTgt spid="447514"/>
                                        </p:tgtEl>
                                        <p:attrNameLst>
                                          <p:attrName>style.visibility</p:attrName>
                                        </p:attrNameLst>
                                      </p:cBhvr>
                                      <p:to>
                                        <p:strVal val="visible"/>
                                      </p:to>
                                    </p:set>
                                    <p:anim calcmode="lin" valueType="num">
                                      <p:cBhvr>
                                        <p:cTn id="35" dur="500" fill="hold"/>
                                        <p:tgtEl>
                                          <p:spTgt spid="447514"/>
                                        </p:tgtEl>
                                        <p:attrNameLst>
                                          <p:attrName>ppt_x</p:attrName>
                                        </p:attrNameLst>
                                      </p:cBhvr>
                                      <p:tavLst>
                                        <p:tav tm="0">
                                          <p:val>
                                            <p:strVal val="#ppt_x+#ppt_w/2"/>
                                          </p:val>
                                        </p:tav>
                                        <p:tav tm="100000">
                                          <p:val>
                                            <p:strVal val="#ppt_x"/>
                                          </p:val>
                                        </p:tav>
                                      </p:tavLst>
                                    </p:anim>
                                    <p:anim calcmode="lin" valueType="num">
                                      <p:cBhvr>
                                        <p:cTn id="36" dur="500" fill="hold"/>
                                        <p:tgtEl>
                                          <p:spTgt spid="447514"/>
                                        </p:tgtEl>
                                        <p:attrNameLst>
                                          <p:attrName>ppt_y</p:attrName>
                                        </p:attrNameLst>
                                      </p:cBhvr>
                                      <p:tavLst>
                                        <p:tav tm="0">
                                          <p:val>
                                            <p:strVal val="#ppt_y"/>
                                          </p:val>
                                        </p:tav>
                                        <p:tav tm="100000">
                                          <p:val>
                                            <p:strVal val="#ppt_y"/>
                                          </p:val>
                                        </p:tav>
                                      </p:tavLst>
                                    </p:anim>
                                    <p:anim calcmode="lin" valueType="num">
                                      <p:cBhvr>
                                        <p:cTn id="37" dur="500" fill="hold"/>
                                        <p:tgtEl>
                                          <p:spTgt spid="447514"/>
                                        </p:tgtEl>
                                        <p:attrNameLst>
                                          <p:attrName>ppt_w</p:attrName>
                                        </p:attrNameLst>
                                      </p:cBhvr>
                                      <p:tavLst>
                                        <p:tav tm="0">
                                          <p:val>
                                            <p:fltVal val="0"/>
                                          </p:val>
                                        </p:tav>
                                        <p:tav tm="100000">
                                          <p:val>
                                            <p:strVal val="#ppt_w"/>
                                          </p:val>
                                        </p:tav>
                                      </p:tavLst>
                                    </p:anim>
                                    <p:anim calcmode="lin" valueType="num">
                                      <p:cBhvr>
                                        <p:cTn id="38" dur="500" fill="hold"/>
                                        <p:tgtEl>
                                          <p:spTgt spid="447514"/>
                                        </p:tgtEl>
                                        <p:attrNameLst>
                                          <p:attrName>ppt_h</p:attrName>
                                        </p:attrNameLst>
                                      </p:cBhvr>
                                      <p:tavLst>
                                        <p:tav tm="0">
                                          <p:val>
                                            <p:strVal val="#ppt_h"/>
                                          </p:val>
                                        </p:tav>
                                        <p:tav tm="100000">
                                          <p:val>
                                            <p:strVal val="#ppt_h"/>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17" presetClass="entr" presetSubtype="2" fill="hold" nodeType="clickEffect">
                                  <p:stCondLst>
                                    <p:cond delay="0"/>
                                  </p:stCondLst>
                                  <p:childTnLst>
                                    <p:set>
                                      <p:cBhvr>
                                        <p:cTn id="42" dur="1" fill="hold">
                                          <p:stCondLst>
                                            <p:cond delay="0"/>
                                          </p:stCondLst>
                                        </p:cTn>
                                        <p:tgtEl>
                                          <p:spTgt spid="447598"/>
                                        </p:tgtEl>
                                        <p:attrNameLst>
                                          <p:attrName>style.visibility</p:attrName>
                                        </p:attrNameLst>
                                      </p:cBhvr>
                                      <p:to>
                                        <p:strVal val="visible"/>
                                      </p:to>
                                    </p:set>
                                    <p:anim calcmode="lin" valueType="num">
                                      <p:cBhvr>
                                        <p:cTn id="43" dur="500" fill="hold"/>
                                        <p:tgtEl>
                                          <p:spTgt spid="447598"/>
                                        </p:tgtEl>
                                        <p:attrNameLst>
                                          <p:attrName>ppt_x</p:attrName>
                                        </p:attrNameLst>
                                      </p:cBhvr>
                                      <p:tavLst>
                                        <p:tav tm="0">
                                          <p:val>
                                            <p:strVal val="#ppt_x+#ppt_w/2"/>
                                          </p:val>
                                        </p:tav>
                                        <p:tav tm="100000">
                                          <p:val>
                                            <p:strVal val="#ppt_x"/>
                                          </p:val>
                                        </p:tav>
                                      </p:tavLst>
                                    </p:anim>
                                    <p:anim calcmode="lin" valueType="num">
                                      <p:cBhvr>
                                        <p:cTn id="44" dur="500" fill="hold"/>
                                        <p:tgtEl>
                                          <p:spTgt spid="447598"/>
                                        </p:tgtEl>
                                        <p:attrNameLst>
                                          <p:attrName>ppt_y</p:attrName>
                                        </p:attrNameLst>
                                      </p:cBhvr>
                                      <p:tavLst>
                                        <p:tav tm="0">
                                          <p:val>
                                            <p:strVal val="#ppt_y"/>
                                          </p:val>
                                        </p:tav>
                                        <p:tav tm="100000">
                                          <p:val>
                                            <p:strVal val="#ppt_y"/>
                                          </p:val>
                                        </p:tav>
                                      </p:tavLst>
                                    </p:anim>
                                    <p:anim calcmode="lin" valueType="num">
                                      <p:cBhvr>
                                        <p:cTn id="45" dur="500" fill="hold"/>
                                        <p:tgtEl>
                                          <p:spTgt spid="447598"/>
                                        </p:tgtEl>
                                        <p:attrNameLst>
                                          <p:attrName>ppt_w</p:attrName>
                                        </p:attrNameLst>
                                      </p:cBhvr>
                                      <p:tavLst>
                                        <p:tav tm="0">
                                          <p:val>
                                            <p:fltVal val="0"/>
                                          </p:val>
                                        </p:tav>
                                        <p:tav tm="100000">
                                          <p:val>
                                            <p:strVal val="#ppt_w"/>
                                          </p:val>
                                        </p:tav>
                                      </p:tavLst>
                                    </p:anim>
                                    <p:anim calcmode="lin" valueType="num">
                                      <p:cBhvr>
                                        <p:cTn id="46" dur="500" fill="hold"/>
                                        <p:tgtEl>
                                          <p:spTgt spid="447598"/>
                                        </p:tgtEl>
                                        <p:attrNameLst>
                                          <p:attrName>ppt_h</p:attrName>
                                        </p:attrNameLst>
                                      </p:cBhvr>
                                      <p:tavLst>
                                        <p:tav tm="0">
                                          <p:val>
                                            <p:strVal val="#ppt_h"/>
                                          </p:val>
                                        </p:tav>
                                        <p:tav tm="100000">
                                          <p:val>
                                            <p:strVal val="#ppt_h"/>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12" presetClass="entr" presetSubtype="8" fill="hold" nodeType="clickEffect">
                                  <p:stCondLst>
                                    <p:cond delay="0"/>
                                  </p:stCondLst>
                                  <p:childTnLst>
                                    <p:set>
                                      <p:cBhvr>
                                        <p:cTn id="50" dur="1" fill="hold">
                                          <p:stCondLst>
                                            <p:cond delay="0"/>
                                          </p:stCondLst>
                                        </p:cTn>
                                        <p:tgtEl>
                                          <p:spTgt spid="447608"/>
                                        </p:tgtEl>
                                        <p:attrNameLst>
                                          <p:attrName>style.visibility</p:attrName>
                                        </p:attrNameLst>
                                      </p:cBhvr>
                                      <p:to>
                                        <p:strVal val="visible"/>
                                      </p:to>
                                    </p:set>
                                    <p:anim calcmode="lin" valueType="num">
                                      <p:cBhvr additive="base">
                                        <p:cTn id="51" dur="500"/>
                                        <p:tgtEl>
                                          <p:spTgt spid="447608"/>
                                        </p:tgtEl>
                                        <p:attrNameLst>
                                          <p:attrName>ppt_x</p:attrName>
                                        </p:attrNameLst>
                                      </p:cBhvr>
                                      <p:tavLst>
                                        <p:tav tm="0">
                                          <p:val>
                                            <p:strVal val="#ppt_x-#ppt_w*1.125000"/>
                                          </p:val>
                                        </p:tav>
                                        <p:tav tm="100000">
                                          <p:val>
                                            <p:strVal val="#ppt_x"/>
                                          </p:val>
                                        </p:tav>
                                      </p:tavLst>
                                    </p:anim>
                                    <p:animEffect transition="in" filter="wipe(right)">
                                      <p:cBhvr>
                                        <p:cTn id="52" dur="500"/>
                                        <p:tgtEl>
                                          <p:spTgt spid="447608"/>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447720"/>
                                        </p:tgtEl>
                                        <p:attrNameLst>
                                          <p:attrName>style.visibility</p:attrName>
                                        </p:attrNameLst>
                                      </p:cBhvr>
                                      <p:to>
                                        <p:strVal val="visible"/>
                                      </p:to>
                                    </p:set>
                                    <p:animEffect transition="in" filter="wipe(left)">
                                      <p:cBhvr>
                                        <p:cTn id="57" dur="500"/>
                                        <p:tgtEl>
                                          <p:spTgt spid="447720"/>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2" presetClass="entr" presetSubtype="1" fill="hold" nodeType="clickEffect">
                                  <p:stCondLst>
                                    <p:cond delay="0"/>
                                  </p:stCondLst>
                                  <p:childTnLst>
                                    <p:set>
                                      <p:cBhvr>
                                        <p:cTn id="61" dur="1" fill="hold">
                                          <p:stCondLst>
                                            <p:cond delay="0"/>
                                          </p:stCondLst>
                                        </p:cTn>
                                        <p:tgtEl>
                                          <p:spTgt spid="447538"/>
                                        </p:tgtEl>
                                        <p:attrNameLst>
                                          <p:attrName>style.visibility</p:attrName>
                                        </p:attrNameLst>
                                      </p:cBhvr>
                                      <p:to>
                                        <p:strVal val="visible"/>
                                      </p:to>
                                    </p:set>
                                    <p:anim calcmode="lin" valueType="num">
                                      <p:cBhvr additive="base">
                                        <p:cTn id="62" dur="500"/>
                                        <p:tgtEl>
                                          <p:spTgt spid="447538"/>
                                        </p:tgtEl>
                                        <p:attrNameLst>
                                          <p:attrName>ppt_y</p:attrName>
                                        </p:attrNameLst>
                                      </p:cBhvr>
                                      <p:tavLst>
                                        <p:tav tm="0">
                                          <p:val>
                                            <p:strVal val="#ppt_y-#ppt_h*1.125000"/>
                                          </p:val>
                                        </p:tav>
                                        <p:tav tm="100000">
                                          <p:val>
                                            <p:strVal val="#ppt_y"/>
                                          </p:val>
                                        </p:tav>
                                      </p:tavLst>
                                    </p:anim>
                                    <p:animEffect transition="in" filter="wipe(down)">
                                      <p:cBhvr>
                                        <p:cTn id="63" dur="500"/>
                                        <p:tgtEl>
                                          <p:spTgt spid="447538"/>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12" presetClass="entr" presetSubtype="2" fill="hold" nodeType="clickEffect">
                                  <p:stCondLst>
                                    <p:cond delay="0"/>
                                  </p:stCondLst>
                                  <p:childTnLst>
                                    <p:set>
                                      <p:cBhvr>
                                        <p:cTn id="67" dur="1" fill="hold">
                                          <p:stCondLst>
                                            <p:cond delay="0"/>
                                          </p:stCondLst>
                                        </p:cTn>
                                        <p:tgtEl>
                                          <p:spTgt spid="447554"/>
                                        </p:tgtEl>
                                        <p:attrNameLst>
                                          <p:attrName>style.visibility</p:attrName>
                                        </p:attrNameLst>
                                      </p:cBhvr>
                                      <p:to>
                                        <p:strVal val="visible"/>
                                      </p:to>
                                    </p:set>
                                    <p:anim calcmode="lin" valueType="num">
                                      <p:cBhvr additive="base">
                                        <p:cTn id="68" dur="500"/>
                                        <p:tgtEl>
                                          <p:spTgt spid="447554"/>
                                        </p:tgtEl>
                                        <p:attrNameLst>
                                          <p:attrName>ppt_x</p:attrName>
                                        </p:attrNameLst>
                                      </p:cBhvr>
                                      <p:tavLst>
                                        <p:tav tm="0">
                                          <p:val>
                                            <p:strVal val="#ppt_x+#ppt_w*1.125000"/>
                                          </p:val>
                                        </p:tav>
                                        <p:tav tm="100000">
                                          <p:val>
                                            <p:strVal val="#ppt_x"/>
                                          </p:val>
                                        </p:tav>
                                      </p:tavLst>
                                    </p:anim>
                                    <p:animEffect transition="in" filter="wipe(left)">
                                      <p:cBhvr>
                                        <p:cTn id="69" dur="500"/>
                                        <p:tgtEl>
                                          <p:spTgt spid="447554"/>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17" presetClass="entr" presetSubtype="8" fill="hold" nodeType="clickEffect">
                                  <p:stCondLst>
                                    <p:cond delay="0"/>
                                  </p:stCondLst>
                                  <p:childTnLst>
                                    <p:set>
                                      <p:cBhvr>
                                        <p:cTn id="73" dur="1" fill="hold">
                                          <p:stCondLst>
                                            <p:cond delay="0"/>
                                          </p:stCondLst>
                                        </p:cTn>
                                        <p:tgtEl>
                                          <p:spTgt spid="447546"/>
                                        </p:tgtEl>
                                        <p:attrNameLst>
                                          <p:attrName>style.visibility</p:attrName>
                                        </p:attrNameLst>
                                      </p:cBhvr>
                                      <p:to>
                                        <p:strVal val="visible"/>
                                      </p:to>
                                    </p:set>
                                    <p:anim calcmode="lin" valueType="num">
                                      <p:cBhvr>
                                        <p:cTn id="74" dur="500" fill="hold"/>
                                        <p:tgtEl>
                                          <p:spTgt spid="447546"/>
                                        </p:tgtEl>
                                        <p:attrNameLst>
                                          <p:attrName>ppt_x</p:attrName>
                                        </p:attrNameLst>
                                      </p:cBhvr>
                                      <p:tavLst>
                                        <p:tav tm="0">
                                          <p:val>
                                            <p:strVal val="#ppt_x-#ppt_w/2"/>
                                          </p:val>
                                        </p:tav>
                                        <p:tav tm="100000">
                                          <p:val>
                                            <p:strVal val="#ppt_x"/>
                                          </p:val>
                                        </p:tav>
                                      </p:tavLst>
                                    </p:anim>
                                    <p:anim calcmode="lin" valueType="num">
                                      <p:cBhvr>
                                        <p:cTn id="75" dur="500" fill="hold"/>
                                        <p:tgtEl>
                                          <p:spTgt spid="447546"/>
                                        </p:tgtEl>
                                        <p:attrNameLst>
                                          <p:attrName>ppt_y</p:attrName>
                                        </p:attrNameLst>
                                      </p:cBhvr>
                                      <p:tavLst>
                                        <p:tav tm="0">
                                          <p:val>
                                            <p:strVal val="#ppt_y"/>
                                          </p:val>
                                        </p:tav>
                                        <p:tav tm="100000">
                                          <p:val>
                                            <p:strVal val="#ppt_y"/>
                                          </p:val>
                                        </p:tav>
                                      </p:tavLst>
                                    </p:anim>
                                    <p:anim calcmode="lin" valueType="num">
                                      <p:cBhvr>
                                        <p:cTn id="76" dur="500" fill="hold"/>
                                        <p:tgtEl>
                                          <p:spTgt spid="447546"/>
                                        </p:tgtEl>
                                        <p:attrNameLst>
                                          <p:attrName>ppt_w</p:attrName>
                                        </p:attrNameLst>
                                      </p:cBhvr>
                                      <p:tavLst>
                                        <p:tav tm="0">
                                          <p:val>
                                            <p:fltVal val="0"/>
                                          </p:val>
                                        </p:tav>
                                        <p:tav tm="100000">
                                          <p:val>
                                            <p:strVal val="#ppt_w"/>
                                          </p:val>
                                        </p:tav>
                                      </p:tavLst>
                                    </p:anim>
                                    <p:anim calcmode="lin" valueType="num">
                                      <p:cBhvr>
                                        <p:cTn id="77" dur="500" fill="hold"/>
                                        <p:tgtEl>
                                          <p:spTgt spid="447546"/>
                                        </p:tgtEl>
                                        <p:attrNameLst>
                                          <p:attrName>ppt_h</p:attrName>
                                        </p:attrNameLst>
                                      </p:cBhvr>
                                      <p:tavLst>
                                        <p:tav tm="0">
                                          <p:val>
                                            <p:strVal val="#ppt_h"/>
                                          </p:val>
                                        </p:tav>
                                        <p:tav tm="100000">
                                          <p:val>
                                            <p:strVal val="#ppt_h"/>
                                          </p:val>
                                        </p:tav>
                                      </p:tavLst>
                                    </p:anim>
                                  </p:childTnLst>
                                </p:cTn>
                              </p:par>
                            </p:childTnLst>
                          </p:cTn>
                        </p:par>
                      </p:childTnLst>
                    </p:cTn>
                  </p:par>
                  <p:par>
                    <p:cTn id="78" fill="hold" nodeType="clickPar">
                      <p:stCondLst>
                        <p:cond delay="indefinite"/>
                      </p:stCondLst>
                      <p:childTnLst>
                        <p:par>
                          <p:cTn id="79" fill="hold" nodeType="withGroup">
                            <p:stCondLst>
                              <p:cond delay="0"/>
                            </p:stCondLst>
                            <p:childTnLst>
                              <p:par>
                                <p:cTn id="80" presetID="17" presetClass="entr" presetSubtype="8" fill="hold" nodeType="clickEffect">
                                  <p:stCondLst>
                                    <p:cond delay="0"/>
                                  </p:stCondLst>
                                  <p:childTnLst>
                                    <p:set>
                                      <p:cBhvr>
                                        <p:cTn id="81" dur="1" fill="hold">
                                          <p:stCondLst>
                                            <p:cond delay="0"/>
                                          </p:stCondLst>
                                        </p:cTn>
                                        <p:tgtEl>
                                          <p:spTgt spid="447601"/>
                                        </p:tgtEl>
                                        <p:attrNameLst>
                                          <p:attrName>style.visibility</p:attrName>
                                        </p:attrNameLst>
                                      </p:cBhvr>
                                      <p:to>
                                        <p:strVal val="visible"/>
                                      </p:to>
                                    </p:set>
                                    <p:anim calcmode="lin" valueType="num">
                                      <p:cBhvr>
                                        <p:cTn id="82" dur="500" fill="hold"/>
                                        <p:tgtEl>
                                          <p:spTgt spid="447601"/>
                                        </p:tgtEl>
                                        <p:attrNameLst>
                                          <p:attrName>ppt_x</p:attrName>
                                        </p:attrNameLst>
                                      </p:cBhvr>
                                      <p:tavLst>
                                        <p:tav tm="0">
                                          <p:val>
                                            <p:strVal val="#ppt_x-#ppt_w/2"/>
                                          </p:val>
                                        </p:tav>
                                        <p:tav tm="100000">
                                          <p:val>
                                            <p:strVal val="#ppt_x"/>
                                          </p:val>
                                        </p:tav>
                                      </p:tavLst>
                                    </p:anim>
                                    <p:anim calcmode="lin" valueType="num">
                                      <p:cBhvr>
                                        <p:cTn id="83" dur="500" fill="hold"/>
                                        <p:tgtEl>
                                          <p:spTgt spid="447601"/>
                                        </p:tgtEl>
                                        <p:attrNameLst>
                                          <p:attrName>ppt_y</p:attrName>
                                        </p:attrNameLst>
                                      </p:cBhvr>
                                      <p:tavLst>
                                        <p:tav tm="0">
                                          <p:val>
                                            <p:strVal val="#ppt_y"/>
                                          </p:val>
                                        </p:tav>
                                        <p:tav tm="100000">
                                          <p:val>
                                            <p:strVal val="#ppt_y"/>
                                          </p:val>
                                        </p:tav>
                                      </p:tavLst>
                                    </p:anim>
                                    <p:anim calcmode="lin" valueType="num">
                                      <p:cBhvr>
                                        <p:cTn id="84" dur="500" fill="hold"/>
                                        <p:tgtEl>
                                          <p:spTgt spid="447601"/>
                                        </p:tgtEl>
                                        <p:attrNameLst>
                                          <p:attrName>ppt_w</p:attrName>
                                        </p:attrNameLst>
                                      </p:cBhvr>
                                      <p:tavLst>
                                        <p:tav tm="0">
                                          <p:val>
                                            <p:fltVal val="0"/>
                                          </p:val>
                                        </p:tav>
                                        <p:tav tm="100000">
                                          <p:val>
                                            <p:strVal val="#ppt_w"/>
                                          </p:val>
                                        </p:tav>
                                      </p:tavLst>
                                    </p:anim>
                                    <p:anim calcmode="lin" valueType="num">
                                      <p:cBhvr>
                                        <p:cTn id="85" dur="500" fill="hold"/>
                                        <p:tgtEl>
                                          <p:spTgt spid="44760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Slide Number Placeholder 4"/>
          <p:cNvSpPr>
            <a:spLocks noGrp="1"/>
          </p:cNvSpPr>
          <p:nvPr>
            <p:ph type="sldNum" sz="quarter" idx="12"/>
          </p:nvPr>
        </p:nvSpPr>
        <p:spPr/>
        <p:txBody>
          <a:bodyPr/>
          <a:lstStyle/>
          <a:p>
            <a:pPr>
              <a:defRPr/>
            </a:pPr>
            <a:r>
              <a:rPr lang="en-US" dirty="0"/>
              <a:t> </a:t>
            </a:r>
            <a:endParaRPr lang="en-US" sz="1800" dirty="0">
              <a:solidFill>
                <a:schemeClr val="tx1"/>
              </a:solidFill>
            </a:endParaRPr>
          </a:p>
        </p:txBody>
      </p:sp>
      <p:sp>
        <p:nvSpPr>
          <p:cNvPr id="29698" name="Rectangle 2"/>
          <p:cNvSpPr>
            <a:spLocks noGrp="1" noChangeArrowheads="1"/>
          </p:cNvSpPr>
          <p:nvPr>
            <p:ph type="title"/>
          </p:nvPr>
        </p:nvSpPr>
        <p:spPr>
          <a:xfrm>
            <a:off x="539750" y="0"/>
            <a:ext cx="8229600" cy="1143000"/>
          </a:xfrm>
        </p:spPr>
        <p:txBody>
          <a:bodyPr/>
          <a:lstStyle/>
          <a:p>
            <a:pPr eaLnBrk="1" hangingPunct="1"/>
            <a:r>
              <a:rPr lang="en-US" sz="3200" b="1" smtClean="0"/>
              <a:t>ORIGIN OF MILK COMPONENTS </a:t>
            </a:r>
          </a:p>
        </p:txBody>
      </p:sp>
      <p:grpSp>
        <p:nvGrpSpPr>
          <p:cNvPr id="29699" name="Group 3"/>
          <p:cNvGrpSpPr>
            <a:grpSpLocks/>
          </p:cNvGrpSpPr>
          <p:nvPr/>
        </p:nvGrpSpPr>
        <p:grpSpPr bwMode="auto">
          <a:xfrm>
            <a:off x="166688" y="1287463"/>
            <a:ext cx="8110537" cy="788987"/>
            <a:chOff x="118" y="609"/>
            <a:chExt cx="5748" cy="497"/>
          </a:xfrm>
        </p:grpSpPr>
        <p:sp>
          <p:nvSpPr>
            <p:cNvPr id="29735" name="Text Box 4"/>
            <p:cNvSpPr txBox="1">
              <a:spLocks noChangeArrowheads="1"/>
            </p:cNvSpPr>
            <p:nvPr/>
          </p:nvSpPr>
          <p:spPr bwMode="auto">
            <a:xfrm>
              <a:off x="2774" y="801"/>
              <a:ext cx="131" cy="233"/>
            </a:xfrm>
            <a:prstGeom prst="rect">
              <a:avLst/>
            </a:prstGeom>
            <a:noFill/>
            <a:ln w="9525">
              <a:noFill/>
              <a:miter lim="800000"/>
              <a:headEnd/>
              <a:tailEnd/>
            </a:ln>
          </p:spPr>
          <p:txBody>
            <a:bodyPr wrap="none">
              <a:spAutoFit/>
            </a:bodyPr>
            <a:lstStyle/>
            <a:p>
              <a:endParaRPr lang="en-GB" b="1"/>
            </a:p>
          </p:txBody>
        </p:sp>
        <p:sp>
          <p:nvSpPr>
            <p:cNvPr id="29736" name="Text Box 5"/>
            <p:cNvSpPr txBox="1">
              <a:spLocks noChangeArrowheads="1"/>
            </p:cNvSpPr>
            <p:nvPr/>
          </p:nvSpPr>
          <p:spPr bwMode="auto">
            <a:xfrm>
              <a:off x="2398" y="873"/>
              <a:ext cx="467" cy="233"/>
            </a:xfrm>
            <a:prstGeom prst="rect">
              <a:avLst/>
            </a:prstGeom>
            <a:noFill/>
            <a:ln w="9525">
              <a:noFill/>
              <a:miter lim="800000"/>
              <a:headEnd/>
              <a:tailEnd/>
            </a:ln>
          </p:spPr>
          <p:txBody>
            <a:bodyPr wrap="none">
              <a:spAutoFit/>
            </a:bodyPr>
            <a:lstStyle/>
            <a:p>
              <a:r>
                <a:rPr lang="en-US" b="1"/>
                <a:t>NDF</a:t>
              </a:r>
            </a:p>
          </p:txBody>
        </p:sp>
        <p:sp>
          <p:nvSpPr>
            <p:cNvPr id="29737" name="Text Box 6"/>
            <p:cNvSpPr txBox="1">
              <a:spLocks noChangeArrowheads="1"/>
            </p:cNvSpPr>
            <p:nvPr/>
          </p:nvSpPr>
          <p:spPr bwMode="auto">
            <a:xfrm>
              <a:off x="3310" y="873"/>
              <a:ext cx="467" cy="233"/>
            </a:xfrm>
            <a:prstGeom prst="rect">
              <a:avLst/>
            </a:prstGeom>
            <a:noFill/>
            <a:ln w="9525">
              <a:noFill/>
              <a:miter lim="800000"/>
              <a:headEnd/>
              <a:tailEnd/>
            </a:ln>
          </p:spPr>
          <p:txBody>
            <a:bodyPr wrap="none">
              <a:spAutoFit/>
            </a:bodyPr>
            <a:lstStyle/>
            <a:p>
              <a:r>
                <a:rPr lang="en-US" b="1"/>
                <a:t>NFC</a:t>
              </a:r>
            </a:p>
          </p:txBody>
        </p:sp>
        <p:sp>
          <p:nvSpPr>
            <p:cNvPr id="29738" name="Text Box 7"/>
            <p:cNvSpPr txBox="1">
              <a:spLocks noChangeArrowheads="1"/>
            </p:cNvSpPr>
            <p:nvPr/>
          </p:nvSpPr>
          <p:spPr bwMode="auto">
            <a:xfrm>
              <a:off x="2398" y="609"/>
              <a:ext cx="1285" cy="233"/>
            </a:xfrm>
            <a:prstGeom prst="rect">
              <a:avLst/>
            </a:prstGeom>
            <a:noFill/>
            <a:ln w="9525">
              <a:noFill/>
              <a:miter lim="800000"/>
              <a:headEnd/>
              <a:tailEnd/>
            </a:ln>
          </p:spPr>
          <p:txBody>
            <a:bodyPr wrap="none">
              <a:spAutoFit/>
            </a:bodyPr>
            <a:lstStyle/>
            <a:p>
              <a:r>
                <a:rPr lang="en-US" b="1"/>
                <a:t>Carbohydrates</a:t>
              </a:r>
            </a:p>
          </p:txBody>
        </p:sp>
        <p:sp>
          <p:nvSpPr>
            <p:cNvPr id="29739" name="Text Box 8"/>
            <p:cNvSpPr txBox="1">
              <a:spLocks noChangeArrowheads="1"/>
            </p:cNvSpPr>
            <p:nvPr/>
          </p:nvSpPr>
          <p:spPr bwMode="auto">
            <a:xfrm>
              <a:off x="4478" y="873"/>
              <a:ext cx="476" cy="233"/>
            </a:xfrm>
            <a:prstGeom prst="rect">
              <a:avLst/>
            </a:prstGeom>
            <a:noFill/>
            <a:ln w="9525">
              <a:noFill/>
              <a:miter lim="800000"/>
              <a:headEnd/>
              <a:tailEnd/>
            </a:ln>
          </p:spPr>
          <p:txBody>
            <a:bodyPr wrap="none">
              <a:spAutoFit/>
            </a:bodyPr>
            <a:lstStyle/>
            <a:p>
              <a:r>
                <a:rPr lang="en-US" b="1"/>
                <a:t>RDP</a:t>
              </a:r>
            </a:p>
          </p:txBody>
        </p:sp>
        <p:sp>
          <p:nvSpPr>
            <p:cNvPr id="29740" name="Text Box 9"/>
            <p:cNvSpPr txBox="1">
              <a:spLocks noChangeArrowheads="1"/>
            </p:cNvSpPr>
            <p:nvPr/>
          </p:nvSpPr>
          <p:spPr bwMode="auto">
            <a:xfrm>
              <a:off x="5390" y="873"/>
              <a:ext cx="476" cy="233"/>
            </a:xfrm>
            <a:prstGeom prst="rect">
              <a:avLst/>
            </a:prstGeom>
            <a:noFill/>
            <a:ln w="9525">
              <a:noFill/>
              <a:miter lim="800000"/>
              <a:headEnd/>
              <a:tailEnd/>
            </a:ln>
          </p:spPr>
          <p:txBody>
            <a:bodyPr wrap="none">
              <a:spAutoFit/>
            </a:bodyPr>
            <a:lstStyle/>
            <a:p>
              <a:r>
                <a:rPr lang="en-US" b="1"/>
                <a:t>RUP</a:t>
              </a:r>
            </a:p>
          </p:txBody>
        </p:sp>
        <p:sp>
          <p:nvSpPr>
            <p:cNvPr id="29741" name="Text Box 10"/>
            <p:cNvSpPr txBox="1">
              <a:spLocks noChangeArrowheads="1"/>
            </p:cNvSpPr>
            <p:nvPr/>
          </p:nvSpPr>
          <p:spPr bwMode="auto">
            <a:xfrm>
              <a:off x="4478" y="609"/>
              <a:ext cx="1212" cy="233"/>
            </a:xfrm>
            <a:prstGeom prst="rect">
              <a:avLst/>
            </a:prstGeom>
            <a:noFill/>
            <a:ln w="9525">
              <a:noFill/>
              <a:miter lim="800000"/>
              <a:headEnd/>
              <a:tailEnd/>
            </a:ln>
          </p:spPr>
          <p:txBody>
            <a:bodyPr wrap="none">
              <a:spAutoFit/>
            </a:bodyPr>
            <a:lstStyle/>
            <a:p>
              <a:r>
                <a:rPr lang="en-US" b="1"/>
                <a:t>Crude Protein</a:t>
              </a:r>
            </a:p>
          </p:txBody>
        </p:sp>
        <p:sp>
          <p:nvSpPr>
            <p:cNvPr id="29742" name="Text Box 11"/>
            <p:cNvSpPr txBox="1">
              <a:spLocks noChangeArrowheads="1"/>
            </p:cNvSpPr>
            <p:nvPr/>
          </p:nvSpPr>
          <p:spPr bwMode="auto">
            <a:xfrm>
              <a:off x="1446" y="609"/>
              <a:ext cx="613" cy="233"/>
            </a:xfrm>
            <a:prstGeom prst="rect">
              <a:avLst/>
            </a:prstGeom>
            <a:noFill/>
            <a:ln w="9525">
              <a:noFill/>
              <a:miter lim="800000"/>
              <a:headEnd/>
              <a:tailEnd/>
            </a:ln>
          </p:spPr>
          <p:txBody>
            <a:bodyPr wrap="none">
              <a:spAutoFit/>
            </a:bodyPr>
            <a:lstStyle/>
            <a:p>
              <a:r>
                <a:rPr lang="en-US" b="1"/>
                <a:t>Lipids</a:t>
              </a:r>
            </a:p>
          </p:txBody>
        </p:sp>
        <p:sp>
          <p:nvSpPr>
            <p:cNvPr id="29743" name="Rectangle 12"/>
            <p:cNvSpPr>
              <a:spLocks noChangeArrowheads="1"/>
            </p:cNvSpPr>
            <p:nvPr/>
          </p:nvSpPr>
          <p:spPr bwMode="auto">
            <a:xfrm>
              <a:off x="1336" y="788"/>
              <a:ext cx="131" cy="233"/>
            </a:xfrm>
            <a:prstGeom prst="rect">
              <a:avLst/>
            </a:prstGeom>
            <a:noFill/>
            <a:ln w="12700">
              <a:solidFill>
                <a:schemeClr val="tx1"/>
              </a:solidFill>
              <a:miter lim="800000"/>
              <a:headEnd/>
              <a:tailEnd/>
            </a:ln>
          </p:spPr>
          <p:txBody>
            <a:bodyPr wrap="none" anchor="ctr">
              <a:spAutoFit/>
            </a:bodyPr>
            <a:lstStyle/>
            <a:p>
              <a:endParaRPr lang="en-NZ">
                <a:latin typeface="Calibri" pitchFamily="34" charset="0"/>
              </a:endParaRPr>
            </a:p>
          </p:txBody>
        </p:sp>
        <p:sp>
          <p:nvSpPr>
            <p:cNvPr id="29744" name="Text Box 13"/>
            <p:cNvSpPr txBox="1">
              <a:spLocks noChangeArrowheads="1"/>
            </p:cNvSpPr>
            <p:nvPr/>
          </p:nvSpPr>
          <p:spPr bwMode="auto">
            <a:xfrm>
              <a:off x="118" y="713"/>
              <a:ext cx="985" cy="233"/>
            </a:xfrm>
            <a:prstGeom prst="rect">
              <a:avLst/>
            </a:prstGeom>
            <a:noFill/>
            <a:ln w="9525">
              <a:noFill/>
              <a:miter lim="800000"/>
              <a:headEnd/>
              <a:tailEnd/>
            </a:ln>
          </p:spPr>
          <p:txBody>
            <a:bodyPr wrap="none">
              <a:spAutoFit/>
            </a:bodyPr>
            <a:lstStyle/>
            <a:p>
              <a:r>
                <a:rPr lang="en-US" b="1"/>
                <a:t>FEED/DIET</a:t>
              </a:r>
            </a:p>
          </p:txBody>
        </p:sp>
      </p:grpSp>
      <p:sp>
        <p:nvSpPr>
          <p:cNvPr id="29700" name="Text Box 14"/>
          <p:cNvSpPr txBox="1">
            <a:spLocks noChangeArrowheads="1"/>
          </p:cNvSpPr>
          <p:nvPr/>
        </p:nvSpPr>
        <p:spPr bwMode="auto">
          <a:xfrm>
            <a:off x="166688" y="2862263"/>
            <a:ext cx="1984375" cy="646112"/>
          </a:xfrm>
          <a:prstGeom prst="rect">
            <a:avLst/>
          </a:prstGeom>
          <a:noFill/>
          <a:ln w="9525">
            <a:noFill/>
            <a:miter lim="800000"/>
            <a:headEnd/>
            <a:tailEnd/>
          </a:ln>
        </p:spPr>
        <p:txBody>
          <a:bodyPr wrap="none">
            <a:spAutoFit/>
          </a:bodyPr>
          <a:lstStyle/>
          <a:p>
            <a:r>
              <a:rPr lang="en-US" b="1"/>
              <a:t>RUMEN</a:t>
            </a:r>
          </a:p>
          <a:p>
            <a:r>
              <a:rPr lang="en-US" b="1"/>
              <a:t>FERMENTATION</a:t>
            </a:r>
          </a:p>
        </p:txBody>
      </p:sp>
      <p:grpSp>
        <p:nvGrpSpPr>
          <p:cNvPr id="543759" name="Group 15"/>
          <p:cNvGrpSpPr>
            <a:grpSpLocks/>
          </p:cNvGrpSpPr>
          <p:nvPr/>
        </p:nvGrpSpPr>
        <p:grpSpPr bwMode="auto">
          <a:xfrm>
            <a:off x="7605713" y="2162175"/>
            <a:ext cx="646112" cy="2543175"/>
            <a:chOff x="5390" y="1160"/>
            <a:chExt cx="458" cy="1602"/>
          </a:xfrm>
        </p:grpSpPr>
        <p:sp>
          <p:nvSpPr>
            <p:cNvPr id="29733" name="Line 16"/>
            <p:cNvSpPr>
              <a:spLocks noChangeShapeType="1"/>
            </p:cNvSpPr>
            <p:nvPr/>
          </p:nvSpPr>
          <p:spPr bwMode="auto">
            <a:xfrm>
              <a:off x="5680" y="1160"/>
              <a:ext cx="0" cy="1344"/>
            </a:xfrm>
            <a:prstGeom prst="line">
              <a:avLst/>
            </a:prstGeom>
            <a:noFill/>
            <a:ln w="38100">
              <a:solidFill>
                <a:schemeClr val="tx1"/>
              </a:solidFill>
              <a:round/>
              <a:headEnd/>
              <a:tailEnd type="triangle" w="med" len="med"/>
            </a:ln>
          </p:spPr>
          <p:txBody>
            <a:bodyPr anchor="ctr">
              <a:spAutoFit/>
            </a:bodyPr>
            <a:lstStyle/>
            <a:p>
              <a:endParaRPr lang="en-US"/>
            </a:p>
          </p:txBody>
        </p:sp>
        <p:sp>
          <p:nvSpPr>
            <p:cNvPr id="29734" name="Text Box 17"/>
            <p:cNvSpPr txBox="1">
              <a:spLocks noChangeArrowheads="1"/>
            </p:cNvSpPr>
            <p:nvPr/>
          </p:nvSpPr>
          <p:spPr bwMode="auto">
            <a:xfrm>
              <a:off x="5390" y="2529"/>
              <a:ext cx="458" cy="233"/>
            </a:xfrm>
            <a:prstGeom prst="rect">
              <a:avLst/>
            </a:prstGeom>
            <a:noFill/>
            <a:ln w="9525">
              <a:noFill/>
              <a:miter lim="800000"/>
              <a:headEnd/>
              <a:tailEnd/>
            </a:ln>
          </p:spPr>
          <p:txBody>
            <a:bodyPr wrap="none">
              <a:spAutoFit/>
            </a:bodyPr>
            <a:lstStyle/>
            <a:p>
              <a:r>
                <a:rPr lang="en-US" b="1"/>
                <a:t>40%</a:t>
              </a:r>
            </a:p>
          </p:txBody>
        </p:sp>
      </p:grpSp>
      <p:grpSp>
        <p:nvGrpSpPr>
          <p:cNvPr id="543762" name="Group 18"/>
          <p:cNvGrpSpPr>
            <a:grpSpLocks/>
          </p:cNvGrpSpPr>
          <p:nvPr/>
        </p:nvGrpSpPr>
        <p:grpSpPr bwMode="auto">
          <a:xfrm>
            <a:off x="6770688" y="3546475"/>
            <a:ext cx="1492250" cy="1577975"/>
            <a:chOff x="4798" y="2032"/>
            <a:chExt cx="1058" cy="994"/>
          </a:xfrm>
        </p:grpSpPr>
        <p:sp>
          <p:nvSpPr>
            <p:cNvPr id="29730" name="Text Box 19"/>
            <p:cNvSpPr txBox="1">
              <a:spLocks noChangeArrowheads="1"/>
            </p:cNvSpPr>
            <p:nvPr/>
          </p:nvSpPr>
          <p:spPr bwMode="auto">
            <a:xfrm>
              <a:off x="4798" y="2793"/>
              <a:ext cx="1058" cy="233"/>
            </a:xfrm>
            <a:prstGeom prst="rect">
              <a:avLst/>
            </a:prstGeom>
            <a:noFill/>
            <a:ln w="9525">
              <a:noFill/>
              <a:miter lim="800000"/>
              <a:headEnd/>
              <a:tailEnd/>
            </a:ln>
          </p:spPr>
          <p:txBody>
            <a:bodyPr wrap="none">
              <a:spAutoFit/>
            </a:bodyPr>
            <a:lstStyle/>
            <a:p>
              <a:r>
                <a:rPr lang="en-US" b="1"/>
                <a:t>Milk Protein</a:t>
              </a:r>
            </a:p>
          </p:txBody>
        </p:sp>
        <p:sp>
          <p:nvSpPr>
            <p:cNvPr id="29731" name="Text Box 20"/>
            <p:cNvSpPr txBox="1">
              <a:spLocks noChangeArrowheads="1"/>
            </p:cNvSpPr>
            <p:nvPr/>
          </p:nvSpPr>
          <p:spPr bwMode="auto">
            <a:xfrm>
              <a:off x="4814" y="2529"/>
              <a:ext cx="458" cy="233"/>
            </a:xfrm>
            <a:prstGeom prst="rect">
              <a:avLst/>
            </a:prstGeom>
            <a:noFill/>
            <a:ln w="9525">
              <a:noFill/>
              <a:miter lim="800000"/>
              <a:headEnd/>
              <a:tailEnd/>
            </a:ln>
          </p:spPr>
          <p:txBody>
            <a:bodyPr wrap="none">
              <a:spAutoFit/>
            </a:bodyPr>
            <a:lstStyle/>
            <a:p>
              <a:r>
                <a:rPr lang="en-US" b="1">
                  <a:solidFill>
                    <a:schemeClr val="accent1"/>
                  </a:solidFill>
                </a:rPr>
                <a:t>60%</a:t>
              </a:r>
              <a:endParaRPr lang="en-US" b="1"/>
            </a:p>
          </p:txBody>
        </p:sp>
        <p:sp>
          <p:nvSpPr>
            <p:cNvPr id="29732" name="Line 21"/>
            <p:cNvSpPr>
              <a:spLocks noChangeShapeType="1"/>
            </p:cNvSpPr>
            <p:nvPr/>
          </p:nvSpPr>
          <p:spPr bwMode="auto">
            <a:xfrm>
              <a:off x="5080" y="2032"/>
              <a:ext cx="0" cy="472"/>
            </a:xfrm>
            <a:prstGeom prst="line">
              <a:avLst/>
            </a:prstGeom>
            <a:noFill/>
            <a:ln w="38100">
              <a:solidFill>
                <a:schemeClr val="tx1"/>
              </a:solidFill>
              <a:round/>
              <a:headEnd/>
              <a:tailEnd type="triangle" w="med" len="med"/>
            </a:ln>
          </p:spPr>
          <p:txBody>
            <a:bodyPr anchor="ctr">
              <a:spAutoFit/>
            </a:bodyPr>
            <a:lstStyle/>
            <a:p>
              <a:endParaRPr lang="en-US"/>
            </a:p>
          </p:txBody>
        </p:sp>
      </p:grpSp>
      <p:grpSp>
        <p:nvGrpSpPr>
          <p:cNvPr id="543796" name="Group 52"/>
          <p:cNvGrpSpPr>
            <a:grpSpLocks/>
          </p:cNvGrpSpPr>
          <p:nvPr/>
        </p:nvGrpSpPr>
        <p:grpSpPr bwMode="auto">
          <a:xfrm>
            <a:off x="2100263" y="2162175"/>
            <a:ext cx="1112837" cy="4443413"/>
            <a:chOff x="-1488" y="1160"/>
            <a:chExt cx="789" cy="2799"/>
          </a:xfrm>
        </p:grpSpPr>
        <p:sp>
          <p:nvSpPr>
            <p:cNvPr id="29726" name="Text Box 23"/>
            <p:cNvSpPr txBox="1">
              <a:spLocks noChangeArrowheads="1"/>
            </p:cNvSpPr>
            <p:nvPr/>
          </p:nvSpPr>
          <p:spPr bwMode="auto">
            <a:xfrm>
              <a:off x="-1488" y="2529"/>
              <a:ext cx="558" cy="407"/>
            </a:xfrm>
            <a:prstGeom prst="rect">
              <a:avLst/>
            </a:prstGeom>
            <a:noFill/>
            <a:ln w="9525">
              <a:noFill/>
              <a:miter lim="800000"/>
              <a:headEnd/>
              <a:tailEnd/>
            </a:ln>
          </p:spPr>
          <p:txBody>
            <a:bodyPr wrap="none">
              <a:spAutoFit/>
            </a:bodyPr>
            <a:lstStyle/>
            <a:p>
              <a:r>
                <a:rPr lang="en-US" b="1"/>
                <a:t>50%</a:t>
              </a:r>
            </a:p>
            <a:p>
              <a:r>
                <a:rPr lang="en-US" b="1"/>
                <a:t>LCFA</a:t>
              </a:r>
            </a:p>
          </p:txBody>
        </p:sp>
        <p:sp>
          <p:nvSpPr>
            <p:cNvPr id="29727" name="Line 24"/>
            <p:cNvSpPr>
              <a:spLocks noChangeShapeType="1"/>
            </p:cNvSpPr>
            <p:nvPr/>
          </p:nvSpPr>
          <p:spPr bwMode="auto">
            <a:xfrm>
              <a:off x="-1142" y="1160"/>
              <a:ext cx="0" cy="1344"/>
            </a:xfrm>
            <a:prstGeom prst="line">
              <a:avLst/>
            </a:prstGeom>
            <a:noFill/>
            <a:ln w="38100">
              <a:solidFill>
                <a:schemeClr val="tx1"/>
              </a:solidFill>
              <a:round/>
              <a:headEnd/>
              <a:tailEnd type="triangle" w="med" len="med"/>
            </a:ln>
          </p:spPr>
          <p:txBody>
            <a:bodyPr anchor="ctr">
              <a:spAutoFit/>
            </a:bodyPr>
            <a:lstStyle/>
            <a:p>
              <a:endParaRPr lang="en-US"/>
            </a:p>
          </p:txBody>
        </p:sp>
        <p:sp>
          <p:nvSpPr>
            <p:cNvPr id="29728" name="Line 25"/>
            <p:cNvSpPr>
              <a:spLocks noChangeShapeType="1"/>
            </p:cNvSpPr>
            <p:nvPr/>
          </p:nvSpPr>
          <p:spPr bwMode="auto">
            <a:xfrm flipV="1">
              <a:off x="-1054" y="3352"/>
              <a:ext cx="0" cy="200"/>
            </a:xfrm>
            <a:prstGeom prst="line">
              <a:avLst/>
            </a:prstGeom>
            <a:noFill/>
            <a:ln w="38100">
              <a:solidFill>
                <a:schemeClr val="tx1"/>
              </a:solidFill>
              <a:round/>
              <a:headEnd/>
              <a:tailEnd type="triangle" w="med" len="med"/>
            </a:ln>
          </p:spPr>
          <p:txBody>
            <a:bodyPr anchor="ctr">
              <a:spAutoFit/>
            </a:bodyPr>
            <a:lstStyle/>
            <a:p>
              <a:endParaRPr lang="en-US"/>
            </a:p>
          </p:txBody>
        </p:sp>
        <p:sp>
          <p:nvSpPr>
            <p:cNvPr id="29729" name="Text Box 26"/>
            <p:cNvSpPr txBox="1">
              <a:spLocks noChangeArrowheads="1"/>
            </p:cNvSpPr>
            <p:nvPr/>
          </p:nvSpPr>
          <p:spPr bwMode="auto">
            <a:xfrm>
              <a:off x="-1411" y="3552"/>
              <a:ext cx="712" cy="407"/>
            </a:xfrm>
            <a:prstGeom prst="rect">
              <a:avLst/>
            </a:prstGeom>
            <a:noFill/>
            <a:ln w="9525">
              <a:noFill/>
              <a:miter lim="800000"/>
              <a:headEnd/>
              <a:tailEnd/>
            </a:ln>
          </p:spPr>
          <p:txBody>
            <a:bodyPr wrap="none">
              <a:spAutoFit/>
            </a:bodyPr>
            <a:lstStyle/>
            <a:p>
              <a:pPr algn="ctr"/>
              <a:r>
                <a:rPr lang="en-US" b="1"/>
                <a:t>Body</a:t>
              </a:r>
            </a:p>
            <a:p>
              <a:pPr algn="ctr"/>
              <a:r>
                <a:rPr lang="en-US" b="1"/>
                <a:t>reserve</a:t>
              </a:r>
            </a:p>
          </p:txBody>
        </p:sp>
      </p:grpSp>
      <p:grpSp>
        <p:nvGrpSpPr>
          <p:cNvPr id="543771" name="Group 27"/>
          <p:cNvGrpSpPr>
            <a:grpSpLocks/>
          </p:cNvGrpSpPr>
          <p:nvPr/>
        </p:nvGrpSpPr>
        <p:grpSpPr bwMode="auto">
          <a:xfrm>
            <a:off x="4670425" y="3521075"/>
            <a:ext cx="1352550" cy="1879600"/>
            <a:chOff x="3310" y="2016"/>
            <a:chExt cx="958" cy="1184"/>
          </a:xfrm>
        </p:grpSpPr>
        <p:sp>
          <p:nvSpPr>
            <p:cNvPr id="29723" name="Text Box 28"/>
            <p:cNvSpPr txBox="1">
              <a:spLocks noChangeArrowheads="1"/>
            </p:cNvSpPr>
            <p:nvPr/>
          </p:nvSpPr>
          <p:spPr bwMode="auto">
            <a:xfrm>
              <a:off x="3310" y="2793"/>
              <a:ext cx="958" cy="407"/>
            </a:xfrm>
            <a:prstGeom prst="rect">
              <a:avLst/>
            </a:prstGeom>
            <a:noFill/>
            <a:ln w="9525">
              <a:noFill/>
              <a:miter lim="800000"/>
              <a:headEnd/>
              <a:tailEnd/>
            </a:ln>
          </p:spPr>
          <p:txBody>
            <a:bodyPr wrap="none">
              <a:spAutoFit/>
            </a:bodyPr>
            <a:lstStyle/>
            <a:p>
              <a:r>
                <a:rPr lang="en-US" b="1"/>
                <a:t>Milk Sugar</a:t>
              </a:r>
            </a:p>
            <a:p>
              <a:r>
                <a:rPr lang="en-US" b="1"/>
                <a:t>(Lactose)</a:t>
              </a:r>
            </a:p>
          </p:txBody>
        </p:sp>
        <p:sp>
          <p:nvSpPr>
            <p:cNvPr id="29724" name="Text Box 29"/>
            <p:cNvSpPr txBox="1">
              <a:spLocks noChangeArrowheads="1"/>
            </p:cNvSpPr>
            <p:nvPr/>
          </p:nvSpPr>
          <p:spPr bwMode="auto">
            <a:xfrm>
              <a:off x="3798" y="2529"/>
              <a:ext cx="458" cy="233"/>
            </a:xfrm>
            <a:prstGeom prst="rect">
              <a:avLst/>
            </a:prstGeom>
            <a:noFill/>
            <a:ln w="9525">
              <a:noFill/>
              <a:miter lim="800000"/>
              <a:headEnd/>
              <a:tailEnd/>
            </a:ln>
          </p:spPr>
          <p:txBody>
            <a:bodyPr wrap="none">
              <a:spAutoFit/>
            </a:bodyPr>
            <a:lstStyle/>
            <a:p>
              <a:r>
                <a:rPr lang="en-US" b="1">
                  <a:solidFill>
                    <a:schemeClr val="tx2"/>
                  </a:solidFill>
                </a:rPr>
                <a:t>50%</a:t>
              </a:r>
            </a:p>
          </p:txBody>
        </p:sp>
        <p:sp>
          <p:nvSpPr>
            <p:cNvPr id="29725" name="Line 30"/>
            <p:cNvSpPr>
              <a:spLocks noChangeShapeType="1"/>
            </p:cNvSpPr>
            <p:nvPr/>
          </p:nvSpPr>
          <p:spPr bwMode="auto">
            <a:xfrm>
              <a:off x="4088" y="2016"/>
              <a:ext cx="0" cy="488"/>
            </a:xfrm>
            <a:prstGeom prst="line">
              <a:avLst/>
            </a:prstGeom>
            <a:noFill/>
            <a:ln w="38100">
              <a:solidFill>
                <a:schemeClr val="tx1"/>
              </a:solidFill>
              <a:round/>
              <a:headEnd/>
              <a:tailEnd type="triangle" w="med" len="med"/>
            </a:ln>
          </p:spPr>
          <p:txBody>
            <a:bodyPr anchor="ctr">
              <a:spAutoFit/>
            </a:bodyPr>
            <a:lstStyle/>
            <a:p>
              <a:endParaRPr lang="en-US"/>
            </a:p>
          </p:txBody>
        </p:sp>
      </p:grpSp>
      <p:grpSp>
        <p:nvGrpSpPr>
          <p:cNvPr id="543775" name="Group 31"/>
          <p:cNvGrpSpPr>
            <a:grpSpLocks/>
          </p:cNvGrpSpPr>
          <p:nvPr/>
        </p:nvGrpSpPr>
        <p:grpSpPr bwMode="auto">
          <a:xfrm>
            <a:off x="179388" y="3429000"/>
            <a:ext cx="8389937" cy="2019300"/>
            <a:chOff x="118" y="1992"/>
            <a:chExt cx="5946" cy="1272"/>
          </a:xfrm>
        </p:grpSpPr>
        <p:sp>
          <p:nvSpPr>
            <p:cNvPr id="29716" name="Text Box 32"/>
            <p:cNvSpPr txBox="1">
              <a:spLocks noChangeArrowheads="1"/>
            </p:cNvSpPr>
            <p:nvPr/>
          </p:nvSpPr>
          <p:spPr bwMode="auto">
            <a:xfrm>
              <a:off x="118" y="2641"/>
              <a:ext cx="707" cy="231"/>
            </a:xfrm>
            <a:prstGeom prst="rect">
              <a:avLst/>
            </a:prstGeom>
            <a:noFill/>
            <a:ln w="9525">
              <a:noFill/>
              <a:miter lim="800000"/>
              <a:headEnd/>
              <a:tailEnd/>
            </a:ln>
          </p:spPr>
          <p:txBody>
            <a:bodyPr wrap="none">
              <a:spAutoFit/>
            </a:bodyPr>
            <a:lstStyle/>
            <a:p>
              <a:r>
                <a:rPr lang="en-US" b="1"/>
                <a:t>UDDER</a:t>
              </a:r>
            </a:p>
          </p:txBody>
        </p:sp>
        <p:sp>
          <p:nvSpPr>
            <p:cNvPr id="29717" name="Rectangle 33"/>
            <p:cNvSpPr>
              <a:spLocks noChangeArrowheads="1"/>
            </p:cNvSpPr>
            <p:nvPr/>
          </p:nvSpPr>
          <p:spPr bwMode="auto">
            <a:xfrm>
              <a:off x="1360" y="2821"/>
              <a:ext cx="4704" cy="239"/>
            </a:xfrm>
            <a:prstGeom prst="rect">
              <a:avLst/>
            </a:prstGeom>
            <a:noFill/>
            <a:ln w="12700">
              <a:solidFill>
                <a:schemeClr val="tx1"/>
              </a:solidFill>
              <a:miter lim="800000"/>
              <a:headEnd/>
              <a:tailEnd/>
            </a:ln>
          </p:spPr>
          <p:txBody>
            <a:bodyPr anchor="ctr">
              <a:spAutoFit/>
            </a:bodyPr>
            <a:lstStyle/>
            <a:p>
              <a:endParaRPr lang="en-NZ">
                <a:latin typeface="Calibri" pitchFamily="34" charset="0"/>
              </a:endParaRPr>
            </a:p>
          </p:txBody>
        </p:sp>
        <p:grpSp>
          <p:nvGrpSpPr>
            <p:cNvPr id="29718" name="Group 34"/>
            <p:cNvGrpSpPr>
              <a:grpSpLocks/>
            </p:cNvGrpSpPr>
            <p:nvPr/>
          </p:nvGrpSpPr>
          <p:grpSpPr bwMode="auto">
            <a:xfrm>
              <a:off x="1718" y="1992"/>
              <a:ext cx="1084" cy="1272"/>
              <a:chOff x="1718" y="1992"/>
              <a:chExt cx="1084" cy="1272"/>
            </a:xfrm>
          </p:grpSpPr>
          <p:sp>
            <p:nvSpPr>
              <p:cNvPr id="29719" name="Text Box 35"/>
              <p:cNvSpPr txBox="1">
                <a:spLocks noChangeArrowheads="1"/>
              </p:cNvSpPr>
              <p:nvPr/>
            </p:nvSpPr>
            <p:spPr bwMode="auto">
              <a:xfrm>
                <a:off x="1718" y="3033"/>
                <a:ext cx="733" cy="231"/>
              </a:xfrm>
              <a:prstGeom prst="rect">
                <a:avLst/>
              </a:prstGeom>
              <a:noFill/>
              <a:ln w="9525">
                <a:noFill/>
                <a:miter lim="800000"/>
                <a:headEnd/>
                <a:tailEnd/>
              </a:ln>
            </p:spPr>
            <p:txBody>
              <a:bodyPr wrap="none">
                <a:spAutoFit/>
              </a:bodyPr>
              <a:lstStyle/>
              <a:p>
                <a:r>
                  <a:rPr lang="en-US" b="1"/>
                  <a:t>Milk Fat</a:t>
                </a:r>
              </a:p>
            </p:txBody>
          </p:sp>
          <p:grpSp>
            <p:nvGrpSpPr>
              <p:cNvPr id="29720" name="Group 36"/>
              <p:cNvGrpSpPr>
                <a:grpSpLocks/>
              </p:cNvGrpSpPr>
              <p:nvPr/>
            </p:nvGrpSpPr>
            <p:grpSpPr bwMode="auto">
              <a:xfrm>
                <a:off x="2230" y="1992"/>
                <a:ext cx="572" cy="941"/>
                <a:chOff x="2230" y="1992"/>
                <a:chExt cx="572" cy="941"/>
              </a:xfrm>
            </p:grpSpPr>
            <p:sp>
              <p:nvSpPr>
                <p:cNvPr id="29721" name="Text Box 37"/>
                <p:cNvSpPr txBox="1">
                  <a:spLocks noChangeArrowheads="1"/>
                </p:cNvSpPr>
                <p:nvPr/>
              </p:nvSpPr>
              <p:spPr bwMode="auto">
                <a:xfrm>
                  <a:off x="2230" y="2529"/>
                  <a:ext cx="572" cy="404"/>
                </a:xfrm>
                <a:prstGeom prst="rect">
                  <a:avLst/>
                </a:prstGeom>
                <a:noFill/>
                <a:ln w="9525">
                  <a:noFill/>
                  <a:miter lim="800000"/>
                  <a:headEnd/>
                  <a:tailEnd/>
                </a:ln>
              </p:spPr>
              <p:txBody>
                <a:bodyPr wrap="none">
                  <a:spAutoFit/>
                </a:bodyPr>
                <a:lstStyle/>
                <a:p>
                  <a:r>
                    <a:rPr lang="en-US" b="1">
                      <a:solidFill>
                        <a:srgbClr val="CCCC33"/>
                      </a:solidFill>
                    </a:rPr>
                    <a:t>30%</a:t>
                  </a:r>
                </a:p>
                <a:p>
                  <a:r>
                    <a:rPr lang="en-US" b="1">
                      <a:solidFill>
                        <a:srgbClr val="CCCC33"/>
                      </a:solidFill>
                    </a:rPr>
                    <a:t>SCFA</a:t>
                  </a:r>
                </a:p>
              </p:txBody>
            </p:sp>
            <p:sp>
              <p:nvSpPr>
                <p:cNvPr id="29722" name="Line 38"/>
                <p:cNvSpPr>
                  <a:spLocks noChangeShapeType="1"/>
                </p:cNvSpPr>
                <p:nvPr/>
              </p:nvSpPr>
              <p:spPr bwMode="auto">
                <a:xfrm>
                  <a:off x="2576" y="1992"/>
                  <a:ext cx="0" cy="512"/>
                </a:xfrm>
                <a:prstGeom prst="line">
                  <a:avLst/>
                </a:prstGeom>
                <a:noFill/>
                <a:ln w="38100">
                  <a:solidFill>
                    <a:schemeClr val="tx1"/>
                  </a:solidFill>
                  <a:round/>
                  <a:headEnd/>
                  <a:tailEnd type="triangle" w="med" len="med"/>
                </a:ln>
              </p:spPr>
              <p:txBody>
                <a:bodyPr anchor="ctr">
                  <a:spAutoFit/>
                </a:bodyPr>
                <a:lstStyle/>
                <a:p>
                  <a:endParaRPr lang="en-US"/>
                </a:p>
              </p:txBody>
            </p:sp>
          </p:grpSp>
        </p:grpSp>
      </p:grpSp>
      <p:grpSp>
        <p:nvGrpSpPr>
          <p:cNvPr id="543799" name="Group 55"/>
          <p:cNvGrpSpPr>
            <a:grpSpLocks/>
          </p:cNvGrpSpPr>
          <p:nvPr/>
        </p:nvGrpSpPr>
        <p:grpSpPr bwMode="auto">
          <a:xfrm>
            <a:off x="3078163" y="2062163"/>
            <a:ext cx="4613275" cy="1716087"/>
            <a:chOff x="7440" y="1299"/>
            <a:chExt cx="3270" cy="1081"/>
          </a:xfrm>
        </p:grpSpPr>
        <p:sp>
          <p:nvSpPr>
            <p:cNvPr id="29707" name="Text Box 41"/>
            <p:cNvSpPr txBox="1">
              <a:spLocks noChangeArrowheads="1"/>
            </p:cNvSpPr>
            <p:nvPr/>
          </p:nvSpPr>
          <p:spPr bwMode="auto">
            <a:xfrm>
              <a:off x="9888" y="1635"/>
              <a:ext cx="822" cy="407"/>
            </a:xfrm>
            <a:prstGeom prst="rect">
              <a:avLst/>
            </a:prstGeom>
            <a:noFill/>
            <a:ln w="9525">
              <a:noFill/>
              <a:miter lim="800000"/>
              <a:headEnd/>
              <a:tailEnd/>
            </a:ln>
          </p:spPr>
          <p:txBody>
            <a:bodyPr wrap="none">
              <a:spAutoFit/>
            </a:bodyPr>
            <a:lstStyle/>
            <a:p>
              <a:r>
                <a:rPr lang="en-US" b="1">
                  <a:solidFill>
                    <a:schemeClr val="accent1"/>
                  </a:solidFill>
                </a:rPr>
                <a:t>Bacterial</a:t>
              </a:r>
            </a:p>
            <a:p>
              <a:r>
                <a:rPr lang="en-US" b="1">
                  <a:solidFill>
                    <a:schemeClr val="accent1"/>
                  </a:solidFill>
                </a:rPr>
                <a:t>Protein</a:t>
              </a:r>
            </a:p>
          </p:txBody>
        </p:sp>
        <p:sp>
          <p:nvSpPr>
            <p:cNvPr id="29708" name="Text Box 42"/>
            <p:cNvSpPr txBox="1">
              <a:spLocks noChangeArrowheads="1"/>
            </p:cNvSpPr>
            <p:nvPr/>
          </p:nvSpPr>
          <p:spPr bwMode="auto">
            <a:xfrm>
              <a:off x="7440" y="1635"/>
              <a:ext cx="694" cy="407"/>
            </a:xfrm>
            <a:prstGeom prst="rect">
              <a:avLst/>
            </a:prstGeom>
            <a:noFill/>
            <a:ln w="9525">
              <a:noFill/>
              <a:miter lim="800000"/>
              <a:headEnd/>
              <a:tailEnd/>
            </a:ln>
          </p:spPr>
          <p:txBody>
            <a:bodyPr wrap="none">
              <a:spAutoFit/>
            </a:bodyPr>
            <a:lstStyle/>
            <a:p>
              <a:r>
                <a:rPr lang="en-US" b="1">
                  <a:solidFill>
                    <a:srgbClr val="CCCC33"/>
                  </a:solidFill>
                </a:rPr>
                <a:t>Acetic</a:t>
              </a:r>
            </a:p>
            <a:p>
              <a:r>
                <a:rPr lang="en-US" b="1">
                  <a:solidFill>
                    <a:srgbClr val="CCCC33"/>
                  </a:solidFill>
                </a:rPr>
                <a:t>Butyric</a:t>
              </a:r>
              <a:endParaRPr lang="en-US" b="1">
                <a:solidFill>
                  <a:schemeClr val="tx2"/>
                </a:solidFill>
              </a:endParaRPr>
            </a:p>
          </p:txBody>
        </p:sp>
        <p:sp>
          <p:nvSpPr>
            <p:cNvPr id="29709" name="Text Box 43"/>
            <p:cNvSpPr txBox="1">
              <a:spLocks noChangeArrowheads="1"/>
            </p:cNvSpPr>
            <p:nvPr/>
          </p:nvSpPr>
          <p:spPr bwMode="auto">
            <a:xfrm>
              <a:off x="8784" y="1819"/>
              <a:ext cx="885" cy="233"/>
            </a:xfrm>
            <a:prstGeom prst="rect">
              <a:avLst/>
            </a:prstGeom>
            <a:noFill/>
            <a:ln w="9525">
              <a:noFill/>
              <a:miter lim="800000"/>
              <a:headEnd/>
              <a:tailEnd/>
            </a:ln>
          </p:spPr>
          <p:txBody>
            <a:bodyPr wrap="none">
              <a:spAutoFit/>
            </a:bodyPr>
            <a:lstStyle/>
            <a:p>
              <a:r>
                <a:rPr lang="en-US" b="1">
                  <a:solidFill>
                    <a:schemeClr val="tx2"/>
                  </a:solidFill>
                </a:rPr>
                <a:t>Propionic</a:t>
              </a:r>
            </a:p>
          </p:txBody>
        </p:sp>
        <p:sp>
          <p:nvSpPr>
            <p:cNvPr id="29710" name="AutoShape 44"/>
            <p:cNvSpPr>
              <a:spLocks/>
            </p:cNvSpPr>
            <p:nvPr/>
          </p:nvSpPr>
          <p:spPr bwMode="auto">
            <a:xfrm rot="5400000">
              <a:off x="8802" y="1290"/>
              <a:ext cx="288" cy="305"/>
            </a:xfrm>
            <a:prstGeom prst="rightBrace">
              <a:avLst>
                <a:gd name="adj1" fmla="val 74073"/>
                <a:gd name="adj2" fmla="val 50000"/>
              </a:avLst>
            </a:prstGeom>
            <a:noFill/>
            <a:ln w="38100">
              <a:solidFill>
                <a:schemeClr val="tx1"/>
              </a:solidFill>
              <a:round/>
              <a:headEnd/>
              <a:tailEnd/>
            </a:ln>
          </p:spPr>
          <p:txBody>
            <a:bodyPr anchor="ctr">
              <a:spAutoFit/>
            </a:bodyPr>
            <a:lstStyle/>
            <a:p>
              <a:endParaRPr lang="en-NZ">
                <a:latin typeface="Calibri" pitchFamily="34" charset="0"/>
              </a:endParaRPr>
            </a:p>
          </p:txBody>
        </p:sp>
        <p:sp>
          <p:nvSpPr>
            <p:cNvPr id="29711" name="Line 45"/>
            <p:cNvSpPr>
              <a:spLocks noChangeShapeType="1"/>
            </p:cNvSpPr>
            <p:nvPr/>
          </p:nvSpPr>
          <p:spPr bwMode="auto">
            <a:xfrm flipH="1">
              <a:off x="8042" y="1602"/>
              <a:ext cx="904" cy="80"/>
            </a:xfrm>
            <a:prstGeom prst="line">
              <a:avLst/>
            </a:prstGeom>
            <a:noFill/>
            <a:ln w="38100">
              <a:solidFill>
                <a:schemeClr val="tx1"/>
              </a:solidFill>
              <a:round/>
              <a:headEnd/>
              <a:tailEnd/>
            </a:ln>
          </p:spPr>
          <p:txBody>
            <a:bodyPr wrap="none" anchor="ctr">
              <a:spAutoFit/>
            </a:bodyPr>
            <a:lstStyle/>
            <a:p>
              <a:endParaRPr lang="en-US"/>
            </a:p>
          </p:txBody>
        </p:sp>
        <p:sp>
          <p:nvSpPr>
            <p:cNvPr id="29712" name="Line 46"/>
            <p:cNvSpPr>
              <a:spLocks noChangeShapeType="1"/>
            </p:cNvSpPr>
            <p:nvPr/>
          </p:nvSpPr>
          <p:spPr bwMode="auto">
            <a:xfrm>
              <a:off x="8962" y="1602"/>
              <a:ext cx="904" cy="80"/>
            </a:xfrm>
            <a:prstGeom prst="line">
              <a:avLst/>
            </a:prstGeom>
            <a:noFill/>
            <a:ln w="38100">
              <a:solidFill>
                <a:schemeClr val="tx1"/>
              </a:solidFill>
              <a:round/>
              <a:headEnd/>
              <a:tailEnd/>
            </a:ln>
          </p:spPr>
          <p:txBody>
            <a:bodyPr wrap="none" anchor="ctr">
              <a:spAutoFit/>
            </a:bodyPr>
            <a:lstStyle/>
            <a:p>
              <a:endParaRPr lang="en-US"/>
            </a:p>
          </p:txBody>
        </p:sp>
        <p:sp>
          <p:nvSpPr>
            <p:cNvPr id="29713" name="Line 47"/>
            <p:cNvSpPr>
              <a:spLocks noChangeShapeType="1"/>
            </p:cNvSpPr>
            <p:nvPr/>
          </p:nvSpPr>
          <p:spPr bwMode="auto">
            <a:xfrm>
              <a:off x="8946" y="1610"/>
              <a:ext cx="176" cy="176"/>
            </a:xfrm>
            <a:prstGeom prst="line">
              <a:avLst/>
            </a:prstGeom>
            <a:noFill/>
            <a:ln w="38100">
              <a:solidFill>
                <a:schemeClr val="tx1"/>
              </a:solidFill>
              <a:round/>
              <a:headEnd/>
              <a:tailEnd/>
            </a:ln>
          </p:spPr>
          <p:txBody>
            <a:bodyPr wrap="none" anchor="ctr">
              <a:spAutoFit/>
            </a:bodyPr>
            <a:lstStyle/>
            <a:p>
              <a:endParaRPr lang="en-US"/>
            </a:p>
          </p:txBody>
        </p:sp>
        <p:sp>
          <p:nvSpPr>
            <p:cNvPr id="29714" name="Text Box 48"/>
            <p:cNvSpPr txBox="1">
              <a:spLocks noChangeArrowheads="1"/>
            </p:cNvSpPr>
            <p:nvPr/>
          </p:nvSpPr>
          <p:spPr bwMode="auto">
            <a:xfrm>
              <a:off x="8256" y="2147"/>
              <a:ext cx="603" cy="233"/>
            </a:xfrm>
            <a:prstGeom prst="rect">
              <a:avLst/>
            </a:prstGeom>
            <a:noFill/>
            <a:ln w="9525">
              <a:noFill/>
              <a:miter lim="800000"/>
              <a:headEnd/>
              <a:tailEnd/>
            </a:ln>
          </p:spPr>
          <p:txBody>
            <a:bodyPr wrap="none">
              <a:spAutoFit/>
            </a:bodyPr>
            <a:lstStyle/>
            <a:p>
              <a:r>
                <a:rPr lang="en-US" b="1" i="1"/>
                <a:t>Lactic</a:t>
              </a:r>
              <a:endParaRPr lang="en-US" b="1" i="1">
                <a:solidFill>
                  <a:schemeClr val="tx2"/>
                </a:solidFill>
              </a:endParaRPr>
            </a:p>
          </p:txBody>
        </p:sp>
        <p:sp>
          <p:nvSpPr>
            <p:cNvPr id="29715" name="Line 49"/>
            <p:cNvSpPr>
              <a:spLocks noChangeShapeType="1"/>
            </p:cNvSpPr>
            <p:nvPr/>
          </p:nvSpPr>
          <p:spPr bwMode="auto">
            <a:xfrm flipH="1">
              <a:off x="8578" y="1626"/>
              <a:ext cx="360" cy="512"/>
            </a:xfrm>
            <a:prstGeom prst="line">
              <a:avLst/>
            </a:prstGeom>
            <a:noFill/>
            <a:ln w="38100">
              <a:solidFill>
                <a:schemeClr val="tx1"/>
              </a:solidFill>
              <a:prstDash val="sysDot"/>
              <a:round/>
              <a:headEnd/>
              <a:tailEnd/>
            </a:ln>
          </p:spPr>
          <p:txBody>
            <a:bodyPr wrap="none" anchor="ctr">
              <a:spAutoFit/>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543799"/>
                                        </p:tgtEl>
                                        <p:attrNameLst>
                                          <p:attrName>style.visibility</p:attrName>
                                        </p:attrNameLst>
                                      </p:cBhvr>
                                      <p:to>
                                        <p:strVal val="visible"/>
                                      </p:to>
                                    </p:set>
                                    <p:animEffect transition="in" filter="wipe(up)">
                                      <p:cBhvr>
                                        <p:cTn id="7" dur="500"/>
                                        <p:tgtEl>
                                          <p:spTgt spid="54379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543775"/>
                                        </p:tgtEl>
                                        <p:attrNameLst>
                                          <p:attrName>style.visibility</p:attrName>
                                        </p:attrNameLst>
                                      </p:cBhvr>
                                      <p:to>
                                        <p:strVal val="visible"/>
                                      </p:to>
                                    </p:set>
                                    <p:animEffect transition="in" filter="wipe(up)">
                                      <p:cBhvr>
                                        <p:cTn id="12" dur="500"/>
                                        <p:tgtEl>
                                          <p:spTgt spid="54377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543771"/>
                                        </p:tgtEl>
                                        <p:attrNameLst>
                                          <p:attrName>style.visibility</p:attrName>
                                        </p:attrNameLst>
                                      </p:cBhvr>
                                      <p:to>
                                        <p:strVal val="visible"/>
                                      </p:to>
                                    </p:set>
                                    <p:animEffect transition="in" filter="wipe(up)">
                                      <p:cBhvr>
                                        <p:cTn id="17" dur="500"/>
                                        <p:tgtEl>
                                          <p:spTgt spid="54377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543762"/>
                                        </p:tgtEl>
                                        <p:attrNameLst>
                                          <p:attrName>style.visibility</p:attrName>
                                        </p:attrNameLst>
                                      </p:cBhvr>
                                      <p:to>
                                        <p:strVal val="visible"/>
                                      </p:to>
                                    </p:set>
                                    <p:animEffect transition="in" filter="wipe(up)">
                                      <p:cBhvr>
                                        <p:cTn id="22" dur="500"/>
                                        <p:tgtEl>
                                          <p:spTgt spid="54376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543759"/>
                                        </p:tgtEl>
                                        <p:attrNameLst>
                                          <p:attrName>style.visibility</p:attrName>
                                        </p:attrNameLst>
                                      </p:cBhvr>
                                      <p:to>
                                        <p:strVal val="visible"/>
                                      </p:to>
                                    </p:set>
                                    <p:animEffect transition="in" filter="wipe(up)">
                                      <p:cBhvr>
                                        <p:cTn id="27" dur="500"/>
                                        <p:tgtEl>
                                          <p:spTgt spid="54375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543796"/>
                                        </p:tgtEl>
                                        <p:attrNameLst>
                                          <p:attrName>style.visibility</p:attrName>
                                        </p:attrNameLst>
                                      </p:cBhvr>
                                      <p:to>
                                        <p:strVal val="visible"/>
                                      </p:to>
                                    </p:set>
                                    <p:animEffect transition="in" filter="wipe(up)">
                                      <p:cBhvr>
                                        <p:cTn id="32" dur="500"/>
                                        <p:tgtEl>
                                          <p:spTgt spid="5437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Slide Number Placeholder 5"/>
          <p:cNvSpPr>
            <a:spLocks noGrp="1"/>
          </p:cNvSpPr>
          <p:nvPr>
            <p:ph type="sldNum" sz="quarter" idx="12"/>
          </p:nvPr>
        </p:nvSpPr>
        <p:spPr/>
        <p:txBody>
          <a:bodyPr/>
          <a:lstStyle/>
          <a:p>
            <a:pPr>
              <a:defRPr/>
            </a:pPr>
            <a:r>
              <a:rPr lang="en-US" dirty="0"/>
              <a:t> </a:t>
            </a:r>
            <a:endParaRPr lang="en-US" sz="1800" dirty="0">
              <a:solidFill>
                <a:schemeClr val="tx1"/>
              </a:solidFill>
            </a:endParaRPr>
          </a:p>
        </p:txBody>
      </p:sp>
      <p:sp>
        <p:nvSpPr>
          <p:cNvPr id="619522" name="Rectangle 2"/>
          <p:cNvSpPr>
            <a:spLocks noGrp="1" noChangeArrowheads="1"/>
          </p:cNvSpPr>
          <p:nvPr>
            <p:ph type="title"/>
          </p:nvPr>
        </p:nvSpPr>
        <p:spPr>
          <a:xfrm>
            <a:off x="1092200" y="34925"/>
            <a:ext cx="7524750" cy="1006475"/>
          </a:xfrm>
        </p:spPr>
        <p:txBody>
          <a:bodyPr rtlCol="0">
            <a:normAutofit fontScale="90000"/>
          </a:bodyPr>
          <a:lstStyle/>
          <a:p>
            <a:pPr eaLnBrk="1" fontAlgn="auto" hangingPunct="1">
              <a:spcAft>
                <a:spcPts val="0"/>
              </a:spcAft>
              <a:defRPr/>
            </a:pPr>
            <a:r>
              <a:rPr lang="en-US" sz="3600" b="1" dirty="0" smtClean="0"/>
              <a:t>UTILIZATION OF ENERGY (E) BY THE COW</a:t>
            </a:r>
            <a:r>
              <a:rPr lang="en-US" b="1" dirty="0"/>
              <a:t/>
            </a:r>
            <a:br>
              <a:rPr lang="en-US" b="1" dirty="0"/>
            </a:br>
            <a:r>
              <a:rPr lang="en-US" sz="2200" b="1" dirty="0"/>
              <a:t>(NE = Net Energy)</a:t>
            </a:r>
          </a:p>
        </p:txBody>
      </p:sp>
      <p:grpSp>
        <p:nvGrpSpPr>
          <p:cNvPr id="30723" name="Group 204"/>
          <p:cNvGrpSpPr>
            <a:grpSpLocks/>
          </p:cNvGrpSpPr>
          <p:nvPr/>
        </p:nvGrpSpPr>
        <p:grpSpPr bwMode="auto">
          <a:xfrm>
            <a:off x="1238250" y="1293813"/>
            <a:ext cx="6524625" cy="4767262"/>
            <a:chOff x="878" y="815"/>
            <a:chExt cx="4623" cy="3003"/>
          </a:xfrm>
        </p:grpSpPr>
        <p:grpSp>
          <p:nvGrpSpPr>
            <p:cNvPr id="30813" name="Group 192"/>
            <p:cNvGrpSpPr>
              <a:grpSpLocks/>
            </p:cNvGrpSpPr>
            <p:nvPr/>
          </p:nvGrpSpPr>
          <p:grpSpPr bwMode="auto">
            <a:xfrm>
              <a:off x="878" y="815"/>
              <a:ext cx="4554" cy="841"/>
              <a:chOff x="878" y="815"/>
              <a:chExt cx="4554" cy="841"/>
            </a:xfrm>
          </p:grpSpPr>
          <p:sp>
            <p:nvSpPr>
              <p:cNvPr id="30818" name="Rectangle 43"/>
              <p:cNvSpPr>
                <a:spLocks noChangeArrowheads="1"/>
              </p:cNvSpPr>
              <p:nvPr/>
            </p:nvSpPr>
            <p:spPr bwMode="auto">
              <a:xfrm>
                <a:off x="3780" y="1161"/>
                <a:ext cx="468" cy="247"/>
              </a:xfrm>
              <a:prstGeom prst="rect">
                <a:avLst/>
              </a:prstGeom>
              <a:solidFill>
                <a:srgbClr val="666633"/>
              </a:solidFill>
              <a:ln w="9525">
                <a:noFill/>
                <a:miter lim="800000"/>
                <a:headEnd/>
                <a:tailEnd/>
              </a:ln>
            </p:spPr>
            <p:txBody>
              <a:bodyPr wrap="none" anchor="ctr"/>
              <a:lstStyle/>
              <a:p>
                <a:endParaRPr lang="en-NZ">
                  <a:latin typeface="Calibri" pitchFamily="34" charset="0"/>
                </a:endParaRPr>
              </a:p>
            </p:txBody>
          </p:sp>
          <p:sp>
            <p:nvSpPr>
              <p:cNvPr id="30819" name="Rectangle 44"/>
              <p:cNvSpPr>
                <a:spLocks noChangeArrowheads="1"/>
              </p:cNvSpPr>
              <p:nvPr/>
            </p:nvSpPr>
            <p:spPr bwMode="auto">
              <a:xfrm>
                <a:off x="878" y="840"/>
                <a:ext cx="4547" cy="332"/>
              </a:xfrm>
              <a:prstGeom prst="rect">
                <a:avLst/>
              </a:prstGeom>
              <a:solidFill>
                <a:srgbClr val="666633"/>
              </a:solidFill>
              <a:ln w="9525">
                <a:noFill/>
                <a:miter lim="800000"/>
                <a:headEnd/>
                <a:tailEnd/>
              </a:ln>
            </p:spPr>
            <p:txBody>
              <a:bodyPr wrap="none" anchor="ctr"/>
              <a:lstStyle/>
              <a:p>
                <a:endParaRPr lang="en-NZ">
                  <a:latin typeface="Calibri" pitchFamily="34" charset="0"/>
                </a:endParaRPr>
              </a:p>
            </p:txBody>
          </p:sp>
          <p:sp>
            <p:nvSpPr>
              <p:cNvPr id="30820" name="Rectangle 45"/>
              <p:cNvSpPr>
                <a:spLocks noChangeArrowheads="1"/>
              </p:cNvSpPr>
              <p:nvPr/>
            </p:nvSpPr>
            <p:spPr bwMode="auto">
              <a:xfrm>
                <a:off x="1026" y="1170"/>
                <a:ext cx="838" cy="486"/>
              </a:xfrm>
              <a:prstGeom prst="rect">
                <a:avLst/>
              </a:prstGeom>
              <a:solidFill>
                <a:srgbClr val="666633"/>
              </a:solidFill>
              <a:ln w="9525">
                <a:noFill/>
                <a:miter lim="800000"/>
                <a:headEnd/>
                <a:tailEnd/>
              </a:ln>
            </p:spPr>
            <p:txBody>
              <a:bodyPr wrap="none" anchor="ctr"/>
              <a:lstStyle/>
              <a:p>
                <a:endParaRPr lang="en-NZ">
                  <a:latin typeface="Calibri" pitchFamily="34" charset="0"/>
                </a:endParaRPr>
              </a:p>
            </p:txBody>
          </p:sp>
          <p:sp>
            <p:nvSpPr>
              <p:cNvPr id="30821" name="Freeform 51"/>
              <p:cNvSpPr>
                <a:spLocks/>
              </p:cNvSpPr>
              <p:nvPr/>
            </p:nvSpPr>
            <p:spPr bwMode="auto">
              <a:xfrm>
                <a:off x="912" y="1161"/>
                <a:ext cx="4520" cy="495"/>
              </a:xfrm>
              <a:custGeom>
                <a:avLst/>
                <a:gdLst>
                  <a:gd name="T0" fmla="*/ 0 w 4520"/>
                  <a:gd name="T1" fmla="*/ 3 h 680"/>
                  <a:gd name="T2" fmla="*/ 104 w 4520"/>
                  <a:gd name="T3" fmla="*/ 3 h 680"/>
                  <a:gd name="T4" fmla="*/ 104 w 4520"/>
                  <a:gd name="T5" fmla="*/ 262 h 680"/>
                  <a:gd name="T6" fmla="*/ 944 w 4520"/>
                  <a:gd name="T7" fmla="*/ 262 h 680"/>
                  <a:gd name="T8" fmla="*/ 944 w 4520"/>
                  <a:gd name="T9" fmla="*/ 0 h 680"/>
                  <a:gd name="T10" fmla="*/ 2872 w 4520"/>
                  <a:gd name="T11" fmla="*/ 0 h 680"/>
                  <a:gd name="T12" fmla="*/ 2872 w 4520"/>
                  <a:gd name="T13" fmla="*/ 130 h 680"/>
                  <a:gd name="T14" fmla="*/ 3328 w 4520"/>
                  <a:gd name="T15" fmla="*/ 130 h 680"/>
                  <a:gd name="T16" fmla="*/ 3328 w 4520"/>
                  <a:gd name="T17" fmla="*/ 0 h 680"/>
                  <a:gd name="T18" fmla="*/ 4520 w 4520"/>
                  <a:gd name="T19" fmla="*/ 0 h 68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520"/>
                  <a:gd name="T31" fmla="*/ 0 h 680"/>
                  <a:gd name="T32" fmla="*/ 4520 w 4520"/>
                  <a:gd name="T33" fmla="*/ 680 h 68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520" h="680">
                    <a:moveTo>
                      <a:pt x="0" y="8"/>
                    </a:moveTo>
                    <a:lnTo>
                      <a:pt x="104" y="8"/>
                    </a:lnTo>
                    <a:lnTo>
                      <a:pt x="104" y="680"/>
                    </a:lnTo>
                    <a:lnTo>
                      <a:pt x="944" y="680"/>
                    </a:lnTo>
                    <a:lnTo>
                      <a:pt x="944" y="0"/>
                    </a:lnTo>
                    <a:lnTo>
                      <a:pt x="2872" y="0"/>
                    </a:lnTo>
                    <a:lnTo>
                      <a:pt x="2872" y="336"/>
                    </a:lnTo>
                    <a:lnTo>
                      <a:pt x="3328" y="336"/>
                    </a:lnTo>
                    <a:lnTo>
                      <a:pt x="3328" y="0"/>
                    </a:lnTo>
                    <a:lnTo>
                      <a:pt x="4520" y="0"/>
                    </a:lnTo>
                  </a:path>
                </a:pathLst>
              </a:custGeom>
              <a:noFill/>
              <a:ln w="38100" cmpd="sng">
                <a:solidFill>
                  <a:schemeClr val="tx1"/>
                </a:solidFill>
                <a:round/>
                <a:headEnd/>
                <a:tailEnd/>
              </a:ln>
            </p:spPr>
            <p:txBody>
              <a:bodyPr wrap="none" anchor="ctr"/>
              <a:lstStyle/>
              <a:p>
                <a:endParaRPr lang="en-US"/>
              </a:p>
            </p:txBody>
          </p:sp>
          <p:sp>
            <p:nvSpPr>
              <p:cNvPr id="30822" name="Line 149"/>
              <p:cNvSpPr>
                <a:spLocks noChangeShapeType="1"/>
              </p:cNvSpPr>
              <p:nvPr/>
            </p:nvSpPr>
            <p:spPr bwMode="auto">
              <a:xfrm>
                <a:off x="878" y="815"/>
                <a:ext cx="4547" cy="0"/>
              </a:xfrm>
              <a:prstGeom prst="line">
                <a:avLst/>
              </a:prstGeom>
              <a:noFill/>
              <a:ln w="76200">
                <a:solidFill>
                  <a:schemeClr val="tx1"/>
                </a:solidFill>
                <a:round/>
                <a:headEnd/>
                <a:tailEnd/>
              </a:ln>
            </p:spPr>
            <p:txBody>
              <a:bodyPr wrap="none" anchor="ctr"/>
              <a:lstStyle/>
              <a:p>
                <a:endParaRPr lang="en-US"/>
              </a:p>
            </p:txBody>
          </p:sp>
        </p:grpSp>
        <p:sp>
          <p:nvSpPr>
            <p:cNvPr id="30814" name="Freeform 79"/>
            <p:cNvSpPr>
              <a:spLocks/>
            </p:cNvSpPr>
            <p:nvPr/>
          </p:nvSpPr>
          <p:spPr bwMode="auto">
            <a:xfrm>
              <a:off x="4457" y="2935"/>
              <a:ext cx="1044" cy="883"/>
            </a:xfrm>
            <a:custGeom>
              <a:avLst/>
              <a:gdLst>
                <a:gd name="T0" fmla="*/ 0 w 1044"/>
                <a:gd name="T1" fmla="*/ 392 h 883"/>
                <a:gd name="T2" fmla="*/ 80 w 1044"/>
                <a:gd name="T3" fmla="*/ 624 h 883"/>
                <a:gd name="T4" fmla="*/ 248 w 1044"/>
                <a:gd name="T5" fmla="*/ 696 h 883"/>
                <a:gd name="T6" fmla="*/ 272 w 1044"/>
                <a:gd name="T7" fmla="*/ 808 h 883"/>
                <a:gd name="T8" fmla="*/ 285 w 1044"/>
                <a:gd name="T9" fmla="*/ 883 h 883"/>
                <a:gd name="T10" fmla="*/ 333 w 1044"/>
                <a:gd name="T11" fmla="*/ 821 h 883"/>
                <a:gd name="T12" fmla="*/ 344 w 1044"/>
                <a:gd name="T13" fmla="*/ 776 h 883"/>
                <a:gd name="T14" fmla="*/ 376 w 1044"/>
                <a:gd name="T15" fmla="*/ 712 h 883"/>
                <a:gd name="T16" fmla="*/ 424 w 1044"/>
                <a:gd name="T17" fmla="*/ 720 h 883"/>
                <a:gd name="T18" fmla="*/ 472 w 1044"/>
                <a:gd name="T19" fmla="*/ 736 h 883"/>
                <a:gd name="T20" fmla="*/ 669 w 1044"/>
                <a:gd name="T21" fmla="*/ 717 h 883"/>
                <a:gd name="T22" fmla="*/ 704 w 1044"/>
                <a:gd name="T23" fmla="*/ 840 h 883"/>
                <a:gd name="T24" fmla="*/ 736 w 1044"/>
                <a:gd name="T25" fmla="*/ 880 h 883"/>
                <a:gd name="T26" fmla="*/ 776 w 1044"/>
                <a:gd name="T27" fmla="*/ 872 h 883"/>
                <a:gd name="T28" fmla="*/ 808 w 1044"/>
                <a:gd name="T29" fmla="*/ 728 h 883"/>
                <a:gd name="T30" fmla="*/ 880 w 1044"/>
                <a:gd name="T31" fmla="*/ 704 h 883"/>
                <a:gd name="T32" fmla="*/ 944 w 1044"/>
                <a:gd name="T33" fmla="*/ 656 h 883"/>
                <a:gd name="T34" fmla="*/ 1024 w 1044"/>
                <a:gd name="T35" fmla="*/ 504 h 883"/>
                <a:gd name="T36" fmla="*/ 968 w 1044"/>
                <a:gd name="T37" fmla="*/ 0 h 88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44"/>
                <a:gd name="T58" fmla="*/ 0 h 883"/>
                <a:gd name="T59" fmla="*/ 1044 w 1044"/>
                <a:gd name="T60" fmla="*/ 883 h 88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44" h="883">
                  <a:moveTo>
                    <a:pt x="0" y="392"/>
                  </a:moveTo>
                  <a:cubicBezTo>
                    <a:pt x="5" y="462"/>
                    <a:pt x="12" y="578"/>
                    <a:pt x="80" y="624"/>
                  </a:cubicBezTo>
                  <a:cubicBezTo>
                    <a:pt x="141" y="664"/>
                    <a:pt x="216" y="665"/>
                    <a:pt x="248" y="696"/>
                  </a:cubicBezTo>
                  <a:cubicBezTo>
                    <a:pt x="286" y="811"/>
                    <a:pt x="256" y="741"/>
                    <a:pt x="272" y="808"/>
                  </a:cubicBezTo>
                  <a:cubicBezTo>
                    <a:pt x="275" y="843"/>
                    <a:pt x="285" y="883"/>
                    <a:pt x="285" y="883"/>
                  </a:cubicBezTo>
                  <a:cubicBezTo>
                    <a:pt x="333" y="870"/>
                    <a:pt x="317" y="883"/>
                    <a:pt x="333" y="821"/>
                  </a:cubicBezTo>
                  <a:cubicBezTo>
                    <a:pt x="341" y="821"/>
                    <a:pt x="344" y="776"/>
                    <a:pt x="344" y="776"/>
                  </a:cubicBezTo>
                  <a:cubicBezTo>
                    <a:pt x="348" y="742"/>
                    <a:pt x="336" y="712"/>
                    <a:pt x="376" y="712"/>
                  </a:cubicBezTo>
                  <a:cubicBezTo>
                    <a:pt x="392" y="712"/>
                    <a:pt x="408" y="716"/>
                    <a:pt x="424" y="720"/>
                  </a:cubicBezTo>
                  <a:cubicBezTo>
                    <a:pt x="440" y="724"/>
                    <a:pt x="472" y="736"/>
                    <a:pt x="472" y="736"/>
                  </a:cubicBezTo>
                  <a:cubicBezTo>
                    <a:pt x="554" y="730"/>
                    <a:pt x="596" y="729"/>
                    <a:pt x="669" y="717"/>
                  </a:cubicBezTo>
                  <a:cubicBezTo>
                    <a:pt x="693" y="753"/>
                    <a:pt x="693" y="797"/>
                    <a:pt x="704" y="840"/>
                  </a:cubicBezTo>
                  <a:cubicBezTo>
                    <a:pt x="716" y="868"/>
                    <a:pt x="724" y="875"/>
                    <a:pt x="736" y="880"/>
                  </a:cubicBezTo>
                  <a:cubicBezTo>
                    <a:pt x="749" y="877"/>
                    <a:pt x="766" y="881"/>
                    <a:pt x="776" y="872"/>
                  </a:cubicBezTo>
                  <a:cubicBezTo>
                    <a:pt x="808" y="839"/>
                    <a:pt x="785" y="760"/>
                    <a:pt x="808" y="728"/>
                  </a:cubicBezTo>
                  <a:cubicBezTo>
                    <a:pt x="822" y="707"/>
                    <a:pt x="856" y="712"/>
                    <a:pt x="880" y="704"/>
                  </a:cubicBezTo>
                  <a:cubicBezTo>
                    <a:pt x="902" y="692"/>
                    <a:pt x="924" y="677"/>
                    <a:pt x="944" y="656"/>
                  </a:cubicBezTo>
                  <a:cubicBezTo>
                    <a:pt x="968" y="623"/>
                    <a:pt x="1020" y="613"/>
                    <a:pt x="1024" y="504"/>
                  </a:cubicBezTo>
                  <a:cubicBezTo>
                    <a:pt x="1032" y="325"/>
                    <a:pt x="1044" y="153"/>
                    <a:pt x="968" y="0"/>
                  </a:cubicBezTo>
                </a:path>
              </a:pathLst>
            </a:custGeom>
            <a:noFill/>
            <a:ln w="38100" cap="flat" cmpd="sng">
              <a:solidFill>
                <a:schemeClr val="tx1"/>
              </a:solidFill>
              <a:prstDash val="solid"/>
              <a:round/>
              <a:headEnd/>
              <a:tailEnd/>
            </a:ln>
          </p:spPr>
          <p:txBody>
            <a:bodyPr wrap="none" anchor="ctr"/>
            <a:lstStyle/>
            <a:p>
              <a:endParaRPr lang="en-US"/>
            </a:p>
          </p:txBody>
        </p:sp>
        <p:sp>
          <p:nvSpPr>
            <p:cNvPr id="30815" name="Line 80"/>
            <p:cNvSpPr>
              <a:spLocks noChangeShapeType="1"/>
            </p:cNvSpPr>
            <p:nvPr/>
          </p:nvSpPr>
          <p:spPr bwMode="auto">
            <a:xfrm flipV="1">
              <a:off x="5424" y="1141"/>
              <a:ext cx="8" cy="1802"/>
            </a:xfrm>
            <a:prstGeom prst="line">
              <a:avLst/>
            </a:prstGeom>
            <a:noFill/>
            <a:ln w="38100">
              <a:solidFill>
                <a:schemeClr val="tx1"/>
              </a:solidFill>
              <a:round/>
              <a:headEnd/>
              <a:tailEnd/>
            </a:ln>
          </p:spPr>
          <p:txBody>
            <a:bodyPr wrap="none" anchor="ctr"/>
            <a:lstStyle/>
            <a:p>
              <a:endParaRPr lang="en-US"/>
            </a:p>
          </p:txBody>
        </p:sp>
        <p:sp>
          <p:nvSpPr>
            <p:cNvPr id="30816" name="Line 132"/>
            <p:cNvSpPr>
              <a:spLocks noChangeShapeType="1"/>
            </p:cNvSpPr>
            <p:nvPr/>
          </p:nvSpPr>
          <p:spPr bwMode="auto">
            <a:xfrm flipH="1">
              <a:off x="892" y="3337"/>
              <a:ext cx="3576" cy="0"/>
            </a:xfrm>
            <a:prstGeom prst="line">
              <a:avLst/>
            </a:prstGeom>
            <a:noFill/>
            <a:ln w="38100">
              <a:solidFill>
                <a:schemeClr val="tx1"/>
              </a:solidFill>
              <a:round/>
              <a:headEnd/>
              <a:tailEnd/>
            </a:ln>
          </p:spPr>
          <p:txBody>
            <a:bodyPr wrap="none" anchor="ctr"/>
            <a:lstStyle/>
            <a:p>
              <a:endParaRPr lang="en-US"/>
            </a:p>
          </p:txBody>
        </p:sp>
        <p:sp>
          <p:nvSpPr>
            <p:cNvPr id="30817" name="Line 133"/>
            <p:cNvSpPr>
              <a:spLocks noChangeShapeType="1"/>
            </p:cNvSpPr>
            <p:nvPr/>
          </p:nvSpPr>
          <p:spPr bwMode="auto">
            <a:xfrm>
              <a:off x="904" y="1157"/>
              <a:ext cx="0" cy="2184"/>
            </a:xfrm>
            <a:prstGeom prst="line">
              <a:avLst/>
            </a:prstGeom>
            <a:noFill/>
            <a:ln w="38100">
              <a:solidFill>
                <a:schemeClr val="tx1"/>
              </a:solidFill>
              <a:round/>
              <a:headEnd/>
              <a:tailEnd/>
            </a:ln>
          </p:spPr>
          <p:txBody>
            <a:bodyPr wrap="none" anchor="ctr"/>
            <a:lstStyle/>
            <a:p>
              <a:endParaRPr lang="en-US"/>
            </a:p>
          </p:txBody>
        </p:sp>
      </p:grpSp>
      <p:grpSp>
        <p:nvGrpSpPr>
          <p:cNvPr id="619718" name="Group 198"/>
          <p:cNvGrpSpPr>
            <a:grpSpLocks/>
          </p:cNvGrpSpPr>
          <p:nvPr/>
        </p:nvGrpSpPr>
        <p:grpSpPr bwMode="auto">
          <a:xfrm>
            <a:off x="5700713" y="2549525"/>
            <a:ext cx="1903412" cy="2312988"/>
            <a:chOff x="4040" y="1606"/>
            <a:chExt cx="1349" cy="1457"/>
          </a:xfrm>
        </p:grpSpPr>
        <p:sp>
          <p:nvSpPr>
            <p:cNvPr id="30795" name="Text Box 21"/>
            <p:cNvSpPr txBox="1">
              <a:spLocks noChangeArrowheads="1"/>
            </p:cNvSpPr>
            <p:nvPr/>
          </p:nvSpPr>
          <p:spPr bwMode="auto">
            <a:xfrm>
              <a:off x="4270" y="1606"/>
              <a:ext cx="1119" cy="634"/>
            </a:xfrm>
            <a:prstGeom prst="rect">
              <a:avLst/>
            </a:prstGeom>
            <a:noFill/>
            <a:ln w="9525">
              <a:noFill/>
              <a:miter lim="800000"/>
              <a:headEnd/>
              <a:tailEnd/>
            </a:ln>
          </p:spPr>
          <p:txBody>
            <a:bodyPr>
              <a:spAutoFit/>
            </a:bodyPr>
            <a:lstStyle/>
            <a:p>
              <a:r>
                <a:rPr lang="en-US" sz="2000" b="1">
                  <a:latin typeface="Calibri" pitchFamily="34" charset="0"/>
                </a:rPr>
                <a:t>Pregnancy:</a:t>
              </a:r>
            </a:p>
            <a:p>
              <a:r>
                <a:rPr lang="en-US" sz="2000" b="1">
                  <a:latin typeface="Calibri" pitchFamily="34" charset="0"/>
                </a:rPr>
                <a:t>fetal tissues</a:t>
              </a:r>
            </a:p>
            <a:p>
              <a:r>
                <a:rPr lang="en-US" sz="2000" b="1">
                  <a:latin typeface="Calibri" pitchFamily="34" charset="0"/>
                </a:rPr>
                <a:t>E = </a:t>
              </a:r>
              <a:r>
                <a:rPr lang="en-US" sz="2000" b="1">
                  <a:solidFill>
                    <a:srgbClr val="3399FF"/>
                  </a:solidFill>
                  <a:latin typeface="Calibri" pitchFamily="34" charset="0"/>
                </a:rPr>
                <a:t>NEy</a:t>
              </a:r>
              <a:endParaRPr lang="en-US" sz="2000" b="1">
                <a:latin typeface="Calibri" pitchFamily="34" charset="0"/>
              </a:endParaRPr>
            </a:p>
          </p:txBody>
        </p:sp>
        <p:sp>
          <p:nvSpPr>
            <p:cNvPr id="30796" name="Text Box 37"/>
            <p:cNvSpPr txBox="1">
              <a:spLocks noChangeArrowheads="1"/>
            </p:cNvSpPr>
            <p:nvPr/>
          </p:nvSpPr>
          <p:spPr bwMode="auto">
            <a:xfrm>
              <a:off x="4659" y="2563"/>
              <a:ext cx="488" cy="252"/>
            </a:xfrm>
            <a:prstGeom prst="rect">
              <a:avLst/>
            </a:prstGeom>
            <a:noFill/>
            <a:ln w="9525">
              <a:noFill/>
              <a:miter lim="800000"/>
              <a:headEnd/>
              <a:tailEnd/>
            </a:ln>
          </p:spPr>
          <p:txBody>
            <a:bodyPr wrap="none">
              <a:spAutoFit/>
            </a:bodyPr>
            <a:lstStyle/>
            <a:p>
              <a:r>
                <a:rPr lang="en-US" sz="2000" b="1">
                  <a:solidFill>
                    <a:srgbClr val="CC66FF"/>
                  </a:solidFill>
                  <a:latin typeface="Calibri" pitchFamily="34" charset="0"/>
                </a:rPr>
                <a:t>Heat</a:t>
              </a:r>
            </a:p>
          </p:txBody>
        </p:sp>
        <p:sp>
          <p:nvSpPr>
            <p:cNvPr id="30797" name="Line 36"/>
            <p:cNvSpPr>
              <a:spLocks noChangeShapeType="1"/>
            </p:cNvSpPr>
            <p:nvPr/>
          </p:nvSpPr>
          <p:spPr bwMode="auto">
            <a:xfrm flipV="1">
              <a:off x="5053" y="2093"/>
              <a:ext cx="0" cy="234"/>
            </a:xfrm>
            <a:prstGeom prst="line">
              <a:avLst/>
            </a:prstGeom>
            <a:noFill/>
            <a:ln w="38100">
              <a:solidFill>
                <a:schemeClr val="tx1"/>
              </a:solidFill>
              <a:round/>
              <a:headEnd/>
              <a:tailEnd type="triangle" w="med" len="med"/>
            </a:ln>
          </p:spPr>
          <p:txBody>
            <a:bodyPr wrap="none" anchor="ctr"/>
            <a:lstStyle/>
            <a:p>
              <a:endParaRPr lang="en-US"/>
            </a:p>
          </p:txBody>
        </p:sp>
        <p:sp>
          <p:nvSpPr>
            <p:cNvPr id="30798" name="Line 22"/>
            <p:cNvSpPr>
              <a:spLocks noChangeShapeType="1"/>
            </p:cNvSpPr>
            <p:nvPr/>
          </p:nvSpPr>
          <p:spPr bwMode="auto">
            <a:xfrm>
              <a:off x="5053" y="2336"/>
              <a:ext cx="3" cy="216"/>
            </a:xfrm>
            <a:prstGeom prst="line">
              <a:avLst/>
            </a:prstGeom>
            <a:noFill/>
            <a:ln w="38100">
              <a:solidFill>
                <a:schemeClr val="tx1"/>
              </a:solidFill>
              <a:round/>
              <a:headEnd/>
              <a:tailEnd type="triangle" w="med" len="med"/>
            </a:ln>
          </p:spPr>
          <p:txBody>
            <a:bodyPr wrap="none" anchor="ctr"/>
            <a:lstStyle/>
            <a:p>
              <a:endParaRPr lang="en-US"/>
            </a:p>
          </p:txBody>
        </p:sp>
        <p:sp>
          <p:nvSpPr>
            <p:cNvPr id="30799" name="Line 74"/>
            <p:cNvSpPr>
              <a:spLocks noChangeShapeType="1"/>
            </p:cNvSpPr>
            <p:nvPr/>
          </p:nvSpPr>
          <p:spPr bwMode="auto">
            <a:xfrm flipH="1">
              <a:off x="4041" y="1816"/>
              <a:ext cx="0" cy="538"/>
            </a:xfrm>
            <a:prstGeom prst="line">
              <a:avLst/>
            </a:prstGeom>
            <a:noFill/>
            <a:ln w="57150">
              <a:solidFill>
                <a:schemeClr val="tx1"/>
              </a:solidFill>
              <a:round/>
              <a:headEnd/>
              <a:tailEnd/>
            </a:ln>
          </p:spPr>
          <p:txBody>
            <a:bodyPr wrap="none" anchor="ctr"/>
            <a:lstStyle/>
            <a:p>
              <a:endParaRPr lang="en-US"/>
            </a:p>
          </p:txBody>
        </p:sp>
        <p:sp>
          <p:nvSpPr>
            <p:cNvPr id="30800" name="Line 75"/>
            <p:cNvSpPr>
              <a:spLocks noChangeShapeType="1"/>
            </p:cNvSpPr>
            <p:nvPr/>
          </p:nvSpPr>
          <p:spPr bwMode="auto">
            <a:xfrm rot="5400000">
              <a:off x="4555" y="1821"/>
              <a:ext cx="0" cy="1030"/>
            </a:xfrm>
            <a:prstGeom prst="line">
              <a:avLst/>
            </a:prstGeom>
            <a:noFill/>
            <a:ln w="57150">
              <a:solidFill>
                <a:schemeClr val="tx1"/>
              </a:solidFill>
              <a:round/>
              <a:headEnd/>
              <a:tailEnd/>
            </a:ln>
          </p:spPr>
          <p:txBody>
            <a:bodyPr wrap="none" anchor="ctr"/>
            <a:lstStyle/>
            <a:p>
              <a:endParaRPr lang="en-US"/>
            </a:p>
          </p:txBody>
        </p:sp>
        <p:grpSp>
          <p:nvGrpSpPr>
            <p:cNvPr id="30801" name="Group 135"/>
            <p:cNvGrpSpPr>
              <a:grpSpLocks/>
            </p:cNvGrpSpPr>
            <p:nvPr/>
          </p:nvGrpSpPr>
          <p:grpSpPr bwMode="auto">
            <a:xfrm>
              <a:off x="4507" y="2475"/>
              <a:ext cx="837" cy="588"/>
              <a:chOff x="745" y="2576"/>
              <a:chExt cx="967" cy="671"/>
            </a:xfrm>
          </p:grpSpPr>
          <p:sp>
            <p:nvSpPr>
              <p:cNvPr id="30802" name="Freeform 136"/>
              <p:cNvSpPr>
                <a:spLocks/>
              </p:cNvSpPr>
              <p:nvPr/>
            </p:nvSpPr>
            <p:spPr bwMode="auto">
              <a:xfrm>
                <a:off x="830" y="2636"/>
                <a:ext cx="263" cy="183"/>
              </a:xfrm>
              <a:custGeom>
                <a:avLst/>
                <a:gdLst>
                  <a:gd name="T0" fmla="*/ 10 w 263"/>
                  <a:gd name="T1" fmla="*/ 183 h 183"/>
                  <a:gd name="T2" fmla="*/ 7 w 263"/>
                  <a:gd name="T3" fmla="*/ 121 h 183"/>
                  <a:gd name="T4" fmla="*/ 50 w 263"/>
                  <a:gd name="T5" fmla="*/ 44 h 183"/>
                  <a:gd name="T6" fmla="*/ 138 w 263"/>
                  <a:gd name="T7" fmla="*/ 4 h 183"/>
                  <a:gd name="T8" fmla="*/ 229 w 263"/>
                  <a:gd name="T9" fmla="*/ 20 h 183"/>
                  <a:gd name="T10" fmla="*/ 263 w 263"/>
                  <a:gd name="T11" fmla="*/ 44 h 183"/>
                  <a:gd name="T12" fmla="*/ 0 60000 65536"/>
                  <a:gd name="T13" fmla="*/ 0 60000 65536"/>
                  <a:gd name="T14" fmla="*/ 0 60000 65536"/>
                  <a:gd name="T15" fmla="*/ 0 60000 65536"/>
                  <a:gd name="T16" fmla="*/ 0 60000 65536"/>
                  <a:gd name="T17" fmla="*/ 0 60000 65536"/>
                  <a:gd name="T18" fmla="*/ 0 w 263"/>
                  <a:gd name="T19" fmla="*/ 0 h 183"/>
                  <a:gd name="T20" fmla="*/ 263 w 263"/>
                  <a:gd name="T21" fmla="*/ 183 h 183"/>
                </a:gdLst>
                <a:ahLst/>
                <a:cxnLst>
                  <a:cxn ang="T12">
                    <a:pos x="T0" y="T1"/>
                  </a:cxn>
                  <a:cxn ang="T13">
                    <a:pos x="T2" y="T3"/>
                  </a:cxn>
                  <a:cxn ang="T14">
                    <a:pos x="T4" y="T5"/>
                  </a:cxn>
                  <a:cxn ang="T15">
                    <a:pos x="T6" y="T7"/>
                  </a:cxn>
                  <a:cxn ang="T16">
                    <a:pos x="T8" y="T9"/>
                  </a:cxn>
                  <a:cxn ang="T17">
                    <a:pos x="T10" y="T11"/>
                  </a:cxn>
                </a:cxnLst>
                <a:rect l="T18" t="T19" r="T20" b="T21"/>
                <a:pathLst>
                  <a:path w="263" h="183">
                    <a:moveTo>
                      <a:pt x="10" y="183"/>
                    </a:moveTo>
                    <a:cubicBezTo>
                      <a:pt x="5" y="163"/>
                      <a:pt x="0" y="144"/>
                      <a:pt x="7" y="121"/>
                    </a:cubicBezTo>
                    <a:cubicBezTo>
                      <a:pt x="14" y="98"/>
                      <a:pt x="28" y="63"/>
                      <a:pt x="50" y="44"/>
                    </a:cubicBezTo>
                    <a:cubicBezTo>
                      <a:pt x="72" y="25"/>
                      <a:pt x="108" y="8"/>
                      <a:pt x="138" y="4"/>
                    </a:cubicBezTo>
                    <a:cubicBezTo>
                      <a:pt x="168" y="0"/>
                      <a:pt x="208" y="13"/>
                      <a:pt x="229" y="20"/>
                    </a:cubicBezTo>
                    <a:cubicBezTo>
                      <a:pt x="250" y="27"/>
                      <a:pt x="256" y="35"/>
                      <a:pt x="263" y="44"/>
                    </a:cubicBezTo>
                  </a:path>
                </a:pathLst>
              </a:custGeom>
              <a:noFill/>
              <a:ln w="28575" cap="flat" cmpd="sng">
                <a:solidFill>
                  <a:schemeClr val="tx1"/>
                </a:solidFill>
                <a:prstDash val="sysDot"/>
                <a:round/>
                <a:headEnd/>
                <a:tailEnd/>
              </a:ln>
            </p:spPr>
            <p:txBody>
              <a:bodyPr wrap="none" anchor="ctr"/>
              <a:lstStyle/>
              <a:p>
                <a:endParaRPr lang="en-US"/>
              </a:p>
            </p:txBody>
          </p:sp>
          <p:sp>
            <p:nvSpPr>
              <p:cNvPr id="30803" name="Freeform 137"/>
              <p:cNvSpPr>
                <a:spLocks/>
              </p:cNvSpPr>
              <p:nvPr/>
            </p:nvSpPr>
            <p:spPr bwMode="auto">
              <a:xfrm>
                <a:off x="1067" y="2598"/>
                <a:ext cx="189" cy="55"/>
              </a:xfrm>
              <a:custGeom>
                <a:avLst/>
                <a:gdLst>
                  <a:gd name="T0" fmla="*/ 0 w 189"/>
                  <a:gd name="T1" fmla="*/ 55 h 55"/>
                  <a:gd name="T2" fmla="*/ 40 w 189"/>
                  <a:gd name="T3" fmla="*/ 15 h 55"/>
                  <a:gd name="T4" fmla="*/ 104 w 189"/>
                  <a:gd name="T5" fmla="*/ 2 h 55"/>
                  <a:gd name="T6" fmla="*/ 138 w 189"/>
                  <a:gd name="T7" fmla="*/ 5 h 55"/>
                  <a:gd name="T8" fmla="*/ 189 w 189"/>
                  <a:gd name="T9" fmla="*/ 29 h 55"/>
                  <a:gd name="T10" fmla="*/ 0 60000 65536"/>
                  <a:gd name="T11" fmla="*/ 0 60000 65536"/>
                  <a:gd name="T12" fmla="*/ 0 60000 65536"/>
                  <a:gd name="T13" fmla="*/ 0 60000 65536"/>
                  <a:gd name="T14" fmla="*/ 0 60000 65536"/>
                  <a:gd name="T15" fmla="*/ 0 w 189"/>
                  <a:gd name="T16" fmla="*/ 0 h 55"/>
                  <a:gd name="T17" fmla="*/ 189 w 189"/>
                  <a:gd name="T18" fmla="*/ 55 h 55"/>
                </a:gdLst>
                <a:ahLst/>
                <a:cxnLst>
                  <a:cxn ang="T10">
                    <a:pos x="T0" y="T1"/>
                  </a:cxn>
                  <a:cxn ang="T11">
                    <a:pos x="T2" y="T3"/>
                  </a:cxn>
                  <a:cxn ang="T12">
                    <a:pos x="T4" y="T5"/>
                  </a:cxn>
                  <a:cxn ang="T13">
                    <a:pos x="T6" y="T7"/>
                  </a:cxn>
                  <a:cxn ang="T14">
                    <a:pos x="T8" y="T9"/>
                  </a:cxn>
                </a:cxnLst>
                <a:rect l="T15" t="T16" r="T17" b="T18"/>
                <a:pathLst>
                  <a:path w="189" h="55">
                    <a:moveTo>
                      <a:pt x="0" y="55"/>
                    </a:moveTo>
                    <a:cubicBezTo>
                      <a:pt x="11" y="39"/>
                      <a:pt x="23" y="24"/>
                      <a:pt x="40" y="15"/>
                    </a:cubicBezTo>
                    <a:cubicBezTo>
                      <a:pt x="57" y="6"/>
                      <a:pt x="88" y="4"/>
                      <a:pt x="104" y="2"/>
                    </a:cubicBezTo>
                    <a:cubicBezTo>
                      <a:pt x="120" y="0"/>
                      <a:pt x="124" y="1"/>
                      <a:pt x="138" y="5"/>
                    </a:cubicBezTo>
                    <a:cubicBezTo>
                      <a:pt x="152" y="9"/>
                      <a:pt x="170" y="19"/>
                      <a:pt x="189" y="29"/>
                    </a:cubicBezTo>
                  </a:path>
                </a:pathLst>
              </a:custGeom>
              <a:noFill/>
              <a:ln w="28575" cap="flat" cmpd="sng">
                <a:solidFill>
                  <a:schemeClr val="tx1"/>
                </a:solidFill>
                <a:prstDash val="sysDot"/>
                <a:round/>
                <a:headEnd/>
                <a:tailEnd/>
              </a:ln>
            </p:spPr>
            <p:txBody>
              <a:bodyPr wrap="none" anchor="ctr"/>
              <a:lstStyle/>
              <a:p>
                <a:endParaRPr lang="en-US"/>
              </a:p>
            </p:txBody>
          </p:sp>
          <p:sp>
            <p:nvSpPr>
              <p:cNvPr id="30804" name="Freeform 138"/>
              <p:cNvSpPr>
                <a:spLocks/>
              </p:cNvSpPr>
              <p:nvPr/>
            </p:nvSpPr>
            <p:spPr bwMode="auto">
              <a:xfrm>
                <a:off x="1243" y="2577"/>
                <a:ext cx="173" cy="74"/>
              </a:xfrm>
              <a:custGeom>
                <a:avLst/>
                <a:gdLst>
                  <a:gd name="T0" fmla="*/ 0 w 173"/>
                  <a:gd name="T1" fmla="*/ 74 h 74"/>
                  <a:gd name="T2" fmla="*/ 34 w 173"/>
                  <a:gd name="T3" fmla="*/ 23 h 74"/>
                  <a:gd name="T4" fmla="*/ 85 w 173"/>
                  <a:gd name="T5" fmla="*/ 2 h 74"/>
                  <a:gd name="T6" fmla="*/ 133 w 173"/>
                  <a:gd name="T7" fmla="*/ 12 h 74"/>
                  <a:gd name="T8" fmla="*/ 173 w 173"/>
                  <a:gd name="T9" fmla="*/ 36 h 74"/>
                  <a:gd name="T10" fmla="*/ 0 60000 65536"/>
                  <a:gd name="T11" fmla="*/ 0 60000 65536"/>
                  <a:gd name="T12" fmla="*/ 0 60000 65536"/>
                  <a:gd name="T13" fmla="*/ 0 60000 65536"/>
                  <a:gd name="T14" fmla="*/ 0 60000 65536"/>
                  <a:gd name="T15" fmla="*/ 0 w 173"/>
                  <a:gd name="T16" fmla="*/ 0 h 74"/>
                  <a:gd name="T17" fmla="*/ 173 w 173"/>
                  <a:gd name="T18" fmla="*/ 74 h 74"/>
                </a:gdLst>
                <a:ahLst/>
                <a:cxnLst>
                  <a:cxn ang="T10">
                    <a:pos x="T0" y="T1"/>
                  </a:cxn>
                  <a:cxn ang="T11">
                    <a:pos x="T2" y="T3"/>
                  </a:cxn>
                  <a:cxn ang="T12">
                    <a:pos x="T4" y="T5"/>
                  </a:cxn>
                  <a:cxn ang="T13">
                    <a:pos x="T6" y="T7"/>
                  </a:cxn>
                  <a:cxn ang="T14">
                    <a:pos x="T8" y="T9"/>
                  </a:cxn>
                </a:cxnLst>
                <a:rect l="T15" t="T16" r="T17" b="T18"/>
                <a:pathLst>
                  <a:path w="173" h="74">
                    <a:moveTo>
                      <a:pt x="0" y="74"/>
                    </a:moveTo>
                    <a:cubicBezTo>
                      <a:pt x="10" y="54"/>
                      <a:pt x="20" y="35"/>
                      <a:pt x="34" y="23"/>
                    </a:cubicBezTo>
                    <a:cubicBezTo>
                      <a:pt x="48" y="11"/>
                      <a:pt x="69" y="4"/>
                      <a:pt x="85" y="2"/>
                    </a:cubicBezTo>
                    <a:cubicBezTo>
                      <a:pt x="101" y="0"/>
                      <a:pt x="118" y="6"/>
                      <a:pt x="133" y="12"/>
                    </a:cubicBezTo>
                    <a:cubicBezTo>
                      <a:pt x="148" y="18"/>
                      <a:pt x="160" y="27"/>
                      <a:pt x="173" y="36"/>
                    </a:cubicBezTo>
                  </a:path>
                </a:pathLst>
              </a:custGeom>
              <a:noFill/>
              <a:ln w="28575" cap="flat" cmpd="sng">
                <a:solidFill>
                  <a:schemeClr val="tx1"/>
                </a:solidFill>
                <a:prstDash val="sysDot"/>
                <a:round/>
                <a:headEnd/>
                <a:tailEnd/>
              </a:ln>
            </p:spPr>
            <p:txBody>
              <a:bodyPr wrap="none" anchor="ctr"/>
              <a:lstStyle/>
              <a:p>
                <a:endParaRPr lang="en-US"/>
              </a:p>
            </p:txBody>
          </p:sp>
          <p:sp>
            <p:nvSpPr>
              <p:cNvPr id="30805" name="Freeform 139"/>
              <p:cNvSpPr>
                <a:spLocks/>
              </p:cNvSpPr>
              <p:nvPr/>
            </p:nvSpPr>
            <p:spPr bwMode="auto">
              <a:xfrm>
                <a:off x="1396" y="2576"/>
                <a:ext cx="210" cy="110"/>
              </a:xfrm>
              <a:custGeom>
                <a:avLst/>
                <a:gdLst>
                  <a:gd name="T0" fmla="*/ 0 w 210"/>
                  <a:gd name="T1" fmla="*/ 64 h 110"/>
                  <a:gd name="T2" fmla="*/ 32 w 210"/>
                  <a:gd name="T3" fmla="*/ 30 h 110"/>
                  <a:gd name="T4" fmla="*/ 76 w 210"/>
                  <a:gd name="T5" fmla="*/ 4 h 110"/>
                  <a:gd name="T6" fmla="*/ 140 w 210"/>
                  <a:gd name="T7" fmla="*/ 6 h 110"/>
                  <a:gd name="T8" fmla="*/ 188 w 210"/>
                  <a:gd name="T9" fmla="*/ 42 h 110"/>
                  <a:gd name="T10" fmla="*/ 210 w 210"/>
                  <a:gd name="T11" fmla="*/ 110 h 110"/>
                  <a:gd name="T12" fmla="*/ 0 60000 65536"/>
                  <a:gd name="T13" fmla="*/ 0 60000 65536"/>
                  <a:gd name="T14" fmla="*/ 0 60000 65536"/>
                  <a:gd name="T15" fmla="*/ 0 60000 65536"/>
                  <a:gd name="T16" fmla="*/ 0 60000 65536"/>
                  <a:gd name="T17" fmla="*/ 0 60000 65536"/>
                  <a:gd name="T18" fmla="*/ 0 w 210"/>
                  <a:gd name="T19" fmla="*/ 0 h 110"/>
                  <a:gd name="T20" fmla="*/ 210 w 210"/>
                  <a:gd name="T21" fmla="*/ 110 h 110"/>
                </a:gdLst>
                <a:ahLst/>
                <a:cxnLst>
                  <a:cxn ang="T12">
                    <a:pos x="T0" y="T1"/>
                  </a:cxn>
                  <a:cxn ang="T13">
                    <a:pos x="T2" y="T3"/>
                  </a:cxn>
                  <a:cxn ang="T14">
                    <a:pos x="T4" y="T5"/>
                  </a:cxn>
                  <a:cxn ang="T15">
                    <a:pos x="T6" y="T7"/>
                  </a:cxn>
                  <a:cxn ang="T16">
                    <a:pos x="T8" y="T9"/>
                  </a:cxn>
                  <a:cxn ang="T17">
                    <a:pos x="T10" y="T11"/>
                  </a:cxn>
                </a:cxnLst>
                <a:rect l="T18" t="T19" r="T20" b="T21"/>
                <a:pathLst>
                  <a:path w="210" h="110">
                    <a:moveTo>
                      <a:pt x="0" y="64"/>
                    </a:moveTo>
                    <a:cubicBezTo>
                      <a:pt x="9" y="52"/>
                      <a:pt x="19" y="40"/>
                      <a:pt x="32" y="30"/>
                    </a:cubicBezTo>
                    <a:cubicBezTo>
                      <a:pt x="45" y="20"/>
                      <a:pt x="58" y="8"/>
                      <a:pt x="76" y="4"/>
                    </a:cubicBezTo>
                    <a:cubicBezTo>
                      <a:pt x="94" y="0"/>
                      <a:pt x="121" y="0"/>
                      <a:pt x="140" y="6"/>
                    </a:cubicBezTo>
                    <a:cubicBezTo>
                      <a:pt x="159" y="12"/>
                      <a:pt x="176" y="25"/>
                      <a:pt x="188" y="42"/>
                    </a:cubicBezTo>
                    <a:cubicBezTo>
                      <a:pt x="200" y="59"/>
                      <a:pt x="205" y="84"/>
                      <a:pt x="210" y="110"/>
                    </a:cubicBezTo>
                  </a:path>
                </a:pathLst>
              </a:custGeom>
              <a:noFill/>
              <a:ln w="28575" cap="flat" cmpd="sng">
                <a:solidFill>
                  <a:schemeClr val="tx1"/>
                </a:solidFill>
                <a:prstDash val="sysDot"/>
                <a:round/>
                <a:headEnd/>
                <a:tailEnd/>
              </a:ln>
            </p:spPr>
            <p:txBody>
              <a:bodyPr wrap="none" anchor="ctr"/>
              <a:lstStyle/>
              <a:p>
                <a:endParaRPr lang="en-US"/>
              </a:p>
            </p:txBody>
          </p:sp>
          <p:sp>
            <p:nvSpPr>
              <p:cNvPr id="30806" name="Freeform 140"/>
              <p:cNvSpPr>
                <a:spLocks/>
              </p:cNvSpPr>
              <p:nvPr/>
            </p:nvSpPr>
            <p:spPr bwMode="auto">
              <a:xfrm>
                <a:off x="1606" y="2664"/>
                <a:ext cx="89" cy="192"/>
              </a:xfrm>
              <a:custGeom>
                <a:avLst/>
                <a:gdLst>
                  <a:gd name="T0" fmla="*/ 0 w 89"/>
                  <a:gd name="T1" fmla="*/ 0 h 192"/>
                  <a:gd name="T2" fmla="*/ 44 w 89"/>
                  <a:gd name="T3" fmla="*/ 20 h 192"/>
                  <a:gd name="T4" fmla="*/ 78 w 89"/>
                  <a:gd name="T5" fmla="*/ 70 h 192"/>
                  <a:gd name="T6" fmla="*/ 84 w 89"/>
                  <a:gd name="T7" fmla="*/ 124 h 192"/>
                  <a:gd name="T8" fmla="*/ 48 w 89"/>
                  <a:gd name="T9" fmla="*/ 192 h 192"/>
                  <a:gd name="T10" fmla="*/ 0 60000 65536"/>
                  <a:gd name="T11" fmla="*/ 0 60000 65536"/>
                  <a:gd name="T12" fmla="*/ 0 60000 65536"/>
                  <a:gd name="T13" fmla="*/ 0 60000 65536"/>
                  <a:gd name="T14" fmla="*/ 0 60000 65536"/>
                  <a:gd name="T15" fmla="*/ 0 w 89"/>
                  <a:gd name="T16" fmla="*/ 0 h 192"/>
                  <a:gd name="T17" fmla="*/ 89 w 89"/>
                  <a:gd name="T18" fmla="*/ 192 h 192"/>
                </a:gdLst>
                <a:ahLst/>
                <a:cxnLst>
                  <a:cxn ang="T10">
                    <a:pos x="T0" y="T1"/>
                  </a:cxn>
                  <a:cxn ang="T11">
                    <a:pos x="T2" y="T3"/>
                  </a:cxn>
                  <a:cxn ang="T12">
                    <a:pos x="T4" y="T5"/>
                  </a:cxn>
                  <a:cxn ang="T13">
                    <a:pos x="T6" y="T7"/>
                  </a:cxn>
                  <a:cxn ang="T14">
                    <a:pos x="T8" y="T9"/>
                  </a:cxn>
                </a:cxnLst>
                <a:rect l="T15" t="T16" r="T17" b="T18"/>
                <a:pathLst>
                  <a:path w="89" h="192">
                    <a:moveTo>
                      <a:pt x="0" y="0"/>
                    </a:moveTo>
                    <a:cubicBezTo>
                      <a:pt x="15" y="4"/>
                      <a:pt x="31" y="8"/>
                      <a:pt x="44" y="20"/>
                    </a:cubicBezTo>
                    <a:cubicBezTo>
                      <a:pt x="57" y="32"/>
                      <a:pt x="71" y="53"/>
                      <a:pt x="78" y="70"/>
                    </a:cubicBezTo>
                    <a:cubicBezTo>
                      <a:pt x="85" y="87"/>
                      <a:pt x="89" y="104"/>
                      <a:pt x="84" y="124"/>
                    </a:cubicBezTo>
                    <a:cubicBezTo>
                      <a:pt x="79" y="144"/>
                      <a:pt x="63" y="168"/>
                      <a:pt x="48" y="192"/>
                    </a:cubicBezTo>
                  </a:path>
                </a:pathLst>
              </a:custGeom>
              <a:noFill/>
              <a:ln w="28575" cap="flat" cmpd="sng">
                <a:solidFill>
                  <a:schemeClr val="tx1"/>
                </a:solidFill>
                <a:prstDash val="sysDot"/>
                <a:round/>
                <a:headEnd/>
                <a:tailEnd/>
              </a:ln>
            </p:spPr>
            <p:txBody>
              <a:bodyPr wrap="none" anchor="ctr"/>
              <a:lstStyle/>
              <a:p>
                <a:endParaRPr lang="en-US"/>
              </a:p>
            </p:txBody>
          </p:sp>
          <p:sp>
            <p:nvSpPr>
              <p:cNvPr id="30807" name="Freeform 141"/>
              <p:cNvSpPr>
                <a:spLocks/>
              </p:cNvSpPr>
              <p:nvPr/>
            </p:nvSpPr>
            <p:spPr bwMode="auto">
              <a:xfrm>
                <a:off x="1576" y="2818"/>
                <a:ext cx="136" cy="226"/>
              </a:xfrm>
              <a:custGeom>
                <a:avLst/>
                <a:gdLst>
                  <a:gd name="T0" fmla="*/ 106 w 136"/>
                  <a:gd name="T1" fmla="*/ 0 h 226"/>
                  <a:gd name="T2" fmla="*/ 130 w 136"/>
                  <a:gd name="T3" fmla="*/ 50 h 226"/>
                  <a:gd name="T4" fmla="*/ 132 w 136"/>
                  <a:gd name="T5" fmla="*/ 106 h 226"/>
                  <a:gd name="T6" fmla="*/ 108 w 136"/>
                  <a:gd name="T7" fmla="*/ 170 h 226"/>
                  <a:gd name="T8" fmla="*/ 58 w 136"/>
                  <a:gd name="T9" fmla="*/ 212 h 226"/>
                  <a:gd name="T10" fmla="*/ 0 w 136"/>
                  <a:gd name="T11" fmla="*/ 226 h 226"/>
                  <a:gd name="T12" fmla="*/ 0 60000 65536"/>
                  <a:gd name="T13" fmla="*/ 0 60000 65536"/>
                  <a:gd name="T14" fmla="*/ 0 60000 65536"/>
                  <a:gd name="T15" fmla="*/ 0 60000 65536"/>
                  <a:gd name="T16" fmla="*/ 0 60000 65536"/>
                  <a:gd name="T17" fmla="*/ 0 60000 65536"/>
                  <a:gd name="T18" fmla="*/ 0 w 136"/>
                  <a:gd name="T19" fmla="*/ 0 h 226"/>
                  <a:gd name="T20" fmla="*/ 136 w 136"/>
                  <a:gd name="T21" fmla="*/ 226 h 226"/>
                </a:gdLst>
                <a:ahLst/>
                <a:cxnLst>
                  <a:cxn ang="T12">
                    <a:pos x="T0" y="T1"/>
                  </a:cxn>
                  <a:cxn ang="T13">
                    <a:pos x="T2" y="T3"/>
                  </a:cxn>
                  <a:cxn ang="T14">
                    <a:pos x="T4" y="T5"/>
                  </a:cxn>
                  <a:cxn ang="T15">
                    <a:pos x="T6" y="T7"/>
                  </a:cxn>
                  <a:cxn ang="T16">
                    <a:pos x="T8" y="T9"/>
                  </a:cxn>
                  <a:cxn ang="T17">
                    <a:pos x="T10" y="T11"/>
                  </a:cxn>
                </a:cxnLst>
                <a:rect l="T18" t="T19" r="T20" b="T21"/>
                <a:pathLst>
                  <a:path w="136" h="226">
                    <a:moveTo>
                      <a:pt x="106" y="0"/>
                    </a:moveTo>
                    <a:cubicBezTo>
                      <a:pt x="116" y="16"/>
                      <a:pt x="126" y="32"/>
                      <a:pt x="130" y="50"/>
                    </a:cubicBezTo>
                    <a:cubicBezTo>
                      <a:pt x="134" y="68"/>
                      <a:pt x="136" y="86"/>
                      <a:pt x="132" y="106"/>
                    </a:cubicBezTo>
                    <a:cubicBezTo>
                      <a:pt x="128" y="126"/>
                      <a:pt x="120" y="152"/>
                      <a:pt x="108" y="170"/>
                    </a:cubicBezTo>
                    <a:cubicBezTo>
                      <a:pt x="96" y="188"/>
                      <a:pt x="76" y="203"/>
                      <a:pt x="58" y="212"/>
                    </a:cubicBezTo>
                    <a:cubicBezTo>
                      <a:pt x="40" y="221"/>
                      <a:pt x="20" y="223"/>
                      <a:pt x="0" y="226"/>
                    </a:cubicBezTo>
                  </a:path>
                </a:pathLst>
              </a:custGeom>
              <a:noFill/>
              <a:ln w="28575" cap="flat" cmpd="sng">
                <a:solidFill>
                  <a:schemeClr val="tx1"/>
                </a:solidFill>
                <a:prstDash val="sysDot"/>
                <a:round/>
                <a:headEnd/>
                <a:tailEnd/>
              </a:ln>
            </p:spPr>
            <p:txBody>
              <a:bodyPr wrap="none" anchor="ctr"/>
              <a:lstStyle/>
              <a:p>
                <a:endParaRPr lang="en-US"/>
              </a:p>
            </p:txBody>
          </p:sp>
          <p:sp>
            <p:nvSpPr>
              <p:cNvPr id="30808" name="Freeform 142"/>
              <p:cNvSpPr>
                <a:spLocks/>
              </p:cNvSpPr>
              <p:nvPr/>
            </p:nvSpPr>
            <p:spPr bwMode="auto">
              <a:xfrm>
                <a:off x="1372" y="2930"/>
                <a:ext cx="218" cy="244"/>
              </a:xfrm>
              <a:custGeom>
                <a:avLst/>
                <a:gdLst>
                  <a:gd name="T0" fmla="*/ 138 w 218"/>
                  <a:gd name="T1" fmla="*/ 0 h 244"/>
                  <a:gd name="T2" fmla="*/ 180 w 218"/>
                  <a:gd name="T3" fmla="*/ 26 h 244"/>
                  <a:gd name="T4" fmla="*/ 210 w 218"/>
                  <a:gd name="T5" fmla="*/ 78 h 244"/>
                  <a:gd name="T6" fmla="*/ 212 w 218"/>
                  <a:gd name="T7" fmla="*/ 150 h 244"/>
                  <a:gd name="T8" fmla="*/ 174 w 218"/>
                  <a:gd name="T9" fmla="*/ 212 h 244"/>
                  <a:gd name="T10" fmla="*/ 108 w 218"/>
                  <a:gd name="T11" fmla="*/ 240 h 244"/>
                  <a:gd name="T12" fmla="*/ 36 w 218"/>
                  <a:gd name="T13" fmla="*/ 234 h 244"/>
                  <a:gd name="T14" fmla="*/ 0 w 218"/>
                  <a:gd name="T15" fmla="*/ 218 h 244"/>
                  <a:gd name="T16" fmla="*/ 0 60000 65536"/>
                  <a:gd name="T17" fmla="*/ 0 60000 65536"/>
                  <a:gd name="T18" fmla="*/ 0 60000 65536"/>
                  <a:gd name="T19" fmla="*/ 0 60000 65536"/>
                  <a:gd name="T20" fmla="*/ 0 60000 65536"/>
                  <a:gd name="T21" fmla="*/ 0 60000 65536"/>
                  <a:gd name="T22" fmla="*/ 0 60000 65536"/>
                  <a:gd name="T23" fmla="*/ 0 60000 65536"/>
                  <a:gd name="T24" fmla="*/ 0 w 218"/>
                  <a:gd name="T25" fmla="*/ 0 h 244"/>
                  <a:gd name="T26" fmla="*/ 218 w 218"/>
                  <a:gd name="T27" fmla="*/ 244 h 24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8" h="244">
                    <a:moveTo>
                      <a:pt x="138" y="0"/>
                    </a:moveTo>
                    <a:cubicBezTo>
                      <a:pt x="153" y="6"/>
                      <a:pt x="168" y="13"/>
                      <a:pt x="180" y="26"/>
                    </a:cubicBezTo>
                    <a:cubicBezTo>
                      <a:pt x="192" y="39"/>
                      <a:pt x="205" y="57"/>
                      <a:pt x="210" y="78"/>
                    </a:cubicBezTo>
                    <a:cubicBezTo>
                      <a:pt x="215" y="99"/>
                      <a:pt x="218" y="128"/>
                      <a:pt x="212" y="150"/>
                    </a:cubicBezTo>
                    <a:cubicBezTo>
                      <a:pt x="206" y="172"/>
                      <a:pt x="191" y="197"/>
                      <a:pt x="174" y="212"/>
                    </a:cubicBezTo>
                    <a:cubicBezTo>
                      <a:pt x="157" y="227"/>
                      <a:pt x="131" y="236"/>
                      <a:pt x="108" y="240"/>
                    </a:cubicBezTo>
                    <a:cubicBezTo>
                      <a:pt x="85" y="244"/>
                      <a:pt x="54" y="238"/>
                      <a:pt x="36" y="234"/>
                    </a:cubicBezTo>
                    <a:cubicBezTo>
                      <a:pt x="18" y="230"/>
                      <a:pt x="9" y="224"/>
                      <a:pt x="0" y="218"/>
                    </a:cubicBezTo>
                  </a:path>
                </a:pathLst>
              </a:custGeom>
              <a:noFill/>
              <a:ln w="28575" cap="flat" cmpd="sng">
                <a:solidFill>
                  <a:schemeClr val="tx1"/>
                </a:solidFill>
                <a:prstDash val="sysDot"/>
                <a:round/>
                <a:headEnd/>
                <a:tailEnd/>
              </a:ln>
            </p:spPr>
            <p:txBody>
              <a:bodyPr wrap="none" anchor="ctr"/>
              <a:lstStyle/>
              <a:p>
                <a:endParaRPr lang="en-US"/>
              </a:p>
            </p:txBody>
          </p:sp>
          <p:sp>
            <p:nvSpPr>
              <p:cNvPr id="30809" name="Freeform 143"/>
              <p:cNvSpPr>
                <a:spLocks/>
              </p:cNvSpPr>
              <p:nvPr/>
            </p:nvSpPr>
            <p:spPr bwMode="auto">
              <a:xfrm>
                <a:off x="1100" y="3118"/>
                <a:ext cx="295" cy="129"/>
              </a:xfrm>
              <a:custGeom>
                <a:avLst/>
                <a:gdLst>
                  <a:gd name="T0" fmla="*/ 292 w 295"/>
                  <a:gd name="T1" fmla="*/ 0 h 129"/>
                  <a:gd name="T2" fmla="*/ 280 w 295"/>
                  <a:gd name="T3" fmla="*/ 58 h 129"/>
                  <a:gd name="T4" fmla="*/ 204 w 295"/>
                  <a:gd name="T5" fmla="*/ 116 h 129"/>
                  <a:gd name="T6" fmla="*/ 112 w 295"/>
                  <a:gd name="T7" fmla="*/ 124 h 129"/>
                  <a:gd name="T8" fmla="*/ 38 w 295"/>
                  <a:gd name="T9" fmla="*/ 88 h 129"/>
                  <a:gd name="T10" fmla="*/ 0 w 295"/>
                  <a:gd name="T11" fmla="*/ 38 h 129"/>
                  <a:gd name="T12" fmla="*/ 0 60000 65536"/>
                  <a:gd name="T13" fmla="*/ 0 60000 65536"/>
                  <a:gd name="T14" fmla="*/ 0 60000 65536"/>
                  <a:gd name="T15" fmla="*/ 0 60000 65536"/>
                  <a:gd name="T16" fmla="*/ 0 60000 65536"/>
                  <a:gd name="T17" fmla="*/ 0 60000 65536"/>
                  <a:gd name="T18" fmla="*/ 0 w 295"/>
                  <a:gd name="T19" fmla="*/ 0 h 129"/>
                  <a:gd name="T20" fmla="*/ 295 w 295"/>
                  <a:gd name="T21" fmla="*/ 129 h 129"/>
                </a:gdLst>
                <a:ahLst/>
                <a:cxnLst>
                  <a:cxn ang="T12">
                    <a:pos x="T0" y="T1"/>
                  </a:cxn>
                  <a:cxn ang="T13">
                    <a:pos x="T2" y="T3"/>
                  </a:cxn>
                  <a:cxn ang="T14">
                    <a:pos x="T4" y="T5"/>
                  </a:cxn>
                  <a:cxn ang="T15">
                    <a:pos x="T6" y="T7"/>
                  </a:cxn>
                  <a:cxn ang="T16">
                    <a:pos x="T8" y="T9"/>
                  </a:cxn>
                  <a:cxn ang="T17">
                    <a:pos x="T10" y="T11"/>
                  </a:cxn>
                </a:cxnLst>
                <a:rect l="T18" t="T19" r="T20" b="T21"/>
                <a:pathLst>
                  <a:path w="295" h="129">
                    <a:moveTo>
                      <a:pt x="292" y="0"/>
                    </a:moveTo>
                    <a:cubicBezTo>
                      <a:pt x="293" y="19"/>
                      <a:pt x="295" y="39"/>
                      <a:pt x="280" y="58"/>
                    </a:cubicBezTo>
                    <a:cubicBezTo>
                      <a:pt x="265" y="77"/>
                      <a:pt x="232" y="105"/>
                      <a:pt x="204" y="116"/>
                    </a:cubicBezTo>
                    <a:cubicBezTo>
                      <a:pt x="176" y="127"/>
                      <a:pt x="140" y="129"/>
                      <a:pt x="112" y="124"/>
                    </a:cubicBezTo>
                    <a:cubicBezTo>
                      <a:pt x="84" y="119"/>
                      <a:pt x="57" y="102"/>
                      <a:pt x="38" y="88"/>
                    </a:cubicBezTo>
                    <a:cubicBezTo>
                      <a:pt x="19" y="74"/>
                      <a:pt x="9" y="56"/>
                      <a:pt x="0" y="38"/>
                    </a:cubicBezTo>
                  </a:path>
                </a:pathLst>
              </a:custGeom>
              <a:noFill/>
              <a:ln w="28575" cap="flat" cmpd="sng">
                <a:solidFill>
                  <a:schemeClr val="tx1"/>
                </a:solidFill>
                <a:prstDash val="sysDot"/>
                <a:round/>
                <a:headEnd/>
                <a:tailEnd/>
              </a:ln>
            </p:spPr>
            <p:txBody>
              <a:bodyPr wrap="none" anchor="ctr"/>
              <a:lstStyle/>
              <a:p>
                <a:endParaRPr lang="en-US"/>
              </a:p>
            </p:txBody>
          </p:sp>
          <p:sp>
            <p:nvSpPr>
              <p:cNvPr id="30810" name="Freeform 144"/>
              <p:cNvSpPr>
                <a:spLocks/>
              </p:cNvSpPr>
              <p:nvPr/>
            </p:nvSpPr>
            <p:spPr bwMode="auto">
              <a:xfrm>
                <a:off x="878" y="3126"/>
                <a:ext cx="236" cy="79"/>
              </a:xfrm>
              <a:custGeom>
                <a:avLst/>
                <a:gdLst>
                  <a:gd name="T0" fmla="*/ 236 w 236"/>
                  <a:gd name="T1" fmla="*/ 56 h 79"/>
                  <a:gd name="T2" fmla="*/ 184 w 236"/>
                  <a:gd name="T3" fmla="*/ 76 h 79"/>
                  <a:gd name="T4" fmla="*/ 102 w 236"/>
                  <a:gd name="T5" fmla="*/ 74 h 79"/>
                  <a:gd name="T6" fmla="*/ 38 w 236"/>
                  <a:gd name="T7" fmla="*/ 44 h 79"/>
                  <a:gd name="T8" fmla="*/ 0 w 236"/>
                  <a:gd name="T9" fmla="*/ 0 h 79"/>
                  <a:gd name="T10" fmla="*/ 0 60000 65536"/>
                  <a:gd name="T11" fmla="*/ 0 60000 65536"/>
                  <a:gd name="T12" fmla="*/ 0 60000 65536"/>
                  <a:gd name="T13" fmla="*/ 0 60000 65536"/>
                  <a:gd name="T14" fmla="*/ 0 60000 65536"/>
                  <a:gd name="T15" fmla="*/ 0 w 236"/>
                  <a:gd name="T16" fmla="*/ 0 h 79"/>
                  <a:gd name="T17" fmla="*/ 236 w 236"/>
                  <a:gd name="T18" fmla="*/ 79 h 79"/>
                </a:gdLst>
                <a:ahLst/>
                <a:cxnLst>
                  <a:cxn ang="T10">
                    <a:pos x="T0" y="T1"/>
                  </a:cxn>
                  <a:cxn ang="T11">
                    <a:pos x="T2" y="T3"/>
                  </a:cxn>
                  <a:cxn ang="T12">
                    <a:pos x="T4" y="T5"/>
                  </a:cxn>
                  <a:cxn ang="T13">
                    <a:pos x="T6" y="T7"/>
                  </a:cxn>
                  <a:cxn ang="T14">
                    <a:pos x="T8" y="T9"/>
                  </a:cxn>
                </a:cxnLst>
                <a:rect l="T15" t="T16" r="T17" b="T18"/>
                <a:pathLst>
                  <a:path w="236" h="79">
                    <a:moveTo>
                      <a:pt x="236" y="56"/>
                    </a:moveTo>
                    <a:cubicBezTo>
                      <a:pt x="221" y="64"/>
                      <a:pt x="206" y="73"/>
                      <a:pt x="184" y="76"/>
                    </a:cubicBezTo>
                    <a:cubicBezTo>
                      <a:pt x="162" y="79"/>
                      <a:pt x="126" y="79"/>
                      <a:pt x="102" y="74"/>
                    </a:cubicBezTo>
                    <a:cubicBezTo>
                      <a:pt x="78" y="69"/>
                      <a:pt x="55" y="56"/>
                      <a:pt x="38" y="44"/>
                    </a:cubicBezTo>
                    <a:cubicBezTo>
                      <a:pt x="21" y="32"/>
                      <a:pt x="10" y="16"/>
                      <a:pt x="0" y="0"/>
                    </a:cubicBezTo>
                  </a:path>
                </a:pathLst>
              </a:custGeom>
              <a:noFill/>
              <a:ln w="28575" cap="flat" cmpd="sng">
                <a:solidFill>
                  <a:schemeClr val="tx1"/>
                </a:solidFill>
                <a:prstDash val="sysDot"/>
                <a:round/>
                <a:headEnd/>
                <a:tailEnd/>
              </a:ln>
            </p:spPr>
            <p:txBody>
              <a:bodyPr wrap="none" anchor="ctr"/>
              <a:lstStyle/>
              <a:p>
                <a:endParaRPr lang="en-US"/>
              </a:p>
            </p:txBody>
          </p:sp>
          <p:sp>
            <p:nvSpPr>
              <p:cNvPr id="30811" name="Freeform 145"/>
              <p:cNvSpPr>
                <a:spLocks/>
              </p:cNvSpPr>
              <p:nvPr/>
            </p:nvSpPr>
            <p:spPr bwMode="auto">
              <a:xfrm>
                <a:off x="768" y="2964"/>
                <a:ext cx="138" cy="161"/>
              </a:xfrm>
              <a:custGeom>
                <a:avLst/>
                <a:gdLst>
                  <a:gd name="T0" fmla="*/ 138 w 138"/>
                  <a:gd name="T1" fmla="*/ 150 h 161"/>
                  <a:gd name="T2" fmla="*/ 98 w 138"/>
                  <a:gd name="T3" fmla="*/ 160 h 161"/>
                  <a:gd name="T4" fmla="*/ 48 w 138"/>
                  <a:gd name="T5" fmla="*/ 146 h 161"/>
                  <a:gd name="T6" fmla="*/ 8 w 138"/>
                  <a:gd name="T7" fmla="*/ 110 h 161"/>
                  <a:gd name="T8" fmla="*/ 2 w 138"/>
                  <a:gd name="T9" fmla="*/ 64 h 161"/>
                  <a:gd name="T10" fmla="*/ 12 w 138"/>
                  <a:gd name="T11" fmla="*/ 22 h 161"/>
                  <a:gd name="T12" fmla="*/ 22 w 138"/>
                  <a:gd name="T13" fmla="*/ 0 h 161"/>
                  <a:gd name="T14" fmla="*/ 0 60000 65536"/>
                  <a:gd name="T15" fmla="*/ 0 60000 65536"/>
                  <a:gd name="T16" fmla="*/ 0 60000 65536"/>
                  <a:gd name="T17" fmla="*/ 0 60000 65536"/>
                  <a:gd name="T18" fmla="*/ 0 60000 65536"/>
                  <a:gd name="T19" fmla="*/ 0 60000 65536"/>
                  <a:gd name="T20" fmla="*/ 0 60000 65536"/>
                  <a:gd name="T21" fmla="*/ 0 w 138"/>
                  <a:gd name="T22" fmla="*/ 0 h 161"/>
                  <a:gd name="T23" fmla="*/ 138 w 138"/>
                  <a:gd name="T24" fmla="*/ 161 h 16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8" h="161">
                    <a:moveTo>
                      <a:pt x="138" y="150"/>
                    </a:moveTo>
                    <a:cubicBezTo>
                      <a:pt x="125" y="155"/>
                      <a:pt x="113" y="161"/>
                      <a:pt x="98" y="160"/>
                    </a:cubicBezTo>
                    <a:cubicBezTo>
                      <a:pt x="83" y="159"/>
                      <a:pt x="63" y="154"/>
                      <a:pt x="48" y="146"/>
                    </a:cubicBezTo>
                    <a:cubicBezTo>
                      <a:pt x="33" y="138"/>
                      <a:pt x="16" y="124"/>
                      <a:pt x="8" y="110"/>
                    </a:cubicBezTo>
                    <a:cubicBezTo>
                      <a:pt x="0" y="96"/>
                      <a:pt x="1" y="79"/>
                      <a:pt x="2" y="64"/>
                    </a:cubicBezTo>
                    <a:cubicBezTo>
                      <a:pt x="3" y="49"/>
                      <a:pt x="9" y="33"/>
                      <a:pt x="12" y="22"/>
                    </a:cubicBezTo>
                    <a:cubicBezTo>
                      <a:pt x="15" y="11"/>
                      <a:pt x="18" y="5"/>
                      <a:pt x="22" y="0"/>
                    </a:cubicBezTo>
                  </a:path>
                </a:pathLst>
              </a:custGeom>
              <a:noFill/>
              <a:ln w="28575" cap="flat" cmpd="sng">
                <a:solidFill>
                  <a:schemeClr val="tx1"/>
                </a:solidFill>
                <a:prstDash val="sysDot"/>
                <a:round/>
                <a:headEnd/>
                <a:tailEnd/>
              </a:ln>
            </p:spPr>
            <p:txBody>
              <a:bodyPr wrap="none" anchor="ctr"/>
              <a:lstStyle/>
              <a:p>
                <a:endParaRPr lang="en-US"/>
              </a:p>
            </p:txBody>
          </p:sp>
          <p:sp>
            <p:nvSpPr>
              <p:cNvPr id="30812" name="Freeform 146"/>
              <p:cNvSpPr>
                <a:spLocks/>
              </p:cNvSpPr>
              <p:nvPr/>
            </p:nvSpPr>
            <p:spPr bwMode="auto">
              <a:xfrm>
                <a:off x="745" y="2798"/>
                <a:ext cx="113" cy="184"/>
              </a:xfrm>
              <a:custGeom>
                <a:avLst/>
                <a:gdLst>
                  <a:gd name="T0" fmla="*/ 113 w 113"/>
                  <a:gd name="T1" fmla="*/ 184 h 184"/>
                  <a:gd name="T2" fmla="*/ 59 w 113"/>
                  <a:gd name="T3" fmla="*/ 176 h 184"/>
                  <a:gd name="T4" fmla="*/ 29 w 113"/>
                  <a:gd name="T5" fmla="*/ 154 h 184"/>
                  <a:gd name="T6" fmla="*/ 3 w 113"/>
                  <a:gd name="T7" fmla="*/ 104 h 184"/>
                  <a:gd name="T8" fmla="*/ 9 w 113"/>
                  <a:gd name="T9" fmla="*/ 56 h 184"/>
                  <a:gd name="T10" fmla="*/ 45 w 113"/>
                  <a:gd name="T11" fmla="*/ 16 h 184"/>
                  <a:gd name="T12" fmla="*/ 93 w 113"/>
                  <a:gd name="T13" fmla="*/ 0 h 184"/>
                  <a:gd name="T14" fmla="*/ 0 60000 65536"/>
                  <a:gd name="T15" fmla="*/ 0 60000 65536"/>
                  <a:gd name="T16" fmla="*/ 0 60000 65536"/>
                  <a:gd name="T17" fmla="*/ 0 60000 65536"/>
                  <a:gd name="T18" fmla="*/ 0 60000 65536"/>
                  <a:gd name="T19" fmla="*/ 0 60000 65536"/>
                  <a:gd name="T20" fmla="*/ 0 60000 65536"/>
                  <a:gd name="T21" fmla="*/ 0 w 113"/>
                  <a:gd name="T22" fmla="*/ 0 h 184"/>
                  <a:gd name="T23" fmla="*/ 113 w 113"/>
                  <a:gd name="T24" fmla="*/ 184 h 18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3" h="184">
                    <a:moveTo>
                      <a:pt x="113" y="184"/>
                    </a:moveTo>
                    <a:cubicBezTo>
                      <a:pt x="93" y="182"/>
                      <a:pt x="73" y="181"/>
                      <a:pt x="59" y="176"/>
                    </a:cubicBezTo>
                    <a:cubicBezTo>
                      <a:pt x="45" y="171"/>
                      <a:pt x="38" y="166"/>
                      <a:pt x="29" y="154"/>
                    </a:cubicBezTo>
                    <a:cubicBezTo>
                      <a:pt x="20" y="142"/>
                      <a:pt x="6" y="120"/>
                      <a:pt x="3" y="104"/>
                    </a:cubicBezTo>
                    <a:cubicBezTo>
                      <a:pt x="0" y="88"/>
                      <a:pt x="2" y="71"/>
                      <a:pt x="9" y="56"/>
                    </a:cubicBezTo>
                    <a:cubicBezTo>
                      <a:pt x="16" y="41"/>
                      <a:pt x="31" y="25"/>
                      <a:pt x="45" y="16"/>
                    </a:cubicBezTo>
                    <a:cubicBezTo>
                      <a:pt x="59" y="7"/>
                      <a:pt x="76" y="3"/>
                      <a:pt x="93" y="0"/>
                    </a:cubicBezTo>
                  </a:path>
                </a:pathLst>
              </a:custGeom>
              <a:noFill/>
              <a:ln w="28575" cap="flat" cmpd="sng">
                <a:solidFill>
                  <a:schemeClr val="tx1"/>
                </a:solidFill>
                <a:prstDash val="sysDot"/>
                <a:round/>
                <a:headEnd/>
                <a:tailEnd/>
              </a:ln>
            </p:spPr>
            <p:txBody>
              <a:bodyPr wrap="none" anchor="ctr"/>
              <a:lstStyle/>
              <a:p>
                <a:endParaRPr lang="en-US"/>
              </a:p>
            </p:txBody>
          </p:sp>
        </p:grpSp>
      </p:grpSp>
      <p:grpSp>
        <p:nvGrpSpPr>
          <p:cNvPr id="619713" name="Group 193"/>
          <p:cNvGrpSpPr>
            <a:grpSpLocks/>
          </p:cNvGrpSpPr>
          <p:nvPr/>
        </p:nvGrpSpPr>
        <p:grpSpPr bwMode="auto">
          <a:xfrm>
            <a:off x="104775" y="1054100"/>
            <a:ext cx="9004300" cy="1006475"/>
            <a:chOff x="74" y="664"/>
            <a:chExt cx="6381" cy="634"/>
          </a:xfrm>
        </p:grpSpPr>
        <p:sp>
          <p:nvSpPr>
            <p:cNvPr id="30792" name="Text Box 47"/>
            <p:cNvSpPr txBox="1">
              <a:spLocks noChangeArrowheads="1"/>
            </p:cNvSpPr>
            <p:nvPr/>
          </p:nvSpPr>
          <p:spPr bwMode="auto">
            <a:xfrm>
              <a:off x="74" y="664"/>
              <a:ext cx="790" cy="442"/>
            </a:xfrm>
            <a:prstGeom prst="rect">
              <a:avLst/>
            </a:prstGeom>
            <a:noFill/>
            <a:ln w="9525">
              <a:noFill/>
              <a:miter lim="800000"/>
              <a:headEnd/>
              <a:tailEnd/>
            </a:ln>
          </p:spPr>
          <p:txBody>
            <a:bodyPr>
              <a:spAutoFit/>
            </a:bodyPr>
            <a:lstStyle/>
            <a:p>
              <a:r>
                <a:rPr lang="en-US" sz="2000" b="1">
                  <a:latin typeface="Calibri" pitchFamily="34" charset="0"/>
                </a:rPr>
                <a:t>Feed E: GE</a:t>
              </a:r>
            </a:p>
          </p:txBody>
        </p:sp>
        <p:sp>
          <p:nvSpPr>
            <p:cNvPr id="30793" name="Text Box 55"/>
            <p:cNvSpPr txBox="1">
              <a:spLocks noChangeArrowheads="1"/>
            </p:cNvSpPr>
            <p:nvPr/>
          </p:nvSpPr>
          <p:spPr bwMode="auto">
            <a:xfrm>
              <a:off x="5468" y="664"/>
              <a:ext cx="987" cy="634"/>
            </a:xfrm>
            <a:prstGeom prst="rect">
              <a:avLst/>
            </a:prstGeom>
            <a:noFill/>
            <a:ln w="9525">
              <a:noFill/>
              <a:miter lim="800000"/>
              <a:headEnd/>
              <a:tailEnd/>
            </a:ln>
          </p:spPr>
          <p:txBody>
            <a:bodyPr wrap="none">
              <a:spAutoFit/>
            </a:bodyPr>
            <a:lstStyle/>
            <a:p>
              <a:pPr algn="r"/>
              <a:r>
                <a:rPr lang="en-US" sz="2000" b="1">
                  <a:solidFill>
                    <a:srgbClr val="CC66FF"/>
                  </a:solidFill>
                  <a:latin typeface="Calibri" pitchFamily="34" charset="0"/>
                </a:rPr>
                <a:t>Fecal E:</a:t>
              </a:r>
            </a:p>
            <a:p>
              <a:pPr algn="r"/>
              <a:r>
                <a:rPr lang="en-US" sz="2000" b="1">
                  <a:solidFill>
                    <a:srgbClr val="CC66FF"/>
                  </a:solidFill>
                  <a:latin typeface="Calibri" pitchFamily="34" charset="0"/>
                </a:rPr>
                <a:t>Undigested</a:t>
              </a:r>
            </a:p>
            <a:p>
              <a:pPr algn="r"/>
              <a:r>
                <a:rPr lang="en-US" sz="2000" b="1">
                  <a:solidFill>
                    <a:srgbClr val="CC66FF"/>
                  </a:solidFill>
                  <a:latin typeface="Calibri" pitchFamily="34" charset="0"/>
                </a:rPr>
                <a:t>OM</a:t>
              </a:r>
              <a:endParaRPr lang="en-US" sz="2000" b="1">
                <a:latin typeface="Calibri" pitchFamily="34" charset="0"/>
              </a:endParaRPr>
            </a:p>
          </p:txBody>
        </p:sp>
        <p:sp>
          <p:nvSpPr>
            <p:cNvPr id="30794" name="Text Box 56"/>
            <p:cNvSpPr txBox="1">
              <a:spLocks noChangeArrowheads="1"/>
            </p:cNvSpPr>
            <p:nvPr/>
          </p:nvSpPr>
          <p:spPr bwMode="auto">
            <a:xfrm>
              <a:off x="2350" y="848"/>
              <a:ext cx="2435" cy="233"/>
            </a:xfrm>
            <a:prstGeom prst="rect">
              <a:avLst/>
            </a:prstGeom>
            <a:noFill/>
            <a:ln w="9525">
              <a:noFill/>
              <a:miter lim="800000"/>
              <a:headEnd/>
              <a:tailEnd/>
            </a:ln>
          </p:spPr>
          <p:txBody>
            <a:bodyPr>
              <a:spAutoFit/>
            </a:bodyPr>
            <a:lstStyle/>
            <a:p>
              <a:r>
                <a:rPr lang="en-US">
                  <a:solidFill>
                    <a:schemeClr val="tx2"/>
                  </a:solidFill>
                  <a:latin typeface="Calibri" pitchFamily="34" charset="0"/>
                </a:rPr>
                <a:t>Digestible Energy: DE</a:t>
              </a:r>
            </a:p>
          </p:txBody>
        </p:sp>
      </p:grpSp>
      <p:grpSp>
        <p:nvGrpSpPr>
          <p:cNvPr id="619717" name="Group 197"/>
          <p:cNvGrpSpPr>
            <a:grpSpLocks/>
          </p:cNvGrpSpPr>
          <p:nvPr/>
        </p:nvGrpSpPr>
        <p:grpSpPr bwMode="auto">
          <a:xfrm>
            <a:off x="1384300" y="2882900"/>
            <a:ext cx="2670175" cy="2397125"/>
            <a:chOff x="981" y="1816"/>
            <a:chExt cx="1892" cy="1510"/>
          </a:xfrm>
        </p:grpSpPr>
        <p:sp>
          <p:nvSpPr>
            <p:cNvPr id="30787" name="Text Box 15"/>
            <p:cNvSpPr txBox="1">
              <a:spLocks noChangeArrowheads="1"/>
            </p:cNvSpPr>
            <p:nvPr/>
          </p:nvSpPr>
          <p:spPr bwMode="auto">
            <a:xfrm>
              <a:off x="981" y="3076"/>
              <a:ext cx="1892" cy="250"/>
            </a:xfrm>
            <a:prstGeom prst="rect">
              <a:avLst/>
            </a:prstGeom>
            <a:noFill/>
            <a:ln w="9525">
              <a:noFill/>
              <a:miter lim="800000"/>
              <a:headEnd/>
              <a:tailEnd/>
            </a:ln>
          </p:spPr>
          <p:txBody>
            <a:bodyPr>
              <a:spAutoFit/>
            </a:bodyPr>
            <a:lstStyle/>
            <a:p>
              <a:r>
                <a:rPr lang="en-US" sz="2000" b="1">
                  <a:latin typeface="Calibri" pitchFamily="34" charset="0"/>
                </a:rPr>
                <a:t>Tissue growth E = </a:t>
              </a:r>
              <a:r>
                <a:rPr lang="en-US" sz="2000" b="1">
                  <a:solidFill>
                    <a:srgbClr val="3399FF"/>
                  </a:solidFill>
                  <a:latin typeface="Calibri" pitchFamily="34" charset="0"/>
                </a:rPr>
                <a:t>NEg</a:t>
              </a:r>
              <a:endParaRPr lang="en-US" sz="2000" b="1">
                <a:latin typeface="Calibri" pitchFamily="34" charset="0"/>
              </a:endParaRPr>
            </a:p>
          </p:txBody>
        </p:sp>
        <p:sp>
          <p:nvSpPr>
            <p:cNvPr id="30788" name="Text Box 30"/>
            <p:cNvSpPr txBox="1">
              <a:spLocks noChangeArrowheads="1"/>
            </p:cNvSpPr>
            <p:nvPr/>
          </p:nvSpPr>
          <p:spPr bwMode="auto">
            <a:xfrm>
              <a:off x="1588" y="2554"/>
              <a:ext cx="488" cy="252"/>
            </a:xfrm>
            <a:prstGeom prst="rect">
              <a:avLst/>
            </a:prstGeom>
            <a:noFill/>
            <a:ln w="9525">
              <a:noFill/>
              <a:miter lim="800000"/>
              <a:headEnd/>
              <a:tailEnd/>
            </a:ln>
          </p:spPr>
          <p:txBody>
            <a:bodyPr wrap="none">
              <a:spAutoFit/>
            </a:bodyPr>
            <a:lstStyle/>
            <a:p>
              <a:r>
                <a:rPr lang="en-US" sz="2000" b="1">
                  <a:solidFill>
                    <a:srgbClr val="CC66FF"/>
                  </a:solidFill>
                  <a:latin typeface="Calibri" pitchFamily="34" charset="0"/>
                </a:rPr>
                <a:t>Heat</a:t>
              </a:r>
            </a:p>
          </p:txBody>
        </p:sp>
        <p:sp>
          <p:nvSpPr>
            <p:cNvPr id="30789" name="Line 130"/>
            <p:cNvSpPr>
              <a:spLocks noChangeShapeType="1"/>
            </p:cNvSpPr>
            <p:nvPr/>
          </p:nvSpPr>
          <p:spPr bwMode="auto">
            <a:xfrm rot="16200000" flipH="1">
              <a:off x="2087" y="2478"/>
              <a:ext cx="1122" cy="0"/>
            </a:xfrm>
            <a:prstGeom prst="line">
              <a:avLst/>
            </a:prstGeom>
            <a:noFill/>
            <a:ln w="38100">
              <a:solidFill>
                <a:schemeClr val="tx1"/>
              </a:solidFill>
              <a:round/>
              <a:headEnd/>
              <a:tailEnd type="triangle" w="med" len="med"/>
            </a:ln>
          </p:spPr>
          <p:txBody>
            <a:bodyPr wrap="none" anchor="ctr"/>
            <a:lstStyle/>
            <a:p>
              <a:endParaRPr lang="en-US"/>
            </a:p>
          </p:txBody>
        </p:sp>
        <p:sp>
          <p:nvSpPr>
            <p:cNvPr id="30790" name="Line 150"/>
            <p:cNvSpPr>
              <a:spLocks noChangeShapeType="1"/>
            </p:cNvSpPr>
            <p:nvPr/>
          </p:nvSpPr>
          <p:spPr bwMode="auto">
            <a:xfrm>
              <a:off x="2040" y="2671"/>
              <a:ext cx="600" cy="0"/>
            </a:xfrm>
            <a:prstGeom prst="line">
              <a:avLst/>
            </a:prstGeom>
            <a:noFill/>
            <a:ln w="38100">
              <a:solidFill>
                <a:schemeClr val="tx1"/>
              </a:solidFill>
              <a:round/>
              <a:headEnd type="triangle" w="med" len="med"/>
              <a:tailEnd/>
            </a:ln>
          </p:spPr>
          <p:txBody>
            <a:bodyPr wrap="none" anchor="ctr"/>
            <a:lstStyle/>
            <a:p>
              <a:endParaRPr lang="en-US"/>
            </a:p>
          </p:txBody>
        </p:sp>
        <p:sp>
          <p:nvSpPr>
            <p:cNvPr id="30791" name="Line 151"/>
            <p:cNvSpPr>
              <a:spLocks noChangeShapeType="1"/>
            </p:cNvSpPr>
            <p:nvPr/>
          </p:nvSpPr>
          <p:spPr bwMode="auto">
            <a:xfrm>
              <a:off x="2640" y="1816"/>
              <a:ext cx="0" cy="849"/>
            </a:xfrm>
            <a:prstGeom prst="line">
              <a:avLst/>
            </a:prstGeom>
            <a:noFill/>
            <a:ln w="57150">
              <a:solidFill>
                <a:schemeClr val="tx1"/>
              </a:solidFill>
              <a:round/>
              <a:headEnd/>
              <a:tailEnd/>
            </a:ln>
          </p:spPr>
          <p:txBody>
            <a:bodyPr wrap="none" anchor="ctr"/>
            <a:lstStyle/>
            <a:p>
              <a:endParaRPr lang="en-US"/>
            </a:p>
          </p:txBody>
        </p:sp>
      </p:grpSp>
      <p:grpSp>
        <p:nvGrpSpPr>
          <p:cNvPr id="619727" name="Group 207"/>
          <p:cNvGrpSpPr>
            <a:grpSpLocks/>
          </p:cNvGrpSpPr>
          <p:nvPr/>
        </p:nvGrpSpPr>
        <p:grpSpPr bwMode="auto">
          <a:xfrm>
            <a:off x="5362575" y="2882900"/>
            <a:ext cx="2425700" cy="3538538"/>
            <a:chOff x="3800" y="1816"/>
            <a:chExt cx="1719" cy="2229"/>
          </a:xfrm>
        </p:grpSpPr>
        <p:sp>
          <p:nvSpPr>
            <p:cNvPr id="30775" name="Text Box 39"/>
            <p:cNvSpPr txBox="1">
              <a:spLocks noChangeArrowheads="1"/>
            </p:cNvSpPr>
            <p:nvPr/>
          </p:nvSpPr>
          <p:spPr bwMode="auto">
            <a:xfrm>
              <a:off x="4659" y="2753"/>
              <a:ext cx="488" cy="252"/>
            </a:xfrm>
            <a:prstGeom prst="rect">
              <a:avLst/>
            </a:prstGeom>
            <a:noFill/>
            <a:ln w="9525">
              <a:noFill/>
              <a:miter lim="800000"/>
              <a:headEnd/>
              <a:tailEnd/>
            </a:ln>
          </p:spPr>
          <p:txBody>
            <a:bodyPr wrap="none">
              <a:spAutoFit/>
            </a:bodyPr>
            <a:lstStyle/>
            <a:p>
              <a:r>
                <a:rPr lang="en-US" sz="2000" b="1">
                  <a:solidFill>
                    <a:srgbClr val="CC66FF"/>
                  </a:solidFill>
                  <a:latin typeface="Calibri" pitchFamily="34" charset="0"/>
                </a:rPr>
                <a:t>Heat</a:t>
              </a:r>
            </a:p>
          </p:txBody>
        </p:sp>
        <p:sp>
          <p:nvSpPr>
            <p:cNvPr id="30776" name="Text Box 18"/>
            <p:cNvSpPr txBox="1">
              <a:spLocks noChangeArrowheads="1"/>
            </p:cNvSpPr>
            <p:nvPr/>
          </p:nvSpPr>
          <p:spPr bwMode="auto">
            <a:xfrm>
              <a:off x="4491" y="3795"/>
              <a:ext cx="1028" cy="250"/>
            </a:xfrm>
            <a:prstGeom prst="rect">
              <a:avLst/>
            </a:prstGeom>
            <a:noFill/>
            <a:ln w="9525">
              <a:noFill/>
              <a:miter lim="800000"/>
              <a:headEnd/>
              <a:tailEnd/>
            </a:ln>
          </p:spPr>
          <p:txBody>
            <a:bodyPr wrap="none">
              <a:spAutoFit/>
            </a:bodyPr>
            <a:lstStyle/>
            <a:p>
              <a:r>
                <a:rPr lang="en-US" sz="2000" b="1">
                  <a:latin typeface="Calibri" pitchFamily="34" charset="0"/>
                </a:rPr>
                <a:t>Milk E = </a:t>
              </a:r>
              <a:r>
                <a:rPr lang="en-US" sz="2000" b="1">
                  <a:solidFill>
                    <a:srgbClr val="3399FF"/>
                  </a:solidFill>
                  <a:latin typeface="Calibri" pitchFamily="34" charset="0"/>
                </a:rPr>
                <a:t>NEl</a:t>
              </a:r>
              <a:endParaRPr lang="en-US" sz="2000" b="1">
                <a:latin typeface="Calibri" pitchFamily="34" charset="0"/>
              </a:endParaRPr>
            </a:p>
          </p:txBody>
        </p:sp>
        <p:sp>
          <p:nvSpPr>
            <p:cNvPr id="30777" name="Line 83"/>
            <p:cNvSpPr>
              <a:spLocks noChangeShapeType="1"/>
            </p:cNvSpPr>
            <p:nvPr/>
          </p:nvSpPr>
          <p:spPr bwMode="auto">
            <a:xfrm flipH="1">
              <a:off x="3903" y="1816"/>
              <a:ext cx="0" cy="1370"/>
            </a:xfrm>
            <a:prstGeom prst="line">
              <a:avLst/>
            </a:prstGeom>
            <a:noFill/>
            <a:ln w="76200">
              <a:solidFill>
                <a:schemeClr val="tx1"/>
              </a:solidFill>
              <a:round/>
              <a:headEnd/>
              <a:tailEnd/>
            </a:ln>
          </p:spPr>
          <p:txBody>
            <a:bodyPr wrap="none" anchor="ctr"/>
            <a:lstStyle/>
            <a:p>
              <a:endParaRPr lang="en-US"/>
            </a:p>
          </p:txBody>
        </p:sp>
        <p:sp>
          <p:nvSpPr>
            <p:cNvPr id="30778" name="Line 152"/>
            <p:cNvSpPr>
              <a:spLocks noChangeShapeType="1"/>
            </p:cNvSpPr>
            <p:nvPr/>
          </p:nvSpPr>
          <p:spPr bwMode="auto">
            <a:xfrm flipH="1">
              <a:off x="3865" y="1816"/>
              <a:ext cx="0" cy="1370"/>
            </a:xfrm>
            <a:prstGeom prst="line">
              <a:avLst/>
            </a:prstGeom>
            <a:noFill/>
            <a:ln w="76200">
              <a:solidFill>
                <a:schemeClr val="tx1"/>
              </a:solidFill>
              <a:round/>
              <a:headEnd/>
              <a:tailEnd/>
            </a:ln>
          </p:spPr>
          <p:txBody>
            <a:bodyPr wrap="none" anchor="ctr"/>
            <a:lstStyle/>
            <a:p>
              <a:endParaRPr lang="en-US"/>
            </a:p>
          </p:txBody>
        </p:sp>
        <p:sp>
          <p:nvSpPr>
            <p:cNvPr id="30779" name="Line 153"/>
            <p:cNvSpPr>
              <a:spLocks noChangeShapeType="1"/>
            </p:cNvSpPr>
            <p:nvPr/>
          </p:nvSpPr>
          <p:spPr bwMode="auto">
            <a:xfrm flipH="1">
              <a:off x="3820" y="1816"/>
              <a:ext cx="0" cy="1370"/>
            </a:xfrm>
            <a:prstGeom prst="line">
              <a:avLst/>
            </a:prstGeom>
            <a:noFill/>
            <a:ln w="76200">
              <a:solidFill>
                <a:schemeClr val="tx1"/>
              </a:solidFill>
              <a:round/>
              <a:headEnd/>
              <a:tailEnd/>
            </a:ln>
          </p:spPr>
          <p:txBody>
            <a:bodyPr wrap="none" anchor="ctr"/>
            <a:lstStyle/>
            <a:p>
              <a:endParaRPr lang="en-US"/>
            </a:p>
          </p:txBody>
        </p:sp>
        <p:sp>
          <p:nvSpPr>
            <p:cNvPr id="30780" name="Line 82"/>
            <p:cNvSpPr>
              <a:spLocks noChangeShapeType="1"/>
            </p:cNvSpPr>
            <p:nvPr/>
          </p:nvSpPr>
          <p:spPr bwMode="auto">
            <a:xfrm flipH="1">
              <a:off x="3800" y="3178"/>
              <a:ext cx="1159" cy="0"/>
            </a:xfrm>
            <a:prstGeom prst="line">
              <a:avLst/>
            </a:prstGeom>
            <a:noFill/>
            <a:ln w="76200">
              <a:solidFill>
                <a:schemeClr val="tx1"/>
              </a:solidFill>
              <a:round/>
              <a:headEnd/>
              <a:tailEnd/>
            </a:ln>
          </p:spPr>
          <p:txBody>
            <a:bodyPr wrap="none" anchor="ctr"/>
            <a:lstStyle/>
            <a:p>
              <a:endParaRPr lang="en-US"/>
            </a:p>
          </p:txBody>
        </p:sp>
        <p:sp>
          <p:nvSpPr>
            <p:cNvPr id="30781" name="Line 154"/>
            <p:cNvSpPr>
              <a:spLocks noChangeShapeType="1"/>
            </p:cNvSpPr>
            <p:nvPr/>
          </p:nvSpPr>
          <p:spPr bwMode="auto">
            <a:xfrm flipH="1">
              <a:off x="3800" y="3218"/>
              <a:ext cx="1159" cy="0"/>
            </a:xfrm>
            <a:prstGeom prst="line">
              <a:avLst/>
            </a:prstGeom>
            <a:noFill/>
            <a:ln w="76200">
              <a:solidFill>
                <a:schemeClr val="tx1"/>
              </a:solidFill>
              <a:round/>
              <a:headEnd/>
              <a:tailEnd/>
            </a:ln>
          </p:spPr>
          <p:txBody>
            <a:bodyPr wrap="none" anchor="ctr"/>
            <a:lstStyle/>
            <a:p>
              <a:endParaRPr lang="en-US"/>
            </a:p>
          </p:txBody>
        </p:sp>
        <p:sp>
          <p:nvSpPr>
            <p:cNvPr id="30782" name="Line 155"/>
            <p:cNvSpPr>
              <a:spLocks noChangeShapeType="1"/>
            </p:cNvSpPr>
            <p:nvPr/>
          </p:nvSpPr>
          <p:spPr bwMode="auto">
            <a:xfrm flipH="1">
              <a:off x="3800" y="3258"/>
              <a:ext cx="1159" cy="0"/>
            </a:xfrm>
            <a:prstGeom prst="line">
              <a:avLst/>
            </a:prstGeom>
            <a:noFill/>
            <a:ln w="76200">
              <a:solidFill>
                <a:schemeClr val="tx1"/>
              </a:solidFill>
              <a:round/>
              <a:headEnd/>
              <a:tailEnd/>
            </a:ln>
          </p:spPr>
          <p:txBody>
            <a:bodyPr wrap="none" anchor="ctr"/>
            <a:lstStyle/>
            <a:p>
              <a:endParaRPr lang="en-US"/>
            </a:p>
          </p:txBody>
        </p:sp>
        <p:sp>
          <p:nvSpPr>
            <p:cNvPr id="30783" name="Line 19"/>
            <p:cNvSpPr>
              <a:spLocks noChangeShapeType="1"/>
            </p:cNvSpPr>
            <p:nvPr/>
          </p:nvSpPr>
          <p:spPr bwMode="auto">
            <a:xfrm>
              <a:off x="4975" y="3155"/>
              <a:ext cx="0" cy="552"/>
            </a:xfrm>
            <a:prstGeom prst="line">
              <a:avLst/>
            </a:prstGeom>
            <a:noFill/>
            <a:ln w="76200">
              <a:solidFill>
                <a:schemeClr val="tx1"/>
              </a:solidFill>
              <a:round/>
              <a:headEnd/>
              <a:tailEnd type="triangle" w="med" len="med"/>
            </a:ln>
          </p:spPr>
          <p:txBody>
            <a:bodyPr wrap="none" anchor="ctr"/>
            <a:lstStyle/>
            <a:p>
              <a:endParaRPr lang="en-US"/>
            </a:p>
          </p:txBody>
        </p:sp>
        <p:sp>
          <p:nvSpPr>
            <p:cNvPr id="30784" name="Line 38"/>
            <p:cNvSpPr>
              <a:spLocks noChangeShapeType="1"/>
            </p:cNvSpPr>
            <p:nvPr/>
          </p:nvSpPr>
          <p:spPr bwMode="auto">
            <a:xfrm flipH="1" flipV="1">
              <a:off x="5018" y="2959"/>
              <a:ext cx="0" cy="341"/>
            </a:xfrm>
            <a:prstGeom prst="line">
              <a:avLst/>
            </a:prstGeom>
            <a:noFill/>
            <a:ln w="57150">
              <a:solidFill>
                <a:schemeClr val="tx1"/>
              </a:solidFill>
              <a:round/>
              <a:headEnd/>
              <a:tailEnd type="triangle" w="med" len="med"/>
            </a:ln>
          </p:spPr>
          <p:txBody>
            <a:bodyPr wrap="none" anchor="ctr"/>
            <a:lstStyle/>
            <a:p>
              <a:endParaRPr lang="en-US"/>
            </a:p>
          </p:txBody>
        </p:sp>
        <p:sp>
          <p:nvSpPr>
            <p:cNvPr id="30785" name="Line 157"/>
            <p:cNvSpPr>
              <a:spLocks noChangeShapeType="1"/>
            </p:cNvSpPr>
            <p:nvPr/>
          </p:nvSpPr>
          <p:spPr bwMode="auto">
            <a:xfrm>
              <a:off x="4932" y="3186"/>
              <a:ext cx="0" cy="379"/>
            </a:xfrm>
            <a:prstGeom prst="line">
              <a:avLst/>
            </a:prstGeom>
            <a:noFill/>
            <a:ln w="76200">
              <a:solidFill>
                <a:schemeClr val="tx1"/>
              </a:solidFill>
              <a:round/>
              <a:headEnd/>
              <a:tailEnd/>
            </a:ln>
          </p:spPr>
          <p:txBody>
            <a:bodyPr wrap="none" anchor="ctr"/>
            <a:lstStyle/>
            <a:p>
              <a:endParaRPr lang="en-US"/>
            </a:p>
          </p:txBody>
        </p:sp>
        <p:sp>
          <p:nvSpPr>
            <p:cNvPr id="30786" name="Line 158"/>
            <p:cNvSpPr>
              <a:spLocks noChangeShapeType="1"/>
            </p:cNvSpPr>
            <p:nvPr/>
          </p:nvSpPr>
          <p:spPr bwMode="auto">
            <a:xfrm>
              <a:off x="5013" y="3155"/>
              <a:ext cx="0" cy="410"/>
            </a:xfrm>
            <a:prstGeom prst="line">
              <a:avLst/>
            </a:prstGeom>
            <a:noFill/>
            <a:ln w="76200">
              <a:solidFill>
                <a:schemeClr val="tx1"/>
              </a:solidFill>
              <a:round/>
              <a:headEnd/>
              <a:tailEnd/>
            </a:ln>
          </p:spPr>
          <p:txBody>
            <a:bodyPr wrap="none" anchor="ctr"/>
            <a:lstStyle/>
            <a:p>
              <a:endParaRPr lang="en-US"/>
            </a:p>
          </p:txBody>
        </p:sp>
      </p:grpSp>
      <p:grpSp>
        <p:nvGrpSpPr>
          <p:cNvPr id="619725" name="Group 205"/>
          <p:cNvGrpSpPr>
            <a:grpSpLocks/>
          </p:cNvGrpSpPr>
          <p:nvPr/>
        </p:nvGrpSpPr>
        <p:grpSpPr bwMode="auto">
          <a:xfrm>
            <a:off x="104775" y="1773238"/>
            <a:ext cx="9004300" cy="1109662"/>
            <a:chOff x="74" y="1117"/>
            <a:chExt cx="6381" cy="699"/>
          </a:xfrm>
        </p:grpSpPr>
        <p:grpSp>
          <p:nvGrpSpPr>
            <p:cNvPr id="30761" name="Group 195"/>
            <p:cNvGrpSpPr>
              <a:grpSpLocks/>
            </p:cNvGrpSpPr>
            <p:nvPr/>
          </p:nvGrpSpPr>
          <p:grpSpPr bwMode="auto">
            <a:xfrm>
              <a:off x="74" y="1117"/>
              <a:ext cx="6381" cy="673"/>
              <a:chOff x="74" y="1117"/>
              <a:chExt cx="6381" cy="673"/>
            </a:xfrm>
          </p:grpSpPr>
          <p:sp>
            <p:nvSpPr>
              <p:cNvPr id="30768" name="Line 147"/>
              <p:cNvSpPr>
                <a:spLocks noChangeShapeType="1"/>
              </p:cNvSpPr>
              <p:nvPr/>
            </p:nvSpPr>
            <p:spPr bwMode="auto">
              <a:xfrm>
                <a:off x="4248" y="1525"/>
                <a:ext cx="1531" cy="0"/>
              </a:xfrm>
              <a:prstGeom prst="line">
                <a:avLst/>
              </a:prstGeom>
              <a:noFill/>
              <a:ln w="76200">
                <a:solidFill>
                  <a:srgbClr val="CC66FF"/>
                </a:solidFill>
                <a:round/>
                <a:headEnd/>
                <a:tailEnd type="triangle" w="med" len="med"/>
              </a:ln>
            </p:spPr>
            <p:txBody>
              <a:bodyPr wrap="none" anchor="ctr"/>
              <a:lstStyle/>
              <a:p>
                <a:endParaRPr lang="en-US"/>
              </a:p>
            </p:txBody>
          </p:sp>
          <p:sp>
            <p:nvSpPr>
              <p:cNvPr id="30769" name="Text Box 9"/>
              <p:cNvSpPr txBox="1">
                <a:spLocks noChangeArrowheads="1"/>
              </p:cNvSpPr>
              <p:nvPr/>
            </p:nvSpPr>
            <p:spPr bwMode="auto">
              <a:xfrm>
                <a:off x="5758" y="1344"/>
                <a:ext cx="697" cy="446"/>
              </a:xfrm>
              <a:prstGeom prst="rect">
                <a:avLst/>
              </a:prstGeom>
              <a:noFill/>
              <a:ln w="9525">
                <a:noFill/>
                <a:miter lim="800000"/>
                <a:headEnd/>
                <a:tailEnd/>
              </a:ln>
            </p:spPr>
            <p:txBody>
              <a:bodyPr wrap="none">
                <a:spAutoFit/>
              </a:bodyPr>
              <a:lstStyle/>
              <a:p>
                <a:pPr algn="r"/>
                <a:r>
                  <a:rPr lang="en-US" sz="2000" b="1">
                    <a:solidFill>
                      <a:srgbClr val="CC66FF"/>
                    </a:solidFill>
                    <a:latin typeface="Calibri" pitchFamily="34" charset="0"/>
                  </a:rPr>
                  <a:t>Urinary</a:t>
                </a:r>
              </a:p>
              <a:p>
                <a:pPr algn="r"/>
                <a:r>
                  <a:rPr lang="en-US" sz="2000" b="1">
                    <a:solidFill>
                      <a:srgbClr val="CC66FF"/>
                    </a:solidFill>
                    <a:latin typeface="Calibri" pitchFamily="34" charset="0"/>
                  </a:rPr>
                  <a:t>E: Urea</a:t>
                </a:r>
              </a:p>
            </p:txBody>
          </p:sp>
          <p:grpSp>
            <p:nvGrpSpPr>
              <p:cNvPr id="30770" name="Group 173"/>
              <p:cNvGrpSpPr>
                <a:grpSpLocks/>
              </p:cNvGrpSpPr>
              <p:nvPr/>
            </p:nvGrpSpPr>
            <p:grpSpPr bwMode="auto">
              <a:xfrm>
                <a:off x="74" y="1117"/>
                <a:ext cx="1085" cy="620"/>
                <a:chOff x="74" y="1085"/>
                <a:chExt cx="1085" cy="835"/>
              </a:xfrm>
            </p:grpSpPr>
            <p:sp>
              <p:nvSpPr>
                <p:cNvPr id="30771" name="Text Box 5"/>
                <p:cNvSpPr txBox="1">
                  <a:spLocks noChangeArrowheads="1"/>
                </p:cNvSpPr>
                <p:nvPr/>
              </p:nvSpPr>
              <p:spPr bwMode="auto">
                <a:xfrm>
                  <a:off x="74" y="1325"/>
                  <a:ext cx="859" cy="595"/>
                </a:xfrm>
                <a:prstGeom prst="rect">
                  <a:avLst/>
                </a:prstGeom>
                <a:noFill/>
                <a:ln w="9525">
                  <a:noFill/>
                  <a:miter lim="800000"/>
                  <a:headEnd/>
                  <a:tailEnd/>
                </a:ln>
              </p:spPr>
              <p:txBody>
                <a:bodyPr>
                  <a:spAutoFit/>
                </a:bodyPr>
                <a:lstStyle/>
                <a:p>
                  <a:r>
                    <a:rPr lang="en-US" sz="2000" b="1">
                      <a:solidFill>
                        <a:srgbClr val="CC66FF"/>
                      </a:solidFill>
                      <a:latin typeface="Calibri" pitchFamily="34" charset="0"/>
                    </a:rPr>
                    <a:t>Gases E:</a:t>
                  </a:r>
                </a:p>
                <a:p>
                  <a:r>
                    <a:rPr lang="en-US" sz="2000" b="1">
                      <a:solidFill>
                        <a:srgbClr val="CC66FF"/>
                      </a:solidFill>
                      <a:latin typeface="Calibri" pitchFamily="34" charset="0"/>
                    </a:rPr>
                    <a:t>CH</a:t>
                  </a:r>
                  <a:r>
                    <a:rPr lang="en-US" sz="2000" b="1" baseline="-25000">
                      <a:solidFill>
                        <a:srgbClr val="CC66FF"/>
                      </a:solidFill>
                      <a:latin typeface="Calibri" pitchFamily="34" charset="0"/>
                    </a:rPr>
                    <a:t>4</a:t>
                  </a:r>
                  <a:endParaRPr lang="en-US" sz="2000" b="1">
                    <a:solidFill>
                      <a:srgbClr val="CC66FF"/>
                    </a:solidFill>
                    <a:latin typeface="Calibri" pitchFamily="34" charset="0"/>
                  </a:endParaRPr>
                </a:p>
              </p:txBody>
            </p:sp>
            <p:sp>
              <p:nvSpPr>
                <p:cNvPr id="30772" name="Line 170"/>
                <p:cNvSpPr>
                  <a:spLocks noChangeShapeType="1"/>
                </p:cNvSpPr>
                <p:nvPr/>
              </p:nvSpPr>
              <p:spPr bwMode="auto">
                <a:xfrm flipV="1">
                  <a:off x="1159" y="1098"/>
                  <a:ext cx="0" cy="558"/>
                </a:xfrm>
                <a:prstGeom prst="line">
                  <a:avLst/>
                </a:prstGeom>
                <a:noFill/>
                <a:ln w="38100">
                  <a:solidFill>
                    <a:srgbClr val="CC66FF"/>
                  </a:solidFill>
                  <a:round/>
                  <a:headEnd/>
                  <a:tailEnd/>
                </a:ln>
              </p:spPr>
              <p:txBody>
                <a:bodyPr wrap="none" anchor="ctr"/>
                <a:lstStyle/>
                <a:p>
                  <a:endParaRPr lang="en-US"/>
                </a:p>
              </p:txBody>
            </p:sp>
            <p:sp>
              <p:nvSpPr>
                <p:cNvPr id="30773" name="Line 171"/>
                <p:cNvSpPr>
                  <a:spLocks noChangeShapeType="1"/>
                </p:cNvSpPr>
                <p:nvPr/>
              </p:nvSpPr>
              <p:spPr bwMode="auto">
                <a:xfrm>
                  <a:off x="495" y="1085"/>
                  <a:ext cx="0" cy="198"/>
                </a:xfrm>
                <a:prstGeom prst="line">
                  <a:avLst/>
                </a:prstGeom>
                <a:noFill/>
                <a:ln w="38100">
                  <a:solidFill>
                    <a:srgbClr val="CC66FF"/>
                  </a:solidFill>
                  <a:round/>
                  <a:headEnd/>
                  <a:tailEnd type="triangle" w="med" len="med"/>
                </a:ln>
              </p:spPr>
              <p:txBody>
                <a:bodyPr wrap="none" anchor="ctr"/>
                <a:lstStyle/>
                <a:p>
                  <a:endParaRPr lang="en-US"/>
                </a:p>
              </p:txBody>
            </p:sp>
            <p:sp>
              <p:nvSpPr>
                <p:cNvPr id="30774" name="Line 172"/>
                <p:cNvSpPr>
                  <a:spLocks noChangeShapeType="1"/>
                </p:cNvSpPr>
                <p:nvPr/>
              </p:nvSpPr>
              <p:spPr bwMode="auto">
                <a:xfrm rot="16200000" flipV="1">
                  <a:off x="827" y="766"/>
                  <a:ext cx="0" cy="664"/>
                </a:xfrm>
                <a:prstGeom prst="line">
                  <a:avLst/>
                </a:prstGeom>
                <a:noFill/>
                <a:ln w="38100">
                  <a:solidFill>
                    <a:srgbClr val="CC66FF"/>
                  </a:solidFill>
                  <a:round/>
                  <a:headEnd/>
                  <a:tailEnd/>
                </a:ln>
              </p:spPr>
              <p:txBody>
                <a:bodyPr wrap="none" anchor="ctr"/>
                <a:lstStyle/>
                <a:p>
                  <a:endParaRPr lang="en-US"/>
                </a:p>
              </p:txBody>
            </p:sp>
          </p:grpSp>
        </p:grpSp>
        <p:grpSp>
          <p:nvGrpSpPr>
            <p:cNvPr id="30762" name="Group 194"/>
            <p:cNvGrpSpPr>
              <a:grpSpLocks/>
            </p:cNvGrpSpPr>
            <p:nvPr/>
          </p:nvGrpSpPr>
          <p:grpSpPr bwMode="auto">
            <a:xfrm>
              <a:off x="1415" y="1172"/>
              <a:ext cx="2833" cy="644"/>
              <a:chOff x="1415" y="1172"/>
              <a:chExt cx="2833" cy="644"/>
            </a:xfrm>
          </p:grpSpPr>
          <p:sp>
            <p:nvSpPr>
              <p:cNvPr id="30763" name="Text Box 58"/>
              <p:cNvSpPr txBox="1">
                <a:spLocks noChangeArrowheads="1"/>
              </p:cNvSpPr>
              <p:nvPr/>
            </p:nvSpPr>
            <p:spPr bwMode="auto">
              <a:xfrm>
                <a:off x="1913" y="1498"/>
                <a:ext cx="1868" cy="233"/>
              </a:xfrm>
              <a:prstGeom prst="rect">
                <a:avLst/>
              </a:prstGeom>
              <a:noFill/>
              <a:ln w="9525">
                <a:noFill/>
                <a:miter lim="800000"/>
                <a:headEnd/>
                <a:tailEnd/>
              </a:ln>
            </p:spPr>
            <p:txBody>
              <a:bodyPr wrap="none">
                <a:spAutoFit/>
              </a:bodyPr>
              <a:lstStyle/>
              <a:p>
                <a:r>
                  <a:rPr lang="en-US">
                    <a:solidFill>
                      <a:schemeClr val="accent1"/>
                    </a:solidFill>
                    <a:latin typeface="Calibri" pitchFamily="34" charset="0"/>
                  </a:rPr>
                  <a:t>Metabolizable Energy: ME</a:t>
                </a:r>
              </a:p>
            </p:txBody>
          </p:sp>
          <p:sp>
            <p:nvSpPr>
              <p:cNvPr id="30764" name="AutoShape 62"/>
              <p:cNvSpPr>
                <a:spLocks noChangeArrowheads="1"/>
              </p:cNvSpPr>
              <p:nvPr/>
            </p:nvSpPr>
            <p:spPr bwMode="auto">
              <a:xfrm rot="-5400000">
                <a:off x="1520" y="1239"/>
                <a:ext cx="295" cy="505"/>
              </a:xfrm>
              <a:prstGeom prst="downArrow">
                <a:avLst>
                  <a:gd name="adj1" fmla="val 50185"/>
                  <a:gd name="adj2" fmla="val 63070"/>
                </a:avLst>
              </a:prstGeom>
              <a:solidFill>
                <a:schemeClr val="tx2"/>
              </a:solidFill>
              <a:ln w="9525">
                <a:solidFill>
                  <a:schemeClr val="tx1"/>
                </a:solidFill>
                <a:miter lim="800000"/>
                <a:headEnd/>
                <a:tailEnd/>
              </a:ln>
            </p:spPr>
            <p:txBody>
              <a:bodyPr wrap="none" anchor="ctr"/>
              <a:lstStyle/>
              <a:p>
                <a:endParaRPr lang="en-NZ">
                  <a:latin typeface="Calibri" pitchFamily="34" charset="0"/>
                </a:endParaRPr>
              </a:p>
            </p:txBody>
          </p:sp>
          <p:sp>
            <p:nvSpPr>
              <p:cNvPr id="30765" name="Rectangle 85"/>
              <p:cNvSpPr>
                <a:spLocks noChangeArrowheads="1"/>
              </p:cNvSpPr>
              <p:nvPr/>
            </p:nvSpPr>
            <p:spPr bwMode="auto">
              <a:xfrm>
                <a:off x="1920" y="1455"/>
                <a:ext cx="2328" cy="361"/>
              </a:xfrm>
              <a:prstGeom prst="rect">
                <a:avLst/>
              </a:prstGeom>
              <a:noFill/>
              <a:ln w="38100">
                <a:solidFill>
                  <a:schemeClr val="accent1"/>
                </a:solidFill>
                <a:miter lim="800000"/>
                <a:headEnd/>
                <a:tailEnd/>
              </a:ln>
            </p:spPr>
            <p:txBody>
              <a:bodyPr wrap="none" anchor="ctr"/>
              <a:lstStyle/>
              <a:p>
                <a:endParaRPr lang="en-NZ">
                  <a:latin typeface="Calibri" pitchFamily="34" charset="0"/>
                </a:endParaRPr>
              </a:p>
            </p:txBody>
          </p:sp>
          <p:sp>
            <p:nvSpPr>
              <p:cNvPr id="30766" name="AutoShape 61"/>
              <p:cNvSpPr>
                <a:spLocks noChangeArrowheads="1"/>
              </p:cNvSpPr>
              <p:nvPr/>
            </p:nvSpPr>
            <p:spPr bwMode="auto">
              <a:xfrm>
                <a:off x="2873" y="1172"/>
                <a:ext cx="243" cy="283"/>
              </a:xfrm>
              <a:prstGeom prst="downArrow">
                <a:avLst>
                  <a:gd name="adj1" fmla="val 56046"/>
                  <a:gd name="adj2" fmla="val 50439"/>
                </a:avLst>
              </a:prstGeom>
              <a:solidFill>
                <a:schemeClr val="tx2"/>
              </a:solidFill>
              <a:ln w="9525">
                <a:solidFill>
                  <a:schemeClr val="tx1"/>
                </a:solidFill>
                <a:miter lim="800000"/>
                <a:headEnd/>
                <a:tailEnd/>
              </a:ln>
            </p:spPr>
            <p:txBody>
              <a:bodyPr wrap="none" anchor="ctr"/>
              <a:lstStyle/>
              <a:p>
                <a:endParaRPr lang="en-NZ">
                  <a:latin typeface="Calibri" pitchFamily="34" charset="0"/>
                </a:endParaRPr>
              </a:p>
            </p:txBody>
          </p:sp>
          <p:sp>
            <p:nvSpPr>
              <p:cNvPr id="30767" name="AutoShape 73"/>
              <p:cNvSpPr>
                <a:spLocks noChangeArrowheads="1"/>
              </p:cNvSpPr>
              <p:nvPr/>
            </p:nvSpPr>
            <p:spPr bwMode="auto">
              <a:xfrm>
                <a:off x="3973" y="1264"/>
                <a:ext cx="133" cy="191"/>
              </a:xfrm>
              <a:prstGeom prst="downArrow">
                <a:avLst>
                  <a:gd name="adj1" fmla="val 50185"/>
                  <a:gd name="adj2" fmla="val 52909"/>
                </a:avLst>
              </a:prstGeom>
              <a:solidFill>
                <a:schemeClr val="tx2"/>
              </a:solidFill>
              <a:ln w="9525">
                <a:solidFill>
                  <a:schemeClr val="tx1"/>
                </a:solidFill>
                <a:miter lim="800000"/>
                <a:headEnd/>
                <a:tailEnd/>
              </a:ln>
            </p:spPr>
            <p:txBody>
              <a:bodyPr wrap="none" anchor="ctr"/>
              <a:lstStyle/>
              <a:p>
                <a:endParaRPr lang="en-NZ">
                  <a:latin typeface="Calibri" pitchFamily="34" charset="0"/>
                </a:endParaRPr>
              </a:p>
            </p:txBody>
          </p:sp>
        </p:grpSp>
      </p:grpSp>
      <p:grpSp>
        <p:nvGrpSpPr>
          <p:cNvPr id="619716" name="Group 196"/>
          <p:cNvGrpSpPr>
            <a:grpSpLocks/>
          </p:cNvGrpSpPr>
          <p:nvPr/>
        </p:nvGrpSpPr>
        <p:grpSpPr bwMode="auto">
          <a:xfrm>
            <a:off x="1447800" y="2797175"/>
            <a:ext cx="2141538" cy="2028825"/>
            <a:chOff x="1026" y="1762"/>
            <a:chExt cx="1518" cy="1278"/>
          </a:xfrm>
        </p:grpSpPr>
        <p:sp>
          <p:nvSpPr>
            <p:cNvPr id="30741" name="Text Box 12"/>
            <p:cNvSpPr txBox="1">
              <a:spLocks noChangeArrowheads="1"/>
            </p:cNvSpPr>
            <p:nvPr/>
          </p:nvSpPr>
          <p:spPr bwMode="auto">
            <a:xfrm>
              <a:off x="1186" y="2077"/>
              <a:ext cx="1356" cy="442"/>
            </a:xfrm>
            <a:prstGeom prst="rect">
              <a:avLst/>
            </a:prstGeom>
            <a:noFill/>
            <a:ln w="9525">
              <a:noFill/>
              <a:miter lim="800000"/>
              <a:headEnd/>
              <a:tailEnd/>
            </a:ln>
          </p:spPr>
          <p:txBody>
            <a:bodyPr>
              <a:spAutoFit/>
            </a:bodyPr>
            <a:lstStyle/>
            <a:p>
              <a:r>
                <a:rPr lang="en-US" sz="2000" b="1">
                  <a:latin typeface="Calibri" pitchFamily="34" charset="0"/>
                </a:rPr>
                <a:t>Maintenance E = </a:t>
              </a:r>
              <a:r>
                <a:rPr lang="en-US" sz="2000" b="1">
                  <a:solidFill>
                    <a:srgbClr val="3399FF"/>
                  </a:solidFill>
                  <a:latin typeface="Calibri" pitchFamily="34" charset="0"/>
                </a:rPr>
                <a:t>NEm </a:t>
              </a:r>
              <a:r>
                <a:rPr lang="en-US" sz="2000" b="1">
                  <a:solidFill>
                    <a:srgbClr val="CC66FF"/>
                  </a:solidFill>
                  <a:latin typeface="Calibri" pitchFamily="34" charset="0"/>
                </a:rPr>
                <a:t>+ Heat</a:t>
              </a:r>
              <a:endParaRPr lang="en-US" sz="2000" b="1">
                <a:latin typeface="Calibri" pitchFamily="34" charset="0"/>
              </a:endParaRPr>
            </a:p>
          </p:txBody>
        </p:sp>
        <p:grpSp>
          <p:nvGrpSpPr>
            <p:cNvPr id="30742" name="Group 128"/>
            <p:cNvGrpSpPr>
              <a:grpSpLocks/>
            </p:cNvGrpSpPr>
            <p:nvPr/>
          </p:nvGrpSpPr>
          <p:grpSpPr bwMode="auto">
            <a:xfrm>
              <a:off x="1026" y="1879"/>
              <a:ext cx="1518" cy="1161"/>
              <a:chOff x="745" y="2576"/>
              <a:chExt cx="967" cy="671"/>
            </a:xfrm>
          </p:grpSpPr>
          <p:sp>
            <p:nvSpPr>
              <p:cNvPr id="30750" name="Freeform 116"/>
              <p:cNvSpPr>
                <a:spLocks/>
              </p:cNvSpPr>
              <p:nvPr/>
            </p:nvSpPr>
            <p:spPr bwMode="auto">
              <a:xfrm>
                <a:off x="830" y="2636"/>
                <a:ext cx="263" cy="183"/>
              </a:xfrm>
              <a:custGeom>
                <a:avLst/>
                <a:gdLst>
                  <a:gd name="T0" fmla="*/ 10 w 263"/>
                  <a:gd name="T1" fmla="*/ 183 h 183"/>
                  <a:gd name="T2" fmla="*/ 7 w 263"/>
                  <a:gd name="T3" fmla="*/ 121 h 183"/>
                  <a:gd name="T4" fmla="*/ 50 w 263"/>
                  <a:gd name="T5" fmla="*/ 44 h 183"/>
                  <a:gd name="T6" fmla="*/ 138 w 263"/>
                  <a:gd name="T7" fmla="*/ 4 h 183"/>
                  <a:gd name="T8" fmla="*/ 229 w 263"/>
                  <a:gd name="T9" fmla="*/ 20 h 183"/>
                  <a:gd name="T10" fmla="*/ 263 w 263"/>
                  <a:gd name="T11" fmla="*/ 44 h 183"/>
                  <a:gd name="T12" fmla="*/ 0 60000 65536"/>
                  <a:gd name="T13" fmla="*/ 0 60000 65536"/>
                  <a:gd name="T14" fmla="*/ 0 60000 65536"/>
                  <a:gd name="T15" fmla="*/ 0 60000 65536"/>
                  <a:gd name="T16" fmla="*/ 0 60000 65536"/>
                  <a:gd name="T17" fmla="*/ 0 60000 65536"/>
                  <a:gd name="T18" fmla="*/ 0 w 263"/>
                  <a:gd name="T19" fmla="*/ 0 h 183"/>
                  <a:gd name="T20" fmla="*/ 263 w 263"/>
                  <a:gd name="T21" fmla="*/ 183 h 183"/>
                </a:gdLst>
                <a:ahLst/>
                <a:cxnLst>
                  <a:cxn ang="T12">
                    <a:pos x="T0" y="T1"/>
                  </a:cxn>
                  <a:cxn ang="T13">
                    <a:pos x="T2" y="T3"/>
                  </a:cxn>
                  <a:cxn ang="T14">
                    <a:pos x="T4" y="T5"/>
                  </a:cxn>
                  <a:cxn ang="T15">
                    <a:pos x="T6" y="T7"/>
                  </a:cxn>
                  <a:cxn ang="T16">
                    <a:pos x="T8" y="T9"/>
                  </a:cxn>
                  <a:cxn ang="T17">
                    <a:pos x="T10" y="T11"/>
                  </a:cxn>
                </a:cxnLst>
                <a:rect l="T18" t="T19" r="T20" b="T21"/>
                <a:pathLst>
                  <a:path w="263" h="183">
                    <a:moveTo>
                      <a:pt x="10" y="183"/>
                    </a:moveTo>
                    <a:cubicBezTo>
                      <a:pt x="5" y="163"/>
                      <a:pt x="0" y="144"/>
                      <a:pt x="7" y="121"/>
                    </a:cubicBezTo>
                    <a:cubicBezTo>
                      <a:pt x="14" y="98"/>
                      <a:pt x="28" y="63"/>
                      <a:pt x="50" y="44"/>
                    </a:cubicBezTo>
                    <a:cubicBezTo>
                      <a:pt x="72" y="25"/>
                      <a:pt x="108" y="8"/>
                      <a:pt x="138" y="4"/>
                    </a:cubicBezTo>
                    <a:cubicBezTo>
                      <a:pt x="168" y="0"/>
                      <a:pt x="208" y="13"/>
                      <a:pt x="229" y="20"/>
                    </a:cubicBezTo>
                    <a:cubicBezTo>
                      <a:pt x="250" y="27"/>
                      <a:pt x="256" y="35"/>
                      <a:pt x="263" y="44"/>
                    </a:cubicBezTo>
                  </a:path>
                </a:pathLst>
              </a:custGeom>
              <a:noFill/>
              <a:ln w="28575" cap="flat" cmpd="sng">
                <a:solidFill>
                  <a:schemeClr val="tx1"/>
                </a:solidFill>
                <a:prstDash val="sysDot"/>
                <a:round/>
                <a:headEnd/>
                <a:tailEnd/>
              </a:ln>
            </p:spPr>
            <p:txBody>
              <a:bodyPr wrap="none" anchor="ctr"/>
              <a:lstStyle/>
              <a:p>
                <a:endParaRPr lang="en-US"/>
              </a:p>
            </p:txBody>
          </p:sp>
          <p:sp>
            <p:nvSpPr>
              <p:cNvPr id="30751" name="Freeform 117"/>
              <p:cNvSpPr>
                <a:spLocks/>
              </p:cNvSpPr>
              <p:nvPr/>
            </p:nvSpPr>
            <p:spPr bwMode="auto">
              <a:xfrm>
                <a:off x="1067" y="2598"/>
                <a:ext cx="189" cy="55"/>
              </a:xfrm>
              <a:custGeom>
                <a:avLst/>
                <a:gdLst>
                  <a:gd name="T0" fmla="*/ 0 w 189"/>
                  <a:gd name="T1" fmla="*/ 55 h 55"/>
                  <a:gd name="T2" fmla="*/ 40 w 189"/>
                  <a:gd name="T3" fmla="*/ 15 h 55"/>
                  <a:gd name="T4" fmla="*/ 104 w 189"/>
                  <a:gd name="T5" fmla="*/ 2 h 55"/>
                  <a:gd name="T6" fmla="*/ 138 w 189"/>
                  <a:gd name="T7" fmla="*/ 5 h 55"/>
                  <a:gd name="T8" fmla="*/ 189 w 189"/>
                  <a:gd name="T9" fmla="*/ 29 h 55"/>
                  <a:gd name="T10" fmla="*/ 0 60000 65536"/>
                  <a:gd name="T11" fmla="*/ 0 60000 65536"/>
                  <a:gd name="T12" fmla="*/ 0 60000 65536"/>
                  <a:gd name="T13" fmla="*/ 0 60000 65536"/>
                  <a:gd name="T14" fmla="*/ 0 60000 65536"/>
                  <a:gd name="T15" fmla="*/ 0 w 189"/>
                  <a:gd name="T16" fmla="*/ 0 h 55"/>
                  <a:gd name="T17" fmla="*/ 189 w 189"/>
                  <a:gd name="T18" fmla="*/ 55 h 55"/>
                </a:gdLst>
                <a:ahLst/>
                <a:cxnLst>
                  <a:cxn ang="T10">
                    <a:pos x="T0" y="T1"/>
                  </a:cxn>
                  <a:cxn ang="T11">
                    <a:pos x="T2" y="T3"/>
                  </a:cxn>
                  <a:cxn ang="T12">
                    <a:pos x="T4" y="T5"/>
                  </a:cxn>
                  <a:cxn ang="T13">
                    <a:pos x="T6" y="T7"/>
                  </a:cxn>
                  <a:cxn ang="T14">
                    <a:pos x="T8" y="T9"/>
                  </a:cxn>
                </a:cxnLst>
                <a:rect l="T15" t="T16" r="T17" b="T18"/>
                <a:pathLst>
                  <a:path w="189" h="55">
                    <a:moveTo>
                      <a:pt x="0" y="55"/>
                    </a:moveTo>
                    <a:cubicBezTo>
                      <a:pt x="11" y="39"/>
                      <a:pt x="23" y="24"/>
                      <a:pt x="40" y="15"/>
                    </a:cubicBezTo>
                    <a:cubicBezTo>
                      <a:pt x="57" y="6"/>
                      <a:pt x="88" y="4"/>
                      <a:pt x="104" y="2"/>
                    </a:cubicBezTo>
                    <a:cubicBezTo>
                      <a:pt x="120" y="0"/>
                      <a:pt x="124" y="1"/>
                      <a:pt x="138" y="5"/>
                    </a:cubicBezTo>
                    <a:cubicBezTo>
                      <a:pt x="152" y="9"/>
                      <a:pt x="170" y="19"/>
                      <a:pt x="189" y="29"/>
                    </a:cubicBezTo>
                  </a:path>
                </a:pathLst>
              </a:custGeom>
              <a:noFill/>
              <a:ln w="28575" cap="flat" cmpd="sng">
                <a:solidFill>
                  <a:schemeClr val="tx1"/>
                </a:solidFill>
                <a:prstDash val="sysDot"/>
                <a:round/>
                <a:headEnd/>
                <a:tailEnd/>
              </a:ln>
            </p:spPr>
            <p:txBody>
              <a:bodyPr wrap="none" anchor="ctr"/>
              <a:lstStyle/>
              <a:p>
                <a:endParaRPr lang="en-US"/>
              </a:p>
            </p:txBody>
          </p:sp>
          <p:sp>
            <p:nvSpPr>
              <p:cNvPr id="30752" name="Freeform 118"/>
              <p:cNvSpPr>
                <a:spLocks/>
              </p:cNvSpPr>
              <p:nvPr/>
            </p:nvSpPr>
            <p:spPr bwMode="auto">
              <a:xfrm>
                <a:off x="1243" y="2577"/>
                <a:ext cx="173" cy="74"/>
              </a:xfrm>
              <a:custGeom>
                <a:avLst/>
                <a:gdLst>
                  <a:gd name="T0" fmla="*/ 0 w 173"/>
                  <a:gd name="T1" fmla="*/ 74 h 74"/>
                  <a:gd name="T2" fmla="*/ 34 w 173"/>
                  <a:gd name="T3" fmla="*/ 23 h 74"/>
                  <a:gd name="T4" fmla="*/ 85 w 173"/>
                  <a:gd name="T5" fmla="*/ 2 h 74"/>
                  <a:gd name="T6" fmla="*/ 133 w 173"/>
                  <a:gd name="T7" fmla="*/ 12 h 74"/>
                  <a:gd name="T8" fmla="*/ 173 w 173"/>
                  <a:gd name="T9" fmla="*/ 36 h 74"/>
                  <a:gd name="T10" fmla="*/ 0 60000 65536"/>
                  <a:gd name="T11" fmla="*/ 0 60000 65536"/>
                  <a:gd name="T12" fmla="*/ 0 60000 65536"/>
                  <a:gd name="T13" fmla="*/ 0 60000 65536"/>
                  <a:gd name="T14" fmla="*/ 0 60000 65536"/>
                  <a:gd name="T15" fmla="*/ 0 w 173"/>
                  <a:gd name="T16" fmla="*/ 0 h 74"/>
                  <a:gd name="T17" fmla="*/ 173 w 173"/>
                  <a:gd name="T18" fmla="*/ 74 h 74"/>
                </a:gdLst>
                <a:ahLst/>
                <a:cxnLst>
                  <a:cxn ang="T10">
                    <a:pos x="T0" y="T1"/>
                  </a:cxn>
                  <a:cxn ang="T11">
                    <a:pos x="T2" y="T3"/>
                  </a:cxn>
                  <a:cxn ang="T12">
                    <a:pos x="T4" y="T5"/>
                  </a:cxn>
                  <a:cxn ang="T13">
                    <a:pos x="T6" y="T7"/>
                  </a:cxn>
                  <a:cxn ang="T14">
                    <a:pos x="T8" y="T9"/>
                  </a:cxn>
                </a:cxnLst>
                <a:rect l="T15" t="T16" r="T17" b="T18"/>
                <a:pathLst>
                  <a:path w="173" h="74">
                    <a:moveTo>
                      <a:pt x="0" y="74"/>
                    </a:moveTo>
                    <a:cubicBezTo>
                      <a:pt x="10" y="54"/>
                      <a:pt x="20" y="35"/>
                      <a:pt x="34" y="23"/>
                    </a:cubicBezTo>
                    <a:cubicBezTo>
                      <a:pt x="48" y="11"/>
                      <a:pt x="69" y="4"/>
                      <a:pt x="85" y="2"/>
                    </a:cubicBezTo>
                    <a:cubicBezTo>
                      <a:pt x="101" y="0"/>
                      <a:pt x="118" y="6"/>
                      <a:pt x="133" y="12"/>
                    </a:cubicBezTo>
                    <a:cubicBezTo>
                      <a:pt x="148" y="18"/>
                      <a:pt x="160" y="27"/>
                      <a:pt x="173" y="36"/>
                    </a:cubicBezTo>
                  </a:path>
                </a:pathLst>
              </a:custGeom>
              <a:noFill/>
              <a:ln w="28575" cap="flat" cmpd="sng">
                <a:solidFill>
                  <a:schemeClr val="tx1"/>
                </a:solidFill>
                <a:prstDash val="sysDot"/>
                <a:round/>
                <a:headEnd/>
                <a:tailEnd/>
              </a:ln>
            </p:spPr>
            <p:txBody>
              <a:bodyPr wrap="none" anchor="ctr"/>
              <a:lstStyle/>
              <a:p>
                <a:endParaRPr lang="en-US"/>
              </a:p>
            </p:txBody>
          </p:sp>
          <p:sp>
            <p:nvSpPr>
              <p:cNvPr id="30753" name="Freeform 119"/>
              <p:cNvSpPr>
                <a:spLocks/>
              </p:cNvSpPr>
              <p:nvPr/>
            </p:nvSpPr>
            <p:spPr bwMode="auto">
              <a:xfrm>
                <a:off x="1396" y="2576"/>
                <a:ext cx="210" cy="110"/>
              </a:xfrm>
              <a:custGeom>
                <a:avLst/>
                <a:gdLst>
                  <a:gd name="T0" fmla="*/ 0 w 210"/>
                  <a:gd name="T1" fmla="*/ 64 h 110"/>
                  <a:gd name="T2" fmla="*/ 32 w 210"/>
                  <a:gd name="T3" fmla="*/ 30 h 110"/>
                  <a:gd name="T4" fmla="*/ 76 w 210"/>
                  <a:gd name="T5" fmla="*/ 4 h 110"/>
                  <a:gd name="T6" fmla="*/ 140 w 210"/>
                  <a:gd name="T7" fmla="*/ 6 h 110"/>
                  <a:gd name="T8" fmla="*/ 188 w 210"/>
                  <a:gd name="T9" fmla="*/ 42 h 110"/>
                  <a:gd name="T10" fmla="*/ 210 w 210"/>
                  <a:gd name="T11" fmla="*/ 110 h 110"/>
                  <a:gd name="T12" fmla="*/ 0 60000 65536"/>
                  <a:gd name="T13" fmla="*/ 0 60000 65536"/>
                  <a:gd name="T14" fmla="*/ 0 60000 65536"/>
                  <a:gd name="T15" fmla="*/ 0 60000 65536"/>
                  <a:gd name="T16" fmla="*/ 0 60000 65536"/>
                  <a:gd name="T17" fmla="*/ 0 60000 65536"/>
                  <a:gd name="T18" fmla="*/ 0 w 210"/>
                  <a:gd name="T19" fmla="*/ 0 h 110"/>
                  <a:gd name="T20" fmla="*/ 210 w 210"/>
                  <a:gd name="T21" fmla="*/ 110 h 110"/>
                </a:gdLst>
                <a:ahLst/>
                <a:cxnLst>
                  <a:cxn ang="T12">
                    <a:pos x="T0" y="T1"/>
                  </a:cxn>
                  <a:cxn ang="T13">
                    <a:pos x="T2" y="T3"/>
                  </a:cxn>
                  <a:cxn ang="T14">
                    <a:pos x="T4" y="T5"/>
                  </a:cxn>
                  <a:cxn ang="T15">
                    <a:pos x="T6" y="T7"/>
                  </a:cxn>
                  <a:cxn ang="T16">
                    <a:pos x="T8" y="T9"/>
                  </a:cxn>
                  <a:cxn ang="T17">
                    <a:pos x="T10" y="T11"/>
                  </a:cxn>
                </a:cxnLst>
                <a:rect l="T18" t="T19" r="T20" b="T21"/>
                <a:pathLst>
                  <a:path w="210" h="110">
                    <a:moveTo>
                      <a:pt x="0" y="64"/>
                    </a:moveTo>
                    <a:cubicBezTo>
                      <a:pt x="9" y="52"/>
                      <a:pt x="19" y="40"/>
                      <a:pt x="32" y="30"/>
                    </a:cubicBezTo>
                    <a:cubicBezTo>
                      <a:pt x="45" y="20"/>
                      <a:pt x="58" y="8"/>
                      <a:pt x="76" y="4"/>
                    </a:cubicBezTo>
                    <a:cubicBezTo>
                      <a:pt x="94" y="0"/>
                      <a:pt x="121" y="0"/>
                      <a:pt x="140" y="6"/>
                    </a:cubicBezTo>
                    <a:cubicBezTo>
                      <a:pt x="159" y="12"/>
                      <a:pt x="176" y="25"/>
                      <a:pt x="188" y="42"/>
                    </a:cubicBezTo>
                    <a:cubicBezTo>
                      <a:pt x="200" y="59"/>
                      <a:pt x="205" y="84"/>
                      <a:pt x="210" y="110"/>
                    </a:cubicBezTo>
                  </a:path>
                </a:pathLst>
              </a:custGeom>
              <a:noFill/>
              <a:ln w="28575" cap="flat" cmpd="sng">
                <a:solidFill>
                  <a:schemeClr val="tx1"/>
                </a:solidFill>
                <a:prstDash val="sysDot"/>
                <a:round/>
                <a:headEnd/>
                <a:tailEnd/>
              </a:ln>
            </p:spPr>
            <p:txBody>
              <a:bodyPr wrap="none" anchor="ctr"/>
              <a:lstStyle/>
              <a:p>
                <a:endParaRPr lang="en-US"/>
              </a:p>
            </p:txBody>
          </p:sp>
          <p:sp>
            <p:nvSpPr>
              <p:cNvPr id="30754" name="Freeform 120"/>
              <p:cNvSpPr>
                <a:spLocks/>
              </p:cNvSpPr>
              <p:nvPr/>
            </p:nvSpPr>
            <p:spPr bwMode="auto">
              <a:xfrm>
                <a:off x="1606" y="2664"/>
                <a:ext cx="89" cy="192"/>
              </a:xfrm>
              <a:custGeom>
                <a:avLst/>
                <a:gdLst>
                  <a:gd name="T0" fmla="*/ 0 w 89"/>
                  <a:gd name="T1" fmla="*/ 0 h 192"/>
                  <a:gd name="T2" fmla="*/ 44 w 89"/>
                  <a:gd name="T3" fmla="*/ 20 h 192"/>
                  <a:gd name="T4" fmla="*/ 78 w 89"/>
                  <a:gd name="T5" fmla="*/ 70 h 192"/>
                  <a:gd name="T6" fmla="*/ 84 w 89"/>
                  <a:gd name="T7" fmla="*/ 124 h 192"/>
                  <a:gd name="T8" fmla="*/ 48 w 89"/>
                  <a:gd name="T9" fmla="*/ 192 h 192"/>
                  <a:gd name="T10" fmla="*/ 0 60000 65536"/>
                  <a:gd name="T11" fmla="*/ 0 60000 65536"/>
                  <a:gd name="T12" fmla="*/ 0 60000 65536"/>
                  <a:gd name="T13" fmla="*/ 0 60000 65536"/>
                  <a:gd name="T14" fmla="*/ 0 60000 65536"/>
                  <a:gd name="T15" fmla="*/ 0 w 89"/>
                  <a:gd name="T16" fmla="*/ 0 h 192"/>
                  <a:gd name="T17" fmla="*/ 89 w 89"/>
                  <a:gd name="T18" fmla="*/ 192 h 192"/>
                </a:gdLst>
                <a:ahLst/>
                <a:cxnLst>
                  <a:cxn ang="T10">
                    <a:pos x="T0" y="T1"/>
                  </a:cxn>
                  <a:cxn ang="T11">
                    <a:pos x="T2" y="T3"/>
                  </a:cxn>
                  <a:cxn ang="T12">
                    <a:pos x="T4" y="T5"/>
                  </a:cxn>
                  <a:cxn ang="T13">
                    <a:pos x="T6" y="T7"/>
                  </a:cxn>
                  <a:cxn ang="T14">
                    <a:pos x="T8" y="T9"/>
                  </a:cxn>
                </a:cxnLst>
                <a:rect l="T15" t="T16" r="T17" b="T18"/>
                <a:pathLst>
                  <a:path w="89" h="192">
                    <a:moveTo>
                      <a:pt x="0" y="0"/>
                    </a:moveTo>
                    <a:cubicBezTo>
                      <a:pt x="15" y="4"/>
                      <a:pt x="31" y="8"/>
                      <a:pt x="44" y="20"/>
                    </a:cubicBezTo>
                    <a:cubicBezTo>
                      <a:pt x="57" y="32"/>
                      <a:pt x="71" y="53"/>
                      <a:pt x="78" y="70"/>
                    </a:cubicBezTo>
                    <a:cubicBezTo>
                      <a:pt x="85" y="87"/>
                      <a:pt x="89" y="104"/>
                      <a:pt x="84" y="124"/>
                    </a:cubicBezTo>
                    <a:cubicBezTo>
                      <a:pt x="79" y="144"/>
                      <a:pt x="63" y="168"/>
                      <a:pt x="48" y="192"/>
                    </a:cubicBezTo>
                  </a:path>
                </a:pathLst>
              </a:custGeom>
              <a:noFill/>
              <a:ln w="28575" cap="flat" cmpd="sng">
                <a:solidFill>
                  <a:schemeClr val="tx1"/>
                </a:solidFill>
                <a:prstDash val="sysDot"/>
                <a:round/>
                <a:headEnd/>
                <a:tailEnd/>
              </a:ln>
            </p:spPr>
            <p:txBody>
              <a:bodyPr wrap="none" anchor="ctr"/>
              <a:lstStyle/>
              <a:p>
                <a:endParaRPr lang="en-US"/>
              </a:p>
            </p:txBody>
          </p:sp>
          <p:sp>
            <p:nvSpPr>
              <p:cNvPr id="30755" name="Freeform 121"/>
              <p:cNvSpPr>
                <a:spLocks/>
              </p:cNvSpPr>
              <p:nvPr/>
            </p:nvSpPr>
            <p:spPr bwMode="auto">
              <a:xfrm>
                <a:off x="1576" y="2818"/>
                <a:ext cx="136" cy="226"/>
              </a:xfrm>
              <a:custGeom>
                <a:avLst/>
                <a:gdLst>
                  <a:gd name="T0" fmla="*/ 106 w 136"/>
                  <a:gd name="T1" fmla="*/ 0 h 226"/>
                  <a:gd name="T2" fmla="*/ 130 w 136"/>
                  <a:gd name="T3" fmla="*/ 50 h 226"/>
                  <a:gd name="T4" fmla="*/ 132 w 136"/>
                  <a:gd name="T5" fmla="*/ 106 h 226"/>
                  <a:gd name="T6" fmla="*/ 108 w 136"/>
                  <a:gd name="T7" fmla="*/ 170 h 226"/>
                  <a:gd name="T8" fmla="*/ 58 w 136"/>
                  <a:gd name="T9" fmla="*/ 212 h 226"/>
                  <a:gd name="T10" fmla="*/ 0 w 136"/>
                  <a:gd name="T11" fmla="*/ 226 h 226"/>
                  <a:gd name="T12" fmla="*/ 0 60000 65536"/>
                  <a:gd name="T13" fmla="*/ 0 60000 65536"/>
                  <a:gd name="T14" fmla="*/ 0 60000 65536"/>
                  <a:gd name="T15" fmla="*/ 0 60000 65536"/>
                  <a:gd name="T16" fmla="*/ 0 60000 65536"/>
                  <a:gd name="T17" fmla="*/ 0 60000 65536"/>
                  <a:gd name="T18" fmla="*/ 0 w 136"/>
                  <a:gd name="T19" fmla="*/ 0 h 226"/>
                  <a:gd name="T20" fmla="*/ 136 w 136"/>
                  <a:gd name="T21" fmla="*/ 226 h 226"/>
                </a:gdLst>
                <a:ahLst/>
                <a:cxnLst>
                  <a:cxn ang="T12">
                    <a:pos x="T0" y="T1"/>
                  </a:cxn>
                  <a:cxn ang="T13">
                    <a:pos x="T2" y="T3"/>
                  </a:cxn>
                  <a:cxn ang="T14">
                    <a:pos x="T4" y="T5"/>
                  </a:cxn>
                  <a:cxn ang="T15">
                    <a:pos x="T6" y="T7"/>
                  </a:cxn>
                  <a:cxn ang="T16">
                    <a:pos x="T8" y="T9"/>
                  </a:cxn>
                  <a:cxn ang="T17">
                    <a:pos x="T10" y="T11"/>
                  </a:cxn>
                </a:cxnLst>
                <a:rect l="T18" t="T19" r="T20" b="T21"/>
                <a:pathLst>
                  <a:path w="136" h="226">
                    <a:moveTo>
                      <a:pt x="106" y="0"/>
                    </a:moveTo>
                    <a:cubicBezTo>
                      <a:pt x="116" y="16"/>
                      <a:pt x="126" y="32"/>
                      <a:pt x="130" y="50"/>
                    </a:cubicBezTo>
                    <a:cubicBezTo>
                      <a:pt x="134" y="68"/>
                      <a:pt x="136" y="86"/>
                      <a:pt x="132" y="106"/>
                    </a:cubicBezTo>
                    <a:cubicBezTo>
                      <a:pt x="128" y="126"/>
                      <a:pt x="120" y="152"/>
                      <a:pt x="108" y="170"/>
                    </a:cubicBezTo>
                    <a:cubicBezTo>
                      <a:pt x="96" y="188"/>
                      <a:pt x="76" y="203"/>
                      <a:pt x="58" y="212"/>
                    </a:cubicBezTo>
                    <a:cubicBezTo>
                      <a:pt x="40" y="221"/>
                      <a:pt x="20" y="223"/>
                      <a:pt x="0" y="226"/>
                    </a:cubicBezTo>
                  </a:path>
                </a:pathLst>
              </a:custGeom>
              <a:noFill/>
              <a:ln w="28575" cap="flat" cmpd="sng">
                <a:solidFill>
                  <a:schemeClr val="tx1"/>
                </a:solidFill>
                <a:prstDash val="sysDot"/>
                <a:round/>
                <a:headEnd/>
                <a:tailEnd/>
              </a:ln>
            </p:spPr>
            <p:txBody>
              <a:bodyPr wrap="none" anchor="ctr"/>
              <a:lstStyle/>
              <a:p>
                <a:endParaRPr lang="en-US"/>
              </a:p>
            </p:txBody>
          </p:sp>
          <p:sp>
            <p:nvSpPr>
              <p:cNvPr id="30756" name="Freeform 122"/>
              <p:cNvSpPr>
                <a:spLocks/>
              </p:cNvSpPr>
              <p:nvPr/>
            </p:nvSpPr>
            <p:spPr bwMode="auto">
              <a:xfrm>
                <a:off x="1372" y="2930"/>
                <a:ext cx="218" cy="244"/>
              </a:xfrm>
              <a:custGeom>
                <a:avLst/>
                <a:gdLst>
                  <a:gd name="T0" fmla="*/ 138 w 218"/>
                  <a:gd name="T1" fmla="*/ 0 h 244"/>
                  <a:gd name="T2" fmla="*/ 180 w 218"/>
                  <a:gd name="T3" fmla="*/ 26 h 244"/>
                  <a:gd name="T4" fmla="*/ 210 w 218"/>
                  <a:gd name="T5" fmla="*/ 78 h 244"/>
                  <a:gd name="T6" fmla="*/ 212 w 218"/>
                  <a:gd name="T7" fmla="*/ 150 h 244"/>
                  <a:gd name="T8" fmla="*/ 174 w 218"/>
                  <a:gd name="T9" fmla="*/ 212 h 244"/>
                  <a:gd name="T10" fmla="*/ 108 w 218"/>
                  <a:gd name="T11" fmla="*/ 240 h 244"/>
                  <a:gd name="T12" fmla="*/ 36 w 218"/>
                  <a:gd name="T13" fmla="*/ 234 h 244"/>
                  <a:gd name="T14" fmla="*/ 0 w 218"/>
                  <a:gd name="T15" fmla="*/ 218 h 244"/>
                  <a:gd name="T16" fmla="*/ 0 60000 65536"/>
                  <a:gd name="T17" fmla="*/ 0 60000 65536"/>
                  <a:gd name="T18" fmla="*/ 0 60000 65536"/>
                  <a:gd name="T19" fmla="*/ 0 60000 65536"/>
                  <a:gd name="T20" fmla="*/ 0 60000 65536"/>
                  <a:gd name="T21" fmla="*/ 0 60000 65536"/>
                  <a:gd name="T22" fmla="*/ 0 60000 65536"/>
                  <a:gd name="T23" fmla="*/ 0 60000 65536"/>
                  <a:gd name="T24" fmla="*/ 0 w 218"/>
                  <a:gd name="T25" fmla="*/ 0 h 244"/>
                  <a:gd name="T26" fmla="*/ 218 w 218"/>
                  <a:gd name="T27" fmla="*/ 244 h 24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8" h="244">
                    <a:moveTo>
                      <a:pt x="138" y="0"/>
                    </a:moveTo>
                    <a:cubicBezTo>
                      <a:pt x="153" y="6"/>
                      <a:pt x="168" y="13"/>
                      <a:pt x="180" y="26"/>
                    </a:cubicBezTo>
                    <a:cubicBezTo>
                      <a:pt x="192" y="39"/>
                      <a:pt x="205" y="57"/>
                      <a:pt x="210" y="78"/>
                    </a:cubicBezTo>
                    <a:cubicBezTo>
                      <a:pt x="215" y="99"/>
                      <a:pt x="218" y="128"/>
                      <a:pt x="212" y="150"/>
                    </a:cubicBezTo>
                    <a:cubicBezTo>
                      <a:pt x="206" y="172"/>
                      <a:pt x="191" y="197"/>
                      <a:pt x="174" y="212"/>
                    </a:cubicBezTo>
                    <a:cubicBezTo>
                      <a:pt x="157" y="227"/>
                      <a:pt x="131" y="236"/>
                      <a:pt x="108" y="240"/>
                    </a:cubicBezTo>
                    <a:cubicBezTo>
                      <a:pt x="85" y="244"/>
                      <a:pt x="54" y="238"/>
                      <a:pt x="36" y="234"/>
                    </a:cubicBezTo>
                    <a:cubicBezTo>
                      <a:pt x="18" y="230"/>
                      <a:pt x="9" y="224"/>
                      <a:pt x="0" y="218"/>
                    </a:cubicBezTo>
                  </a:path>
                </a:pathLst>
              </a:custGeom>
              <a:noFill/>
              <a:ln w="28575" cap="flat" cmpd="sng">
                <a:solidFill>
                  <a:schemeClr val="tx1"/>
                </a:solidFill>
                <a:prstDash val="sysDot"/>
                <a:round/>
                <a:headEnd/>
                <a:tailEnd/>
              </a:ln>
            </p:spPr>
            <p:txBody>
              <a:bodyPr wrap="none" anchor="ctr"/>
              <a:lstStyle/>
              <a:p>
                <a:endParaRPr lang="en-US"/>
              </a:p>
            </p:txBody>
          </p:sp>
          <p:sp>
            <p:nvSpPr>
              <p:cNvPr id="30757" name="Freeform 123"/>
              <p:cNvSpPr>
                <a:spLocks/>
              </p:cNvSpPr>
              <p:nvPr/>
            </p:nvSpPr>
            <p:spPr bwMode="auto">
              <a:xfrm>
                <a:off x="1100" y="3118"/>
                <a:ext cx="295" cy="129"/>
              </a:xfrm>
              <a:custGeom>
                <a:avLst/>
                <a:gdLst>
                  <a:gd name="T0" fmla="*/ 292 w 295"/>
                  <a:gd name="T1" fmla="*/ 0 h 129"/>
                  <a:gd name="T2" fmla="*/ 280 w 295"/>
                  <a:gd name="T3" fmla="*/ 58 h 129"/>
                  <a:gd name="T4" fmla="*/ 204 w 295"/>
                  <a:gd name="T5" fmla="*/ 116 h 129"/>
                  <a:gd name="T6" fmla="*/ 112 w 295"/>
                  <a:gd name="T7" fmla="*/ 124 h 129"/>
                  <a:gd name="T8" fmla="*/ 38 w 295"/>
                  <a:gd name="T9" fmla="*/ 88 h 129"/>
                  <a:gd name="T10" fmla="*/ 0 w 295"/>
                  <a:gd name="T11" fmla="*/ 38 h 129"/>
                  <a:gd name="T12" fmla="*/ 0 60000 65536"/>
                  <a:gd name="T13" fmla="*/ 0 60000 65536"/>
                  <a:gd name="T14" fmla="*/ 0 60000 65536"/>
                  <a:gd name="T15" fmla="*/ 0 60000 65536"/>
                  <a:gd name="T16" fmla="*/ 0 60000 65536"/>
                  <a:gd name="T17" fmla="*/ 0 60000 65536"/>
                  <a:gd name="T18" fmla="*/ 0 w 295"/>
                  <a:gd name="T19" fmla="*/ 0 h 129"/>
                  <a:gd name="T20" fmla="*/ 295 w 295"/>
                  <a:gd name="T21" fmla="*/ 129 h 129"/>
                </a:gdLst>
                <a:ahLst/>
                <a:cxnLst>
                  <a:cxn ang="T12">
                    <a:pos x="T0" y="T1"/>
                  </a:cxn>
                  <a:cxn ang="T13">
                    <a:pos x="T2" y="T3"/>
                  </a:cxn>
                  <a:cxn ang="T14">
                    <a:pos x="T4" y="T5"/>
                  </a:cxn>
                  <a:cxn ang="T15">
                    <a:pos x="T6" y="T7"/>
                  </a:cxn>
                  <a:cxn ang="T16">
                    <a:pos x="T8" y="T9"/>
                  </a:cxn>
                  <a:cxn ang="T17">
                    <a:pos x="T10" y="T11"/>
                  </a:cxn>
                </a:cxnLst>
                <a:rect l="T18" t="T19" r="T20" b="T21"/>
                <a:pathLst>
                  <a:path w="295" h="129">
                    <a:moveTo>
                      <a:pt x="292" y="0"/>
                    </a:moveTo>
                    <a:cubicBezTo>
                      <a:pt x="293" y="19"/>
                      <a:pt x="295" y="39"/>
                      <a:pt x="280" y="58"/>
                    </a:cubicBezTo>
                    <a:cubicBezTo>
                      <a:pt x="265" y="77"/>
                      <a:pt x="232" y="105"/>
                      <a:pt x="204" y="116"/>
                    </a:cubicBezTo>
                    <a:cubicBezTo>
                      <a:pt x="176" y="127"/>
                      <a:pt x="140" y="129"/>
                      <a:pt x="112" y="124"/>
                    </a:cubicBezTo>
                    <a:cubicBezTo>
                      <a:pt x="84" y="119"/>
                      <a:pt x="57" y="102"/>
                      <a:pt x="38" y="88"/>
                    </a:cubicBezTo>
                    <a:cubicBezTo>
                      <a:pt x="19" y="74"/>
                      <a:pt x="9" y="56"/>
                      <a:pt x="0" y="38"/>
                    </a:cubicBezTo>
                  </a:path>
                </a:pathLst>
              </a:custGeom>
              <a:noFill/>
              <a:ln w="28575" cap="flat" cmpd="sng">
                <a:solidFill>
                  <a:schemeClr val="tx1"/>
                </a:solidFill>
                <a:prstDash val="sysDot"/>
                <a:round/>
                <a:headEnd/>
                <a:tailEnd/>
              </a:ln>
            </p:spPr>
            <p:txBody>
              <a:bodyPr wrap="none" anchor="ctr"/>
              <a:lstStyle/>
              <a:p>
                <a:endParaRPr lang="en-US"/>
              </a:p>
            </p:txBody>
          </p:sp>
          <p:sp>
            <p:nvSpPr>
              <p:cNvPr id="30758" name="Freeform 124"/>
              <p:cNvSpPr>
                <a:spLocks/>
              </p:cNvSpPr>
              <p:nvPr/>
            </p:nvSpPr>
            <p:spPr bwMode="auto">
              <a:xfrm>
                <a:off x="878" y="3126"/>
                <a:ext cx="236" cy="79"/>
              </a:xfrm>
              <a:custGeom>
                <a:avLst/>
                <a:gdLst>
                  <a:gd name="T0" fmla="*/ 236 w 236"/>
                  <a:gd name="T1" fmla="*/ 56 h 79"/>
                  <a:gd name="T2" fmla="*/ 184 w 236"/>
                  <a:gd name="T3" fmla="*/ 76 h 79"/>
                  <a:gd name="T4" fmla="*/ 102 w 236"/>
                  <a:gd name="T5" fmla="*/ 74 h 79"/>
                  <a:gd name="T6" fmla="*/ 38 w 236"/>
                  <a:gd name="T7" fmla="*/ 44 h 79"/>
                  <a:gd name="T8" fmla="*/ 0 w 236"/>
                  <a:gd name="T9" fmla="*/ 0 h 79"/>
                  <a:gd name="T10" fmla="*/ 0 60000 65536"/>
                  <a:gd name="T11" fmla="*/ 0 60000 65536"/>
                  <a:gd name="T12" fmla="*/ 0 60000 65536"/>
                  <a:gd name="T13" fmla="*/ 0 60000 65536"/>
                  <a:gd name="T14" fmla="*/ 0 60000 65536"/>
                  <a:gd name="T15" fmla="*/ 0 w 236"/>
                  <a:gd name="T16" fmla="*/ 0 h 79"/>
                  <a:gd name="T17" fmla="*/ 236 w 236"/>
                  <a:gd name="T18" fmla="*/ 79 h 79"/>
                </a:gdLst>
                <a:ahLst/>
                <a:cxnLst>
                  <a:cxn ang="T10">
                    <a:pos x="T0" y="T1"/>
                  </a:cxn>
                  <a:cxn ang="T11">
                    <a:pos x="T2" y="T3"/>
                  </a:cxn>
                  <a:cxn ang="T12">
                    <a:pos x="T4" y="T5"/>
                  </a:cxn>
                  <a:cxn ang="T13">
                    <a:pos x="T6" y="T7"/>
                  </a:cxn>
                  <a:cxn ang="T14">
                    <a:pos x="T8" y="T9"/>
                  </a:cxn>
                </a:cxnLst>
                <a:rect l="T15" t="T16" r="T17" b="T18"/>
                <a:pathLst>
                  <a:path w="236" h="79">
                    <a:moveTo>
                      <a:pt x="236" y="56"/>
                    </a:moveTo>
                    <a:cubicBezTo>
                      <a:pt x="221" y="64"/>
                      <a:pt x="206" y="73"/>
                      <a:pt x="184" y="76"/>
                    </a:cubicBezTo>
                    <a:cubicBezTo>
                      <a:pt x="162" y="79"/>
                      <a:pt x="126" y="79"/>
                      <a:pt x="102" y="74"/>
                    </a:cubicBezTo>
                    <a:cubicBezTo>
                      <a:pt x="78" y="69"/>
                      <a:pt x="55" y="56"/>
                      <a:pt x="38" y="44"/>
                    </a:cubicBezTo>
                    <a:cubicBezTo>
                      <a:pt x="21" y="32"/>
                      <a:pt x="10" y="16"/>
                      <a:pt x="0" y="0"/>
                    </a:cubicBezTo>
                  </a:path>
                </a:pathLst>
              </a:custGeom>
              <a:noFill/>
              <a:ln w="28575" cap="flat" cmpd="sng">
                <a:solidFill>
                  <a:schemeClr val="tx1"/>
                </a:solidFill>
                <a:prstDash val="sysDot"/>
                <a:round/>
                <a:headEnd/>
                <a:tailEnd/>
              </a:ln>
            </p:spPr>
            <p:txBody>
              <a:bodyPr wrap="none" anchor="ctr"/>
              <a:lstStyle/>
              <a:p>
                <a:endParaRPr lang="en-US"/>
              </a:p>
            </p:txBody>
          </p:sp>
          <p:sp>
            <p:nvSpPr>
              <p:cNvPr id="30759" name="Freeform 126"/>
              <p:cNvSpPr>
                <a:spLocks/>
              </p:cNvSpPr>
              <p:nvPr/>
            </p:nvSpPr>
            <p:spPr bwMode="auto">
              <a:xfrm>
                <a:off x="768" y="2964"/>
                <a:ext cx="138" cy="161"/>
              </a:xfrm>
              <a:custGeom>
                <a:avLst/>
                <a:gdLst>
                  <a:gd name="T0" fmla="*/ 138 w 138"/>
                  <a:gd name="T1" fmla="*/ 150 h 161"/>
                  <a:gd name="T2" fmla="*/ 98 w 138"/>
                  <a:gd name="T3" fmla="*/ 160 h 161"/>
                  <a:gd name="T4" fmla="*/ 48 w 138"/>
                  <a:gd name="T5" fmla="*/ 146 h 161"/>
                  <a:gd name="T6" fmla="*/ 8 w 138"/>
                  <a:gd name="T7" fmla="*/ 110 h 161"/>
                  <a:gd name="T8" fmla="*/ 2 w 138"/>
                  <a:gd name="T9" fmla="*/ 64 h 161"/>
                  <a:gd name="T10" fmla="*/ 12 w 138"/>
                  <a:gd name="T11" fmla="*/ 22 h 161"/>
                  <a:gd name="T12" fmla="*/ 22 w 138"/>
                  <a:gd name="T13" fmla="*/ 0 h 161"/>
                  <a:gd name="T14" fmla="*/ 0 60000 65536"/>
                  <a:gd name="T15" fmla="*/ 0 60000 65536"/>
                  <a:gd name="T16" fmla="*/ 0 60000 65536"/>
                  <a:gd name="T17" fmla="*/ 0 60000 65536"/>
                  <a:gd name="T18" fmla="*/ 0 60000 65536"/>
                  <a:gd name="T19" fmla="*/ 0 60000 65536"/>
                  <a:gd name="T20" fmla="*/ 0 60000 65536"/>
                  <a:gd name="T21" fmla="*/ 0 w 138"/>
                  <a:gd name="T22" fmla="*/ 0 h 161"/>
                  <a:gd name="T23" fmla="*/ 138 w 138"/>
                  <a:gd name="T24" fmla="*/ 161 h 16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8" h="161">
                    <a:moveTo>
                      <a:pt x="138" y="150"/>
                    </a:moveTo>
                    <a:cubicBezTo>
                      <a:pt x="125" y="155"/>
                      <a:pt x="113" y="161"/>
                      <a:pt x="98" y="160"/>
                    </a:cubicBezTo>
                    <a:cubicBezTo>
                      <a:pt x="83" y="159"/>
                      <a:pt x="63" y="154"/>
                      <a:pt x="48" y="146"/>
                    </a:cubicBezTo>
                    <a:cubicBezTo>
                      <a:pt x="33" y="138"/>
                      <a:pt x="16" y="124"/>
                      <a:pt x="8" y="110"/>
                    </a:cubicBezTo>
                    <a:cubicBezTo>
                      <a:pt x="0" y="96"/>
                      <a:pt x="1" y="79"/>
                      <a:pt x="2" y="64"/>
                    </a:cubicBezTo>
                    <a:cubicBezTo>
                      <a:pt x="3" y="49"/>
                      <a:pt x="9" y="33"/>
                      <a:pt x="12" y="22"/>
                    </a:cubicBezTo>
                    <a:cubicBezTo>
                      <a:pt x="15" y="11"/>
                      <a:pt x="18" y="5"/>
                      <a:pt x="22" y="0"/>
                    </a:cubicBezTo>
                  </a:path>
                </a:pathLst>
              </a:custGeom>
              <a:noFill/>
              <a:ln w="28575" cap="flat" cmpd="sng">
                <a:solidFill>
                  <a:schemeClr val="tx1"/>
                </a:solidFill>
                <a:prstDash val="sysDot"/>
                <a:round/>
                <a:headEnd/>
                <a:tailEnd/>
              </a:ln>
            </p:spPr>
            <p:txBody>
              <a:bodyPr wrap="none" anchor="ctr"/>
              <a:lstStyle/>
              <a:p>
                <a:endParaRPr lang="en-US"/>
              </a:p>
            </p:txBody>
          </p:sp>
          <p:sp>
            <p:nvSpPr>
              <p:cNvPr id="30760" name="Freeform 127"/>
              <p:cNvSpPr>
                <a:spLocks/>
              </p:cNvSpPr>
              <p:nvPr/>
            </p:nvSpPr>
            <p:spPr bwMode="auto">
              <a:xfrm>
                <a:off x="745" y="2798"/>
                <a:ext cx="113" cy="184"/>
              </a:xfrm>
              <a:custGeom>
                <a:avLst/>
                <a:gdLst>
                  <a:gd name="T0" fmla="*/ 113 w 113"/>
                  <a:gd name="T1" fmla="*/ 184 h 184"/>
                  <a:gd name="T2" fmla="*/ 59 w 113"/>
                  <a:gd name="T3" fmla="*/ 176 h 184"/>
                  <a:gd name="T4" fmla="*/ 29 w 113"/>
                  <a:gd name="T5" fmla="*/ 154 h 184"/>
                  <a:gd name="T6" fmla="*/ 3 w 113"/>
                  <a:gd name="T7" fmla="*/ 104 h 184"/>
                  <a:gd name="T8" fmla="*/ 9 w 113"/>
                  <a:gd name="T9" fmla="*/ 56 h 184"/>
                  <a:gd name="T10" fmla="*/ 45 w 113"/>
                  <a:gd name="T11" fmla="*/ 16 h 184"/>
                  <a:gd name="T12" fmla="*/ 93 w 113"/>
                  <a:gd name="T13" fmla="*/ 0 h 184"/>
                  <a:gd name="T14" fmla="*/ 0 60000 65536"/>
                  <a:gd name="T15" fmla="*/ 0 60000 65536"/>
                  <a:gd name="T16" fmla="*/ 0 60000 65536"/>
                  <a:gd name="T17" fmla="*/ 0 60000 65536"/>
                  <a:gd name="T18" fmla="*/ 0 60000 65536"/>
                  <a:gd name="T19" fmla="*/ 0 60000 65536"/>
                  <a:gd name="T20" fmla="*/ 0 60000 65536"/>
                  <a:gd name="T21" fmla="*/ 0 w 113"/>
                  <a:gd name="T22" fmla="*/ 0 h 184"/>
                  <a:gd name="T23" fmla="*/ 113 w 113"/>
                  <a:gd name="T24" fmla="*/ 184 h 18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3" h="184">
                    <a:moveTo>
                      <a:pt x="113" y="184"/>
                    </a:moveTo>
                    <a:cubicBezTo>
                      <a:pt x="93" y="182"/>
                      <a:pt x="73" y="181"/>
                      <a:pt x="59" y="176"/>
                    </a:cubicBezTo>
                    <a:cubicBezTo>
                      <a:pt x="45" y="171"/>
                      <a:pt x="38" y="166"/>
                      <a:pt x="29" y="154"/>
                    </a:cubicBezTo>
                    <a:cubicBezTo>
                      <a:pt x="20" y="142"/>
                      <a:pt x="6" y="120"/>
                      <a:pt x="3" y="104"/>
                    </a:cubicBezTo>
                    <a:cubicBezTo>
                      <a:pt x="0" y="88"/>
                      <a:pt x="2" y="71"/>
                      <a:pt x="9" y="56"/>
                    </a:cubicBezTo>
                    <a:cubicBezTo>
                      <a:pt x="16" y="41"/>
                      <a:pt x="31" y="25"/>
                      <a:pt x="45" y="16"/>
                    </a:cubicBezTo>
                    <a:cubicBezTo>
                      <a:pt x="59" y="7"/>
                      <a:pt x="76" y="3"/>
                      <a:pt x="93" y="0"/>
                    </a:cubicBezTo>
                  </a:path>
                </a:pathLst>
              </a:custGeom>
              <a:noFill/>
              <a:ln w="28575" cap="flat" cmpd="sng">
                <a:solidFill>
                  <a:schemeClr val="tx1"/>
                </a:solidFill>
                <a:prstDash val="sysDot"/>
                <a:round/>
                <a:headEnd/>
                <a:tailEnd/>
              </a:ln>
            </p:spPr>
            <p:txBody>
              <a:bodyPr wrap="none" anchor="ctr"/>
              <a:lstStyle/>
              <a:p>
                <a:endParaRPr lang="en-US"/>
              </a:p>
            </p:txBody>
          </p:sp>
        </p:grpSp>
        <p:grpSp>
          <p:nvGrpSpPr>
            <p:cNvPr id="30743" name="Group 185"/>
            <p:cNvGrpSpPr>
              <a:grpSpLocks/>
            </p:cNvGrpSpPr>
            <p:nvPr/>
          </p:nvGrpSpPr>
          <p:grpSpPr bwMode="auto">
            <a:xfrm>
              <a:off x="1685" y="1816"/>
              <a:ext cx="40" cy="345"/>
              <a:chOff x="1661" y="1786"/>
              <a:chExt cx="40" cy="383"/>
            </a:xfrm>
          </p:grpSpPr>
          <p:sp>
            <p:nvSpPr>
              <p:cNvPr id="30747" name="Line 182"/>
              <p:cNvSpPr>
                <a:spLocks noChangeShapeType="1"/>
              </p:cNvSpPr>
              <p:nvPr/>
            </p:nvSpPr>
            <p:spPr bwMode="auto">
              <a:xfrm flipV="1">
                <a:off x="1661" y="1786"/>
                <a:ext cx="0" cy="223"/>
              </a:xfrm>
              <a:prstGeom prst="line">
                <a:avLst/>
              </a:prstGeom>
              <a:noFill/>
              <a:ln w="76200">
                <a:solidFill>
                  <a:schemeClr val="tx1"/>
                </a:solidFill>
                <a:round/>
                <a:headEnd/>
                <a:tailEnd/>
              </a:ln>
            </p:spPr>
            <p:txBody>
              <a:bodyPr wrap="none" anchor="ctr"/>
              <a:lstStyle/>
              <a:p>
                <a:endParaRPr lang="en-US"/>
              </a:p>
            </p:txBody>
          </p:sp>
          <p:sp>
            <p:nvSpPr>
              <p:cNvPr id="30748" name="Line 183"/>
              <p:cNvSpPr>
                <a:spLocks noChangeShapeType="1"/>
              </p:cNvSpPr>
              <p:nvPr/>
            </p:nvSpPr>
            <p:spPr bwMode="auto">
              <a:xfrm flipV="1">
                <a:off x="1701" y="1786"/>
                <a:ext cx="0" cy="223"/>
              </a:xfrm>
              <a:prstGeom prst="line">
                <a:avLst/>
              </a:prstGeom>
              <a:noFill/>
              <a:ln w="76200">
                <a:solidFill>
                  <a:schemeClr val="tx1"/>
                </a:solidFill>
                <a:round/>
                <a:headEnd/>
                <a:tailEnd/>
              </a:ln>
            </p:spPr>
            <p:txBody>
              <a:bodyPr wrap="none" anchor="ctr"/>
              <a:lstStyle/>
              <a:p>
                <a:endParaRPr lang="en-US"/>
              </a:p>
            </p:txBody>
          </p:sp>
          <p:sp>
            <p:nvSpPr>
              <p:cNvPr id="30749" name="Line 184"/>
              <p:cNvSpPr>
                <a:spLocks noChangeShapeType="1"/>
              </p:cNvSpPr>
              <p:nvPr/>
            </p:nvSpPr>
            <p:spPr bwMode="auto">
              <a:xfrm>
                <a:off x="1685" y="1946"/>
                <a:ext cx="0" cy="223"/>
              </a:xfrm>
              <a:prstGeom prst="line">
                <a:avLst/>
              </a:prstGeom>
              <a:noFill/>
              <a:ln w="76200">
                <a:solidFill>
                  <a:schemeClr val="tx1"/>
                </a:solidFill>
                <a:round/>
                <a:headEnd/>
                <a:tailEnd type="triangle" w="med" len="med"/>
              </a:ln>
            </p:spPr>
            <p:txBody>
              <a:bodyPr wrap="none" anchor="ctr"/>
              <a:lstStyle/>
              <a:p>
                <a:endParaRPr lang="en-US"/>
              </a:p>
            </p:txBody>
          </p:sp>
        </p:grpSp>
        <p:grpSp>
          <p:nvGrpSpPr>
            <p:cNvPr id="30744" name="Group 188"/>
            <p:cNvGrpSpPr>
              <a:grpSpLocks/>
            </p:cNvGrpSpPr>
            <p:nvPr/>
          </p:nvGrpSpPr>
          <p:grpSpPr bwMode="auto">
            <a:xfrm>
              <a:off x="1661" y="1762"/>
              <a:ext cx="252" cy="40"/>
              <a:chOff x="1661" y="1746"/>
              <a:chExt cx="252" cy="40"/>
            </a:xfrm>
          </p:grpSpPr>
          <p:sp>
            <p:nvSpPr>
              <p:cNvPr id="30745" name="Line 186"/>
              <p:cNvSpPr>
                <a:spLocks noChangeShapeType="1"/>
              </p:cNvSpPr>
              <p:nvPr/>
            </p:nvSpPr>
            <p:spPr bwMode="auto">
              <a:xfrm>
                <a:off x="1661" y="1786"/>
                <a:ext cx="252" cy="0"/>
              </a:xfrm>
              <a:prstGeom prst="line">
                <a:avLst/>
              </a:prstGeom>
              <a:noFill/>
              <a:ln w="76200">
                <a:solidFill>
                  <a:schemeClr val="tx1"/>
                </a:solidFill>
                <a:round/>
                <a:headEnd/>
                <a:tailEnd/>
              </a:ln>
            </p:spPr>
            <p:txBody>
              <a:bodyPr wrap="none" anchor="ctr"/>
              <a:lstStyle/>
              <a:p>
                <a:endParaRPr lang="en-US"/>
              </a:p>
            </p:txBody>
          </p:sp>
          <p:sp>
            <p:nvSpPr>
              <p:cNvPr id="30746" name="Line 187"/>
              <p:cNvSpPr>
                <a:spLocks noChangeShapeType="1"/>
              </p:cNvSpPr>
              <p:nvPr/>
            </p:nvSpPr>
            <p:spPr bwMode="auto">
              <a:xfrm>
                <a:off x="1661" y="1746"/>
                <a:ext cx="252" cy="0"/>
              </a:xfrm>
              <a:prstGeom prst="line">
                <a:avLst/>
              </a:prstGeom>
              <a:noFill/>
              <a:ln w="76200">
                <a:solidFill>
                  <a:schemeClr val="tx1"/>
                </a:solidFill>
                <a:round/>
                <a:headEnd/>
                <a:tailEnd/>
              </a:ln>
            </p:spPr>
            <p:txBody>
              <a:bodyPr wrap="none" anchor="ctr"/>
              <a:lstStyle/>
              <a:p>
                <a:endParaRPr lang="en-US"/>
              </a:p>
            </p:txBody>
          </p:sp>
        </p:grpSp>
      </p:grpSp>
      <p:grpSp>
        <p:nvGrpSpPr>
          <p:cNvPr id="619726" name="Group 206"/>
          <p:cNvGrpSpPr>
            <a:grpSpLocks/>
          </p:cNvGrpSpPr>
          <p:nvPr/>
        </p:nvGrpSpPr>
        <p:grpSpPr bwMode="auto">
          <a:xfrm>
            <a:off x="104775" y="4151313"/>
            <a:ext cx="9004300" cy="400050"/>
            <a:chOff x="74" y="2615"/>
            <a:chExt cx="6381" cy="252"/>
          </a:xfrm>
        </p:grpSpPr>
        <p:sp>
          <p:nvSpPr>
            <p:cNvPr id="30737" name="Text Box 35"/>
            <p:cNvSpPr txBox="1">
              <a:spLocks noChangeArrowheads="1"/>
            </p:cNvSpPr>
            <p:nvPr/>
          </p:nvSpPr>
          <p:spPr bwMode="auto">
            <a:xfrm>
              <a:off x="74" y="2615"/>
              <a:ext cx="488" cy="252"/>
            </a:xfrm>
            <a:prstGeom prst="rect">
              <a:avLst/>
            </a:prstGeom>
            <a:noFill/>
            <a:ln w="9525">
              <a:noFill/>
              <a:miter lim="800000"/>
              <a:headEnd/>
              <a:tailEnd/>
            </a:ln>
          </p:spPr>
          <p:txBody>
            <a:bodyPr wrap="none">
              <a:spAutoFit/>
            </a:bodyPr>
            <a:lstStyle/>
            <a:p>
              <a:r>
                <a:rPr lang="en-US" sz="2000" b="1">
                  <a:solidFill>
                    <a:srgbClr val="CC66FF"/>
                  </a:solidFill>
                  <a:latin typeface="Calibri" pitchFamily="34" charset="0"/>
                </a:rPr>
                <a:t>Heat</a:t>
              </a:r>
            </a:p>
          </p:txBody>
        </p:sp>
        <p:sp>
          <p:nvSpPr>
            <p:cNvPr id="30738" name="Line 134"/>
            <p:cNvSpPr>
              <a:spLocks noChangeShapeType="1"/>
            </p:cNvSpPr>
            <p:nvPr/>
          </p:nvSpPr>
          <p:spPr bwMode="auto">
            <a:xfrm flipH="1">
              <a:off x="537" y="2759"/>
              <a:ext cx="676" cy="1"/>
            </a:xfrm>
            <a:prstGeom prst="line">
              <a:avLst/>
            </a:prstGeom>
            <a:noFill/>
            <a:ln w="76200">
              <a:solidFill>
                <a:srgbClr val="CC66FF"/>
              </a:solidFill>
              <a:round/>
              <a:headEnd/>
              <a:tailEnd type="triangle" w="med" len="med"/>
            </a:ln>
          </p:spPr>
          <p:txBody>
            <a:bodyPr wrap="none" anchor="ctr"/>
            <a:lstStyle/>
            <a:p>
              <a:endParaRPr lang="en-US"/>
            </a:p>
          </p:txBody>
        </p:sp>
        <p:sp>
          <p:nvSpPr>
            <p:cNvPr id="30739" name="Text Box 148"/>
            <p:cNvSpPr txBox="1">
              <a:spLocks noChangeArrowheads="1"/>
            </p:cNvSpPr>
            <p:nvPr/>
          </p:nvSpPr>
          <p:spPr bwMode="auto">
            <a:xfrm>
              <a:off x="5967" y="2615"/>
              <a:ext cx="488" cy="252"/>
            </a:xfrm>
            <a:prstGeom prst="rect">
              <a:avLst/>
            </a:prstGeom>
            <a:noFill/>
            <a:ln w="9525">
              <a:noFill/>
              <a:miter lim="800000"/>
              <a:headEnd/>
              <a:tailEnd/>
            </a:ln>
          </p:spPr>
          <p:txBody>
            <a:bodyPr wrap="none">
              <a:spAutoFit/>
            </a:bodyPr>
            <a:lstStyle/>
            <a:p>
              <a:pPr algn="r"/>
              <a:r>
                <a:rPr lang="en-US" sz="2000" b="1">
                  <a:solidFill>
                    <a:srgbClr val="CC66FF"/>
                  </a:solidFill>
                  <a:latin typeface="Calibri" pitchFamily="34" charset="0"/>
                </a:rPr>
                <a:t>Heat</a:t>
              </a:r>
            </a:p>
          </p:txBody>
        </p:sp>
        <p:sp>
          <p:nvSpPr>
            <p:cNvPr id="30740" name="Line 189"/>
            <p:cNvSpPr>
              <a:spLocks noChangeShapeType="1"/>
            </p:cNvSpPr>
            <p:nvPr/>
          </p:nvSpPr>
          <p:spPr bwMode="auto">
            <a:xfrm flipV="1">
              <a:off x="5122" y="2753"/>
              <a:ext cx="657" cy="7"/>
            </a:xfrm>
            <a:prstGeom prst="line">
              <a:avLst/>
            </a:prstGeom>
            <a:noFill/>
            <a:ln w="76200">
              <a:solidFill>
                <a:srgbClr val="CC66FF"/>
              </a:solidFill>
              <a:round/>
              <a:headEnd/>
              <a:tailEnd type="triangle" w="med" len="med"/>
            </a:ln>
          </p:spPr>
          <p:txBody>
            <a:bodyPr wrap="none" anchor="ctr"/>
            <a:lstStyle/>
            <a:p>
              <a:endParaRPr lang="en-US"/>
            </a:p>
          </p:txBody>
        </p:sp>
      </p:grpSp>
      <p:grpSp>
        <p:nvGrpSpPr>
          <p:cNvPr id="619728" name="Group 208"/>
          <p:cNvGrpSpPr>
            <a:grpSpLocks/>
          </p:cNvGrpSpPr>
          <p:nvPr/>
        </p:nvGrpSpPr>
        <p:grpSpPr bwMode="auto">
          <a:xfrm>
            <a:off x="4008438" y="2895600"/>
            <a:ext cx="1331912" cy="1819275"/>
            <a:chOff x="2841" y="1824"/>
            <a:chExt cx="943" cy="1146"/>
          </a:xfrm>
        </p:grpSpPr>
        <p:sp>
          <p:nvSpPr>
            <p:cNvPr id="30735" name="Text Box 25"/>
            <p:cNvSpPr txBox="1">
              <a:spLocks noChangeArrowheads="1"/>
            </p:cNvSpPr>
            <p:nvPr/>
          </p:nvSpPr>
          <p:spPr bwMode="auto">
            <a:xfrm>
              <a:off x="2841" y="2144"/>
              <a:ext cx="943" cy="826"/>
            </a:xfrm>
            <a:prstGeom prst="rect">
              <a:avLst/>
            </a:prstGeom>
            <a:noFill/>
            <a:ln w="9525">
              <a:noFill/>
              <a:miter lim="800000"/>
              <a:headEnd/>
              <a:tailEnd/>
            </a:ln>
          </p:spPr>
          <p:txBody>
            <a:bodyPr>
              <a:spAutoFit/>
            </a:bodyPr>
            <a:lstStyle/>
            <a:p>
              <a:pPr algn="ctr"/>
              <a:r>
                <a:rPr lang="en-US" sz="2000" b="1">
                  <a:solidFill>
                    <a:schemeClr val="tx2"/>
                  </a:solidFill>
                  <a:latin typeface="Calibri" pitchFamily="34" charset="0"/>
                </a:rPr>
                <a:t>Body weight</a:t>
              </a:r>
            </a:p>
            <a:p>
              <a:r>
                <a:rPr lang="en-US" sz="2000" b="1">
                  <a:solidFill>
                    <a:schemeClr val="tx2"/>
                  </a:solidFill>
                  <a:latin typeface="Calibri" pitchFamily="34" charset="0"/>
                </a:rPr>
                <a:t>loss</a:t>
              </a:r>
            </a:p>
            <a:p>
              <a:pPr algn="ctr"/>
              <a:r>
                <a:rPr lang="en-US" sz="2000" b="1">
                  <a:solidFill>
                    <a:schemeClr val="tx2"/>
                  </a:solidFill>
                  <a:latin typeface="Calibri" pitchFamily="34" charset="0"/>
                </a:rPr>
                <a:t>(BCS)</a:t>
              </a:r>
            </a:p>
          </p:txBody>
        </p:sp>
        <p:sp>
          <p:nvSpPr>
            <p:cNvPr id="30736" name="AutoShape 84"/>
            <p:cNvSpPr>
              <a:spLocks noChangeArrowheads="1"/>
            </p:cNvSpPr>
            <p:nvPr/>
          </p:nvSpPr>
          <p:spPr bwMode="auto">
            <a:xfrm flipV="1">
              <a:off x="3116" y="1824"/>
              <a:ext cx="138" cy="270"/>
            </a:xfrm>
            <a:prstGeom prst="downArrow">
              <a:avLst>
                <a:gd name="adj1" fmla="val 53630"/>
                <a:gd name="adj2" fmla="val 92763"/>
              </a:avLst>
            </a:prstGeom>
            <a:solidFill>
              <a:schemeClr val="tx2"/>
            </a:solidFill>
            <a:ln w="9525">
              <a:solidFill>
                <a:schemeClr val="tx1"/>
              </a:solidFill>
              <a:miter lim="800000"/>
              <a:headEnd/>
              <a:tailEnd/>
            </a:ln>
          </p:spPr>
          <p:txBody>
            <a:bodyPr wrap="none" anchor="ctr"/>
            <a:lstStyle/>
            <a:p>
              <a:endParaRPr lang="en-NZ">
                <a:latin typeface="Calibri" pitchFamily="34" charset="0"/>
              </a:endParaRPr>
            </a:p>
          </p:txBody>
        </p:sp>
      </p:grpSp>
      <p:grpSp>
        <p:nvGrpSpPr>
          <p:cNvPr id="619722" name="Group 202"/>
          <p:cNvGrpSpPr>
            <a:grpSpLocks/>
          </p:cNvGrpSpPr>
          <p:nvPr/>
        </p:nvGrpSpPr>
        <p:grpSpPr bwMode="auto">
          <a:xfrm>
            <a:off x="4003675" y="2897188"/>
            <a:ext cx="1330325" cy="1812925"/>
            <a:chOff x="2805" y="1816"/>
            <a:chExt cx="943" cy="1142"/>
          </a:xfrm>
        </p:grpSpPr>
        <p:sp>
          <p:nvSpPr>
            <p:cNvPr id="30733" name="Line 26"/>
            <p:cNvSpPr>
              <a:spLocks noChangeShapeType="1"/>
            </p:cNvSpPr>
            <p:nvPr/>
          </p:nvSpPr>
          <p:spPr bwMode="auto">
            <a:xfrm flipH="1">
              <a:off x="3375" y="1816"/>
              <a:ext cx="0" cy="288"/>
            </a:xfrm>
            <a:prstGeom prst="line">
              <a:avLst/>
            </a:prstGeom>
            <a:noFill/>
            <a:ln w="76200">
              <a:solidFill>
                <a:schemeClr val="tx1"/>
              </a:solidFill>
              <a:round/>
              <a:headEnd/>
              <a:tailEnd type="triangle" w="med" len="med"/>
            </a:ln>
          </p:spPr>
          <p:txBody>
            <a:bodyPr wrap="none" anchor="ctr"/>
            <a:lstStyle/>
            <a:p>
              <a:endParaRPr lang="en-US"/>
            </a:p>
          </p:txBody>
        </p:sp>
        <p:sp>
          <p:nvSpPr>
            <p:cNvPr id="30734" name="Text Box 201"/>
            <p:cNvSpPr txBox="1">
              <a:spLocks noChangeArrowheads="1"/>
            </p:cNvSpPr>
            <p:nvPr/>
          </p:nvSpPr>
          <p:spPr bwMode="auto">
            <a:xfrm>
              <a:off x="2805" y="2132"/>
              <a:ext cx="943" cy="826"/>
            </a:xfrm>
            <a:prstGeom prst="rect">
              <a:avLst/>
            </a:prstGeom>
            <a:noFill/>
            <a:ln w="9525">
              <a:noFill/>
              <a:miter lim="800000"/>
              <a:headEnd/>
              <a:tailEnd/>
            </a:ln>
          </p:spPr>
          <p:txBody>
            <a:bodyPr>
              <a:spAutoFit/>
            </a:bodyPr>
            <a:lstStyle/>
            <a:p>
              <a:pPr algn="ctr"/>
              <a:r>
                <a:rPr lang="en-US" sz="2000" b="1">
                  <a:latin typeface="Calibri" pitchFamily="34" charset="0"/>
                </a:rPr>
                <a:t>Body weight</a:t>
              </a:r>
            </a:p>
            <a:p>
              <a:pPr algn="r"/>
              <a:r>
                <a:rPr lang="en-US" sz="2000" b="1">
                  <a:latin typeface="Calibri" pitchFamily="34" charset="0"/>
                </a:rPr>
                <a:t>/ gain </a:t>
              </a:r>
            </a:p>
            <a:p>
              <a:pPr algn="ctr"/>
              <a:endParaRPr lang="en-US" sz="2000" b="1">
                <a:latin typeface="Calibri" pitchFamily="34" charset="0"/>
              </a:endParaRPr>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19713"/>
                                        </p:tgtEl>
                                        <p:attrNameLst>
                                          <p:attrName>style.visibility</p:attrName>
                                        </p:attrNameLst>
                                      </p:cBhvr>
                                      <p:to>
                                        <p:strVal val="visible"/>
                                      </p:to>
                                    </p:set>
                                    <p:animEffect transition="in" filter="wipe(left)">
                                      <p:cBhvr>
                                        <p:cTn id="7" dur="500"/>
                                        <p:tgtEl>
                                          <p:spTgt spid="61971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619725"/>
                                        </p:tgtEl>
                                        <p:attrNameLst>
                                          <p:attrName>style.visibility</p:attrName>
                                        </p:attrNameLst>
                                      </p:cBhvr>
                                      <p:to>
                                        <p:strVal val="visible"/>
                                      </p:to>
                                    </p:set>
                                    <p:animEffect transition="in" filter="wipe(up)">
                                      <p:cBhvr>
                                        <p:cTn id="12" dur="500"/>
                                        <p:tgtEl>
                                          <p:spTgt spid="61972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2" fill="hold" nodeType="clickEffect">
                                  <p:stCondLst>
                                    <p:cond delay="0"/>
                                  </p:stCondLst>
                                  <p:childTnLst>
                                    <p:set>
                                      <p:cBhvr>
                                        <p:cTn id="16" dur="1" fill="hold">
                                          <p:stCondLst>
                                            <p:cond delay="0"/>
                                          </p:stCondLst>
                                        </p:cTn>
                                        <p:tgtEl>
                                          <p:spTgt spid="619716"/>
                                        </p:tgtEl>
                                        <p:attrNameLst>
                                          <p:attrName>style.visibility</p:attrName>
                                        </p:attrNameLst>
                                      </p:cBhvr>
                                      <p:to>
                                        <p:strVal val="visible"/>
                                      </p:to>
                                    </p:set>
                                    <p:animEffect transition="in" filter="wipe(right)">
                                      <p:cBhvr>
                                        <p:cTn id="17" dur="500"/>
                                        <p:tgtEl>
                                          <p:spTgt spid="61971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619717"/>
                                        </p:tgtEl>
                                        <p:attrNameLst>
                                          <p:attrName>style.visibility</p:attrName>
                                        </p:attrNameLst>
                                      </p:cBhvr>
                                      <p:to>
                                        <p:strVal val="visible"/>
                                      </p:to>
                                    </p:set>
                                    <p:animEffect transition="in" filter="wipe(up)">
                                      <p:cBhvr>
                                        <p:cTn id="22" dur="500"/>
                                        <p:tgtEl>
                                          <p:spTgt spid="61971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619718"/>
                                        </p:tgtEl>
                                        <p:attrNameLst>
                                          <p:attrName>style.visibility</p:attrName>
                                        </p:attrNameLst>
                                      </p:cBhvr>
                                      <p:to>
                                        <p:strVal val="visible"/>
                                      </p:to>
                                    </p:set>
                                    <p:animEffect transition="in" filter="wipe(left)">
                                      <p:cBhvr>
                                        <p:cTn id="27" dur="500"/>
                                        <p:tgtEl>
                                          <p:spTgt spid="61971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619727"/>
                                        </p:tgtEl>
                                        <p:attrNameLst>
                                          <p:attrName>style.visibility</p:attrName>
                                        </p:attrNameLst>
                                      </p:cBhvr>
                                      <p:to>
                                        <p:strVal val="visible"/>
                                      </p:to>
                                    </p:set>
                                    <p:animEffect transition="in" filter="wipe(up)">
                                      <p:cBhvr>
                                        <p:cTn id="32" dur="500"/>
                                        <p:tgtEl>
                                          <p:spTgt spid="61972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4" fill="hold" nodeType="clickEffect">
                                  <p:stCondLst>
                                    <p:cond delay="0"/>
                                  </p:stCondLst>
                                  <p:childTnLst>
                                    <p:set>
                                      <p:cBhvr>
                                        <p:cTn id="36" dur="1" fill="hold">
                                          <p:stCondLst>
                                            <p:cond delay="0"/>
                                          </p:stCondLst>
                                        </p:cTn>
                                        <p:tgtEl>
                                          <p:spTgt spid="619728"/>
                                        </p:tgtEl>
                                        <p:attrNameLst>
                                          <p:attrName>style.visibility</p:attrName>
                                        </p:attrNameLst>
                                      </p:cBhvr>
                                      <p:to>
                                        <p:strVal val="visible"/>
                                      </p:to>
                                    </p:set>
                                    <p:animEffect transition="in" filter="wipe(down)">
                                      <p:cBhvr>
                                        <p:cTn id="37" dur="500"/>
                                        <p:tgtEl>
                                          <p:spTgt spid="61972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nodeType="clickEffect">
                                  <p:stCondLst>
                                    <p:cond delay="0"/>
                                  </p:stCondLst>
                                  <p:childTnLst>
                                    <p:set>
                                      <p:cBhvr>
                                        <p:cTn id="41" dur="1" fill="hold">
                                          <p:stCondLst>
                                            <p:cond delay="0"/>
                                          </p:stCondLst>
                                        </p:cTn>
                                        <p:tgtEl>
                                          <p:spTgt spid="619722"/>
                                        </p:tgtEl>
                                        <p:attrNameLst>
                                          <p:attrName>style.visibility</p:attrName>
                                        </p:attrNameLst>
                                      </p:cBhvr>
                                      <p:to>
                                        <p:strVal val="visible"/>
                                      </p:to>
                                    </p:set>
                                    <p:animEffect transition="in" filter="wipe(up)">
                                      <p:cBhvr>
                                        <p:cTn id="42" dur="500"/>
                                        <p:tgtEl>
                                          <p:spTgt spid="61972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nodeType="clickEffect">
                                  <p:stCondLst>
                                    <p:cond delay="0"/>
                                  </p:stCondLst>
                                  <p:childTnLst>
                                    <p:set>
                                      <p:cBhvr>
                                        <p:cTn id="46" dur="1" fill="hold">
                                          <p:stCondLst>
                                            <p:cond delay="0"/>
                                          </p:stCondLst>
                                        </p:cTn>
                                        <p:tgtEl>
                                          <p:spTgt spid="619726"/>
                                        </p:tgtEl>
                                        <p:attrNameLst>
                                          <p:attrName>style.visibility</p:attrName>
                                        </p:attrNameLst>
                                      </p:cBhvr>
                                      <p:to>
                                        <p:strVal val="visible"/>
                                      </p:to>
                                    </p:set>
                                    <p:animEffect transition="in" filter="dissolve">
                                      <p:cBhvr>
                                        <p:cTn id="47" dur="500"/>
                                        <p:tgtEl>
                                          <p:spTgt spid="6197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69" name="Slide Number Placeholder 5"/>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endParaRPr lang="en-GB" sz="1800">
              <a:solidFill>
                <a:schemeClr val="tx1"/>
              </a:solidFill>
              <a:cs typeface="Arial" charset="0"/>
            </a:endParaRPr>
          </a:p>
        </p:txBody>
      </p:sp>
      <p:grpSp>
        <p:nvGrpSpPr>
          <p:cNvPr id="453634" name="Group 2"/>
          <p:cNvGrpSpPr>
            <a:grpSpLocks/>
          </p:cNvGrpSpPr>
          <p:nvPr/>
        </p:nvGrpSpPr>
        <p:grpSpPr bwMode="auto">
          <a:xfrm>
            <a:off x="142875" y="3802063"/>
            <a:ext cx="8915400" cy="1501775"/>
            <a:chOff x="101" y="2628"/>
            <a:chExt cx="6318" cy="946"/>
          </a:xfrm>
        </p:grpSpPr>
        <p:grpSp>
          <p:nvGrpSpPr>
            <p:cNvPr id="32834" name="Group 3"/>
            <p:cNvGrpSpPr>
              <a:grpSpLocks/>
            </p:cNvGrpSpPr>
            <p:nvPr/>
          </p:nvGrpSpPr>
          <p:grpSpPr bwMode="auto">
            <a:xfrm>
              <a:off x="101" y="2628"/>
              <a:ext cx="6318" cy="946"/>
              <a:chOff x="101" y="2628"/>
              <a:chExt cx="6318" cy="946"/>
            </a:xfrm>
          </p:grpSpPr>
          <p:sp>
            <p:nvSpPr>
              <p:cNvPr id="32836" name="Text Box 4"/>
              <p:cNvSpPr txBox="1">
                <a:spLocks noChangeArrowheads="1"/>
              </p:cNvSpPr>
              <p:nvPr/>
            </p:nvSpPr>
            <p:spPr bwMode="auto">
              <a:xfrm>
                <a:off x="2421" y="3055"/>
                <a:ext cx="645" cy="233"/>
              </a:xfrm>
              <a:prstGeom prst="rect">
                <a:avLst/>
              </a:prstGeom>
              <a:noFill/>
              <a:ln w="9525">
                <a:noFill/>
                <a:miter lim="800000"/>
                <a:headEnd/>
                <a:tailEnd/>
              </a:ln>
            </p:spPr>
            <p:txBody>
              <a:bodyPr wrap="none">
                <a:spAutoFit/>
              </a:bodyPr>
              <a:lstStyle/>
              <a:p>
                <a:r>
                  <a:rPr lang="en-US">
                    <a:latin typeface="Calibri" pitchFamily="34" charset="0"/>
                  </a:rPr>
                  <a:t>Kd, %/h</a:t>
                </a:r>
              </a:p>
            </p:txBody>
          </p:sp>
          <p:sp>
            <p:nvSpPr>
              <p:cNvPr id="32837" name="Text Box 5"/>
              <p:cNvSpPr txBox="1">
                <a:spLocks noChangeArrowheads="1"/>
              </p:cNvSpPr>
              <p:nvPr/>
            </p:nvSpPr>
            <p:spPr bwMode="auto">
              <a:xfrm>
                <a:off x="101" y="3055"/>
                <a:ext cx="773" cy="407"/>
              </a:xfrm>
              <a:prstGeom prst="rect">
                <a:avLst/>
              </a:prstGeom>
              <a:noFill/>
              <a:ln w="9525">
                <a:noFill/>
                <a:miter lim="800000"/>
                <a:headEnd/>
                <a:tailEnd/>
              </a:ln>
            </p:spPr>
            <p:txBody>
              <a:bodyPr wrap="none">
                <a:spAutoFit/>
              </a:bodyPr>
              <a:lstStyle/>
              <a:p>
                <a:r>
                  <a:rPr lang="en-US">
                    <a:latin typeface="Calibri" pitchFamily="34" charset="0"/>
                  </a:rPr>
                  <a:t>B fraction</a:t>
                </a:r>
              </a:p>
              <a:p>
                <a:r>
                  <a:rPr lang="en-US">
                    <a:latin typeface="Calibri" pitchFamily="34" charset="0"/>
                  </a:rPr>
                  <a:t>(</a:t>
                </a:r>
                <a:r>
                  <a:rPr lang="en-US">
                    <a:latin typeface="Calibri" pitchFamily="34" charset="0"/>
                    <a:sym typeface="Symbol" pitchFamily="18" charset="2"/>
                  </a:rPr>
                  <a:t></a:t>
                </a:r>
                <a:r>
                  <a:rPr lang="en-US">
                    <a:latin typeface="Calibri" pitchFamily="34" charset="0"/>
                  </a:rPr>
                  <a:t>fiber)</a:t>
                </a:r>
              </a:p>
            </p:txBody>
          </p:sp>
          <p:sp>
            <p:nvSpPr>
              <p:cNvPr id="32838" name="Text Box 6"/>
              <p:cNvSpPr txBox="1">
                <a:spLocks noChangeArrowheads="1"/>
              </p:cNvSpPr>
              <p:nvPr/>
            </p:nvSpPr>
            <p:spPr bwMode="auto">
              <a:xfrm>
                <a:off x="4204" y="2948"/>
                <a:ext cx="787" cy="407"/>
              </a:xfrm>
              <a:prstGeom prst="rect">
                <a:avLst/>
              </a:prstGeom>
              <a:noFill/>
              <a:ln w="9525">
                <a:noFill/>
                <a:miter lim="800000"/>
                <a:headEnd/>
                <a:tailEnd/>
              </a:ln>
            </p:spPr>
            <p:txBody>
              <a:bodyPr wrap="none">
                <a:spAutoFit/>
              </a:bodyPr>
              <a:lstStyle/>
              <a:p>
                <a:r>
                  <a:rPr lang="en-US">
                    <a:latin typeface="Calibri" pitchFamily="34" charset="0"/>
                  </a:rPr>
                  <a:t>Slowly</a:t>
                </a:r>
              </a:p>
              <a:p>
                <a:r>
                  <a:rPr lang="en-US">
                    <a:latin typeface="Calibri" pitchFamily="34" charset="0"/>
                  </a:rPr>
                  <a:t>Digestible</a:t>
                </a:r>
              </a:p>
            </p:txBody>
          </p:sp>
          <p:sp>
            <p:nvSpPr>
              <p:cNvPr id="32839" name="Text Box 7"/>
              <p:cNvSpPr txBox="1">
                <a:spLocks noChangeArrowheads="1"/>
              </p:cNvSpPr>
              <p:nvPr/>
            </p:nvSpPr>
            <p:spPr bwMode="auto">
              <a:xfrm>
                <a:off x="5293" y="3055"/>
                <a:ext cx="1126" cy="233"/>
              </a:xfrm>
              <a:prstGeom prst="rect">
                <a:avLst/>
              </a:prstGeom>
              <a:noFill/>
              <a:ln w="9525">
                <a:noFill/>
                <a:miter lim="800000"/>
                <a:headEnd/>
                <a:tailEnd/>
              </a:ln>
            </p:spPr>
            <p:txBody>
              <a:bodyPr>
                <a:spAutoFit/>
              </a:bodyPr>
              <a:lstStyle/>
              <a:p>
                <a:pPr algn="ctr"/>
                <a:r>
                  <a:rPr lang="en-US">
                    <a:latin typeface="Calibri" pitchFamily="34" charset="0"/>
                  </a:rPr>
                  <a:t>0.02 - 0.15</a:t>
                </a:r>
              </a:p>
            </p:txBody>
          </p:sp>
          <p:sp>
            <p:nvSpPr>
              <p:cNvPr id="32840" name="AutoShape 8"/>
              <p:cNvSpPr>
                <a:spLocks/>
              </p:cNvSpPr>
              <p:nvPr/>
            </p:nvSpPr>
            <p:spPr bwMode="auto">
              <a:xfrm>
                <a:off x="999" y="2628"/>
                <a:ext cx="114" cy="946"/>
              </a:xfrm>
              <a:prstGeom prst="leftBrace">
                <a:avLst>
                  <a:gd name="adj1" fmla="val 69152"/>
                  <a:gd name="adj2" fmla="val 50000"/>
                </a:avLst>
              </a:prstGeom>
              <a:noFill/>
              <a:ln w="28575">
                <a:solidFill>
                  <a:schemeClr val="tx1"/>
                </a:solidFill>
                <a:round/>
                <a:headEnd/>
                <a:tailEnd/>
              </a:ln>
            </p:spPr>
            <p:txBody>
              <a:bodyPr wrap="none" anchor="ctr"/>
              <a:lstStyle/>
              <a:p>
                <a:endParaRPr lang="en-NZ">
                  <a:latin typeface="Calibri" pitchFamily="34" charset="0"/>
                </a:endParaRPr>
              </a:p>
            </p:txBody>
          </p:sp>
        </p:grpSp>
        <p:sp>
          <p:nvSpPr>
            <p:cNvPr id="32835" name="Rectangle 9"/>
            <p:cNvSpPr>
              <a:spLocks noChangeArrowheads="1"/>
            </p:cNvSpPr>
            <p:nvPr/>
          </p:nvSpPr>
          <p:spPr bwMode="auto">
            <a:xfrm>
              <a:off x="3585" y="2628"/>
              <a:ext cx="393" cy="946"/>
            </a:xfrm>
            <a:prstGeom prst="rect">
              <a:avLst/>
            </a:prstGeom>
            <a:solidFill>
              <a:srgbClr val="008000"/>
            </a:solidFill>
            <a:ln w="9525">
              <a:solidFill>
                <a:schemeClr val="tx1"/>
              </a:solidFill>
              <a:miter lim="800000"/>
              <a:headEnd/>
              <a:tailEnd/>
            </a:ln>
          </p:spPr>
          <p:txBody>
            <a:bodyPr wrap="none" anchor="ctr"/>
            <a:lstStyle/>
            <a:p>
              <a:endParaRPr lang="en-NZ">
                <a:latin typeface="Calibri" pitchFamily="34" charset="0"/>
              </a:endParaRPr>
            </a:p>
          </p:txBody>
        </p:sp>
      </p:grpSp>
      <p:sp>
        <p:nvSpPr>
          <p:cNvPr id="453642" name="Rectangle 10"/>
          <p:cNvSpPr>
            <a:spLocks noGrp="1" noChangeArrowheads="1"/>
          </p:cNvSpPr>
          <p:nvPr>
            <p:ph type="title"/>
          </p:nvPr>
        </p:nvSpPr>
        <p:spPr>
          <a:xfrm>
            <a:off x="228600" y="50800"/>
            <a:ext cx="8829675" cy="1554163"/>
          </a:xfrm>
        </p:spPr>
        <p:txBody>
          <a:bodyPr rtlCol="0">
            <a:noAutofit/>
          </a:bodyPr>
          <a:lstStyle/>
          <a:p>
            <a:pPr eaLnBrk="1" fontAlgn="auto" hangingPunct="1">
              <a:spcAft>
                <a:spcPts val="0"/>
              </a:spcAft>
              <a:defRPr/>
            </a:pPr>
            <a:r>
              <a:rPr lang="en-US" sz="3200" b="1" dirty="0" smtClean="0">
                <a:latin typeface="+mn-lt"/>
              </a:rPr>
              <a:t>NEL SUPPLY FROM A FEED DEPENDS ALSO UPON ITS RATE OF DIGESTION IN THE RUMEN AND RATE OF PASSAGE FROM THE RUMEN </a:t>
            </a:r>
            <a:endParaRPr lang="en-US" sz="3200" b="1" dirty="0">
              <a:latin typeface="+mn-lt"/>
            </a:endParaRPr>
          </a:p>
        </p:txBody>
      </p:sp>
      <p:sp>
        <p:nvSpPr>
          <p:cNvPr id="453643" name="Freeform 11"/>
          <p:cNvSpPr>
            <a:spLocks/>
          </p:cNvSpPr>
          <p:nvPr/>
        </p:nvSpPr>
        <p:spPr bwMode="auto">
          <a:xfrm>
            <a:off x="1981200" y="3736975"/>
            <a:ext cx="184150" cy="369888"/>
          </a:xfrm>
          <a:custGeom>
            <a:avLst/>
            <a:gdLst>
              <a:gd name="T0" fmla="*/ 0 w 87"/>
              <a:gd name="T1" fmla="*/ 0 h 125"/>
              <a:gd name="T2" fmla="*/ 2147483647 w 87"/>
              <a:gd name="T3" fmla="*/ 2147483647 h 125"/>
              <a:gd name="T4" fmla="*/ 2147483647 w 87"/>
              <a:gd name="T5" fmla="*/ 2147483647 h 125"/>
              <a:gd name="T6" fmla="*/ 2147483647 w 87"/>
              <a:gd name="T7" fmla="*/ 2147483647 h 125"/>
              <a:gd name="T8" fmla="*/ 0 60000 65536"/>
              <a:gd name="T9" fmla="*/ 0 60000 65536"/>
              <a:gd name="T10" fmla="*/ 0 60000 65536"/>
              <a:gd name="T11" fmla="*/ 0 60000 65536"/>
              <a:gd name="T12" fmla="*/ 0 w 87"/>
              <a:gd name="T13" fmla="*/ 0 h 125"/>
              <a:gd name="T14" fmla="*/ 87 w 87"/>
              <a:gd name="T15" fmla="*/ 125 h 125"/>
            </a:gdLst>
            <a:ahLst/>
            <a:cxnLst>
              <a:cxn ang="T8">
                <a:pos x="T0" y="T1"/>
              </a:cxn>
              <a:cxn ang="T9">
                <a:pos x="T2" y="T3"/>
              </a:cxn>
              <a:cxn ang="T10">
                <a:pos x="T4" y="T5"/>
              </a:cxn>
              <a:cxn ang="T11">
                <a:pos x="T6" y="T7"/>
              </a:cxn>
            </a:cxnLst>
            <a:rect l="T12" t="T13" r="T14" b="T15"/>
            <a:pathLst>
              <a:path w="87" h="125">
                <a:moveTo>
                  <a:pt x="0" y="0"/>
                </a:moveTo>
                <a:cubicBezTo>
                  <a:pt x="16" y="5"/>
                  <a:pt x="32" y="11"/>
                  <a:pt x="44" y="24"/>
                </a:cubicBezTo>
                <a:cubicBezTo>
                  <a:pt x="56" y="37"/>
                  <a:pt x="65" y="60"/>
                  <a:pt x="72" y="77"/>
                </a:cubicBezTo>
                <a:cubicBezTo>
                  <a:pt x="79" y="94"/>
                  <a:pt x="83" y="109"/>
                  <a:pt x="87" y="125"/>
                </a:cubicBezTo>
              </a:path>
            </a:pathLst>
          </a:custGeom>
          <a:noFill/>
          <a:ln w="57150" cap="flat" cmpd="sng">
            <a:solidFill>
              <a:schemeClr val="accent1"/>
            </a:solidFill>
            <a:prstDash val="solid"/>
            <a:round/>
            <a:headEnd type="none" w="med" len="med"/>
            <a:tailEnd type="none" w="med" len="med"/>
          </a:ln>
        </p:spPr>
        <p:txBody>
          <a:bodyPr wrap="none" anchor="ctr">
            <a:spAutoFit/>
          </a:bodyPr>
          <a:lstStyle/>
          <a:p>
            <a:endParaRPr lang="en-US"/>
          </a:p>
        </p:txBody>
      </p:sp>
      <p:sp>
        <p:nvSpPr>
          <p:cNvPr id="453644" name="Freeform 12"/>
          <p:cNvSpPr>
            <a:spLocks/>
          </p:cNvSpPr>
          <p:nvPr/>
        </p:nvSpPr>
        <p:spPr bwMode="auto">
          <a:xfrm>
            <a:off x="2352675" y="4421188"/>
            <a:ext cx="184150" cy="369887"/>
          </a:xfrm>
          <a:custGeom>
            <a:avLst/>
            <a:gdLst>
              <a:gd name="T0" fmla="*/ 0 w 134"/>
              <a:gd name="T1" fmla="*/ 0 h 113"/>
              <a:gd name="T2" fmla="*/ 2147483647 w 134"/>
              <a:gd name="T3" fmla="*/ 2147483647 h 113"/>
              <a:gd name="T4" fmla="*/ 2147483647 w 134"/>
              <a:gd name="T5" fmla="*/ 2147483647 h 113"/>
              <a:gd name="T6" fmla="*/ 2147483647 w 134"/>
              <a:gd name="T7" fmla="*/ 2147483647 h 113"/>
              <a:gd name="T8" fmla="*/ 2147483647 w 134"/>
              <a:gd name="T9" fmla="*/ 2147483647 h 113"/>
              <a:gd name="T10" fmla="*/ 0 60000 65536"/>
              <a:gd name="T11" fmla="*/ 0 60000 65536"/>
              <a:gd name="T12" fmla="*/ 0 60000 65536"/>
              <a:gd name="T13" fmla="*/ 0 60000 65536"/>
              <a:gd name="T14" fmla="*/ 0 60000 65536"/>
              <a:gd name="T15" fmla="*/ 0 w 134"/>
              <a:gd name="T16" fmla="*/ 0 h 113"/>
              <a:gd name="T17" fmla="*/ 134 w 134"/>
              <a:gd name="T18" fmla="*/ 113 h 113"/>
            </a:gdLst>
            <a:ahLst/>
            <a:cxnLst>
              <a:cxn ang="T10">
                <a:pos x="T0" y="T1"/>
              </a:cxn>
              <a:cxn ang="T11">
                <a:pos x="T2" y="T3"/>
              </a:cxn>
              <a:cxn ang="T12">
                <a:pos x="T4" y="T5"/>
              </a:cxn>
              <a:cxn ang="T13">
                <a:pos x="T6" y="T7"/>
              </a:cxn>
              <a:cxn ang="T14">
                <a:pos x="T8" y="T9"/>
              </a:cxn>
            </a:cxnLst>
            <a:rect l="T15" t="T16" r="T17" b="T18"/>
            <a:pathLst>
              <a:path w="134" h="113">
                <a:moveTo>
                  <a:pt x="0" y="0"/>
                </a:moveTo>
                <a:cubicBezTo>
                  <a:pt x="8" y="9"/>
                  <a:pt x="17" y="19"/>
                  <a:pt x="29" y="30"/>
                </a:cubicBezTo>
                <a:cubicBezTo>
                  <a:pt x="41" y="41"/>
                  <a:pt x="57" y="57"/>
                  <a:pt x="73" y="69"/>
                </a:cubicBezTo>
                <a:cubicBezTo>
                  <a:pt x="89" y="81"/>
                  <a:pt x="113" y="98"/>
                  <a:pt x="123" y="105"/>
                </a:cubicBezTo>
                <a:cubicBezTo>
                  <a:pt x="133" y="112"/>
                  <a:pt x="133" y="112"/>
                  <a:pt x="134" y="113"/>
                </a:cubicBezTo>
              </a:path>
            </a:pathLst>
          </a:custGeom>
          <a:noFill/>
          <a:ln w="57150" cap="flat" cmpd="sng">
            <a:solidFill>
              <a:schemeClr val="accent1"/>
            </a:solidFill>
            <a:prstDash val="solid"/>
            <a:round/>
            <a:headEnd type="none" w="med" len="med"/>
            <a:tailEnd type="none" w="med" len="med"/>
          </a:ln>
        </p:spPr>
        <p:txBody>
          <a:bodyPr wrap="none" anchor="ctr">
            <a:spAutoFit/>
          </a:bodyPr>
          <a:lstStyle/>
          <a:p>
            <a:endParaRPr lang="en-US"/>
          </a:p>
        </p:txBody>
      </p:sp>
      <p:sp>
        <p:nvSpPr>
          <p:cNvPr id="453645" name="Freeform 13"/>
          <p:cNvSpPr>
            <a:spLocks/>
          </p:cNvSpPr>
          <p:nvPr/>
        </p:nvSpPr>
        <p:spPr bwMode="auto">
          <a:xfrm>
            <a:off x="2565400" y="4579938"/>
            <a:ext cx="184150" cy="368300"/>
          </a:xfrm>
          <a:custGeom>
            <a:avLst/>
            <a:gdLst>
              <a:gd name="T0" fmla="*/ 0 w 137"/>
              <a:gd name="T1" fmla="*/ 0 h 88"/>
              <a:gd name="T2" fmla="*/ 2147483647 w 137"/>
              <a:gd name="T3" fmla="*/ 2147483647 h 88"/>
              <a:gd name="T4" fmla="*/ 2147483647 w 137"/>
              <a:gd name="T5" fmla="*/ 2147483647 h 88"/>
              <a:gd name="T6" fmla="*/ 2147483647 w 137"/>
              <a:gd name="T7" fmla="*/ 2147483647 h 88"/>
              <a:gd name="T8" fmla="*/ 0 60000 65536"/>
              <a:gd name="T9" fmla="*/ 0 60000 65536"/>
              <a:gd name="T10" fmla="*/ 0 60000 65536"/>
              <a:gd name="T11" fmla="*/ 0 60000 65536"/>
              <a:gd name="T12" fmla="*/ 0 w 137"/>
              <a:gd name="T13" fmla="*/ 0 h 88"/>
              <a:gd name="T14" fmla="*/ 137 w 137"/>
              <a:gd name="T15" fmla="*/ 88 h 88"/>
            </a:gdLst>
            <a:ahLst/>
            <a:cxnLst>
              <a:cxn ang="T8">
                <a:pos x="T0" y="T1"/>
              </a:cxn>
              <a:cxn ang="T9">
                <a:pos x="T2" y="T3"/>
              </a:cxn>
              <a:cxn ang="T10">
                <a:pos x="T4" y="T5"/>
              </a:cxn>
              <a:cxn ang="T11">
                <a:pos x="T6" y="T7"/>
              </a:cxn>
            </a:cxnLst>
            <a:rect l="T12" t="T13" r="T14" b="T15"/>
            <a:pathLst>
              <a:path w="137" h="88">
                <a:moveTo>
                  <a:pt x="0" y="0"/>
                </a:moveTo>
                <a:cubicBezTo>
                  <a:pt x="10" y="7"/>
                  <a:pt x="21" y="15"/>
                  <a:pt x="38" y="26"/>
                </a:cubicBezTo>
                <a:cubicBezTo>
                  <a:pt x="55" y="37"/>
                  <a:pt x="88" y="57"/>
                  <a:pt x="104" y="67"/>
                </a:cubicBezTo>
                <a:cubicBezTo>
                  <a:pt x="120" y="77"/>
                  <a:pt x="128" y="82"/>
                  <a:pt x="137" y="88"/>
                </a:cubicBezTo>
              </a:path>
            </a:pathLst>
          </a:custGeom>
          <a:noFill/>
          <a:ln w="57150" cap="flat" cmpd="sng">
            <a:solidFill>
              <a:schemeClr val="accent1"/>
            </a:solidFill>
            <a:prstDash val="solid"/>
            <a:round/>
            <a:headEnd type="none" w="med" len="med"/>
            <a:tailEnd type="none" w="med" len="med"/>
          </a:ln>
        </p:spPr>
        <p:txBody>
          <a:bodyPr wrap="none" anchor="ctr">
            <a:spAutoFit/>
          </a:bodyPr>
          <a:lstStyle/>
          <a:p>
            <a:endParaRPr lang="en-US"/>
          </a:p>
        </p:txBody>
      </p:sp>
      <p:sp>
        <p:nvSpPr>
          <p:cNvPr id="453646" name="Freeform 14"/>
          <p:cNvSpPr>
            <a:spLocks/>
          </p:cNvSpPr>
          <p:nvPr/>
        </p:nvSpPr>
        <p:spPr bwMode="auto">
          <a:xfrm>
            <a:off x="2778125" y="4700588"/>
            <a:ext cx="185738" cy="368300"/>
          </a:xfrm>
          <a:custGeom>
            <a:avLst/>
            <a:gdLst>
              <a:gd name="T0" fmla="*/ 0 w 130"/>
              <a:gd name="T1" fmla="*/ 0 h 66"/>
              <a:gd name="T2" fmla="*/ 2147483647 w 130"/>
              <a:gd name="T3" fmla="*/ 2147483647 h 66"/>
              <a:gd name="T4" fmla="*/ 2147483647 w 130"/>
              <a:gd name="T5" fmla="*/ 2147483647 h 66"/>
              <a:gd name="T6" fmla="*/ 2147483647 w 130"/>
              <a:gd name="T7" fmla="*/ 2147483647 h 66"/>
              <a:gd name="T8" fmla="*/ 0 60000 65536"/>
              <a:gd name="T9" fmla="*/ 0 60000 65536"/>
              <a:gd name="T10" fmla="*/ 0 60000 65536"/>
              <a:gd name="T11" fmla="*/ 0 60000 65536"/>
              <a:gd name="T12" fmla="*/ 0 w 130"/>
              <a:gd name="T13" fmla="*/ 0 h 66"/>
              <a:gd name="T14" fmla="*/ 130 w 130"/>
              <a:gd name="T15" fmla="*/ 66 h 66"/>
            </a:gdLst>
            <a:ahLst/>
            <a:cxnLst>
              <a:cxn ang="T8">
                <a:pos x="T0" y="T1"/>
              </a:cxn>
              <a:cxn ang="T9">
                <a:pos x="T2" y="T3"/>
              </a:cxn>
              <a:cxn ang="T10">
                <a:pos x="T4" y="T5"/>
              </a:cxn>
              <a:cxn ang="T11">
                <a:pos x="T6" y="T7"/>
              </a:cxn>
            </a:cxnLst>
            <a:rect l="T12" t="T13" r="T14" b="T15"/>
            <a:pathLst>
              <a:path w="130" h="66">
                <a:moveTo>
                  <a:pt x="0" y="0"/>
                </a:moveTo>
                <a:cubicBezTo>
                  <a:pt x="14" y="7"/>
                  <a:pt x="29" y="15"/>
                  <a:pt x="42" y="22"/>
                </a:cubicBezTo>
                <a:cubicBezTo>
                  <a:pt x="55" y="29"/>
                  <a:pt x="65" y="35"/>
                  <a:pt x="80" y="42"/>
                </a:cubicBezTo>
                <a:cubicBezTo>
                  <a:pt x="95" y="49"/>
                  <a:pt x="121" y="62"/>
                  <a:pt x="130" y="66"/>
                </a:cubicBezTo>
              </a:path>
            </a:pathLst>
          </a:custGeom>
          <a:noFill/>
          <a:ln w="57150" cap="flat" cmpd="sng">
            <a:solidFill>
              <a:schemeClr val="accent1"/>
            </a:solidFill>
            <a:prstDash val="solid"/>
            <a:round/>
            <a:headEnd type="none" w="med" len="med"/>
            <a:tailEnd type="none" w="med" len="med"/>
          </a:ln>
        </p:spPr>
        <p:txBody>
          <a:bodyPr wrap="none" anchor="ctr">
            <a:spAutoFit/>
          </a:bodyPr>
          <a:lstStyle/>
          <a:p>
            <a:endParaRPr lang="en-US"/>
          </a:p>
        </p:txBody>
      </p:sp>
      <p:sp>
        <p:nvSpPr>
          <p:cNvPr id="453647" name="Freeform 15"/>
          <p:cNvSpPr>
            <a:spLocks/>
          </p:cNvSpPr>
          <p:nvPr/>
        </p:nvSpPr>
        <p:spPr bwMode="auto">
          <a:xfrm>
            <a:off x="2987675" y="4795838"/>
            <a:ext cx="184150" cy="368300"/>
          </a:xfrm>
          <a:custGeom>
            <a:avLst/>
            <a:gdLst>
              <a:gd name="T0" fmla="*/ 0 w 138"/>
              <a:gd name="T1" fmla="*/ 0 h 54"/>
              <a:gd name="T2" fmla="*/ 2147483647 w 138"/>
              <a:gd name="T3" fmla="*/ 2147483647 h 54"/>
              <a:gd name="T4" fmla="*/ 2147483647 w 138"/>
              <a:gd name="T5" fmla="*/ 2147483647 h 54"/>
              <a:gd name="T6" fmla="*/ 0 60000 65536"/>
              <a:gd name="T7" fmla="*/ 0 60000 65536"/>
              <a:gd name="T8" fmla="*/ 0 60000 65536"/>
              <a:gd name="T9" fmla="*/ 0 w 138"/>
              <a:gd name="T10" fmla="*/ 0 h 54"/>
              <a:gd name="T11" fmla="*/ 138 w 138"/>
              <a:gd name="T12" fmla="*/ 54 h 54"/>
            </a:gdLst>
            <a:ahLst/>
            <a:cxnLst>
              <a:cxn ang="T6">
                <a:pos x="T0" y="T1"/>
              </a:cxn>
              <a:cxn ang="T7">
                <a:pos x="T2" y="T3"/>
              </a:cxn>
              <a:cxn ang="T8">
                <a:pos x="T4" y="T5"/>
              </a:cxn>
            </a:cxnLst>
            <a:rect l="T9" t="T10" r="T11" b="T12"/>
            <a:pathLst>
              <a:path w="138" h="54">
                <a:moveTo>
                  <a:pt x="0" y="0"/>
                </a:moveTo>
                <a:cubicBezTo>
                  <a:pt x="5" y="3"/>
                  <a:pt x="11" y="7"/>
                  <a:pt x="34" y="16"/>
                </a:cubicBezTo>
                <a:cubicBezTo>
                  <a:pt x="57" y="25"/>
                  <a:pt x="97" y="39"/>
                  <a:pt x="138" y="54"/>
                </a:cubicBezTo>
              </a:path>
            </a:pathLst>
          </a:custGeom>
          <a:noFill/>
          <a:ln w="57150" cap="flat" cmpd="sng">
            <a:solidFill>
              <a:schemeClr val="accent1"/>
            </a:solidFill>
            <a:prstDash val="solid"/>
            <a:round/>
            <a:headEnd type="none" w="med" len="med"/>
            <a:tailEnd type="none" w="med" len="med"/>
          </a:ln>
        </p:spPr>
        <p:txBody>
          <a:bodyPr wrap="none" anchor="ctr">
            <a:spAutoFit/>
          </a:bodyPr>
          <a:lstStyle/>
          <a:p>
            <a:endParaRPr lang="en-US"/>
          </a:p>
        </p:txBody>
      </p:sp>
      <p:sp>
        <p:nvSpPr>
          <p:cNvPr id="453648" name="Freeform 16"/>
          <p:cNvSpPr>
            <a:spLocks/>
          </p:cNvSpPr>
          <p:nvPr/>
        </p:nvSpPr>
        <p:spPr bwMode="auto">
          <a:xfrm>
            <a:off x="3205163" y="4872038"/>
            <a:ext cx="184150" cy="368300"/>
          </a:xfrm>
          <a:custGeom>
            <a:avLst/>
            <a:gdLst>
              <a:gd name="T0" fmla="*/ 0 w 133"/>
              <a:gd name="T1" fmla="*/ 0 h 42"/>
              <a:gd name="T2" fmla="*/ 2147483647 w 133"/>
              <a:gd name="T3" fmla="*/ 2147483647 h 42"/>
              <a:gd name="T4" fmla="*/ 2147483647 w 133"/>
              <a:gd name="T5" fmla="*/ 2147483647 h 42"/>
              <a:gd name="T6" fmla="*/ 2147483647 w 133"/>
              <a:gd name="T7" fmla="*/ 2147483647 h 42"/>
              <a:gd name="T8" fmla="*/ 0 60000 65536"/>
              <a:gd name="T9" fmla="*/ 0 60000 65536"/>
              <a:gd name="T10" fmla="*/ 0 60000 65536"/>
              <a:gd name="T11" fmla="*/ 0 60000 65536"/>
              <a:gd name="T12" fmla="*/ 0 w 133"/>
              <a:gd name="T13" fmla="*/ 0 h 42"/>
              <a:gd name="T14" fmla="*/ 133 w 133"/>
              <a:gd name="T15" fmla="*/ 42 h 42"/>
            </a:gdLst>
            <a:ahLst/>
            <a:cxnLst>
              <a:cxn ang="T8">
                <a:pos x="T0" y="T1"/>
              </a:cxn>
              <a:cxn ang="T9">
                <a:pos x="T2" y="T3"/>
              </a:cxn>
              <a:cxn ang="T10">
                <a:pos x="T4" y="T5"/>
              </a:cxn>
              <a:cxn ang="T11">
                <a:pos x="T6" y="T7"/>
              </a:cxn>
            </a:cxnLst>
            <a:rect l="T12" t="T13" r="T14" b="T15"/>
            <a:pathLst>
              <a:path w="133" h="42">
                <a:moveTo>
                  <a:pt x="0" y="0"/>
                </a:moveTo>
                <a:cubicBezTo>
                  <a:pt x="19" y="6"/>
                  <a:pt x="39" y="13"/>
                  <a:pt x="59" y="19"/>
                </a:cubicBezTo>
                <a:cubicBezTo>
                  <a:pt x="79" y="25"/>
                  <a:pt x="107" y="33"/>
                  <a:pt x="119" y="37"/>
                </a:cubicBezTo>
                <a:cubicBezTo>
                  <a:pt x="131" y="41"/>
                  <a:pt x="132" y="41"/>
                  <a:pt x="133" y="42"/>
                </a:cubicBezTo>
              </a:path>
            </a:pathLst>
          </a:custGeom>
          <a:noFill/>
          <a:ln w="57150" cap="flat" cmpd="sng">
            <a:solidFill>
              <a:schemeClr val="accent1"/>
            </a:solidFill>
            <a:prstDash val="solid"/>
            <a:round/>
            <a:headEnd type="none" w="med" len="med"/>
            <a:tailEnd type="none" w="med" len="med"/>
          </a:ln>
        </p:spPr>
        <p:txBody>
          <a:bodyPr wrap="none" anchor="ctr">
            <a:spAutoFit/>
          </a:bodyPr>
          <a:lstStyle/>
          <a:p>
            <a:endParaRPr lang="en-US"/>
          </a:p>
        </p:txBody>
      </p:sp>
      <p:sp>
        <p:nvSpPr>
          <p:cNvPr id="453649" name="Freeform 17"/>
          <p:cNvSpPr>
            <a:spLocks/>
          </p:cNvSpPr>
          <p:nvPr/>
        </p:nvSpPr>
        <p:spPr bwMode="auto">
          <a:xfrm>
            <a:off x="3416300" y="4926013"/>
            <a:ext cx="184150" cy="368300"/>
          </a:xfrm>
          <a:custGeom>
            <a:avLst/>
            <a:gdLst>
              <a:gd name="T0" fmla="*/ 0 w 134"/>
              <a:gd name="T1" fmla="*/ 0 h 28"/>
              <a:gd name="T2" fmla="*/ 2147483647 w 134"/>
              <a:gd name="T3" fmla="*/ 2147483647 h 28"/>
              <a:gd name="T4" fmla="*/ 2147483647 w 134"/>
              <a:gd name="T5" fmla="*/ 2147483647 h 28"/>
              <a:gd name="T6" fmla="*/ 2147483647 w 134"/>
              <a:gd name="T7" fmla="*/ 2147483647 h 28"/>
              <a:gd name="T8" fmla="*/ 0 60000 65536"/>
              <a:gd name="T9" fmla="*/ 0 60000 65536"/>
              <a:gd name="T10" fmla="*/ 0 60000 65536"/>
              <a:gd name="T11" fmla="*/ 0 60000 65536"/>
              <a:gd name="T12" fmla="*/ 0 w 134"/>
              <a:gd name="T13" fmla="*/ 0 h 28"/>
              <a:gd name="T14" fmla="*/ 134 w 134"/>
              <a:gd name="T15" fmla="*/ 28 h 28"/>
            </a:gdLst>
            <a:ahLst/>
            <a:cxnLst>
              <a:cxn ang="T8">
                <a:pos x="T0" y="T1"/>
              </a:cxn>
              <a:cxn ang="T9">
                <a:pos x="T2" y="T3"/>
              </a:cxn>
              <a:cxn ang="T10">
                <a:pos x="T4" y="T5"/>
              </a:cxn>
              <a:cxn ang="T11">
                <a:pos x="T6" y="T7"/>
              </a:cxn>
            </a:cxnLst>
            <a:rect l="T12" t="T13" r="T14" b="T15"/>
            <a:pathLst>
              <a:path w="134" h="28">
                <a:moveTo>
                  <a:pt x="0" y="0"/>
                </a:moveTo>
                <a:cubicBezTo>
                  <a:pt x="14" y="2"/>
                  <a:pt x="28" y="5"/>
                  <a:pt x="46" y="9"/>
                </a:cubicBezTo>
                <a:cubicBezTo>
                  <a:pt x="64" y="13"/>
                  <a:pt x="91" y="21"/>
                  <a:pt x="106" y="24"/>
                </a:cubicBezTo>
                <a:cubicBezTo>
                  <a:pt x="121" y="27"/>
                  <a:pt x="127" y="27"/>
                  <a:pt x="134" y="28"/>
                </a:cubicBezTo>
              </a:path>
            </a:pathLst>
          </a:custGeom>
          <a:noFill/>
          <a:ln w="57150" cap="flat" cmpd="sng">
            <a:solidFill>
              <a:schemeClr val="accent1"/>
            </a:solidFill>
            <a:prstDash val="solid"/>
            <a:round/>
            <a:headEnd type="none" w="med" len="med"/>
            <a:tailEnd type="none" w="med" len="med"/>
          </a:ln>
        </p:spPr>
        <p:txBody>
          <a:bodyPr wrap="none" anchor="ctr">
            <a:spAutoFit/>
          </a:bodyPr>
          <a:lstStyle/>
          <a:p>
            <a:endParaRPr lang="en-US"/>
          </a:p>
        </p:txBody>
      </p:sp>
      <p:sp>
        <p:nvSpPr>
          <p:cNvPr id="453650" name="Freeform 18"/>
          <p:cNvSpPr>
            <a:spLocks/>
          </p:cNvSpPr>
          <p:nvPr/>
        </p:nvSpPr>
        <p:spPr bwMode="auto">
          <a:xfrm>
            <a:off x="3627438" y="4972050"/>
            <a:ext cx="185737" cy="369888"/>
          </a:xfrm>
          <a:custGeom>
            <a:avLst/>
            <a:gdLst>
              <a:gd name="T0" fmla="*/ 0 w 136"/>
              <a:gd name="T1" fmla="*/ 0 h 29"/>
              <a:gd name="T2" fmla="*/ 2147483647 w 136"/>
              <a:gd name="T3" fmla="*/ 2147483647 h 29"/>
              <a:gd name="T4" fmla="*/ 2147483647 w 136"/>
              <a:gd name="T5" fmla="*/ 2147483647 h 29"/>
              <a:gd name="T6" fmla="*/ 2147483647 w 136"/>
              <a:gd name="T7" fmla="*/ 2147483647 h 29"/>
              <a:gd name="T8" fmla="*/ 0 60000 65536"/>
              <a:gd name="T9" fmla="*/ 0 60000 65536"/>
              <a:gd name="T10" fmla="*/ 0 60000 65536"/>
              <a:gd name="T11" fmla="*/ 0 60000 65536"/>
              <a:gd name="T12" fmla="*/ 0 w 136"/>
              <a:gd name="T13" fmla="*/ 0 h 29"/>
              <a:gd name="T14" fmla="*/ 136 w 136"/>
              <a:gd name="T15" fmla="*/ 29 h 29"/>
            </a:gdLst>
            <a:ahLst/>
            <a:cxnLst>
              <a:cxn ang="T8">
                <a:pos x="T0" y="T1"/>
              </a:cxn>
              <a:cxn ang="T9">
                <a:pos x="T2" y="T3"/>
              </a:cxn>
              <a:cxn ang="T10">
                <a:pos x="T4" y="T5"/>
              </a:cxn>
              <a:cxn ang="T11">
                <a:pos x="T6" y="T7"/>
              </a:cxn>
            </a:cxnLst>
            <a:rect l="T12" t="T13" r="T14" b="T15"/>
            <a:pathLst>
              <a:path w="136" h="29">
                <a:moveTo>
                  <a:pt x="0" y="0"/>
                </a:moveTo>
                <a:cubicBezTo>
                  <a:pt x="14" y="3"/>
                  <a:pt x="29" y="7"/>
                  <a:pt x="46" y="10"/>
                </a:cubicBezTo>
                <a:cubicBezTo>
                  <a:pt x="63" y="13"/>
                  <a:pt x="86" y="18"/>
                  <a:pt x="101" y="21"/>
                </a:cubicBezTo>
                <a:cubicBezTo>
                  <a:pt x="116" y="24"/>
                  <a:pt x="126" y="26"/>
                  <a:pt x="136" y="29"/>
                </a:cubicBezTo>
              </a:path>
            </a:pathLst>
          </a:custGeom>
          <a:noFill/>
          <a:ln w="57150" cap="flat" cmpd="sng">
            <a:solidFill>
              <a:schemeClr val="accent1"/>
            </a:solidFill>
            <a:prstDash val="solid"/>
            <a:round/>
            <a:headEnd type="none" w="med" len="med"/>
            <a:tailEnd type="none" w="med" len="med"/>
          </a:ln>
        </p:spPr>
        <p:txBody>
          <a:bodyPr wrap="none" anchor="ctr">
            <a:spAutoFit/>
          </a:bodyPr>
          <a:lstStyle/>
          <a:p>
            <a:endParaRPr lang="en-US"/>
          </a:p>
        </p:txBody>
      </p:sp>
      <p:sp>
        <p:nvSpPr>
          <p:cNvPr id="453651" name="Freeform 19"/>
          <p:cNvSpPr>
            <a:spLocks/>
          </p:cNvSpPr>
          <p:nvPr/>
        </p:nvSpPr>
        <p:spPr bwMode="auto">
          <a:xfrm>
            <a:off x="3836988" y="5008563"/>
            <a:ext cx="184150" cy="368300"/>
          </a:xfrm>
          <a:custGeom>
            <a:avLst/>
            <a:gdLst>
              <a:gd name="T0" fmla="*/ 0 w 135"/>
              <a:gd name="T1" fmla="*/ 0 h 22"/>
              <a:gd name="T2" fmla="*/ 2147483647 w 135"/>
              <a:gd name="T3" fmla="*/ 2147483647 h 22"/>
              <a:gd name="T4" fmla="*/ 2147483647 w 135"/>
              <a:gd name="T5" fmla="*/ 2147483647 h 22"/>
              <a:gd name="T6" fmla="*/ 2147483647 w 135"/>
              <a:gd name="T7" fmla="*/ 2147483647 h 22"/>
              <a:gd name="T8" fmla="*/ 0 60000 65536"/>
              <a:gd name="T9" fmla="*/ 0 60000 65536"/>
              <a:gd name="T10" fmla="*/ 0 60000 65536"/>
              <a:gd name="T11" fmla="*/ 0 60000 65536"/>
              <a:gd name="T12" fmla="*/ 0 w 135"/>
              <a:gd name="T13" fmla="*/ 0 h 22"/>
              <a:gd name="T14" fmla="*/ 135 w 135"/>
              <a:gd name="T15" fmla="*/ 22 h 22"/>
            </a:gdLst>
            <a:ahLst/>
            <a:cxnLst>
              <a:cxn ang="T8">
                <a:pos x="T0" y="T1"/>
              </a:cxn>
              <a:cxn ang="T9">
                <a:pos x="T2" y="T3"/>
              </a:cxn>
              <a:cxn ang="T10">
                <a:pos x="T4" y="T5"/>
              </a:cxn>
              <a:cxn ang="T11">
                <a:pos x="T6" y="T7"/>
              </a:cxn>
            </a:cxnLst>
            <a:rect l="T12" t="T13" r="T14" b="T15"/>
            <a:pathLst>
              <a:path w="135" h="22">
                <a:moveTo>
                  <a:pt x="0" y="0"/>
                </a:moveTo>
                <a:cubicBezTo>
                  <a:pt x="16" y="3"/>
                  <a:pt x="33" y="6"/>
                  <a:pt x="50" y="9"/>
                </a:cubicBezTo>
                <a:cubicBezTo>
                  <a:pt x="67" y="12"/>
                  <a:pt x="89" y="15"/>
                  <a:pt x="103" y="17"/>
                </a:cubicBezTo>
                <a:cubicBezTo>
                  <a:pt x="117" y="19"/>
                  <a:pt x="126" y="20"/>
                  <a:pt x="135" y="22"/>
                </a:cubicBezTo>
              </a:path>
            </a:pathLst>
          </a:custGeom>
          <a:noFill/>
          <a:ln w="57150" cap="flat" cmpd="sng">
            <a:solidFill>
              <a:schemeClr val="accent1"/>
            </a:solidFill>
            <a:prstDash val="solid"/>
            <a:round/>
            <a:headEnd type="none" w="med" len="med"/>
            <a:tailEnd type="none" w="med" len="med"/>
          </a:ln>
        </p:spPr>
        <p:txBody>
          <a:bodyPr wrap="none" anchor="ctr">
            <a:spAutoFit/>
          </a:bodyPr>
          <a:lstStyle/>
          <a:p>
            <a:endParaRPr lang="en-US"/>
          </a:p>
        </p:txBody>
      </p:sp>
      <p:sp>
        <p:nvSpPr>
          <p:cNvPr id="453652" name="Freeform 20"/>
          <p:cNvSpPr>
            <a:spLocks/>
          </p:cNvSpPr>
          <p:nvPr/>
        </p:nvSpPr>
        <p:spPr bwMode="auto">
          <a:xfrm>
            <a:off x="4049713" y="5035550"/>
            <a:ext cx="184150" cy="369888"/>
          </a:xfrm>
          <a:custGeom>
            <a:avLst/>
            <a:gdLst>
              <a:gd name="T0" fmla="*/ 0 w 134"/>
              <a:gd name="T1" fmla="*/ 0 h 19"/>
              <a:gd name="T2" fmla="*/ 2147483647 w 134"/>
              <a:gd name="T3" fmla="*/ 2147483647 h 19"/>
              <a:gd name="T4" fmla="*/ 2147483647 w 134"/>
              <a:gd name="T5" fmla="*/ 2147483647 h 19"/>
              <a:gd name="T6" fmla="*/ 2147483647 w 134"/>
              <a:gd name="T7" fmla="*/ 2147483647 h 19"/>
              <a:gd name="T8" fmla="*/ 0 60000 65536"/>
              <a:gd name="T9" fmla="*/ 0 60000 65536"/>
              <a:gd name="T10" fmla="*/ 0 60000 65536"/>
              <a:gd name="T11" fmla="*/ 0 60000 65536"/>
              <a:gd name="T12" fmla="*/ 0 w 134"/>
              <a:gd name="T13" fmla="*/ 0 h 19"/>
              <a:gd name="T14" fmla="*/ 134 w 134"/>
              <a:gd name="T15" fmla="*/ 19 h 19"/>
            </a:gdLst>
            <a:ahLst/>
            <a:cxnLst>
              <a:cxn ang="T8">
                <a:pos x="T0" y="T1"/>
              </a:cxn>
              <a:cxn ang="T9">
                <a:pos x="T2" y="T3"/>
              </a:cxn>
              <a:cxn ang="T10">
                <a:pos x="T4" y="T5"/>
              </a:cxn>
              <a:cxn ang="T11">
                <a:pos x="T6" y="T7"/>
              </a:cxn>
            </a:cxnLst>
            <a:rect l="T12" t="T13" r="T14" b="T15"/>
            <a:pathLst>
              <a:path w="134" h="19">
                <a:moveTo>
                  <a:pt x="0" y="0"/>
                </a:moveTo>
                <a:cubicBezTo>
                  <a:pt x="17" y="3"/>
                  <a:pt x="34" y="7"/>
                  <a:pt x="53" y="10"/>
                </a:cubicBezTo>
                <a:cubicBezTo>
                  <a:pt x="72" y="13"/>
                  <a:pt x="100" y="17"/>
                  <a:pt x="113" y="18"/>
                </a:cubicBezTo>
                <a:cubicBezTo>
                  <a:pt x="126" y="19"/>
                  <a:pt x="130" y="19"/>
                  <a:pt x="134" y="19"/>
                </a:cubicBezTo>
              </a:path>
            </a:pathLst>
          </a:custGeom>
          <a:noFill/>
          <a:ln w="57150" cap="flat" cmpd="sng">
            <a:solidFill>
              <a:schemeClr val="accent1"/>
            </a:solidFill>
            <a:prstDash val="solid"/>
            <a:round/>
            <a:headEnd type="none" w="med" len="med"/>
            <a:tailEnd type="none" w="med" len="med"/>
          </a:ln>
        </p:spPr>
        <p:txBody>
          <a:bodyPr wrap="none" anchor="ctr">
            <a:spAutoFit/>
          </a:bodyPr>
          <a:lstStyle/>
          <a:p>
            <a:endParaRPr lang="en-US"/>
          </a:p>
        </p:txBody>
      </p:sp>
      <p:sp>
        <p:nvSpPr>
          <p:cNvPr id="453653" name="Freeform 21"/>
          <p:cNvSpPr>
            <a:spLocks/>
          </p:cNvSpPr>
          <p:nvPr/>
        </p:nvSpPr>
        <p:spPr bwMode="auto">
          <a:xfrm>
            <a:off x="4252913" y="5059363"/>
            <a:ext cx="184150" cy="369887"/>
          </a:xfrm>
          <a:custGeom>
            <a:avLst/>
            <a:gdLst>
              <a:gd name="T0" fmla="*/ 0 w 136"/>
              <a:gd name="T1" fmla="*/ 0 h 13"/>
              <a:gd name="T2" fmla="*/ 2147483647 w 136"/>
              <a:gd name="T3" fmla="*/ 2147483647 h 13"/>
              <a:gd name="T4" fmla="*/ 2147483647 w 136"/>
              <a:gd name="T5" fmla="*/ 2147483647 h 13"/>
              <a:gd name="T6" fmla="*/ 2147483647 w 136"/>
              <a:gd name="T7" fmla="*/ 2147483647 h 13"/>
              <a:gd name="T8" fmla="*/ 0 60000 65536"/>
              <a:gd name="T9" fmla="*/ 0 60000 65536"/>
              <a:gd name="T10" fmla="*/ 0 60000 65536"/>
              <a:gd name="T11" fmla="*/ 0 60000 65536"/>
              <a:gd name="T12" fmla="*/ 0 w 136"/>
              <a:gd name="T13" fmla="*/ 0 h 13"/>
              <a:gd name="T14" fmla="*/ 136 w 136"/>
              <a:gd name="T15" fmla="*/ 13 h 13"/>
            </a:gdLst>
            <a:ahLst/>
            <a:cxnLst>
              <a:cxn ang="T8">
                <a:pos x="T0" y="T1"/>
              </a:cxn>
              <a:cxn ang="T9">
                <a:pos x="T2" y="T3"/>
              </a:cxn>
              <a:cxn ang="T10">
                <a:pos x="T4" y="T5"/>
              </a:cxn>
              <a:cxn ang="T11">
                <a:pos x="T6" y="T7"/>
              </a:cxn>
            </a:cxnLst>
            <a:rect l="T12" t="T13" r="T14" b="T15"/>
            <a:pathLst>
              <a:path w="136" h="13">
                <a:moveTo>
                  <a:pt x="0" y="0"/>
                </a:moveTo>
                <a:cubicBezTo>
                  <a:pt x="18" y="2"/>
                  <a:pt x="37" y="5"/>
                  <a:pt x="54" y="6"/>
                </a:cubicBezTo>
                <a:cubicBezTo>
                  <a:pt x="71" y="7"/>
                  <a:pt x="91" y="8"/>
                  <a:pt x="105" y="9"/>
                </a:cubicBezTo>
                <a:cubicBezTo>
                  <a:pt x="119" y="10"/>
                  <a:pt x="127" y="11"/>
                  <a:pt x="136" y="13"/>
                </a:cubicBezTo>
              </a:path>
            </a:pathLst>
          </a:custGeom>
          <a:noFill/>
          <a:ln w="57150" cap="flat" cmpd="sng">
            <a:solidFill>
              <a:schemeClr val="accent1"/>
            </a:solidFill>
            <a:prstDash val="solid"/>
            <a:round/>
            <a:headEnd type="none" w="med" len="med"/>
            <a:tailEnd type="none" w="med" len="med"/>
          </a:ln>
        </p:spPr>
        <p:txBody>
          <a:bodyPr wrap="none" anchor="ctr">
            <a:spAutoFit/>
          </a:bodyPr>
          <a:lstStyle/>
          <a:p>
            <a:endParaRPr lang="en-US"/>
          </a:p>
        </p:txBody>
      </p:sp>
      <p:sp>
        <p:nvSpPr>
          <p:cNvPr id="453654" name="Freeform 22"/>
          <p:cNvSpPr>
            <a:spLocks/>
          </p:cNvSpPr>
          <p:nvPr/>
        </p:nvSpPr>
        <p:spPr bwMode="auto">
          <a:xfrm>
            <a:off x="4468813" y="5076825"/>
            <a:ext cx="184150" cy="368300"/>
          </a:xfrm>
          <a:custGeom>
            <a:avLst/>
            <a:gdLst>
              <a:gd name="T0" fmla="*/ 0 w 133"/>
              <a:gd name="T1" fmla="*/ 0 h 8"/>
              <a:gd name="T2" fmla="*/ 2147483647 w 133"/>
              <a:gd name="T3" fmla="*/ 2147483647 h 8"/>
              <a:gd name="T4" fmla="*/ 2147483647 w 133"/>
              <a:gd name="T5" fmla="*/ 2147483647 h 8"/>
              <a:gd name="T6" fmla="*/ 0 60000 65536"/>
              <a:gd name="T7" fmla="*/ 0 60000 65536"/>
              <a:gd name="T8" fmla="*/ 0 60000 65536"/>
              <a:gd name="T9" fmla="*/ 0 w 133"/>
              <a:gd name="T10" fmla="*/ 0 h 8"/>
              <a:gd name="T11" fmla="*/ 133 w 133"/>
              <a:gd name="T12" fmla="*/ 8 h 8"/>
            </a:gdLst>
            <a:ahLst/>
            <a:cxnLst>
              <a:cxn ang="T6">
                <a:pos x="T0" y="T1"/>
              </a:cxn>
              <a:cxn ang="T7">
                <a:pos x="T2" y="T3"/>
              </a:cxn>
              <a:cxn ang="T8">
                <a:pos x="T4" y="T5"/>
              </a:cxn>
            </a:cxnLst>
            <a:rect l="T9" t="T10" r="T11" b="T12"/>
            <a:pathLst>
              <a:path w="133" h="8">
                <a:moveTo>
                  <a:pt x="0" y="0"/>
                </a:moveTo>
                <a:cubicBezTo>
                  <a:pt x="22" y="1"/>
                  <a:pt x="44" y="2"/>
                  <a:pt x="66" y="3"/>
                </a:cubicBezTo>
                <a:cubicBezTo>
                  <a:pt x="88" y="4"/>
                  <a:pt x="110" y="6"/>
                  <a:pt x="133" y="8"/>
                </a:cubicBezTo>
              </a:path>
            </a:pathLst>
          </a:custGeom>
          <a:noFill/>
          <a:ln w="57150" cap="flat" cmpd="sng">
            <a:solidFill>
              <a:schemeClr val="accent1"/>
            </a:solidFill>
            <a:prstDash val="solid"/>
            <a:round/>
            <a:headEnd type="none" w="med" len="med"/>
            <a:tailEnd type="none" w="med" len="med"/>
          </a:ln>
        </p:spPr>
        <p:txBody>
          <a:bodyPr wrap="none" anchor="ctr">
            <a:spAutoFit/>
          </a:bodyPr>
          <a:lstStyle/>
          <a:p>
            <a:endParaRPr lang="en-US"/>
          </a:p>
        </p:txBody>
      </p:sp>
      <p:sp>
        <p:nvSpPr>
          <p:cNvPr id="453655" name="Freeform 23"/>
          <p:cNvSpPr>
            <a:spLocks/>
          </p:cNvSpPr>
          <p:nvPr/>
        </p:nvSpPr>
        <p:spPr bwMode="auto">
          <a:xfrm>
            <a:off x="4676775" y="5087938"/>
            <a:ext cx="184150" cy="368300"/>
          </a:xfrm>
          <a:custGeom>
            <a:avLst/>
            <a:gdLst>
              <a:gd name="T0" fmla="*/ 0 w 131"/>
              <a:gd name="T1" fmla="*/ 0 h 2"/>
              <a:gd name="T2" fmla="*/ 2147483647 w 131"/>
              <a:gd name="T3" fmla="*/ 0 h 2"/>
              <a:gd name="T4" fmla="*/ 2147483647 w 131"/>
              <a:gd name="T5" fmla="*/ 2147483647 h 2"/>
              <a:gd name="T6" fmla="*/ 0 60000 65536"/>
              <a:gd name="T7" fmla="*/ 0 60000 65536"/>
              <a:gd name="T8" fmla="*/ 0 60000 65536"/>
              <a:gd name="T9" fmla="*/ 0 w 131"/>
              <a:gd name="T10" fmla="*/ 0 h 2"/>
              <a:gd name="T11" fmla="*/ 131 w 131"/>
              <a:gd name="T12" fmla="*/ 2 h 2"/>
            </a:gdLst>
            <a:ahLst/>
            <a:cxnLst>
              <a:cxn ang="T6">
                <a:pos x="T0" y="T1"/>
              </a:cxn>
              <a:cxn ang="T7">
                <a:pos x="T2" y="T3"/>
              </a:cxn>
              <a:cxn ang="T8">
                <a:pos x="T4" y="T5"/>
              </a:cxn>
            </a:cxnLst>
            <a:rect l="T9" t="T10" r="T11" b="T12"/>
            <a:pathLst>
              <a:path w="131" h="2">
                <a:moveTo>
                  <a:pt x="0" y="0"/>
                </a:moveTo>
                <a:cubicBezTo>
                  <a:pt x="21" y="0"/>
                  <a:pt x="42" y="0"/>
                  <a:pt x="64" y="0"/>
                </a:cubicBezTo>
                <a:cubicBezTo>
                  <a:pt x="86" y="0"/>
                  <a:pt x="108" y="1"/>
                  <a:pt x="131" y="2"/>
                </a:cubicBezTo>
              </a:path>
            </a:pathLst>
          </a:custGeom>
          <a:noFill/>
          <a:ln w="57150" cap="flat" cmpd="sng">
            <a:solidFill>
              <a:schemeClr val="accent1"/>
            </a:solidFill>
            <a:prstDash val="solid"/>
            <a:round/>
            <a:headEnd type="none" w="med" len="med"/>
            <a:tailEnd type="none" w="med" len="med"/>
          </a:ln>
        </p:spPr>
        <p:txBody>
          <a:bodyPr wrap="none" anchor="ctr">
            <a:spAutoFit/>
          </a:bodyPr>
          <a:lstStyle/>
          <a:p>
            <a:endParaRPr lang="en-US"/>
          </a:p>
        </p:txBody>
      </p:sp>
      <p:sp>
        <p:nvSpPr>
          <p:cNvPr id="453656" name="Freeform 24"/>
          <p:cNvSpPr>
            <a:spLocks/>
          </p:cNvSpPr>
          <p:nvPr/>
        </p:nvSpPr>
        <p:spPr bwMode="auto">
          <a:xfrm>
            <a:off x="4883150" y="5092700"/>
            <a:ext cx="184150" cy="369888"/>
          </a:xfrm>
          <a:custGeom>
            <a:avLst/>
            <a:gdLst>
              <a:gd name="T0" fmla="*/ 0 w 136"/>
              <a:gd name="T1" fmla="*/ 0 h 3"/>
              <a:gd name="T2" fmla="*/ 2147483647 w 136"/>
              <a:gd name="T3" fmla="*/ 2147483647 h 3"/>
              <a:gd name="T4" fmla="*/ 2147483647 w 136"/>
              <a:gd name="T5" fmla="*/ 2147483647 h 3"/>
              <a:gd name="T6" fmla="*/ 0 60000 65536"/>
              <a:gd name="T7" fmla="*/ 0 60000 65536"/>
              <a:gd name="T8" fmla="*/ 0 60000 65536"/>
              <a:gd name="T9" fmla="*/ 0 w 136"/>
              <a:gd name="T10" fmla="*/ 0 h 3"/>
              <a:gd name="T11" fmla="*/ 136 w 136"/>
              <a:gd name="T12" fmla="*/ 3 h 3"/>
            </a:gdLst>
            <a:ahLst/>
            <a:cxnLst>
              <a:cxn ang="T6">
                <a:pos x="T0" y="T1"/>
              </a:cxn>
              <a:cxn ang="T7">
                <a:pos x="T2" y="T3"/>
              </a:cxn>
              <a:cxn ang="T8">
                <a:pos x="T4" y="T5"/>
              </a:cxn>
            </a:cxnLst>
            <a:rect l="T9" t="T10" r="T11" b="T12"/>
            <a:pathLst>
              <a:path w="136" h="3">
                <a:moveTo>
                  <a:pt x="0" y="0"/>
                </a:moveTo>
                <a:cubicBezTo>
                  <a:pt x="25" y="0"/>
                  <a:pt x="50" y="1"/>
                  <a:pt x="73" y="2"/>
                </a:cubicBezTo>
                <a:cubicBezTo>
                  <a:pt x="96" y="3"/>
                  <a:pt x="116" y="3"/>
                  <a:pt x="136" y="3"/>
                </a:cubicBezTo>
              </a:path>
            </a:pathLst>
          </a:custGeom>
          <a:noFill/>
          <a:ln w="57150" cap="flat" cmpd="sng">
            <a:solidFill>
              <a:schemeClr val="accent1"/>
            </a:solidFill>
            <a:prstDash val="solid"/>
            <a:round/>
            <a:headEnd type="none" w="med" len="med"/>
            <a:tailEnd type="none" w="med" len="med"/>
          </a:ln>
        </p:spPr>
        <p:txBody>
          <a:bodyPr wrap="none" anchor="ctr">
            <a:spAutoFit/>
          </a:bodyPr>
          <a:lstStyle/>
          <a:p>
            <a:endParaRPr lang="en-US"/>
          </a:p>
        </p:txBody>
      </p:sp>
      <p:sp>
        <p:nvSpPr>
          <p:cNvPr id="453657" name="Freeform 25"/>
          <p:cNvSpPr>
            <a:spLocks/>
          </p:cNvSpPr>
          <p:nvPr/>
        </p:nvSpPr>
        <p:spPr bwMode="auto">
          <a:xfrm>
            <a:off x="2119313" y="4081463"/>
            <a:ext cx="184150" cy="369887"/>
          </a:xfrm>
          <a:custGeom>
            <a:avLst/>
            <a:gdLst>
              <a:gd name="T0" fmla="*/ 0 w 148"/>
              <a:gd name="T1" fmla="*/ 0 h 315"/>
              <a:gd name="T2" fmla="*/ 2147483647 w 148"/>
              <a:gd name="T3" fmla="*/ 2147483647 h 315"/>
              <a:gd name="T4" fmla="*/ 2147483647 w 148"/>
              <a:gd name="T5" fmla="*/ 2147483647 h 315"/>
              <a:gd name="T6" fmla="*/ 2147483647 w 148"/>
              <a:gd name="T7" fmla="*/ 2147483647 h 315"/>
              <a:gd name="T8" fmla="*/ 2147483647 w 148"/>
              <a:gd name="T9" fmla="*/ 2147483647 h 315"/>
              <a:gd name="T10" fmla="*/ 2147483647 w 148"/>
              <a:gd name="T11" fmla="*/ 2147483647 h 315"/>
              <a:gd name="T12" fmla="*/ 0 60000 65536"/>
              <a:gd name="T13" fmla="*/ 0 60000 65536"/>
              <a:gd name="T14" fmla="*/ 0 60000 65536"/>
              <a:gd name="T15" fmla="*/ 0 60000 65536"/>
              <a:gd name="T16" fmla="*/ 0 60000 65536"/>
              <a:gd name="T17" fmla="*/ 0 60000 65536"/>
              <a:gd name="T18" fmla="*/ 0 w 148"/>
              <a:gd name="T19" fmla="*/ 0 h 315"/>
              <a:gd name="T20" fmla="*/ 148 w 148"/>
              <a:gd name="T21" fmla="*/ 315 h 315"/>
            </a:gdLst>
            <a:ahLst/>
            <a:cxnLst>
              <a:cxn ang="T12">
                <a:pos x="T0" y="T1"/>
              </a:cxn>
              <a:cxn ang="T13">
                <a:pos x="T2" y="T3"/>
              </a:cxn>
              <a:cxn ang="T14">
                <a:pos x="T4" y="T5"/>
              </a:cxn>
              <a:cxn ang="T15">
                <a:pos x="T6" y="T7"/>
              </a:cxn>
              <a:cxn ang="T16">
                <a:pos x="T8" y="T9"/>
              </a:cxn>
              <a:cxn ang="T17">
                <a:pos x="T10" y="T11"/>
              </a:cxn>
            </a:cxnLst>
            <a:rect l="T18" t="T19" r="T20" b="T21"/>
            <a:pathLst>
              <a:path w="148" h="315">
                <a:moveTo>
                  <a:pt x="0" y="0"/>
                </a:moveTo>
                <a:cubicBezTo>
                  <a:pt x="2" y="9"/>
                  <a:pt x="4" y="19"/>
                  <a:pt x="10" y="40"/>
                </a:cubicBezTo>
                <a:cubicBezTo>
                  <a:pt x="16" y="61"/>
                  <a:pt x="25" y="99"/>
                  <a:pt x="34" y="125"/>
                </a:cubicBezTo>
                <a:cubicBezTo>
                  <a:pt x="43" y="151"/>
                  <a:pt x="52" y="176"/>
                  <a:pt x="64" y="200"/>
                </a:cubicBezTo>
                <a:cubicBezTo>
                  <a:pt x="76" y="224"/>
                  <a:pt x="95" y="253"/>
                  <a:pt x="109" y="272"/>
                </a:cubicBezTo>
                <a:cubicBezTo>
                  <a:pt x="123" y="291"/>
                  <a:pt x="135" y="303"/>
                  <a:pt x="148" y="315"/>
                </a:cubicBezTo>
              </a:path>
            </a:pathLst>
          </a:custGeom>
          <a:noFill/>
          <a:ln w="57150" cap="flat" cmpd="sng">
            <a:solidFill>
              <a:schemeClr val="accent1"/>
            </a:solidFill>
            <a:prstDash val="solid"/>
            <a:round/>
            <a:headEnd type="none" w="med" len="med"/>
            <a:tailEnd type="none" w="med" len="med"/>
          </a:ln>
        </p:spPr>
        <p:txBody>
          <a:bodyPr wrap="none" anchor="ctr">
            <a:spAutoFit/>
          </a:bodyPr>
          <a:lstStyle/>
          <a:p>
            <a:endParaRPr lang="en-US"/>
          </a:p>
        </p:txBody>
      </p:sp>
      <p:sp>
        <p:nvSpPr>
          <p:cNvPr id="453658" name="Rectangle 26"/>
          <p:cNvSpPr>
            <a:spLocks noGrp="1" noChangeArrowheads="1"/>
          </p:cNvSpPr>
          <p:nvPr>
            <p:ph type="body" idx="1"/>
          </p:nvPr>
        </p:nvSpPr>
        <p:spPr>
          <a:xfrm>
            <a:off x="184150" y="1524000"/>
            <a:ext cx="7469188" cy="1187450"/>
          </a:xfrm>
        </p:spPr>
        <p:txBody>
          <a:bodyPr rtlCol="0">
            <a:normAutofit fontScale="70000" lnSpcReduction="20000"/>
          </a:bodyPr>
          <a:lstStyle/>
          <a:p>
            <a:pPr marL="0" indent="0" eaLnBrk="1" fontAlgn="auto" hangingPunct="1">
              <a:spcAft>
                <a:spcPts val="0"/>
              </a:spcAft>
              <a:buFontTx/>
              <a:buNone/>
              <a:defRPr/>
            </a:pPr>
            <a:r>
              <a:rPr lang="en-US" dirty="0">
                <a:latin typeface="Helvetica" pitchFamily="34" charset="0"/>
              </a:rPr>
              <a:t>There is a  depression in digestibility (i.e., energy value) with decrease retention time (i.e. faster passage) in cows at high intake and level of production.</a:t>
            </a:r>
          </a:p>
        </p:txBody>
      </p:sp>
      <p:grpSp>
        <p:nvGrpSpPr>
          <p:cNvPr id="453659" name="Group 27"/>
          <p:cNvGrpSpPr>
            <a:grpSpLocks/>
          </p:cNvGrpSpPr>
          <p:nvPr/>
        </p:nvGrpSpPr>
        <p:grpSpPr bwMode="auto">
          <a:xfrm>
            <a:off x="142875" y="5303838"/>
            <a:ext cx="8213725" cy="647700"/>
            <a:chOff x="101" y="3574"/>
            <a:chExt cx="5821" cy="408"/>
          </a:xfrm>
        </p:grpSpPr>
        <p:sp>
          <p:nvSpPr>
            <p:cNvPr id="32827" name="Line 28"/>
            <p:cNvSpPr>
              <a:spLocks noChangeShapeType="1"/>
            </p:cNvSpPr>
            <p:nvPr/>
          </p:nvSpPr>
          <p:spPr bwMode="auto">
            <a:xfrm>
              <a:off x="1402" y="3574"/>
              <a:ext cx="2576" cy="0"/>
            </a:xfrm>
            <a:prstGeom prst="line">
              <a:avLst/>
            </a:prstGeom>
            <a:noFill/>
            <a:ln w="19050">
              <a:solidFill>
                <a:schemeClr val="tx1"/>
              </a:solidFill>
              <a:prstDash val="sysDot"/>
              <a:round/>
              <a:headEnd/>
              <a:tailEnd/>
            </a:ln>
          </p:spPr>
          <p:txBody>
            <a:bodyPr wrap="none" anchor="ctr">
              <a:spAutoFit/>
            </a:bodyPr>
            <a:lstStyle/>
            <a:p>
              <a:endParaRPr lang="en-US"/>
            </a:p>
          </p:txBody>
        </p:sp>
        <p:grpSp>
          <p:nvGrpSpPr>
            <p:cNvPr id="32828" name="Group 29"/>
            <p:cNvGrpSpPr>
              <a:grpSpLocks/>
            </p:cNvGrpSpPr>
            <p:nvPr/>
          </p:nvGrpSpPr>
          <p:grpSpPr bwMode="auto">
            <a:xfrm>
              <a:off x="101" y="3574"/>
              <a:ext cx="5821" cy="408"/>
              <a:chOff x="101" y="3574"/>
              <a:chExt cx="5821" cy="408"/>
            </a:xfrm>
          </p:grpSpPr>
          <p:sp>
            <p:nvSpPr>
              <p:cNvPr id="32829" name="Text Box 30"/>
              <p:cNvSpPr txBox="1">
                <a:spLocks noChangeArrowheads="1"/>
              </p:cNvSpPr>
              <p:nvPr/>
            </p:nvSpPr>
            <p:spPr bwMode="auto">
              <a:xfrm>
                <a:off x="101" y="3574"/>
                <a:ext cx="772" cy="233"/>
              </a:xfrm>
              <a:prstGeom prst="rect">
                <a:avLst/>
              </a:prstGeom>
              <a:noFill/>
              <a:ln w="9525">
                <a:noFill/>
                <a:miter lim="800000"/>
                <a:headEnd/>
                <a:tailEnd/>
              </a:ln>
            </p:spPr>
            <p:txBody>
              <a:bodyPr wrap="none">
                <a:spAutoFit/>
              </a:bodyPr>
              <a:lstStyle/>
              <a:p>
                <a:r>
                  <a:rPr lang="en-US">
                    <a:latin typeface="Calibri" pitchFamily="34" charset="0"/>
                  </a:rPr>
                  <a:t>C fraction</a:t>
                </a:r>
              </a:p>
            </p:txBody>
          </p:sp>
          <p:sp>
            <p:nvSpPr>
              <p:cNvPr id="32830" name="Text Box 31"/>
              <p:cNvSpPr txBox="1">
                <a:spLocks noChangeArrowheads="1"/>
              </p:cNvSpPr>
              <p:nvPr/>
            </p:nvSpPr>
            <p:spPr bwMode="auto">
              <a:xfrm>
                <a:off x="4204" y="3574"/>
                <a:ext cx="899" cy="233"/>
              </a:xfrm>
              <a:prstGeom prst="rect">
                <a:avLst/>
              </a:prstGeom>
              <a:noFill/>
              <a:ln w="9525">
                <a:noFill/>
                <a:miter lim="800000"/>
                <a:headEnd/>
                <a:tailEnd/>
              </a:ln>
            </p:spPr>
            <p:txBody>
              <a:bodyPr wrap="none">
                <a:spAutoFit/>
              </a:bodyPr>
              <a:lstStyle/>
              <a:p>
                <a:r>
                  <a:rPr lang="en-US">
                    <a:latin typeface="Calibri" pitchFamily="34" charset="0"/>
                  </a:rPr>
                  <a:t>Indigestible</a:t>
                </a:r>
              </a:p>
            </p:txBody>
          </p:sp>
          <p:sp>
            <p:nvSpPr>
              <p:cNvPr id="32831" name="Text Box 32"/>
              <p:cNvSpPr txBox="1">
                <a:spLocks noChangeArrowheads="1"/>
              </p:cNvSpPr>
              <p:nvPr/>
            </p:nvSpPr>
            <p:spPr bwMode="auto">
              <a:xfrm>
                <a:off x="5708" y="3574"/>
                <a:ext cx="214" cy="233"/>
              </a:xfrm>
              <a:prstGeom prst="rect">
                <a:avLst/>
              </a:prstGeom>
              <a:noFill/>
              <a:ln w="9525">
                <a:noFill/>
                <a:miter lim="800000"/>
                <a:headEnd/>
                <a:tailEnd/>
              </a:ln>
            </p:spPr>
            <p:txBody>
              <a:bodyPr wrap="none">
                <a:spAutoFit/>
              </a:bodyPr>
              <a:lstStyle/>
              <a:p>
                <a:pPr algn="ctr"/>
                <a:r>
                  <a:rPr lang="en-US">
                    <a:latin typeface="Calibri" pitchFamily="34" charset="0"/>
                  </a:rPr>
                  <a:t>0</a:t>
                </a:r>
              </a:p>
            </p:txBody>
          </p:sp>
          <p:sp>
            <p:nvSpPr>
              <p:cNvPr id="32832" name="AutoShape 33"/>
              <p:cNvSpPr>
                <a:spLocks/>
              </p:cNvSpPr>
              <p:nvPr/>
            </p:nvSpPr>
            <p:spPr bwMode="auto">
              <a:xfrm>
                <a:off x="986" y="3574"/>
                <a:ext cx="127" cy="408"/>
              </a:xfrm>
              <a:prstGeom prst="leftBrace">
                <a:avLst>
                  <a:gd name="adj1" fmla="val 26772"/>
                  <a:gd name="adj2" fmla="val 50000"/>
                </a:avLst>
              </a:prstGeom>
              <a:noFill/>
              <a:ln w="28575">
                <a:solidFill>
                  <a:schemeClr val="tx1"/>
                </a:solidFill>
                <a:round/>
                <a:headEnd/>
                <a:tailEnd/>
              </a:ln>
            </p:spPr>
            <p:txBody>
              <a:bodyPr wrap="none" anchor="ctr"/>
              <a:lstStyle/>
              <a:p>
                <a:endParaRPr lang="en-NZ">
                  <a:latin typeface="Calibri" pitchFamily="34" charset="0"/>
                </a:endParaRPr>
              </a:p>
            </p:txBody>
          </p:sp>
          <p:sp>
            <p:nvSpPr>
              <p:cNvPr id="32833" name="Rectangle 34"/>
              <p:cNvSpPr>
                <a:spLocks noChangeArrowheads="1"/>
              </p:cNvSpPr>
              <p:nvPr/>
            </p:nvSpPr>
            <p:spPr bwMode="auto">
              <a:xfrm>
                <a:off x="3585" y="3574"/>
                <a:ext cx="393" cy="408"/>
              </a:xfrm>
              <a:prstGeom prst="rect">
                <a:avLst/>
              </a:prstGeom>
              <a:solidFill>
                <a:srgbClr val="666633"/>
              </a:solidFill>
              <a:ln w="9525">
                <a:solidFill>
                  <a:schemeClr val="tx1"/>
                </a:solidFill>
                <a:miter lim="800000"/>
                <a:headEnd/>
                <a:tailEnd/>
              </a:ln>
            </p:spPr>
            <p:txBody>
              <a:bodyPr wrap="none" anchor="ctr"/>
              <a:lstStyle/>
              <a:p>
                <a:endParaRPr lang="en-NZ">
                  <a:latin typeface="Calibri" pitchFamily="34" charset="0"/>
                </a:endParaRPr>
              </a:p>
            </p:txBody>
          </p:sp>
        </p:grpSp>
      </p:grpSp>
      <p:grpSp>
        <p:nvGrpSpPr>
          <p:cNvPr id="453667" name="Group 35"/>
          <p:cNvGrpSpPr>
            <a:grpSpLocks/>
          </p:cNvGrpSpPr>
          <p:nvPr/>
        </p:nvGrpSpPr>
        <p:grpSpPr bwMode="auto">
          <a:xfrm>
            <a:off x="142875" y="2178050"/>
            <a:ext cx="8915400" cy="4183063"/>
            <a:chOff x="101" y="1605"/>
            <a:chExt cx="6318" cy="2635"/>
          </a:xfrm>
        </p:grpSpPr>
        <p:sp>
          <p:nvSpPr>
            <p:cNvPr id="32814" name="Text Box 36"/>
            <p:cNvSpPr txBox="1">
              <a:spLocks noChangeArrowheads="1"/>
            </p:cNvSpPr>
            <p:nvPr/>
          </p:nvSpPr>
          <p:spPr bwMode="auto">
            <a:xfrm>
              <a:off x="1216" y="3813"/>
              <a:ext cx="214" cy="233"/>
            </a:xfrm>
            <a:prstGeom prst="rect">
              <a:avLst/>
            </a:prstGeom>
            <a:noFill/>
            <a:ln w="9525">
              <a:noFill/>
              <a:miter lim="800000"/>
              <a:headEnd/>
              <a:tailEnd/>
            </a:ln>
          </p:spPr>
          <p:txBody>
            <a:bodyPr wrap="none">
              <a:spAutoFit/>
            </a:bodyPr>
            <a:lstStyle/>
            <a:p>
              <a:r>
                <a:rPr lang="en-US">
                  <a:latin typeface="Calibri" pitchFamily="34" charset="0"/>
                </a:rPr>
                <a:t>0</a:t>
              </a:r>
            </a:p>
          </p:txBody>
        </p:sp>
        <p:grpSp>
          <p:nvGrpSpPr>
            <p:cNvPr id="32815" name="Group 37"/>
            <p:cNvGrpSpPr>
              <a:grpSpLocks/>
            </p:cNvGrpSpPr>
            <p:nvPr/>
          </p:nvGrpSpPr>
          <p:grpSpPr bwMode="auto">
            <a:xfrm>
              <a:off x="101" y="1605"/>
              <a:ext cx="6318" cy="2635"/>
              <a:chOff x="101" y="1605"/>
              <a:chExt cx="6318" cy="2635"/>
            </a:xfrm>
          </p:grpSpPr>
          <p:sp>
            <p:nvSpPr>
              <p:cNvPr id="32816" name="Text Box 38"/>
              <p:cNvSpPr txBox="1">
                <a:spLocks noChangeArrowheads="1"/>
              </p:cNvSpPr>
              <p:nvPr/>
            </p:nvSpPr>
            <p:spPr bwMode="auto">
              <a:xfrm>
                <a:off x="101" y="2065"/>
                <a:ext cx="1032" cy="233"/>
              </a:xfrm>
              <a:prstGeom prst="rect">
                <a:avLst/>
              </a:prstGeom>
              <a:noFill/>
              <a:ln w="9525">
                <a:noFill/>
                <a:miter lim="800000"/>
                <a:headEnd/>
                <a:tailEnd/>
              </a:ln>
            </p:spPr>
            <p:txBody>
              <a:bodyPr wrap="none">
                <a:spAutoFit/>
              </a:bodyPr>
              <a:lstStyle/>
              <a:p>
                <a:r>
                  <a:rPr lang="en-US">
                    <a:latin typeface="Calibri" pitchFamily="34" charset="0"/>
                  </a:rPr>
                  <a:t>Feed Fraction</a:t>
                </a:r>
              </a:p>
            </p:txBody>
          </p:sp>
          <p:sp>
            <p:nvSpPr>
              <p:cNvPr id="32817" name="Text Box 39"/>
              <p:cNvSpPr txBox="1">
                <a:spLocks noChangeArrowheads="1"/>
              </p:cNvSpPr>
              <p:nvPr/>
            </p:nvSpPr>
            <p:spPr bwMode="auto">
              <a:xfrm>
                <a:off x="4204" y="2065"/>
                <a:ext cx="974" cy="233"/>
              </a:xfrm>
              <a:prstGeom prst="rect">
                <a:avLst/>
              </a:prstGeom>
              <a:noFill/>
              <a:ln w="9525">
                <a:noFill/>
                <a:miter lim="800000"/>
                <a:headEnd/>
                <a:tailEnd/>
              </a:ln>
            </p:spPr>
            <p:txBody>
              <a:bodyPr wrap="none">
                <a:spAutoFit/>
              </a:bodyPr>
              <a:lstStyle/>
              <a:p>
                <a:r>
                  <a:rPr lang="en-US">
                    <a:latin typeface="Calibri" pitchFamily="34" charset="0"/>
                  </a:rPr>
                  <a:t>Composition</a:t>
                </a:r>
              </a:p>
            </p:txBody>
          </p:sp>
          <p:sp>
            <p:nvSpPr>
              <p:cNvPr id="32818" name="Text Box 40"/>
              <p:cNvSpPr txBox="1">
                <a:spLocks noChangeArrowheads="1"/>
              </p:cNvSpPr>
              <p:nvPr/>
            </p:nvSpPr>
            <p:spPr bwMode="auto">
              <a:xfrm>
                <a:off x="5143" y="1605"/>
                <a:ext cx="1276" cy="582"/>
              </a:xfrm>
              <a:prstGeom prst="rect">
                <a:avLst/>
              </a:prstGeom>
              <a:noFill/>
              <a:ln w="9525">
                <a:noFill/>
                <a:miter lim="800000"/>
                <a:headEnd/>
                <a:tailEnd/>
              </a:ln>
            </p:spPr>
            <p:txBody>
              <a:bodyPr>
                <a:spAutoFit/>
              </a:bodyPr>
              <a:lstStyle/>
              <a:p>
                <a:pPr algn="ctr"/>
                <a:r>
                  <a:rPr lang="en-US">
                    <a:latin typeface="Calibri" pitchFamily="34" charset="0"/>
                  </a:rPr>
                  <a:t>Rate of</a:t>
                </a:r>
                <a:br>
                  <a:rPr lang="en-US">
                    <a:latin typeface="Calibri" pitchFamily="34" charset="0"/>
                  </a:rPr>
                </a:br>
                <a:r>
                  <a:rPr lang="en-US">
                    <a:latin typeface="Calibri" pitchFamily="34" charset="0"/>
                  </a:rPr>
                  <a:t>digestion</a:t>
                </a:r>
              </a:p>
              <a:p>
                <a:pPr algn="ctr"/>
                <a:r>
                  <a:rPr lang="en-US">
                    <a:latin typeface="Calibri" pitchFamily="34" charset="0"/>
                  </a:rPr>
                  <a:t>(%/h)</a:t>
                </a:r>
              </a:p>
            </p:txBody>
          </p:sp>
          <p:sp>
            <p:nvSpPr>
              <p:cNvPr id="32819" name="Line 41"/>
              <p:cNvSpPr>
                <a:spLocks noChangeShapeType="1"/>
              </p:cNvSpPr>
              <p:nvPr/>
            </p:nvSpPr>
            <p:spPr bwMode="auto">
              <a:xfrm>
                <a:off x="4204" y="2353"/>
                <a:ext cx="2101" cy="0"/>
              </a:xfrm>
              <a:prstGeom prst="line">
                <a:avLst/>
              </a:prstGeom>
              <a:noFill/>
              <a:ln w="38100">
                <a:solidFill>
                  <a:schemeClr val="tx1"/>
                </a:solidFill>
                <a:round/>
                <a:headEnd/>
                <a:tailEnd/>
              </a:ln>
            </p:spPr>
            <p:txBody>
              <a:bodyPr wrap="none" anchor="ctr"/>
              <a:lstStyle/>
              <a:p>
                <a:endParaRPr lang="en-US"/>
              </a:p>
            </p:txBody>
          </p:sp>
          <p:sp>
            <p:nvSpPr>
              <p:cNvPr id="32820" name="Line 42"/>
              <p:cNvSpPr>
                <a:spLocks noChangeShapeType="1"/>
              </p:cNvSpPr>
              <p:nvPr/>
            </p:nvSpPr>
            <p:spPr bwMode="auto">
              <a:xfrm>
                <a:off x="162" y="2353"/>
                <a:ext cx="1166" cy="0"/>
              </a:xfrm>
              <a:prstGeom prst="line">
                <a:avLst/>
              </a:prstGeom>
              <a:noFill/>
              <a:ln w="38100">
                <a:solidFill>
                  <a:schemeClr val="tx1"/>
                </a:solidFill>
                <a:round/>
                <a:headEnd/>
                <a:tailEnd/>
              </a:ln>
            </p:spPr>
            <p:txBody>
              <a:bodyPr wrap="none" anchor="ctr"/>
              <a:lstStyle/>
              <a:p>
                <a:endParaRPr lang="en-US"/>
              </a:p>
            </p:txBody>
          </p:sp>
          <p:sp>
            <p:nvSpPr>
              <p:cNvPr id="32821" name="Line 43"/>
              <p:cNvSpPr>
                <a:spLocks noChangeShapeType="1"/>
              </p:cNvSpPr>
              <p:nvPr/>
            </p:nvSpPr>
            <p:spPr bwMode="auto">
              <a:xfrm>
                <a:off x="136" y="4240"/>
                <a:ext cx="6181" cy="0"/>
              </a:xfrm>
              <a:prstGeom prst="line">
                <a:avLst/>
              </a:prstGeom>
              <a:noFill/>
              <a:ln w="38100">
                <a:solidFill>
                  <a:schemeClr val="tx1"/>
                </a:solidFill>
                <a:round/>
                <a:headEnd/>
                <a:tailEnd/>
              </a:ln>
            </p:spPr>
            <p:txBody>
              <a:bodyPr wrap="none" anchor="ctr"/>
              <a:lstStyle/>
              <a:p>
                <a:endParaRPr lang="en-US"/>
              </a:p>
            </p:txBody>
          </p:sp>
          <p:grpSp>
            <p:nvGrpSpPr>
              <p:cNvPr id="32822" name="Group 44"/>
              <p:cNvGrpSpPr>
                <a:grpSpLocks/>
              </p:cNvGrpSpPr>
              <p:nvPr/>
            </p:nvGrpSpPr>
            <p:grpSpPr bwMode="auto">
              <a:xfrm>
                <a:off x="1056" y="2353"/>
                <a:ext cx="3455" cy="1844"/>
                <a:chOff x="1056" y="2353"/>
                <a:chExt cx="3455" cy="1844"/>
              </a:xfrm>
            </p:grpSpPr>
            <p:sp>
              <p:nvSpPr>
                <p:cNvPr id="32823" name="Line 45"/>
                <p:cNvSpPr>
                  <a:spLocks noChangeShapeType="1"/>
                </p:cNvSpPr>
                <p:nvPr/>
              </p:nvSpPr>
              <p:spPr bwMode="auto">
                <a:xfrm>
                  <a:off x="1402" y="2426"/>
                  <a:ext cx="0" cy="1556"/>
                </a:xfrm>
                <a:prstGeom prst="line">
                  <a:avLst/>
                </a:prstGeom>
                <a:noFill/>
                <a:ln w="19050">
                  <a:solidFill>
                    <a:schemeClr val="tx1"/>
                  </a:solidFill>
                  <a:round/>
                  <a:headEnd/>
                  <a:tailEnd/>
                </a:ln>
              </p:spPr>
              <p:txBody>
                <a:bodyPr anchor="ctr">
                  <a:spAutoFit/>
                </a:bodyPr>
                <a:lstStyle/>
                <a:p>
                  <a:endParaRPr lang="en-US"/>
                </a:p>
              </p:txBody>
            </p:sp>
            <p:sp>
              <p:nvSpPr>
                <p:cNvPr id="32824" name="Line 46"/>
                <p:cNvSpPr>
                  <a:spLocks noChangeShapeType="1"/>
                </p:cNvSpPr>
                <p:nvPr/>
              </p:nvSpPr>
              <p:spPr bwMode="auto">
                <a:xfrm rot="5400000">
                  <a:off x="2690" y="2694"/>
                  <a:ext cx="0" cy="2576"/>
                </a:xfrm>
                <a:prstGeom prst="line">
                  <a:avLst/>
                </a:prstGeom>
                <a:noFill/>
                <a:ln w="19050">
                  <a:solidFill>
                    <a:schemeClr val="tx1"/>
                  </a:solidFill>
                  <a:round/>
                  <a:headEnd/>
                  <a:tailEnd/>
                </a:ln>
              </p:spPr>
              <p:txBody>
                <a:bodyPr anchor="ctr">
                  <a:spAutoFit/>
                </a:bodyPr>
                <a:lstStyle/>
                <a:p>
                  <a:endParaRPr lang="en-US"/>
                </a:p>
              </p:txBody>
            </p:sp>
            <p:sp>
              <p:nvSpPr>
                <p:cNvPr id="32825" name="Text Box 47"/>
                <p:cNvSpPr txBox="1">
                  <a:spLocks noChangeArrowheads="1"/>
                </p:cNvSpPr>
                <p:nvPr/>
              </p:nvSpPr>
              <p:spPr bwMode="auto">
                <a:xfrm>
                  <a:off x="3167" y="3964"/>
                  <a:ext cx="1344" cy="233"/>
                </a:xfrm>
                <a:prstGeom prst="rect">
                  <a:avLst/>
                </a:prstGeom>
                <a:noFill/>
                <a:ln w="9525">
                  <a:noFill/>
                  <a:miter lim="800000"/>
                  <a:headEnd/>
                  <a:tailEnd/>
                </a:ln>
              </p:spPr>
              <p:txBody>
                <a:bodyPr wrap="none">
                  <a:spAutoFit/>
                </a:bodyPr>
                <a:lstStyle/>
                <a:p>
                  <a:r>
                    <a:rPr lang="en-US">
                      <a:latin typeface="Calibri" pitchFamily="34" charset="0"/>
                    </a:rPr>
                    <a:t>Digestion Time (h)</a:t>
                  </a:r>
                </a:p>
              </p:txBody>
            </p:sp>
            <p:sp>
              <p:nvSpPr>
                <p:cNvPr id="32826" name="Text Box 48"/>
                <p:cNvSpPr txBox="1">
                  <a:spLocks noChangeArrowheads="1"/>
                </p:cNvSpPr>
                <p:nvPr/>
              </p:nvSpPr>
              <p:spPr bwMode="auto">
                <a:xfrm>
                  <a:off x="1056" y="2353"/>
                  <a:ext cx="380" cy="233"/>
                </a:xfrm>
                <a:prstGeom prst="rect">
                  <a:avLst/>
                </a:prstGeom>
                <a:noFill/>
                <a:ln w="9525">
                  <a:noFill/>
                  <a:miter lim="800000"/>
                  <a:headEnd/>
                  <a:tailEnd/>
                </a:ln>
              </p:spPr>
              <p:txBody>
                <a:bodyPr wrap="none">
                  <a:spAutoFit/>
                </a:bodyPr>
                <a:lstStyle/>
                <a:p>
                  <a:r>
                    <a:rPr lang="en-US">
                      <a:latin typeface="Calibri" pitchFamily="34" charset="0"/>
                    </a:rPr>
                    <a:t>100</a:t>
                  </a:r>
                </a:p>
              </p:txBody>
            </p:sp>
          </p:grpSp>
        </p:grpSp>
      </p:grpSp>
      <p:grpSp>
        <p:nvGrpSpPr>
          <p:cNvPr id="453681" name="Group 49"/>
          <p:cNvGrpSpPr>
            <a:grpSpLocks/>
          </p:cNvGrpSpPr>
          <p:nvPr/>
        </p:nvGrpSpPr>
        <p:grpSpPr bwMode="auto">
          <a:xfrm>
            <a:off x="142875" y="3481388"/>
            <a:ext cx="8524875" cy="369887"/>
            <a:chOff x="101" y="2426"/>
            <a:chExt cx="6041" cy="233"/>
          </a:xfrm>
        </p:grpSpPr>
        <p:sp>
          <p:nvSpPr>
            <p:cNvPr id="32806" name="Line 50"/>
            <p:cNvSpPr>
              <a:spLocks noChangeShapeType="1"/>
            </p:cNvSpPr>
            <p:nvPr/>
          </p:nvSpPr>
          <p:spPr bwMode="auto">
            <a:xfrm>
              <a:off x="1402" y="2628"/>
              <a:ext cx="2576" cy="0"/>
            </a:xfrm>
            <a:prstGeom prst="line">
              <a:avLst/>
            </a:prstGeom>
            <a:noFill/>
            <a:ln w="19050">
              <a:solidFill>
                <a:schemeClr val="tx1"/>
              </a:solidFill>
              <a:prstDash val="sysDot"/>
              <a:round/>
              <a:headEnd/>
              <a:tailEnd/>
            </a:ln>
          </p:spPr>
          <p:txBody>
            <a:bodyPr wrap="none" anchor="ctr">
              <a:spAutoFit/>
            </a:bodyPr>
            <a:lstStyle/>
            <a:p>
              <a:endParaRPr lang="en-US"/>
            </a:p>
          </p:txBody>
        </p:sp>
        <p:sp>
          <p:nvSpPr>
            <p:cNvPr id="32807" name="Text Box 51"/>
            <p:cNvSpPr txBox="1">
              <a:spLocks noChangeArrowheads="1"/>
            </p:cNvSpPr>
            <p:nvPr/>
          </p:nvSpPr>
          <p:spPr bwMode="auto">
            <a:xfrm>
              <a:off x="101" y="2426"/>
              <a:ext cx="778" cy="233"/>
            </a:xfrm>
            <a:prstGeom prst="rect">
              <a:avLst/>
            </a:prstGeom>
            <a:noFill/>
            <a:ln w="9525">
              <a:noFill/>
              <a:miter lim="800000"/>
              <a:headEnd/>
              <a:tailEnd/>
            </a:ln>
          </p:spPr>
          <p:txBody>
            <a:bodyPr wrap="none">
              <a:spAutoFit/>
            </a:bodyPr>
            <a:lstStyle/>
            <a:p>
              <a:r>
                <a:rPr lang="en-US">
                  <a:latin typeface="Calibri" pitchFamily="34" charset="0"/>
                </a:rPr>
                <a:t>A fraction</a:t>
              </a:r>
            </a:p>
          </p:txBody>
        </p:sp>
        <p:sp>
          <p:nvSpPr>
            <p:cNvPr id="32808" name="Text Box 52"/>
            <p:cNvSpPr txBox="1">
              <a:spLocks noChangeArrowheads="1"/>
            </p:cNvSpPr>
            <p:nvPr/>
          </p:nvSpPr>
          <p:spPr bwMode="auto">
            <a:xfrm>
              <a:off x="4204" y="2426"/>
              <a:ext cx="758" cy="233"/>
            </a:xfrm>
            <a:prstGeom prst="rect">
              <a:avLst/>
            </a:prstGeom>
            <a:noFill/>
            <a:ln w="9525">
              <a:noFill/>
              <a:miter lim="800000"/>
              <a:headEnd/>
              <a:tailEnd/>
            </a:ln>
          </p:spPr>
          <p:txBody>
            <a:bodyPr wrap="none">
              <a:spAutoFit/>
            </a:bodyPr>
            <a:lstStyle/>
            <a:p>
              <a:r>
                <a:rPr lang="en-US">
                  <a:latin typeface="Calibri" pitchFamily="34" charset="0"/>
                </a:rPr>
                <a:t>“Soluble”</a:t>
              </a:r>
            </a:p>
          </p:txBody>
        </p:sp>
        <p:sp>
          <p:nvSpPr>
            <p:cNvPr id="32809" name="Text Box 53"/>
            <p:cNvSpPr txBox="1">
              <a:spLocks noChangeArrowheads="1"/>
            </p:cNvSpPr>
            <p:nvPr/>
          </p:nvSpPr>
          <p:spPr bwMode="auto">
            <a:xfrm>
              <a:off x="5606" y="2426"/>
              <a:ext cx="536" cy="233"/>
            </a:xfrm>
            <a:prstGeom prst="rect">
              <a:avLst/>
            </a:prstGeom>
            <a:noFill/>
            <a:ln w="9525">
              <a:noFill/>
              <a:miter lim="800000"/>
              <a:headEnd/>
              <a:tailEnd/>
            </a:ln>
          </p:spPr>
          <p:txBody>
            <a:bodyPr wrap="none">
              <a:spAutoFit/>
            </a:bodyPr>
            <a:lstStyle/>
            <a:p>
              <a:pPr algn="ctr"/>
              <a:r>
                <a:rPr lang="en-US">
                  <a:latin typeface="Calibri" pitchFamily="34" charset="0"/>
                </a:rPr>
                <a:t>&gt; 250 </a:t>
              </a:r>
            </a:p>
          </p:txBody>
        </p:sp>
        <p:sp>
          <p:nvSpPr>
            <p:cNvPr id="32810" name="AutoShape 54"/>
            <p:cNvSpPr>
              <a:spLocks/>
            </p:cNvSpPr>
            <p:nvPr/>
          </p:nvSpPr>
          <p:spPr bwMode="auto">
            <a:xfrm>
              <a:off x="999" y="2426"/>
              <a:ext cx="114" cy="202"/>
            </a:xfrm>
            <a:prstGeom prst="leftBrace">
              <a:avLst>
                <a:gd name="adj1" fmla="val 14766"/>
                <a:gd name="adj2" fmla="val 50000"/>
              </a:avLst>
            </a:prstGeom>
            <a:noFill/>
            <a:ln w="28575">
              <a:solidFill>
                <a:schemeClr val="tx1"/>
              </a:solidFill>
              <a:round/>
              <a:headEnd/>
              <a:tailEnd/>
            </a:ln>
          </p:spPr>
          <p:txBody>
            <a:bodyPr wrap="none" anchor="ctr"/>
            <a:lstStyle/>
            <a:p>
              <a:endParaRPr lang="en-NZ">
                <a:latin typeface="Calibri" pitchFamily="34" charset="0"/>
              </a:endParaRPr>
            </a:p>
          </p:txBody>
        </p:sp>
        <p:sp>
          <p:nvSpPr>
            <p:cNvPr id="32811" name="Rectangle 55"/>
            <p:cNvSpPr>
              <a:spLocks noChangeArrowheads="1"/>
            </p:cNvSpPr>
            <p:nvPr/>
          </p:nvSpPr>
          <p:spPr bwMode="auto">
            <a:xfrm>
              <a:off x="3585" y="2426"/>
              <a:ext cx="393" cy="202"/>
            </a:xfrm>
            <a:prstGeom prst="rect">
              <a:avLst/>
            </a:prstGeom>
            <a:solidFill>
              <a:schemeClr val="bg1"/>
            </a:solidFill>
            <a:ln w="9525">
              <a:solidFill>
                <a:schemeClr val="tx1"/>
              </a:solidFill>
              <a:miter lim="800000"/>
              <a:headEnd/>
              <a:tailEnd/>
            </a:ln>
          </p:spPr>
          <p:txBody>
            <a:bodyPr wrap="none" anchor="ctr"/>
            <a:lstStyle/>
            <a:p>
              <a:endParaRPr lang="en-NZ">
                <a:latin typeface="Calibri" pitchFamily="34" charset="0"/>
              </a:endParaRPr>
            </a:p>
          </p:txBody>
        </p:sp>
        <p:sp>
          <p:nvSpPr>
            <p:cNvPr id="32812" name="Line 56"/>
            <p:cNvSpPr>
              <a:spLocks noChangeShapeType="1"/>
            </p:cNvSpPr>
            <p:nvPr/>
          </p:nvSpPr>
          <p:spPr bwMode="auto">
            <a:xfrm>
              <a:off x="1402" y="2426"/>
              <a:ext cx="0" cy="202"/>
            </a:xfrm>
            <a:prstGeom prst="line">
              <a:avLst/>
            </a:prstGeom>
            <a:noFill/>
            <a:ln w="38100">
              <a:solidFill>
                <a:schemeClr val="accent1"/>
              </a:solidFill>
              <a:round/>
              <a:headEnd/>
              <a:tailEnd/>
            </a:ln>
          </p:spPr>
          <p:txBody>
            <a:bodyPr wrap="none" anchor="ctr"/>
            <a:lstStyle/>
            <a:p>
              <a:endParaRPr lang="en-US"/>
            </a:p>
          </p:txBody>
        </p:sp>
        <p:sp>
          <p:nvSpPr>
            <p:cNvPr id="32813" name="Line 57"/>
            <p:cNvSpPr>
              <a:spLocks noChangeShapeType="1"/>
            </p:cNvSpPr>
            <p:nvPr/>
          </p:nvSpPr>
          <p:spPr bwMode="auto">
            <a:xfrm>
              <a:off x="1402" y="2426"/>
              <a:ext cx="2576" cy="0"/>
            </a:xfrm>
            <a:prstGeom prst="line">
              <a:avLst/>
            </a:prstGeom>
            <a:noFill/>
            <a:ln w="9525">
              <a:solidFill>
                <a:schemeClr val="tx1"/>
              </a:solidFill>
              <a:prstDash val="sysDot"/>
              <a:round/>
              <a:headEnd/>
              <a:tailEnd/>
            </a:ln>
          </p:spPr>
          <p:txBody>
            <a:bodyPr wrap="none" anchor="ctr"/>
            <a:lstStyle/>
            <a:p>
              <a:endParaRPr lang="en-US"/>
            </a:p>
          </p:txBody>
        </p:sp>
      </p:grpSp>
      <p:sp>
        <p:nvSpPr>
          <p:cNvPr id="453690" name="Line 58"/>
          <p:cNvSpPr>
            <a:spLocks noChangeShapeType="1"/>
          </p:cNvSpPr>
          <p:nvPr/>
        </p:nvSpPr>
        <p:spPr bwMode="auto">
          <a:xfrm>
            <a:off x="5099050" y="5291138"/>
            <a:ext cx="554038" cy="0"/>
          </a:xfrm>
          <a:prstGeom prst="line">
            <a:avLst/>
          </a:prstGeom>
          <a:noFill/>
          <a:ln w="57150">
            <a:solidFill>
              <a:schemeClr val="accent1"/>
            </a:solidFill>
            <a:round/>
            <a:headEnd/>
            <a:tailEnd/>
          </a:ln>
        </p:spPr>
        <p:txBody>
          <a:bodyPr wrap="none" anchor="ctr"/>
          <a:lstStyle/>
          <a:p>
            <a:endParaRPr lang="en-US"/>
          </a:p>
        </p:txBody>
      </p:sp>
      <p:sp>
        <p:nvSpPr>
          <p:cNvPr id="453694" name="Rectangle 62"/>
          <p:cNvSpPr>
            <a:spLocks noChangeArrowheads="1"/>
          </p:cNvSpPr>
          <p:nvPr/>
        </p:nvSpPr>
        <p:spPr bwMode="auto">
          <a:xfrm>
            <a:off x="142875" y="1524000"/>
            <a:ext cx="7412038" cy="1187450"/>
          </a:xfrm>
          <a:prstGeom prst="rect">
            <a:avLst/>
          </a:prstGeom>
          <a:noFill/>
          <a:ln w="38100">
            <a:solidFill>
              <a:srgbClr val="FF0000"/>
            </a:solidFill>
            <a:miter lim="800000"/>
            <a:headEnd/>
            <a:tailEnd/>
          </a:ln>
        </p:spPr>
        <p:txBody>
          <a:bodyPr wrap="none" anchor="ctr"/>
          <a:lstStyle/>
          <a:p>
            <a:endParaRPr lang="en-NZ">
              <a:latin typeface="Calibri" pitchFamily="34" charset="0"/>
            </a:endParaRPr>
          </a:p>
        </p:txBody>
      </p:sp>
      <p:grpSp>
        <p:nvGrpSpPr>
          <p:cNvPr id="453703" name="Group 71"/>
          <p:cNvGrpSpPr>
            <a:grpSpLocks/>
          </p:cNvGrpSpPr>
          <p:nvPr/>
        </p:nvGrpSpPr>
        <p:grpSpPr bwMode="auto">
          <a:xfrm>
            <a:off x="3205163" y="3365500"/>
            <a:ext cx="2408237" cy="2582863"/>
            <a:chOff x="2271" y="2120"/>
            <a:chExt cx="1707" cy="1627"/>
          </a:xfrm>
        </p:grpSpPr>
        <p:sp>
          <p:nvSpPr>
            <p:cNvPr id="32804" name="Line 64"/>
            <p:cNvSpPr>
              <a:spLocks noChangeShapeType="1"/>
            </p:cNvSpPr>
            <p:nvPr/>
          </p:nvSpPr>
          <p:spPr bwMode="auto">
            <a:xfrm>
              <a:off x="2271" y="2120"/>
              <a:ext cx="0" cy="1627"/>
            </a:xfrm>
            <a:prstGeom prst="line">
              <a:avLst/>
            </a:prstGeom>
            <a:noFill/>
            <a:ln w="50800">
              <a:solidFill>
                <a:schemeClr val="tx2"/>
              </a:solidFill>
              <a:round/>
              <a:headEnd type="triangle" w="med" len="med"/>
              <a:tailEnd type="triangle" w="med" len="med"/>
            </a:ln>
          </p:spPr>
          <p:txBody>
            <a:bodyPr wrap="none" anchor="ctr"/>
            <a:lstStyle/>
            <a:p>
              <a:endParaRPr lang="en-US"/>
            </a:p>
          </p:txBody>
        </p:sp>
        <p:sp>
          <p:nvSpPr>
            <p:cNvPr id="32805" name="Line 66"/>
            <p:cNvSpPr>
              <a:spLocks noChangeShapeType="1"/>
            </p:cNvSpPr>
            <p:nvPr/>
          </p:nvSpPr>
          <p:spPr bwMode="auto">
            <a:xfrm>
              <a:off x="2272" y="3164"/>
              <a:ext cx="1706" cy="0"/>
            </a:xfrm>
            <a:prstGeom prst="line">
              <a:avLst/>
            </a:prstGeom>
            <a:noFill/>
            <a:ln w="38100">
              <a:solidFill>
                <a:schemeClr val="tx1"/>
              </a:solidFill>
              <a:prstDash val="sysDot"/>
              <a:round/>
              <a:headEnd/>
              <a:tailEnd/>
            </a:ln>
          </p:spPr>
          <p:txBody>
            <a:bodyPr anchor="ctr">
              <a:spAutoFit/>
            </a:bodyPr>
            <a:lstStyle/>
            <a:p>
              <a:endParaRPr lang="en-US"/>
            </a:p>
          </p:txBody>
        </p:sp>
      </p:grpSp>
      <p:sp>
        <p:nvSpPr>
          <p:cNvPr id="453697" name="Rectangle 65"/>
          <p:cNvSpPr>
            <a:spLocks noChangeArrowheads="1"/>
          </p:cNvSpPr>
          <p:nvPr/>
        </p:nvSpPr>
        <p:spPr bwMode="auto">
          <a:xfrm>
            <a:off x="1860550" y="3001963"/>
            <a:ext cx="3402013" cy="366712"/>
          </a:xfrm>
          <a:prstGeom prst="rect">
            <a:avLst/>
          </a:prstGeom>
          <a:noFill/>
          <a:ln w="9525">
            <a:noFill/>
            <a:miter lim="800000"/>
            <a:headEnd/>
            <a:tailEnd/>
          </a:ln>
        </p:spPr>
        <p:txBody>
          <a:bodyPr wrap="none" lIns="90487" tIns="44450" rIns="90487" bIns="44450">
            <a:spAutoFit/>
          </a:bodyPr>
          <a:lstStyle/>
          <a:p>
            <a:pPr algn="ctr">
              <a:lnSpc>
                <a:spcPct val="90000"/>
              </a:lnSpc>
            </a:pPr>
            <a:r>
              <a:rPr lang="en-US" sz="2000">
                <a:solidFill>
                  <a:schemeClr val="tx2"/>
                </a:solidFill>
              </a:rPr>
              <a:t>Residence time in rumen (h)</a:t>
            </a:r>
          </a:p>
        </p:txBody>
      </p:sp>
      <p:grpSp>
        <p:nvGrpSpPr>
          <p:cNvPr id="453714" name="Group 82"/>
          <p:cNvGrpSpPr>
            <a:grpSpLocks/>
          </p:cNvGrpSpPr>
          <p:nvPr/>
        </p:nvGrpSpPr>
        <p:grpSpPr bwMode="auto">
          <a:xfrm>
            <a:off x="4676775" y="3368675"/>
            <a:ext cx="936625" cy="2582863"/>
            <a:chOff x="3314" y="2122"/>
            <a:chExt cx="664" cy="1627"/>
          </a:xfrm>
        </p:grpSpPr>
        <p:sp>
          <p:nvSpPr>
            <p:cNvPr id="32802" name="Line 67"/>
            <p:cNvSpPr>
              <a:spLocks noChangeShapeType="1"/>
            </p:cNvSpPr>
            <p:nvPr/>
          </p:nvSpPr>
          <p:spPr bwMode="auto">
            <a:xfrm>
              <a:off x="3314" y="2122"/>
              <a:ext cx="0" cy="1627"/>
            </a:xfrm>
            <a:prstGeom prst="line">
              <a:avLst/>
            </a:prstGeom>
            <a:noFill/>
            <a:ln w="50800">
              <a:solidFill>
                <a:schemeClr val="tx2"/>
              </a:solidFill>
              <a:round/>
              <a:headEnd type="triangle" w="med" len="med"/>
              <a:tailEnd type="triangle" w="med" len="med"/>
            </a:ln>
          </p:spPr>
          <p:txBody>
            <a:bodyPr wrap="none" anchor="ctr"/>
            <a:lstStyle/>
            <a:p>
              <a:endParaRPr lang="en-US"/>
            </a:p>
          </p:txBody>
        </p:sp>
        <p:sp>
          <p:nvSpPr>
            <p:cNvPr id="32803" name="Line 68"/>
            <p:cNvSpPr>
              <a:spLocks noChangeShapeType="1"/>
            </p:cNvSpPr>
            <p:nvPr/>
          </p:nvSpPr>
          <p:spPr bwMode="auto">
            <a:xfrm>
              <a:off x="3316" y="3312"/>
              <a:ext cx="662" cy="0"/>
            </a:xfrm>
            <a:prstGeom prst="line">
              <a:avLst/>
            </a:prstGeom>
            <a:noFill/>
            <a:ln w="38100">
              <a:solidFill>
                <a:schemeClr val="tx1"/>
              </a:solidFill>
              <a:prstDash val="sysDot"/>
              <a:round/>
              <a:headEnd/>
              <a:tailEnd/>
            </a:ln>
          </p:spPr>
          <p:txBody>
            <a:bodyPr anchor="ctr">
              <a:spAutoFit/>
            </a:bodyPr>
            <a:lstStyle/>
            <a:p>
              <a:endParaRPr lang="en-US"/>
            </a:p>
          </p:txBody>
        </p:sp>
      </p:grpSp>
      <p:grpSp>
        <p:nvGrpSpPr>
          <p:cNvPr id="453712" name="Group 80"/>
          <p:cNvGrpSpPr>
            <a:grpSpLocks/>
          </p:cNvGrpSpPr>
          <p:nvPr/>
        </p:nvGrpSpPr>
        <p:grpSpPr bwMode="auto">
          <a:xfrm>
            <a:off x="2778125" y="3368675"/>
            <a:ext cx="2835275" cy="2582863"/>
            <a:chOff x="1969" y="2122"/>
            <a:chExt cx="2009" cy="1627"/>
          </a:xfrm>
        </p:grpSpPr>
        <p:sp>
          <p:nvSpPr>
            <p:cNvPr id="32800" name="Line 76"/>
            <p:cNvSpPr>
              <a:spLocks noChangeShapeType="1"/>
            </p:cNvSpPr>
            <p:nvPr/>
          </p:nvSpPr>
          <p:spPr bwMode="auto">
            <a:xfrm>
              <a:off x="1969" y="2122"/>
              <a:ext cx="0" cy="1627"/>
            </a:xfrm>
            <a:prstGeom prst="line">
              <a:avLst/>
            </a:prstGeom>
            <a:noFill/>
            <a:ln w="50800">
              <a:solidFill>
                <a:schemeClr val="tx2"/>
              </a:solidFill>
              <a:round/>
              <a:headEnd type="triangle" w="med" len="med"/>
              <a:tailEnd type="triangle" w="med" len="med"/>
            </a:ln>
          </p:spPr>
          <p:txBody>
            <a:bodyPr wrap="none" anchor="ctr"/>
            <a:lstStyle/>
            <a:p>
              <a:endParaRPr lang="en-US"/>
            </a:p>
          </p:txBody>
        </p:sp>
        <p:sp>
          <p:nvSpPr>
            <p:cNvPr id="32801" name="Line 77"/>
            <p:cNvSpPr>
              <a:spLocks noChangeShapeType="1"/>
            </p:cNvSpPr>
            <p:nvPr/>
          </p:nvSpPr>
          <p:spPr bwMode="auto">
            <a:xfrm>
              <a:off x="1969" y="3045"/>
              <a:ext cx="2009" cy="0"/>
            </a:xfrm>
            <a:prstGeom prst="line">
              <a:avLst/>
            </a:prstGeom>
            <a:noFill/>
            <a:ln w="38100">
              <a:solidFill>
                <a:schemeClr val="tx1"/>
              </a:solidFill>
              <a:prstDash val="sysDot"/>
              <a:round/>
              <a:headEnd/>
              <a:tailEnd/>
            </a:ln>
          </p:spPr>
          <p:txBody>
            <a:bodyPr anchor="ctr">
              <a:spAutoFit/>
            </a:bodyPr>
            <a:lstStyle/>
            <a:p>
              <a:endParaRPr lang="en-US"/>
            </a:p>
          </p:txBody>
        </p:sp>
      </p:grpSp>
      <p:grpSp>
        <p:nvGrpSpPr>
          <p:cNvPr id="453713" name="Group 81"/>
          <p:cNvGrpSpPr>
            <a:grpSpLocks/>
          </p:cNvGrpSpPr>
          <p:nvPr/>
        </p:nvGrpSpPr>
        <p:grpSpPr bwMode="auto">
          <a:xfrm>
            <a:off x="2352675" y="3365500"/>
            <a:ext cx="3260725" cy="2582863"/>
            <a:chOff x="1667" y="2120"/>
            <a:chExt cx="2311" cy="1627"/>
          </a:xfrm>
        </p:grpSpPr>
        <p:sp>
          <p:nvSpPr>
            <p:cNvPr id="32798" name="Line 78"/>
            <p:cNvSpPr>
              <a:spLocks noChangeShapeType="1"/>
            </p:cNvSpPr>
            <p:nvPr/>
          </p:nvSpPr>
          <p:spPr bwMode="auto">
            <a:xfrm>
              <a:off x="1668" y="2120"/>
              <a:ext cx="0" cy="1627"/>
            </a:xfrm>
            <a:prstGeom prst="line">
              <a:avLst/>
            </a:prstGeom>
            <a:noFill/>
            <a:ln w="50800">
              <a:solidFill>
                <a:schemeClr val="tx2"/>
              </a:solidFill>
              <a:round/>
              <a:headEnd type="triangle" w="med" len="med"/>
              <a:tailEnd type="triangle" w="med" len="med"/>
            </a:ln>
          </p:spPr>
          <p:txBody>
            <a:bodyPr wrap="none" anchor="ctr"/>
            <a:lstStyle/>
            <a:p>
              <a:endParaRPr lang="en-US"/>
            </a:p>
          </p:txBody>
        </p:sp>
        <p:sp>
          <p:nvSpPr>
            <p:cNvPr id="32799" name="Line 79"/>
            <p:cNvSpPr>
              <a:spLocks noChangeShapeType="1"/>
            </p:cNvSpPr>
            <p:nvPr/>
          </p:nvSpPr>
          <p:spPr bwMode="auto">
            <a:xfrm>
              <a:off x="1667" y="2845"/>
              <a:ext cx="2311" cy="0"/>
            </a:xfrm>
            <a:prstGeom prst="line">
              <a:avLst/>
            </a:prstGeom>
            <a:noFill/>
            <a:ln w="38100">
              <a:solidFill>
                <a:schemeClr val="tx1"/>
              </a:solidFill>
              <a:prstDash val="sysDot"/>
              <a:round/>
              <a:headEnd/>
              <a:tailEnd/>
            </a:ln>
          </p:spPr>
          <p:txBody>
            <a:bodyPr anchor="ctr">
              <a:spAutoFit/>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45366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1" fill="hold" nodeType="clickEffect">
                                  <p:stCondLst>
                                    <p:cond delay="0"/>
                                  </p:stCondLst>
                                  <p:childTnLst>
                                    <p:set>
                                      <p:cBhvr>
                                        <p:cTn id="10" dur="1" fill="hold">
                                          <p:stCondLst>
                                            <p:cond delay="0"/>
                                          </p:stCondLst>
                                        </p:cTn>
                                        <p:tgtEl>
                                          <p:spTgt spid="453681"/>
                                        </p:tgtEl>
                                        <p:attrNameLst>
                                          <p:attrName>style.visibility</p:attrName>
                                        </p:attrNameLst>
                                      </p:cBhvr>
                                      <p:to>
                                        <p:strVal val="visible"/>
                                      </p:to>
                                    </p:set>
                                    <p:animEffect transition="in" filter="wipe(up)">
                                      <p:cBhvr>
                                        <p:cTn id="11" dur="500"/>
                                        <p:tgtEl>
                                          <p:spTgt spid="453681"/>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2" fill="hold" nodeType="clickEffect">
                                  <p:stCondLst>
                                    <p:cond delay="0"/>
                                  </p:stCondLst>
                                  <p:childTnLst>
                                    <p:set>
                                      <p:cBhvr>
                                        <p:cTn id="15" dur="1" fill="hold">
                                          <p:stCondLst>
                                            <p:cond delay="0"/>
                                          </p:stCondLst>
                                        </p:cTn>
                                        <p:tgtEl>
                                          <p:spTgt spid="453659"/>
                                        </p:tgtEl>
                                        <p:attrNameLst>
                                          <p:attrName>style.visibility</p:attrName>
                                        </p:attrNameLst>
                                      </p:cBhvr>
                                      <p:to>
                                        <p:strVal val="visible"/>
                                      </p:to>
                                    </p:set>
                                    <p:animEffect transition="in" filter="wipe(right)">
                                      <p:cBhvr>
                                        <p:cTn id="16" dur="500"/>
                                        <p:tgtEl>
                                          <p:spTgt spid="453659"/>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453634"/>
                                        </p:tgtEl>
                                        <p:attrNameLst>
                                          <p:attrName>style.visibility</p:attrName>
                                        </p:attrNameLst>
                                      </p:cBhvr>
                                      <p:to>
                                        <p:strVal val="visible"/>
                                      </p:to>
                                    </p:set>
                                    <p:animEffect transition="in" filter="wipe(left)">
                                      <p:cBhvr>
                                        <p:cTn id="21" dur="500"/>
                                        <p:tgtEl>
                                          <p:spTgt spid="453634"/>
                                        </p:tgtEl>
                                      </p:cBhvr>
                                    </p:animEffect>
                                  </p:childTnLst>
                                </p:cTn>
                              </p:par>
                            </p:childTnLst>
                          </p:cTn>
                        </p:par>
                        <p:par>
                          <p:cTn id="22" fill="hold" nodeType="afterGroup">
                            <p:stCondLst>
                              <p:cond delay="500"/>
                            </p:stCondLst>
                            <p:childTnLst>
                              <p:par>
                                <p:cTn id="23" presetID="22" presetClass="entr" presetSubtype="8" fill="hold" grpId="0" nodeType="afterEffect">
                                  <p:stCondLst>
                                    <p:cond delay="1000"/>
                                  </p:stCondLst>
                                  <p:childTnLst>
                                    <p:set>
                                      <p:cBhvr>
                                        <p:cTn id="24" dur="1" fill="hold">
                                          <p:stCondLst>
                                            <p:cond delay="0"/>
                                          </p:stCondLst>
                                        </p:cTn>
                                        <p:tgtEl>
                                          <p:spTgt spid="453643"/>
                                        </p:tgtEl>
                                        <p:attrNameLst>
                                          <p:attrName>style.visibility</p:attrName>
                                        </p:attrNameLst>
                                      </p:cBhvr>
                                      <p:to>
                                        <p:strVal val="visible"/>
                                      </p:to>
                                    </p:set>
                                    <p:animEffect transition="in" filter="wipe(left)">
                                      <p:cBhvr>
                                        <p:cTn id="25" dur="500"/>
                                        <p:tgtEl>
                                          <p:spTgt spid="453643"/>
                                        </p:tgtEl>
                                      </p:cBhvr>
                                    </p:animEffect>
                                  </p:childTnLst>
                                </p:cTn>
                              </p:par>
                            </p:childTnLst>
                          </p:cTn>
                        </p:par>
                        <p:par>
                          <p:cTn id="26" fill="hold" nodeType="afterGroup">
                            <p:stCondLst>
                              <p:cond delay="2000"/>
                            </p:stCondLst>
                            <p:childTnLst>
                              <p:par>
                                <p:cTn id="27" presetID="22" presetClass="entr" presetSubtype="8" fill="hold" grpId="0" nodeType="afterEffect">
                                  <p:stCondLst>
                                    <p:cond delay="1000"/>
                                  </p:stCondLst>
                                  <p:childTnLst>
                                    <p:set>
                                      <p:cBhvr>
                                        <p:cTn id="28" dur="1" fill="hold">
                                          <p:stCondLst>
                                            <p:cond delay="0"/>
                                          </p:stCondLst>
                                        </p:cTn>
                                        <p:tgtEl>
                                          <p:spTgt spid="453657"/>
                                        </p:tgtEl>
                                        <p:attrNameLst>
                                          <p:attrName>style.visibility</p:attrName>
                                        </p:attrNameLst>
                                      </p:cBhvr>
                                      <p:to>
                                        <p:strVal val="visible"/>
                                      </p:to>
                                    </p:set>
                                    <p:animEffect transition="in" filter="wipe(left)">
                                      <p:cBhvr>
                                        <p:cTn id="29" dur="500"/>
                                        <p:tgtEl>
                                          <p:spTgt spid="453657"/>
                                        </p:tgtEl>
                                      </p:cBhvr>
                                    </p:animEffect>
                                  </p:childTnLst>
                                </p:cTn>
                              </p:par>
                            </p:childTnLst>
                          </p:cTn>
                        </p:par>
                        <p:par>
                          <p:cTn id="30" fill="hold" nodeType="afterGroup">
                            <p:stCondLst>
                              <p:cond delay="3500"/>
                            </p:stCondLst>
                            <p:childTnLst>
                              <p:par>
                                <p:cTn id="31" presetID="22" presetClass="entr" presetSubtype="8" fill="hold" grpId="0" nodeType="afterEffect">
                                  <p:stCondLst>
                                    <p:cond delay="1000"/>
                                  </p:stCondLst>
                                  <p:childTnLst>
                                    <p:set>
                                      <p:cBhvr>
                                        <p:cTn id="32" dur="1" fill="hold">
                                          <p:stCondLst>
                                            <p:cond delay="0"/>
                                          </p:stCondLst>
                                        </p:cTn>
                                        <p:tgtEl>
                                          <p:spTgt spid="453644"/>
                                        </p:tgtEl>
                                        <p:attrNameLst>
                                          <p:attrName>style.visibility</p:attrName>
                                        </p:attrNameLst>
                                      </p:cBhvr>
                                      <p:to>
                                        <p:strVal val="visible"/>
                                      </p:to>
                                    </p:set>
                                    <p:animEffect transition="in" filter="wipe(left)">
                                      <p:cBhvr>
                                        <p:cTn id="33" dur="500"/>
                                        <p:tgtEl>
                                          <p:spTgt spid="453644"/>
                                        </p:tgtEl>
                                      </p:cBhvr>
                                    </p:animEffect>
                                  </p:childTnLst>
                                </p:cTn>
                              </p:par>
                            </p:childTnLst>
                          </p:cTn>
                        </p:par>
                        <p:par>
                          <p:cTn id="34" fill="hold" nodeType="afterGroup">
                            <p:stCondLst>
                              <p:cond delay="5000"/>
                            </p:stCondLst>
                            <p:childTnLst>
                              <p:par>
                                <p:cTn id="35" presetID="22" presetClass="entr" presetSubtype="8" fill="hold" grpId="0" nodeType="afterEffect">
                                  <p:stCondLst>
                                    <p:cond delay="1000"/>
                                  </p:stCondLst>
                                  <p:childTnLst>
                                    <p:set>
                                      <p:cBhvr>
                                        <p:cTn id="36" dur="1" fill="hold">
                                          <p:stCondLst>
                                            <p:cond delay="0"/>
                                          </p:stCondLst>
                                        </p:cTn>
                                        <p:tgtEl>
                                          <p:spTgt spid="453645"/>
                                        </p:tgtEl>
                                        <p:attrNameLst>
                                          <p:attrName>style.visibility</p:attrName>
                                        </p:attrNameLst>
                                      </p:cBhvr>
                                      <p:to>
                                        <p:strVal val="visible"/>
                                      </p:to>
                                    </p:set>
                                    <p:animEffect transition="in" filter="wipe(left)">
                                      <p:cBhvr>
                                        <p:cTn id="37" dur="500"/>
                                        <p:tgtEl>
                                          <p:spTgt spid="453645"/>
                                        </p:tgtEl>
                                      </p:cBhvr>
                                    </p:animEffect>
                                  </p:childTnLst>
                                </p:cTn>
                              </p:par>
                            </p:childTnLst>
                          </p:cTn>
                        </p:par>
                        <p:par>
                          <p:cTn id="38" fill="hold" nodeType="afterGroup">
                            <p:stCondLst>
                              <p:cond delay="6500"/>
                            </p:stCondLst>
                            <p:childTnLst>
                              <p:par>
                                <p:cTn id="39" presetID="22" presetClass="entr" presetSubtype="8" fill="hold" grpId="0" nodeType="afterEffect">
                                  <p:stCondLst>
                                    <p:cond delay="1000"/>
                                  </p:stCondLst>
                                  <p:childTnLst>
                                    <p:set>
                                      <p:cBhvr>
                                        <p:cTn id="40" dur="1" fill="hold">
                                          <p:stCondLst>
                                            <p:cond delay="0"/>
                                          </p:stCondLst>
                                        </p:cTn>
                                        <p:tgtEl>
                                          <p:spTgt spid="453646"/>
                                        </p:tgtEl>
                                        <p:attrNameLst>
                                          <p:attrName>style.visibility</p:attrName>
                                        </p:attrNameLst>
                                      </p:cBhvr>
                                      <p:to>
                                        <p:strVal val="visible"/>
                                      </p:to>
                                    </p:set>
                                    <p:animEffect transition="in" filter="wipe(left)">
                                      <p:cBhvr>
                                        <p:cTn id="41" dur="500"/>
                                        <p:tgtEl>
                                          <p:spTgt spid="453646"/>
                                        </p:tgtEl>
                                      </p:cBhvr>
                                    </p:animEffect>
                                  </p:childTnLst>
                                </p:cTn>
                              </p:par>
                            </p:childTnLst>
                          </p:cTn>
                        </p:par>
                        <p:par>
                          <p:cTn id="42" fill="hold" nodeType="afterGroup">
                            <p:stCondLst>
                              <p:cond delay="8000"/>
                            </p:stCondLst>
                            <p:childTnLst>
                              <p:par>
                                <p:cTn id="43" presetID="22" presetClass="entr" presetSubtype="8" fill="hold" grpId="0" nodeType="afterEffect">
                                  <p:stCondLst>
                                    <p:cond delay="1000"/>
                                  </p:stCondLst>
                                  <p:childTnLst>
                                    <p:set>
                                      <p:cBhvr>
                                        <p:cTn id="44" dur="1" fill="hold">
                                          <p:stCondLst>
                                            <p:cond delay="0"/>
                                          </p:stCondLst>
                                        </p:cTn>
                                        <p:tgtEl>
                                          <p:spTgt spid="453647"/>
                                        </p:tgtEl>
                                        <p:attrNameLst>
                                          <p:attrName>style.visibility</p:attrName>
                                        </p:attrNameLst>
                                      </p:cBhvr>
                                      <p:to>
                                        <p:strVal val="visible"/>
                                      </p:to>
                                    </p:set>
                                    <p:animEffect transition="in" filter="wipe(left)">
                                      <p:cBhvr>
                                        <p:cTn id="45" dur="500"/>
                                        <p:tgtEl>
                                          <p:spTgt spid="453647"/>
                                        </p:tgtEl>
                                      </p:cBhvr>
                                    </p:animEffect>
                                  </p:childTnLst>
                                </p:cTn>
                              </p:par>
                            </p:childTnLst>
                          </p:cTn>
                        </p:par>
                        <p:par>
                          <p:cTn id="46" fill="hold" nodeType="afterGroup">
                            <p:stCondLst>
                              <p:cond delay="9500"/>
                            </p:stCondLst>
                            <p:childTnLst>
                              <p:par>
                                <p:cTn id="47" presetID="22" presetClass="entr" presetSubtype="8" fill="hold" grpId="0" nodeType="afterEffect">
                                  <p:stCondLst>
                                    <p:cond delay="1000"/>
                                  </p:stCondLst>
                                  <p:childTnLst>
                                    <p:set>
                                      <p:cBhvr>
                                        <p:cTn id="48" dur="1" fill="hold">
                                          <p:stCondLst>
                                            <p:cond delay="0"/>
                                          </p:stCondLst>
                                        </p:cTn>
                                        <p:tgtEl>
                                          <p:spTgt spid="453648"/>
                                        </p:tgtEl>
                                        <p:attrNameLst>
                                          <p:attrName>style.visibility</p:attrName>
                                        </p:attrNameLst>
                                      </p:cBhvr>
                                      <p:to>
                                        <p:strVal val="visible"/>
                                      </p:to>
                                    </p:set>
                                    <p:animEffect transition="in" filter="wipe(left)">
                                      <p:cBhvr>
                                        <p:cTn id="49" dur="500"/>
                                        <p:tgtEl>
                                          <p:spTgt spid="453648"/>
                                        </p:tgtEl>
                                      </p:cBhvr>
                                    </p:animEffect>
                                  </p:childTnLst>
                                </p:cTn>
                              </p:par>
                            </p:childTnLst>
                          </p:cTn>
                        </p:par>
                        <p:par>
                          <p:cTn id="50" fill="hold" nodeType="afterGroup">
                            <p:stCondLst>
                              <p:cond delay="11000"/>
                            </p:stCondLst>
                            <p:childTnLst>
                              <p:par>
                                <p:cTn id="51" presetID="22" presetClass="entr" presetSubtype="8" fill="hold" grpId="0" nodeType="afterEffect">
                                  <p:stCondLst>
                                    <p:cond delay="1000"/>
                                  </p:stCondLst>
                                  <p:childTnLst>
                                    <p:set>
                                      <p:cBhvr>
                                        <p:cTn id="52" dur="1" fill="hold">
                                          <p:stCondLst>
                                            <p:cond delay="0"/>
                                          </p:stCondLst>
                                        </p:cTn>
                                        <p:tgtEl>
                                          <p:spTgt spid="453649"/>
                                        </p:tgtEl>
                                        <p:attrNameLst>
                                          <p:attrName>style.visibility</p:attrName>
                                        </p:attrNameLst>
                                      </p:cBhvr>
                                      <p:to>
                                        <p:strVal val="visible"/>
                                      </p:to>
                                    </p:set>
                                    <p:animEffect transition="in" filter="wipe(left)">
                                      <p:cBhvr>
                                        <p:cTn id="53" dur="500"/>
                                        <p:tgtEl>
                                          <p:spTgt spid="453649"/>
                                        </p:tgtEl>
                                      </p:cBhvr>
                                    </p:animEffect>
                                  </p:childTnLst>
                                </p:cTn>
                              </p:par>
                            </p:childTnLst>
                          </p:cTn>
                        </p:par>
                        <p:par>
                          <p:cTn id="54" fill="hold" nodeType="afterGroup">
                            <p:stCondLst>
                              <p:cond delay="12500"/>
                            </p:stCondLst>
                            <p:childTnLst>
                              <p:par>
                                <p:cTn id="55" presetID="22" presetClass="entr" presetSubtype="8" fill="hold" grpId="0" nodeType="afterEffect">
                                  <p:stCondLst>
                                    <p:cond delay="1000"/>
                                  </p:stCondLst>
                                  <p:childTnLst>
                                    <p:set>
                                      <p:cBhvr>
                                        <p:cTn id="56" dur="1" fill="hold">
                                          <p:stCondLst>
                                            <p:cond delay="0"/>
                                          </p:stCondLst>
                                        </p:cTn>
                                        <p:tgtEl>
                                          <p:spTgt spid="453650"/>
                                        </p:tgtEl>
                                        <p:attrNameLst>
                                          <p:attrName>style.visibility</p:attrName>
                                        </p:attrNameLst>
                                      </p:cBhvr>
                                      <p:to>
                                        <p:strVal val="visible"/>
                                      </p:to>
                                    </p:set>
                                    <p:animEffect transition="in" filter="wipe(left)">
                                      <p:cBhvr>
                                        <p:cTn id="57" dur="500"/>
                                        <p:tgtEl>
                                          <p:spTgt spid="453650"/>
                                        </p:tgtEl>
                                      </p:cBhvr>
                                    </p:animEffect>
                                  </p:childTnLst>
                                </p:cTn>
                              </p:par>
                            </p:childTnLst>
                          </p:cTn>
                        </p:par>
                        <p:par>
                          <p:cTn id="58" fill="hold" nodeType="afterGroup">
                            <p:stCondLst>
                              <p:cond delay="14000"/>
                            </p:stCondLst>
                            <p:childTnLst>
                              <p:par>
                                <p:cTn id="59" presetID="22" presetClass="entr" presetSubtype="8" fill="hold" grpId="0" nodeType="afterEffect">
                                  <p:stCondLst>
                                    <p:cond delay="1000"/>
                                  </p:stCondLst>
                                  <p:childTnLst>
                                    <p:set>
                                      <p:cBhvr>
                                        <p:cTn id="60" dur="1" fill="hold">
                                          <p:stCondLst>
                                            <p:cond delay="0"/>
                                          </p:stCondLst>
                                        </p:cTn>
                                        <p:tgtEl>
                                          <p:spTgt spid="453651"/>
                                        </p:tgtEl>
                                        <p:attrNameLst>
                                          <p:attrName>style.visibility</p:attrName>
                                        </p:attrNameLst>
                                      </p:cBhvr>
                                      <p:to>
                                        <p:strVal val="visible"/>
                                      </p:to>
                                    </p:set>
                                    <p:animEffect transition="in" filter="wipe(left)">
                                      <p:cBhvr>
                                        <p:cTn id="61" dur="500"/>
                                        <p:tgtEl>
                                          <p:spTgt spid="453651"/>
                                        </p:tgtEl>
                                      </p:cBhvr>
                                    </p:animEffect>
                                  </p:childTnLst>
                                </p:cTn>
                              </p:par>
                            </p:childTnLst>
                          </p:cTn>
                        </p:par>
                        <p:par>
                          <p:cTn id="62" fill="hold" nodeType="afterGroup">
                            <p:stCondLst>
                              <p:cond delay="15500"/>
                            </p:stCondLst>
                            <p:childTnLst>
                              <p:par>
                                <p:cTn id="63" presetID="22" presetClass="entr" presetSubtype="8" fill="hold" grpId="0" nodeType="afterEffect">
                                  <p:stCondLst>
                                    <p:cond delay="0"/>
                                  </p:stCondLst>
                                  <p:childTnLst>
                                    <p:set>
                                      <p:cBhvr>
                                        <p:cTn id="64" dur="1" fill="hold">
                                          <p:stCondLst>
                                            <p:cond delay="0"/>
                                          </p:stCondLst>
                                        </p:cTn>
                                        <p:tgtEl>
                                          <p:spTgt spid="453652"/>
                                        </p:tgtEl>
                                        <p:attrNameLst>
                                          <p:attrName>style.visibility</p:attrName>
                                        </p:attrNameLst>
                                      </p:cBhvr>
                                      <p:to>
                                        <p:strVal val="visible"/>
                                      </p:to>
                                    </p:set>
                                    <p:animEffect transition="in" filter="wipe(left)">
                                      <p:cBhvr>
                                        <p:cTn id="65" dur="500"/>
                                        <p:tgtEl>
                                          <p:spTgt spid="453652"/>
                                        </p:tgtEl>
                                      </p:cBhvr>
                                    </p:animEffect>
                                  </p:childTnLst>
                                </p:cTn>
                              </p:par>
                            </p:childTnLst>
                          </p:cTn>
                        </p:par>
                        <p:par>
                          <p:cTn id="66" fill="hold" nodeType="afterGroup">
                            <p:stCondLst>
                              <p:cond delay="16000"/>
                            </p:stCondLst>
                            <p:childTnLst>
                              <p:par>
                                <p:cTn id="67" presetID="22" presetClass="entr" presetSubtype="8" fill="hold" grpId="0" nodeType="afterEffect">
                                  <p:stCondLst>
                                    <p:cond delay="1000"/>
                                  </p:stCondLst>
                                  <p:childTnLst>
                                    <p:set>
                                      <p:cBhvr>
                                        <p:cTn id="68" dur="1" fill="hold">
                                          <p:stCondLst>
                                            <p:cond delay="0"/>
                                          </p:stCondLst>
                                        </p:cTn>
                                        <p:tgtEl>
                                          <p:spTgt spid="453653"/>
                                        </p:tgtEl>
                                        <p:attrNameLst>
                                          <p:attrName>style.visibility</p:attrName>
                                        </p:attrNameLst>
                                      </p:cBhvr>
                                      <p:to>
                                        <p:strVal val="visible"/>
                                      </p:to>
                                    </p:set>
                                    <p:animEffect transition="in" filter="wipe(left)">
                                      <p:cBhvr>
                                        <p:cTn id="69" dur="500"/>
                                        <p:tgtEl>
                                          <p:spTgt spid="453653"/>
                                        </p:tgtEl>
                                      </p:cBhvr>
                                    </p:animEffect>
                                  </p:childTnLst>
                                </p:cTn>
                              </p:par>
                            </p:childTnLst>
                          </p:cTn>
                        </p:par>
                        <p:par>
                          <p:cTn id="70" fill="hold" nodeType="afterGroup">
                            <p:stCondLst>
                              <p:cond delay="17500"/>
                            </p:stCondLst>
                            <p:childTnLst>
                              <p:par>
                                <p:cTn id="71" presetID="22" presetClass="entr" presetSubtype="8" fill="hold" grpId="0" nodeType="afterEffect">
                                  <p:stCondLst>
                                    <p:cond delay="1000"/>
                                  </p:stCondLst>
                                  <p:childTnLst>
                                    <p:set>
                                      <p:cBhvr>
                                        <p:cTn id="72" dur="1" fill="hold">
                                          <p:stCondLst>
                                            <p:cond delay="0"/>
                                          </p:stCondLst>
                                        </p:cTn>
                                        <p:tgtEl>
                                          <p:spTgt spid="453654"/>
                                        </p:tgtEl>
                                        <p:attrNameLst>
                                          <p:attrName>style.visibility</p:attrName>
                                        </p:attrNameLst>
                                      </p:cBhvr>
                                      <p:to>
                                        <p:strVal val="visible"/>
                                      </p:to>
                                    </p:set>
                                    <p:animEffect transition="in" filter="wipe(left)">
                                      <p:cBhvr>
                                        <p:cTn id="73" dur="500"/>
                                        <p:tgtEl>
                                          <p:spTgt spid="453654"/>
                                        </p:tgtEl>
                                      </p:cBhvr>
                                    </p:animEffect>
                                  </p:childTnLst>
                                </p:cTn>
                              </p:par>
                            </p:childTnLst>
                          </p:cTn>
                        </p:par>
                        <p:par>
                          <p:cTn id="74" fill="hold" nodeType="afterGroup">
                            <p:stCondLst>
                              <p:cond delay="19000"/>
                            </p:stCondLst>
                            <p:childTnLst>
                              <p:par>
                                <p:cTn id="75" presetID="22" presetClass="entr" presetSubtype="8" fill="hold" grpId="0" nodeType="afterEffect">
                                  <p:stCondLst>
                                    <p:cond delay="1000"/>
                                  </p:stCondLst>
                                  <p:childTnLst>
                                    <p:set>
                                      <p:cBhvr>
                                        <p:cTn id="76" dur="1" fill="hold">
                                          <p:stCondLst>
                                            <p:cond delay="0"/>
                                          </p:stCondLst>
                                        </p:cTn>
                                        <p:tgtEl>
                                          <p:spTgt spid="453655"/>
                                        </p:tgtEl>
                                        <p:attrNameLst>
                                          <p:attrName>style.visibility</p:attrName>
                                        </p:attrNameLst>
                                      </p:cBhvr>
                                      <p:to>
                                        <p:strVal val="visible"/>
                                      </p:to>
                                    </p:set>
                                    <p:animEffect transition="in" filter="wipe(left)">
                                      <p:cBhvr>
                                        <p:cTn id="77" dur="500"/>
                                        <p:tgtEl>
                                          <p:spTgt spid="453655"/>
                                        </p:tgtEl>
                                      </p:cBhvr>
                                    </p:animEffect>
                                  </p:childTnLst>
                                </p:cTn>
                              </p:par>
                            </p:childTnLst>
                          </p:cTn>
                        </p:par>
                        <p:par>
                          <p:cTn id="78" fill="hold" nodeType="afterGroup">
                            <p:stCondLst>
                              <p:cond delay="20500"/>
                            </p:stCondLst>
                            <p:childTnLst>
                              <p:par>
                                <p:cTn id="79" presetID="22" presetClass="entr" presetSubtype="8" fill="hold" grpId="0" nodeType="afterEffect">
                                  <p:stCondLst>
                                    <p:cond delay="1000"/>
                                  </p:stCondLst>
                                  <p:childTnLst>
                                    <p:set>
                                      <p:cBhvr>
                                        <p:cTn id="80" dur="1" fill="hold">
                                          <p:stCondLst>
                                            <p:cond delay="0"/>
                                          </p:stCondLst>
                                        </p:cTn>
                                        <p:tgtEl>
                                          <p:spTgt spid="453656"/>
                                        </p:tgtEl>
                                        <p:attrNameLst>
                                          <p:attrName>style.visibility</p:attrName>
                                        </p:attrNameLst>
                                      </p:cBhvr>
                                      <p:to>
                                        <p:strVal val="visible"/>
                                      </p:to>
                                    </p:set>
                                    <p:animEffect transition="in" filter="wipe(left)">
                                      <p:cBhvr>
                                        <p:cTn id="81" dur="500"/>
                                        <p:tgtEl>
                                          <p:spTgt spid="453656"/>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453690"/>
                                        </p:tgtEl>
                                        <p:attrNameLst>
                                          <p:attrName>style.visibility</p:attrName>
                                        </p:attrNameLst>
                                      </p:cBhvr>
                                      <p:to>
                                        <p:strVal val="visible"/>
                                      </p:to>
                                    </p:set>
                                    <p:animEffect transition="in" filter="wipe(left)">
                                      <p:cBhvr>
                                        <p:cTn id="86" dur="500"/>
                                        <p:tgtEl>
                                          <p:spTgt spid="453690"/>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8" fill="hold" grpId="0" nodeType="clickEffect">
                                  <p:stCondLst>
                                    <p:cond delay="0"/>
                                  </p:stCondLst>
                                  <p:childTnLst>
                                    <p:set>
                                      <p:cBhvr>
                                        <p:cTn id="90" dur="1" fill="hold">
                                          <p:stCondLst>
                                            <p:cond delay="0"/>
                                          </p:stCondLst>
                                        </p:cTn>
                                        <p:tgtEl>
                                          <p:spTgt spid="453697"/>
                                        </p:tgtEl>
                                        <p:attrNameLst>
                                          <p:attrName>style.visibility</p:attrName>
                                        </p:attrNameLst>
                                      </p:cBhvr>
                                      <p:to>
                                        <p:strVal val="visible"/>
                                      </p:to>
                                    </p:set>
                                    <p:animEffect transition="in" filter="wipe(left)">
                                      <p:cBhvr>
                                        <p:cTn id="91" dur="500"/>
                                        <p:tgtEl>
                                          <p:spTgt spid="453697"/>
                                        </p:tgtEl>
                                      </p:cBhvr>
                                    </p:animEffect>
                                  </p:childTnLst>
                                </p:cTn>
                              </p:par>
                            </p:childTnLst>
                          </p:cTn>
                        </p:par>
                        <p:par>
                          <p:cTn id="92" fill="hold" nodeType="afterGroup">
                            <p:stCondLst>
                              <p:cond delay="500"/>
                            </p:stCondLst>
                            <p:childTnLst>
                              <p:par>
                                <p:cTn id="93" presetID="22" presetClass="entr" presetSubtype="4" fill="hold" nodeType="afterEffect">
                                  <p:stCondLst>
                                    <p:cond delay="0"/>
                                  </p:stCondLst>
                                  <p:childTnLst>
                                    <p:set>
                                      <p:cBhvr>
                                        <p:cTn id="94" dur="1" fill="hold">
                                          <p:stCondLst>
                                            <p:cond delay="0"/>
                                          </p:stCondLst>
                                        </p:cTn>
                                        <p:tgtEl>
                                          <p:spTgt spid="453714"/>
                                        </p:tgtEl>
                                        <p:attrNameLst>
                                          <p:attrName>style.visibility</p:attrName>
                                        </p:attrNameLst>
                                      </p:cBhvr>
                                      <p:to>
                                        <p:strVal val="visible"/>
                                      </p:to>
                                    </p:set>
                                    <p:animEffect transition="in" filter="wipe(down)">
                                      <p:cBhvr>
                                        <p:cTn id="95" dur="500"/>
                                        <p:tgtEl>
                                          <p:spTgt spid="453714"/>
                                        </p:tgtEl>
                                      </p:cBhvr>
                                    </p:animEffect>
                                  </p:childTnLst>
                                </p:cTn>
                              </p:par>
                            </p:childTnLst>
                          </p:cTn>
                        </p:par>
                        <p:par>
                          <p:cTn id="96" fill="hold" nodeType="afterGroup">
                            <p:stCondLst>
                              <p:cond delay="1000"/>
                            </p:stCondLst>
                            <p:childTnLst>
                              <p:par>
                                <p:cTn id="97" presetID="22" presetClass="entr" presetSubtype="4" fill="hold" nodeType="afterEffect">
                                  <p:stCondLst>
                                    <p:cond delay="0"/>
                                  </p:stCondLst>
                                  <p:childTnLst>
                                    <p:set>
                                      <p:cBhvr>
                                        <p:cTn id="98" dur="1" fill="hold">
                                          <p:stCondLst>
                                            <p:cond delay="0"/>
                                          </p:stCondLst>
                                        </p:cTn>
                                        <p:tgtEl>
                                          <p:spTgt spid="453703"/>
                                        </p:tgtEl>
                                        <p:attrNameLst>
                                          <p:attrName>style.visibility</p:attrName>
                                        </p:attrNameLst>
                                      </p:cBhvr>
                                      <p:to>
                                        <p:strVal val="visible"/>
                                      </p:to>
                                    </p:set>
                                    <p:animEffect transition="in" filter="wipe(down)">
                                      <p:cBhvr>
                                        <p:cTn id="99" dur="500"/>
                                        <p:tgtEl>
                                          <p:spTgt spid="453703"/>
                                        </p:tgtEl>
                                      </p:cBhvr>
                                    </p:animEffect>
                                  </p:childTnLst>
                                </p:cTn>
                              </p:par>
                            </p:childTnLst>
                          </p:cTn>
                        </p:par>
                        <p:par>
                          <p:cTn id="100" fill="hold" nodeType="afterGroup">
                            <p:stCondLst>
                              <p:cond delay="1500"/>
                            </p:stCondLst>
                            <p:childTnLst>
                              <p:par>
                                <p:cTn id="101" presetID="22" presetClass="entr" presetSubtype="4" fill="hold" nodeType="afterEffect">
                                  <p:stCondLst>
                                    <p:cond delay="0"/>
                                  </p:stCondLst>
                                  <p:childTnLst>
                                    <p:set>
                                      <p:cBhvr>
                                        <p:cTn id="102" dur="1" fill="hold">
                                          <p:stCondLst>
                                            <p:cond delay="0"/>
                                          </p:stCondLst>
                                        </p:cTn>
                                        <p:tgtEl>
                                          <p:spTgt spid="453712"/>
                                        </p:tgtEl>
                                        <p:attrNameLst>
                                          <p:attrName>style.visibility</p:attrName>
                                        </p:attrNameLst>
                                      </p:cBhvr>
                                      <p:to>
                                        <p:strVal val="visible"/>
                                      </p:to>
                                    </p:set>
                                    <p:animEffect transition="in" filter="wipe(down)">
                                      <p:cBhvr>
                                        <p:cTn id="103" dur="500"/>
                                        <p:tgtEl>
                                          <p:spTgt spid="453712"/>
                                        </p:tgtEl>
                                      </p:cBhvr>
                                    </p:animEffect>
                                  </p:childTnLst>
                                </p:cTn>
                              </p:par>
                            </p:childTnLst>
                          </p:cTn>
                        </p:par>
                        <p:par>
                          <p:cTn id="104" fill="hold" nodeType="afterGroup">
                            <p:stCondLst>
                              <p:cond delay="2000"/>
                            </p:stCondLst>
                            <p:childTnLst>
                              <p:par>
                                <p:cTn id="105" presetID="22" presetClass="entr" presetSubtype="4" fill="hold" nodeType="afterEffect">
                                  <p:stCondLst>
                                    <p:cond delay="0"/>
                                  </p:stCondLst>
                                  <p:childTnLst>
                                    <p:set>
                                      <p:cBhvr>
                                        <p:cTn id="106" dur="1" fill="hold">
                                          <p:stCondLst>
                                            <p:cond delay="0"/>
                                          </p:stCondLst>
                                        </p:cTn>
                                        <p:tgtEl>
                                          <p:spTgt spid="453713"/>
                                        </p:tgtEl>
                                        <p:attrNameLst>
                                          <p:attrName>style.visibility</p:attrName>
                                        </p:attrNameLst>
                                      </p:cBhvr>
                                      <p:to>
                                        <p:strVal val="visible"/>
                                      </p:to>
                                    </p:set>
                                    <p:animEffect transition="in" filter="wipe(down)">
                                      <p:cBhvr>
                                        <p:cTn id="107" dur="500"/>
                                        <p:tgtEl>
                                          <p:spTgt spid="453713"/>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453658">
                                            <p:txEl>
                                              <p:pRg st="0" end="0"/>
                                            </p:txEl>
                                          </p:spTgt>
                                        </p:tgtEl>
                                        <p:attrNameLst>
                                          <p:attrName>style.visibility</p:attrName>
                                        </p:attrNameLst>
                                      </p:cBhvr>
                                      <p:to>
                                        <p:strVal val="visible"/>
                                      </p:to>
                                    </p:set>
                                    <p:animEffect transition="in" filter="wipe(left)">
                                      <p:cBhvr>
                                        <p:cTn id="112" dur="500"/>
                                        <p:tgtEl>
                                          <p:spTgt spid="453658">
                                            <p:txEl>
                                              <p:pRg st="0" end="0"/>
                                            </p:txEl>
                                          </p:spTgt>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5" presetClass="entr" presetSubtype="10" fill="hold" grpId="0" nodeType="clickEffect">
                                  <p:stCondLst>
                                    <p:cond delay="0"/>
                                  </p:stCondLst>
                                  <p:childTnLst>
                                    <p:set>
                                      <p:cBhvr>
                                        <p:cTn id="116" dur="1" fill="hold">
                                          <p:stCondLst>
                                            <p:cond delay="0"/>
                                          </p:stCondLst>
                                        </p:cTn>
                                        <p:tgtEl>
                                          <p:spTgt spid="453694"/>
                                        </p:tgtEl>
                                        <p:attrNameLst>
                                          <p:attrName>style.visibility</p:attrName>
                                        </p:attrNameLst>
                                      </p:cBhvr>
                                      <p:to>
                                        <p:strVal val="visible"/>
                                      </p:to>
                                    </p:set>
                                    <p:animEffect transition="in" filter="checkerboard(across)">
                                      <p:cBhvr>
                                        <p:cTn id="117" dur="500"/>
                                        <p:tgtEl>
                                          <p:spTgt spid="4536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3643" grpId="0" animBg="1"/>
      <p:bldP spid="453644" grpId="0" animBg="1"/>
      <p:bldP spid="453645" grpId="0" animBg="1"/>
      <p:bldP spid="453646" grpId="0" animBg="1"/>
      <p:bldP spid="453647" grpId="0" animBg="1"/>
      <p:bldP spid="453648" grpId="0" animBg="1"/>
      <p:bldP spid="453649" grpId="0" animBg="1"/>
      <p:bldP spid="453650" grpId="0" animBg="1"/>
      <p:bldP spid="453651" grpId="0" animBg="1"/>
      <p:bldP spid="453652" grpId="0" animBg="1"/>
      <p:bldP spid="453653" grpId="0" animBg="1"/>
      <p:bldP spid="453654" grpId="0" animBg="1"/>
      <p:bldP spid="453655" grpId="0" animBg="1"/>
      <p:bldP spid="453656" grpId="0" animBg="1"/>
      <p:bldP spid="453657" grpId="0" animBg="1"/>
      <p:bldP spid="453658" grpId="0" build="p" autoUpdateAnimBg="0"/>
      <p:bldP spid="453690" grpId="0" animBg="1"/>
      <p:bldP spid="453694" grpId="0" animBg="1"/>
      <p:bldP spid="453697"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Slide Number Placeholder 4"/>
          <p:cNvSpPr>
            <a:spLocks noGrp="1"/>
          </p:cNvSpPr>
          <p:nvPr>
            <p:ph type="sldNum" sz="quarter" idx="12"/>
          </p:nvPr>
        </p:nvSpPr>
        <p:spPr/>
        <p:txBody>
          <a:bodyPr/>
          <a:lstStyle/>
          <a:p>
            <a:pPr>
              <a:defRPr/>
            </a:pPr>
            <a:r>
              <a:rPr lang="en-US" dirty="0"/>
              <a:t> </a:t>
            </a:r>
            <a:endParaRPr lang="en-US" sz="1800" dirty="0">
              <a:solidFill>
                <a:schemeClr val="tx1"/>
              </a:solidFill>
            </a:endParaRPr>
          </a:p>
        </p:txBody>
      </p:sp>
      <p:sp>
        <p:nvSpPr>
          <p:cNvPr id="34818" name="Rectangle 2"/>
          <p:cNvSpPr>
            <a:spLocks noGrp="1" noChangeArrowheads="1"/>
          </p:cNvSpPr>
          <p:nvPr>
            <p:ph type="title"/>
          </p:nvPr>
        </p:nvSpPr>
        <p:spPr>
          <a:xfrm>
            <a:off x="250825" y="174625"/>
            <a:ext cx="8713788" cy="1554163"/>
          </a:xfrm>
        </p:spPr>
        <p:txBody>
          <a:bodyPr/>
          <a:lstStyle/>
          <a:p>
            <a:pPr eaLnBrk="1" hangingPunct="1"/>
            <a:r>
              <a:rPr lang="en-US" sz="3200" b="1" smtClean="0"/>
              <a:t>FASTER RATE OF DIGESTION OF LEGUME FIBER MEANS THAT IT HAS A HIGHER ENERGY VALUE FOR HIGH PRODUCING COWS THAN GRASS FIBER</a:t>
            </a:r>
          </a:p>
        </p:txBody>
      </p:sp>
      <p:grpSp>
        <p:nvGrpSpPr>
          <p:cNvPr id="455683" name="Group 3"/>
          <p:cNvGrpSpPr>
            <a:grpSpLocks/>
          </p:cNvGrpSpPr>
          <p:nvPr/>
        </p:nvGrpSpPr>
        <p:grpSpPr bwMode="auto">
          <a:xfrm>
            <a:off x="1809750" y="3000375"/>
            <a:ext cx="1787525" cy="1666875"/>
            <a:chOff x="725" y="1890"/>
            <a:chExt cx="1267" cy="1050"/>
          </a:xfrm>
        </p:grpSpPr>
        <p:sp>
          <p:nvSpPr>
            <p:cNvPr id="34854" name="Line 4"/>
            <p:cNvSpPr>
              <a:spLocks noChangeShapeType="1"/>
            </p:cNvSpPr>
            <p:nvPr/>
          </p:nvSpPr>
          <p:spPr bwMode="auto">
            <a:xfrm>
              <a:off x="1990" y="1890"/>
              <a:ext cx="0" cy="1050"/>
            </a:xfrm>
            <a:prstGeom prst="line">
              <a:avLst/>
            </a:prstGeom>
            <a:noFill/>
            <a:ln w="19050" cap="rnd">
              <a:solidFill>
                <a:schemeClr val="tx1"/>
              </a:solidFill>
              <a:prstDash val="sysDot"/>
              <a:round/>
              <a:headEnd/>
              <a:tailEnd/>
            </a:ln>
          </p:spPr>
          <p:txBody>
            <a:bodyPr anchor="ctr">
              <a:spAutoFit/>
            </a:bodyPr>
            <a:lstStyle/>
            <a:p>
              <a:endParaRPr lang="en-US"/>
            </a:p>
          </p:txBody>
        </p:sp>
        <p:sp>
          <p:nvSpPr>
            <p:cNvPr id="34855" name="Line 5"/>
            <p:cNvSpPr>
              <a:spLocks noChangeShapeType="1"/>
            </p:cNvSpPr>
            <p:nvPr/>
          </p:nvSpPr>
          <p:spPr bwMode="auto">
            <a:xfrm rot="-5400000">
              <a:off x="1359" y="1638"/>
              <a:ext cx="0" cy="1267"/>
            </a:xfrm>
            <a:prstGeom prst="line">
              <a:avLst/>
            </a:prstGeom>
            <a:noFill/>
            <a:ln w="19050" cap="rnd">
              <a:solidFill>
                <a:schemeClr val="tx1"/>
              </a:solidFill>
              <a:prstDash val="sysDot"/>
              <a:round/>
              <a:headEnd/>
              <a:tailEnd/>
            </a:ln>
          </p:spPr>
          <p:txBody>
            <a:bodyPr anchor="ctr">
              <a:spAutoFit/>
            </a:bodyPr>
            <a:lstStyle/>
            <a:p>
              <a:endParaRPr lang="en-US"/>
            </a:p>
          </p:txBody>
        </p:sp>
        <p:sp>
          <p:nvSpPr>
            <p:cNvPr id="34856" name="Line 6"/>
            <p:cNvSpPr>
              <a:spLocks noChangeShapeType="1"/>
            </p:cNvSpPr>
            <p:nvPr/>
          </p:nvSpPr>
          <p:spPr bwMode="auto">
            <a:xfrm rot="5400000" flipH="1">
              <a:off x="1354" y="1291"/>
              <a:ext cx="0" cy="1246"/>
            </a:xfrm>
            <a:prstGeom prst="line">
              <a:avLst/>
            </a:prstGeom>
            <a:noFill/>
            <a:ln w="19050" cap="rnd">
              <a:solidFill>
                <a:schemeClr val="tx1"/>
              </a:solidFill>
              <a:prstDash val="sysDot"/>
              <a:round/>
              <a:headEnd/>
              <a:tailEnd/>
            </a:ln>
          </p:spPr>
          <p:txBody>
            <a:bodyPr anchor="ctr">
              <a:spAutoFit/>
            </a:bodyPr>
            <a:lstStyle/>
            <a:p>
              <a:endParaRPr lang="en-US"/>
            </a:p>
          </p:txBody>
        </p:sp>
      </p:grpSp>
      <p:grpSp>
        <p:nvGrpSpPr>
          <p:cNvPr id="455687" name="Group 7"/>
          <p:cNvGrpSpPr>
            <a:grpSpLocks/>
          </p:cNvGrpSpPr>
          <p:nvPr/>
        </p:nvGrpSpPr>
        <p:grpSpPr bwMode="auto">
          <a:xfrm>
            <a:off x="1322388" y="3000375"/>
            <a:ext cx="2446337" cy="3421063"/>
            <a:chOff x="380" y="1890"/>
            <a:chExt cx="1734" cy="2155"/>
          </a:xfrm>
        </p:grpSpPr>
        <p:sp>
          <p:nvSpPr>
            <p:cNvPr id="34848" name="Text Box 8"/>
            <p:cNvSpPr txBox="1">
              <a:spLocks noChangeArrowheads="1"/>
            </p:cNvSpPr>
            <p:nvPr/>
          </p:nvSpPr>
          <p:spPr bwMode="auto">
            <a:xfrm>
              <a:off x="1817" y="3007"/>
              <a:ext cx="297" cy="233"/>
            </a:xfrm>
            <a:prstGeom prst="rect">
              <a:avLst/>
            </a:prstGeom>
            <a:noFill/>
            <a:ln w="9525">
              <a:noFill/>
              <a:miter lim="800000"/>
              <a:headEnd/>
              <a:tailEnd/>
            </a:ln>
          </p:spPr>
          <p:txBody>
            <a:bodyPr wrap="none" anchor="ctr">
              <a:spAutoFit/>
            </a:bodyPr>
            <a:lstStyle/>
            <a:p>
              <a:pPr algn="ctr"/>
              <a:r>
                <a:rPr lang="en-US" b="1">
                  <a:latin typeface="Calibri" pitchFamily="34" charset="0"/>
                </a:rPr>
                <a:t>24</a:t>
              </a:r>
            </a:p>
          </p:txBody>
        </p:sp>
        <p:sp>
          <p:nvSpPr>
            <p:cNvPr id="34849" name="AutoShape 9"/>
            <p:cNvSpPr>
              <a:spLocks/>
            </p:cNvSpPr>
            <p:nvPr/>
          </p:nvSpPr>
          <p:spPr bwMode="auto">
            <a:xfrm rot="5400000" flipV="1">
              <a:off x="1626" y="3164"/>
              <a:ext cx="109" cy="305"/>
            </a:xfrm>
            <a:prstGeom prst="rightBrace">
              <a:avLst>
                <a:gd name="adj1" fmla="val 112160"/>
                <a:gd name="adj2" fmla="val 50000"/>
              </a:avLst>
            </a:prstGeom>
            <a:noFill/>
            <a:ln w="19050">
              <a:solidFill>
                <a:schemeClr val="tx1"/>
              </a:solidFill>
              <a:round/>
              <a:headEnd/>
              <a:tailEnd/>
            </a:ln>
          </p:spPr>
          <p:txBody>
            <a:bodyPr anchor="ctr">
              <a:spAutoFit/>
            </a:bodyPr>
            <a:lstStyle/>
            <a:p>
              <a:endParaRPr lang="en-NZ">
                <a:latin typeface="Calibri" pitchFamily="34" charset="0"/>
              </a:endParaRPr>
            </a:p>
          </p:txBody>
        </p:sp>
        <p:sp>
          <p:nvSpPr>
            <p:cNvPr id="34850" name="Text Box 10"/>
            <p:cNvSpPr txBox="1">
              <a:spLocks noChangeArrowheads="1"/>
            </p:cNvSpPr>
            <p:nvPr/>
          </p:nvSpPr>
          <p:spPr bwMode="auto">
            <a:xfrm>
              <a:off x="380" y="3463"/>
              <a:ext cx="1584" cy="582"/>
            </a:xfrm>
            <a:prstGeom prst="rect">
              <a:avLst/>
            </a:prstGeom>
            <a:noFill/>
            <a:ln w="9525">
              <a:noFill/>
              <a:miter lim="800000"/>
              <a:headEnd/>
              <a:tailEnd/>
            </a:ln>
          </p:spPr>
          <p:txBody>
            <a:bodyPr wrap="none" anchor="ctr">
              <a:spAutoFit/>
            </a:bodyPr>
            <a:lstStyle/>
            <a:p>
              <a:pPr algn="ctr"/>
              <a:r>
                <a:rPr lang="en-US" b="1">
                  <a:latin typeface="Calibri" pitchFamily="34" charset="0"/>
                </a:rPr>
                <a:t>Retention time of a </a:t>
              </a:r>
            </a:p>
            <a:p>
              <a:pPr algn="ctr"/>
              <a:r>
                <a:rPr lang="en-US" b="1">
                  <a:latin typeface="Calibri" pitchFamily="34" charset="0"/>
                </a:rPr>
                <a:t>high producing cow</a:t>
              </a:r>
            </a:p>
            <a:p>
              <a:pPr algn="ctr"/>
              <a:r>
                <a:rPr lang="en-US" b="1">
                  <a:latin typeface="Calibri" pitchFamily="34" charset="0"/>
                </a:rPr>
                <a:t>at high level of intake</a:t>
              </a:r>
            </a:p>
          </p:txBody>
        </p:sp>
        <p:grpSp>
          <p:nvGrpSpPr>
            <p:cNvPr id="34851" name="Group 11"/>
            <p:cNvGrpSpPr>
              <a:grpSpLocks/>
            </p:cNvGrpSpPr>
            <p:nvPr/>
          </p:nvGrpSpPr>
          <p:grpSpPr bwMode="auto">
            <a:xfrm>
              <a:off x="750" y="1890"/>
              <a:ext cx="1248" cy="1014"/>
              <a:chOff x="750" y="1890"/>
              <a:chExt cx="1248" cy="1014"/>
            </a:xfrm>
          </p:grpSpPr>
          <p:sp>
            <p:nvSpPr>
              <p:cNvPr id="34852" name="Freeform 12"/>
              <p:cNvSpPr>
                <a:spLocks/>
              </p:cNvSpPr>
              <p:nvPr/>
            </p:nvSpPr>
            <p:spPr bwMode="auto">
              <a:xfrm>
                <a:off x="750" y="1890"/>
                <a:ext cx="1248" cy="1014"/>
              </a:xfrm>
              <a:custGeom>
                <a:avLst/>
                <a:gdLst>
                  <a:gd name="T0" fmla="*/ 0 w 1248"/>
                  <a:gd name="T1" fmla="*/ 1014 h 1014"/>
                  <a:gd name="T2" fmla="*/ 114 w 1248"/>
                  <a:gd name="T3" fmla="*/ 972 h 1014"/>
                  <a:gd name="T4" fmla="*/ 222 w 1248"/>
                  <a:gd name="T5" fmla="*/ 894 h 1014"/>
                  <a:gd name="T6" fmla="*/ 372 w 1248"/>
                  <a:gd name="T7" fmla="*/ 750 h 1014"/>
                  <a:gd name="T8" fmla="*/ 534 w 1248"/>
                  <a:gd name="T9" fmla="*/ 534 h 1014"/>
                  <a:gd name="T10" fmla="*/ 708 w 1248"/>
                  <a:gd name="T11" fmla="*/ 342 h 1014"/>
                  <a:gd name="T12" fmla="*/ 828 w 1248"/>
                  <a:gd name="T13" fmla="*/ 204 h 1014"/>
                  <a:gd name="T14" fmla="*/ 1014 w 1248"/>
                  <a:gd name="T15" fmla="*/ 90 h 1014"/>
                  <a:gd name="T16" fmla="*/ 1248 w 1248"/>
                  <a:gd name="T17" fmla="*/ 0 h 10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48"/>
                  <a:gd name="T28" fmla="*/ 0 h 1014"/>
                  <a:gd name="T29" fmla="*/ 1248 w 1248"/>
                  <a:gd name="T30" fmla="*/ 1014 h 101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48" h="1014">
                    <a:moveTo>
                      <a:pt x="0" y="1014"/>
                    </a:moveTo>
                    <a:cubicBezTo>
                      <a:pt x="38" y="1003"/>
                      <a:pt x="77" y="992"/>
                      <a:pt x="114" y="972"/>
                    </a:cubicBezTo>
                    <a:cubicBezTo>
                      <a:pt x="151" y="952"/>
                      <a:pt x="179" y="931"/>
                      <a:pt x="222" y="894"/>
                    </a:cubicBezTo>
                    <a:cubicBezTo>
                      <a:pt x="265" y="857"/>
                      <a:pt x="320" y="810"/>
                      <a:pt x="372" y="750"/>
                    </a:cubicBezTo>
                    <a:cubicBezTo>
                      <a:pt x="424" y="690"/>
                      <a:pt x="478" y="602"/>
                      <a:pt x="534" y="534"/>
                    </a:cubicBezTo>
                    <a:cubicBezTo>
                      <a:pt x="590" y="466"/>
                      <a:pt x="659" y="397"/>
                      <a:pt x="708" y="342"/>
                    </a:cubicBezTo>
                    <a:cubicBezTo>
                      <a:pt x="757" y="287"/>
                      <a:pt x="777" y="246"/>
                      <a:pt x="828" y="204"/>
                    </a:cubicBezTo>
                    <a:cubicBezTo>
                      <a:pt x="879" y="162"/>
                      <a:pt x="944" y="124"/>
                      <a:pt x="1014" y="90"/>
                    </a:cubicBezTo>
                    <a:cubicBezTo>
                      <a:pt x="1084" y="56"/>
                      <a:pt x="1166" y="28"/>
                      <a:pt x="1248" y="0"/>
                    </a:cubicBezTo>
                  </a:path>
                </a:pathLst>
              </a:custGeom>
              <a:noFill/>
              <a:ln w="38100" cmpd="sng">
                <a:solidFill>
                  <a:srgbClr val="33CC33"/>
                </a:solidFill>
                <a:round/>
                <a:headEnd/>
                <a:tailEnd/>
              </a:ln>
            </p:spPr>
            <p:txBody>
              <a:bodyPr wrap="none" anchor="ctr"/>
              <a:lstStyle/>
              <a:p>
                <a:endParaRPr lang="en-US"/>
              </a:p>
            </p:txBody>
          </p:sp>
          <p:sp>
            <p:nvSpPr>
              <p:cNvPr id="34853" name="Freeform 13"/>
              <p:cNvSpPr>
                <a:spLocks/>
              </p:cNvSpPr>
              <p:nvPr/>
            </p:nvSpPr>
            <p:spPr bwMode="auto">
              <a:xfrm>
                <a:off x="756" y="2250"/>
                <a:ext cx="1236" cy="654"/>
              </a:xfrm>
              <a:custGeom>
                <a:avLst/>
                <a:gdLst>
                  <a:gd name="T0" fmla="*/ 0 w 1236"/>
                  <a:gd name="T1" fmla="*/ 654 h 654"/>
                  <a:gd name="T2" fmla="*/ 204 w 1236"/>
                  <a:gd name="T3" fmla="*/ 636 h 654"/>
                  <a:gd name="T4" fmla="*/ 372 w 1236"/>
                  <a:gd name="T5" fmla="*/ 606 h 654"/>
                  <a:gd name="T6" fmla="*/ 564 w 1236"/>
                  <a:gd name="T7" fmla="*/ 546 h 654"/>
                  <a:gd name="T8" fmla="*/ 702 w 1236"/>
                  <a:gd name="T9" fmla="*/ 456 h 654"/>
                  <a:gd name="T10" fmla="*/ 936 w 1236"/>
                  <a:gd name="T11" fmla="*/ 270 h 654"/>
                  <a:gd name="T12" fmla="*/ 1128 w 1236"/>
                  <a:gd name="T13" fmla="*/ 114 h 654"/>
                  <a:gd name="T14" fmla="*/ 1236 w 1236"/>
                  <a:gd name="T15" fmla="*/ 0 h 654"/>
                  <a:gd name="T16" fmla="*/ 0 60000 65536"/>
                  <a:gd name="T17" fmla="*/ 0 60000 65536"/>
                  <a:gd name="T18" fmla="*/ 0 60000 65536"/>
                  <a:gd name="T19" fmla="*/ 0 60000 65536"/>
                  <a:gd name="T20" fmla="*/ 0 60000 65536"/>
                  <a:gd name="T21" fmla="*/ 0 60000 65536"/>
                  <a:gd name="T22" fmla="*/ 0 60000 65536"/>
                  <a:gd name="T23" fmla="*/ 0 60000 65536"/>
                  <a:gd name="T24" fmla="*/ 0 w 1236"/>
                  <a:gd name="T25" fmla="*/ 0 h 654"/>
                  <a:gd name="T26" fmla="*/ 1236 w 1236"/>
                  <a:gd name="T27" fmla="*/ 654 h 65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236" h="654">
                    <a:moveTo>
                      <a:pt x="0" y="654"/>
                    </a:moveTo>
                    <a:cubicBezTo>
                      <a:pt x="71" y="649"/>
                      <a:pt x="142" y="644"/>
                      <a:pt x="204" y="636"/>
                    </a:cubicBezTo>
                    <a:cubicBezTo>
                      <a:pt x="266" y="628"/>
                      <a:pt x="312" y="621"/>
                      <a:pt x="372" y="606"/>
                    </a:cubicBezTo>
                    <a:cubicBezTo>
                      <a:pt x="432" y="591"/>
                      <a:pt x="509" y="571"/>
                      <a:pt x="564" y="546"/>
                    </a:cubicBezTo>
                    <a:cubicBezTo>
                      <a:pt x="619" y="521"/>
                      <a:pt x="640" y="502"/>
                      <a:pt x="702" y="456"/>
                    </a:cubicBezTo>
                    <a:cubicBezTo>
                      <a:pt x="764" y="410"/>
                      <a:pt x="865" y="327"/>
                      <a:pt x="936" y="270"/>
                    </a:cubicBezTo>
                    <a:cubicBezTo>
                      <a:pt x="1007" y="213"/>
                      <a:pt x="1078" y="159"/>
                      <a:pt x="1128" y="114"/>
                    </a:cubicBezTo>
                    <a:cubicBezTo>
                      <a:pt x="1178" y="69"/>
                      <a:pt x="1207" y="34"/>
                      <a:pt x="1236" y="0"/>
                    </a:cubicBezTo>
                  </a:path>
                </a:pathLst>
              </a:custGeom>
              <a:noFill/>
              <a:ln w="38100" cmpd="sng">
                <a:solidFill>
                  <a:schemeClr val="tx2"/>
                </a:solidFill>
                <a:round/>
                <a:headEnd/>
                <a:tailEnd/>
              </a:ln>
            </p:spPr>
            <p:txBody>
              <a:bodyPr wrap="none" anchor="ctr"/>
              <a:lstStyle/>
              <a:p>
                <a:endParaRPr lang="en-US"/>
              </a:p>
            </p:txBody>
          </p:sp>
        </p:grpSp>
      </p:grpSp>
      <p:sp>
        <p:nvSpPr>
          <p:cNvPr id="34821" name="Line 14"/>
          <p:cNvSpPr>
            <a:spLocks noChangeShapeType="1"/>
          </p:cNvSpPr>
          <p:nvPr/>
        </p:nvSpPr>
        <p:spPr bwMode="auto">
          <a:xfrm rot="5400000">
            <a:off x="4852194" y="1616869"/>
            <a:ext cx="0" cy="6021388"/>
          </a:xfrm>
          <a:prstGeom prst="line">
            <a:avLst/>
          </a:prstGeom>
          <a:noFill/>
          <a:ln w="38100">
            <a:solidFill>
              <a:schemeClr val="tx1"/>
            </a:solidFill>
            <a:round/>
            <a:headEnd/>
            <a:tailEnd/>
          </a:ln>
        </p:spPr>
        <p:txBody>
          <a:bodyPr anchor="ctr">
            <a:spAutoFit/>
          </a:bodyPr>
          <a:lstStyle/>
          <a:p>
            <a:endParaRPr lang="en-US"/>
          </a:p>
        </p:txBody>
      </p:sp>
      <p:sp>
        <p:nvSpPr>
          <p:cNvPr id="34822" name="Line 15"/>
          <p:cNvSpPr>
            <a:spLocks noChangeShapeType="1"/>
          </p:cNvSpPr>
          <p:nvPr/>
        </p:nvSpPr>
        <p:spPr bwMode="auto">
          <a:xfrm>
            <a:off x="1841500" y="2147888"/>
            <a:ext cx="0" cy="2479675"/>
          </a:xfrm>
          <a:prstGeom prst="line">
            <a:avLst/>
          </a:prstGeom>
          <a:noFill/>
          <a:ln w="38100">
            <a:solidFill>
              <a:schemeClr val="tx1"/>
            </a:solidFill>
            <a:round/>
            <a:headEnd/>
            <a:tailEnd/>
          </a:ln>
        </p:spPr>
        <p:txBody>
          <a:bodyPr anchor="ctr">
            <a:spAutoFit/>
          </a:bodyPr>
          <a:lstStyle/>
          <a:p>
            <a:endParaRPr lang="en-US"/>
          </a:p>
        </p:txBody>
      </p:sp>
      <p:sp>
        <p:nvSpPr>
          <p:cNvPr id="34823" name="Text Box 16"/>
          <p:cNvSpPr txBox="1">
            <a:spLocks noChangeArrowheads="1"/>
          </p:cNvSpPr>
          <p:nvPr/>
        </p:nvSpPr>
        <p:spPr bwMode="auto">
          <a:xfrm>
            <a:off x="1722438" y="4773613"/>
            <a:ext cx="301625" cy="368300"/>
          </a:xfrm>
          <a:prstGeom prst="rect">
            <a:avLst/>
          </a:prstGeom>
          <a:noFill/>
          <a:ln w="9525">
            <a:noFill/>
            <a:miter lim="800000"/>
            <a:headEnd/>
            <a:tailEnd/>
          </a:ln>
        </p:spPr>
        <p:txBody>
          <a:bodyPr wrap="none" anchor="ctr">
            <a:spAutoFit/>
          </a:bodyPr>
          <a:lstStyle/>
          <a:p>
            <a:pPr algn="ctr"/>
            <a:r>
              <a:rPr lang="en-US" b="1">
                <a:latin typeface="Calibri" pitchFamily="34" charset="0"/>
              </a:rPr>
              <a:t>0</a:t>
            </a:r>
          </a:p>
        </p:txBody>
      </p:sp>
      <p:sp>
        <p:nvSpPr>
          <p:cNvPr id="34824" name="Text Box 17"/>
          <p:cNvSpPr txBox="1">
            <a:spLocks noChangeArrowheads="1"/>
          </p:cNvSpPr>
          <p:nvPr/>
        </p:nvSpPr>
        <p:spPr bwMode="auto">
          <a:xfrm>
            <a:off x="7720013" y="4773613"/>
            <a:ext cx="725487" cy="368300"/>
          </a:xfrm>
          <a:prstGeom prst="rect">
            <a:avLst/>
          </a:prstGeom>
          <a:noFill/>
          <a:ln w="9525">
            <a:noFill/>
            <a:miter lim="800000"/>
            <a:headEnd/>
            <a:tailEnd/>
          </a:ln>
        </p:spPr>
        <p:txBody>
          <a:bodyPr wrap="none" anchor="ctr">
            <a:spAutoFit/>
          </a:bodyPr>
          <a:lstStyle/>
          <a:p>
            <a:pPr algn="ctr"/>
            <a:r>
              <a:rPr lang="en-US" b="1">
                <a:latin typeface="Calibri" pitchFamily="34" charset="0"/>
              </a:rPr>
              <a:t>hours</a:t>
            </a:r>
          </a:p>
        </p:txBody>
      </p:sp>
      <p:sp>
        <p:nvSpPr>
          <p:cNvPr id="34825" name="Text Box 18"/>
          <p:cNvSpPr txBox="1">
            <a:spLocks noChangeArrowheads="1"/>
          </p:cNvSpPr>
          <p:nvPr/>
        </p:nvSpPr>
        <p:spPr bwMode="auto">
          <a:xfrm>
            <a:off x="6865938" y="4773613"/>
            <a:ext cx="419100" cy="368300"/>
          </a:xfrm>
          <a:prstGeom prst="rect">
            <a:avLst/>
          </a:prstGeom>
          <a:noFill/>
          <a:ln w="9525">
            <a:noFill/>
            <a:miter lim="800000"/>
            <a:headEnd/>
            <a:tailEnd/>
          </a:ln>
        </p:spPr>
        <p:txBody>
          <a:bodyPr wrap="none" anchor="ctr">
            <a:spAutoFit/>
          </a:bodyPr>
          <a:lstStyle/>
          <a:p>
            <a:pPr algn="ctr"/>
            <a:r>
              <a:rPr lang="en-US" b="1">
                <a:latin typeface="Calibri" pitchFamily="34" charset="0"/>
              </a:rPr>
              <a:t>72</a:t>
            </a:r>
          </a:p>
        </p:txBody>
      </p:sp>
      <p:sp>
        <p:nvSpPr>
          <p:cNvPr id="34826" name="Text Box 19"/>
          <p:cNvSpPr txBox="1">
            <a:spLocks noChangeArrowheads="1"/>
          </p:cNvSpPr>
          <p:nvPr/>
        </p:nvSpPr>
        <p:spPr bwMode="auto">
          <a:xfrm>
            <a:off x="1549400" y="1776413"/>
            <a:ext cx="4902200" cy="368300"/>
          </a:xfrm>
          <a:prstGeom prst="rect">
            <a:avLst/>
          </a:prstGeom>
          <a:noFill/>
          <a:ln w="9525">
            <a:noFill/>
            <a:miter lim="800000"/>
            <a:headEnd/>
            <a:tailEnd/>
          </a:ln>
        </p:spPr>
        <p:txBody>
          <a:bodyPr wrap="none" anchor="ctr">
            <a:spAutoFit/>
          </a:bodyPr>
          <a:lstStyle/>
          <a:p>
            <a:pPr algn="ctr"/>
            <a:r>
              <a:rPr lang="en-US" b="1">
                <a:latin typeface="Calibri" pitchFamily="34" charset="0"/>
              </a:rPr>
              <a:t>Extent of digestion of the “B (fibrous) fraction”, %</a:t>
            </a:r>
          </a:p>
        </p:txBody>
      </p:sp>
      <p:sp>
        <p:nvSpPr>
          <p:cNvPr id="34827" name="Text Box 20"/>
          <p:cNvSpPr txBox="1">
            <a:spLocks noChangeArrowheads="1"/>
          </p:cNvSpPr>
          <p:nvPr/>
        </p:nvSpPr>
        <p:spPr bwMode="auto">
          <a:xfrm>
            <a:off x="7788275" y="2608263"/>
            <a:ext cx="1025525" cy="368300"/>
          </a:xfrm>
          <a:prstGeom prst="rect">
            <a:avLst/>
          </a:prstGeom>
          <a:noFill/>
          <a:ln w="9525">
            <a:noFill/>
            <a:miter lim="800000"/>
            <a:headEnd/>
            <a:tailEnd/>
          </a:ln>
        </p:spPr>
        <p:txBody>
          <a:bodyPr wrap="none" anchor="ctr">
            <a:spAutoFit/>
          </a:bodyPr>
          <a:lstStyle/>
          <a:p>
            <a:pPr algn="ctr"/>
            <a:r>
              <a:rPr lang="en-US" b="1">
                <a:solidFill>
                  <a:srgbClr val="00FF00"/>
                </a:solidFill>
                <a:latin typeface="Calibri" pitchFamily="34" charset="0"/>
              </a:rPr>
              <a:t>Legumes</a:t>
            </a:r>
          </a:p>
        </p:txBody>
      </p:sp>
      <p:sp>
        <p:nvSpPr>
          <p:cNvPr id="34828" name="Text Box 21"/>
          <p:cNvSpPr txBox="1">
            <a:spLocks noChangeArrowheads="1"/>
          </p:cNvSpPr>
          <p:nvPr/>
        </p:nvSpPr>
        <p:spPr bwMode="auto">
          <a:xfrm>
            <a:off x="7785100" y="2209800"/>
            <a:ext cx="911225" cy="368300"/>
          </a:xfrm>
          <a:prstGeom prst="rect">
            <a:avLst/>
          </a:prstGeom>
          <a:noFill/>
          <a:ln w="9525">
            <a:noFill/>
            <a:miter lim="800000"/>
            <a:headEnd/>
            <a:tailEnd/>
          </a:ln>
        </p:spPr>
        <p:txBody>
          <a:bodyPr wrap="none" anchor="ctr">
            <a:spAutoFit/>
          </a:bodyPr>
          <a:lstStyle/>
          <a:p>
            <a:pPr algn="ctr"/>
            <a:r>
              <a:rPr lang="en-US" b="1">
                <a:solidFill>
                  <a:schemeClr val="tx2"/>
                </a:solidFill>
                <a:latin typeface="Calibri" pitchFamily="34" charset="0"/>
              </a:rPr>
              <a:t>Grasses</a:t>
            </a:r>
            <a:endParaRPr lang="en-US" b="1">
              <a:latin typeface="Calibri" pitchFamily="34" charset="0"/>
            </a:endParaRPr>
          </a:p>
        </p:txBody>
      </p:sp>
      <p:sp>
        <p:nvSpPr>
          <p:cNvPr id="34829" name="Line 22"/>
          <p:cNvSpPr>
            <a:spLocks noChangeShapeType="1"/>
          </p:cNvSpPr>
          <p:nvPr/>
        </p:nvSpPr>
        <p:spPr bwMode="auto">
          <a:xfrm>
            <a:off x="7254875" y="2860675"/>
            <a:ext cx="369888" cy="0"/>
          </a:xfrm>
          <a:prstGeom prst="line">
            <a:avLst/>
          </a:prstGeom>
          <a:noFill/>
          <a:ln w="38100">
            <a:solidFill>
              <a:srgbClr val="33CC33"/>
            </a:solidFill>
            <a:round/>
            <a:headEnd/>
            <a:tailEnd/>
          </a:ln>
        </p:spPr>
        <p:txBody>
          <a:bodyPr wrap="none" anchor="ctr"/>
          <a:lstStyle/>
          <a:p>
            <a:endParaRPr lang="en-US"/>
          </a:p>
        </p:txBody>
      </p:sp>
      <p:sp>
        <p:nvSpPr>
          <p:cNvPr id="34830" name="Line 23"/>
          <p:cNvSpPr>
            <a:spLocks noChangeShapeType="1"/>
          </p:cNvSpPr>
          <p:nvPr/>
        </p:nvSpPr>
        <p:spPr bwMode="auto">
          <a:xfrm>
            <a:off x="7254875" y="2384425"/>
            <a:ext cx="369888" cy="0"/>
          </a:xfrm>
          <a:prstGeom prst="line">
            <a:avLst/>
          </a:prstGeom>
          <a:noFill/>
          <a:ln w="38100">
            <a:solidFill>
              <a:schemeClr val="tx2"/>
            </a:solidFill>
            <a:round/>
            <a:headEnd/>
            <a:tailEnd/>
          </a:ln>
        </p:spPr>
        <p:txBody>
          <a:bodyPr wrap="none" anchor="ctr"/>
          <a:lstStyle/>
          <a:p>
            <a:endParaRPr lang="en-US"/>
          </a:p>
        </p:txBody>
      </p:sp>
      <p:grpSp>
        <p:nvGrpSpPr>
          <p:cNvPr id="455704" name="Group 24"/>
          <p:cNvGrpSpPr>
            <a:grpSpLocks/>
          </p:cNvGrpSpPr>
          <p:nvPr/>
        </p:nvGrpSpPr>
        <p:grpSpPr bwMode="auto">
          <a:xfrm>
            <a:off x="1809750" y="2571750"/>
            <a:ext cx="3617913" cy="2041525"/>
            <a:chOff x="725" y="1620"/>
            <a:chExt cx="2564" cy="1286"/>
          </a:xfrm>
        </p:grpSpPr>
        <p:sp>
          <p:nvSpPr>
            <p:cNvPr id="34845" name="Line 25"/>
            <p:cNvSpPr>
              <a:spLocks noChangeShapeType="1"/>
            </p:cNvSpPr>
            <p:nvPr/>
          </p:nvSpPr>
          <p:spPr bwMode="auto">
            <a:xfrm rot="-5400000">
              <a:off x="2005" y="524"/>
              <a:ext cx="0" cy="2559"/>
            </a:xfrm>
            <a:prstGeom prst="line">
              <a:avLst/>
            </a:prstGeom>
            <a:noFill/>
            <a:ln w="19050" cap="rnd">
              <a:solidFill>
                <a:schemeClr val="tx1"/>
              </a:solidFill>
              <a:prstDash val="sysDot"/>
              <a:round/>
              <a:headEnd/>
              <a:tailEnd/>
            </a:ln>
          </p:spPr>
          <p:txBody>
            <a:bodyPr anchor="ctr">
              <a:spAutoFit/>
            </a:bodyPr>
            <a:lstStyle/>
            <a:p>
              <a:endParaRPr lang="en-US"/>
            </a:p>
          </p:txBody>
        </p:sp>
        <p:sp>
          <p:nvSpPr>
            <p:cNvPr id="34846" name="Line 26"/>
            <p:cNvSpPr>
              <a:spLocks noChangeShapeType="1"/>
            </p:cNvSpPr>
            <p:nvPr/>
          </p:nvSpPr>
          <p:spPr bwMode="auto">
            <a:xfrm rot="-5400000">
              <a:off x="2007" y="348"/>
              <a:ext cx="0" cy="2564"/>
            </a:xfrm>
            <a:prstGeom prst="line">
              <a:avLst/>
            </a:prstGeom>
            <a:noFill/>
            <a:ln w="19050" cap="rnd">
              <a:solidFill>
                <a:schemeClr val="tx1"/>
              </a:solidFill>
              <a:prstDash val="sysDot"/>
              <a:round/>
              <a:headEnd/>
              <a:tailEnd/>
            </a:ln>
          </p:spPr>
          <p:txBody>
            <a:bodyPr anchor="ctr">
              <a:spAutoFit/>
            </a:bodyPr>
            <a:lstStyle/>
            <a:p>
              <a:endParaRPr lang="en-US"/>
            </a:p>
          </p:txBody>
        </p:sp>
        <p:sp>
          <p:nvSpPr>
            <p:cNvPr id="34847" name="Line 27"/>
            <p:cNvSpPr>
              <a:spLocks noChangeShapeType="1"/>
            </p:cNvSpPr>
            <p:nvPr/>
          </p:nvSpPr>
          <p:spPr bwMode="auto">
            <a:xfrm>
              <a:off x="3279" y="1620"/>
              <a:ext cx="0" cy="1286"/>
            </a:xfrm>
            <a:prstGeom prst="line">
              <a:avLst/>
            </a:prstGeom>
            <a:noFill/>
            <a:ln w="19050" cap="rnd">
              <a:solidFill>
                <a:schemeClr val="tx1"/>
              </a:solidFill>
              <a:prstDash val="sysDot"/>
              <a:round/>
              <a:headEnd/>
              <a:tailEnd/>
            </a:ln>
          </p:spPr>
          <p:txBody>
            <a:bodyPr anchor="ctr">
              <a:spAutoFit/>
            </a:bodyPr>
            <a:lstStyle/>
            <a:p>
              <a:endParaRPr lang="en-US"/>
            </a:p>
          </p:txBody>
        </p:sp>
      </p:grpSp>
      <p:grpSp>
        <p:nvGrpSpPr>
          <p:cNvPr id="455708" name="Group 28"/>
          <p:cNvGrpSpPr>
            <a:grpSpLocks/>
          </p:cNvGrpSpPr>
          <p:nvPr/>
        </p:nvGrpSpPr>
        <p:grpSpPr bwMode="auto">
          <a:xfrm>
            <a:off x="3587750" y="2581275"/>
            <a:ext cx="4270375" cy="3840163"/>
            <a:chOff x="1986" y="1626"/>
            <a:chExt cx="3026" cy="2419"/>
          </a:xfrm>
        </p:grpSpPr>
        <p:sp>
          <p:nvSpPr>
            <p:cNvPr id="34839" name="Text Box 29"/>
            <p:cNvSpPr txBox="1">
              <a:spLocks noChangeArrowheads="1"/>
            </p:cNvSpPr>
            <p:nvPr/>
          </p:nvSpPr>
          <p:spPr bwMode="auto">
            <a:xfrm>
              <a:off x="3085" y="3007"/>
              <a:ext cx="297" cy="233"/>
            </a:xfrm>
            <a:prstGeom prst="rect">
              <a:avLst/>
            </a:prstGeom>
            <a:noFill/>
            <a:ln w="9525">
              <a:noFill/>
              <a:miter lim="800000"/>
              <a:headEnd/>
              <a:tailEnd/>
            </a:ln>
          </p:spPr>
          <p:txBody>
            <a:bodyPr wrap="none" anchor="ctr">
              <a:spAutoFit/>
            </a:bodyPr>
            <a:lstStyle/>
            <a:p>
              <a:pPr algn="ctr"/>
              <a:r>
                <a:rPr lang="en-US" b="1">
                  <a:latin typeface="Calibri" pitchFamily="34" charset="0"/>
                </a:rPr>
                <a:t>48</a:t>
              </a:r>
            </a:p>
          </p:txBody>
        </p:sp>
        <p:sp>
          <p:nvSpPr>
            <p:cNvPr id="34840" name="AutoShape 30"/>
            <p:cNvSpPr>
              <a:spLocks/>
            </p:cNvSpPr>
            <p:nvPr/>
          </p:nvSpPr>
          <p:spPr bwMode="auto">
            <a:xfrm rot="5400000" flipV="1">
              <a:off x="3469" y="3165"/>
              <a:ext cx="109" cy="305"/>
            </a:xfrm>
            <a:prstGeom prst="rightBrace">
              <a:avLst>
                <a:gd name="adj1" fmla="val 112380"/>
                <a:gd name="adj2" fmla="val 50000"/>
              </a:avLst>
            </a:prstGeom>
            <a:noFill/>
            <a:ln w="19050">
              <a:solidFill>
                <a:schemeClr val="tx1"/>
              </a:solidFill>
              <a:round/>
              <a:headEnd/>
              <a:tailEnd/>
            </a:ln>
          </p:spPr>
          <p:txBody>
            <a:bodyPr anchor="ctr">
              <a:spAutoFit/>
            </a:bodyPr>
            <a:lstStyle/>
            <a:p>
              <a:endParaRPr lang="en-NZ">
                <a:latin typeface="Calibri" pitchFamily="34" charset="0"/>
              </a:endParaRPr>
            </a:p>
          </p:txBody>
        </p:sp>
        <p:sp>
          <p:nvSpPr>
            <p:cNvPr id="34841" name="Text Box 31"/>
            <p:cNvSpPr txBox="1">
              <a:spLocks noChangeArrowheads="1"/>
            </p:cNvSpPr>
            <p:nvPr/>
          </p:nvSpPr>
          <p:spPr bwMode="auto">
            <a:xfrm>
              <a:off x="3472" y="3463"/>
              <a:ext cx="1540" cy="582"/>
            </a:xfrm>
            <a:prstGeom prst="rect">
              <a:avLst/>
            </a:prstGeom>
            <a:noFill/>
            <a:ln w="9525">
              <a:noFill/>
              <a:miter lim="800000"/>
              <a:headEnd/>
              <a:tailEnd/>
            </a:ln>
          </p:spPr>
          <p:txBody>
            <a:bodyPr wrap="none" anchor="ctr">
              <a:spAutoFit/>
            </a:bodyPr>
            <a:lstStyle/>
            <a:p>
              <a:r>
                <a:rPr lang="en-US" b="1">
                  <a:latin typeface="Calibri" pitchFamily="34" charset="0"/>
                </a:rPr>
                <a:t>Retention time of a </a:t>
              </a:r>
            </a:p>
            <a:p>
              <a:r>
                <a:rPr lang="en-US" b="1">
                  <a:latin typeface="Calibri" pitchFamily="34" charset="0"/>
                </a:rPr>
                <a:t>dry cow</a:t>
              </a:r>
            </a:p>
            <a:p>
              <a:r>
                <a:rPr lang="en-US" b="1">
                  <a:latin typeface="Calibri" pitchFamily="34" charset="0"/>
                </a:rPr>
                <a:t>at low level of intake</a:t>
              </a:r>
            </a:p>
          </p:txBody>
        </p:sp>
        <p:grpSp>
          <p:nvGrpSpPr>
            <p:cNvPr id="34842" name="Group 32"/>
            <p:cNvGrpSpPr>
              <a:grpSpLocks/>
            </p:cNvGrpSpPr>
            <p:nvPr/>
          </p:nvGrpSpPr>
          <p:grpSpPr bwMode="auto">
            <a:xfrm>
              <a:off x="1986" y="1626"/>
              <a:ext cx="1290" cy="624"/>
              <a:chOff x="1986" y="1626"/>
              <a:chExt cx="1290" cy="624"/>
            </a:xfrm>
          </p:grpSpPr>
          <p:sp>
            <p:nvSpPr>
              <p:cNvPr id="34843" name="Freeform 33"/>
              <p:cNvSpPr>
                <a:spLocks/>
              </p:cNvSpPr>
              <p:nvPr/>
            </p:nvSpPr>
            <p:spPr bwMode="auto">
              <a:xfrm>
                <a:off x="1986" y="1626"/>
                <a:ext cx="1290" cy="624"/>
              </a:xfrm>
              <a:custGeom>
                <a:avLst/>
                <a:gdLst>
                  <a:gd name="T0" fmla="*/ 0 w 1290"/>
                  <a:gd name="T1" fmla="*/ 624 h 624"/>
                  <a:gd name="T2" fmla="*/ 138 w 1290"/>
                  <a:gd name="T3" fmla="*/ 522 h 624"/>
                  <a:gd name="T4" fmla="*/ 294 w 1290"/>
                  <a:gd name="T5" fmla="*/ 408 h 624"/>
                  <a:gd name="T6" fmla="*/ 588 w 1290"/>
                  <a:gd name="T7" fmla="*/ 234 h 624"/>
                  <a:gd name="T8" fmla="*/ 954 w 1290"/>
                  <a:gd name="T9" fmla="*/ 84 h 624"/>
                  <a:gd name="T10" fmla="*/ 1290 w 1290"/>
                  <a:gd name="T11" fmla="*/ 0 h 624"/>
                  <a:gd name="T12" fmla="*/ 0 60000 65536"/>
                  <a:gd name="T13" fmla="*/ 0 60000 65536"/>
                  <a:gd name="T14" fmla="*/ 0 60000 65536"/>
                  <a:gd name="T15" fmla="*/ 0 60000 65536"/>
                  <a:gd name="T16" fmla="*/ 0 60000 65536"/>
                  <a:gd name="T17" fmla="*/ 0 60000 65536"/>
                  <a:gd name="T18" fmla="*/ 0 w 1290"/>
                  <a:gd name="T19" fmla="*/ 0 h 624"/>
                  <a:gd name="T20" fmla="*/ 1290 w 1290"/>
                  <a:gd name="T21" fmla="*/ 624 h 624"/>
                </a:gdLst>
                <a:ahLst/>
                <a:cxnLst>
                  <a:cxn ang="T12">
                    <a:pos x="T0" y="T1"/>
                  </a:cxn>
                  <a:cxn ang="T13">
                    <a:pos x="T2" y="T3"/>
                  </a:cxn>
                  <a:cxn ang="T14">
                    <a:pos x="T4" y="T5"/>
                  </a:cxn>
                  <a:cxn ang="T15">
                    <a:pos x="T6" y="T7"/>
                  </a:cxn>
                  <a:cxn ang="T16">
                    <a:pos x="T8" y="T9"/>
                  </a:cxn>
                  <a:cxn ang="T17">
                    <a:pos x="T10" y="T11"/>
                  </a:cxn>
                </a:cxnLst>
                <a:rect l="T18" t="T19" r="T20" b="T21"/>
                <a:pathLst>
                  <a:path w="1290" h="624">
                    <a:moveTo>
                      <a:pt x="0" y="624"/>
                    </a:moveTo>
                    <a:cubicBezTo>
                      <a:pt x="44" y="591"/>
                      <a:pt x="89" y="558"/>
                      <a:pt x="138" y="522"/>
                    </a:cubicBezTo>
                    <a:cubicBezTo>
                      <a:pt x="187" y="486"/>
                      <a:pt x="219" y="456"/>
                      <a:pt x="294" y="408"/>
                    </a:cubicBezTo>
                    <a:cubicBezTo>
                      <a:pt x="369" y="360"/>
                      <a:pt x="478" y="288"/>
                      <a:pt x="588" y="234"/>
                    </a:cubicBezTo>
                    <a:cubicBezTo>
                      <a:pt x="698" y="180"/>
                      <a:pt x="837" y="123"/>
                      <a:pt x="954" y="84"/>
                    </a:cubicBezTo>
                    <a:cubicBezTo>
                      <a:pt x="1071" y="45"/>
                      <a:pt x="1180" y="22"/>
                      <a:pt x="1290" y="0"/>
                    </a:cubicBezTo>
                  </a:path>
                </a:pathLst>
              </a:custGeom>
              <a:noFill/>
              <a:ln w="38100" cmpd="sng">
                <a:solidFill>
                  <a:schemeClr val="tx2"/>
                </a:solidFill>
                <a:round/>
                <a:headEnd/>
                <a:tailEnd/>
              </a:ln>
            </p:spPr>
            <p:txBody>
              <a:bodyPr wrap="none" anchor="ctr"/>
              <a:lstStyle/>
              <a:p>
                <a:endParaRPr lang="en-US"/>
              </a:p>
            </p:txBody>
          </p:sp>
          <p:sp>
            <p:nvSpPr>
              <p:cNvPr id="34844" name="Freeform 34"/>
              <p:cNvSpPr>
                <a:spLocks/>
              </p:cNvSpPr>
              <p:nvPr/>
            </p:nvSpPr>
            <p:spPr bwMode="auto">
              <a:xfrm>
                <a:off x="1992" y="1794"/>
                <a:ext cx="1284" cy="102"/>
              </a:xfrm>
              <a:custGeom>
                <a:avLst/>
                <a:gdLst>
                  <a:gd name="T0" fmla="*/ 0 w 1284"/>
                  <a:gd name="T1" fmla="*/ 102 h 102"/>
                  <a:gd name="T2" fmla="*/ 216 w 1284"/>
                  <a:gd name="T3" fmla="*/ 54 h 102"/>
                  <a:gd name="T4" fmla="*/ 480 w 1284"/>
                  <a:gd name="T5" fmla="*/ 24 h 102"/>
                  <a:gd name="T6" fmla="*/ 996 w 1284"/>
                  <a:gd name="T7" fmla="*/ 12 h 102"/>
                  <a:gd name="T8" fmla="*/ 1284 w 1284"/>
                  <a:gd name="T9" fmla="*/ 0 h 102"/>
                  <a:gd name="T10" fmla="*/ 0 60000 65536"/>
                  <a:gd name="T11" fmla="*/ 0 60000 65536"/>
                  <a:gd name="T12" fmla="*/ 0 60000 65536"/>
                  <a:gd name="T13" fmla="*/ 0 60000 65536"/>
                  <a:gd name="T14" fmla="*/ 0 60000 65536"/>
                  <a:gd name="T15" fmla="*/ 0 w 1284"/>
                  <a:gd name="T16" fmla="*/ 0 h 102"/>
                  <a:gd name="T17" fmla="*/ 1284 w 1284"/>
                  <a:gd name="T18" fmla="*/ 102 h 102"/>
                </a:gdLst>
                <a:ahLst/>
                <a:cxnLst>
                  <a:cxn ang="T10">
                    <a:pos x="T0" y="T1"/>
                  </a:cxn>
                  <a:cxn ang="T11">
                    <a:pos x="T2" y="T3"/>
                  </a:cxn>
                  <a:cxn ang="T12">
                    <a:pos x="T4" y="T5"/>
                  </a:cxn>
                  <a:cxn ang="T13">
                    <a:pos x="T6" y="T7"/>
                  </a:cxn>
                  <a:cxn ang="T14">
                    <a:pos x="T8" y="T9"/>
                  </a:cxn>
                </a:cxnLst>
                <a:rect l="T15" t="T16" r="T17" b="T18"/>
                <a:pathLst>
                  <a:path w="1284" h="102">
                    <a:moveTo>
                      <a:pt x="0" y="102"/>
                    </a:moveTo>
                    <a:cubicBezTo>
                      <a:pt x="68" y="84"/>
                      <a:pt x="136" y="67"/>
                      <a:pt x="216" y="54"/>
                    </a:cubicBezTo>
                    <a:cubicBezTo>
                      <a:pt x="296" y="41"/>
                      <a:pt x="350" y="31"/>
                      <a:pt x="480" y="24"/>
                    </a:cubicBezTo>
                    <a:cubicBezTo>
                      <a:pt x="610" y="17"/>
                      <a:pt x="862" y="16"/>
                      <a:pt x="996" y="12"/>
                    </a:cubicBezTo>
                    <a:cubicBezTo>
                      <a:pt x="1130" y="8"/>
                      <a:pt x="1207" y="4"/>
                      <a:pt x="1284" y="0"/>
                    </a:cubicBezTo>
                  </a:path>
                </a:pathLst>
              </a:custGeom>
              <a:noFill/>
              <a:ln w="38100" cmpd="sng">
                <a:solidFill>
                  <a:srgbClr val="33CC33"/>
                </a:solidFill>
                <a:round/>
                <a:headEnd/>
                <a:tailEnd/>
              </a:ln>
            </p:spPr>
            <p:txBody>
              <a:bodyPr wrap="none" anchor="ctr"/>
              <a:lstStyle/>
              <a:p>
                <a:endParaRPr lang="en-US"/>
              </a:p>
            </p:txBody>
          </p:sp>
        </p:grpSp>
      </p:grpSp>
      <p:grpSp>
        <p:nvGrpSpPr>
          <p:cNvPr id="455715" name="Group 35"/>
          <p:cNvGrpSpPr>
            <a:grpSpLocks/>
          </p:cNvGrpSpPr>
          <p:nvPr/>
        </p:nvGrpSpPr>
        <p:grpSpPr bwMode="auto">
          <a:xfrm>
            <a:off x="5416550" y="2390775"/>
            <a:ext cx="1660525" cy="468313"/>
            <a:chOff x="3282" y="1506"/>
            <a:chExt cx="1176" cy="295"/>
          </a:xfrm>
        </p:grpSpPr>
        <p:sp>
          <p:nvSpPr>
            <p:cNvPr id="34837" name="Freeform 36"/>
            <p:cNvSpPr>
              <a:spLocks/>
            </p:cNvSpPr>
            <p:nvPr/>
          </p:nvSpPr>
          <p:spPr bwMode="auto">
            <a:xfrm>
              <a:off x="3282" y="1506"/>
              <a:ext cx="1176" cy="120"/>
            </a:xfrm>
            <a:custGeom>
              <a:avLst/>
              <a:gdLst>
                <a:gd name="T0" fmla="*/ 0 w 1176"/>
                <a:gd name="T1" fmla="*/ 120 h 120"/>
                <a:gd name="T2" fmla="*/ 210 w 1176"/>
                <a:gd name="T3" fmla="*/ 90 h 120"/>
                <a:gd name="T4" fmla="*/ 636 w 1176"/>
                <a:gd name="T5" fmla="*/ 42 h 120"/>
                <a:gd name="T6" fmla="*/ 1176 w 1176"/>
                <a:gd name="T7" fmla="*/ 0 h 120"/>
                <a:gd name="T8" fmla="*/ 0 60000 65536"/>
                <a:gd name="T9" fmla="*/ 0 60000 65536"/>
                <a:gd name="T10" fmla="*/ 0 60000 65536"/>
                <a:gd name="T11" fmla="*/ 0 60000 65536"/>
                <a:gd name="T12" fmla="*/ 0 w 1176"/>
                <a:gd name="T13" fmla="*/ 0 h 120"/>
                <a:gd name="T14" fmla="*/ 1176 w 1176"/>
                <a:gd name="T15" fmla="*/ 120 h 120"/>
              </a:gdLst>
              <a:ahLst/>
              <a:cxnLst>
                <a:cxn ang="T8">
                  <a:pos x="T0" y="T1"/>
                </a:cxn>
                <a:cxn ang="T9">
                  <a:pos x="T2" y="T3"/>
                </a:cxn>
                <a:cxn ang="T10">
                  <a:pos x="T4" y="T5"/>
                </a:cxn>
                <a:cxn ang="T11">
                  <a:pos x="T6" y="T7"/>
                </a:cxn>
              </a:cxnLst>
              <a:rect l="T12" t="T13" r="T14" b="T15"/>
              <a:pathLst>
                <a:path w="1176" h="120">
                  <a:moveTo>
                    <a:pt x="0" y="120"/>
                  </a:moveTo>
                  <a:cubicBezTo>
                    <a:pt x="52" y="111"/>
                    <a:pt x="104" y="103"/>
                    <a:pt x="210" y="90"/>
                  </a:cubicBezTo>
                  <a:cubicBezTo>
                    <a:pt x="316" y="77"/>
                    <a:pt x="475" y="57"/>
                    <a:pt x="636" y="42"/>
                  </a:cubicBezTo>
                  <a:cubicBezTo>
                    <a:pt x="797" y="27"/>
                    <a:pt x="986" y="13"/>
                    <a:pt x="1176" y="0"/>
                  </a:cubicBezTo>
                </a:path>
              </a:pathLst>
            </a:custGeom>
            <a:noFill/>
            <a:ln w="38100" cmpd="sng">
              <a:solidFill>
                <a:schemeClr val="tx2"/>
              </a:solidFill>
              <a:round/>
              <a:headEnd/>
              <a:tailEnd/>
            </a:ln>
          </p:spPr>
          <p:txBody>
            <a:bodyPr wrap="none" anchor="ctr"/>
            <a:lstStyle/>
            <a:p>
              <a:endParaRPr lang="en-US"/>
            </a:p>
          </p:txBody>
        </p:sp>
        <p:sp>
          <p:nvSpPr>
            <p:cNvPr id="34838" name="Freeform 37"/>
            <p:cNvSpPr>
              <a:spLocks/>
            </p:cNvSpPr>
            <p:nvPr/>
          </p:nvSpPr>
          <p:spPr bwMode="auto">
            <a:xfrm>
              <a:off x="3282" y="1800"/>
              <a:ext cx="1176" cy="1"/>
            </a:xfrm>
            <a:custGeom>
              <a:avLst/>
              <a:gdLst>
                <a:gd name="T0" fmla="*/ 0 w 1176"/>
                <a:gd name="T1" fmla="*/ 0 h 1"/>
                <a:gd name="T2" fmla="*/ 1176 w 1176"/>
                <a:gd name="T3" fmla="*/ 0 h 1"/>
                <a:gd name="T4" fmla="*/ 0 60000 65536"/>
                <a:gd name="T5" fmla="*/ 0 60000 65536"/>
                <a:gd name="T6" fmla="*/ 0 w 1176"/>
                <a:gd name="T7" fmla="*/ 0 h 1"/>
                <a:gd name="T8" fmla="*/ 1176 w 1176"/>
                <a:gd name="T9" fmla="*/ 1 h 1"/>
              </a:gdLst>
              <a:ahLst/>
              <a:cxnLst>
                <a:cxn ang="T4">
                  <a:pos x="T0" y="T1"/>
                </a:cxn>
                <a:cxn ang="T5">
                  <a:pos x="T2" y="T3"/>
                </a:cxn>
              </a:cxnLst>
              <a:rect l="T6" t="T7" r="T8" b="T9"/>
              <a:pathLst>
                <a:path w="1176" h="1">
                  <a:moveTo>
                    <a:pt x="0" y="0"/>
                  </a:moveTo>
                  <a:cubicBezTo>
                    <a:pt x="0" y="0"/>
                    <a:pt x="588" y="0"/>
                    <a:pt x="1176" y="0"/>
                  </a:cubicBezTo>
                </a:path>
              </a:pathLst>
            </a:custGeom>
            <a:noFill/>
            <a:ln w="38100" cmpd="sng">
              <a:solidFill>
                <a:srgbClr val="33CC33"/>
              </a:solidFill>
              <a:round/>
              <a:headEnd/>
              <a:tailEnd/>
            </a:ln>
          </p:spPr>
          <p:txBody>
            <a:bodyPr wrap="none" anchor="ctr"/>
            <a:lstStyle/>
            <a:p>
              <a:endParaRPr lang="en-US"/>
            </a:p>
          </p:txBody>
        </p:sp>
      </p:grpSp>
      <p:grpSp>
        <p:nvGrpSpPr>
          <p:cNvPr id="455718" name="Group 38"/>
          <p:cNvGrpSpPr>
            <a:grpSpLocks/>
          </p:cNvGrpSpPr>
          <p:nvPr/>
        </p:nvGrpSpPr>
        <p:grpSpPr bwMode="auto">
          <a:xfrm>
            <a:off x="1809750" y="2384425"/>
            <a:ext cx="5267325" cy="2228850"/>
            <a:chOff x="725" y="1502"/>
            <a:chExt cx="3733" cy="1404"/>
          </a:xfrm>
        </p:grpSpPr>
        <p:sp>
          <p:nvSpPr>
            <p:cNvPr id="34835" name="Line 39"/>
            <p:cNvSpPr>
              <a:spLocks noChangeShapeType="1"/>
            </p:cNvSpPr>
            <p:nvPr/>
          </p:nvSpPr>
          <p:spPr bwMode="auto">
            <a:xfrm>
              <a:off x="4458" y="1512"/>
              <a:ext cx="0" cy="1394"/>
            </a:xfrm>
            <a:prstGeom prst="line">
              <a:avLst/>
            </a:prstGeom>
            <a:noFill/>
            <a:ln w="19050" cap="rnd">
              <a:solidFill>
                <a:schemeClr val="tx1"/>
              </a:solidFill>
              <a:prstDash val="sysDot"/>
              <a:round/>
              <a:headEnd/>
              <a:tailEnd/>
            </a:ln>
          </p:spPr>
          <p:txBody>
            <a:bodyPr anchor="ctr">
              <a:spAutoFit/>
            </a:bodyPr>
            <a:lstStyle/>
            <a:p>
              <a:endParaRPr lang="en-US"/>
            </a:p>
          </p:txBody>
        </p:sp>
        <p:sp>
          <p:nvSpPr>
            <p:cNvPr id="34836" name="Line 40"/>
            <p:cNvSpPr>
              <a:spLocks noChangeShapeType="1"/>
            </p:cNvSpPr>
            <p:nvPr/>
          </p:nvSpPr>
          <p:spPr bwMode="auto">
            <a:xfrm rot="-5400000">
              <a:off x="2591" y="-364"/>
              <a:ext cx="0" cy="3732"/>
            </a:xfrm>
            <a:prstGeom prst="line">
              <a:avLst/>
            </a:prstGeom>
            <a:noFill/>
            <a:ln w="19050" cap="rnd">
              <a:solidFill>
                <a:schemeClr val="tx1"/>
              </a:solidFill>
              <a:prstDash val="sysDot"/>
              <a:round/>
              <a:headEnd/>
              <a:tailEnd/>
            </a:ln>
          </p:spPr>
          <p:txBody>
            <a:bodyPr anchor="ctr">
              <a:spAutoFit/>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455687"/>
                                        </p:tgtEl>
                                        <p:attrNameLst>
                                          <p:attrName>style.visibility</p:attrName>
                                        </p:attrNameLst>
                                      </p:cBhvr>
                                      <p:to>
                                        <p:strVal val="visible"/>
                                      </p:to>
                                    </p:set>
                                    <p:animEffect transition="in" filter="wipe(left)">
                                      <p:cBhvr>
                                        <p:cTn id="7" dur="500"/>
                                        <p:tgtEl>
                                          <p:spTgt spid="45568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2" fill="hold" nodeType="clickEffect">
                                  <p:stCondLst>
                                    <p:cond delay="0"/>
                                  </p:stCondLst>
                                  <p:childTnLst>
                                    <p:set>
                                      <p:cBhvr>
                                        <p:cTn id="11" dur="1" fill="hold">
                                          <p:stCondLst>
                                            <p:cond delay="0"/>
                                          </p:stCondLst>
                                        </p:cTn>
                                        <p:tgtEl>
                                          <p:spTgt spid="455683"/>
                                        </p:tgtEl>
                                        <p:attrNameLst>
                                          <p:attrName>style.visibility</p:attrName>
                                        </p:attrNameLst>
                                      </p:cBhvr>
                                      <p:to>
                                        <p:strVal val="visible"/>
                                      </p:to>
                                    </p:set>
                                    <p:animEffect transition="in" filter="wipe(right)">
                                      <p:cBhvr>
                                        <p:cTn id="12" dur="500"/>
                                        <p:tgtEl>
                                          <p:spTgt spid="45568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55708"/>
                                        </p:tgtEl>
                                        <p:attrNameLst>
                                          <p:attrName>style.visibility</p:attrName>
                                        </p:attrNameLst>
                                      </p:cBhvr>
                                      <p:to>
                                        <p:strVal val="visible"/>
                                      </p:to>
                                    </p:set>
                                    <p:animEffect transition="in" filter="wipe(left)">
                                      <p:cBhvr>
                                        <p:cTn id="17" dur="500"/>
                                        <p:tgtEl>
                                          <p:spTgt spid="45570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2" fill="hold" nodeType="clickEffect">
                                  <p:stCondLst>
                                    <p:cond delay="0"/>
                                  </p:stCondLst>
                                  <p:childTnLst>
                                    <p:set>
                                      <p:cBhvr>
                                        <p:cTn id="21" dur="1" fill="hold">
                                          <p:stCondLst>
                                            <p:cond delay="0"/>
                                          </p:stCondLst>
                                        </p:cTn>
                                        <p:tgtEl>
                                          <p:spTgt spid="455704"/>
                                        </p:tgtEl>
                                        <p:attrNameLst>
                                          <p:attrName>style.visibility</p:attrName>
                                        </p:attrNameLst>
                                      </p:cBhvr>
                                      <p:to>
                                        <p:strVal val="visible"/>
                                      </p:to>
                                    </p:set>
                                    <p:animEffect transition="in" filter="wipe(right)">
                                      <p:cBhvr>
                                        <p:cTn id="22" dur="500"/>
                                        <p:tgtEl>
                                          <p:spTgt spid="45570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455715"/>
                                        </p:tgtEl>
                                        <p:attrNameLst>
                                          <p:attrName>style.visibility</p:attrName>
                                        </p:attrNameLst>
                                      </p:cBhvr>
                                      <p:to>
                                        <p:strVal val="visible"/>
                                      </p:to>
                                    </p:set>
                                    <p:animEffect transition="in" filter="wipe(left)">
                                      <p:cBhvr>
                                        <p:cTn id="27" dur="500"/>
                                        <p:tgtEl>
                                          <p:spTgt spid="45571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2" fill="hold" nodeType="clickEffect">
                                  <p:stCondLst>
                                    <p:cond delay="0"/>
                                  </p:stCondLst>
                                  <p:childTnLst>
                                    <p:set>
                                      <p:cBhvr>
                                        <p:cTn id="31" dur="1" fill="hold">
                                          <p:stCondLst>
                                            <p:cond delay="0"/>
                                          </p:stCondLst>
                                        </p:cTn>
                                        <p:tgtEl>
                                          <p:spTgt spid="455718"/>
                                        </p:tgtEl>
                                        <p:attrNameLst>
                                          <p:attrName>style.visibility</p:attrName>
                                        </p:attrNameLst>
                                      </p:cBhvr>
                                      <p:to>
                                        <p:strVal val="visible"/>
                                      </p:to>
                                    </p:set>
                                    <p:animEffect transition="in" filter="wipe(right)">
                                      <p:cBhvr>
                                        <p:cTn id="32" dur="500"/>
                                        <p:tgtEl>
                                          <p:spTgt spid="4557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Slide Number Placeholder 4"/>
          <p:cNvSpPr>
            <a:spLocks noGrp="1"/>
          </p:cNvSpPr>
          <p:nvPr>
            <p:ph type="sldNum" sz="quarter" idx="12"/>
          </p:nvPr>
        </p:nvSpPr>
        <p:spPr/>
        <p:txBody>
          <a:bodyPr/>
          <a:lstStyle/>
          <a:p>
            <a:pPr>
              <a:defRPr/>
            </a:pPr>
            <a:r>
              <a:rPr lang="en-US" dirty="0"/>
              <a:t> </a:t>
            </a:r>
            <a:endParaRPr lang="en-US" sz="1800" dirty="0">
              <a:solidFill>
                <a:schemeClr val="tx1"/>
              </a:solidFill>
            </a:endParaRPr>
          </a:p>
        </p:txBody>
      </p:sp>
      <p:sp>
        <p:nvSpPr>
          <p:cNvPr id="36866" name="Rectangle 2"/>
          <p:cNvSpPr>
            <a:spLocks noGrp="1" noChangeArrowheads="1"/>
          </p:cNvSpPr>
          <p:nvPr>
            <p:ph type="title"/>
          </p:nvPr>
        </p:nvSpPr>
        <p:spPr>
          <a:xfrm>
            <a:off x="727075" y="115888"/>
            <a:ext cx="7772400" cy="1066800"/>
          </a:xfrm>
        </p:spPr>
        <p:txBody>
          <a:bodyPr/>
          <a:lstStyle/>
          <a:p>
            <a:pPr eaLnBrk="1" hangingPunct="1"/>
            <a:r>
              <a:rPr lang="en-US" sz="3200" b="1" smtClean="0"/>
              <a:t>DIGESTIBILITY DECREASES AT HIGHER LEVELS OF INTAKE (AND MILK PRODUCTION)</a:t>
            </a:r>
          </a:p>
        </p:txBody>
      </p:sp>
      <p:grpSp>
        <p:nvGrpSpPr>
          <p:cNvPr id="36867" name="Group 3"/>
          <p:cNvGrpSpPr>
            <a:grpSpLocks/>
          </p:cNvGrpSpPr>
          <p:nvPr/>
        </p:nvGrpSpPr>
        <p:grpSpPr bwMode="auto">
          <a:xfrm>
            <a:off x="134938" y="1454150"/>
            <a:ext cx="8882062" cy="4743450"/>
            <a:chOff x="96" y="916"/>
            <a:chExt cx="6294" cy="2988"/>
          </a:xfrm>
        </p:grpSpPr>
        <p:sp>
          <p:nvSpPr>
            <p:cNvPr id="36901" name="Text Box 4"/>
            <p:cNvSpPr txBox="1">
              <a:spLocks noChangeArrowheads="1"/>
            </p:cNvSpPr>
            <p:nvPr/>
          </p:nvSpPr>
          <p:spPr bwMode="auto">
            <a:xfrm>
              <a:off x="5016" y="918"/>
              <a:ext cx="978" cy="250"/>
            </a:xfrm>
            <a:prstGeom prst="rect">
              <a:avLst/>
            </a:prstGeom>
            <a:noFill/>
            <a:ln w="9525">
              <a:noFill/>
              <a:miter lim="800000"/>
              <a:headEnd/>
              <a:tailEnd/>
            </a:ln>
          </p:spPr>
          <p:txBody>
            <a:bodyPr wrap="none" anchor="ctr">
              <a:spAutoFit/>
            </a:bodyPr>
            <a:lstStyle/>
            <a:p>
              <a:pPr algn="ctr"/>
              <a:r>
                <a:rPr lang="en-US" sz="2000" b="1">
                  <a:latin typeface="Calibri" pitchFamily="34" charset="0"/>
                </a:rPr>
                <a:t>Digested,%</a:t>
              </a:r>
            </a:p>
          </p:txBody>
        </p:sp>
        <p:sp>
          <p:nvSpPr>
            <p:cNvPr id="36902" name="Text Box 5"/>
            <p:cNvSpPr txBox="1">
              <a:spLocks noChangeArrowheads="1"/>
            </p:cNvSpPr>
            <p:nvPr/>
          </p:nvSpPr>
          <p:spPr bwMode="auto">
            <a:xfrm>
              <a:off x="5346" y="1174"/>
              <a:ext cx="329" cy="250"/>
            </a:xfrm>
            <a:prstGeom prst="rect">
              <a:avLst/>
            </a:prstGeom>
            <a:noFill/>
            <a:ln w="9525">
              <a:noFill/>
              <a:miter lim="800000"/>
              <a:headEnd/>
              <a:tailEnd/>
            </a:ln>
          </p:spPr>
          <p:txBody>
            <a:bodyPr wrap="none" anchor="ctr">
              <a:spAutoFit/>
            </a:bodyPr>
            <a:lstStyle/>
            <a:p>
              <a:pPr algn="ctr"/>
              <a:r>
                <a:rPr lang="en-US" sz="2000" b="1">
                  <a:latin typeface="Calibri" pitchFamily="34" charset="0"/>
                </a:rPr>
                <a:t>Kd</a:t>
              </a:r>
            </a:p>
          </p:txBody>
        </p:sp>
        <p:sp>
          <p:nvSpPr>
            <p:cNvPr id="36903" name="Line 6"/>
            <p:cNvSpPr>
              <a:spLocks noChangeShapeType="1"/>
            </p:cNvSpPr>
            <p:nvPr/>
          </p:nvSpPr>
          <p:spPr bwMode="auto">
            <a:xfrm>
              <a:off x="5152" y="1424"/>
              <a:ext cx="663" cy="0"/>
            </a:xfrm>
            <a:prstGeom prst="line">
              <a:avLst/>
            </a:prstGeom>
            <a:noFill/>
            <a:ln w="28575">
              <a:solidFill>
                <a:schemeClr val="tx1"/>
              </a:solidFill>
              <a:round/>
              <a:headEnd/>
              <a:tailEnd/>
            </a:ln>
          </p:spPr>
          <p:txBody>
            <a:bodyPr wrap="none" anchor="ctr"/>
            <a:lstStyle/>
            <a:p>
              <a:endParaRPr lang="en-US"/>
            </a:p>
          </p:txBody>
        </p:sp>
        <p:sp>
          <p:nvSpPr>
            <p:cNvPr id="36904" name="Text Box 7"/>
            <p:cNvSpPr txBox="1">
              <a:spLocks noChangeArrowheads="1"/>
            </p:cNvSpPr>
            <p:nvPr/>
          </p:nvSpPr>
          <p:spPr bwMode="auto">
            <a:xfrm>
              <a:off x="5168" y="1437"/>
              <a:ext cx="694" cy="252"/>
            </a:xfrm>
            <a:prstGeom prst="rect">
              <a:avLst/>
            </a:prstGeom>
            <a:noFill/>
            <a:ln w="9525">
              <a:noFill/>
              <a:miter lim="800000"/>
              <a:headEnd/>
              <a:tailEnd/>
            </a:ln>
          </p:spPr>
          <p:txBody>
            <a:bodyPr wrap="none" anchor="ctr">
              <a:spAutoFit/>
            </a:bodyPr>
            <a:lstStyle/>
            <a:p>
              <a:pPr algn="ctr"/>
              <a:r>
                <a:rPr lang="en-US" sz="2000" b="1">
                  <a:latin typeface="Calibri" pitchFamily="34" charset="0"/>
                </a:rPr>
                <a:t>Kd + Kp</a:t>
              </a:r>
            </a:p>
          </p:txBody>
        </p:sp>
        <p:sp>
          <p:nvSpPr>
            <p:cNvPr id="36905" name="AutoShape 8"/>
            <p:cNvSpPr>
              <a:spLocks/>
            </p:cNvSpPr>
            <p:nvPr/>
          </p:nvSpPr>
          <p:spPr bwMode="auto">
            <a:xfrm>
              <a:off x="5064" y="1174"/>
              <a:ext cx="136" cy="500"/>
            </a:xfrm>
            <a:prstGeom prst="leftBrace">
              <a:avLst>
                <a:gd name="adj1" fmla="val 30637"/>
                <a:gd name="adj2" fmla="val 50000"/>
              </a:avLst>
            </a:prstGeom>
            <a:noFill/>
            <a:ln w="9525">
              <a:solidFill>
                <a:schemeClr val="tx1"/>
              </a:solidFill>
              <a:round/>
              <a:headEnd/>
              <a:tailEnd/>
            </a:ln>
          </p:spPr>
          <p:txBody>
            <a:bodyPr wrap="none" anchor="ctr"/>
            <a:lstStyle/>
            <a:p>
              <a:endParaRPr lang="en-NZ">
                <a:latin typeface="Calibri" pitchFamily="34" charset="0"/>
              </a:endParaRPr>
            </a:p>
          </p:txBody>
        </p:sp>
        <p:sp>
          <p:nvSpPr>
            <p:cNvPr id="36906" name="AutoShape 9"/>
            <p:cNvSpPr>
              <a:spLocks/>
            </p:cNvSpPr>
            <p:nvPr/>
          </p:nvSpPr>
          <p:spPr bwMode="auto">
            <a:xfrm flipH="1">
              <a:off x="5767" y="1160"/>
              <a:ext cx="136" cy="500"/>
            </a:xfrm>
            <a:prstGeom prst="leftBrace">
              <a:avLst>
                <a:gd name="adj1" fmla="val 30637"/>
                <a:gd name="adj2" fmla="val 50000"/>
              </a:avLst>
            </a:prstGeom>
            <a:noFill/>
            <a:ln w="9525">
              <a:solidFill>
                <a:schemeClr val="tx1"/>
              </a:solidFill>
              <a:round/>
              <a:headEnd/>
              <a:tailEnd/>
            </a:ln>
          </p:spPr>
          <p:txBody>
            <a:bodyPr wrap="none" anchor="ctr"/>
            <a:lstStyle/>
            <a:p>
              <a:endParaRPr lang="en-NZ">
                <a:latin typeface="Calibri" pitchFamily="34" charset="0"/>
              </a:endParaRPr>
            </a:p>
          </p:txBody>
        </p:sp>
        <p:sp>
          <p:nvSpPr>
            <p:cNvPr id="36907" name="Text Box 10"/>
            <p:cNvSpPr txBox="1">
              <a:spLocks noChangeArrowheads="1"/>
            </p:cNvSpPr>
            <p:nvPr/>
          </p:nvSpPr>
          <p:spPr bwMode="auto">
            <a:xfrm>
              <a:off x="5888" y="1269"/>
              <a:ext cx="502" cy="233"/>
            </a:xfrm>
            <a:prstGeom prst="rect">
              <a:avLst/>
            </a:prstGeom>
            <a:noFill/>
            <a:ln w="9525">
              <a:noFill/>
              <a:miter lim="800000"/>
              <a:headEnd/>
              <a:tailEnd/>
            </a:ln>
          </p:spPr>
          <p:txBody>
            <a:bodyPr wrap="none">
              <a:spAutoFit/>
            </a:bodyPr>
            <a:lstStyle/>
            <a:p>
              <a:r>
                <a:rPr lang="en-US">
                  <a:latin typeface="Calibri" pitchFamily="34" charset="0"/>
                </a:rPr>
                <a:t>X 100</a:t>
              </a:r>
            </a:p>
          </p:txBody>
        </p:sp>
        <p:sp>
          <p:nvSpPr>
            <p:cNvPr id="36908" name="Line 11"/>
            <p:cNvSpPr>
              <a:spLocks noChangeShapeType="1"/>
            </p:cNvSpPr>
            <p:nvPr/>
          </p:nvSpPr>
          <p:spPr bwMode="auto">
            <a:xfrm flipH="1">
              <a:off x="180" y="931"/>
              <a:ext cx="6156" cy="0"/>
            </a:xfrm>
            <a:prstGeom prst="line">
              <a:avLst/>
            </a:prstGeom>
            <a:noFill/>
            <a:ln w="9525">
              <a:solidFill>
                <a:schemeClr val="tx1"/>
              </a:solidFill>
              <a:round/>
              <a:headEnd/>
              <a:tailEnd/>
            </a:ln>
          </p:spPr>
          <p:txBody>
            <a:bodyPr wrap="none" anchor="ctr"/>
            <a:lstStyle/>
            <a:p>
              <a:endParaRPr lang="en-US"/>
            </a:p>
          </p:txBody>
        </p:sp>
        <p:sp>
          <p:nvSpPr>
            <p:cNvPr id="36909" name="Line 12"/>
            <p:cNvSpPr>
              <a:spLocks noChangeShapeType="1"/>
            </p:cNvSpPr>
            <p:nvPr/>
          </p:nvSpPr>
          <p:spPr bwMode="auto">
            <a:xfrm flipH="1">
              <a:off x="96" y="3664"/>
              <a:ext cx="6156" cy="0"/>
            </a:xfrm>
            <a:prstGeom prst="line">
              <a:avLst/>
            </a:prstGeom>
            <a:noFill/>
            <a:ln w="9525">
              <a:solidFill>
                <a:schemeClr val="tx1"/>
              </a:solidFill>
              <a:round/>
              <a:headEnd/>
              <a:tailEnd/>
            </a:ln>
          </p:spPr>
          <p:txBody>
            <a:bodyPr wrap="none" anchor="ctr"/>
            <a:lstStyle/>
            <a:p>
              <a:endParaRPr lang="en-US"/>
            </a:p>
          </p:txBody>
        </p:sp>
        <p:sp>
          <p:nvSpPr>
            <p:cNvPr id="36910" name="Line 13"/>
            <p:cNvSpPr>
              <a:spLocks noChangeShapeType="1"/>
            </p:cNvSpPr>
            <p:nvPr/>
          </p:nvSpPr>
          <p:spPr bwMode="auto">
            <a:xfrm flipH="1">
              <a:off x="180" y="1680"/>
              <a:ext cx="6156" cy="0"/>
            </a:xfrm>
            <a:prstGeom prst="line">
              <a:avLst/>
            </a:prstGeom>
            <a:noFill/>
            <a:ln w="9525">
              <a:solidFill>
                <a:schemeClr val="tx1"/>
              </a:solidFill>
              <a:round/>
              <a:headEnd/>
              <a:tailEnd/>
            </a:ln>
          </p:spPr>
          <p:txBody>
            <a:bodyPr wrap="none" anchor="ctr"/>
            <a:lstStyle/>
            <a:p>
              <a:endParaRPr lang="en-US"/>
            </a:p>
          </p:txBody>
        </p:sp>
        <p:sp>
          <p:nvSpPr>
            <p:cNvPr id="36911" name="Text Box 14"/>
            <p:cNvSpPr txBox="1">
              <a:spLocks noChangeArrowheads="1"/>
            </p:cNvSpPr>
            <p:nvPr/>
          </p:nvSpPr>
          <p:spPr bwMode="auto">
            <a:xfrm>
              <a:off x="180" y="1342"/>
              <a:ext cx="784" cy="202"/>
            </a:xfrm>
            <a:prstGeom prst="rect">
              <a:avLst/>
            </a:prstGeom>
            <a:noFill/>
            <a:ln w="9525">
              <a:noFill/>
              <a:miter lim="800000"/>
              <a:headEnd/>
              <a:tailEnd/>
            </a:ln>
          </p:spPr>
          <p:txBody>
            <a:bodyPr>
              <a:spAutoFit/>
            </a:bodyPr>
            <a:lstStyle/>
            <a:p>
              <a:pPr>
                <a:lnSpc>
                  <a:spcPct val="75000"/>
                </a:lnSpc>
              </a:pPr>
              <a:r>
                <a:rPr lang="en-US" sz="2000" b="1">
                  <a:latin typeface="Calibri" pitchFamily="34" charset="0"/>
                </a:rPr>
                <a:t>Item</a:t>
              </a:r>
            </a:p>
          </p:txBody>
        </p:sp>
        <p:sp>
          <p:nvSpPr>
            <p:cNvPr id="36912" name="Text Box 15"/>
            <p:cNvSpPr txBox="1">
              <a:spLocks noChangeArrowheads="1"/>
            </p:cNvSpPr>
            <p:nvPr/>
          </p:nvSpPr>
          <p:spPr bwMode="auto">
            <a:xfrm>
              <a:off x="1451" y="1437"/>
              <a:ext cx="542" cy="252"/>
            </a:xfrm>
            <a:prstGeom prst="rect">
              <a:avLst/>
            </a:prstGeom>
            <a:noFill/>
            <a:ln w="9525">
              <a:noFill/>
              <a:miter lim="800000"/>
              <a:headEnd/>
              <a:tailEnd/>
            </a:ln>
          </p:spPr>
          <p:txBody>
            <a:bodyPr wrap="none" anchor="ctr">
              <a:spAutoFit/>
            </a:bodyPr>
            <a:lstStyle/>
            <a:p>
              <a:pPr algn="ctr"/>
              <a:r>
                <a:rPr lang="en-US" sz="2000" b="1">
                  <a:latin typeface="Calibri" pitchFamily="34" charset="0"/>
                </a:rPr>
                <a:t>Kd /h</a:t>
              </a:r>
            </a:p>
          </p:txBody>
        </p:sp>
        <p:sp>
          <p:nvSpPr>
            <p:cNvPr id="36913" name="Text Box 16"/>
            <p:cNvSpPr txBox="1">
              <a:spLocks noChangeArrowheads="1"/>
            </p:cNvSpPr>
            <p:nvPr/>
          </p:nvSpPr>
          <p:spPr bwMode="auto">
            <a:xfrm>
              <a:off x="1300" y="918"/>
              <a:ext cx="845" cy="442"/>
            </a:xfrm>
            <a:prstGeom prst="rect">
              <a:avLst/>
            </a:prstGeom>
            <a:noFill/>
            <a:ln w="9525">
              <a:noFill/>
              <a:miter lim="800000"/>
              <a:headEnd/>
              <a:tailEnd/>
            </a:ln>
          </p:spPr>
          <p:txBody>
            <a:bodyPr wrap="none" anchor="ctr">
              <a:spAutoFit/>
            </a:bodyPr>
            <a:lstStyle/>
            <a:p>
              <a:pPr algn="ctr"/>
              <a:r>
                <a:rPr lang="en-US" sz="2000" b="1">
                  <a:latin typeface="Calibri" pitchFamily="34" charset="0"/>
                </a:rPr>
                <a:t>Rate of</a:t>
              </a:r>
              <a:br>
                <a:rPr lang="en-US" sz="2000" b="1">
                  <a:latin typeface="Calibri" pitchFamily="34" charset="0"/>
                </a:rPr>
              </a:br>
              <a:r>
                <a:rPr lang="en-US" sz="2000" b="1">
                  <a:latin typeface="Calibri" pitchFamily="34" charset="0"/>
                </a:rPr>
                <a:t>Digestion</a:t>
              </a:r>
            </a:p>
          </p:txBody>
        </p:sp>
        <p:sp>
          <p:nvSpPr>
            <p:cNvPr id="36914" name="Text Box 17"/>
            <p:cNvSpPr txBox="1">
              <a:spLocks noChangeArrowheads="1"/>
            </p:cNvSpPr>
            <p:nvPr/>
          </p:nvSpPr>
          <p:spPr bwMode="auto">
            <a:xfrm>
              <a:off x="4115" y="1437"/>
              <a:ext cx="544" cy="252"/>
            </a:xfrm>
            <a:prstGeom prst="rect">
              <a:avLst/>
            </a:prstGeom>
            <a:noFill/>
            <a:ln w="9525">
              <a:noFill/>
              <a:miter lim="800000"/>
              <a:headEnd/>
              <a:tailEnd/>
            </a:ln>
          </p:spPr>
          <p:txBody>
            <a:bodyPr wrap="none" anchor="ctr">
              <a:spAutoFit/>
            </a:bodyPr>
            <a:lstStyle/>
            <a:p>
              <a:pPr algn="ctr"/>
              <a:r>
                <a:rPr lang="en-US" sz="2000" b="1">
                  <a:latin typeface="Calibri" pitchFamily="34" charset="0"/>
                </a:rPr>
                <a:t>Kp /h</a:t>
              </a:r>
            </a:p>
          </p:txBody>
        </p:sp>
        <p:sp>
          <p:nvSpPr>
            <p:cNvPr id="36915" name="Text Box 18"/>
            <p:cNvSpPr txBox="1">
              <a:spLocks noChangeArrowheads="1"/>
            </p:cNvSpPr>
            <p:nvPr/>
          </p:nvSpPr>
          <p:spPr bwMode="auto">
            <a:xfrm>
              <a:off x="3980" y="916"/>
              <a:ext cx="814" cy="446"/>
            </a:xfrm>
            <a:prstGeom prst="rect">
              <a:avLst/>
            </a:prstGeom>
            <a:noFill/>
            <a:ln w="9525">
              <a:noFill/>
              <a:miter lim="800000"/>
              <a:headEnd/>
              <a:tailEnd/>
            </a:ln>
          </p:spPr>
          <p:txBody>
            <a:bodyPr wrap="none" anchor="ctr">
              <a:spAutoFit/>
            </a:bodyPr>
            <a:lstStyle/>
            <a:p>
              <a:pPr algn="ctr"/>
              <a:r>
                <a:rPr lang="en-US" sz="2000" b="1">
                  <a:latin typeface="Calibri" pitchFamily="34" charset="0"/>
                </a:rPr>
                <a:t>Rate of</a:t>
              </a:r>
              <a:br>
                <a:rPr lang="en-US" sz="2000" b="1">
                  <a:latin typeface="Calibri" pitchFamily="34" charset="0"/>
                </a:rPr>
              </a:br>
              <a:r>
                <a:rPr lang="en-US" sz="2000" b="1">
                  <a:latin typeface="Calibri" pitchFamily="34" charset="0"/>
                </a:rPr>
                <a:t>Passage</a:t>
              </a:r>
              <a:r>
                <a:rPr lang="en-US" sz="2000" b="1" baseline="30000">
                  <a:latin typeface="Calibri" pitchFamily="34" charset="0"/>
                </a:rPr>
                <a:t>2 </a:t>
              </a:r>
            </a:p>
          </p:txBody>
        </p:sp>
        <p:sp>
          <p:nvSpPr>
            <p:cNvPr id="36916" name="Text Box 19"/>
            <p:cNvSpPr txBox="1">
              <a:spLocks noChangeArrowheads="1"/>
            </p:cNvSpPr>
            <p:nvPr/>
          </p:nvSpPr>
          <p:spPr bwMode="auto">
            <a:xfrm>
              <a:off x="2124" y="1196"/>
              <a:ext cx="1114" cy="446"/>
            </a:xfrm>
            <a:prstGeom prst="rect">
              <a:avLst/>
            </a:prstGeom>
            <a:noFill/>
            <a:ln w="9525">
              <a:noFill/>
              <a:miter lim="800000"/>
              <a:headEnd/>
              <a:tailEnd/>
            </a:ln>
          </p:spPr>
          <p:txBody>
            <a:bodyPr wrap="none" anchor="ctr">
              <a:spAutoFit/>
            </a:bodyPr>
            <a:lstStyle/>
            <a:p>
              <a:pPr algn="ctr"/>
              <a:r>
                <a:rPr lang="en-US" sz="2000" b="1">
                  <a:latin typeface="Calibri" pitchFamily="34" charset="0"/>
                </a:rPr>
                <a:t>Relative to</a:t>
              </a:r>
            </a:p>
            <a:p>
              <a:pPr algn="ctr"/>
              <a:r>
                <a:rPr lang="en-US" sz="2000" b="1">
                  <a:latin typeface="Calibri" pitchFamily="34" charset="0"/>
                </a:rPr>
                <a:t>maintenance</a:t>
              </a:r>
            </a:p>
          </p:txBody>
        </p:sp>
        <p:sp>
          <p:nvSpPr>
            <p:cNvPr id="36917" name="Text Box 20"/>
            <p:cNvSpPr txBox="1">
              <a:spLocks noChangeArrowheads="1"/>
            </p:cNvSpPr>
            <p:nvPr/>
          </p:nvSpPr>
          <p:spPr bwMode="auto">
            <a:xfrm>
              <a:off x="2174" y="918"/>
              <a:ext cx="1682" cy="250"/>
            </a:xfrm>
            <a:prstGeom prst="rect">
              <a:avLst/>
            </a:prstGeom>
            <a:noFill/>
            <a:ln w="9525">
              <a:noFill/>
              <a:miter lim="800000"/>
              <a:headEnd/>
              <a:tailEnd/>
            </a:ln>
          </p:spPr>
          <p:txBody>
            <a:bodyPr anchor="ctr">
              <a:spAutoFit/>
            </a:bodyPr>
            <a:lstStyle/>
            <a:p>
              <a:pPr algn="ctr"/>
              <a:r>
                <a:rPr lang="en-US" sz="2000" b="1">
                  <a:latin typeface="Calibri" pitchFamily="34" charset="0"/>
                </a:rPr>
                <a:t>Dry Matter Intake</a:t>
              </a:r>
              <a:r>
                <a:rPr lang="en-US" sz="2000" b="1" baseline="30000">
                  <a:latin typeface="Calibri" pitchFamily="34" charset="0"/>
                </a:rPr>
                <a:t>2 </a:t>
              </a:r>
            </a:p>
          </p:txBody>
        </p:sp>
        <p:sp>
          <p:nvSpPr>
            <p:cNvPr id="36918" name="Text Box 21"/>
            <p:cNvSpPr txBox="1">
              <a:spLocks noChangeArrowheads="1"/>
            </p:cNvSpPr>
            <p:nvPr/>
          </p:nvSpPr>
          <p:spPr bwMode="auto">
            <a:xfrm>
              <a:off x="140" y="3673"/>
              <a:ext cx="6112" cy="231"/>
            </a:xfrm>
            <a:prstGeom prst="rect">
              <a:avLst/>
            </a:prstGeom>
            <a:noFill/>
            <a:ln w="9525">
              <a:noFill/>
              <a:miter lim="800000"/>
              <a:headEnd/>
              <a:tailEnd/>
            </a:ln>
          </p:spPr>
          <p:txBody>
            <a:bodyPr anchor="ctr">
              <a:spAutoFit/>
            </a:bodyPr>
            <a:lstStyle/>
            <a:p>
              <a:r>
                <a:rPr lang="en-US" b="1" baseline="30000">
                  <a:latin typeface="Calibri" pitchFamily="34" charset="0"/>
                </a:rPr>
                <a:t>2 </a:t>
              </a:r>
              <a:r>
                <a:rPr lang="en-US" b="1">
                  <a:latin typeface="Calibri" pitchFamily="34" charset="0"/>
                </a:rPr>
                <a:t>Assuming a cow of about 1450 lbs producing </a:t>
              </a:r>
              <a:r>
                <a:rPr lang="en-US" b="1">
                  <a:latin typeface="Calibri" pitchFamily="34" charset="0"/>
                  <a:sym typeface="Symbol" pitchFamily="18" charset="2"/>
                </a:rPr>
                <a:t></a:t>
              </a:r>
              <a:r>
                <a:rPr lang="en-US" b="1">
                  <a:latin typeface="Calibri" pitchFamily="34" charset="0"/>
                </a:rPr>
                <a:t> 0, 50 and 100 lbs milk, respectively.</a:t>
              </a:r>
            </a:p>
          </p:txBody>
        </p:sp>
        <p:sp>
          <p:nvSpPr>
            <p:cNvPr id="36919" name="Text Box 22"/>
            <p:cNvSpPr txBox="1">
              <a:spLocks noChangeArrowheads="1"/>
            </p:cNvSpPr>
            <p:nvPr/>
          </p:nvSpPr>
          <p:spPr bwMode="auto">
            <a:xfrm>
              <a:off x="3223" y="1293"/>
              <a:ext cx="554" cy="252"/>
            </a:xfrm>
            <a:prstGeom prst="rect">
              <a:avLst/>
            </a:prstGeom>
            <a:noFill/>
            <a:ln w="9525">
              <a:noFill/>
              <a:miter lim="800000"/>
              <a:headEnd/>
              <a:tailEnd/>
            </a:ln>
          </p:spPr>
          <p:txBody>
            <a:bodyPr wrap="none" anchor="ctr">
              <a:spAutoFit/>
            </a:bodyPr>
            <a:lstStyle/>
            <a:p>
              <a:pPr algn="ctr"/>
              <a:r>
                <a:rPr lang="en-US" sz="2000" b="1">
                  <a:latin typeface="Calibri" pitchFamily="34" charset="0"/>
                </a:rPr>
                <a:t>Lbs/d</a:t>
              </a:r>
            </a:p>
          </p:txBody>
        </p:sp>
      </p:grpSp>
      <p:grpSp>
        <p:nvGrpSpPr>
          <p:cNvPr id="458775" name="Group 23"/>
          <p:cNvGrpSpPr>
            <a:grpSpLocks/>
          </p:cNvGrpSpPr>
          <p:nvPr/>
        </p:nvGrpSpPr>
        <p:grpSpPr bwMode="auto">
          <a:xfrm>
            <a:off x="134938" y="2774950"/>
            <a:ext cx="7897812" cy="1477963"/>
            <a:chOff x="96" y="1748"/>
            <a:chExt cx="5596" cy="931"/>
          </a:xfrm>
        </p:grpSpPr>
        <p:sp>
          <p:nvSpPr>
            <p:cNvPr id="36886" name="Text Box 24"/>
            <p:cNvSpPr txBox="1">
              <a:spLocks noChangeArrowheads="1"/>
            </p:cNvSpPr>
            <p:nvPr/>
          </p:nvSpPr>
          <p:spPr bwMode="auto">
            <a:xfrm>
              <a:off x="5395" y="2028"/>
              <a:ext cx="297" cy="189"/>
            </a:xfrm>
            <a:prstGeom prst="rect">
              <a:avLst/>
            </a:prstGeom>
            <a:noFill/>
            <a:ln w="9525">
              <a:noFill/>
              <a:miter lim="800000"/>
              <a:headEnd/>
              <a:tailEnd/>
            </a:ln>
          </p:spPr>
          <p:txBody>
            <a:bodyPr wrap="none">
              <a:spAutoFit/>
            </a:bodyPr>
            <a:lstStyle/>
            <a:p>
              <a:pPr algn="ctr">
                <a:lnSpc>
                  <a:spcPct val="75000"/>
                </a:lnSpc>
              </a:pPr>
              <a:r>
                <a:rPr lang="en-US" b="1">
                  <a:latin typeface="Calibri" pitchFamily="34" charset="0"/>
                </a:rPr>
                <a:t>83</a:t>
              </a:r>
            </a:p>
          </p:txBody>
        </p:sp>
        <p:sp>
          <p:nvSpPr>
            <p:cNvPr id="36887" name="Text Box 25"/>
            <p:cNvSpPr txBox="1">
              <a:spLocks noChangeArrowheads="1"/>
            </p:cNvSpPr>
            <p:nvPr/>
          </p:nvSpPr>
          <p:spPr bwMode="auto">
            <a:xfrm>
              <a:off x="5395" y="2259"/>
              <a:ext cx="297" cy="189"/>
            </a:xfrm>
            <a:prstGeom prst="rect">
              <a:avLst/>
            </a:prstGeom>
            <a:noFill/>
            <a:ln w="9525">
              <a:noFill/>
              <a:miter lim="800000"/>
              <a:headEnd/>
              <a:tailEnd/>
            </a:ln>
          </p:spPr>
          <p:txBody>
            <a:bodyPr wrap="none">
              <a:spAutoFit/>
            </a:bodyPr>
            <a:lstStyle/>
            <a:p>
              <a:pPr algn="ctr">
                <a:lnSpc>
                  <a:spcPct val="75000"/>
                </a:lnSpc>
              </a:pPr>
              <a:r>
                <a:rPr lang="en-US" b="1">
                  <a:latin typeface="Calibri" pitchFamily="34" charset="0"/>
                </a:rPr>
                <a:t>71</a:t>
              </a:r>
            </a:p>
          </p:txBody>
        </p:sp>
        <p:sp>
          <p:nvSpPr>
            <p:cNvPr id="36888" name="Text Box 26"/>
            <p:cNvSpPr txBox="1">
              <a:spLocks noChangeArrowheads="1"/>
            </p:cNvSpPr>
            <p:nvPr/>
          </p:nvSpPr>
          <p:spPr bwMode="auto">
            <a:xfrm>
              <a:off x="96" y="2028"/>
              <a:ext cx="1355" cy="189"/>
            </a:xfrm>
            <a:prstGeom prst="rect">
              <a:avLst/>
            </a:prstGeom>
            <a:noFill/>
            <a:ln w="9525">
              <a:noFill/>
              <a:miter lim="800000"/>
              <a:headEnd/>
              <a:tailEnd/>
            </a:ln>
          </p:spPr>
          <p:txBody>
            <a:bodyPr>
              <a:spAutoFit/>
            </a:bodyPr>
            <a:lstStyle/>
            <a:p>
              <a:pPr>
                <a:lnSpc>
                  <a:spcPct val="75000"/>
                </a:lnSpc>
              </a:pPr>
              <a:r>
                <a:rPr lang="en-US" b="1">
                  <a:latin typeface="Calibri" pitchFamily="34" charset="0"/>
                </a:rPr>
                <a:t>Alfalfa hay</a:t>
              </a:r>
            </a:p>
          </p:txBody>
        </p:sp>
        <p:sp>
          <p:nvSpPr>
            <p:cNvPr id="36889" name="Text Box 27"/>
            <p:cNvSpPr txBox="1">
              <a:spLocks noChangeArrowheads="1"/>
            </p:cNvSpPr>
            <p:nvPr/>
          </p:nvSpPr>
          <p:spPr bwMode="auto">
            <a:xfrm>
              <a:off x="559" y="1748"/>
              <a:ext cx="2772" cy="233"/>
            </a:xfrm>
            <a:prstGeom prst="rect">
              <a:avLst/>
            </a:prstGeom>
            <a:noFill/>
            <a:ln w="9525">
              <a:noFill/>
              <a:miter lim="800000"/>
              <a:headEnd/>
              <a:tailEnd/>
            </a:ln>
          </p:spPr>
          <p:txBody>
            <a:bodyPr wrap="none">
              <a:spAutoFit/>
            </a:bodyPr>
            <a:lstStyle/>
            <a:p>
              <a:pPr algn="ctr"/>
              <a:r>
                <a:rPr lang="en-US" b="1">
                  <a:solidFill>
                    <a:schemeClr val="tx2"/>
                  </a:solidFill>
                  <a:latin typeface="Calibri" pitchFamily="34" charset="0"/>
                </a:rPr>
                <a:t>Fiber (slowly “digestible” feed fraction)</a:t>
              </a:r>
            </a:p>
          </p:txBody>
        </p:sp>
        <p:sp>
          <p:nvSpPr>
            <p:cNvPr id="36890" name="Text Box 28"/>
            <p:cNvSpPr txBox="1">
              <a:spLocks noChangeArrowheads="1"/>
            </p:cNvSpPr>
            <p:nvPr/>
          </p:nvSpPr>
          <p:spPr bwMode="auto">
            <a:xfrm>
              <a:off x="1451" y="2028"/>
              <a:ext cx="543" cy="189"/>
            </a:xfrm>
            <a:prstGeom prst="rect">
              <a:avLst/>
            </a:prstGeom>
            <a:noFill/>
            <a:ln w="9525">
              <a:noFill/>
              <a:miter lim="800000"/>
              <a:headEnd/>
              <a:tailEnd/>
            </a:ln>
          </p:spPr>
          <p:txBody>
            <a:bodyPr>
              <a:spAutoFit/>
            </a:bodyPr>
            <a:lstStyle/>
            <a:p>
              <a:pPr algn="ctr">
                <a:lnSpc>
                  <a:spcPct val="75000"/>
                </a:lnSpc>
              </a:pPr>
              <a:r>
                <a:rPr lang="en-US" b="1">
                  <a:latin typeface="Calibri" pitchFamily="34" charset="0"/>
                </a:rPr>
                <a:t>0.10 </a:t>
              </a:r>
            </a:p>
          </p:txBody>
        </p:sp>
        <p:sp>
          <p:nvSpPr>
            <p:cNvPr id="36891" name="Text Box 29"/>
            <p:cNvSpPr txBox="1">
              <a:spLocks noChangeArrowheads="1"/>
            </p:cNvSpPr>
            <p:nvPr/>
          </p:nvSpPr>
          <p:spPr bwMode="auto">
            <a:xfrm>
              <a:off x="4046" y="2028"/>
              <a:ext cx="683" cy="189"/>
            </a:xfrm>
            <a:prstGeom prst="rect">
              <a:avLst/>
            </a:prstGeom>
            <a:noFill/>
            <a:ln w="9525">
              <a:noFill/>
              <a:miter lim="800000"/>
              <a:headEnd/>
              <a:tailEnd/>
            </a:ln>
          </p:spPr>
          <p:txBody>
            <a:bodyPr>
              <a:spAutoFit/>
            </a:bodyPr>
            <a:lstStyle/>
            <a:p>
              <a:pPr algn="ctr">
                <a:lnSpc>
                  <a:spcPct val="75000"/>
                </a:lnSpc>
              </a:pPr>
              <a:r>
                <a:rPr lang="en-US" b="1">
                  <a:latin typeface="Calibri" pitchFamily="34" charset="0"/>
                </a:rPr>
                <a:t>0.02 </a:t>
              </a:r>
            </a:p>
          </p:txBody>
        </p:sp>
        <p:sp>
          <p:nvSpPr>
            <p:cNvPr id="36892" name="Text Box 30"/>
            <p:cNvSpPr txBox="1">
              <a:spLocks noChangeArrowheads="1"/>
            </p:cNvSpPr>
            <p:nvPr/>
          </p:nvSpPr>
          <p:spPr bwMode="auto">
            <a:xfrm>
              <a:off x="2529" y="2028"/>
              <a:ext cx="251" cy="189"/>
            </a:xfrm>
            <a:prstGeom prst="rect">
              <a:avLst/>
            </a:prstGeom>
            <a:noFill/>
            <a:ln w="9525">
              <a:noFill/>
              <a:miter lim="800000"/>
              <a:headEnd/>
              <a:tailEnd/>
            </a:ln>
          </p:spPr>
          <p:txBody>
            <a:bodyPr wrap="none">
              <a:spAutoFit/>
            </a:bodyPr>
            <a:lstStyle/>
            <a:p>
              <a:pPr algn="ctr">
                <a:lnSpc>
                  <a:spcPct val="75000"/>
                </a:lnSpc>
              </a:pPr>
              <a:r>
                <a:rPr lang="en-US" b="1">
                  <a:latin typeface="Calibri" pitchFamily="34" charset="0"/>
                </a:rPr>
                <a:t>1 </a:t>
              </a:r>
            </a:p>
          </p:txBody>
        </p:sp>
        <p:sp>
          <p:nvSpPr>
            <p:cNvPr id="36893" name="Text Box 31"/>
            <p:cNvSpPr txBox="1">
              <a:spLocks noChangeArrowheads="1"/>
            </p:cNvSpPr>
            <p:nvPr/>
          </p:nvSpPr>
          <p:spPr bwMode="auto">
            <a:xfrm>
              <a:off x="2529" y="2259"/>
              <a:ext cx="251" cy="189"/>
            </a:xfrm>
            <a:prstGeom prst="rect">
              <a:avLst/>
            </a:prstGeom>
            <a:noFill/>
            <a:ln w="9525">
              <a:noFill/>
              <a:miter lim="800000"/>
              <a:headEnd/>
              <a:tailEnd/>
            </a:ln>
          </p:spPr>
          <p:txBody>
            <a:bodyPr wrap="none">
              <a:spAutoFit/>
            </a:bodyPr>
            <a:lstStyle/>
            <a:p>
              <a:pPr algn="ctr">
                <a:lnSpc>
                  <a:spcPct val="75000"/>
                </a:lnSpc>
              </a:pPr>
              <a:r>
                <a:rPr lang="en-US" b="1">
                  <a:latin typeface="Calibri" pitchFamily="34" charset="0"/>
                </a:rPr>
                <a:t>2 </a:t>
              </a:r>
            </a:p>
          </p:txBody>
        </p:sp>
        <p:sp>
          <p:nvSpPr>
            <p:cNvPr id="36894" name="Text Box 32"/>
            <p:cNvSpPr txBox="1">
              <a:spLocks noChangeArrowheads="1"/>
            </p:cNvSpPr>
            <p:nvPr/>
          </p:nvSpPr>
          <p:spPr bwMode="auto">
            <a:xfrm>
              <a:off x="2529" y="2490"/>
              <a:ext cx="251" cy="189"/>
            </a:xfrm>
            <a:prstGeom prst="rect">
              <a:avLst/>
            </a:prstGeom>
            <a:noFill/>
            <a:ln w="9525">
              <a:noFill/>
              <a:miter lim="800000"/>
              <a:headEnd/>
              <a:tailEnd/>
            </a:ln>
          </p:spPr>
          <p:txBody>
            <a:bodyPr wrap="none">
              <a:spAutoFit/>
            </a:bodyPr>
            <a:lstStyle/>
            <a:p>
              <a:pPr algn="ctr">
                <a:lnSpc>
                  <a:spcPct val="75000"/>
                </a:lnSpc>
              </a:pPr>
              <a:r>
                <a:rPr lang="en-US" b="1">
                  <a:latin typeface="Calibri" pitchFamily="34" charset="0"/>
                </a:rPr>
                <a:t>3 </a:t>
              </a:r>
            </a:p>
          </p:txBody>
        </p:sp>
        <p:sp>
          <p:nvSpPr>
            <p:cNvPr id="36895" name="Text Box 33"/>
            <p:cNvSpPr txBox="1">
              <a:spLocks noChangeArrowheads="1"/>
            </p:cNvSpPr>
            <p:nvPr/>
          </p:nvSpPr>
          <p:spPr bwMode="auto">
            <a:xfrm>
              <a:off x="3392" y="2028"/>
              <a:ext cx="334" cy="189"/>
            </a:xfrm>
            <a:prstGeom prst="rect">
              <a:avLst/>
            </a:prstGeom>
            <a:noFill/>
            <a:ln w="9525">
              <a:noFill/>
              <a:miter lim="800000"/>
              <a:headEnd/>
              <a:tailEnd/>
            </a:ln>
          </p:spPr>
          <p:txBody>
            <a:bodyPr wrap="none">
              <a:spAutoFit/>
            </a:bodyPr>
            <a:lstStyle/>
            <a:p>
              <a:pPr algn="ctr">
                <a:lnSpc>
                  <a:spcPct val="75000"/>
                </a:lnSpc>
              </a:pPr>
              <a:r>
                <a:rPr lang="en-US" b="1">
                  <a:latin typeface="Calibri" pitchFamily="34" charset="0"/>
                </a:rPr>
                <a:t>25 </a:t>
              </a:r>
            </a:p>
          </p:txBody>
        </p:sp>
        <p:sp>
          <p:nvSpPr>
            <p:cNvPr id="36896" name="Text Box 34"/>
            <p:cNvSpPr txBox="1">
              <a:spLocks noChangeArrowheads="1"/>
            </p:cNvSpPr>
            <p:nvPr/>
          </p:nvSpPr>
          <p:spPr bwMode="auto">
            <a:xfrm>
              <a:off x="3392" y="2259"/>
              <a:ext cx="334" cy="189"/>
            </a:xfrm>
            <a:prstGeom prst="rect">
              <a:avLst/>
            </a:prstGeom>
            <a:noFill/>
            <a:ln w="9525">
              <a:noFill/>
              <a:miter lim="800000"/>
              <a:headEnd/>
              <a:tailEnd/>
            </a:ln>
          </p:spPr>
          <p:txBody>
            <a:bodyPr wrap="none">
              <a:spAutoFit/>
            </a:bodyPr>
            <a:lstStyle/>
            <a:p>
              <a:pPr algn="ctr">
                <a:lnSpc>
                  <a:spcPct val="75000"/>
                </a:lnSpc>
              </a:pPr>
              <a:r>
                <a:rPr lang="en-US" b="1">
                  <a:latin typeface="Calibri" pitchFamily="34" charset="0"/>
                </a:rPr>
                <a:t>40 </a:t>
              </a:r>
            </a:p>
          </p:txBody>
        </p:sp>
        <p:sp>
          <p:nvSpPr>
            <p:cNvPr id="36897" name="Text Box 35"/>
            <p:cNvSpPr txBox="1">
              <a:spLocks noChangeArrowheads="1"/>
            </p:cNvSpPr>
            <p:nvPr/>
          </p:nvSpPr>
          <p:spPr bwMode="auto">
            <a:xfrm>
              <a:off x="3392" y="2490"/>
              <a:ext cx="334" cy="189"/>
            </a:xfrm>
            <a:prstGeom prst="rect">
              <a:avLst/>
            </a:prstGeom>
            <a:noFill/>
            <a:ln w="9525">
              <a:noFill/>
              <a:miter lim="800000"/>
              <a:headEnd/>
              <a:tailEnd/>
            </a:ln>
          </p:spPr>
          <p:txBody>
            <a:bodyPr wrap="none">
              <a:spAutoFit/>
            </a:bodyPr>
            <a:lstStyle/>
            <a:p>
              <a:pPr algn="ctr">
                <a:lnSpc>
                  <a:spcPct val="75000"/>
                </a:lnSpc>
              </a:pPr>
              <a:r>
                <a:rPr lang="en-US" b="1">
                  <a:latin typeface="Calibri" pitchFamily="34" charset="0"/>
                </a:rPr>
                <a:t>55 </a:t>
              </a:r>
            </a:p>
          </p:txBody>
        </p:sp>
        <p:sp>
          <p:nvSpPr>
            <p:cNvPr id="36898" name="Text Box 36"/>
            <p:cNvSpPr txBox="1">
              <a:spLocks noChangeArrowheads="1"/>
            </p:cNvSpPr>
            <p:nvPr/>
          </p:nvSpPr>
          <p:spPr bwMode="auto">
            <a:xfrm>
              <a:off x="4046" y="2259"/>
              <a:ext cx="683" cy="189"/>
            </a:xfrm>
            <a:prstGeom prst="rect">
              <a:avLst/>
            </a:prstGeom>
            <a:noFill/>
            <a:ln w="9525">
              <a:noFill/>
              <a:miter lim="800000"/>
              <a:headEnd/>
              <a:tailEnd/>
            </a:ln>
          </p:spPr>
          <p:txBody>
            <a:bodyPr>
              <a:spAutoFit/>
            </a:bodyPr>
            <a:lstStyle/>
            <a:p>
              <a:pPr algn="ctr">
                <a:lnSpc>
                  <a:spcPct val="75000"/>
                </a:lnSpc>
              </a:pPr>
              <a:r>
                <a:rPr lang="en-US" b="1">
                  <a:latin typeface="Calibri" pitchFamily="34" charset="0"/>
                </a:rPr>
                <a:t>0.04 </a:t>
              </a:r>
            </a:p>
          </p:txBody>
        </p:sp>
        <p:sp>
          <p:nvSpPr>
            <p:cNvPr id="36899" name="Text Box 37"/>
            <p:cNvSpPr txBox="1">
              <a:spLocks noChangeArrowheads="1"/>
            </p:cNvSpPr>
            <p:nvPr/>
          </p:nvSpPr>
          <p:spPr bwMode="auto">
            <a:xfrm>
              <a:off x="4046" y="2490"/>
              <a:ext cx="683" cy="189"/>
            </a:xfrm>
            <a:prstGeom prst="rect">
              <a:avLst/>
            </a:prstGeom>
            <a:noFill/>
            <a:ln w="9525">
              <a:noFill/>
              <a:miter lim="800000"/>
              <a:headEnd/>
              <a:tailEnd/>
            </a:ln>
          </p:spPr>
          <p:txBody>
            <a:bodyPr>
              <a:spAutoFit/>
            </a:bodyPr>
            <a:lstStyle/>
            <a:p>
              <a:pPr algn="ctr">
                <a:lnSpc>
                  <a:spcPct val="75000"/>
                </a:lnSpc>
              </a:pPr>
              <a:r>
                <a:rPr lang="en-US" b="1">
                  <a:latin typeface="Calibri" pitchFamily="34" charset="0"/>
                </a:rPr>
                <a:t>0.06 </a:t>
              </a:r>
            </a:p>
          </p:txBody>
        </p:sp>
        <p:sp>
          <p:nvSpPr>
            <p:cNvPr id="36900" name="Text Box 38"/>
            <p:cNvSpPr txBox="1">
              <a:spLocks noChangeArrowheads="1"/>
            </p:cNvSpPr>
            <p:nvPr/>
          </p:nvSpPr>
          <p:spPr bwMode="auto">
            <a:xfrm>
              <a:off x="5395" y="2490"/>
              <a:ext cx="297" cy="189"/>
            </a:xfrm>
            <a:prstGeom prst="rect">
              <a:avLst/>
            </a:prstGeom>
            <a:noFill/>
            <a:ln w="9525">
              <a:noFill/>
              <a:miter lim="800000"/>
              <a:headEnd/>
              <a:tailEnd/>
            </a:ln>
          </p:spPr>
          <p:txBody>
            <a:bodyPr wrap="none">
              <a:spAutoFit/>
            </a:bodyPr>
            <a:lstStyle/>
            <a:p>
              <a:pPr algn="ctr">
                <a:lnSpc>
                  <a:spcPct val="75000"/>
                </a:lnSpc>
              </a:pPr>
              <a:r>
                <a:rPr lang="en-US" b="1">
                  <a:latin typeface="Calibri" pitchFamily="34" charset="0"/>
                </a:rPr>
                <a:t>63</a:t>
              </a:r>
            </a:p>
          </p:txBody>
        </p:sp>
      </p:grpSp>
      <p:grpSp>
        <p:nvGrpSpPr>
          <p:cNvPr id="458791" name="Group 39"/>
          <p:cNvGrpSpPr>
            <a:grpSpLocks/>
          </p:cNvGrpSpPr>
          <p:nvPr/>
        </p:nvGrpSpPr>
        <p:grpSpPr bwMode="auto">
          <a:xfrm>
            <a:off x="134938" y="4271963"/>
            <a:ext cx="7897812" cy="1477962"/>
            <a:chOff x="96" y="2691"/>
            <a:chExt cx="5596" cy="931"/>
          </a:xfrm>
        </p:grpSpPr>
        <p:sp>
          <p:nvSpPr>
            <p:cNvPr id="36871" name="Text Box 40"/>
            <p:cNvSpPr txBox="1">
              <a:spLocks noChangeArrowheads="1"/>
            </p:cNvSpPr>
            <p:nvPr/>
          </p:nvSpPr>
          <p:spPr bwMode="auto">
            <a:xfrm>
              <a:off x="96" y="2971"/>
              <a:ext cx="1355" cy="189"/>
            </a:xfrm>
            <a:prstGeom prst="rect">
              <a:avLst/>
            </a:prstGeom>
            <a:noFill/>
            <a:ln w="9525">
              <a:noFill/>
              <a:miter lim="800000"/>
              <a:headEnd/>
              <a:tailEnd/>
            </a:ln>
          </p:spPr>
          <p:txBody>
            <a:bodyPr>
              <a:spAutoFit/>
            </a:bodyPr>
            <a:lstStyle/>
            <a:p>
              <a:pPr>
                <a:lnSpc>
                  <a:spcPct val="75000"/>
                </a:lnSpc>
              </a:pPr>
              <a:r>
                <a:rPr lang="en-US" b="1">
                  <a:latin typeface="Calibri" pitchFamily="34" charset="0"/>
                </a:rPr>
                <a:t>Corn starch</a:t>
              </a:r>
            </a:p>
          </p:txBody>
        </p:sp>
        <p:sp>
          <p:nvSpPr>
            <p:cNvPr id="36872" name="Text Box 41"/>
            <p:cNvSpPr txBox="1">
              <a:spLocks noChangeArrowheads="1"/>
            </p:cNvSpPr>
            <p:nvPr/>
          </p:nvSpPr>
          <p:spPr bwMode="auto">
            <a:xfrm>
              <a:off x="585" y="2691"/>
              <a:ext cx="2891" cy="233"/>
            </a:xfrm>
            <a:prstGeom prst="rect">
              <a:avLst/>
            </a:prstGeom>
            <a:noFill/>
            <a:ln w="9525">
              <a:noFill/>
              <a:miter lim="800000"/>
              <a:headEnd/>
              <a:tailEnd/>
            </a:ln>
          </p:spPr>
          <p:txBody>
            <a:bodyPr wrap="none">
              <a:spAutoFit/>
            </a:bodyPr>
            <a:lstStyle/>
            <a:p>
              <a:pPr algn="ctr"/>
              <a:r>
                <a:rPr lang="en-US" b="1">
                  <a:solidFill>
                    <a:schemeClr val="tx2"/>
                  </a:solidFill>
                  <a:latin typeface="Calibri" pitchFamily="34" charset="0"/>
                </a:rPr>
                <a:t>Starch (rapidly “digestible” feed fraction)</a:t>
              </a:r>
            </a:p>
          </p:txBody>
        </p:sp>
        <p:sp>
          <p:nvSpPr>
            <p:cNvPr id="36873" name="Text Box 42"/>
            <p:cNvSpPr txBox="1">
              <a:spLocks noChangeArrowheads="1"/>
            </p:cNvSpPr>
            <p:nvPr/>
          </p:nvSpPr>
          <p:spPr bwMode="auto">
            <a:xfrm>
              <a:off x="1451" y="2971"/>
              <a:ext cx="543" cy="189"/>
            </a:xfrm>
            <a:prstGeom prst="rect">
              <a:avLst/>
            </a:prstGeom>
            <a:noFill/>
            <a:ln w="9525">
              <a:noFill/>
              <a:miter lim="800000"/>
              <a:headEnd/>
              <a:tailEnd/>
            </a:ln>
          </p:spPr>
          <p:txBody>
            <a:bodyPr>
              <a:spAutoFit/>
            </a:bodyPr>
            <a:lstStyle/>
            <a:p>
              <a:pPr algn="ctr">
                <a:lnSpc>
                  <a:spcPct val="75000"/>
                </a:lnSpc>
              </a:pPr>
              <a:r>
                <a:rPr lang="en-US" b="1">
                  <a:latin typeface="Calibri" pitchFamily="34" charset="0"/>
                </a:rPr>
                <a:t>0.36 </a:t>
              </a:r>
            </a:p>
          </p:txBody>
        </p:sp>
        <p:sp>
          <p:nvSpPr>
            <p:cNvPr id="36874" name="Text Box 43"/>
            <p:cNvSpPr txBox="1">
              <a:spLocks noChangeArrowheads="1"/>
            </p:cNvSpPr>
            <p:nvPr/>
          </p:nvSpPr>
          <p:spPr bwMode="auto">
            <a:xfrm>
              <a:off x="2529" y="2971"/>
              <a:ext cx="251" cy="189"/>
            </a:xfrm>
            <a:prstGeom prst="rect">
              <a:avLst/>
            </a:prstGeom>
            <a:noFill/>
            <a:ln w="9525">
              <a:noFill/>
              <a:miter lim="800000"/>
              <a:headEnd/>
              <a:tailEnd/>
            </a:ln>
          </p:spPr>
          <p:txBody>
            <a:bodyPr wrap="none">
              <a:spAutoFit/>
            </a:bodyPr>
            <a:lstStyle/>
            <a:p>
              <a:pPr algn="ctr">
                <a:lnSpc>
                  <a:spcPct val="75000"/>
                </a:lnSpc>
              </a:pPr>
              <a:r>
                <a:rPr lang="en-US" b="1">
                  <a:latin typeface="Calibri" pitchFamily="34" charset="0"/>
                </a:rPr>
                <a:t>1 </a:t>
              </a:r>
            </a:p>
          </p:txBody>
        </p:sp>
        <p:sp>
          <p:nvSpPr>
            <p:cNvPr id="36875" name="Text Box 44"/>
            <p:cNvSpPr txBox="1">
              <a:spLocks noChangeArrowheads="1"/>
            </p:cNvSpPr>
            <p:nvPr/>
          </p:nvSpPr>
          <p:spPr bwMode="auto">
            <a:xfrm>
              <a:off x="2529" y="3202"/>
              <a:ext cx="251" cy="189"/>
            </a:xfrm>
            <a:prstGeom prst="rect">
              <a:avLst/>
            </a:prstGeom>
            <a:noFill/>
            <a:ln w="9525">
              <a:noFill/>
              <a:miter lim="800000"/>
              <a:headEnd/>
              <a:tailEnd/>
            </a:ln>
          </p:spPr>
          <p:txBody>
            <a:bodyPr wrap="none">
              <a:spAutoFit/>
            </a:bodyPr>
            <a:lstStyle/>
            <a:p>
              <a:pPr algn="ctr">
                <a:lnSpc>
                  <a:spcPct val="75000"/>
                </a:lnSpc>
              </a:pPr>
              <a:r>
                <a:rPr lang="en-US" b="1">
                  <a:latin typeface="Calibri" pitchFamily="34" charset="0"/>
                </a:rPr>
                <a:t>2 </a:t>
              </a:r>
            </a:p>
          </p:txBody>
        </p:sp>
        <p:sp>
          <p:nvSpPr>
            <p:cNvPr id="36876" name="Text Box 45"/>
            <p:cNvSpPr txBox="1">
              <a:spLocks noChangeArrowheads="1"/>
            </p:cNvSpPr>
            <p:nvPr/>
          </p:nvSpPr>
          <p:spPr bwMode="auto">
            <a:xfrm>
              <a:off x="2529" y="3433"/>
              <a:ext cx="251" cy="189"/>
            </a:xfrm>
            <a:prstGeom prst="rect">
              <a:avLst/>
            </a:prstGeom>
            <a:noFill/>
            <a:ln w="9525">
              <a:noFill/>
              <a:miter lim="800000"/>
              <a:headEnd/>
              <a:tailEnd/>
            </a:ln>
          </p:spPr>
          <p:txBody>
            <a:bodyPr wrap="none">
              <a:spAutoFit/>
            </a:bodyPr>
            <a:lstStyle/>
            <a:p>
              <a:pPr algn="ctr">
                <a:lnSpc>
                  <a:spcPct val="75000"/>
                </a:lnSpc>
              </a:pPr>
              <a:r>
                <a:rPr lang="en-US" b="1">
                  <a:latin typeface="Calibri" pitchFamily="34" charset="0"/>
                </a:rPr>
                <a:t>3 </a:t>
              </a:r>
            </a:p>
          </p:txBody>
        </p:sp>
        <p:sp>
          <p:nvSpPr>
            <p:cNvPr id="36877" name="Text Box 46"/>
            <p:cNvSpPr txBox="1">
              <a:spLocks noChangeArrowheads="1"/>
            </p:cNvSpPr>
            <p:nvPr/>
          </p:nvSpPr>
          <p:spPr bwMode="auto">
            <a:xfrm>
              <a:off x="3392" y="2971"/>
              <a:ext cx="334" cy="189"/>
            </a:xfrm>
            <a:prstGeom prst="rect">
              <a:avLst/>
            </a:prstGeom>
            <a:noFill/>
            <a:ln w="9525">
              <a:noFill/>
              <a:miter lim="800000"/>
              <a:headEnd/>
              <a:tailEnd/>
            </a:ln>
          </p:spPr>
          <p:txBody>
            <a:bodyPr wrap="none">
              <a:spAutoFit/>
            </a:bodyPr>
            <a:lstStyle/>
            <a:p>
              <a:pPr algn="ctr">
                <a:lnSpc>
                  <a:spcPct val="75000"/>
                </a:lnSpc>
              </a:pPr>
              <a:r>
                <a:rPr lang="en-US" b="1">
                  <a:latin typeface="Calibri" pitchFamily="34" charset="0"/>
                </a:rPr>
                <a:t>25 </a:t>
              </a:r>
            </a:p>
          </p:txBody>
        </p:sp>
        <p:sp>
          <p:nvSpPr>
            <p:cNvPr id="36878" name="Text Box 47"/>
            <p:cNvSpPr txBox="1">
              <a:spLocks noChangeArrowheads="1"/>
            </p:cNvSpPr>
            <p:nvPr/>
          </p:nvSpPr>
          <p:spPr bwMode="auto">
            <a:xfrm>
              <a:off x="3392" y="3202"/>
              <a:ext cx="334" cy="189"/>
            </a:xfrm>
            <a:prstGeom prst="rect">
              <a:avLst/>
            </a:prstGeom>
            <a:noFill/>
            <a:ln w="9525">
              <a:noFill/>
              <a:miter lim="800000"/>
              <a:headEnd/>
              <a:tailEnd/>
            </a:ln>
          </p:spPr>
          <p:txBody>
            <a:bodyPr wrap="none">
              <a:spAutoFit/>
            </a:bodyPr>
            <a:lstStyle/>
            <a:p>
              <a:pPr algn="ctr">
                <a:lnSpc>
                  <a:spcPct val="75000"/>
                </a:lnSpc>
              </a:pPr>
              <a:r>
                <a:rPr lang="en-US" b="1">
                  <a:latin typeface="Calibri" pitchFamily="34" charset="0"/>
                </a:rPr>
                <a:t>40 </a:t>
              </a:r>
            </a:p>
          </p:txBody>
        </p:sp>
        <p:sp>
          <p:nvSpPr>
            <p:cNvPr id="36879" name="Text Box 48"/>
            <p:cNvSpPr txBox="1">
              <a:spLocks noChangeArrowheads="1"/>
            </p:cNvSpPr>
            <p:nvPr/>
          </p:nvSpPr>
          <p:spPr bwMode="auto">
            <a:xfrm>
              <a:off x="3392" y="3433"/>
              <a:ext cx="334" cy="189"/>
            </a:xfrm>
            <a:prstGeom prst="rect">
              <a:avLst/>
            </a:prstGeom>
            <a:noFill/>
            <a:ln w="9525">
              <a:noFill/>
              <a:miter lim="800000"/>
              <a:headEnd/>
              <a:tailEnd/>
            </a:ln>
          </p:spPr>
          <p:txBody>
            <a:bodyPr wrap="none">
              <a:spAutoFit/>
            </a:bodyPr>
            <a:lstStyle/>
            <a:p>
              <a:pPr algn="ctr">
                <a:lnSpc>
                  <a:spcPct val="75000"/>
                </a:lnSpc>
              </a:pPr>
              <a:r>
                <a:rPr lang="en-US" b="1">
                  <a:latin typeface="Calibri" pitchFamily="34" charset="0"/>
                </a:rPr>
                <a:t>55 </a:t>
              </a:r>
            </a:p>
          </p:txBody>
        </p:sp>
        <p:sp>
          <p:nvSpPr>
            <p:cNvPr id="36880" name="Text Box 49"/>
            <p:cNvSpPr txBox="1">
              <a:spLocks noChangeArrowheads="1"/>
            </p:cNvSpPr>
            <p:nvPr/>
          </p:nvSpPr>
          <p:spPr bwMode="auto">
            <a:xfrm>
              <a:off x="4046" y="2971"/>
              <a:ext cx="683" cy="189"/>
            </a:xfrm>
            <a:prstGeom prst="rect">
              <a:avLst/>
            </a:prstGeom>
            <a:noFill/>
            <a:ln w="9525">
              <a:noFill/>
              <a:miter lim="800000"/>
              <a:headEnd/>
              <a:tailEnd/>
            </a:ln>
          </p:spPr>
          <p:txBody>
            <a:bodyPr>
              <a:spAutoFit/>
            </a:bodyPr>
            <a:lstStyle/>
            <a:p>
              <a:pPr algn="ctr">
                <a:lnSpc>
                  <a:spcPct val="75000"/>
                </a:lnSpc>
              </a:pPr>
              <a:r>
                <a:rPr lang="en-US" b="1">
                  <a:latin typeface="Calibri" pitchFamily="34" charset="0"/>
                </a:rPr>
                <a:t>0.02 </a:t>
              </a:r>
            </a:p>
          </p:txBody>
        </p:sp>
        <p:sp>
          <p:nvSpPr>
            <p:cNvPr id="36881" name="Text Box 50"/>
            <p:cNvSpPr txBox="1">
              <a:spLocks noChangeArrowheads="1"/>
            </p:cNvSpPr>
            <p:nvPr/>
          </p:nvSpPr>
          <p:spPr bwMode="auto">
            <a:xfrm>
              <a:off x="4046" y="3202"/>
              <a:ext cx="683" cy="189"/>
            </a:xfrm>
            <a:prstGeom prst="rect">
              <a:avLst/>
            </a:prstGeom>
            <a:noFill/>
            <a:ln w="9525">
              <a:noFill/>
              <a:miter lim="800000"/>
              <a:headEnd/>
              <a:tailEnd/>
            </a:ln>
          </p:spPr>
          <p:txBody>
            <a:bodyPr>
              <a:spAutoFit/>
            </a:bodyPr>
            <a:lstStyle/>
            <a:p>
              <a:pPr algn="ctr">
                <a:lnSpc>
                  <a:spcPct val="75000"/>
                </a:lnSpc>
              </a:pPr>
              <a:r>
                <a:rPr lang="en-US" b="1">
                  <a:latin typeface="Calibri" pitchFamily="34" charset="0"/>
                </a:rPr>
                <a:t>0.04 </a:t>
              </a:r>
            </a:p>
          </p:txBody>
        </p:sp>
        <p:sp>
          <p:nvSpPr>
            <p:cNvPr id="36882" name="Text Box 51"/>
            <p:cNvSpPr txBox="1">
              <a:spLocks noChangeArrowheads="1"/>
            </p:cNvSpPr>
            <p:nvPr/>
          </p:nvSpPr>
          <p:spPr bwMode="auto">
            <a:xfrm>
              <a:off x="4046" y="3433"/>
              <a:ext cx="683" cy="189"/>
            </a:xfrm>
            <a:prstGeom prst="rect">
              <a:avLst/>
            </a:prstGeom>
            <a:noFill/>
            <a:ln w="9525">
              <a:noFill/>
              <a:miter lim="800000"/>
              <a:headEnd/>
              <a:tailEnd/>
            </a:ln>
          </p:spPr>
          <p:txBody>
            <a:bodyPr>
              <a:spAutoFit/>
            </a:bodyPr>
            <a:lstStyle/>
            <a:p>
              <a:pPr algn="ctr">
                <a:lnSpc>
                  <a:spcPct val="75000"/>
                </a:lnSpc>
              </a:pPr>
              <a:r>
                <a:rPr lang="en-US" b="1">
                  <a:latin typeface="Calibri" pitchFamily="34" charset="0"/>
                </a:rPr>
                <a:t>0.06 </a:t>
              </a:r>
            </a:p>
          </p:txBody>
        </p:sp>
        <p:sp>
          <p:nvSpPr>
            <p:cNvPr id="36883" name="Text Box 52"/>
            <p:cNvSpPr txBox="1">
              <a:spLocks noChangeArrowheads="1"/>
            </p:cNvSpPr>
            <p:nvPr/>
          </p:nvSpPr>
          <p:spPr bwMode="auto">
            <a:xfrm>
              <a:off x="5395" y="2971"/>
              <a:ext cx="297" cy="189"/>
            </a:xfrm>
            <a:prstGeom prst="rect">
              <a:avLst/>
            </a:prstGeom>
            <a:noFill/>
            <a:ln w="9525">
              <a:noFill/>
              <a:miter lim="800000"/>
              <a:headEnd/>
              <a:tailEnd/>
            </a:ln>
          </p:spPr>
          <p:txBody>
            <a:bodyPr wrap="none">
              <a:spAutoFit/>
            </a:bodyPr>
            <a:lstStyle/>
            <a:p>
              <a:pPr algn="ctr">
                <a:lnSpc>
                  <a:spcPct val="75000"/>
                </a:lnSpc>
              </a:pPr>
              <a:r>
                <a:rPr lang="en-US" b="1">
                  <a:latin typeface="Calibri" pitchFamily="34" charset="0"/>
                </a:rPr>
                <a:t>95</a:t>
              </a:r>
            </a:p>
          </p:txBody>
        </p:sp>
        <p:sp>
          <p:nvSpPr>
            <p:cNvPr id="36884" name="Text Box 53"/>
            <p:cNvSpPr txBox="1">
              <a:spLocks noChangeArrowheads="1"/>
            </p:cNvSpPr>
            <p:nvPr/>
          </p:nvSpPr>
          <p:spPr bwMode="auto">
            <a:xfrm>
              <a:off x="5395" y="3202"/>
              <a:ext cx="297" cy="189"/>
            </a:xfrm>
            <a:prstGeom prst="rect">
              <a:avLst/>
            </a:prstGeom>
            <a:noFill/>
            <a:ln w="9525">
              <a:noFill/>
              <a:miter lim="800000"/>
              <a:headEnd/>
              <a:tailEnd/>
            </a:ln>
          </p:spPr>
          <p:txBody>
            <a:bodyPr wrap="none">
              <a:spAutoFit/>
            </a:bodyPr>
            <a:lstStyle/>
            <a:p>
              <a:pPr algn="ctr">
                <a:lnSpc>
                  <a:spcPct val="75000"/>
                </a:lnSpc>
              </a:pPr>
              <a:r>
                <a:rPr lang="en-US" b="1">
                  <a:latin typeface="Calibri" pitchFamily="34" charset="0"/>
                </a:rPr>
                <a:t>90</a:t>
              </a:r>
            </a:p>
          </p:txBody>
        </p:sp>
        <p:sp>
          <p:nvSpPr>
            <p:cNvPr id="36885" name="Text Box 54"/>
            <p:cNvSpPr txBox="1">
              <a:spLocks noChangeArrowheads="1"/>
            </p:cNvSpPr>
            <p:nvPr/>
          </p:nvSpPr>
          <p:spPr bwMode="auto">
            <a:xfrm>
              <a:off x="5395" y="3433"/>
              <a:ext cx="297" cy="189"/>
            </a:xfrm>
            <a:prstGeom prst="rect">
              <a:avLst/>
            </a:prstGeom>
            <a:noFill/>
            <a:ln w="9525">
              <a:noFill/>
              <a:miter lim="800000"/>
              <a:headEnd/>
              <a:tailEnd/>
            </a:ln>
          </p:spPr>
          <p:txBody>
            <a:bodyPr wrap="none">
              <a:spAutoFit/>
            </a:bodyPr>
            <a:lstStyle/>
            <a:p>
              <a:pPr algn="ctr">
                <a:lnSpc>
                  <a:spcPct val="75000"/>
                </a:lnSpc>
              </a:pPr>
              <a:r>
                <a:rPr lang="en-US" b="1">
                  <a:latin typeface="Calibri" pitchFamily="34" charset="0"/>
                </a:rPr>
                <a:t>86</a:t>
              </a:r>
            </a:p>
          </p:txBody>
        </p:sp>
      </p:grpSp>
      <p:sp>
        <p:nvSpPr>
          <p:cNvPr id="36870" name="Line 55"/>
          <p:cNvSpPr>
            <a:spLocks noChangeShapeType="1"/>
          </p:cNvSpPr>
          <p:nvPr/>
        </p:nvSpPr>
        <p:spPr bwMode="auto">
          <a:xfrm>
            <a:off x="3067050" y="1863725"/>
            <a:ext cx="2254250" cy="0"/>
          </a:xfrm>
          <a:prstGeom prst="line">
            <a:avLst/>
          </a:prstGeom>
          <a:noFill/>
          <a:ln w="9525">
            <a:solidFill>
              <a:schemeClr val="tx1"/>
            </a:solidFill>
            <a:round/>
            <a:headEnd/>
            <a:tailEnd/>
          </a:ln>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458775"/>
                                        </p:tgtEl>
                                        <p:attrNameLst>
                                          <p:attrName>style.visibility</p:attrName>
                                        </p:attrNameLst>
                                      </p:cBhvr>
                                      <p:to>
                                        <p:strVal val="visible"/>
                                      </p:to>
                                    </p:set>
                                    <p:animEffect transition="in" filter="wipe(left)">
                                      <p:cBhvr>
                                        <p:cTn id="7" dur="500"/>
                                        <p:tgtEl>
                                          <p:spTgt spid="45877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58791"/>
                                        </p:tgtEl>
                                        <p:attrNameLst>
                                          <p:attrName>style.visibility</p:attrName>
                                        </p:attrNameLst>
                                      </p:cBhvr>
                                      <p:to>
                                        <p:strVal val="visible"/>
                                      </p:to>
                                    </p:set>
                                    <p:animEffect transition="in" filter="wipe(left)">
                                      <p:cBhvr>
                                        <p:cTn id="12" dur="500"/>
                                        <p:tgtEl>
                                          <p:spTgt spid="4587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Slide Number Placeholder 4"/>
          <p:cNvSpPr>
            <a:spLocks noGrp="1"/>
          </p:cNvSpPr>
          <p:nvPr>
            <p:ph type="sldNum" sz="quarter" idx="12"/>
          </p:nvPr>
        </p:nvSpPr>
        <p:spPr/>
        <p:txBody>
          <a:bodyPr/>
          <a:lstStyle/>
          <a:p>
            <a:pPr>
              <a:defRPr/>
            </a:pPr>
            <a:r>
              <a:rPr lang="en-US" dirty="0"/>
              <a:t> </a:t>
            </a:r>
            <a:endParaRPr lang="en-US" sz="1800" dirty="0">
              <a:solidFill>
                <a:schemeClr val="tx1"/>
              </a:solidFill>
            </a:endParaRPr>
          </a:p>
        </p:txBody>
      </p:sp>
      <p:sp>
        <p:nvSpPr>
          <p:cNvPr id="558082" name="Rectangle 2"/>
          <p:cNvSpPr>
            <a:spLocks noGrp="1" noChangeArrowheads="1"/>
          </p:cNvSpPr>
          <p:nvPr>
            <p:ph type="title"/>
          </p:nvPr>
        </p:nvSpPr>
        <p:spPr>
          <a:xfrm>
            <a:off x="1184275" y="184150"/>
            <a:ext cx="6907213" cy="579438"/>
          </a:xfrm>
        </p:spPr>
        <p:txBody>
          <a:bodyPr rtlCol="0">
            <a:normAutofit fontScale="90000"/>
          </a:bodyPr>
          <a:lstStyle/>
          <a:p>
            <a:pPr eaLnBrk="1" fontAlgn="auto" hangingPunct="1">
              <a:spcAft>
                <a:spcPts val="0"/>
              </a:spcAft>
              <a:defRPr/>
            </a:pPr>
            <a:r>
              <a:rPr lang="en-US" sz="3200" b="1" dirty="0" smtClean="0"/>
              <a:t>WHICH DIET DO YOU PREFER AND WHY?</a:t>
            </a:r>
            <a:endParaRPr lang="en-US" sz="3200" b="1" dirty="0"/>
          </a:p>
        </p:txBody>
      </p:sp>
      <p:grpSp>
        <p:nvGrpSpPr>
          <p:cNvPr id="558205" name="Group 125"/>
          <p:cNvGrpSpPr>
            <a:grpSpLocks/>
          </p:cNvGrpSpPr>
          <p:nvPr/>
        </p:nvGrpSpPr>
        <p:grpSpPr bwMode="auto">
          <a:xfrm>
            <a:off x="134938" y="1647825"/>
            <a:ext cx="6805612" cy="712788"/>
            <a:chOff x="96" y="1038"/>
            <a:chExt cx="4823" cy="449"/>
          </a:xfrm>
        </p:grpSpPr>
        <p:sp>
          <p:nvSpPr>
            <p:cNvPr id="37949" name="Text Box 4"/>
            <p:cNvSpPr txBox="1">
              <a:spLocks noChangeArrowheads="1"/>
            </p:cNvSpPr>
            <p:nvPr/>
          </p:nvSpPr>
          <p:spPr bwMode="auto">
            <a:xfrm>
              <a:off x="96" y="1044"/>
              <a:ext cx="974" cy="215"/>
            </a:xfrm>
            <a:prstGeom prst="rect">
              <a:avLst/>
            </a:prstGeom>
            <a:noFill/>
            <a:ln w="9525">
              <a:noFill/>
              <a:miter lim="800000"/>
              <a:headEnd/>
              <a:tailEnd/>
            </a:ln>
          </p:spPr>
          <p:txBody>
            <a:bodyPr wrap="none" anchor="ctr">
              <a:spAutoFit/>
            </a:bodyPr>
            <a:lstStyle/>
            <a:p>
              <a:pPr>
                <a:lnSpc>
                  <a:spcPct val="90000"/>
                </a:lnSpc>
              </a:pPr>
              <a:r>
                <a:rPr lang="en-US">
                  <a:latin typeface="Calibri" pitchFamily="34" charset="0"/>
                </a:rPr>
                <a:t>Alfalfa Silage</a:t>
              </a:r>
            </a:p>
          </p:txBody>
        </p:sp>
        <p:sp>
          <p:nvSpPr>
            <p:cNvPr id="37950" name="Text Box 57"/>
            <p:cNvSpPr txBox="1">
              <a:spLocks noChangeArrowheads="1"/>
            </p:cNvSpPr>
            <p:nvPr/>
          </p:nvSpPr>
          <p:spPr bwMode="auto">
            <a:xfrm>
              <a:off x="2705" y="1038"/>
              <a:ext cx="421" cy="215"/>
            </a:xfrm>
            <a:prstGeom prst="rect">
              <a:avLst/>
            </a:prstGeom>
            <a:noFill/>
            <a:ln w="9525">
              <a:noFill/>
              <a:miter lim="800000"/>
              <a:headEnd/>
              <a:tailEnd/>
            </a:ln>
          </p:spPr>
          <p:txBody>
            <a:bodyPr wrap="none" anchor="ctr">
              <a:spAutoFit/>
            </a:bodyPr>
            <a:lstStyle/>
            <a:p>
              <a:pPr algn="ctr">
                <a:lnSpc>
                  <a:spcPct val="90000"/>
                </a:lnSpc>
              </a:pPr>
              <a:r>
                <a:rPr lang="en-US">
                  <a:latin typeface="Calibri" pitchFamily="34" charset="0"/>
                </a:rPr>
                <a:t>25.1</a:t>
              </a:r>
            </a:p>
          </p:txBody>
        </p:sp>
        <p:sp>
          <p:nvSpPr>
            <p:cNvPr id="37951" name="Text Box 58"/>
            <p:cNvSpPr txBox="1">
              <a:spLocks noChangeArrowheads="1"/>
            </p:cNvSpPr>
            <p:nvPr/>
          </p:nvSpPr>
          <p:spPr bwMode="auto">
            <a:xfrm>
              <a:off x="3601" y="1038"/>
              <a:ext cx="421" cy="215"/>
            </a:xfrm>
            <a:prstGeom prst="rect">
              <a:avLst/>
            </a:prstGeom>
            <a:noFill/>
            <a:ln w="9525">
              <a:noFill/>
              <a:miter lim="800000"/>
              <a:headEnd/>
              <a:tailEnd/>
            </a:ln>
          </p:spPr>
          <p:txBody>
            <a:bodyPr wrap="none" anchor="ctr">
              <a:spAutoFit/>
            </a:bodyPr>
            <a:lstStyle/>
            <a:p>
              <a:pPr algn="ctr">
                <a:lnSpc>
                  <a:spcPct val="90000"/>
                </a:lnSpc>
              </a:pPr>
              <a:r>
                <a:rPr lang="en-US">
                  <a:latin typeface="Calibri" pitchFamily="34" charset="0"/>
                </a:rPr>
                <a:t>25.1</a:t>
              </a:r>
            </a:p>
          </p:txBody>
        </p:sp>
        <p:sp>
          <p:nvSpPr>
            <p:cNvPr id="37952" name="Text Box 59"/>
            <p:cNvSpPr txBox="1">
              <a:spLocks noChangeArrowheads="1"/>
            </p:cNvSpPr>
            <p:nvPr/>
          </p:nvSpPr>
          <p:spPr bwMode="auto">
            <a:xfrm>
              <a:off x="4498" y="1038"/>
              <a:ext cx="421" cy="215"/>
            </a:xfrm>
            <a:prstGeom prst="rect">
              <a:avLst/>
            </a:prstGeom>
            <a:noFill/>
            <a:ln w="9525">
              <a:noFill/>
              <a:miter lim="800000"/>
              <a:headEnd/>
              <a:tailEnd/>
            </a:ln>
          </p:spPr>
          <p:txBody>
            <a:bodyPr wrap="none" anchor="ctr">
              <a:spAutoFit/>
            </a:bodyPr>
            <a:lstStyle/>
            <a:p>
              <a:pPr algn="ctr">
                <a:lnSpc>
                  <a:spcPct val="90000"/>
                </a:lnSpc>
              </a:pPr>
              <a:r>
                <a:rPr lang="en-US">
                  <a:latin typeface="Calibri" pitchFamily="34" charset="0"/>
                </a:rPr>
                <a:t>25.0</a:t>
              </a:r>
            </a:p>
          </p:txBody>
        </p:sp>
        <p:sp>
          <p:nvSpPr>
            <p:cNvPr id="37953" name="Text Box 64"/>
            <p:cNvSpPr txBox="1">
              <a:spLocks noChangeArrowheads="1"/>
            </p:cNvSpPr>
            <p:nvPr/>
          </p:nvSpPr>
          <p:spPr bwMode="auto">
            <a:xfrm>
              <a:off x="96" y="1272"/>
              <a:ext cx="871" cy="215"/>
            </a:xfrm>
            <a:prstGeom prst="rect">
              <a:avLst/>
            </a:prstGeom>
            <a:noFill/>
            <a:ln w="9525">
              <a:noFill/>
              <a:miter lim="800000"/>
              <a:headEnd/>
              <a:tailEnd/>
            </a:ln>
          </p:spPr>
          <p:txBody>
            <a:bodyPr wrap="none" anchor="ctr">
              <a:spAutoFit/>
            </a:bodyPr>
            <a:lstStyle/>
            <a:p>
              <a:pPr>
                <a:lnSpc>
                  <a:spcPct val="90000"/>
                </a:lnSpc>
              </a:pPr>
              <a:r>
                <a:rPr lang="en-US">
                  <a:latin typeface="Calibri" pitchFamily="34" charset="0"/>
                </a:rPr>
                <a:t>Corn Silage</a:t>
              </a:r>
            </a:p>
          </p:txBody>
        </p:sp>
        <p:sp>
          <p:nvSpPr>
            <p:cNvPr id="37954" name="Text Box 65"/>
            <p:cNvSpPr txBox="1">
              <a:spLocks noChangeArrowheads="1"/>
            </p:cNvSpPr>
            <p:nvPr/>
          </p:nvSpPr>
          <p:spPr bwMode="auto">
            <a:xfrm>
              <a:off x="2705" y="1266"/>
              <a:ext cx="421" cy="215"/>
            </a:xfrm>
            <a:prstGeom prst="rect">
              <a:avLst/>
            </a:prstGeom>
            <a:noFill/>
            <a:ln w="9525">
              <a:noFill/>
              <a:miter lim="800000"/>
              <a:headEnd/>
              <a:tailEnd/>
            </a:ln>
          </p:spPr>
          <p:txBody>
            <a:bodyPr wrap="none" anchor="ctr">
              <a:spAutoFit/>
            </a:bodyPr>
            <a:lstStyle/>
            <a:p>
              <a:pPr algn="ctr">
                <a:lnSpc>
                  <a:spcPct val="90000"/>
                </a:lnSpc>
              </a:pPr>
              <a:r>
                <a:rPr lang="en-US">
                  <a:latin typeface="Calibri" pitchFamily="34" charset="0"/>
                </a:rPr>
                <a:t>50.1</a:t>
              </a:r>
            </a:p>
          </p:txBody>
        </p:sp>
        <p:sp>
          <p:nvSpPr>
            <p:cNvPr id="37955" name="Text Box 66"/>
            <p:cNvSpPr txBox="1">
              <a:spLocks noChangeArrowheads="1"/>
            </p:cNvSpPr>
            <p:nvPr/>
          </p:nvSpPr>
          <p:spPr bwMode="auto">
            <a:xfrm>
              <a:off x="3601" y="1266"/>
              <a:ext cx="421" cy="215"/>
            </a:xfrm>
            <a:prstGeom prst="rect">
              <a:avLst/>
            </a:prstGeom>
            <a:noFill/>
            <a:ln w="9525">
              <a:noFill/>
              <a:miter lim="800000"/>
              <a:headEnd/>
              <a:tailEnd/>
            </a:ln>
          </p:spPr>
          <p:txBody>
            <a:bodyPr wrap="none" anchor="ctr">
              <a:spAutoFit/>
            </a:bodyPr>
            <a:lstStyle/>
            <a:p>
              <a:pPr algn="ctr">
                <a:lnSpc>
                  <a:spcPct val="90000"/>
                </a:lnSpc>
              </a:pPr>
              <a:r>
                <a:rPr lang="en-US">
                  <a:latin typeface="Calibri" pitchFamily="34" charset="0"/>
                </a:rPr>
                <a:t>50.1</a:t>
              </a:r>
            </a:p>
          </p:txBody>
        </p:sp>
        <p:sp>
          <p:nvSpPr>
            <p:cNvPr id="37956" name="Text Box 67"/>
            <p:cNvSpPr txBox="1">
              <a:spLocks noChangeArrowheads="1"/>
            </p:cNvSpPr>
            <p:nvPr/>
          </p:nvSpPr>
          <p:spPr bwMode="auto">
            <a:xfrm>
              <a:off x="4498" y="1266"/>
              <a:ext cx="421" cy="215"/>
            </a:xfrm>
            <a:prstGeom prst="rect">
              <a:avLst/>
            </a:prstGeom>
            <a:noFill/>
            <a:ln w="9525">
              <a:noFill/>
              <a:miter lim="800000"/>
              <a:headEnd/>
              <a:tailEnd/>
            </a:ln>
          </p:spPr>
          <p:txBody>
            <a:bodyPr wrap="none" anchor="ctr">
              <a:spAutoFit/>
            </a:bodyPr>
            <a:lstStyle/>
            <a:p>
              <a:pPr algn="ctr">
                <a:lnSpc>
                  <a:spcPct val="90000"/>
                </a:lnSpc>
              </a:pPr>
              <a:r>
                <a:rPr lang="en-US">
                  <a:latin typeface="Calibri" pitchFamily="34" charset="0"/>
                </a:rPr>
                <a:t>30.0</a:t>
              </a:r>
            </a:p>
          </p:txBody>
        </p:sp>
      </p:grpSp>
      <p:grpSp>
        <p:nvGrpSpPr>
          <p:cNvPr id="558206" name="Group 126"/>
          <p:cNvGrpSpPr>
            <a:grpSpLocks/>
          </p:cNvGrpSpPr>
          <p:nvPr/>
        </p:nvGrpSpPr>
        <p:grpSpPr bwMode="auto">
          <a:xfrm>
            <a:off x="134938" y="2370138"/>
            <a:ext cx="6823075" cy="711200"/>
            <a:chOff x="96" y="1493"/>
            <a:chExt cx="4835" cy="448"/>
          </a:xfrm>
        </p:grpSpPr>
        <p:sp>
          <p:nvSpPr>
            <p:cNvPr id="37941" name="Text Box 68"/>
            <p:cNvSpPr txBox="1">
              <a:spLocks noChangeArrowheads="1"/>
            </p:cNvSpPr>
            <p:nvPr/>
          </p:nvSpPr>
          <p:spPr bwMode="auto">
            <a:xfrm>
              <a:off x="96" y="1499"/>
              <a:ext cx="554" cy="215"/>
            </a:xfrm>
            <a:prstGeom prst="rect">
              <a:avLst/>
            </a:prstGeom>
            <a:noFill/>
            <a:ln w="9525">
              <a:noFill/>
              <a:miter lim="800000"/>
              <a:headEnd/>
              <a:tailEnd/>
            </a:ln>
          </p:spPr>
          <p:txBody>
            <a:bodyPr wrap="none" anchor="ctr">
              <a:spAutoFit/>
            </a:bodyPr>
            <a:lstStyle/>
            <a:p>
              <a:pPr>
                <a:lnSpc>
                  <a:spcPct val="90000"/>
                </a:lnSpc>
              </a:pPr>
              <a:r>
                <a:rPr lang="en-US">
                  <a:latin typeface="Calibri" pitchFamily="34" charset="0"/>
                </a:rPr>
                <a:t>Tallow</a:t>
              </a:r>
            </a:p>
          </p:txBody>
        </p:sp>
        <p:sp>
          <p:nvSpPr>
            <p:cNvPr id="37942" name="Text Box 69"/>
            <p:cNvSpPr txBox="1">
              <a:spLocks noChangeArrowheads="1"/>
            </p:cNvSpPr>
            <p:nvPr/>
          </p:nvSpPr>
          <p:spPr bwMode="auto">
            <a:xfrm>
              <a:off x="2800" y="1493"/>
              <a:ext cx="338" cy="215"/>
            </a:xfrm>
            <a:prstGeom prst="rect">
              <a:avLst/>
            </a:prstGeom>
            <a:noFill/>
            <a:ln w="9525">
              <a:noFill/>
              <a:miter lim="800000"/>
              <a:headEnd/>
              <a:tailEnd/>
            </a:ln>
          </p:spPr>
          <p:txBody>
            <a:bodyPr wrap="none" anchor="ctr">
              <a:spAutoFit/>
            </a:bodyPr>
            <a:lstStyle/>
            <a:p>
              <a:pPr algn="ctr">
                <a:lnSpc>
                  <a:spcPct val="90000"/>
                </a:lnSpc>
              </a:pPr>
              <a:r>
                <a:rPr lang="en-US">
                  <a:latin typeface="Calibri" pitchFamily="34" charset="0"/>
                </a:rPr>
                <a:t>0.0</a:t>
              </a:r>
            </a:p>
          </p:txBody>
        </p:sp>
        <p:sp>
          <p:nvSpPr>
            <p:cNvPr id="37943" name="Text Box 70"/>
            <p:cNvSpPr txBox="1">
              <a:spLocks noChangeArrowheads="1"/>
            </p:cNvSpPr>
            <p:nvPr/>
          </p:nvSpPr>
          <p:spPr bwMode="auto">
            <a:xfrm>
              <a:off x="3696" y="1493"/>
              <a:ext cx="338" cy="215"/>
            </a:xfrm>
            <a:prstGeom prst="rect">
              <a:avLst/>
            </a:prstGeom>
            <a:noFill/>
            <a:ln w="9525">
              <a:noFill/>
              <a:miter lim="800000"/>
              <a:headEnd/>
              <a:tailEnd/>
            </a:ln>
          </p:spPr>
          <p:txBody>
            <a:bodyPr wrap="none" anchor="ctr">
              <a:spAutoFit/>
            </a:bodyPr>
            <a:lstStyle/>
            <a:p>
              <a:pPr algn="ctr">
                <a:lnSpc>
                  <a:spcPct val="90000"/>
                </a:lnSpc>
              </a:pPr>
              <a:r>
                <a:rPr lang="en-US">
                  <a:latin typeface="Calibri" pitchFamily="34" charset="0"/>
                </a:rPr>
                <a:t>0.0</a:t>
              </a:r>
            </a:p>
          </p:txBody>
        </p:sp>
        <p:sp>
          <p:nvSpPr>
            <p:cNvPr id="37944" name="Text Box 71"/>
            <p:cNvSpPr txBox="1">
              <a:spLocks noChangeArrowheads="1"/>
            </p:cNvSpPr>
            <p:nvPr/>
          </p:nvSpPr>
          <p:spPr bwMode="auto">
            <a:xfrm>
              <a:off x="4593" y="1493"/>
              <a:ext cx="338" cy="215"/>
            </a:xfrm>
            <a:prstGeom prst="rect">
              <a:avLst/>
            </a:prstGeom>
            <a:noFill/>
            <a:ln w="9525">
              <a:noFill/>
              <a:miter lim="800000"/>
              <a:headEnd/>
              <a:tailEnd/>
            </a:ln>
          </p:spPr>
          <p:txBody>
            <a:bodyPr wrap="none" anchor="ctr">
              <a:spAutoFit/>
            </a:bodyPr>
            <a:lstStyle/>
            <a:p>
              <a:pPr algn="ctr">
                <a:lnSpc>
                  <a:spcPct val="90000"/>
                </a:lnSpc>
              </a:pPr>
              <a:r>
                <a:rPr lang="en-US">
                  <a:latin typeface="Calibri" pitchFamily="34" charset="0"/>
                </a:rPr>
                <a:t>2.2</a:t>
              </a:r>
            </a:p>
          </p:txBody>
        </p:sp>
        <p:sp>
          <p:nvSpPr>
            <p:cNvPr id="37945" name="Text Box 72"/>
            <p:cNvSpPr txBox="1">
              <a:spLocks noChangeArrowheads="1"/>
            </p:cNvSpPr>
            <p:nvPr/>
          </p:nvSpPr>
          <p:spPr bwMode="auto">
            <a:xfrm>
              <a:off x="96" y="1726"/>
              <a:ext cx="818" cy="215"/>
            </a:xfrm>
            <a:prstGeom prst="rect">
              <a:avLst/>
            </a:prstGeom>
            <a:noFill/>
            <a:ln w="9525">
              <a:noFill/>
              <a:miter lim="800000"/>
              <a:headEnd/>
              <a:tailEnd/>
            </a:ln>
          </p:spPr>
          <p:txBody>
            <a:bodyPr wrap="none" anchor="ctr">
              <a:spAutoFit/>
            </a:bodyPr>
            <a:lstStyle/>
            <a:p>
              <a:pPr>
                <a:lnSpc>
                  <a:spcPct val="90000"/>
                </a:lnSpc>
              </a:pPr>
              <a:r>
                <a:rPr lang="en-US">
                  <a:latin typeface="Calibri" pitchFamily="34" charset="0"/>
                </a:rPr>
                <a:t>Corn grain</a:t>
              </a:r>
            </a:p>
          </p:txBody>
        </p:sp>
        <p:sp>
          <p:nvSpPr>
            <p:cNvPr id="37946" name="Text Box 73"/>
            <p:cNvSpPr txBox="1">
              <a:spLocks noChangeArrowheads="1"/>
            </p:cNvSpPr>
            <p:nvPr/>
          </p:nvSpPr>
          <p:spPr bwMode="auto">
            <a:xfrm>
              <a:off x="2705" y="1720"/>
              <a:ext cx="421" cy="215"/>
            </a:xfrm>
            <a:prstGeom prst="rect">
              <a:avLst/>
            </a:prstGeom>
            <a:noFill/>
            <a:ln w="9525">
              <a:noFill/>
              <a:miter lim="800000"/>
              <a:headEnd/>
              <a:tailEnd/>
            </a:ln>
          </p:spPr>
          <p:txBody>
            <a:bodyPr wrap="none" anchor="ctr">
              <a:spAutoFit/>
            </a:bodyPr>
            <a:lstStyle/>
            <a:p>
              <a:pPr algn="ctr">
                <a:lnSpc>
                  <a:spcPct val="90000"/>
                </a:lnSpc>
              </a:pPr>
              <a:r>
                <a:rPr lang="en-US">
                  <a:latin typeface="Calibri" pitchFamily="34" charset="0"/>
                </a:rPr>
                <a:t>11.0</a:t>
              </a:r>
            </a:p>
          </p:txBody>
        </p:sp>
        <p:sp>
          <p:nvSpPr>
            <p:cNvPr id="37947" name="Text Box 74"/>
            <p:cNvSpPr txBox="1">
              <a:spLocks noChangeArrowheads="1"/>
            </p:cNvSpPr>
            <p:nvPr/>
          </p:nvSpPr>
          <p:spPr bwMode="auto">
            <a:xfrm>
              <a:off x="3601" y="1720"/>
              <a:ext cx="421" cy="215"/>
            </a:xfrm>
            <a:prstGeom prst="rect">
              <a:avLst/>
            </a:prstGeom>
            <a:noFill/>
            <a:ln w="9525">
              <a:noFill/>
              <a:miter lim="800000"/>
              <a:headEnd/>
              <a:tailEnd/>
            </a:ln>
          </p:spPr>
          <p:txBody>
            <a:bodyPr wrap="none" anchor="ctr">
              <a:spAutoFit/>
            </a:bodyPr>
            <a:lstStyle/>
            <a:p>
              <a:pPr algn="ctr">
                <a:lnSpc>
                  <a:spcPct val="90000"/>
                </a:lnSpc>
              </a:pPr>
              <a:r>
                <a:rPr lang="en-US">
                  <a:latin typeface="Calibri" pitchFamily="34" charset="0"/>
                </a:rPr>
                <a:t>11.0</a:t>
              </a:r>
            </a:p>
          </p:txBody>
        </p:sp>
        <p:sp>
          <p:nvSpPr>
            <p:cNvPr id="37948" name="Text Box 75"/>
            <p:cNvSpPr txBox="1">
              <a:spLocks noChangeArrowheads="1"/>
            </p:cNvSpPr>
            <p:nvPr/>
          </p:nvSpPr>
          <p:spPr bwMode="auto">
            <a:xfrm>
              <a:off x="4498" y="1720"/>
              <a:ext cx="421" cy="215"/>
            </a:xfrm>
            <a:prstGeom prst="rect">
              <a:avLst/>
            </a:prstGeom>
            <a:noFill/>
            <a:ln w="9525">
              <a:noFill/>
              <a:miter lim="800000"/>
              <a:headEnd/>
              <a:tailEnd/>
            </a:ln>
          </p:spPr>
          <p:txBody>
            <a:bodyPr wrap="none" anchor="ctr">
              <a:spAutoFit/>
            </a:bodyPr>
            <a:lstStyle/>
            <a:p>
              <a:pPr algn="ctr">
                <a:lnSpc>
                  <a:spcPct val="90000"/>
                </a:lnSpc>
              </a:pPr>
              <a:r>
                <a:rPr lang="en-US">
                  <a:latin typeface="Calibri" pitchFamily="34" charset="0"/>
                </a:rPr>
                <a:t>27.0</a:t>
              </a:r>
            </a:p>
          </p:txBody>
        </p:sp>
      </p:grpSp>
      <p:grpSp>
        <p:nvGrpSpPr>
          <p:cNvPr id="558207" name="Group 127"/>
          <p:cNvGrpSpPr>
            <a:grpSpLocks/>
          </p:cNvGrpSpPr>
          <p:nvPr/>
        </p:nvGrpSpPr>
        <p:grpSpPr bwMode="auto">
          <a:xfrm>
            <a:off x="134938" y="3092450"/>
            <a:ext cx="6823075" cy="711200"/>
            <a:chOff x="96" y="1948"/>
            <a:chExt cx="4835" cy="448"/>
          </a:xfrm>
        </p:grpSpPr>
        <p:sp>
          <p:nvSpPr>
            <p:cNvPr id="37933" name="Text Box 76"/>
            <p:cNvSpPr txBox="1">
              <a:spLocks noChangeArrowheads="1"/>
            </p:cNvSpPr>
            <p:nvPr/>
          </p:nvSpPr>
          <p:spPr bwMode="auto">
            <a:xfrm>
              <a:off x="96" y="1954"/>
              <a:ext cx="1824" cy="215"/>
            </a:xfrm>
            <a:prstGeom prst="rect">
              <a:avLst/>
            </a:prstGeom>
            <a:noFill/>
            <a:ln w="9525">
              <a:noFill/>
              <a:miter lim="800000"/>
              <a:headEnd/>
              <a:tailEnd/>
            </a:ln>
          </p:spPr>
          <p:txBody>
            <a:bodyPr wrap="none" anchor="ctr">
              <a:spAutoFit/>
            </a:bodyPr>
            <a:lstStyle/>
            <a:p>
              <a:pPr>
                <a:lnSpc>
                  <a:spcPct val="90000"/>
                </a:lnSpc>
              </a:pPr>
              <a:r>
                <a:rPr lang="en-US">
                  <a:latin typeface="Calibri" pitchFamily="34" charset="0"/>
                </a:rPr>
                <a:t>Soybean meal, solv (48%)</a:t>
              </a:r>
            </a:p>
          </p:txBody>
        </p:sp>
        <p:sp>
          <p:nvSpPr>
            <p:cNvPr id="37934" name="Text Box 77"/>
            <p:cNvSpPr txBox="1">
              <a:spLocks noChangeArrowheads="1"/>
            </p:cNvSpPr>
            <p:nvPr/>
          </p:nvSpPr>
          <p:spPr bwMode="auto">
            <a:xfrm>
              <a:off x="2800" y="1948"/>
              <a:ext cx="338" cy="215"/>
            </a:xfrm>
            <a:prstGeom prst="rect">
              <a:avLst/>
            </a:prstGeom>
            <a:noFill/>
            <a:ln w="9525">
              <a:noFill/>
              <a:miter lim="800000"/>
              <a:headEnd/>
              <a:tailEnd/>
            </a:ln>
          </p:spPr>
          <p:txBody>
            <a:bodyPr wrap="none" anchor="ctr">
              <a:spAutoFit/>
            </a:bodyPr>
            <a:lstStyle/>
            <a:p>
              <a:pPr algn="ctr">
                <a:lnSpc>
                  <a:spcPct val="90000"/>
                </a:lnSpc>
              </a:pPr>
              <a:r>
                <a:rPr lang="en-US">
                  <a:latin typeface="Calibri" pitchFamily="34" charset="0"/>
                </a:rPr>
                <a:t>2.0</a:t>
              </a:r>
            </a:p>
          </p:txBody>
        </p:sp>
        <p:sp>
          <p:nvSpPr>
            <p:cNvPr id="37935" name="Text Box 78"/>
            <p:cNvSpPr txBox="1">
              <a:spLocks noChangeArrowheads="1"/>
            </p:cNvSpPr>
            <p:nvPr/>
          </p:nvSpPr>
          <p:spPr bwMode="auto">
            <a:xfrm>
              <a:off x="3696" y="1948"/>
              <a:ext cx="338" cy="215"/>
            </a:xfrm>
            <a:prstGeom prst="rect">
              <a:avLst/>
            </a:prstGeom>
            <a:noFill/>
            <a:ln w="9525">
              <a:noFill/>
              <a:miter lim="800000"/>
              <a:headEnd/>
              <a:tailEnd/>
            </a:ln>
          </p:spPr>
          <p:txBody>
            <a:bodyPr wrap="none" anchor="ctr">
              <a:spAutoFit/>
            </a:bodyPr>
            <a:lstStyle/>
            <a:p>
              <a:pPr algn="ctr">
                <a:lnSpc>
                  <a:spcPct val="90000"/>
                </a:lnSpc>
              </a:pPr>
              <a:r>
                <a:rPr lang="en-US">
                  <a:latin typeface="Calibri" pitchFamily="34" charset="0"/>
                </a:rPr>
                <a:t>2.0</a:t>
              </a:r>
            </a:p>
          </p:txBody>
        </p:sp>
        <p:sp>
          <p:nvSpPr>
            <p:cNvPr id="37936" name="Text Box 79"/>
            <p:cNvSpPr txBox="1">
              <a:spLocks noChangeArrowheads="1"/>
            </p:cNvSpPr>
            <p:nvPr/>
          </p:nvSpPr>
          <p:spPr bwMode="auto">
            <a:xfrm>
              <a:off x="4593" y="1948"/>
              <a:ext cx="338" cy="215"/>
            </a:xfrm>
            <a:prstGeom prst="rect">
              <a:avLst/>
            </a:prstGeom>
            <a:noFill/>
            <a:ln w="9525">
              <a:noFill/>
              <a:miter lim="800000"/>
              <a:headEnd/>
              <a:tailEnd/>
            </a:ln>
          </p:spPr>
          <p:txBody>
            <a:bodyPr wrap="none" anchor="ctr">
              <a:spAutoFit/>
            </a:bodyPr>
            <a:lstStyle/>
            <a:p>
              <a:pPr algn="ctr">
                <a:lnSpc>
                  <a:spcPct val="90000"/>
                </a:lnSpc>
              </a:pPr>
              <a:r>
                <a:rPr lang="en-US">
                  <a:latin typeface="Calibri" pitchFamily="34" charset="0"/>
                </a:rPr>
                <a:t>4.0</a:t>
              </a:r>
            </a:p>
          </p:txBody>
        </p:sp>
        <p:sp>
          <p:nvSpPr>
            <p:cNvPr id="37937" name="Text Box 80"/>
            <p:cNvSpPr txBox="1">
              <a:spLocks noChangeArrowheads="1"/>
            </p:cNvSpPr>
            <p:nvPr/>
          </p:nvSpPr>
          <p:spPr bwMode="auto">
            <a:xfrm>
              <a:off x="96" y="2181"/>
              <a:ext cx="1734" cy="215"/>
            </a:xfrm>
            <a:prstGeom prst="rect">
              <a:avLst/>
            </a:prstGeom>
            <a:noFill/>
            <a:ln w="9525">
              <a:noFill/>
              <a:miter lim="800000"/>
              <a:headEnd/>
              <a:tailEnd/>
            </a:ln>
          </p:spPr>
          <p:txBody>
            <a:bodyPr wrap="none" anchor="ctr">
              <a:spAutoFit/>
            </a:bodyPr>
            <a:lstStyle/>
            <a:p>
              <a:pPr>
                <a:lnSpc>
                  <a:spcPct val="90000"/>
                </a:lnSpc>
              </a:pPr>
              <a:r>
                <a:rPr lang="en-US">
                  <a:latin typeface="Calibri" pitchFamily="34" charset="0"/>
                </a:rPr>
                <a:t>Soybean meal, expellers</a:t>
              </a:r>
            </a:p>
          </p:txBody>
        </p:sp>
        <p:sp>
          <p:nvSpPr>
            <p:cNvPr id="37938" name="Text Box 81"/>
            <p:cNvSpPr txBox="1">
              <a:spLocks noChangeArrowheads="1"/>
            </p:cNvSpPr>
            <p:nvPr/>
          </p:nvSpPr>
          <p:spPr bwMode="auto">
            <a:xfrm>
              <a:off x="2800" y="2175"/>
              <a:ext cx="338" cy="215"/>
            </a:xfrm>
            <a:prstGeom prst="rect">
              <a:avLst/>
            </a:prstGeom>
            <a:noFill/>
            <a:ln w="9525">
              <a:noFill/>
              <a:miter lim="800000"/>
              <a:headEnd/>
              <a:tailEnd/>
            </a:ln>
          </p:spPr>
          <p:txBody>
            <a:bodyPr wrap="none" anchor="ctr">
              <a:spAutoFit/>
            </a:bodyPr>
            <a:lstStyle/>
            <a:p>
              <a:pPr algn="ctr">
                <a:lnSpc>
                  <a:spcPct val="90000"/>
                </a:lnSpc>
              </a:pPr>
              <a:r>
                <a:rPr lang="en-US">
                  <a:latin typeface="Calibri" pitchFamily="34" charset="0"/>
                </a:rPr>
                <a:t>9.0</a:t>
              </a:r>
            </a:p>
          </p:txBody>
        </p:sp>
        <p:sp>
          <p:nvSpPr>
            <p:cNvPr id="37939" name="Text Box 82"/>
            <p:cNvSpPr txBox="1">
              <a:spLocks noChangeArrowheads="1"/>
            </p:cNvSpPr>
            <p:nvPr/>
          </p:nvSpPr>
          <p:spPr bwMode="auto">
            <a:xfrm>
              <a:off x="3696" y="2175"/>
              <a:ext cx="338" cy="215"/>
            </a:xfrm>
            <a:prstGeom prst="rect">
              <a:avLst/>
            </a:prstGeom>
            <a:noFill/>
            <a:ln w="9525">
              <a:noFill/>
              <a:miter lim="800000"/>
              <a:headEnd/>
              <a:tailEnd/>
            </a:ln>
          </p:spPr>
          <p:txBody>
            <a:bodyPr wrap="none" anchor="ctr">
              <a:spAutoFit/>
            </a:bodyPr>
            <a:lstStyle/>
            <a:p>
              <a:pPr algn="ctr">
                <a:lnSpc>
                  <a:spcPct val="90000"/>
                </a:lnSpc>
              </a:pPr>
              <a:r>
                <a:rPr lang="en-US">
                  <a:latin typeface="Calibri" pitchFamily="34" charset="0"/>
                </a:rPr>
                <a:t>9.0</a:t>
              </a:r>
            </a:p>
          </p:txBody>
        </p:sp>
        <p:sp>
          <p:nvSpPr>
            <p:cNvPr id="37940" name="Text Box 83"/>
            <p:cNvSpPr txBox="1">
              <a:spLocks noChangeArrowheads="1"/>
            </p:cNvSpPr>
            <p:nvPr/>
          </p:nvSpPr>
          <p:spPr bwMode="auto">
            <a:xfrm>
              <a:off x="4593" y="2175"/>
              <a:ext cx="338" cy="215"/>
            </a:xfrm>
            <a:prstGeom prst="rect">
              <a:avLst/>
            </a:prstGeom>
            <a:noFill/>
            <a:ln w="9525">
              <a:noFill/>
              <a:miter lim="800000"/>
              <a:headEnd/>
              <a:tailEnd/>
            </a:ln>
          </p:spPr>
          <p:txBody>
            <a:bodyPr wrap="none" anchor="ctr">
              <a:spAutoFit/>
            </a:bodyPr>
            <a:lstStyle/>
            <a:p>
              <a:pPr algn="ctr">
                <a:lnSpc>
                  <a:spcPct val="90000"/>
                </a:lnSpc>
              </a:pPr>
              <a:r>
                <a:rPr lang="en-US">
                  <a:latin typeface="Calibri" pitchFamily="34" charset="0"/>
                </a:rPr>
                <a:t>9.0</a:t>
              </a:r>
            </a:p>
          </p:txBody>
        </p:sp>
      </p:grpSp>
      <p:sp>
        <p:nvSpPr>
          <p:cNvPr id="37894" name="Line 51"/>
          <p:cNvSpPr>
            <a:spLocks noChangeShapeType="1"/>
          </p:cNvSpPr>
          <p:nvPr/>
        </p:nvSpPr>
        <p:spPr bwMode="auto">
          <a:xfrm>
            <a:off x="141288" y="1608138"/>
            <a:ext cx="6848475" cy="0"/>
          </a:xfrm>
          <a:prstGeom prst="line">
            <a:avLst/>
          </a:prstGeom>
          <a:noFill/>
          <a:ln w="19050">
            <a:solidFill>
              <a:schemeClr val="tx1"/>
            </a:solidFill>
            <a:round/>
            <a:headEnd/>
            <a:tailEnd/>
          </a:ln>
        </p:spPr>
        <p:txBody>
          <a:bodyPr anchor="ctr">
            <a:spAutoFit/>
          </a:bodyPr>
          <a:lstStyle/>
          <a:p>
            <a:endParaRPr lang="en-US"/>
          </a:p>
        </p:txBody>
      </p:sp>
      <p:sp>
        <p:nvSpPr>
          <p:cNvPr id="37895" name="Text Box 54"/>
          <p:cNvSpPr txBox="1">
            <a:spLocks noChangeArrowheads="1"/>
          </p:cNvSpPr>
          <p:nvPr/>
        </p:nvSpPr>
        <p:spPr bwMode="auto">
          <a:xfrm>
            <a:off x="3941763" y="1254125"/>
            <a:ext cx="317500" cy="341313"/>
          </a:xfrm>
          <a:prstGeom prst="rect">
            <a:avLst/>
          </a:prstGeom>
          <a:noFill/>
          <a:ln w="9525">
            <a:noFill/>
            <a:miter lim="800000"/>
            <a:headEnd/>
            <a:tailEnd/>
          </a:ln>
        </p:spPr>
        <p:txBody>
          <a:bodyPr wrap="none" anchor="ctr">
            <a:spAutoFit/>
          </a:bodyPr>
          <a:lstStyle/>
          <a:p>
            <a:pPr algn="ctr">
              <a:lnSpc>
                <a:spcPct val="90000"/>
              </a:lnSpc>
            </a:pPr>
            <a:r>
              <a:rPr lang="en-US">
                <a:latin typeface="Calibri" pitchFamily="34" charset="0"/>
              </a:rPr>
              <a:t>A</a:t>
            </a:r>
          </a:p>
        </p:txBody>
      </p:sp>
      <p:sp>
        <p:nvSpPr>
          <p:cNvPr id="37896" name="Text Box 55"/>
          <p:cNvSpPr txBox="1">
            <a:spLocks noChangeArrowheads="1"/>
          </p:cNvSpPr>
          <p:nvPr/>
        </p:nvSpPr>
        <p:spPr bwMode="auto">
          <a:xfrm>
            <a:off x="5210175" y="1254125"/>
            <a:ext cx="309563" cy="341313"/>
          </a:xfrm>
          <a:prstGeom prst="rect">
            <a:avLst/>
          </a:prstGeom>
          <a:noFill/>
          <a:ln w="9525">
            <a:noFill/>
            <a:miter lim="800000"/>
            <a:headEnd/>
            <a:tailEnd/>
          </a:ln>
        </p:spPr>
        <p:txBody>
          <a:bodyPr wrap="none" anchor="ctr">
            <a:spAutoFit/>
          </a:bodyPr>
          <a:lstStyle/>
          <a:p>
            <a:pPr algn="ctr">
              <a:lnSpc>
                <a:spcPct val="90000"/>
              </a:lnSpc>
            </a:pPr>
            <a:r>
              <a:rPr lang="en-US">
                <a:latin typeface="Calibri" pitchFamily="34" charset="0"/>
              </a:rPr>
              <a:t>B</a:t>
            </a:r>
          </a:p>
        </p:txBody>
      </p:sp>
      <p:sp>
        <p:nvSpPr>
          <p:cNvPr id="37897" name="Text Box 56"/>
          <p:cNvSpPr txBox="1">
            <a:spLocks noChangeArrowheads="1"/>
          </p:cNvSpPr>
          <p:nvPr/>
        </p:nvSpPr>
        <p:spPr bwMode="auto">
          <a:xfrm>
            <a:off x="6475413" y="1254125"/>
            <a:ext cx="307975" cy="341313"/>
          </a:xfrm>
          <a:prstGeom prst="rect">
            <a:avLst/>
          </a:prstGeom>
          <a:noFill/>
          <a:ln w="9525">
            <a:noFill/>
            <a:miter lim="800000"/>
            <a:headEnd/>
            <a:tailEnd/>
          </a:ln>
        </p:spPr>
        <p:txBody>
          <a:bodyPr wrap="none" anchor="ctr">
            <a:spAutoFit/>
          </a:bodyPr>
          <a:lstStyle/>
          <a:p>
            <a:pPr algn="ctr">
              <a:lnSpc>
                <a:spcPct val="90000"/>
              </a:lnSpc>
            </a:pPr>
            <a:r>
              <a:rPr lang="en-US">
                <a:latin typeface="Calibri" pitchFamily="34" charset="0"/>
              </a:rPr>
              <a:t>C</a:t>
            </a:r>
          </a:p>
        </p:txBody>
      </p:sp>
      <p:sp>
        <p:nvSpPr>
          <p:cNvPr id="37898" name="Line 105"/>
          <p:cNvSpPr>
            <a:spLocks noChangeShapeType="1"/>
          </p:cNvSpPr>
          <p:nvPr/>
        </p:nvSpPr>
        <p:spPr bwMode="auto">
          <a:xfrm>
            <a:off x="3767138" y="1201738"/>
            <a:ext cx="3222625" cy="0"/>
          </a:xfrm>
          <a:prstGeom prst="line">
            <a:avLst/>
          </a:prstGeom>
          <a:noFill/>
          <a:ln w="19050">
            <a:solidFill>
              <a:schemeClr val="tx1"/>
            </a:solidFill>
            <a:round/>
            <a:headEnd/>
            <a:tailEnd/>
          </a:ln>
        </p:spPr>
        <p:txBody>
          <a:bodyPr anchor="ctr">
            <a:spAutoFit/>
          </a:bodyPr>
          <a:lstStyle/>
          <a:p>
            <a:endParaRPr lang="en-US"/>
          </a:p>
        </p:txBody>
      </p:sp>
      <p:sp>
        <p:nvSpPr>
          <p:cNvPr id="37899" name="Text Box 106"/>
          <p:cNvSpPr txBox="1">
            <a:spLocks noChangeArrowheads="1"/>
          </p:cNvSpPr>
          <p:nvPr/>
        </p:nvSpPr>
        <p:spPr bwMode="auto">
          <a:xfrm>
            <a:off x="4978400" y="771525"/>
            <a:ext cx="792163" cy="341313"/>
          </a:xfrm>
          <a:prstGeom prst="rect">
            <a:avLst/>
          </a:prstGeom>
          <a:noFill/>
          <a:ln w="9525">
            <a:noFill/>
            <a:miter lim="800000"/>
            <a:headEnd/>
            <a:tailEnd/>
          </a:ln>
        </p:spPr>
        <p:txBody>
          <a:bodyPr wrap="none" anchor="ctr">
            <a:spAutoFit/>
          </a:bodyPr>
          <a:lstStyle/>
          <a:p>
            <a:pPr algn="ctr">
              <a:lnSpc>
                <a:spcPct val="90000"/>
              </a:lnSpc>
            </a:pPr>
            <a:r>
              <a:rPr lang="en-US">
                <a:latin typeface="Calibri" pitchFamily="34" charset="0"/>
              </a:rPr>
              <a:t>Ration</a:t>
            </a:r>
          </a:p>
        </p:txBody>
      </p:sp>
      <p:grpSp>
        <p:nvGrpSpPr>
          <p:cNvPr id="558208" name="Group 128"/>
          <p:cNvGrpSpPr>
            <a:grpSpLocks/>
          </p:cNvGrpSpPr>
          <p:nvPr/>
        </p:nvGrpSpPr>
        <p:grpSpPr bwMode="auto">
          <a:xfrm>
            <a:off x="134938" y="3813175"/>
            <a:ext cx="6854825" cy="1938338"/>
            <a:chOff x="96" y="2402"/>
            <a:chExt cx="4857" cy="1221"/>
          </a:xfrm>
        </p:grpSpPr>
        <p:sp>
          <p:nvSpPr>
            <p:cNvPr id="37912" name="Line 104"/>
            <p:cNvSpPr>
              <a:spLocks noChangeShapeType="1"/>
            </p:cNvSpPr>
            <p:nvPr/>
          </p:nvSpPr>
          <p:spPr bwMode="auto">
            <a:xfrm>
              <a:off x="96" y="3393"/>
              <a:ext cx="4857" cy="0"/>
            </a:xfrm>
            <a:prstGeom prst="line">
              <a:avLst/>
            </a:prstGeom>
            <a:noFill/>
            <a:ln w="19050">
              <a:solidFill>
                <a:schemeClr val="tx1"/>
              </a:solidFill>
              <a:round/>
              <a:headEnd/>
              <a:tailEnd/>
            </a:ln>
          </p:spPr>
          <p:txBody>
            <a:bodyPr anchor="ctr">
              <a:spAutoFit/>
            </a:bodyPr>
            <a:lstStyle/>
            <a:p>
              <a:endParaRPr lang="en-US"/>
            </a:p>
          </p:txBody>
        </p:sp>
        <p:sp>
          <p:nvSpPr>
            <p:cNvPr id="37913" name="Text Box 84"/>
            <p:cNvSpPr txBox="1">
              <a:spLocks noChangeArrowheads="1"/>
            </p:cNvSpPr>
            <p:nvPr/>
          </p:nvSpPr>
          <p:spPr bwMode="auto">
            <a:xfrm>
              <a:off x="96" y="2408"/>
              <a:ext cx="1468" cy="215"/>
            </a:xfrm>
            <a:prstGeom prst="rect">
              <a:avLst/>
            </a:prstGeom>
            <a:noFill/>
            <a:ln w="9525">
              <a:noFill/>
              <a:miter lim="800000"/>
              <a:headEnd/>
              <a:tailEnd/>
            </a:ln>
          </p:spPr>
          <p:txBody>
            <a:bodyPr wrap="none" anchor="ctr">
              <a:spAutoFit/>
            </a:bodyPr>
            <a:lstStyle/>
            <a:p>
              <a:pPr>
                <a:lnSpc>
                  <a:spcPct val="90000"/>
                </a:lnSpc>
              </a:pPr>
              <a:r>
                <a:rPr lang="en-US">
                  <a:latin typeface="Calibri" pitchFamily="34" charset="0"/>
                </a:rPr>
                <a:t>Sodium bicarbonate</a:t>
              </a:r>
            </a:p>
          </p:txBody>
        </p:sp>
        <p:sp>
          <p:nvSpPr>
            <p:cNvPr id="37914" name="Text Box 85"/>
            <p:cNvSpPr txBox="1">
              <a:spLocks noChangeArrowheads="1"/>
            </p:cNvSpPr>
            <p:nvPr/>
          </p:nvSpPr>
          <p:spPr bwMode="auto">
            <a:xfrm>
              <a:off x="2705" y="2402"/>
              <a:ext cx="421" cy="215"/>
            </a:xfrm>
            <a:prstGeom prst="rect">
              <a:avLst/>
            </a:prstGeom>
            <a:noFill/>
            <a:ln w="9525">
              <a:noFill/>
              <a:miter lim="800000"/>
              <a:headEnd/>
              <a:tailEnd/>
            </a:ln>
          </p:spPr>
          <p:txBody>
            <a:bodyPr wrap="none" anchor="ctr">
              <a:spAutoFit/>
            </a:bodyPr>
            <a:lstStyle/>
            <a:p>
              <a:pPr algn="ctr">
                <a:lnSpc>
                  <a:spcPct val="90000"/>
                </a:lnSpc>
              </a:pPr>
              <a:r>
                <a:rPr lang="en-US">
                  <a:latin typeface="Calibri" pitchFamily="34" charset="0"/>
                </a:rPr>
                <a:t>0.83</a:t>
              </a:r>
            </a:p>
          </p:txBody>
        </p:sp>
        <p:sp>
          <p:nvSpPr>
            <p:cNvPr id="37915" name="Text Box 86"/>
            <p:cNvSpPr txBox="1">
              <a:spLocks noChangeArrowheads="1"/>
            </p:cNvSpPr>
            <p:nvPr/>
          </p:nvSpPr>
          <p:spPr bwMode="auto">
            <a:xfrm>
              <a:off x="3601" y="2402"/>
              <a:ext cx="421" cy="215"/>
            </a:xfrm>
            <a:prstGeom prst="rect">
              <a:avLst/>
            </a:prstGeom>
            <a:noFill/>
            <a:ln w="9525">
              <a:noFill/>
              <a:miter lim="800000"/>
              <a:headEnd/>
              <a:tailEnd/>
            </a:ln>
          </p:spPr>
          <p:txBody>
            <a:bodyPr wrap="none" anchor="ctr">
              <a:spAutoFit/>
            </a:bodyPr>
            <a:lstStyle/>
            <a:p>
              <a:pPr algn="ctr">
                <a:lnSpc>
                  <a:spcPct val="90000"/>
                </a:lnSpc>
              </a:pPr>
              <a:r>
                <a:rPr lang="en-US">
                  <a:latin typeface="Calibri" pitchFamily="34" charset="0"/>
                </a:rPr>
                <a:t>0.83</a:t>
              </a:r>
            </a:p>
          </p:txBody>
        </p:sp>
        <p:sp>
          <p:nvSpPr>
            <p:cNvPr id="37916" name="Text Box 87"/>
            <p:cNvSpPr txBox="1">
              <a:spLocks noChangeArrowheads="1"/>
            </p:cNvSpPr>
            <p:nvPr/>
          </p:nvSpPr>
          <p:spPr bwMode="auto">
            <a:xfrm>
              <a:off x="4498" y="2402"/>
              <a:ext cx="421" cy="215"/>
            </a:xfrm>
            <a:prstGeom prst="rect">
              <a:avLst/>
            </a:prstGeom>
            <a:noFill/>
            <a:ln w="9525">
              <a:noFill/>
              <a:miter lim="800000"/>
              <a:headEnd/>
              <a:tailEnd/>
            </a:ln>
          </p:spPr>
          <p:txBody>
            <a:bodyPr wrap="none" anchor="ctr">
              <a:spAutoFit/>
            </a:bodyPr>
            <a:lstStyle/>
            <a:p>
              <a:pPr algn="ctr">
                <a:lnSpc>
                  <a:spcPct val="90000"/>
                </a:lnSpc>
              </a:pPr>
              <a:r>
                <a:rPr lang="en-US">
                  <a:latin typeface="Calibri" pitchFamily="34" charset="0"/>
                </a:rPr>
                <a:t>0.84</a:t>
              </a:r>
            </a:p>
          </p:txBody>
        </p:sp>
        <p:sp>
          <p:nvSpPr>
            <p:cNvPr id="37917" name="Text Box 88"/>
            <p:cNvSpPr txBox="1">
              <a:spLocks noChangeArrowheads="1"/>
            </p:cNvSpPr>
            <p:nvPr/>
          </p:nvSpPr>
          <p:spPr bwMode="auto">
            <a:xfrm>
              <a:off x="96" y="2636"/>
              <a:ext cx="1369" cy="215"/>
            </a:xfrm>
            <a:prstGeom prst="rect">
              <a:avLst/>
            </a:prstGeom>
            <a:noFill/>
            <a:ln w="9525">
              <a:noFill/>
              <a:miter lim="800000"/>
              <a:headEnd/>
              <a:tailEnd/>
            </a:ln>
          </p:spPr>
          <p:txBody>
            <a:bodyPr wrap="none" anchor="ctr">
              <a:spAutoFit/>
            </a:bodyPr>
            <a:lstStyle/>
            <a:p>
              <a:pPr>
                <a:lnSpc>
                  <a:spcPct val="90000"/>
                </a:lnSpc>
              </a:pPr>
              <a:r>
                <a:rPr lang="en-US">
                  <a:latin typeface="Calibri" pitchFamily="34" charset="0"/>
                </a:rPr>
                <a:t>Calcium carbonate</a:t>
              </a:r>
            </a:p>
          </p:txBody>
        </p:sp>
        <p:sp>
          <p:nvSpPr>
            <p:cNvPr id="37918" name="Text Box 89"/>
            <p:cNvSpPr txBox="1">
              <a:spLocks noChangeArrowheads="1"/>
            </p:cNvSpPr>
            <p:nvPr/>
          </p:nvSpPr>
          <p:spPr bwMode="auto">
            <a:xfrm>
              <a:off x="2705" y="2630"/>
              <a:ext cx="421" cy="215"/>
            </a:xfrm>
            <a:prstGeom prst="rect">
              <a:avLst/>
            </a:prstGeom>
            <a:noFill/>
            <a:ln w="9525">
              <a:noFill/>
              <a:miter lim="800000"/>
              <a:headEnd/>
              <a:tailEnd/>
            </a:ln>
          </p:spPr>
          <p:txBody>
            <a:bodyPr wrap="none" anchor="ctr">
              <a:spAutoFit/>
            </a:bodyPr>
            <a:lstStyle/>
            <a:p>
              <a:pPr algn="ctr">
                <a:lnSpc>
                  <a:spcPct val="90000"/>
                </a:lnSpc>
              </a:pPr>
              <a:r>
                <a:rPr lang="en-US">
                  <a:latin typeface="Calibri" pitchFamily="34" charset="0"/>
                </a:rPr>
                <a:t>0.48</a:t>
              </a:r>
            </a:p>
          </p:txBody>
        </p:sp>
        <p:sp>
          <p:nvSpPr>
            <p:cNvPr id="37919" name="Text Box 90"/>
            <p:cNvSpPr txBox="1">
              <a:spLocks noChangeArrowheads="1"/>
            </p:cNvSpPr>
            <p:nvPr/>
          </p:nvSpPr>
          <p:spPr bwMode="auto">
            <a:xfrm>
              <a:off x="3601" y="2630"/>
              <a:ext cx="421" cy="215"/>
            </a:xfrm>
            <a:prstGeom prst="rect">
              <a:avLst/>
            </a:prstGeom>
            <a:noFill/>
            <a:ln w="9525">
              <a:noFill/>
              <a:miter lim="800000"/>
              <a:headEnd/>
              <a:tailEnd/>
            </a:ln>
          </p:spPr>
          <p:txBody>
            <a:bodyPr wrap="none" anchor="ctr">
              <a:spAutoFit/>
            </a:bodyPr>
            <a:lstStyle/>
            <a:p>
              <a:pPr algn="ctr">
                <a:lnSpc>
                  <a:spcPct val="90000"/>
                </a:lnSpc>
              </a:pPr>
              <a:r>
                <a:rPr lang="en-US">
                  <a:latin typeface="Calibri" pitchFamily="34" charset="0"/>
                </a:rPr>
                <a:t>0.48</a:t>
              </a:r>
            </a:p>
          </p:txBody>
        </p:sp>
        <p:sp>
          <p:nvSpPr>
            <p:cNvPr id="37920" name="Text Box 91"/>
            <p:cNvSpPr txBox="1">
              <a:spLocks noChangeArrowheads="1"/>
            </p:cNvSpPr>
            <p:nvPr/>
          </p:nvSpPr>
          <p:spPr bwMode="auto">
            <a:xfrm>
              <a:off x="4498" y="2630"/>
              <a:ext cx="421" cy="215"/>
            </a:xfrm>
            <a:prstGeom prst="rect">
              <a:avLst/>
            </a:prstGeom>
            <a:noFill/>
            <a:ln w="9525">
              <a:noFill/>
              <a:miter lim="800000"/>
              <a:headEnd/>
              <a:tailEnd/>
            </a:ln>
          </p:spPr>
          <p:txBody>
            <a:bodyPr wrap="none" anchor="ctr">
              <a:spAutoFit/>
            </a:bodyPr>
            <a:lstStyle/>
            <a:p>
              <a:pPr algn="ctr">
                <a:lnSpc>
                  <a:spcPct val="90000"/>
                </a:lnSpc>
              </a:pPr>
              <a:r>
                <a:rPr lang="en-US">
                  <a:latin typeface="Calibri" pitchFamily="34" charset="0"/>
                </a:rPr>
                <a:t>0.48</a:t>
              </a:r>
            </a:p>
          </p:txBody>
        </p:sp>
        <p:sp>
          <p:nvSpPr>
            <p:cNvPr id="37921" name="Text Box 92"/>
            <p:cNvSpPr txBox="1">
              <a:spLocks noChangeArrowheads="1"/>
            </p:cNvSpPr>
            <p:nvPr/>
          </p:nvSpPr>
          <p:spPr bwMode="auto">
            <a:xfrm>
              <a:off x="96" y="2863"/>
              <a:ext cx="1815" cy="215"/>
            </a:xfrm>
            <a:prstGeom prst="rect">
              <a:avLst/>
            </a:prstGeom>
            <a:noFill/>
            <a:ln w="9525">
              <a:noFill/>
              <a:miter lim="800000"/>
              <a:headEnd/>
              <a:tailEnd/>
            </a:ln>
          </p:spPr>
          <p:txBody>
            <a:bodyPr wrap="none" anchor="ctr">
              <a:spAutoFit/>
            </a:bodyPr>
            <a:lstStyle/>
            <a:p>
              <a:pPr>
                <a:lnSpc>
                  <a:spcPct val="90000"/>
                </a:lnSpc>
              </a:pPr>
              <a:r>
                <a:rPr lang="en-US">
                  <a:latin typeface="Calibri" pitchFamily="34" charset="0"/>
                </a:rPr>
                <a:t>Mono-sodium phosphate</a:t>
              </a:r>
            </a:p>
          </p:txBody>
        </p:sp>
        <p:sp>
          <p:nvSpPr>
            <p:cNvPr id="37922" name="Text Box 93"/>
            <p:cNvSpPr txBox="1">
              <a:spLocks noChangeArrowheads="1"/>
            </p:cNvSpPr>
            <p:nvPr/>
          </p:nvSpPr>
          <p:spPr bwMode="auto">
            <a:xfrm>
              <a:off x="2705" y="2857"/>
              <a:ext cx="421" cy="215"/>
            </a:xfrm>
            <a:prstGeom prst="rect">
              <a:avLst/>
            </a:prstGeom>
            <a:noFill/>
            <a:ln w="9525">
              <a:noFill/>
              <a:miter lim="800000"/>
              <a:headEnd/>
              <a:tailEnd/>
            </a:ln>
          </p:spPr>
          <p:txBody>
            <a:bodyPr wrap="none" anchor="ctr">
              <a:spAutoFit/>
            </a:bodyPr>
            <a:lstStyle/>
            <a:p>
              <a:pPr algn="ctr">
                <a:lnSpc>
                  <a:spcPct val="90000"/>
                </a:lnSpc>
              </a:pPr>
              <a:r>
                <a:rPr lang="en-US">
                  <a:latin typeface="Calibri" pitchFamily="34" charset="0"/>
                </a:rPr>
                <a:t>0.16</a:t>
              </a:r>
            </a:p>
          </p:txBody>
        </p:sp>
        <p:sp>
          <p:nvSpPr>
            <p:cNvPr id="37923" name="Text Box 94"/>
            <p:cNvSpPr txBox="1">
              <a:spLocks noChangeArrowheads="1"/>
            </p:cNvSpPr>
            <p:nvPr/>
          </p:nvSpPr>
          <p:spPr bwMode="auto">
            <a:xfrm>
              <a:off x="3601" y="2857"/>
              <a:ext cx="421" cy="215"/>
            </a:xfrm>
            <a:prstGeom prst="rect">
              <a:avLst/>
            </a:prstGeom>
            <a:noFill/>
            <a:ln w="9525">
              <a:noFill/>
              <a:miter lim="800000"/>
              <a:headEnd/>
              <a:tailEnd/>
            </a:ln>
          </p:spPr>
          <p:txBody>
            <a:bodyPr wrap="none" anchor="ctr">
              <a:spAutoFit/>
            </a:bodyPr>
            <a:lstStyle/>
            <a:p>
              <a:pPr algn="ctr">
                <a:lnSpc>
                  <a:spcPct val="90000"/>
                </a:lnSpc>
              </a:pPr>
              <a:r>
                <a:rPr lang="en-US">
                  <a:latin typeface="Calibri" pitchFamily="34" charset="0"/>
                </a:rPr>
                <a:t>0.16</a:t>
              </a:r>
            </a:p>
          </p:txBody>
        </p:sp>
        <p:sp>
          <p:nvSpPr>
            <p:cNvPr id="37924" name="Text Box 95"/>
            <p:cNvSpPr txBox="1">
              <a:spLocks noChangeArrowheads="1"/>
            </p:cNvSpPr>
            <p:nvPr/>
          </p:nvSpPr>
          <p:spPr bwMode="auto">
            <a:xfrm>
              <a:off x="4498" y="2857"/>
              <a:ext cx="421" cy="215"/>
            </a:xfrm>
            <a:prstGeom prst="rect">
              <a:avLst/>
            </a:prstGeom>
            <a:noFill/>
            <a:ln w="9525">
              <a:noFill/>
              <a:miter lim="800000"/>
              <a:headEnd/>
              <a:tailEnd/>
            </a:ln>
          </p:spPr>
          <p:txBody>
            <a:bodyPr wrap="none" anchor="ctr">
              <a:spAutoFit/>
            </a:bodyPr>
            <a:lstStyle/>
            <a:p>
              <a:pPr algn="ctr">
                <a:lnSpc>
                  <a:spcPct val="90000"/>
                </a:lnSpc>
              </a:pPr>
              <a:r>
                <a:rPr lang="en-US">
                  <a:latin typeface="Calibri" pitchFamily="34" charset="0"/>
                </a:rPr>
                <a:t>0.16</a:t>
              </a:r>
            </a:p>
          </p:txBody>
        </p:sp>
        <p:sp>
          <p:nvSpPr>
            <p:cNvPr id="37925" name="Text Box 96"/>
            <p:cNvSpPr txBox="1">
              <a:spLocks noChangeArrowheads="1"/>
            </p:cNvSpPr>
            <p:nvPr/>
          </p:nvSpPr>
          <p:spPr bwMode="auto">
            <a:xfrm>
              <a:off x="96" y="3090"/>
              <a:ext cx="2011" cy="215"/>
            </a:xfrm>
            <a:prstGeom prst="rect">
              <a:avLst/>
            </a:prstGeom>
            <a:noFill/>
            <a:ln w="9525">
              <a:noFill/>
              <a:miter lim="800000"/>
              <a:headEnd/>
              <a:tailEnd/>
            </a:ln>
          </p:spPr>
          <p:txBody>
            <a:bodyPr wrap="none" anchor="ctr">
              <a:spAutoFit/>
            </a:bodyPr>
            <a:lstStyle/>
            <a:p>
              <a:pPr>
                <a:lnSpc>
                  <a:spcPct val="90000"/>
                </a:lnSpc>
              </a:pPr>
              <a:r>
                <a:rPr lang="en-US">
                  <a:latin typeface="Calibri" pitchFamily="34" charset="0"/>
                </a:rPr>
                <a:t>Micro min &amp; Vitamin premix</a:t>
              </a:r>
            </a:p>
          </p:txBody>
        </p:sp>
        <p:sp>
          <p:nvSpPr>
            <p:cNvPr id="37926" name="Text Box 97"/>
            <p:cNvSpPr txBox="1">
              <a:spLocks noChangeArrowheads="1"/>
            </p:cNvSpPr>
            <p:nvPr/>
          </p:nvSpPr>
          <p:spPr bwMode="auto">
            <a:xfrm>
              <a:off x="2705" y="3084"/>
              <a:ext cx="421" cy="215"/>
            </a:xfrm>
            <a:prstGeom prst="rect">
              <a:avLst/>
            </a:prstGeom>
            <a:noFill/>
            <a:ln w="9525">
              <a:noFill/>
              <a:miter lim="800000"/>
              <a:headEnd/>
              <a:tailEnd/>
            </a:ln>
          </p:spPr>
          <p:txBody>
            <a:bodyPr wrap="none" anchor="ctr">
              <a:spAutoFit/>
            </a:bodyPr>
            <a:lstStyle/>
            <a:p>
              <a:pPr algn="ctr">
                <a:lnSpc>
                  <a:spcPct val="90000"/>
                </a:lnSpc>
              </a:pPr>
              <a:r>
                <a:rPr lang="en-US">
                  <a:latin typeface="Calibri" pitchFamily="34" charset="0"/>
                </a:rPr>
                <a:t>1.30</a:t>
              </a:r>
            </a:p>
          </p:txBody>
        </p:sp>
        <p:sp>
          <p:nvSpPr>
            <p:cNvPr id="37927" name="Text Box 98"/>
            <p:cNvSpPr txBox="1">
              <a:spLocks noChangeArrowheads="1"/>
            </p:cNvSpPr>
            <p:nvPr/>
          </p:nvSpPr>
          <p:spPr bwMode="auto">
            <a:xfrm>
              <a:off x="3601" y="3084"/>
              <a:ext cx="421" cy="215"/>
            </a:xfrm>
            <a:prstGeom prst="rect">
              <a:avLst/>
            </a:prstGeom>
            <a:noFill/>
            <a:ln w="9525">
              <a:noFill/>
              <a:miter lim="800000"/>
              <a:headEnd/>
              <a:tailEnd/>
            </a:ln>
          </p:spPr>
          <p:txBody>
            <a:bodyPr wrap="none" anchor="ctr">
              <a:spAutoFit/>
            </a:bodyPr>
            <a:lstStyle/>
            <a:p>
              <a:pPr algn="ctr">
                <a:lnSpc>
                  <a:spcPct val="90000"/>
                </a:lnSpc>
              </a:pPr>
              <a:r>
                <a:rPr lang="en-US">
                  <a:latin typeface="Calibri" pitchFamily="34" charset="0"/>
                </a:rPr>
                <a:t>1.30</a:t>
              </a:r>
            </a:p>
          </p:txBody>
        </p:sp>
        <p:sp>
          <p:nvSpPr>
            <p:cNvPr id="37928" name="Text Box 99"/>
            <p:cNvSpPr txBox="1">
              <a:spLocks noChangeArrowheads="1"/>
            </p:cNvSpPr>
            <p:nvPr/>
          </p:nvSpPr>
          <p:spPr bwMode="auto">
            <a:xfrm>
              <a:off x="4498" y="3084"/>
              <a:ext cx="421" cy="215"/>
            </a:xfrm>
            <a:prstGeom prst="rect">
              <a:avLst/>
            </a:prstGeom>
            <a:noFill/>
            <a:ln w="9525">
              <a:noFill/>
              <a:miter lim="800000"/>
              <a:headEnd/>
              <a:tailEnd/>
            </a:ln>
          </p:spPr>
          <p:txBody>
            <a:bodyPr wrap="none" anchor="ctr">
              <a:spAutoFit/>
            </a:bodyPr>
            <a:lstStyle/>
            <a:p>
              <a:pPr algn="ctr">
                <a:lnSpc>
                  <a:spcPct val="90000"/>
                </a:lnSpc>
              </a:pPr>
              <a:r>
                <a:rPr lang="en-US">
                  <a:latin typeface="Calibri" pitchFamily="34" charset="0"/>
                </a:rPr>
                <a:t>1.30</a:t>
              </a:r>
            </a:p>
          </p:txBody>
        </p:sp>
        <p:sp>
          <p:nvSpPr>
            <p:cNvPr id="37929" name="Text Box 107"/>
            <p:cNvSpPr txBox="1">
              <a:spLocks noChangeArrowheads="1"/>
            </p:cNvSpPr>
            <p:nvPr/>
          </p:nvSpPr>
          <p:spPr bwMode="auto">
            <a:xfrm>
              <a:off x="96" y="3408"/>
              <a:ext cx="1531" cy="215"/>
            </a:xfrm>
            <a:prstGeom prst="rect">
              <a:avLst/>
            </a:prstGeom>
            <a:noFill/>
            <a:ln w="9525">
              <a:noFill/>
              <a:miter lim="800000"/>
              <a:headEnd/>
              <a:tailEnd/>
            </a:ln>
          </p:spPr>
          <p:txBody>
            <a:bodyPr wrap="none" anchor="ctr">
              <a:spAutoFit/>
            </a:bodyPr>
            <a:lstStyle/>
            <a:p>
              <a:pPr>
                <a:lnSpc>
                  <a:spcPct val="90000"/>
                </a:lnSpc>
              </a:pPr>
              <a:r>
                <a:rPr lang="en-US">
                  <a:latin typeface="Calibri" pitchFamily="34" charset="0"/>
                </a:rPr>
                <a:t>Total, % of ration DM</a:t>
              </a:r>
            </a:p>
          </p:txBody>
        </p:sp>
        <p:sp>
          <p:nvSpPr>
            <p:cNvPr id="37930" name="Text Box 108"/>
            <p:cNvSpPr txBox="1">
              <a:spLocks noChangeArrowheads="1"/>
            </p:cNvSpPr>
            <p:nvPr/>
          </p:nvSpPr>
          <p:spPr bwMode="auto">
            <a:xfrm>
              <a:off x="2725" y="3402"/>
              <a:ext cx="380" cy="215"/>
            </a:xfrm>
            <a:prstGeom prst="rect">
              <a:avLst/>
            </a:prstGeom>
            <a:noFill/>
            <a:ln w="9525">
              <a:noFill/>
              <a:miter lim="800000"/>
              <a:headEnd/>
              <a:tailEnd/>
            </a:ln>
          </p:spPr>
          <p:txBody>
            <a:bodyPr wrap="none" anchor="ctr">
              <a:spAutoFit/>
            </a:bodyPr>
            <a:lstStyle/>
            <a:p>
              <a:pPr algn="ctr">
                <a:lnSpc>
                  <a:spcPct val="90000"/>
                </a:lnSpc>
              </a:pPr>
              <a:r>
                <a:rPr lang="en-US">
                  <a:latin typeface="Calibri" pitchFamily="34" charset="0"/>
                </a:rPr>
                <a:t>100</a:t>
              </a:r>
            </a:p>
          </p:txBody>
        </p:sp>
        <p:sp>
          <p:nvSpPr>
            <p:cNvPr id="37931" name="Text Box 109"/>
            <p:cNvSpPr txBox="1">
              <a:spLocks noChangeArrowheads="1"/>
            </p:cNvSpPr>
            <p:nvPr/>
          </p:nvSpPr>
          <p:spPr bwMode="auto">
            <a:xfrm>
              <a:off x="3621" y="3402"/>
              <a:ext cx="380" cy="215"/>
            </a:xfrm>
            <a:prstGeom prst="rect">
              <a:avLst/>
            </a:prstGeom>
            <a:noFill/>
            <a:ln w="9525">
              <a:noFill/>
              <a:miter lim="800000"/>
              <a:headEnd/>
              <a:tailEnd/>
            </a:ln>
          </p:spPr>
          <p:txBody>
            <a:bodyPr wrap="none" anchor="ctr">
              <a:spAutoFit/>
            </a:bodyPr>
            <a:lstStyle/>
            <a:p>
              <a:pPr algn="ctr">
                <a:lnSpc>
                  <a:spcPct val="90000"/>
                </a:lnSpc>
              </a:pPr>
              <a:r>
                <a:rPr lang="en-US">
                  <a:latin typeface="Calibri" pitchFamily="34" charset="0"/>
                </a:rPr>
                <a:t>100</a:t>
              </a:r>
            </a:p>
          </p:txBody>
        </p:sp>
        <p:sp>
          <p:nvSpPr>
            <p:cNvPr id="37932" name="Text Box 110"/>
            <p:cNvSpPr txBox="1">
              <a:spLocks noChangeArrowheads="1"/>
            </p:cNvSpPr>
            <p:nvPr/>
          </p:nvSpPr>
          <p:spPr bwMode="auto">
            <a:xfrm>
              <a:off x="4518" y="3402"/>
              <a:ext cx="380" cy="215"/>
            </a:xfrm>
            <a:prstGeom prst="rect">
              <a:avLst/>
            </a:prstGeom>
            <a:noFill/>
            <a:ln w="9525">
              <a:noFill/>
              <a:miter lim="800000"/>
              <a:headEnd/>
              <a:tailEnd/>
            </a:ln>
          </p:spPr>
          <p:txBody>
            <a:bodyPr wrap="none" anchor="ctr">
              <a:spAutoFit/>
            </a:bodyPr>
            <a:lstStyle/>
            <a:p>
              <a:pPr algn="ctr">
                <a:lnSpc>
                  <a:spcPct val="90000"/>
                </a:lnSpc>
              </a:pPr>
              <a:r>
                <a:rPr lang="en-US">
                  <a:latin typeface="Calibri" pitchFamily="34" charset="0"/>
                </a:rPr>
                <a:t>100</a:t>
              </a:r>
            </a:p>
          </p:txBody>
        </p:sp>
      </p:grpSp>
      <p:sp>
        <p:nvSpPr>
          <p:cNvPr id="558210" name="Text Box 130"/>
          <p:cNvSpPr txBox="1">
            <a:spLocks noChangeArrowheads="1"/>
          </p:cNvSpPr>
          <p:nvPr/>
        </p:nvSpPr>
        <p:spPr bwMode="auto">
          <a:xfrm>
            <a:off x="6953250" y="1639888"/>
            <a:ext cx="2109788" cy="3916362"/>
          </a:xfrm>
          <a:prstGeom prst="rect">
            <a:avLst/>
          </a:prstGeom>
          <a:noFill/>
          <a:ln w="9525">
            <a:noFill/>
            <a:miter lim="800000"/>
            <a:headEnd/>
            <a:tailEnd/>
          </a:ln>
        </p:spPr>
        <p:txBody>
          <a:bodyPr anchor="ctr">
            <a:spAutoFit/>
          </a:bodyPr>
          <a:lstStyle/>
          <a:p>
            <a:pPr algn="ctr">
              <a:lnSpc>
                <a:spcPct val="90000"/>
              </a:lnSpc>
            </a:pPr>
            <a:r>
              <a:rPr lang="en-US">
                <a:solidFill>
                  <a:schemeClr val="tx2"/>
                </a:solidFill>
                <a:latin typeface="Comic Sans MS" pitchFamily="66" charset="0"/>
              </a:rPr>
              <a:t>B - A = </a:t>
            </a:r>
          </a:p>
          <a:p>
            <a:pPr algn="ctr">
              <a:lnSpc>
                <a:spcPct val="90000"/>
              </a:lnSpc>
            </a:pPr>
            <a:r>
              <a:rPr lang="en-US">
                <a:solidFill>
                  <a:schemeClr val="tx2"/>
                </a:solidFill>
                <a:latin typeface="Comic Sans MS" pitchFamily="66" charset="0"/>
              </a:rPr>
              <a:t>Effect of drop in DMI;</a:t>
            </a:r>
          </a:p>
          <a:p>
            <a:pPr algn="ctr">
              <a:lnSpc>
                <a:spcPct val="90000"/>
              </a:lnSpc>
            </a:pPr>
            <a:endParaRPr lang="en-US" sz="1200">
              <a:solidFill>
                <a:schemeClr val="tx2"/>
              </a:solidFill>
              <a:latin typeface="Comic Sans MS" pitchFamily="66" charset="0"/>
            </a:endParaRPr>
          </a:p>
          <a:p>
            <a:pPr algn="ctr">
              <a:lnSpc>
                <a:spcPct val="90000"/>
              </a:lnSpc>
            </a:pPr>
            <a:r>
              <a:rPr lang="en-US">
                <a:solidFill>
                  <a:schemeClr val="tx2"/>
                </a:solidFill>
                <a:latin typeface="Comic Sans MS" pitchFamily="66" charset="0"/>
              </a:rPr>
              <a:t>C - B =</a:t>
            </a:r>
          </a:p>
          <a:p>
            <a:pPr algn="ctr">
              <a:lnSpc>
                <a:spcPct val="90000"/>
              </a:lnSpc>
            </a:pPr>
            <a:r>
              <a:rPr lang="en-US">
                <a:solidFill>
                  <a:schemeClr val="tx2"/>
                </a:solidFill>
                <a:latin typeface="Comic Sans MS" pitchFamily="66" charset="0"/>
              </a:rPr>
              <a:t>Re-balancing assuming lower DMI for same production as in ration A.</a:t>
            </a:r>
          </a:p>
          <a:p>
            <a:pPr algn="ctr">
              <a:lnSpc>
                <a:spcPct val="90000"/>
              </a:lnSpc>
            </a:pPr>
            <a:endParaRPr lang="en-US" sz="1200">
              <a:solidFill>
                <a:schemeClr val="tx2"/>
              </a:solidFill>
              <a:latin typeface="Comic Sans MS" pitchFamily="66" charset="0"/>
            </a:endParaRPr>
          </a:p>
          <a:p>
            <a:pPr algn="ctr">
              <a:lnSpc>
                <a:spcPct val="90000"/>
              </a:lnSpc>
            </a:pPr>
            <a:r>
              <a:rPr lang="en-US">
                <a:solidFill>
                  <a:schemeClr val="tx2"/>
                </a:solidFill>
                <a:latin typeface="Comic Sans MS" pitchFamily="66" charset="0"/>
              </a:rPr>
              <a:t>A - C = Two rations with same milk production but different intake </a:t>
            </a:r>
          </a:p>
        </p:txBody>
      </p:sp>
      <p:grpSp>
        <p:nvGrpSpPr>
          <p:cNvPr id="558215" name="Group 135"/>
          <p:cNvGrpSpPr>
            <a:grpSpLocks/>
          </p:cNvGrpSpPr>
          <p:nvPr/>
        </p:nvGrpSpPr>
        <p:grpSpPr bwMode="auto">
          <a:xfrm>
            <a:off x="134938" y="5821363"/>
            <a:ext cx="6883400" cy="752475"/>
            <a:chOff x="96" y="3667"/>
            <a:chExt cx="4878" cy="474"/>
          </a:xfrm>
        </p:grpSpPr>
        <p:sp>
          <p:nvSpPr>
            <p:cNvPr id="37904" name="Text Box 111"/>
            <p:cNvSpPr txBox="1">
              <a:spLocks noChangeArrowheads="1"/>
            </p:cNvSpPr>
            <p:nvPr/>
          </p:nvSpPr>
          <p:spPr bwMode="auto">
            <a:xfrm>
              <a:off x="96" y="3673"/>
              <a:ext cx="1678" cy="215"/>
            </a:xfrm>
            <a:prstGeom prst="rect">
              <a:avLst/>
            </a:prstGeom>
            <a:noFill/>
            <a:ln w="9525">
              <a:noFill/>
              <a:miter lim="800000"/>
              <a:headEnd/>
              <a:tailEnd/>
            </a:ln>
          </p:spPr>
          <p:txBody>
            <a:bodyPr wrap="none" anchor="ctr">
              <a:spAutoFit/>
            </a:bodyPr>
            <a:lstStyle/>
            <a:p>
              <a:pPr>
                <a:lnSpc>
                  <a:spcPct val="90000"/>
                </a:lnSpc>
              </a:pPr>
              <a:r>
                <a:rPr lang="en-US">
                  <a:latin typeface="Calibri" pitchFamily="34" charset="0"/>
                </a:rPr>
                <a:t>Dry matter intake, kg/d</a:t>
              </a:r>
            </a:p>
          </p:txBody>
        </p:sp>
        <p:sp>
          <p:nvSpPr>
            <p:cNvPr id="37905" name="Text Box 112"/>
            <p:cNvSpPr txBox="1">
              <a:spLocks noChangeArrowheads="1"/>
            </p:cNvSpPr>
            <p:nvPr/>
          </p:nvSpPr>
          <p:spPr bwMode="auto">
            <a:xfrm>
              <a:off x="2760" y="3667"/>
              <a:ext cx="421" cy="215"/>
            </a:xfrm>
            <a:prstGeom prst="rect">
              <a:avLst/>
            </a:prstGeom>
            <a:noFill/>
            <a:ln w="9525">
              <a:noFill/>
              <a:miter lim="800000"/>
              <a:headEnd/>
              <a:tailEnd/>
            </a:ln>
          </p:spPr>
          <p:txBody>
            <a:bodyPr wrap="none" anchor="ctr">
              <a:spAutoFit/>
            </a:bodyPr>
            <a:lstStyle/>
            <a:p>
              <a:pPr algn="ctr">
                <a:lnSpc>
                  <a:spcPct val="90000"/>
                </a:lnSpc>
              </a:pPr>
              <a:r>
                <a:rPr lang="en-US">
                  <a:latin typeface="Calibri" pitchFamily="34" charset="0"/>
                </a:rPr>
                <a:t>24.6</a:t>
              </a:r>
            </a:p>
          </p:txBody>
        </p:sp>
        <p:sp>
          <p:nvSpPr>
            <p:cNvPr id="37906" name="Text Box 113"/>
            <p:cNvSpPr txBox="1">
              <a:spLocks noChangeArrowheads="1"/>
            </p:cNvSpPr>
            <p:nvPr/>
          </p:nvSpPr>
          <p:spPr bwMode="auto">
            <a:xfrm>
              <a:off x="3656" y="3667"/>
              <a:ext cx="421" cy="215"/>
            </a:xfrm>
            <a:prstGeom prst="rect">
              <a:avLst/>
            </a:prstGeom>
            <a:noFill/>
            <a:ln w="9525">
              <a:noFill/>
              <a:miter lim="800000"/>
              <a:headEnd/>
              <a:tailEnd/>
            </a:ln>
          </p:spPr>
          <p:txBody>
            <a:bodyPr wrap="none" anchor="ctr">
              <a:spAutoFit/>
            </a:bodyPr>
            <a:lstStyle/>
            <a:p>
              <a:pPr algn="ctr">
                <a:lnSpc>
                  <a:spcPct val="90000"/>
                </a:lnSpc>
              </a:pPr>
              <a:r>
                <a:rPr lang="en-US">
                  <a:latin typeface="Calibri" pitchFamily="34" charset="0"/>
                </a:rPr>
                <a:t>22.5</a:t>
              </a:r>
            </a:p>
          </p:txBody>
        </p:sp>
        <p:sp>
          <p:nvSpPr>
            <p:cNvPr id="37907" name="Text Box 114"/>
            <p:cNvSpPr txBox="1">
              <a:spLocks noChangeArrowheads="1"/>
            </p:cNvSpPr>
            <p:nvPr/>
          </p:nvSpPr>
          <p:spPr bwMode="auto">
            <a:xfrm>
              <a:off x="4553" y="3667"/>
              <a:ext cx="421" cy="215"/>
            </a:xfrm>
            <a:prstGeom prst="rect">
              <a:avLst/>
            </a:prstGeom>
            <a:noFill/>
            <a:ln w="9525">
              <a:noFill/>
              <a:miter lim="800000"/>
              <a:headEnd/>
              <a:tailEnd/>
            </a:ln>
          </p:spPr>
          <p:txBody>
            <a:bodyPr wrap="none" anchor="ctr">
              <a:spAutoFit/>
            </a:bodyPr>
            <a:lstStyle/>
            <a:p>
              <a:pPr algn="ctr">
                <a:lnSpc>
                  <a:spcPct val="90000"/>
                </a:lnSpc>
              </a:pPr>
              <a:r>
                <a:rPr lang="en-US">
                  <a:latin typeface="Calibri" pitchFamily="34" charset="0"/>
                </a:rPr>
                <a:t>22.5</a:t>
              </a:r>
            </a:p>
          </p:txBody>
        </p:sp>
        <p:sp>
          <p:nvSpPr>
            <p:cNvPr id="37908" name="Text Box 131"/>
            <p:cNvSpPr txBox="1">
              <a:spLocks noChangeArrowheads="1"/>
            </p:cNvSpPr>
            <p:nvPr/>
          </p:nvSpPr>
          <p:spPr bwMode="auto">
            <a:xfrm>
              <a:off x="96" y="3926"/>
              <a:ext cx="2112" cy="215"/>
            </a:xfrm>
            <a:prstGeom prst="rect">
              <a:avLst/>
            </a:prstGeom>
            <a:noFill/>
            <a:ln w="9525">
              <a:noFill/>
              <a:miter lim="800000"/>
              <a:headEnd/>
              <a:tailEnd/>
            </a:ln>
          </p:spPr>
          <p:txBody>
            <a:bodyPr wrap="none" anchor="ctr">
              <a:spAutoFit/>
            </a:bodyPr>
            <a:lstStyle/>
            <a:p>
              <a:pPr>
                <a:lnSpc>
                  <a:spcPct val="90000"/>
                </a:lnSpc>
              </a:pPr>
              <a:r>
                <a:rPr lang="en-US">
                  <a:latin typeface="Calibri" pitchFamily="34" charset="0"/>
                </a:rPr>
                <a:t>Milk from Met. Protein, kg/d  </a:t>
              </a:r>
            </a:p>
          </p:txBody>
        </p:sp>
        <p:sp>
          <p:nvSpPr>
            <p:cNvPr id="37909" name="Text Box 132"/>
            <p:cNvSpPr txBox="1">
              <a:spLocks noChangeArrowheads="1"/>
            </p:cNvSpPr>
            <p:nvPr/>
          </p:nvSpPr>
          <p:spPr bwMode="auto">
            <a:xfrm>
              <a:off x="2760" y="3920"/>
              <a:ext cx="421" cy="215"/>
            </a:xfrm>
            <a:prstGeom prst="rect">
              <a:avLst/>
            </a:prstGeom>
            <a:noFill/>
            <a:ln w="9525">
              <a:noFill/>
              <a:miter lim="800000"/>
              <a:headEnd/>
              <a:tailEnd/>
            </a:ln>
          </p:spPr>
          <p:txBody>
            <a:bodyPr wrap="none" anchor="ctr">
              <a:spAutoFit/>
            </a:bodyPr>
            <a:lstStyle/>
            <a:p>
              <a:pPr algn="ctr">
                <a:lnSpc>
                  <a:spcPct val="90000"/>
                </a:lnSpc>
              </a:pPr>
              <a:r>
                <a:rPr lang="en-US">
                  <a:latin typeface="Calibri" pitchFamily="34" charset="0"/>
                </a:rPr>
                <a:t>38.3</a:t>
              </a:r>
            </a:p>
          </p:txBody>
        </p:sp>
        <p:sp>
          <p:nvSpPr>
            <p:cNvPr id="37910" name="Text Box 133"/>
            <p:cNvSpPr txBox="1">
              <a:spLocks noChangeArrowheads="1"/>
            </p:cNvSpPr>
            <p:nvPr/>
          </p:nvSpPr>
          <p:spPr bwMode="auto">
            <a:xfrm>
              <a:off x="3656" y="3920"/>
              <a:ext cx="421" cy="215"/>
            </a:xfrm>
            <a:prstGeom prst="rect">
              <a:avLst/>
            </a:prstGeom>
            <a:noFill/>
            <a:ln w="9525">
              <a:noFill/>
              <a:miter lim="800000"/>
              <a:headEnd/>
              <a:tailEnd/>
            </a:ln>
          </p:spPr>
          <p:txBody>
            <a:bodyPr wrap="none" anchor="ctr">
              <a:spAutoFit/>
            </a:bodyPr>
            <a:lstStyle/>
            <a:p>
              <a:pPr algn="ctr">
                <a:lnSpc>
                  <a:spcPct val="90000"/>
                </a:lnSpc>
              </a:pPr>
              <a:r>
                <a:rPr lang="en-US">
                  <a:latin typeface="Calibri" pitchFamily="34" charset="0"/>
                </a:rPr>
                <a:t>34.4</a:t>
              </a:r>
            </a:p>
          </p:txBody>
        </p:sp>
        <p:sp>
          <p:nvSpPr>
            <p:cNvPr id="37911" name="Text Box 134"/>
            <p:cNvSpPr txBox="1">
              <a:spLocks noChangeArrowheads="1"/>
            </p:cNvSpPr>
            <p:nvPr/>
          </p:nvSpPr>
          <p:spPr bwMode="auto">
            <a:xfrm>
              <a:off x="4553" y="3920"/>
              <a:ext cx="421" cy="215"/>
            </a:xfrm>
            <a:prstGeom prst="rect">
              <a:avLst/>
            </a:prstGeom>
            <a:noFill/>
            <a:ln w="9525">
              <a:noFill/>
              <a:miter lim="800000"/>
              <a:headEnd/>
              <a:tailEnd/>
            </a:ln>
          </p:spPr>
          <p:txBody>
            <a:bodyPr wrap="none" anchor="ctr">
              <a:spAutoFit/>
            </a:bodyPr>
            <a:lstStyle/>
            <a:p>
              <a:pPr algn="ctr">
                <a:lnSpc>
                  <a:spcPct val="90000"/>
                </a:lnSpc>
              </a:pPr>
              <a:r>
                <a:rPr lang="en-US">
                  <a:latin typeface="Calibri" pitchFamily="34" charset="0"/>
                </a:rPr>
                <a:t>38.3</a:t>
              </a:r>
            </a:p>
          </p:txBody>
        </p:sp>
      </p:grpSp>
      <p:sp>
        <p:nvSpPr>
          <p:cNvPr id="37903" name="Text Box 137"/>
          <p:cNvSpPr txBox="1">
            <a:spLocks noChangeArrowheads="1"/>
          </p:cNvSpPr>
          <p:nvPr/>
        </p:nvSpPr>
        <p:spPr bwMode="auto">
          <a:xfrm>
            <a:off x="141288" y="1177925"/>
            <a:ext cx="2520950" cy="369888"/>
          </a:xfrm>
          <a:prstGeom prst="rect">
            <a:avLst/>
          </a:prstGeom>
          <a:noFill/>
          <a:ln w="9525">
            <a:noFill/>
            <a:miter lim="800000"/>
            <a:headEnd/>
            <a:tailEnd/>
          </a:ln>
        </p:spPr>
        <p:txBody>
          <a:bodyPr wrap="none">
            <a:spAutoFit/>
          </a:bodyPr>
          <a:lstStyle/>
          <a:p>
            <a:pPr>
              <a:spcBef>
                <a:spcPct val="50000"/>
              </a:spcBef>
            </a:pPr>
            <a:r>
              <a:rPr lang="en-US">
                <a:latin typeface="Calibri" pitchFamily="34" charset="0"/>
              </a:rPr>
              <a:t>Ingredients, % ration DM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58205"/>
                                        </p:tgtEl>
                                        <p:attrNameLst>
                                          <p:attrName>style.visibility</p:attrName>
                                        </p:attrNameLst>
                                      </p:cBhvr>
                                      <p:to>
                                        <p:strVal val="visible"/>
                                      </p:to>
                                    </p:set>
                                    <p:animEffect transition="in" filter="wipe(left)">
                                      <p:cBhvr>
                                        <p:cTn id="7" dur="500"/>
                                        <p:tgtEl>
                                          <p:spTgt spid="55820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58206"/>
                                        </p:tgtEl>
                                        <p:attrNameLst>
                                          <p:attrName>style.visibility</p:attrName>
                                        </p:attrNameLst>
                                      </p:cBhvr>
                                      <p:to>
                                        <p:strVal val="visible"/>
                                      </p:to>
                                    </p:set>
                                    <p:animEffect transition="in" filter="wipe(left)">
                                      <p:cBhvr>
                                        <p:cTn id="12" dur="500"/>
                                        <p:tgtEl>
                                          <p:spTgt spid="55820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58207"/>
                                        </p:tgtEl>
                                        <p:attrNameLst>
                                          <p:attrName>style.visibility</p:attrName>
                                        </p:attrNameLst>
                                      </p:cBhvr>
                                      <p:to>
                                        <p:strVal val="visible"/>
                                      </p:to>
                                    </p:set>
                                    <p:animEffect transition="in" filter="wipe(left)">
                                      <p:cBhvr>
                                        <p:cTn id="17" dur="500"/>
                                        <p:tgtEl>
                                          <p:spTgt spid="55820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558208"/>
                                        </p:tgtEl>
                                        <p:attrNameLst>
                                          <p:attrName>style.visibility</p:attrName>
                                        </p:attrNameLst>
                                      </p:cBhvr>
                                      <p:to>
                                        <p:strVal val="visible"/>
                                      </p:to>
                                    </p:set>
                                    <p:animEffect transition="in" filter="wipe(left)">
                                      <p:cBhvr>
                                        <p:cTn id="22" dur="500"/>
                                        <p:tgtEl>
                                          <p:spTgt spid="55820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558215"/>
                                        </p:tgtEl>
                                        <p:attrNameLst>
                                          <p:attrName>style.visibility</p:attrName>
                                        </p:attrNameLst>
                                      </p:cBhvr>
                                      <p:to>
                                        <p:strVal val="visible"/>
                                      </p:to>
                                    </p:set>
                                    <p:animEffect transition="in" filter="wipe(up)">
                                      <p:cBhvr>
                                        <p:cTn id="27" dur="500"/>
                                        <p:tgtEl>
                                          <p:spTgt spid="55821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3" presetClass="entr" presetSubtype="16" fill="hold" grpId="0" nodeType="clickEffect">
                                  <p:stCondLst>
                                    <p:cond delay="0"/>
                                  </p:stCondLst>
                                  <p:childTnLst>
                                    <p:set>
                                      <p:cBhvr>
                                        <p:cTn id="31" dur="1" fill="hold">
                                          <p:stCondLst>
                                            <p:cond delay="0"/>
                                          </p:stCondLst>
                                        </p:cTn>
                                        <p:tgtEl>
                                          <p:spTgt spid="558210"/>
                                        </p:tgtEl>
                                        <p:attrNameLst>
                                          <p:attrName>style.visibility</p:attrName>
                                        </p:attrNameLst>
                                      </p:cBhvr>
                                      <p:to>
                                        <p:strVal val="visible"/>
                                      </p:to>
                                    </p:set>
                                    <p:anim calcmode="lin" valueType="num">
                                      <p:cBhvr>
                                        <p:cTn id="32" dur="500" fill="hold"/>
                                        <p:tgtEl>
                                          <p:spTgt spid="558210"/>
                                        </p:tgtEl>
                                        <p:attrNameLst>
                                          <p:attrName>ppt_w</p:attrName>
                                        </p:attrNameLst>
                                      </p:cBhvr>
                                      <p:tavLst>
                                        <p:tav tm="0">
                                          <p:val>
                                            <p:fltVal val="0"/>
                                          </p:val>
                                        </p:tav>
                                        <p:tav tm="100000">
                                          <p:val>
                                            <p:strVal val="#ppt_w"/>
                                          </p:val>
                                        </p:tav>
                                      </p:tavLst>
                                    </p:anim>
                                    <p:anim calcmode="lin" valueType="num">
                                      <p:cBhvr>
                                        <p:cTn id="33" dur="500" fill="hold"/>
                                        <p:tgtEl>
                                          <p:spTgt spid="55821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8210"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 name="Slide Number Placeholder 4"/>
          <p:cNvSpPr>
            <a:spLocks noGrp="1"/>
          </p:cNvSpPr>
          <p:nvPr>
            <p:ph type="sldNum" sz="quarter" idx="12"/>
          </p:nvPr>
        </p:nvSpPr>
        <p:spPr/>
        <p:txBody>
          <a:bodyPr/>
          <a:lstStyle/>
          <a:p>
            <a:pPr>
              <a:defRPr/>
            </a:pPr>
            <a:r>
              <a:rPr lang="en-US" dirty="0"/>
              <a:t> </a:t>
            </a:r>
            <a:endParaRPr lang="en-US" sz="1800" dirty="0">
              <a:solidFill>
                <a:schemeClr val="tx1"/>
              </a:solidFill>
            </a:endParaRPr>
          </a:p>
        </p:txBody>
      </p:sp>
      <p:sp>
        <p:nvSpPr>
          <p:cNvPr id="38914" name="Rectangle 2"/>
          <p:cNvSpPr>
            <a:spLocks noGrp="1" noChangeArrowheads="1"/>
          </p:cNvSpPr>
          <p:nvPr>
            <p:ph type="title"/>
          </p:nvPr>
        </p:nvSpPr>
        <p:spPr>
          <a:xfrm>
            <a:off x="685800" y="166688"/>
            <a:ext cx="7772400" cy="1066800"/>
          </a:xfrm>
        </p:spPr>
        <p:txBody>
          <a:bodyPr/>
          <a:lstStyle/>
          <a:p>
            <a:pPr eaLnBrk="1" hangingPunct="1"/>
            <a:r>
              <a:rPr lang="en-US" sz="3200" b="1" smtClean="0">
                <a:latin typeface="Helvetica" pitchFamily="34" charset="0"/>
              </a:rPr>
              <a:t>LACTATING COWS STORE ENERGY MORE EFFICIENTLY THAN DRY COWS</a:t>
            </a:r>
          </a:p>
        </p:txBody>
      </p:sp>
      <p:grpSp>
        <p:nvGrpSpPr>
          <p:cNvPr id="38915" name="Group 3"/>
          <p:cNvGrpSpPr>
            <a:grpSpLocks/>
          </p:cNvGrpSpPr>
          <p:nvPr/>
        </p:nvGrpSpPr>
        <p:grpSpPr bwMode="auto">
          <a:xfrm>
            <a:off x="3594100" y="1244600"/>
            <a:ext cx="2349500" cy="1371600"/>
            <a:chOff x="2264" y="912"/>
            <a:chExt cx="1480" cy="864"/>
          </a:xfrm>
        </p:grpSpPr>
        <p:sp>
          <p:nvSpPr>
            <p:cNvPr id="39138" name="Oval 4"/>
            <p:cNvSpPr>
              <a:spLocks noChangeArrowheads="1"/>
            </p:cNvSpPr>
            <p:nvPr/>
          </p:nvSpPr>
          <p:spPr bwMode="auto">
            <a:xfrm>
              <a:off x="2264" y="912"/>
              <a:ext cx="1480" cy="864"/>
            </a:xfrm>
            <a:prstGeom prst="ellipse">
              <a:avLst/>
            </a:prstGeom>
            <a:noFill/>
            <a:ln w="9525">
              <a:solidFill>
                <a:schemeClr val="tx1"/>
              </a:solidFill>
              <a:round/>
              <a:headEnd/>
              <a:tailEnd/>
            </a:ln>
          </p:spPr>
          <p:txBody>
            <a:bodyPr wrap="none" anchor="ctr"/>
            <a:lstStyle/>
            <a:p>
              <a:endParaRPr lang="en-NZ">
                <a:latin typeface="Calibri" pitchFamily="34" charset="0"/>
              </a:endParaRPr>
            </a:p>
          </p:txBody>
        </p:sp>
        <p:sp>
          <p:nvSpPr>
            <p:cNvPr id="39139" name="Text Box 5"/>
            <p:cNvSpPr txBox="1">
              <a:spLocks noChangeArrowheads="1"/>
            </p:cNvSpPr>
            <p:nvPr/>
          </p:nvSpPr>
          <p:spPr bwMode="auto">
            <a:xfrm>
              <a:off x="2678" y="1057"/>
              <a:ext cx="627" cy="407"/>
            </a:xfrm>
            <a:prstGeom prst="rect">
              <a:avLst/>
            </a:prstGeom>
            <a:noFill/>
            <a:ln w="9525">
              <a:noFill/>
              <a:miter lim="800000"/>
              <a:headEnd/>
              <a:tailEnd/>
            </a:ln>
          </p:spPr>
          <p:txBody>
            <a:bodyPr wrap="none">
              <a:spAutoFit/>
            </a:bodyPr>
            <a:lstStyle/>
            <a:p>
              <a:pPr algn="ctr"/>
              <a:r>
                <a:rPr lang="en-US">
                  <a:latin typeface="Calibri" pitchFamily="34" charset="0"/>
                </a:rPr>
                <a:t>Body Fat</a:t>
              </a:r>
            </a:p>
            <a:p>
              <a:pPr algn="ctr"/>
              <a:r>
                <a:rPr lang="en-US">
                  <a:latin typeface="Calibri" pitchFamily="34" charset="0"/>
                </a:rPr>
                <a:t>Storage</a:t>
              </a:r>
            </a:p>
          </p:txBody>
        </p:sp>
      </p:grpSp>
      <p:grpSp>
        <p:nvGrpSpPr>
          <p:cNvPr id="38916" name="Group 6"/>
          <p:cNvGrpSpPr>
            <a:grpSpLocks/>
          </p:cNvGrpSpPr>
          <p:nvPr/>
        </p:nvGrpSpPr>
        <p:grpSpPr bwMode="auto">
          <a:xfrm>
            <a:off x="1054100" y="3151188"/>
            <a:ext cx="1765300" cy="1731962"/>
            <a:chOff x="664" y="2113"/>
            <a:chExt cx="1112" cy="1091"/>
          </a:xfrm>
        </p:grpSpPr>
        <p:sp>
          <p:nvSpPr>
            <p:cNvPr id="38949" name="Text Box 7"/>
            <p:cNvSpPr txBox="1">
              <a:spLocks noChangeArrowheads="1"/>
            </p:cNvSpPr>
            <p:nvPr/>
          </p:nvSpPr>
          <p:spPr bwMode="auto">
            <a:xfrm>
              <a:off x="982" y="2113"/>
              <a:ext cx="403" cy="233"/>
            </a:xfrm>
            <a:prstGeom prst="rect">
              <a:avLst/>
            </a:prstGeom>
            <a:noFill/>
            <a:ln w="9525">
              <a:noFill/>
              <a:miter lim="800000"/>
              <a:headEnd/>
              <a:tailEnd/>
            </a:ln>
          </p:spPr>
          <p:txBody>
            <a:bodyPr wrap="none">
              <a:spAutoFit/>
            </a:bodyPr>
            <a:lstStyle/>
            <a:p>
              <a:r>
                <a:rPr lang="en-US">
                  <a:latin typeface="Calibri" pitchFamily="34" charset="0"/>
                </a:rPr>
                <a:t>Feed</a:t>
              </a:r>
            </a:p>
          </p:txBody>
        </p:sp>
        <p:grpSp>
          <p:nvGrpSpPr>
            <p:cNvPr id="38950" name="Group 8"/>
            <p:cNvGrpSpPr>
              <a:grpSpLocks/>
            </p:cNvGrpSpPr>
            <p:nvPr/>
          </p:nvGrpSpPr>
          <p:grpSpPr bwMode="auto">
            <a:xfrm>
              <a:off x="664" y="2328"/>
              <a:ext cx="1112" cy="876"/>
              <a:chOff x="3840" y="1872"/>
              <a:chExt cx="828" cy="652"/>
            </a:xfrm>
          </p:grpSpPr>
          <p:grpSp>
            <p:nvGrpSpPr>
              <p:cNvPr id="38951" name="Group 9"/>
              <p:cNvGrpSpPr>
                <a:grpSpLocks/>
              </p:cNvGrpSpPr>
              <p:nvPr/>
            </p:nvGrpSpPr>
            <p:grpSpPr bwMode="auto">
              <a:xfrm>
                <a:off x="3840" y="1872"/>
                <a:ext cx="828" cy="652"/>
                <a:chOff x="4725" y="2936"/>
                <a:chExt cx="828" cy="652"/>
              </a:xfrm>
            </p:grpSpPr>
            <p:sp>
              <p:nvSpPr>
                <p:cNvPr id="39135" name="Arc 10"/>
                <p:cNvSpPr>
                  <a:spLocks/>
                </p:cNvSpPr>
                <p:nvPr/>
              </p:nvSpPr>
              <p:spPr bwMode="auto">
                <a:xfrm>
                  <a:off x="4725" y="2936"/>
                  <a:ext cx="289" cy="640"/>
                </a:xfrm>
                <a:custGeom>
                  <a:avLst/>
                  <a:gdLst>
                    <a:gd name="T0" fmla="*/ 0 w 21600"/>
                    <a:gd name="T1" fmla="*/ 1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28575" cap="rnd">
                  <a:solidFill>
                    <a:schemeClr val="tx1"/>
                  </a:solidFill>
                  <a:round/>
                  <a:headEnd/>
                  <a:tailEnd/>
                </a:ln>
              </p:spPr>
              <p:txBody>
                <a:bodyPr wrap="none" anchor="ctr"/>
                <a:lstStyle/>
                <a:p>
                  <a:endParaRPr lang="en-US"/>
                </a:p>
              </p:txBody>
            </p:sp>
            <p:sp>
              <p:nvSpPr>
                <p:cNvPr id="39136" name="Line 11"/>
                <p:cNvSpPr>
                  <a:spLocks noChangeShapeType="1"/>
                </p:cNvSpPr>
                <p:nvPr/>
              </p:nvSpPr>
              <p:spPr bwMode="auto">
                <a:xfrm flipH="1">
                  <a:off x="4991" y="3588"/>
                  <a:ext cx="269" cy="0"/>
                </a:xfrm>
                <a:prstGeom prst="line">
                  <a:avLst/>
                </a:prstGeom>
                <a:noFill/>
                <a:ln w="28575">
                  <a:solidFill>
                    <a:schemeClr val="tx1"/>
                  </a:solidFill>
                  <a:round/>
                  <a:headEnd/>
                  <a:tailEnd/>
                </a:ln>
              </p:spPr>
              <p:txBody>
                <a:bodyPr wrap="none" anchor="ctr"/>
                <a:lstStyle/>
                <a:p>
                  <a:endParaRPr lang="en-US"/>
                </a:p>
              </p:txBody>
            </p:sp>
            <p:sp>
              <p:nvSpPr>
                <p:cNvPr id="39137" name="Arc 12"/>
                <p:cNvSpPr>
                  <a:spLocks/>
                </p:cNvSpPr>
                <p:nvPr/>
              </p:nvSpPr>
              <p:spPr bwMode="auto">
                <a:xfrm>
                  <a:off x="5264" y="2944"/>
                  <a:ext cx="289" cy="640"/>
                </a:xfrm>
                <a:custGeom>
                  <a:avLst/>
                  <a:gdLst>
                    <a:gd name="T0" fmla="*/ 0 w 21600"/>
                    <a:gd name="T1" fmla="*/ 0 h 21600"/>
                    <a:gd name="T2" fmla="*/ 0 w 21600"/>
                    <a:gd name="T3" fmla="*/ 1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28575" cap="rnd">
                  <a:solidFill>
                    <a:schemeClr val="tx1"/>
                  </a:solidFill>
                  <a:round/>
                  <a:headEnd/>
                  <a:tailEnd/>
                </a:ln>
              </p:spPr>
              <p:txBody>
                <a:bodyPr wrap="none" anchor="ctr"/>
                <a:lstStyle/>
                <a:p>
                  <a:endParaRPr lang="en-US"/>
                </a:p>
              </p:txBody>
            </p:sp>
          </p:grpSp>
          <p:grpSp>
            <p:nvGrpSpPr>
              <p:cNvPr id="38952" name="Group 13"/>
              <p:cNvGrpSpPr>
                <a:grpSpLocks/>
              </p:cNvGrpSpPr>
              <p:nvPr/>
            </p:nvGrpSpPr>
            <p:grpSpPr bwMode="auto">
              <a:xfrm>
                <a:off x="3958" y="2256"/>
                <a:ext cx="604" cy="252"/>
                <a:chOff x="3958" y="2256"/>
                <a:chExt cx="604" cy="252"/>
              </a:xfrm>
            </p:grpSpPr>
            <p:sp>
              <p:nvSpPr>
                <p:cNvPr id="39082" name="Oval 14"/>
                <p:cNvSpPr>
                  <a:spLocks noChangeArrowheads="1"/>
                </p:cNvSpPr>
                <p:nvPr/>
              </p:nvSpPr>
              <p:spPr bwMode="auto">
                <a:xfrm>
                  <a:off x="4192" y="2420"/>
                  <a:ext cx="46" cy="64"/>
                </a:xfrm>
                <a:prstGeom prst="ellipse">
                  <a:avLst/>
                </a:prstGeom>
                <a:solidFill>
                  <a:srgbClr val="FFFFFF"/>
                </a:solidFill>
                <a:ln w="12700">
                  <a:solidFill>
                    <a:srgbClr val="000000"/>
                  </a:solidFill>
                  <a:round/>
                  <a:headEnd/>
                  <a:tailEnd/>
                </a:ln>
              </p:spPr>
              <p:txBody>
                <a:bodyPr wrap="none" anchor="ctr"/>
                <a:lstStyle/>
                <a:p>
                  <a:endParaRPr lang="en-NZ">
                    <a:latin typeface="Calibri" pitchFamily="34" charset="0"/>
                  </a:endParaRPr>
                </a:p>
              </p:txBody>
            </p:sp>
            <p:sp>
              <p:nvSpPr>
                <p:cNvPr id="39083" name="Oval 15"/>
                <p:cNvSpPr>
                  <a:spLocks noChangeArrowheads="1"/>
                </p:cNvSpPr>
                <p:nvPr/>
              </p:nvSpPr>
              <p:spPr bwMode="auto">
                <a:xfrm>
                  <a:off x="4282" y="2412"/>
                  <a:ext cx="46" cy="64"/>
                </a:xfrm>
                <a:prstGeom prst="ellipse">
                  <a:avLst/>
                </a:prstGeom>
                <a:solidFill>
                  <a:srgbClr val="FFFFFF"/>
                </a:solidFill>
                <a:ln w="12700">
                  <a:solidFill>
                    <a:srgbClr val="000000"/>
                  </a:solidFill>
                  <a:round/>
                  <a:headEnd/>
                  <a:tailEnd/>
                </a:ln>
              </p:spPr>
              <p:txBody>
                <a:bodyPr wrap="none" anchor="ctr"/>
                <a:lstStyle/>
                <a:p>
                  <a:endParaRPr lang="en-NZ">
                    <a:latin typeface="Calibri" pitchFamily="34" charset="0"/>
                  </a:endParaRPr>
                </a:p>
              </p:txBody>
            </p:sp>
            <p:sp>
              <p:nvSpPr>
                <p:cNvPr id="39084" name="Oval 16"/>
                <p:cNvSpPr>
                  <a:spLocks noChangeArrowheads="1"/>
                </p:cNvSpPr>
                <p:nvPr/>
              </p:nvSpPr>
              <p:spPr bwMode="auto">
                <a:xfrm>
                  <a:off x="4003" y="2412"/>
                  <a:ext cx="100" cy="48"/>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39085" name="Oval 17"/>
                <p:cNvSpPr>
                  <a:spLocks noChangeArrowheads="1"/>
                </p:cNvSpPr>
                <p:nvPr/>
              </p:nvSpPr>
              <p:spPr bwMode="auto">
                <a:xfrm>
                  <a:off x="4120" y="2396"/>
                  <a:ext cx="46" cy="64"/>
                </a:xfrm>
                <a:prstGeom prst="ellipse">
                  <a:avLst/>
                </a:prstGeom>
                <a:solidFill>
                  <a:srgbClr val="FFFFFF"/>
                </a:solidFill>
                <a:ln w="12700">
                  <a:solidFill>
                    <a:srgbClr val="000000"/>
                  </a:solidFill>
                  <a:round/>
                  <a:headEnd/>
                  <a:tailEnd/>
                </a:ln>
              </p:spPr>
              <p:txBody>
                <a:bodyPr wrap="none" anchor="ctr"/>
                <a:lstStyle/>
                <a:p>
                  <a:endParaRPr lang="en-NZ">
                    <a:latin typeface="Calibri" pitchFamily="34" charset="0"/>
                  </a:endParaRPr>
                </a:p>
              </p:txBody>
            </p:sp>
            <p:sp>
              <p:nvSpPr>
                <p:cNvPr id="39086" name="Oval 18"/>
                <p:cNvSpPr>
                  <a:spLocks noChangeArrowheads="1"/>
                </p:cNvSpPr>
                <p:nvPr/>
              </p:nvSpPr>
              <p:spPr bwMode="auto">
                <a:xfrm>
                  <a:off x="4147" y="2436"/>
                  <a:ext cx="82" cy="40"/>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39087" name="Oval 19"/>
                <p:cNvSpPr>
                  <a:spLocks noChangeArrowheads="1"/>
                </p:cNvSpPr>
                <p:nvPr/>
              </p:nvSpPr>
              <p:spPr bwMode="auto">
                <a:xfrm>
                  <a:off x="4282" y="2460"/>
                  <a:ext cx="100" cy="48"/>
                </a:xfrm>
                <a:prstGeom prst="ellipse">
                  <a:avLst/>
                </a:prstGeom>
                <a:solidFill>
                  <a:srgbClr val="FE910B"/>
                </a:solidFill>
                <a:ln w="12700">
                  <a:solidFill>
                    <a:schemeClr val="bg2"/>
                  </a:solidFill>
                  <a:round/>
                  <a:headEnd/>
                  <a:tailEnd/>
                </a:ln>
              </p:spPr>
              <p:txBody>
                <a:bodyPr wrap="none" anchor="ctr"/>
                <a:lstStyle/>
                <a:p>
                  <a:endParaRPr lang="en-NZ">
                    <a:latin typeface="Calibri" pitchFamily="34" charset="0"/>
                  </a:endParaRPr>
                </a:p>
              </p:txBody>
            </p:sp>
            <p:sp>
              <p:nvSpPr>
                <p:cNvPr id="39088" name="Oval 20"/>
                <p:cNvSpPr>
                  <a:spLocks noChangeArrowheads="1"/>
                </p:cNvSpPr>
                <p:nvPr/>
              </p:nvSpPr>
              <p:spPr bwMode="auto">
                <a:xfrm>
                  <a:off x="4372" y="2444"/>
                  <a:ext cx="100" cy="48"/>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39089" name="Oval 21"/>
                <p:cNvSpPr>
                  <a:spLocks noChangeArrowheads="1"/>
                </p:cNvSpPr>
                <p:nvPr/>
              </p:nvSpPr>
              <p:spPr bwMode="auto">
                <a:xfrm>
                  <a:off x="4345" y="2412"/>
                  <a:ext cx="46" cy="64"/>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39090" name="Oval 22"/>
                <p:cNvSpPr>
                  <a:spLocks noChangeArrowheads="1"/>
                </p:cNvSpPr>
                <p:nvPr/>
              </p:nvSpPr>
              <p:spPr bwMode="auto">
                <a:xfrm>
                  <a:off x="4462" y="2380"/>
                  <a:ext cx="46" cy="65"/>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39091" name="Oval 23"/>
                <p:cNvSpPr>
                  <a:spLocks noChangeArrowheads="1"/>
                </p:cNvSpPr>
                <p:nvPr/>
              </p:nvSpPr>
              <p:spPr bwMode="auto">
                <a:xfrm>
                  <a:off x="4048" y="2444"/>
                  <a:ext cx="100" cy="48"/>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39092" name="Oval 24"/>
                <p:cNvSpPr>
                  <a:spLocks noChangeArrowheads="1"/>
                </p:cNvSpPr>
                <p:nvPr/>
              </p:nvSpPr>
              <p:spPr bwMode="auto">
                <a:xfrm>
                  <a:off x="4187" y="2438"/>
                  <a:ext cx="92" cy="39"/>
                </a:xfrm>
                <a:prstGeom prst="ellipse">
                  <a:avLst/>
                </a:prstGeom>
                <a:solidFill>
                  <a:srgbClr val="FE910B"/>
                </a:solidFill>
                <a:ln w="25400">
                  <a:solidFill>
                    <a:srgbClr val="000000"/>
                  </a:solidFill>
                  <a:round/>
                  <a:headEnd/>
                  <a:tailEnd/>
                </a:ln>
              </p:spPr>
              <p:txBody>
                <a:bodyPr wrap="none" anchor="ctr"/>
                <a:lstStyle/>
                <a:p>
                  <a:endParaRPr lang="en-NZ">
                    <a:latin typeface="Calibri" pitchFamily="34" charset="0"/>
                  </a:endParaRPr>
                </a:p>
              </p:txBody>
            </p:sp>
            <p:sp>
              <p:nvSpPr>
                <p:cNvPr id="39093" name="Oval 25"/>
                <p:cNvSpPr>
                  <a:spLocks noChangeArrowheads="1"/>
                </p:cNvSpPr>
                <p:nvPr/>
              </p:nvSpPr>
              <p:spPr bwMode="auto">
                <a:xfrm>
                  <a:off x="4147" y="2388"/>
                  <a:ext cx="46" cy="64"/>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39094" name="Oval 26"/>
                <p:cNvSpPr>
                  <a:spLocks noChangeArrowheads="1"/>
                </p:cNvSpPr>
                <p:nvPr/>
              </p:nvSpPr>
              <p:spPr bwMode="auto">
                <a:xfrm>
                  <a:off x="4237" y="2380"/>
                  <a:ext cx="46" cy="65"/>
                </a:xfrm>
                <a:prstGeom prst="ellipse">
                  <a:avLst/>
                </a:prstGeom>
                <a:solidFill>
                  <a:srgbClr val="666666"/>
                </a:solidFill>
                <a:ln w="12700">
                  <a:solidFill>
                    <a:srgbClr val="000000"/>
                  </a:solidFill>
                  <a:round/>
                  <a:headEnd/>
                  <a:tailEnd/>
                </a:ln>
              </p:spPr>
              <p:txBody>
                <a:bodyPr wrap="none" anchor="ctr"/>
                <a:lstStyle/>
                <a:p>
                  <a:endParaRPr lang="en-NZ">
                    <a:latin typeface="Calibri" pitchFamily="34" charset="0"/>
                  </a:endParaRPr>
                </a:p>
              </p:txBody>
            </p:sp>
            <p:sp>
              <p:nvSpPr>
                <p:cNvPr id="39095" name="Oval 27"/>
                <p:cNvSpPr>
                  <a:spLocks noChangeArrowheads="1"/>
                </p:cNvSpPr>
                <p:nvPr/>
              </p:nvSpPr>
              <p:spPr bwMode="auto">
                <a:xfrm>
                  <a:off x="4264" y="2420"/>
                  <a:ext cx="82" cy="40"/>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39096" name="Oval 28"/>
                <p:cNvSpPr>
                  <a:spLocks noChangeArrowheads="1"/>
                </p:cNvSpPr>
                <p:nvPr/>
              </p:nvSpPr>
              <p:spPr bwMode="auto">
                <a:xfrm>
                  <a:off x="4192" y="2380"/>
                  <a:ext cx="100" cy="48"/>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39097" name="Oval 29"/>
                <p:cNvSpPr>
                  <a:spLocks noChangeArrowheads="1"/>
                </p:cNvSpPr>
                <p:nvPr/>
              </p:nvSpPr>
              <p:spPr bwMode="auto">
                <a:xfrm>
                  <a:off x="4273" y="2372"/>
                  <a:ext cx="100" cy="48"/>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39098" name="Oval 30"/>
                <p:cNvSpPr>
                  <a:spLocks noChangeArrowheads="1"/>
                </p:cNvSpPr>
                <p:nvPr/>
              </p:nvSpPr>
              <p:spPr bwMode="auto">
                <a:xfrm>
                  <a:off x="4255" y="2339"/>
                  <a:ext cx="46" cy="65"/>
                </a:xfrm>
                <a:prstGeom prst="ellipse">
                  <a:avLst/>
                </a:prstGeom>
                <a:solidFill>
                  <a:srgbClr val="FFFFFF"/>
                </a:solidFill>
                <a:ln w="12700">
                  <a:solidFill>
                    <a:srgbClr val="000000"/>
                  </a:solidFill>
                  <a:round/>
                  <a:headEnd/>
                  <a:tailEnd/>
                </a:ln>
              </p:spPr>
              <p:txBody>
                <a:bodyPr wrap="none" anchor="ctr"/>
                <a:lstStyle/>
                <a:p>
                  <a:endParaRPr lang="en-NZ">
                    <a:latin typeface="Calibri" pitchFamily="34" charset="0"/>
                  </a:endParaRPr>
                </a:p>
              </p:txBody>
            </p:sp>
            <p:sp>
              <p:nvSpPr>
                <p:cNvPr id="39099" name="Oval 31"/>
                <p:cNvSpPr>
                  <a:spLocks noChangeArrowheads="1"/>
                </p:cNvSpPr>
                <p:nvPr/>
              </p:nvSpPr>
              <p:spPr bwMode="auto">
                <a:xfrm>
                  <a:off x="4354" y="2339"/>
                  <a:ext cx="46" cy="65"/>
                </a:xfrm>
                <a:prstGeom prst="ellipse">
                  <a:avLst/>
                </a:prstGeom>
                <a:solidFill>
                  <a:srgbClr val="FFFFFF"/>
                </a:solidFill>
                <a:ln w="12700">
                  <a:solidFill>
                    <a:srgbClr val="000000"/>
                  </a:solidFill>
                  <a:round/>
                  <a:headEnd/>
                  <a:tailEnd/>
                </a:ln>
              </p:spPr>
              <p:txBody>
                <a:bodyPr wrap="none" anchor="ctr"/>
                <a:lstStyle/>
                <a:p>
                  <a:endParaRPr lang="en-NZ">
                    <a:latin typeface="Calibri" pitchFamily="34" charset="0"/>
                  </a:endParaRPr>
                </a:p>
              </p:txBody>
            </p:sp>
            <p:sp>
              <p:nvSpPr>
                <p:cNvPr id="39100" name="Oval 32"/>
                <p:cNvSpPr>
                  <a:spLocks noChangeArrowheads="1"/>
                </p:cNvSpPr>
                <p:nvPr/>
              </p:nvSpPr>
              <p:spPr bwMode="auto">
                <a:xfrm>
                  <a:off x="4390" y="2388"/>
                  <a:ext cx="82" cy="40"/>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39101" name="Oval 33"/>
                <p:cNvSpPr>
                  <a:spLocks noChangeArrowheads="1"/>
                </p:cNvSpPr>
                <p:nvPr/>
              </p:nvSpPr>
              <p:spPr bwMode="auto">
                <a:xfrm>
                  <a:off x="4111" y="2444"/>
                  <a:ext cx="46" cy="64"/>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39102" name="Oval 34"/>
                <p:cNvSpPr>
                  <a:spLocks noChangeArrowheads="1"/>
                </p:cNvSpPr>
                <p:nvPr/>
              </p:nvSpPr>
              <p:spPr bwMode="auto">
                <a:xfrm>
                  <a:off x="4048" y="2380"/>
                  <a:ext cx="100" cy="48"/>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39103" name="Oval 35"/>
                <p:cNvSpPr>
                  <a:spLocks noChangeArrowheads="1"/>
                </p:cNvSpPr>
                <p:nvPr/>
              </p:nvSpPr>
              <p:spPr bwMode="auto">
                <a:xfrm>
                  <a:off x="4111" y="2396"/>
                  <a:ext cx="100" cy="49"/>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39104" name="Oval 36"/>
                <p:cNvSpPr>
                  <a:spLocks noChangeArrowheads="1"/>
                </p:cNvSpPr>
                <p:nvPr/>
              </p:nvSpPr>
              <p:spPr bwMode="auto">
                <a:xfrm>
                  <a:off x="4111" y="2339"/>
                  <a:ext cx="46" cy="65"/>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39105" name="Oval 37"/>
                <p:cNvSpPr>
                  <a:spLocks noChangeArrowheads="1"/>
                </p:cNvSpPr>
                <p:nvPr/>
              </p:nvSpPr>
              <p:spPr bwMode="auto">
                <a:xfrm>
                  <a:off x="4201" y="2339"/>
                  <a:ext cx="46" cy="65"/>
                </a:xfrm>
                <a:prstGeom prst="ellipse">
                  <a:avLst/>
                </a:prstGeom>
                <a:solidFill>
                  <a:srgbClr val="FFFFFF"/>
                </a:solidFill>
                <a:ln w="12700">
                  <a:solidFill>
                    <a:srgbClr val="000000"/>
                  </a:solidFill>
                  <a:round/>
                  <a:headEnd/>
                  <a:tailEnd/>
                </a:ln>
              </p:spPr>
              <p:txBody>
                <a:bodyPr wrap="none" anchor="ctr"/>
                <a:lstStyle/>
                <a:p>
                  <a:endParaRPr lang="en-NZ">
                    <a:latin typeface="Calibri" pitchFamily="34" charset="0"/>
                  </a:endParaRPr>
                </a:p>
              </p:txBody>
            </p:sp>
            <p:sp>
              <p:nvSpPr>
                <p:cNvPr id="39106" name="Oval 38"/>
                <p:cNvSpPr>
                  <a:spLocks noChangeArrowheads="1"/>
                </p:cNvSpPr>
                <p:nvPr/>
              </p:nvSpPr>
              <p:spPr bwMode="auto">
                <a:xfrm>
                  <a:off x="4212" y="2368"/>
                  <a:ext cx="82" cy="40"/>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39107" name="Oval 39"/>
                <p:cNvSpPr>
                  <a:spLocks noChangeArrowheads="1"/>
                </p:cNvSpPr>
                <p:nvPr/>
              </p:nvSpPr>
              <p:spPr bwMode="auto">
                <a:xfrm>
                  <a:off x="4273" y="2324"/>
                  <a:ext cx="46" cy="64"/>
                </a:xfrm>
                <a:prstGeom prst="ellipse">
                  <a:avLst/>
                </a:prstGeom>
                <a:solidFill>
                  <a:srgbClr val="FFFFFF"/>
                </a:solidFill>
                <a:ln w="12700">
                  <a:solidFill>
                    <a:srgbClr val="000000"/>
                  </a:solidFill>
                  <a:round/>
                  <a:headEnd/>
                  <a:tailEnd/>
                </a:ln>
              </p:spPr>
              <p:txBody>
                <a:bodyPr wrap="none" anchor="ctr"/>
                <a:lstStyle/>
                <a:p>
                  <a:endParaRPr lang="en-NZ">
                    <a:latin typeface="Calibri" pitchFamily="34" charset="0"/>
                  </a:endParaRPr>
                </a:p>
              </p:txBody>
            </p:sp>
            <p:sp>
              <p:nvSpPr>
                <p:cNvPr id="39108" name="Oval 40"/>
                <p:cNvSpPr>
                  <a:spLocks noChangeArrowheads="1"/>
                </p:cNvSpPr>
                <p:nvPr/>
              </p:nvSpPr>
              <p:spPr bwMode="auto">
                <a:xfrm>
                  <a:off x="4372" y="2324"/>
                  <a:ext cx="46" cy="64"/>
                </a:xfrm>
                <a:prstGeom prst="ellipse">
                  <a:avLst/>
                </a:prstGeom>
                <a:solidFill>
                  <a:srgbClr val="FFFFFF"/>
                </a:solidFill>
                <a:ln w="12700">
                  <a:solidFill>
                    <a:srgbClr val="000000"/>
                  </a:solidFill>
                  <a:round/>
                  <a:headEnd/>
                  <a:tailEnd/>
                </a:ln>
              </p:spPr>
              <p:txBody>
                <a:bodyPr wrap="none" anchor="ctr"/>
                <a:lstStyle/>
                <a:p>
                  <a:endParaRPr lang="en-NZ">
                    <a:latin typeface="Calibri" pitchFamily="34" charset="0"/>
                  </a:endParaRPr>
                </a:p>
              </p:txBody>
            </p:sp>
            <p:sp>
              <p:nvSpPr>
                <p:cNvPr id="39109" name="Oval 41"/>
                <p:cNvSpPr>
                  <a:spLocks noChangeArrowheads="1"/>
                </p:cNvSpPr>
                <p:nvPr/>
              </p:nvSpPr>
              <p:spPr bwMode="auto">
                <a:xfrm>
                  <a:off x="4129" y="2332"/>
                  <a:ext cx="100" cy="48"/>
                </a:xfrm>
                <a:prstGeom prst="ellipse">
                  <a:avLst/>
                </a:prstGeom>
                <a:solidFill>
                  <a:srgbClr val="FFFFFF"/>
                </a:solidFill>
                <a:ln w="12700">
                  <a:solidFill>
                    <a:srgbClr val="000000"/>
                  </a:solidFill>
                  <a:round/>
                  <a:headEnd/>
                  <a:tailEnd/>
                </a:ln>
              </p:spPr>
              <p:txBody>
                <a:bodyPr wrap="none" anchor="ctr"/>
                <a:lstStyle/>
                <a:p>
                  <a:endParaRPr lang="en-NZ">
                    <a:latin typeface="Calibri" pitchFamily="34" charset="0"/>
                  </a:endParaRPr>
                </a:p>
              </p:txBody>
            </p:sp>
            <p:sp>
              <p:nvSpPr>
                <p:cNvPr id="39110" name="Oval 42"/>
                <p:cNvSpPr>
                  <a:spLocks noChangeArrowheads="1"/>
                </p:cNvSpPr>
                <p:nvPr/>
              </p:nvSpPr>
              <p:spPr bwMode="auto">
                <a:xfrm>
                  <a:off x="4320" y="2256"/>
                  <a:ext cx="46" cy="64"/>
                </a:xfrm>
                <a:prstGeom prst="ellipse">
                  <a:avLst/>
                </a:prstGeom>
                <a:solidFill>
                  <a:schemeClr val="accent1"/>
                </a:solidFill>
                <a:ln w="12700">
                  <a:solidFill>
                    <a:srgbClr val="000000"/>
                  </a:solidFill>
                  <a:round/>
                  <a:headEnd/>
                  <a:tailEnd/>
                </a:ln>
              </p:spPr>
              <p:txBody>
                <a:bodyPr wrap="none" anchor="ctr"/>
                <a:lstStyle/>
                <a:p>
                  <a:endParaRPr lang="en-NZ">
                    <a:latin typeface="Calibri" pitchFamily="34" charset="0"/>
                  </a:endParaRPr>
                </a:p>
              </p:txBody>
            </p:sp>
            <p:sp>
              <p:nvSpPr>
                <p:cNvPr id="39111" name="Oval 43"/>
                <p:cNvSpPr>
                  <a:spLocks noChangeArrowheads="1"/>
                </p:cNvSpPr>
                <p:nvPr/>
              </p:nvSpPr>
              <p:spPr bwMode="auto">
                <a:xfrm>
                  <a:off x="4228" y="2339"/>
                  <a:ext cx="82" cy="41"/>
                </a:xfrm>
                <a:prstGeom prst="ellipse">
                  <a:avLst/>
                </a:prstGeom>
                <a:solidFill>
                  <a:srgbClr val="FFFFFF"/>
                </a:solidFill>
                <a:ln w="12700">
                  <a:solidFill>
                    <a:srgbClr val="000000"/>
                  </a:solidFill>
                  <a:round/>
                  <a:headEnd/>
                  <a:tailEnd/>
                </a:ln>
              </p:spPr>
              <p:txBody>
                <a:bodyPr wrap="none" anchor="ctr"/>
                <a:lstStyle/>
                <a:p>
                  <a:endParaRPr lang="en-NZ">
                    <a:latin typeface="Calibri" pitchFamily="34" charset="0"/>
                  </a:endParaRPr>
                </a:p>
              </p:txBody>
            </p:sp>
            <p:sp>
              <p:nvSpPr>
                <p:cNvPr id="39112" name="Oval 44"/>
                <p:cNvSpPr>
                  <a:spLocks noChangeArrowheads="1"/>
                </p:cNvSpPr>
                <p:nvPr/>
              </p:nvSpPr>
              <p:spPr bwMode="auto">
                <a:xfrm>
                  <a:off x="4350" y="2354"/>
                  <a:ext cx="99" cy="48"/>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39113" name="Oval 45"/>
                <p:cNvSpPr>
                  <a:spLocks noChangeArrowheads="1"/>
                </p:cNvSpPr>
                <p:nvPr/>
              </p:nvSpPr>
              <p:spPr bwMode="auto">
                <a:xfrm>
                  <a:off x="4444" y="2348"/>
                  <a:ext cx="100" cy="48"/>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39114" name="Oval 46"/>
                <p:cNvSpPr>
                  <a:spLocks noChangeArrowheads="1"/>
                </p:cNvSpPr>
                <p:nvPr/>
              </p:nvSpPr>
              <p:spPr bwMode="auto">
                <a:xfrm>
                  <a:off x="4426" y="2316"/>
                  <a:ext cx="46" cy="64"/>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39115" name="Oval 47"/>
                <p:cNvSpPr>
                  <a:spLocks noChangeArrowheads="1"/>
                </p:cNvSpPr>
                <p:nvPr/>
              </p:nvSpPr>
              <p:spPr bwMode="auto">
                <a:xfrm>
                  <a:off x="4516" y="2316"/>
                  <a:ext cx="46" cy="64"/>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39116" name="Oval 48"/>
                <p:cNvSpPr>
                  <a:spLocks noChangeArrowheads="1"/>
                </p:cNvSpPr>
                <p:nvPr/>
              </p:nvSpPr>
              <p:spPr bwMode="auto">
                <a:xfrm>
                  <a:off x="4165" y="2324"/>
                  <a:ext cx="100" cy="48"/>
                </a:xfrm>
                <a:prstGeom prst="ellipse">
                  <a:avLst/>
                </a:prstGeom>
                <a:solidFill>
                  <a:srgbClr val="FFFFFF"/>
                </a:solidFill>
                <a:ln w="12700">
                  <a:solidFill>
                    <a:srgbClr val="000000"/>
                  </a:solidFill>
                  <a:round/>
                  <a:headEnd/>
                  <a:tailEnd/>
                </a:ln>
              </p:spPr>
              <p:txBody>
                <a:bodyPr wrap="none" anchor="ctr"/>
                <a:lstStyle/>
                <a:p>
                  <a:endParaRPr lang="en-NZ">
                    <a:latin typeface="Calibri" pitchFamily="34" charset="0"/>
                  </a:endParaRPr>
                </a:p>
              </p:txBody>
            </p:sp>
            <p:sp>
              <p:nvSpPr>
                <p:cNvPr id="39117" name="Oval 49"/>
                <p:cNvSpPr>
                  <a:spLocks noChangeArrowheads="1"/>
                </p:cNvSpPr>
                <p:nvPr/>
              </p:nvSpPr>
              <p:spPr bwMode="auto">
                <a:xfrm>
                  <a:off x="4232" y="2336"/>
                  <a:ext cx="101" cy="48"/>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39118" name="Oval 50"/>
                <p:cNvSpPr>
                  <a:spLocks noChangeArrowheads="1"/>
                </p:cNvSpPr>
                <p:nvPr/>
              </p:nvSpPr>
              <p:spPr bwMode="auto">
                <a:xfrm>
                  <a:off x="4339" y="2324"/>
                  <a:ext cx="82" cy="40"/>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39119" name="Oval 51"/>
                <p:cNvSpPr>
                  <a:spLocks noChangeArrowheads="1"/>
                </p:cNvSpPr>
                <p:nvPr/>
              </p:nvSpPr>
              <p:spPr bwMode="auto">
                <a:xfrm>
                  <a:off x="4159" y="2328"/>
                  <a:ext cx="45" cy="64"/>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39120" name="Oval 52"/>
                <p:cNvSpPr>
                  <a:spLocks noChangeArrowheads="1"/>
                </p:cNvSpPr>
                <p:nvPr/>
              </p:nvSpPr>
              <p:spPr bwMode="auto">
                <a:xfrm>
                  <a:off x="4102" y="2300"/>
                  <a:ext cx="46" cy="64"/>
                </a:xfrm>
                <a:prstGeom prst="ellipse">
                  <a:avLst/>
                </a:prstGeom>
                <a:solidFill>
                  <a:srgbClr val="FFFFFF"/>
                </a:solidFill>
                <a:ln w="12700">
                  <a:solidFill>
                    <a:srgbClr val="000000"/>
                  </a:solidFill>
                  <a:round/>
                  <a:headEnd/>
                  <a:tailEnd/>
                </a:ln>
              </p:spPr>
              <p:txBody>
                <a:bodyPr wrap="none" anchor="ctr"/>
                <a:lstStyle/>
                <a:p>
                  <a:endParaRPr lang="en-NZ">
                    <a:latin typeface="Calibri" pitchFamily="34" charset="0"/>
                  </a:endParaRPr>
                </a:p>
              </p:txBody>
            </p:sp>
            <p:sp>
              <p:nvSpPr>
                <p:cNvPr id="39121" name="Freeform 53"/>
                <p:cNvSpPr>
                  <a:spLocks/>
                </p:cNvSpPr>
                <p:nvPr/>
              </p:nvSpPr>
              <p:spPr bwMode="auto">
                <a:xfrm>
                  <a:off x="4107" y="2304"/>
                  <a:ext cx="64" cy="73"/>
                </a:xfrm>
                <a:custGeom>
                  <a:avLst/>
                  <a:gdLst>
                    <a:gd name="T0" fmla="*/ 0 w 64"/>
                    <a:gd name="T1" fmla="*/ 40 h 73"/>
                    <a:gd name="T2" fmla="*/ 0 w 64"/>
                    <a:gd name="T3" fmla="*/ 32 h 73"/>
                    <a:gd name="T4" fmla="*/ 0 w 64"/>
                    <a:gd name="T5" fmla="*/ 24 h 73"/>
                    <a:gd name="T6" fmla="*/ 0 w 64"/>
                    <a:gd name="T7" fmla="*/ 16 h 73"/>
                    <a:gd name="T8" fmla="*/ 9 w 64"/>
                    <a:gd name="T9" fmla="*/ 8 h 73"/>
                    <a:gd name="T10" fmla="*/ 18 w 64"/>
                    <a:gd name="T11" fmla="*/ 0 h 73"/>
                    <a:gd name="T12" fmla="*/ 27 w 64"/>
                    <a:gd name="T13" fmla="*/ 0 h 73"/>
                    <a:gd name="T14" fmla="*/ 36 w 64"/>
                    <a:gd name="T15" fmla="*/ 8 h 73"/>
                    <a:gd name="T16" fmla="*/ 45 w 64"/>
                    <a:gd name="T17" fmla="*/ 8 h 73"/>
                    <a:gd name="T18" fmla="*/ 54 w 64"/>
                    <a:gd name="T19" fmla="*/ 16 h 73"/>
                    <a:gd name="T20" fmla="*/ 54 w 64"/>
                    <a:gd name="T21" fmla="*/ 24 h 73"/>
                    <a:gd name="T22" fmla="*/ 54 w 64"/>
                    <a:gd name="T23" fmla="*/ 32 h 73"/>
                    <a:gd name="T24" fmla="*/ 63 w 64"/>
                    <a:gd name="T25" fmla="*/ 40 h 73"/>
                    <a:gd name="T26" fmla="*/ 63 w 64"/>
                    <a:gd name="T27" fmla="*/ 48 h 73"/>
                    <a:gd name="T28" fmla="*/ 54 w 64"/>
                    <a:gd name="T29" fmla="*/ 56 h 73"/>
                    <a:gd name="T30" fmla="*/ 54 w 64"/>
                    <a:gd name="T31" fmla="*/ 64 h 73"/>
                    <a:gd name="T32" fmla="*/ 45 w 64"/>
                    <a:gd name="T33" fmla="*/ 72 h 73"/>
                    <a:gd name="T34" fmla="*/ 36 w 64"/>
                    <a:gd name="T35" fmla="*/ 72 h 73"/>
                    <a:gd name="T36" fmla="*/ 27 w 64"/>
                    <a:gd name="T37" fmla="*/ 72 h 73"/>
                    <a:gd name="T38" fmla="*/ 18 w 64"/>
                    <a:gd name="T39" fmla="*/ 64 h 73"/>
                    <a:gd name="T40" fmla="*/ 9 w 64"/>
                    <a:gd name="T41" fmla="*/ 64 h 73"/>
                    <a:gd name="T42" fmla="*/ 0 w 64"/>
                    <a:gd name="T43" fmla="*/ 48 h 73"/>
                    <a:gd name="T44" fmla="*/ 0 w 64"/>
                    <a:gd name="T45" fmla="*/ 40 h 7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64"/>
                    <a:gd name="T70" fmla="*/ 0 h 73"/>
                    <a:gd name="T71" fmla="*/ 64 w 64"/>
                    <a:gd name="T72" fmla="*/ 73 h 73"/>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64" h="73">
                      <a:moveTo>
                        <a:pt x="0" y="40"/>
                      </a:moveTo>
                      <a:lnTo>
                        <a:pt x="0" y="32"/>
                      </a:lnTo>
                      <a:lnTo>
                        <a:pt x="0" y="24"/>
                      </a:lnTo>
                      <a:lnTo>
                        <a:pt x="0" y="16"/>
                      </a:lnTo>
                      <a:lnTo>
                        <a:pt x="9" y="8"/>
                      </a:lnTo>
                      <a:lnTo>
                        <a:pt x="18" y="0"/>
                      </a:lnTo>
                      <a:lnTo>
                        <a:pt x="27" y="0"/>
                      </a:lnTo>
                      <a:lnTo>
                        <a:pt x="36" y="8"/>
                      </a:lnTo>
                      <a:lnTo>
                        <a:pt x="45" y="8"/>
                      </a:lnTo>
                      <a:lnTo>
                        <a:pt x="54" y="16"/>
                      </a:lnTo>
                      <a:lnTo>
                        <a:pt x="54" y="24"/>
                      </a:lnTo>
                      <a:lnTo>
                        <a:pt x="54" y="32"/>
                      </a:lnTo>
                      <a:lnTo>
                        <a:pt x="63" y="40"/>
                      </a:lnTo>
                      <a:lnTo>
                        <a:pt x="63" y="48"/>
                      </a:lnTo>
                      <a:lnTo>
                        <a:pt x="54" y="56"/>
                      </a:lnTo>
                      <a:lnTo>
                        <a:pt x="54" y="64"/>
                      </a:lnTo>
                      <a:lnTo>
                        <a:pt x="45" y="72"/>
                      </a:lnTo>
                      <a:lnTo>
                        <a:pt x="36" y="72"/>
                      </a:lnTo>
                      <a:lnTo>
                        <a:pt x="27" y="72"/>
                      </a:lnTo>
                      <a:lnTo>
                        <a:pt x="18" y="64"/>
                      </a:lnTo>
                      <a:lnTo>
                        <a:pt x="9" y="64"/>
                      </a:lnTo>
                      <a:lnTo>
                        <a:pt x="0" y="48"/>
                      </a:lnTo>
                      <a:lnTo>
                        <a:pt x="0" y="40"/>
                      </a:lnTo>
                    </a:path>
                  </a:pathLst>
                </a:custGeom>
                <a:solidFill>
                  <a:srgbClr val="FE910B"/>
                </a:solidFill>
                <a:ln w="12700" cap="rnd" cmpd="sng">
                  <a:solidFill>
                    <a:srgbClr val="000000"/>
                  </a:solidFill>
                  <a:prstDash val="solid"/>
                  <a:round/>
                  <a:headEnd type="none" w="med" len="med"/>
                  <a:tailEnd type="none" w="med" len="med"/>
                </a:ln>
              </p:spPr>
              <p:txBody>
                <a:bodyPr/>
                <a:lstStyle/>
                <a:p>
                  <a:endParaRPr lang="en-US"/>
                </a:p>
              </p:txBody>
            </p:sp>
            <p:sp>
              <p:nvSpPr>
                <p:cNvPr id="39122" name="Oval 54"/>
                <p:cNvSpPr>
                  <a:spLocks noChangeArrowheads="1"/>
                </p:cNvSpPr>
                <p:nvPr/>
              </p:nvSpPr>
              <p:spPr bwMode="auto">
                <a:xfrm>
                  <a:off x="3958" y="2339"/>
                  <a:ext cx="100" cy="49"/>
                </a:xfrm>
                <a:prstGeom prst="ellipse">
                  <a:avLst/>
                </a:prstGeom>
                <a:solidFill>
                  <a:srgbClr val="FFFFFF"/>
                </a:solidFill>
                <a:ln w="12700">
                  <a:solidFill>
                    <a:srgbClr val="000000"/>
                  </a:solidFill>
                  <a:round/>
                  <a:headEnd/>
                  <a:tailEnd/>
                </a:ln>
              </p:spPr>
              <p:txBody>
                <a:bodyPr wrap="none" anchor="ctr"/>
                <a:lstStyle/>
                <a:p>
                  <a:endParaRPr lang="en-NZ">
                    <a:latin typeface="Calibri" pitchFamily="34" charset="0"/>
                  </a:endParaRPr>
                </a:p>
              </p:txBody>
            </p:sp>
            <p:sp>
              <p:nvSpPr>
                <p:cNvPr id="39123" name="Freeform 55"/>
                <p:cNvSpPr>
                  <a:spLocks/>
                </p:cNvSpPr>
                <p:nvPr/>
              </p:nvSpPr>
              <p:spPr bwMode="auto">
                <a:xfrm>
                  <a:off x="3963" y="2344"/>
                  <a:ext cx="109" cy="57"/>
                </a:xfrm>
                <a:custGeom>
                  <a:avLst/>
                  <a:gdLst>
                    <a:gd name="T0" fmla="*/ 0 w 109"/>
                    <a:gd name="T1" fmla="*/ 32 h 57"/>
                    <a:gd name="T2" fmla="*/ 0 w 109"/>
                    <a:gd name="T3" fmla="*/ 32 h 57"/>
                    <a:gd name="T4" fmla="*/ 9 w 109"/>
                    <a:gd name="T5" fmla="*/ 16 h 57"/>
                    <a:gd name="T6" fmla="*/ 18 w 109"/>
                    <a:gd name="T7" fmla="*/ 8 h 57"/>
                    <a:gd name="T8" fmla="*/ 36 w 109"/>
                    <a:gd name="T9" fmla="*/ 0 h 57"/>
                    <a:gd name="T10" fmla="*/ 45 w 109"/>
                    <a:gd name="T11" fmla="*/ 0 h 57"/>
                    <a:gd name="T12" fmla="*/ 54 w 109"/>
                    <a:gd name="T13" fmla="*/ 0 h 57"/>
                    <a:gd name="T14" fmla="*/ 81 w 109"/>
                    <a:gd name="T15" fmla="*/ 0 h 57"/>
                    <a:gd name="T16" fmla="*/ 90 w 109"/>
                    <a:gd name="T17" fmla="*/ 0 h 57"/>
                    <a:gd name="T18" fmla="*/ 99 w 109"/>
                    <a:gd name="T19" fmla="*/ 0 h 57"/>
                    <a:gd name="T20" fmla="*/ 108 w 109"/>
                    <a:gd name="T21" fmla="*/ 8 h 57"/>
                    <a:gd name="T22" fmla="*/ 108 w 109"/>
                    <a:gd name="T23" fmla="*/ 16 h 57"/>
                    <a:gd name="T24" fmla="*/ 108 w 109"/>
                    <a:gd name="T25" fmla="*/ 32 h 57"/>
                    <a:gd name="T26" fmla="*/ 99 w 109"/>
                    <a:gd name="T27" fmla="*/ 32 h 57"/>
                    <a:gd name="T28" fmla="*/ 90 w 109"/>
                    <a:gd name="T29" fmla="*/ 40 h 57"/>
                    <a:gd name="T30" fmla="*/ 72 w 109"/>
                    <a:gd name="T31" fmla="*/ 48 h 57"/>
                    <a:gd name="T32" fmla="*/ 63 w 109"/>
                    <a:gd name="T33" fmla="*/ 48 h 57"/>
                    <a:gd name="T34" fmla="*/ 54 w 109"/>
                    <a:gd name="T35" fmla="*/ 56 h 57"/>
                    <a:gd name="T36" fmla="*/ 36 w 109"/>
                    <a:gd name="T37" fmla="*/ 56 h 57"/>
                    <a:gd name="T38" fmla="*/ 27 w 109"/>
                    <a:gd name="T39" fmla="*/ 48 h 57"/>
                    <a:gd name="T40" fmla="*/ 18 w 109"/>
                    <a:gd name="T41" fmla="*/ 48 h 57"/>
                    <a:gd name="T42" fmla="*/ 9 w 109"/>
                    <a:gd name="T43" fmla="*/ 40 h 57"/>
                    <a:gd name="T44" fmla="*/ 0 w 109"/>
                    <a:gd name="T45" fmla="*/ 32 h 5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09"/>
                    <a:gd name="T70" fmla="*/ 0 h 57"/>
                    <a:gd name="T71" fmla="*/ 109 w 109"/>
                    <a:gd name="T72" fmla="*/ 57 h 57"/>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09" h="57">
                      <a:moveTo>
                        <a:pt x="0" y="32"/>
                      </a:moveTo>
                      <a:lnTo>
                        <a:pt x="0" y="32"/>
                      </a:lnTo>
                      <a:lnTo>
                        <a:pt x="9" y="16"/>
                      </a:lnTo>
                      <a:lnTo>
                        <a:pt x="18" y="8"/>
                      </a:lnTo>
                      <a:lnTo>
                        <a:pt x="36" y="0"/>
                      </a:lnTo>
                      <a:lnTo>
                        <a:pt x="45" y="0"/>
                      </a:lnTo>
                      <a:lnTo>
                        <a:pt x="54" y="0"/>
                      </a:lnTo>
                      <a:lnTo>
                        <a:pt x="81" y="0"/>
                      </a:lnTo>
                      <a:lnTo>
                        <a:pt x="90" y="0"/>
                      </a:lnTo>
                      <a:lnTo>
                        <a:pt x="99" y="0"/>
                      </a:lnTo>
                      <a:lnTo>
                        <a:pt x="108" y="8"/>
                      </a:lnTo>
                      <a:lnTo>
                        <a:pt x="108" y="16"/>
                      </a:lnTo>
                      <a:lnTo>
                        <a:pt x="108" y="32"/>
                      </a:lnTo>
                      <a:lnTo>
                        <a:pt x="99" y="32"/>
                      </a:lnTo>
                      <a:lnTo>
                        <a:pt x="90" y="40"/>
                      </a:lnTo>
                      <a:lnTo>
                        <a:pt x="72" y="48"/>
                      </a:lnTo>
                      <a:lnTo>
                        <a:pt x="63" y="48"/>
                      </a:lnTo>
                      <a:lnTo>
                        <a:pt x="54" y="56"/>
                      </a:lnTo>
                      <a:lnTo>
                        <a:pt x="36" y="56"/>
                      </a:lnTo>
                      <a:lnTo>
                        <a:pt x="27" y="48"/>
                      </a:lnTo>
                      <a:lnTo>
                        <a:pt x="18" y="48"/>
                      </a:lnTo>
                      <a:lnTo>
                        <a:pt x="9" y="40"/>
                      </a:lnTo>
                      <a:lnTo>
                        <a:pt x="0" y="32"/>
                      </a:lnTo>
                    </a:path>
                  </a:pathLst>
                </a:custGeom>
                <a:solidFill>
                  <a:srgbClr val="FE910B"/>
                </a:solidFill>
                <a:ln w="12700" cap="rnd" cmpd="sng">
                  <a:solidFill>
                    <a:srgbClr val="000000"/>
                  </a:solidFill>
                  <a:prstDash val="solid"/>
                  <a:round/>
                  <a:headEnd type="none" w="med" len="med"/>
                  <a:tailEnd type="none" w="med" len="med"/>
                </a:ln>
              </p:spPr>
              <p:txBody>
                <a:bodyPr/>
                <a:lstStyle/>
                <a:p>
                  <a:endParaRPr lang="en-US"/>
                </a:p>
              </p:txBody>
            </p:sp>
            <p:sp>
              <p:nvSpPr>
                <p:cNvPr id="39124" name="Freeform 56"/>
                <p:cNvSpPr>
                  <a:spLocks/>
                </p:cNvSpPr>
                <p:nvPr/>
              </p:nvSpPr>
              <p:spPr bwMode="auto">
                <a:xfrm>
                  <a:off x="4128" y="2256"/>
                  <a:ext cx="55" cy="73"/>
                </a:xfrm>
                <a:custGeom>
                  <a:avLst/>
                  <a:gdLst>
                    <a:gd name="T0" fmla="*/ 0 w 55"/>
                    <a:gd name="T1" fmla="*/ 40 h 73"/>
                    <a:gd name="T2" fmla="*/ 0 w 55"/>
                    <a:gd name="T3" fmla="*/ 32 h 73"/>
                    <a:gd name="T4" fmla="*/ 0 w 55"/>
                    <a:gd name="T5" fmla="*/ 24 h 73"/>
                    <a:gd name="T6" fmla="*/ 0 w 55"/>
                    <a:gd name="T7" fmla="*/ 16 h 73"/>
                    <a:gd name="T8" fmla="*/ 0 w 55"/>
                    <a:gd name="T9" fmla="*/ 8 h 73"/>
                    <a:gd name="T10" fmla="*/ 9 w 55"/>
                    <a:gd name="T11" fmla="*/ 0 h 73"/>
                    <a:gd name="T12" fmla="*/ 18 w 55"/>
                    <a:gd name="T13" fmla="*/ 0 h 73"/>
                    <a:gd name="T14" fmla="*/ 36 w 55"/>
                    <a:gd name="T15" fmla="*/ 8 h 73"/>
                    <a:gd name="T16" fmla="*/ 45 w 55"/>
                    <a:gd name="T17" fmla="*/ 16 h 73"/>
                    <a:gd name="T18" fmla="*/ 45 w 55"/>
                    <a:gd name="T19" fmla="*/ 24 h 73"/>
                    <a:gd name="T20" fmla="*/ 45 w 55"/>
                    <a:gd name="T21" fmla="*/ 32 h 73"/>
                    <a:gd name="T22" fmla="*/ 54 w 55"/>
                    <a:gd name="T23" fmla="*/ 40 h 73"/>
                    <a:gd name="T24" fmla="*/ 54 w 55"/>
                    <a:gd name="T25" fmla="*/ 56 h 73"/>
                    <a:gd name="T26" fmla="*/ 45 w 55"/>
                    <a:gd name="T27" fmla="*/ 64 h 73"/>
                    <a:gd name="T28" fmla="*/ 45 w 55"/>
                    <a:gd name="T29" fmla="*/ 72 h 73"/>
                    <a:gd name="T30" fmla="*/ 36 w 55"/>
                    <a:gd name="T31" fmla="*/ 72 h 73"/>
                    <a:gd name="T32" fmla="*/ 27 w 55"/>
                    <a:gd name="T33" fmla="*/ 72 h 73"/>
                    <a:gd name="T34" fmla="*/ 9 w 55"/>
                    <a:gd name="T35" fmla="*/ 72 h 73"/>
                    <a:gd name="T36" fmla="*/ 18 w 55"/>
                    <a:gd name="T37" fmla="*/ 72 h 73"/>
                    <a:gd name="T38" fmla="*/ 9 w 55"/>
                    <a:gd name="T39" fmla="*/ 64 h 73"/>
                    <a:gd name="T40" fmla="*/ 0 w 55"/>
                    <a:gd name="T41" fmla="*/ 48 h 73"/>
                    <a:gd name="T42" fmla="*/ 0 w 55"/>
                    <a:gd name="T43" fmla="*/ 40 h 73"/>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55"/>
                    <a:gd name="T67" fmla="*/ 0 h 73"/>
                    <a:gd name="T68" fmla="*/ 55 w 55"/>
                    <a:gd name="T69" fmla="*/ 73 h 73"/>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55" h="73">
                      <a:moveTo>
                        <a:pt x="0" y="40"/>
                      </a:moveTo>
                      <a:lnTo>
                        <a:pt x="0" y="32"/>
                      </a:lnTo>
                      <a:lnTo>
                        <a:pt x="0" y="24"/>
                      </a:lnTo>
                      <a:lnTo>
                        <a:pt x="0" y="16"/>
                      </a:lnTo>
                      <a:lnTo>
                        <a:pt x="0" y="8"/>
                      </a:lnTo>
                      <a:lnTo>
                        <a:pt x="9" y="0"/>
                      </a:lnTo>
                      <a:lnTo>
                        <a:pt x="18" y="0"/>
                      </a:lnTo>
                      <a:lnTo>
                        <a:pt x="36" y="8"/>
                      </a:lnTo>
                      <a:lnTo>
                        <a:pt x="45" y="16"/>
                      </a:lnTo>
                      <a:lnTo>
                        <a:pt x="45" y="24"/>
                      </a:lnTo>
                      <a:lnTo>
                        <a:pt x="45" y="32"/>
                      </a:lnTo>
                      <a:lnTo>
                        <a:pt x="54" y="40"/>
                      </a:lnTo>
                      <a:lnTo>
                        <a:pt x="54" y="56"/>
                      </a:lnTo>
                      <a:lnTo>
                        <a:pt x="45" y="64"/>
                      </a:lnTo>
                      <a:lnTo>
                        <a:pt x="45" y="72"/>
                      </a:lnTo>
                      <a:lnTo>
                        <a:pt x="36" y="72"/>
                      </a:lnTo>
                      <a:lnTo>
                        <a:pt x="27" y="72"/>
                      </a:lnTo>
                      <a:lnTo>
                        <a:pt x="9" y="72"/>
                      </a:lnTo>
                      <a:lnTo>
                        <a:pt x="18" y="72"/>
                      </a:lnTo>
                      <a:lnTo>
                        <a:pt x="9" y="64"/>
                      </a:lnTo>
                      <a:lnTo>
                        <a:pt x="0" y="48"/>
                      </a:lnTo>
                      <a:lnTo>
                        <a:pt x="0" y="40"/>
                      </a:lnTo>
                    </a:path>
                  </a:pathLst>
                </a:custGeom>
                <a:solidFill>
                  <a:schemeClr val="accent1"/>
                </a:solidFill>
                <a:ln w="12700" cap="rnd" cmpd="sng">
                  <a:solidFill>
                    <a:srgbClr val="000000"/>
                  </a:solidFill>
                  <a:prstDash val="solid"/>
                  <a:round/>
                  <a:headEnd type="none" w="med" len="med"/>
                  <a:tailEnd type="none" w="med" len="med"/>
                </a:ln>
              </p:spPr>
              <p:txBody>
                <a:bodyPr/>
                <a:lstStyle/>
                <a:p>
                  <a:endParaRPr lang="en-US"/>
                </a:p>
              </p:txBody>
            </p:sp>
            <p:sp>
              <p:nvSpPr>
                <p:cNvPr id="39125" name="Oval 57"/>
                <p:cNvSpPr>
                  <a:spLocks noChangeArrowheads="1"/>
                </p:cNvSpPr>
                <p:nvPr/>
              </p:nvSpPr>
              <p:spPr bwMode="auto">
                <a:xfrm>
                  <a:off x="4057" y="2324"/>
                  <a:ext cx="82" cy="40"/>
                </a:xfrm>
                <a:prstGeom prst="ellipse">
                  <a:avLst/>
                </a:prstGeom>
                <a:solidFill>
                  <a:srgbClr val="FFFFFF"/>
                </a:solidFill>
                <a:ln w="12700">
                  <a:solidFill>
                    <a:srgbClr val="000000"/>
                  </a:solidFill>
                  <a:round/>
                  <a:headEnd/>
                  <a:tailEnd/>
                </a:ln>
              </p:spPr>
              <p:txBody>
                <a:bodyPr wrap="none" anchor="ctr"/>
                <a:lstStyle/>
                <a:p>
                  <a:endParaRPr lang="en-NZ">
                    <a:latin typeface="Calibri" pitchFamily="34" charset="0"/>
                  </a:endParaRPr>
                </a:p>
              </p:txBody>
            </p:sp>
            <p:sp>
              <p:nvSpPr>
                <p:cNvPr id="39126" name="Freeform 58"/>
                <p:cNvSpPr>
                  <a:spLocks/>
                </p:cNvSpPr>
                <p:nvPr/>
              </p:nvSpPr>
              <p:spPr bwMode="auto">
                <a:xfrm>
                  <a:off x="4062" y="2328"/>
                  <a:ext cx="91" cy="57"/>
                </a:xfrm>
                <a:custGeom>
                  <a:avLst/>
                  <a:gdLst>
                    <a:gd name="T0" fmla="*/ 0 w 91"/>
                    <a:gd name="T1" fmla="*/ 32 h 57"/>
                    <a:gd name="T2" fmla="*/ 0 w 91"/>
                    <a:gd name="T3" fmla="*/ 32 h 57"/>
                    <a:gd name="T4" fmla="*/ 9 w 91"/>
                    <a:gd name="T5" fmla="*/ 16 h 57"/>
                    <a:gd name="T6" fmla="*/ 18 w 91"/>
                    <a:gd name="T7" fmla="*/ 8 h 57"/>
                    <a:gd name="T8" fmla="*/ 27 w 91"/>
                    <a:gd name="T9" fmla="*/ 0 h 57"/>
                    <a:gd name="T10" fmla="*/ 36 w 91"/>
                    <a:gd name="T11" fmla="*/ 0 h 57"/>
                    <a:gd name="T12" fmla="*/ 45 w 91"/>
                    <a:gd name="T13" fmla="*/ 0 h 57"/>
                    <a:gd name="T14" fmla="*/ 63 w 91"/>
                    <a:gd name="T15" fmla="*/ 0 h 57"/>
                    <a:gd name="T16" fmla="*/ 72 w 91"/>
                    <a:gd name="T17" fmla="*/ 0 h 57"/>
                    <a:gd name="T18" fmla="*/ 81 w 91"/>
                    <a:gd name="T19" fmla="*/ 8 h 57"/>
                    <a:gd name="T20" fmla="*/ 90 w 91"/>
                    <a:gd name="T21" fmla="*/ 16 h 57"/>
                    <a:gd name="T22" fmla="*/ 90 w 91"/>
                    <a:gd name="T23" fmla="*/ 24 h 57"/>
                    <a:gd name="T24" fmla="*/ 81 w 91"/>
                    <a:gd name="T25" fmla="*/ 32 h 57"/>
                    <a:gd name="T26" fmla="*/ 81 w 91"/>
                    <a:gd name="T27" fmla="*/ 40 h 57"/>
                    <a:gd name="T28" fmla="*/ 63 w 91"/>
                    <a:gd name="T29" fmla="*/ 48 h 57"/>
                    <a:gd name="T30" fmla="*/ 54 w 91"/>
                    <a:gd name="T31" fmla="*/ 48 h 57"/>
                    <a:gd name="T32" fmla="*/ 45 w 91"/>
                    <a:gd name="T33" fmla="*/ 56 h 57"/>
                    <a:gd name="T34" fmla="*/ 27 w 91"/>
                    <a:gd name="T35" fmla="*/ 56 h 57"/>
                    <a:gd name="T36" fmla="*/ 18 w 91"/>
                    <a:gd name="T37" fmla="*/ 48 h 57"/>
                    <a:gd name="T38" fmla="*/ 9 w 91"/>
                    <a:gd name="T39" fmla="*/ 40 h 57"/>
                    <a:gd name="T40" fmla="*/ 0 w 91"/>
                    <a:gd name="T41" fmla="*/ 32 h 5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1"/>
                    <a:gd name="T64" fmla="*/ 0 h 57"/>
                    <a:gd name="T65" fmla="*/ 91 w 91"/>
                    <a:gd name="T66" fmla="*/ 57 h 5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1" h="57">
                      <a:moveTo>
                        <a:pt x="0" y="32"/>
                      </a:moveTo>
                      <a:lnTo>
                        <a:pt x="0" y="32"/>
                      </a:lnTo>
                      <a:lnTo>
                        <a:pt x="9" y="16"/>
                      </a:lnTo>
                      <a:lnTo>
                        <a:pt x="18" y="8"/>
                      </a:lnTo>
                      <a:lnTo>
                        <a:pt x="27" y="0"/>
                      </a:lnTo>
                      <a:lnTo>
                        <a:pt x="36" y="0"/>
                      </a:lnTo>
                      <a:lnTo>
                        <a:pt x="45" y="0"/>
                      </a:lnTo>
                      <a:lnTo>
                        <a:pt x="63" y="0"/>
                      </a:lnTo>
                      <a:lnTo>
                        <a:pt x="72" y="0"/>
                      </a:lnTo>
                      <a:lnTo>
                        <a:pt x="81" y="8"/>
                      </a:lnTo>
                      <a:lnTo>
                        <a:pt x="90" y="16"/>
                      </a:lnTo>
                      <a:lnTo>
                        <a:pt x="90" y="24"/>
                      </a:lnTo>
                      <a:lnTo>
                        <a:pt x="81" y="32"/>
                      </a:lnTo>
                      <a:lnTo>
                        <a:pt x="81" y="40"/>
                      </a:lnTo>
                      <a:lnTo>
                        <a:pt x="63" y="48"/>
                      </a:lnTo>
                      <a:lnTo>
                        <a:pt x="54" y="48"/>
                      </a:lnTo>
                      <a:lnTo>
                        <a:pt x="45" y="56"/>
                      </a:lnTo>
                      <a:lnTo>
                        <a:pt x="27" y="56"/>
                      </a:lnTo>
                      <a:lnTo>
                        <a:pt x="18" y="48"/>
                      </a:lnTo>
                      <a:lnTo>
                        <a:pt x="9" y="40"/>
                      </a:lnTo>
                      <a:lnTo>
                        <a:pt x="0" y="32"/>
                      </a:lnTo>
                    </a:path>
                  </a:pathLst>
                </a:custGeom>
                <a:solidFill>
                  <a:srgbClr val="FFFFFF"/>
                </a:solidFill>
                <a:ln w="12700" cap="rnd" cmpd="sng">
                  <a:solidFill>
                    <a:srgbClr val="000000"/>
                  </a:solidFill>
                  <a:prstDash val="solid"/>
                  <a:round/>
                  <a:headEnd type="none" w="med" len="med"/>
                  <a:tailEnd type="none" w="med" len="med"/>
                </a:ln>
              </p:spPr>
              <p:txBody>
                <a:bodyPr/>
                <a:lstStyle/>
                <a:p>
                  <a:endParaRPr lang="en-US"/>
                </a:p>
              </p:txBody>
            </p:sp>
            <p:sp>
              <p:nvSpPr>
                <p:cNvPr id="39127" name="Freeform 59"/>
                <p:cNvSpPr>
                  <a:spLocks/>
                </p:cNvSpPr>
                <p:nvPr/>
              </p:nvSpPr>
              <p:spPr bwMode="auto">
                <a:xfrm>
                  <a:off x="4197" y="2312"/>
                  <a:ext cx="100" cy="57"/>
                </a:xfrm>
                <a:custGeom>
                  <a:avLst/>
                  <a:gdLst>
                    <a:gd name="T0" fmla="*/ 0 w 100"/>
                    <a:gd name="T1" fmla="*/ 40 h 57"/>
                    <a:gd name="T2" fmla="*/ 0 w 100"/>
                    <a:gd name="T3" fmla="*/ 40 h 57"/>
                    <a:gd name="T4" fmla="*/ 0 w 100"/>
                    <a:gd name="T5" fmla="*/ 32 h 57"/>
                    <a:gd name="T6" fmla="*/ 0 w 100"/>
                    <a:gd name="T7" fmla="*/ 16 h 57"/>
                    <a:gd name="T8" fmla="*/ 9 w 100"/>
                    <a:gd name="T9" fmla="*/ 16 h 57"/>
                    <a:gd name="T10" fmla="*/ 18 w 100"/>
                    <a:gd name="T11" fmla="*/ 8 h 57"/>
                    <a:gd name="T12" fmla="*/ 36 w 100"/>
                    <a:gd name="T13" fmla="*/ 0 h 57"/>
                    <a:gd name="T14" fmla="*/ 45 w 100"/>
                    <a:gd name="T15" fmla="*/ 0 h 57"/>
                    <a:gd name="T16" fmla="*/ 54 w 100"/>
                    <a:gd name="T17" fmla="*/ 0 h 57"/>
                    <a:gd name="T18" fmla="*/ 72 w 100"/>
                    <a:gd name="T19" fmla="*/ 0 h 57"/>
                    <a:gd name="T20" fmla="*/ 81 w 100"/>
                    <a:gd name="T21" fmla="*/ 0 h 57"/>
                    <a:gd name="T22" fmla="*/ 90 w 100"/>
                    <a:gd name="T23" fmla="*/ 8 h 57"/>
                    <a:gd name="T24" fmla="*/ 99 w 100"/>
                    <a:gd name="T25" fmla="*/ 16 h 57"/>
                    <a:gd name="T26" fmla="*/ 99 w 100"/>
                    <a:gd name="T27" fmla="*/ 24 h 57"/>
                    <a:gd name="T28" fmla="*/ 99 w 100"/>
                    <a:gd name="T29" fmla="*/ 32 h 57"/>
                    <a:gd name="T30" fmla="*/ 90 w 100"/>
                    <a:gd name="T31" fmla="*/ 40 h 57"/>
                    <a:gd name="T32" fmla="*/ 81 w 100"/>
                    <a:gd name="T33" fmla="*/ 48 h 57"/>
                    <a:gd name="T34" fmla="*/ 63 w 100"/>
                    <a:gd name="T35" fmla="*/ 56 h 57"/>
                    <a:gd name="T36" fmla="*/ 54 w 100"/>
                    <a:gd name="T37" fmla="*/ 56 h 57"/>
                    <a:gd name="T38" fmla="*/ 45 w 100"/>
                    <a:gd name="T39" fmla="*/ 56 h 57"/>
                    <a:gd name="T40" fmla="*/ 27 w 100"/>
                    <a:gd name="T41" fmla="*/ 56 h 57"/>
                    <a:gd name="T42" fmla="*/ 18 w 100"/>
                    <a:gd name="T43" fmla="*/ 56 h 57"/>
                    <a:gd name="T44" fmla="*/ 9 w 100"/>
                    <a:gd name="T45" fmla="*/ 56 h 57"/>
                    <a:gd name="T46" fmla="*/ 0 w 100"/>
                    <a:gd name="T47" fmla="*/ 48 h 57"/>
                    <a:gd name="T48" fmla="*/ 0 w 100"/>
                    <a:gd name="T49" fmla="*/ 40 h 5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00"/>
                    <a:gd name="T76" fmla="*/ 0 h 57"/>
                    <a:gd name="T77" fmla="*/ 100 w 100"/>
                    <a:gd name="T78" fmla="*/ 57 h 5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00" h="57">
                      <a:moveTo>
                        <a:pt x="0" y="40"/>
                      </a:moveTo>
                      <a:lnTo>
                        <a:pt x="0" y="40"/>
                      </a:lnTo>
                      <a:lnTo>
                        <a:pt x="0" y="32"/>
                      </a:lnTo>
                      <a:lnTo>
                        <a:pt x="0" y="16"/>
                      </a:lnTo>
                      <a:lnTo>
                        <a:pt x="9" y="16"/>
                      </a:lnTo>
                      <a:lnTo>
                        <a:pt x="18" y="8"/>
                      </a:lnTo>
                      <a:lnTo>
                        <a:pt x="36" y="0"/>
                      </a:lnTo>
                      <a:lnTo>
                        <a:pt x="45" y="0"/>
                      </a:lnTo>
                      <a:lnTo>
                        <a:pt x="54" y="0"/>
                      </a:lnTo>
                      <a:lnTo>
                        <a:pt x="72" y="0"/>
                      </a:lnTo>
                      <a:lnTo>
                        <a:pt x="81" y="0"/>
                      </a:lnTo>
                      <a:lnTo>
                        <a:pt x="90" y="8"/>
                      </a:lnTo>
                      <a:lnTo>
                        <a:pt x="99" y="16"/>
                      </a:lnTo>
                      <a:lnTo>
                        <a:pt x="99" y="24"/>
                      </a:lnTo>
                      <a:lnTo>
                        <a:pt x="99" y="32"/>
                      </a:lnTo>
                      <a:lnTo>
                        <a:pt x="90" y="40"/>
                      </a:lnTo>
                      <a:lnTo>
                        <a:pt x="81" y="48"/>
                      </a:lnTo>
                      <a:lnTo>
                        <a:pt x="63" y="56"/>
                      </a:lnTo>
                      <a:lnTo>
                        <a:pt x="54" y="56"/>
                      </a:lnTo>
                      <a:lnTo>
                        <a:pt x="45" y="56"/>
                      </a:lnTo>
                      <a:lnTo>
                        <a:pt x="27" y="56"/>
                      </a:lnTo>
                      <a:lnTo>
                        <a:pt x="18" y="56"/>
                      </a:lnTo>
                      <a:lnTo>
                        <a:pt x="9" y="56"/>
                      </a:lnTo>
                      <a:lnTo>
                        <a:pt x="0" y="48"/>
                      </a:lnTo>
                      <a:lnTo>
                        <a:pt x="0" y="40"/>
                      </a:lnTo>
                    </a:path>
                  </a:pathLst>
                </a:custGeom>
                <a:solidFill>
                  <a:srgbClr val="FE910B"/>
                </a:solidFill>
                <a:ln w="12700" cap="rnd" cmpd="sng">
                  <a:solidFill>
                    <a:srgbClr val="000000"/>
                  </a:solidFill>
                  <a:prstDash val="solid"/>
                  <a:round/>
                  <a:headEnd type="none" w="med" len="med"/>
                  <a:tailEnd type="none" w="med" len="med"/>
                </a:ln>
              </p:spPr>
              <p:txBody>
                <a:bodyPr/>
                <a:lstStyle/>
                <a:p>
                  <a:endParaRPr lang="en-US"/>
                </a:p>
              </p:txBody>
            </p:sp>
            <p:sp>
              <p:nvSpPr>
                <p:cNvPr id="39128" name="Oval 60"/>
                <p:cNvSpPr>
                  <a:spLocks noChangeArrowheads="1"/>
                </p:cNvSpPr>
                <p:nvPr/>
              </p:nvSpPr>
              <p:spPr bwMode="auto">
                <a:xfrm>
                  <a:off x="3994" y="2324"/>
                  <a:ext cx="100" cy="48"/>
                </a:xfrm>
                <a:prstGeom prst="ellipse">
                  <a:avLst/>
                </a:prstGeom>
                <a:solidFill>
                  <a:srgbClr val="FFFFFF"/>
                </a:solidFill>
                <a:ln w="12700">
                  <a:solidFill>
                    <a:srgbClr val="000000"/>
                  </a:solidFill>
                  <a:round/>
                  <a:headEnd/>
                  <a:tailEnd/>
                </a:ln>
              </p:spPr>
              <p:txBody>
                <a:bodyPr wrap="none" anchor="ctr"/>
                <a:lstStyle/>
                <a:p>
                  <a:endParaRPr lang="en-NZ">
                    <a:latin typeface="Calibri" pitchFamily="34" charset="0"/>
                  </a:endParaRPr>
                </a:p>
              </p:txBody>
            </p:sp>
            <p:sp>
              <p:nvSpPr>
                <p:cNvPr id="39129" name="Freeform 61"/>
                <p:cNvSpPr>
                  <a:spLocks/>
                </p:cNvSpPr>
                <p:nvPr/>
              </p:nvSpPr>
              <p:spPr bwMode="auto">
                <a:xfrm>
                  <a:off x="3999" y="2328"/>
                  <a:ext cx="100" cy="57"/>
                </a:xfrm>
                <a:custGeom>
                  <a:avLst/>
                  <a:gdLst>
                    <a:gd name="T0" fmla="*/ 0 w 100"/>
                    <a:gd name="T1" fmla="*/ 40 h 57"/>
                    <a:gd name="T2" fmla="*/ 0 w 100"/>
                    <a:gd name="T3" fmla="*/ 32 h 57"/>
                    <a:gd name="T4" fmla="*/ 9 w 100"/>
                    <a:gd name="T5" fmla="*/ 16 h 57"/>
                    <a:gd name="T6" fmla="*/ 18 w 100"/>
                    <a:gd name="T7" fmla="*/ 8 h 57"/>
                    <a:gd name="T8" fmla="*/ 36 w 100"/>
                    <a:gd name="T9" fmla="*/ 0 h 57"/>
                    <a:gd name="T10" fmla="*/ 45 w 100"/>
                    <a:gd name="T11" fmla="*/ 0 h 57"/>
                    <a:gd name="T12" fmla="*/ 54 w 100"/>
                    <a:gd name="T13" fmla="*/ 0 h 57"/>
                    <a:gd name="T14" fmla="*/ 72 w 100"/>
                    <a:gd name="T15" fmla="*/ 0 h 57"/>
                    <a:gd name="T16" fmla="*/ 81 w 100"/>
                    <a:gd name="T17" fmla="*/ 0 h 57"/>
                    <a:gd name="T18" fmla="*/ 90 w 100"/>
                    <a:gd name="T19" fmla="*/ 8 h 57"/>
                    <a:gd name="T20" fmla="*/ 99 w 100"/>
                    <a:gd name="T21" fmla="*/ 16 h 57"/>
                    <a:gd name="T22" fmla="*/ 99 w 100"/>
                    <a:gd name="T23" fmla="*/ 32 h 57"/>
                    <a:gd name="T24" fmla="*/ 90 w 100"/>
                    <a:gd name="T25" fmla="*/ 40 h 57"/>
                    <a:gd name="T26" fmla="*/ 81 w 100"/>
                    <a:gd name="T27" fmla="*/ 48 h 57"/>
                    <a:gd name="T28" fmla="*/ 63 w 100"/>
                    <a:gd name="T29" fmla="*/ 56 h 57"/>
                    <a:gd name="T30" fmla="*/ 54 w 100"/>
                    <a:gd name="T31" fmla="*/ 56 h 57"/>
                    <a:gd name="T32" fmla="*/ 45 w 100"/>
                    <a:gd name="T33" fmla="*/ 56 h 57"/>
                    <a:gd name="T34" fmla="*/ 27 w 100"/>
                    <a:gd name="T35" fmla="*/ 56 h 57"/>
                    <a:gd name="T36" fmla="*/ 18 w 100"/>
                    <a:gd name="T37" fmla="*/ 56 h 57"/>
                    <a:gd name="T38" fmla="*/ 9 w 100"/>
                    <a:gd name="T39" fmla="*/ 56 h 57"/>
                    <a:gd name="T40" fmla="*/ 0 w 100"/>
                    <a:gd name="T41" fmla="*/ 48 h 57"/>
                    <a:gd name="T42" fmla="*/ 0 w 100"/>
                    <a:gd name="T43" fmla="*/ 40 h 5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0"/>
                    <a:gd name="T67" fmla="*/ 0 h 57"/>
                    <a:gd name="T68" fmla="*/ 100 w 100"/>
                    <a:gd name="T69" fmla="*/ 57 h 5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0" h="57">
                      <a:moveTo>
                        <a:pt x="0" y="40"/>
                      </a:moveTo>
                      <a:lnTo>
                        <a:pt x="0" y="32"/>
                      </a:lnTo>
                      <a:lnTo>
                        <a:pt x="9" y="16"/>
                      </a:lnTo>
                      <a:lnTo>
                        <a:pt x="18" y="8"/>
                      </a:lnTo>
                      <a:lnTo>
                        <a:pt x="36" y="0"/>
                      </a:lnTo>
                      <a:lnTo>
                        <a:pt x="45" y="0"/>
                      </a:lnTo>
                      <a:lnTo>
                        <a:pt x="54" y="0"/>
                      </a:lnTo>
                      <a:lnTo>
                        <a:pt x="72" y="0"/>
                      </a:lnTo>
                      <a:lnTo>
                        <a:pt x="81" y="0"/>
                      </a:lnTo>
                      <a:lnTo>
                        <a:pt x="90" y="8"/>
                      </a:lnTo>
                      <a:lnTo>
                        <a:pt x="99" y="16"/>
                      </a:lnTo>
                      <a:lnTo>
                        <a:pt x="99" y="32"/>
                      </a:lnTo>
                      <a:lnTo>
                        <a:pt x="90" y="40"/>
                      </a:lnTo>
                      <a:lnTo>
                        <a:pt x="81" y="48"/>
                      </a:lnTo>
                      <a:lnTo>
                        <a:pt x="63" y="56"/>
                      </a:lnTo>
                      <a:lnTo>
                        <a:pt x="54" y="56"/>
                      </a:lnTo>
                      <a:lnTo>
                        <a:pt x="45" y="56"/>
                      </a:lnTo>
                      <a:lnTo>
                        <a:pt x="27" y="56"/>
                      </a:lnTo>
                      <a:lnTo>
                        <a:pt x="18" y="56"/>
                      </a:lnTo>
                      <a:lnTo>
                        <a:pt x="9" y="56"/>
                      </a:lnTo>
                      <a:lnTo>
                        <a:pt x="0" y="48"/>
                      </a:lnTo>
                      <a:lnTo>
                        <a:pt x="0" y="40"/>
                      </a:lnTo>
                    </a:path>
                  </a:pathLst>
                </a:custGeom>
                <a:solidFill>
                  <a:schemeClr val="accent1"/>
                </a:solidFill>
                <a:ln w="12700" cap="rnd" cmpd="sng">
                  <a:solidFill>
                    <a:srgbClr val="000000"/>
                  </a:solidFill>
                  <a:prstDash val="solid"/>
                  <a:round/>
                  <a:headEnd type="none" w="med" len="med"/>
                  <a:tailEnd type="none" w="med" len="med"/>
                </a:ln>
              </p:spPr>
              <p:txBody>
                <a:bodyPr/>
                <a:lstStyle/>
                <a:p>
                  <a:endParaRPr lang="en-US"/>
                </a:p>
              </p:txBody>
            </p:sp>
            <p:sp>
              <p:nvSpPr>
                <p:cNvPr id="39130" name="Freeform 62"/>
                <p:cNvSpPr>
                  <a:spLocks/>
                </p:cNvSpPr>
                <p:nvPr/>
              </p:nvSpPr>
              <p:spPr bwMode="auto">
                <a:xfrm>
                  <a:off x="4065" y="2324"/>
                  <a:ext cx="108" cy="65"/>
                </a:xfrm>
                <a:custGeom>
                  <a:avLst/>
                  <a:gdLst>
                    <a:gd name="T0" fmla="*/ 0 w 108"/>
                    <a:gd name="T1" fmla="*/ 40 h 65"/>
                    <a:gd name="T2" fmla="*/ 0 w 108"/>
                    <a:gd name="T3" fmla="*/ 40 h 65"/>
                    <a:gd name="T4" fmla="*/ 9 w 108"/>
                    <a:gd name="T5" fmla="*/ 24 h 65"/>
                    <a:gd name="T6" fmla="*/ 9 w 108"/>
                    <a:gd name="T7" fmla="*/ 16 h 65"/>
                    <a:gd name="T8" fmla="*/ 18 w 108"/>
                    <a:gd name="T9" fmla="*/ 16 h 65"/>
                    <a:gd name="T10" fmla="*/ 36 w 108"/>
                    <a:gd name="T11" fmla="*/ 8 h 65"/>
                    <a:gd name="T12" fmla="*/ 45 w 108"/>
                    <a:gd name="T13" fmla="*/ 0 h 65"/>
                    <a:gd name="T14" fmla="*/ 62 w 108"/>
                    <a:gd name="T15" fmla="*/ 0 h 65"/>
                    <a:gd name="T16" fmla="*/ 80 w 108"/>
                    <a:gd name="T17" fmla="*/ 0 h 65"/>
                    <a:gd name="T18" fmla="*/ 89 w 108"/>
                    <a:gd name="T19" fmla="*/ 0 h 65"/>
                    <a:gd name="T20" fmla="*/ 98 w 108"/>
                    <a:gd name="T21" fmla="*/ 8 h 65"/>
                    <a:gd name="T22" fmla="*/ 107 w 108"/>
                    <a:gd name="T23" fmla="*/ 16 h 65"/>
                    <a:gd name="T24" fmla="*/ 107 w 108"/>
                    <a:gd name="T25" fmla="*/ 24 h 65"/>
                    <a:gd name="T26" fmla="*/ 107 w 108"/>
                    <a:gd name="T27" fmla="*/ 32 h 65"/>
                    <a:gd name="T28" fmla="*/ 98 w 108"/>
                    <a:gd name="T29" fmla="*/ 40 h 65"/>
                    <a:gd name="T30" fmla="*/ 89 w 108"/>
                    <a:gd name="T31" fmla="*/ 48 h 65"/>
                    <a:gd name="T32" fmla="*/ 71 w 108"/>
                    <a:gd name="T33" fmla="*/ 56 h 65"/>
                    <a:gd name="T34" fmla="*/ 62 w 108"/>
                    <a:gd name="T35" fmla="*/ 56 h 65"/>
                    <a:gd name="T36" fmla="*/ 45 w 108"/>
                    <a:gd name="T37" fmla="*/ 64 h 65"/>
                    <a:gd name="T38" fmla="*/ 27 w 108"/>
                    <a:gd name="T39" fmla="*/ 64 h 65"/>
                    <a:gd name="T40" fmla="*/ 18 w 108"/>
                    <a:gd name="T41" fmla="*/ 56 h 65"/>
                    <a:gd name="T42" fmla="*/ 9 w 108"/>
                    <a:gd name="T43" fmla="*/ 56 h 65"/>
                    <a:gd name="T44" fmla="*/ 0 w 108"/>
                    <a:gd name="T45" fmla="*/ 48 h 65"/>
                    <a:gd name="T46" fmla="*/ 0 w 108"/>
                    <a:gd name="T47" fmla="*/ 40 h 6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08"/>
                    <a:gd name="T73" fmla="*/ 0 h 65"/>
                    <a:gd name="T74" fmla="*/ 108 w 108"/>
                    <a:gd name="T75" fmla="*/ 65 h 65"/>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08" h="65">
                      <a:moveTo>
                        <a:pt x="0" y="40"/>
                      </a:moveTo>
                      <a:lnTo>
                        <a:pt x="0" y="40"/>
                      </a:lnTo>
                      <a:lnTo>
                        <a:pt x="9" y="24"/>
                      </a:lnTo>
                      <a:lnTo>
                        <a:pt x="9" y="16"/>
                      </a:lnTo>
                      <a:lnTo>
                        <a:pt x="18" y="16"/>
                      </a:lnTo>
                      <a:lnTo>
                        <a:pt x="36" y="8"/>
                      </a:lnTo>
                      <a:lnTo>
                        <a:pt x="45" y="0"/>
                      </a:lnTo>
                      <a:lnTo>
                        <a:pt x="62" y="0"/>
                      </a:lnTo>
                      <a:lnTo>
                        <a:pt x="80" y="0"/>
                      </a:lnTo>
                      <a:lnTo>
                        <a:pt x="89" y="0"/>
                      </a:lnTo>
                      <a:lnTo>
                        <a:pt x="98" y="8"/>
                      </a:lnTo>
                      <a:lnTo>
                        <a:pt x="107" y="16"/>
                      </a:lnTo>
                      <a:lnTo>
                        <a:pt x="107" y="24"/>
                      </a:lnTo>
                      <a:lnTo>
                        <a:pt x="107" y="32"/>
                      </a:lnTo>
                      <a:lnTo>
                        <a:pt x="98" y="40"/>
                      </a:lnTo>
                      <a:lnTo>
                        <a:pt x="89" y="48"/>
                      </a:lnTo>
                      <a:lnTo>
                        <a:pt x="71" y="56"/>
                      </a:lnTo>
                      <a:lnTo>
                        <a:pt x="62" y="56"/>
                      </a:lnTo>
                      <a:lnTo>
                        <a:pt x="45" y="64"/>
                      </a:lnTo>
                      <a:lnTo>
                        <a:pt x="27" y="64"/>
                      </a:lnTo>
                      <a:lnTo>
                        <a:pt x="18" y="56"/>
                      </a:lnTo>
                      <a:lnTo>
                        <a:pt x="9" y="56"/>
                      </a:lnTo>
                      <a:lnTo>
                        <a:pt x="0" y="48"/>
                      </a:lnTo>
                      <a:lnTo>
                        <a:pt x="0" y="40"/>
                      </a:lnTo>
                    </a:path>
                  </a:pathLst>
                </a:custGeom>
                <a:solidFill>
                  <a:srgbClr val="FE910B"/>
                </a:solidFill>
                <a:ln w="12700" cap="rnd" cmpd="sng">
                  <a:solidFill>
                    <a:srgbClr val="000000"/>
                  </a:solidFill>
                  <a:prstDash val="solid"/>
                  <a:round/>
                  <a:headEnd type="none" w="med" len="med"/>
                  <a:tailEnd type="none" w="med" len="med"/>
                </a:ln>
              </p:spPr>
              <p:txBody>
                <a:bodyPr/>
                <a:lstStyle/>
                <a:p>
                  <a:endParaRPr lang="en-US"/>
                </a:p>
              </p:txBody>
            </p:sp>
            <p:sp>
              <p:nvSpPr>
                <p:cNvPr id="39131" name="Freeform 63"/>
                <p:cNvSpPr>
                  <a:spLocks/>
                </p:cNvSpPr>
                <p:nvPr/>
              </p:nvSpPr>
              <p:spPr bwMode="auto">
                <a:xfrm>
                  <a:off x="4026" y="2328"/>
                  <a:ext cx="55" cy="73"/>
                </a:xfrm>
                <a:custGeom>
                  <a:avLst/>
                  <a:gdLst>
                    <a:gd name="T0" fmla="*/ 0 w 55"/>
                    <a:gd name="T1" fmla="*/ 40 h 73"/>
                    <a:gd name="T2" fmla="*/ 0 w 55"/>
                    <a:gd name="T3" fmla="*/ 32 h 73"/>
                    <a:gd name="T4" fmla="*/ 0 w 55"/>
                    <a:gd name="T5" fmla="*/ 24 h 73"/>
                    <a:gd name="T6" fmla="*/ 0 w 55"/>
                    <a:gd name="T7" fmla="*/ 16 h 73"/>
                    <a:gd name="T8" fmla="*/ 0 w 55"/>
                    <a:gd name="T9" fmla="*/ 8 h 73"/>
                    <a:gd name="T10" fmla="*/ 9 w 55"/>
                    <a:gd name="T11" fmla="*/ 0 h 73"/>
                    <a:gd name="T12" fmla="*/ 18 w 55"/>
                    <a:gd name="T13" fmla="*/ 0 h 73"/>
                    <a:gd name="T14" fmla="*/ 36 w 55"/>
                    <a:gd name="T15" fmla="*/ 8 h 73"/>
                    <a:gd name="T16" fmla="*/ 45 w 55"/>
                    <a:gd name="T17" fmla="*/ 16 h 73"/>
                    <a:gd name="T18" fmla="*/ 45 w 55"/>
                    <a:gd name="T19" fmla="*/ 24 h 73"/>
                    <a:gd name="T20" fmla="*/ 45 w 55"/>
                    <a:gd name="T21" fmla="*/ 32 h 73"/>
                    <a:gd name="T22" fmla="*/ 54 w 55"/>
                    <a:gd name="T23" fmla="*/ 40 h 73"/>
                    <a:gd name="T24" fmla="*/ 54 w 55"/>
                    <a:gd name="T25" fmla="*/ 48 h 73"/>
                    <a:gd name="T26" fmla="*/ 45 w 55"/>
                    <a:gd name="T27" fmla="*/ 56 h 73"/>
                    <a:gd name="T28" fmla="*/ 45 w 55"/>
                    <a:gd name="T29" fmla="*/ 64 h 73"/>
                    <a:gd name="T30" fmla="*/ 36 w 55"/>
                    <a:gd name="T31" fmla="*/ 72 h 73"/>
                    <a:gd name="T32" fmla="*/ 27 w 55"/>
                    <a:gd name="T33" fmla="*/ 72 h 73"/>
                    <a:gd name="T34" fmla="*/ 18 w 55"/>
                    <a:gd name="T35" fmla="*/ 72 h 73"/>
                    <a:gd name="T36" fmla="*/ 9 w 55"/>
                    <a:gd name="T37" fmla="*/ 64 h 73"/>
                    <a:gd name="T38" fmla="*/ 0 w 55"/>
                    <a:gd name="T39" fmla="*/ 48 h 73"/>
                    <a:gd name="T40" fmla="*/ 0 w 55"/>
                    <a:gd name="T41" fmla="*/ 40 h 7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5"/>
                    <a:gd name="T64" fmla="*/ 0 h 73"/>
                    <a:gd name="T65" fmla="*/ 55 w 55"/>
                    <a:gd name="T66" fmla="*/ 73 h 7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5" h="73">
                      <a:moveTo>
                        <a:pt x="0" y="40"/>
                      </a:moveTo>
                      <a:lnTo>
                        <a:pt x="0" y="32"/>
                      </a:lnTo>
                      <a:lnTo>
                        <a:pt x="0" y="24"/>
                      </a:lnTo>
                      <a:lnTo>
                        <a:pt x="0" y="16"/>
                      </a:lnTo>
                      <a:lnTo>
                        <a:pt x="0" y="8"/>
                      </a:lnTo>
                      <a:lnTo>
                        <a:pt x="9" y="0"/>
                      </a:lnTo>
                      <a:lnTo>
                        <a:pt x="18" y="0"/>
                      </a:lnTo>
                      <a:lnTo>
                        <a:pt x="36" y="8"/>
                      </a:lnTo>
                      <a:lnTo>
                        <a:pt x="45" y="16"/>
                      </a:lnTo>
                      <a:lnTo>
                        <a:pt x="45" y="24"/>
                      </a:lnTo>
                      <a:lnTo>
                        <a:pt x="45" y="32"/>
                      </a:lnTo>
                      <a:lnTo>
                        <a:pt x="54" y="40"/>
                      </a:lnTo>
                      <a:lnTo>
                        <a:pt x="54" y="48"/>
                      </a:lnTo>
                      <a:lnTo>
                        <a:pt x="45" y="56"/>
                      </a:lnTo>
                      <a:lnTo>
                        <a:pt x="45" y="64"/>
                      </a:lnTo>
                      <a:lnTo>
                        <a:pt x="36" y="72"/>
                      </a:lnTo>
                      <a:lnTo>
                        <a:pt x="27" y="72"/>
                      </a:lnTo>
                      <a:lnTo>
                        <a:pt x="18" y="72"/>
                      </a:lnTo>
                      <a:lnTo>
                        <a:pt x="9" y="64"/>
                      </a:lnTo>
                      <a:lnTo>
                        <a:pt x="0" y="48"/>
                      </a:lnTo>
                      <a:lnTo>
                        <a:pt x="0" y="40"/>
                      </a:lnTo>
                    </a:path>
                  </a:pathLst>
                </a:custGeom>
                <a:solidFill>
                  <a:srgbClr val="FE910B"/>
                </a:solidFill>
                <a:ln w="12700" cap="rnd" cmpd="sng">
                  <a:solidFill>
                    <a:srgbClr val="000000"/>
                  </a:solidFill>
                  <a:prstDash val="solid"/>
                  <a:round/>
                  <a:headEnd type="none" w="med" len="med"/>
                  <a:tailEnd type="none" w="med" len="med"/>
                </a:ln>
              </p:spPr>
              <p:txBody>
                <a:bodyPr/>
                <a:lstStyle/>
                <a:p>
                  <a:endParaRPr lang="en-US"/>
                </a:p>
              </p:txBody>
            </p:sp>
            <p:sp>
              <p:nvSpPr>
                <p:cNvPr id="39132" name="Oval 64"/>
                <p:cNvSpPr>
                  <a:spLocks noChangeArrowheads="1"/>
                </p:cNvSpPr>
                <p:nvPr/>
              </p:nvSpPr>
              <p:spPr bwMode="auto">
                <a:xfrm rot="-1378829">
                  <a:off x="4224" y="2460"/>
                  <a:ext cx="100" cy="48"/>
                </a:xfrm>
                <a:prstGeom prst="ellipse">
                  <a:avLst/>
                </a:prstGeom>
                <a:solidFill>
                  <a:srgbClr val="FE910B"/>
                </a:solidFill>
                <a:ln w="12700">
                  <a:solidFill>
                    <a:schemeClr val="bg2"/>
                  </a:solidFill>
                  <a:round/>
                  <a:headEnd/>
                  <a:tailEnd/>
                </a:ln>
              </p:spPr>
              <p:txBody>
                <a:bodyPr wrap="none" anchor="ctr"/>
                <a:lstStyle/>
                <a:p>
                  <a:endParaRPr lang="en-NZ">
                    <a:latin typeface="Calibri" pitchFamily="34" charset="0"/>
                  </a:endParaRPr>
                </a:p>
              </p:txBody>
            </p:sp>
            <p:sp>
              <p:nvSpPr>
                <p:cNvPr id="39133" name="Oval 65"/>
                <p:cNvSpPr>
                  <a:spLocks noChangeArrowheads="1"/>
                </p:cNvSpPr>
                <p:nvPr/>
              </p:nvSpPr>
              <p:spPr bwMode="auto">
                <a:xfrm>
                  <a:off x="4128" y="2460"/>
                  <a:ext cx="100" cy="48"/>
                </a:xfrm>
                <a:prstGeom prst="ellipse">
                  <a:avLst/>
                </a:prstGeom>
                <a:solidFill>
                  <a:srgbClr val="FE910B"/>
                </a:solidFill>
                <a:ln w="12700">
                  <a:solidFill>
                    <a:schemeClr val="bg2"/>
                  </a:solidFill>
                  <a:round/>
                  <a:headEnd/>
                  <a:tailEnd/>
                </a:ln>
              </p:spPr>
              <p:txBody>
                <a:bodyPr wrap="none" anchor="ctr"/>
                <a:lstStyle/>
                <a:p>
                  <a:endParaRPr lang="en-NZ">
                    <a:latin typeface="Calibri" pitchFamily="34" charset="0"/>
                  </a:endParaRPr>
                </a:p>
              </p:txBody>
            </p:sp>
            <p:sp>
              <p:nvSpPr>
                <p:cNvPr id="39134" name="Oval 66"/>
                <p:cNvSpPr>
                  <a:spLocks noChangeArrowheads="1"/>
                </p:cNvSpPr>
                <p:nvPr/>
              </p:nvSpPr>
              <p:spPr bwMode="auto">
                <a:xfrm>
                  <a:off x="4080" y="2256"/>
                  <a:ext cx="46" cy="64"/>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grpSp>
          <p:grpSp>
            <p:nvGrpSpPr>
              <p:cNvPr id="38953" name="Group 67"/>
              <p:cNvGrpSpPr>
                <a:grpSpLocks/>
              </p:cNvGrpSpPr>
              <p:nvPr/>
            </p:nvGrpSpPr>
            <p:grpSpPr bwMode="auto">
              <a:xfrm>
                <a:off x="3888" y="1968"/>
                <a:ext cx="714" cy="396"/>
                <a:chOff x="3936" y="1780"/>
                <a:chExt cx="714" cy="396"/>
              </a:xfrm>
            </p:grpSpPr>
            <p:sp>
              <p:nvSpPr>
                <p:cNvPr id="38954" name="Freeform 68"/>
                <p:cNvSpPr>
                  <a:spLocks/>
                </p:cNvSpPr>
                <p:nvPr/>
              </p:nvSpPr>
              <p:spPr bwMode="auto">
                <a:xfrm>
                  <a:off x="4272" y="1920"/>
                  <a:ext cx="55" cy="129"/>
                </a:xfrm>
                <a:custGeom>
                  <a:avLst/>
                  <a:gdLst>
                    <a:gd name="T0" fmla="*/ 54 w 55"/>
                    <a:gd name="T1" fmla="*/ 128 h 129"/>
                    <a:gd name="T2" fmla="*/ 18 w 55"/>
                    <a:gd name="T3" fmla="*/ 96 h 129"/>
                    <a:gd name="T4" fmla="*/ 0 w 55"/>
                    <a:gd name="T5" fmla="*/ 0 h 129"/>
                    <a:gd name="T6" fmla="*/ 0 60000 65536"/>
                    <a:gd name="T7" fmla="*/ 0 60000 65536"/>
                    <a:gd name="T8" fmla="*/ 0 60000 65536"/>
                    <a:gd name="T9" fmla="*/ 0 w 55"/>
                    <a:gd name="T10" fmla="*/ 0 h 129"/>
                    <a:gd name="T11" fmla="*/ 55 w 55"/>
                    <a:gd name="T12" fmla="*/ 129 h 129"/>
                  </a:gdLst>
                  <a:ahLst/>
                  <a:cxnLst>
                    <a:cxn ang="T6">
                      <a:pos x="T0" y="T1"/>
                    </a:cxn>
                    <a:cxn ang="T7">
                      <a:pos x="T2" y="T3"/>
                    </a:cxn>
                    <a:cxn ang="T8">
                      <a:pos x="T4" y="T5"/>
                    </a:cxn>
                  </a:cxnLst>
                  <a:rect l="T9" t="T10" r="T11" b="T12"/>
                  <a:pathLst>
                    <a:path w="55" h="129">
                      <a:moveTo>
                        <a:pt x="54" y="128"/>
                      </a:moveTo>
                      <a:lnTo>
                        <a:pt x="18" y="96"/>
                      </a:lnTo>
                      <a:lnTo>
                        <a:pt x="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8955" name="Line 69"/>
                <p:cNvSpPr>
                  <a:spLocks noChangeShapeType="1"/>
                </p:cNvSpPr>
                <p:nvPr/>
              </p:nvSpPr>
              <p:spPr bwMode="auto">
                <a:xfrm flipH="1" flipV="1">
                  <a:off x="4080" y="1968"/>
                  <a:ext cx="75" cy="160"/>
                </a:xfrm>
                <a:prstGeom prst="line">
                  <a:avLst/>
                </a:prstGeom>
                <a:noFill/>
                <a:ln w="12700">
                  <a:solidFill>
                    <a:srgbClr val="009900"/>
                  </a:solidFill>
                  <a:round/>
                  <a:headEnd/>
                  <a:tailEnd/>
                </a:ln>
              </p:spPr>
              <p:txBody>
                <a:bodyPr wrap="none" anchor="ctr"/>
                <a:lstStyle/>
                <a:p>
                  <a:endParaRPr lang="en-US"/>
                </a:p>
              </p:txBody>
            </p:sp>
            <p:sp>
              <p:nvSpPr>
                <p:cNvPr id="38956" name="Freeform 70"/>
                <p:cNvSpPr>
                  <a:spLocks/>
                </p:cNvSpPr>
                <p:nvPr/>
              </p:nvSpPr>
              <p:spPr bwMode="auto">
                <a:xfrm>
                  <a:off x="4560" y="2064"/>
                  <a:ext cx="19" cy="49"/>
                </a:xfrm>
                <a:custGeom>
                  <a:avLst/>
                  <a:gdLst>
                    <a:gd name="T0" fmla="*/ 0 w 19"/>
                    <a:gd name="T1" fmla="*/ 48 h 49"/>
                    <a:gd name="T2" fmla="*/ 0 w 19"/>
                    <a:gd name="T3" fmla="*/ 48 h 49"/>
                    <a:gd name="T4" fmla="*/ 18 w 19"/>
                    <a:gd name="T5" fmla="*/ 0 h 49"/>
                    <a:gd name="T6" fmla="*/ 0 60000 65536"/>
                    <a:gd name="T7" fmla="*/ 0 60000 65536"/>
                    <a:gd name="T8" fmla="*/ 0 60000 65536"/>
                    <a:gd name="T9" fmla="*/ 0 w 19"/>
                    <a:gd name="T10" fmla="*/ 0 h 49"/>
                    <a:gd name="T11" fmla="*/ 19 w 19"/>
                    <a:gd name="T12" fmla="*/ 49 h 49"/>
                  </a:gdLst>
                  <a:ahLst/>
                  <a:cxnLst>
                    <a:cxn ang="T6">
                      <a:pos x="T0" y="T1"/>
                    </a:cxn>
                    <a:cxn ang="T7">
                      <a:pos x="T2" y="T3"/>
                    </a:cxn>
                    <a:cxn ang="T8">
                      <a:pos x="T4" y="T5"/>
                    </a:cxn>
                  </a:cxnLst>
                  <a:rect l="T9" t="T10" r="T11" b="T12"/>
                  <a:pathLst>
                    <a:path w="19" h="49">
                      <a:moveTo>
                        <a:pt x="0" y="48"/>
                      </a:moveTo>
                      <a:lnTo>
                        <a:pt x="0" y="48"/>
                      </a:lnTo>
                      <a:lnTo>
                        <a:pt x="1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8957" name="Line 71"/>
                <p:cNvSpPr>
                  <a:spLocks noChangeShapeType="1"/>
                </p:cNvSpPr>
                <p:nvPr/>
              </p:nvSpPr>
              <p:spPr bwMode="auto">
                <a:xfrm flipV="1">
                  <a:off x="3984" y="2064"/>
                  <a:ext cx="10" cy="56"/>
                </a:xfrm>
                <a:prstGeom prst="line">
                  <a:avLst/>
                </a:prstGeom>
                <a:noFill/>
                <a:ln w="12700">
                  <a:solidFill>
                    <a:srgbClr val="009900"/>
                  </a:solidFill>
                  <a:round/>
                  <a:headEnd/>
                  <a:tailEnd/>
                </a:ln>
              </p:spPr>
              <p:txBody>
                <a:bodyPr wrap="none" anchor="ctr"/>
                <a:lstStyle/>
                <a:p>
                  <a:endParaRPr lang="en-US"/>
                </a:p>
              </p:txBody>
            </p:sp>
            <p:sp>
              <p:nvSpPr>
                <p:cNvPr id="38958" name="Freeform 72"/>
                <p:cNvSpPr>
                  <a:spLocks/>
                </p:cNvSpPr>
                <p:nvPr/>
              </p:nvSpPr>
              <p:spPr bwMode="auto">
                <a:xfrm>
                  <a:off x="4512" y="2064"/>
                  <a:ext cx="19" cy="49"/>
                </a:xfrm>
                <a:custGeom>
                  <a:avLst/>
                  <a:gdLst>
                    <a:gd name="T0" fmla="*/ 0 w 19"/>
                    <a:gd name="T1" fmla="*/ 48 h 49"/>
                    <a:gd name="T2" fmla="*/ 0 w 19"/>
                    <a:gd name="T3" fmla="*/ 48 h 49"/>
                    <a:gd name="T4" fmla="*/ 18 w 19"/>
                    <a:gd name="T5" fmla="*/ 0 h 49"/>
                    <a:gd name="T6" fmla="*/ 0 60000 65536"/>
                    <a:gd name="T7" fmla="*/ 0 60000 65536"/>
                    <a:gd name="T8" fmla="*/ 0 60000 65536"/>
                    <a:gd name="T9" fmla="*/ 0 w 19"/>
                    <a:gd name="T10" fmla="*/ 0 h 49"/>
                    <a:gd name="T11" fmla="*/ 19 w 19"/>
                    <a:gd name="T12" fmla="*/ 49 h 49"/>
                  </a:gdLst>
                  <a:ahLst/>
                  <a:cxnLst>
                    <a:cxn ang="T6">
                      <a:pos x="T0" y="T1"/>
                    </a:cxn>
                    <a:cxn ang="T7">
                      <a:pos x="T2" y="T3"/>
                    </a:cxn>
                    <a:cxn ang="T8">
                      <a:pos x="T4" y="T5"/>
                    </a:cxn>
                  </a:cxnLst>
                  <a:rect l="T9" t="T10" r="T11" b="T12"/>
                  <a:pathLst>
                    <a:path w="19" h="49">
                      <a:moveTo>
                        <a:pt x="0" y="48"/>
                      </a:moveTo>
                      <a:lnTo>
                        <a:pt x="0" y="48"/>
                      </a:lnTo>
                      <a:lnTo>
                        <a:pt x="1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8959" name="Line 73"/>
                <p:cNvSpPr>
                  <a:spLocks noChangeShapeType="1"/>
                </p:cNvSpPr>
                <p:nvPr/>
              </p:nvSpPr>
              <p:spPr bwMode="auto">
                <a:xfrm flipV="1">
                  <a:off x="4128" y="2064"/>
                  <a:ext cx="10" cy="56"/>
                </a:xfrm>
                <a:prstGeom prst="line">
                  <a:avLst/>
                </a:prstGeom>
                <a:noFill/>
                <a:ln w="12700">
                  <a:solidFill>
                    <a:srgbClr val="009900"/>
                  </a:solidFill>
                  <a:round/>
                  <a:headEnd/>
                  <a:tailEnd/>
                </a:ln>
              </p:spPr>
              <p:txBody>
                <a:bodyPr wrap="none" anchor="ctr"/>
                <a:lstStyle/>
                <a:p>
                  <a:endParaRPr lang="en-US"/>
                </a:p>
              </p:txBody>
            </p:sp>
            <p:sp>
              <p:nvSpPr>
                <p:cNvPr id="38960" name="Freeform 74"/>
                <p:cNvSpPr>
                  <a:spLocks/>
                </p:cNvSpPr>
                <p:nvPr/>
              </p:nvSpPr>
              <p:spPr bwMode="auto">
                <a:xfrm>
                  <a:off x="4224" y="2112"/>
                  <a:ext cx="79" cy="48"/>
                </a:xfrm>
                <a:custGeom>
                  <a:avLst/>
                  <a:gdLst>
                    <a:gd name="T0" fmla="*/ 0 w 127"/>
                    <a:gd name="T1" fmla="*/ 17 h 81"/>
                    <a:gd name="T2" fmla="*/ 4 w 127"/>
                    <a:gd name="T3" fmla="*/ 5 h 81"/>
                    <a:gd name="T4" fmla="*/ 30 w 127"/>
                    <a:gd name="T5" fmla="*/ 0 h 81"/>
                    <a:gd name="T6" fmla="*/ 0 60000 65536"/>
                    <a:gd name="T7" fmla="*/ 0 60000 65536"/>
                    <a:gd name="T8" fmla="*/ 0 60000 65536"/>
                    <a:gd name="T9" fmla="*/ 0 w 127"/>
                    <a:gd name="T10" fmla="*/ 0 h 81"/>
                    <a:gd name="T11" fmla="*/ 127 w 127"/>
                    <a:gd name="T12" fmla="*/ 81 h 81"/>
                  </a:gdLst>
                  <a:ahLst/>
                  <a:cxnLst>
                    <a:cxn ang="T6">
                      <a:pos x="T0" y="T1"/>
                    </a:cxn>
                    <a:cxn ang="T7">
                      <a:pos x="T2" y="T3"/>
                    </a:cxn>
                    <a:cxn ang="T8">
                      <a:pos x="T4" y="T5"/>
                    </a:cxn>
                  </a:cxnLst>
                  <a:rect l="T9" t="T10" r="T11" b="T12"/>
                  <a:pathLst>
                    <a:path w="127" h="81">
                      <a:moveTo>
                        <a:pt x="0" y="80"/>
                      </a:moveTo>
                      <a:lnTo>
                        <a:pt x="18" y="24"/>
                      </a:lnTo>
                      <a:lnTo>
                        <a:pt x="126"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8961" name="Freeform 75"/>
                <p:cNvSpPr>
                  <a:spLocks/>
                </p:cNvSpPr>
                <p:nvPr/>
              </p:nvSpPr>
              <p:spPr bwMode="auto">
                <a:xfrm>
                  <a:off x="4176" y="2064"/>
                  <a:ext cx="127" cy="81"/>
                </a:xfrm>
                <a:custGeom>
                  <a:avLst/>
                  <a:gdLst>
                    <a:gd name="T0" fmla="*/ 0 w 127"/>
                    <a:gd name="T1" fmla="*/ 80 h 81"/>
                    <a:gd name="T2" fmla="*/ 36 w 127"/>
                    <a:gd name="T3" fmla="*/ 32 h 81"/>
                    <a:gd name="T4" fmla="*/ 126 w 127"/>
                    <a:gd name="T5" fmla="*/ 0 h 81"/>
                    <a:gd name="T6" fmla="*/ 0 60000 65536"/>
                    <a:gd name="T7" fmla="*/ 0 60000 65536"/>
                    <a:gd name="T8" fmla="*/ 0 60000 65536"/>
                    <a:gd name="T9" fmla="*/ 0 w 127"/>
                    <a:gd name="T10" fmla="*/ 0 h 81"/>
                    <a:gd name="T11" fmla="*/ 127 w 127"/>
                    <a:gd name="T12" fmla="*/ 81 h 81"/>
                  </a:gdLst>
                  <a:ahLst/>
                  <a:cxnLst>
                    <a:cxn ang="T6">
                      <a:pos x="T0" y="T1"/>
                    </a:cxn>
                    <a:cxn ang="T7">
                      <a:pos x="T2" y="T3"/>
                    </a:cxn>
                    <a:cxn ang="T8">
                      <a:pos x="T4" y="T5"/>
                    </a:cxn>
                  </a:cxnLst>
                  <a:rect l="T9" t="T10" r="T11" b="T12"/>
                  <a:pathLst>
                    <a:path w="127" h="81">
                      <a:moveTo>
                        <a:pt x="0" y="80"/>
                      </a:moveTo>
                      <a:lnTo>
                        <a:pt x="36" y="32"/>
                      </a:lnTo>
                      <a:lnTo>
                        <a:pt x="126"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8962" name="Freeform 76"/>
                <p:cNvSpPr>
                  <a:spLocks/>
                </p:cNvSpPr>
                <p:nvPr/>
              </p:nvSpPr>
              <p:spPr bwMode="auto">
                <a:xfrm>
                  <a:off x="4280" y="1920"/>
                  <a:ext cx="136" cy="139"/>
                </a:xfrm>
                <a:custGeom>
                  <a:avLst/>
                  <a:gdLst>
                    <a:gd name="T0" fmla="*/ 0 w 289"/>
                    <a:gd name="T1" fmla="*/ 127 h 145"/>
                    <a:gd name="T2" fmla="*/ 7 w 289"/>
                    <a:gd name="T3" fmla="*/ 78 h 145"/>
                    <a:gd name="T4" fmla="*/ 30 w 289"/>
                    <a:gd name="T5" fmla="*/ 0 h 145"/>
                    <a:gd name="T6" fmla="*/ 0 60000 65536"/>
                    <a:gd name="T7" fmla="*/ 0 60000 65536"/>
                    <a:gd name="T8" fmla="*/ 0 60000 65536"/>
                    <a:gd name="T9" fmla="*/ 0 w 289"/>
                    <a:gd name="T10" fmla="*/ 0 h 145"/>
                    <a:gd name="T11" fmla="*/ 289 w 289"/>
                    <a:gd name="T12" fmla="*/ 145 h 145"/>
                  </a:gdLst>
                  <a:ahLst/>
                  <a:cxnLst>
                    <a:cxn ang="T6">
                      <a:pos x="T0" y="T1"/>
                    </a:cxn>
                    <a:cxn ang="T7">
                      <a:pos x="T2" y="T3"/>
                    </a:cxn>
                    <a:cxn ang="T8">
                      <a:pos x="T4" y="T5"/>
                    </a:cxn>
                  </a:cxnLst>
                  <a:rect l="T9" t="T10" r="T11" b="T12"/>
                  <a:pathLst>
                    <a:path w="289" h="145">
                      <a:moveTo>
                        <a:pt x="0" y="144"/>
                      </a:moveTo>
                      <a:lnTo>
                        <a:pt x="63" y="88"/>
                      </a:lnTo>
                      <a:lnTo>
                        <a:pt x="28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8963" name="Freeform 77"/>
                <p:cNvSpPr>
                  <a:spLocks/>
                </p:cNvSpPr>
                <p:nvPr/>
              </p:nvSpPr>
              <p:spPr bwMode="auto">
                <a:xfrm flipH="1">
                  <a:off x="4237" y="1920"/>
                  <a:ext cx="47" cy="145"/>
                </a:xfrm>
                <a:custGeom>
                  <a:avLst/>
                  <a:gdLst>
                    <a:gd name="T0" fmla="*/ 0 w 290"/>
                    <a:gd name="T1" fmla="*/ 144 h 145"/>
                    <a:gd name="T2" fmla="*/ 0 w 290"/>
                    <a:gd name="T3" fmla="*/ 112 h 145"/>
                    <a:gd name="T4" fmla="*/ 0 w 290"/>
                    <a:gd name="T5" fmla="*/ 72 h 145"/>
                    <a:gd name="T6" fmla="*/ 1 w 290"/>
                    <a:gd name="T7" fmla="*/ 40 h 145"/>
                    <a:gd name="T8" fmla="*/ 1 w 290"/>
                    <a:gd name="T9" fmla="*/ 0 h 145"/>
                    <a:gd name="T10" fmla="*/ 0 60000 65536"/>
                    <a:gd name="T11" fmla="*/ 0 60000 65536"/>
                    <a:gd name="T12" fmla="*/ 0 60000 65536"/>
                    <a:gd name="T13" fmla="*/ 0 60000 65536"/>
                    <a:gd name="T14" fmla="*/ 0 60000 65536"/>
                    <a:gd name="T15" fmla="*/ 0 w 290"/>
                    <a:gd name="T16" fmla="*/ 0 h 145"/>
                    <a:gd name="T17" fmla="*/ 290 w 290"/>
                    <a:gd name="T18" fmla="*/ 145 h 145"/>
                  </a:gdLst>
                  <a:ahLst/>
                  <a:cxnLst>
                    <a:cxn ang="T10">
                      <a:pos x="T0" y="T1"/>
                    </a:cxn>
                    <a:cxn ang="T11">
                      <a:pos x="T2" y="T3"/>
                    </a:cxn>
                    <a:cxn ang="T12">
                      <a:pos x="T4" y="T5"/>
                    </a:cxn>
                    <a:cxn ang="T13">
                      <a:pos x="T6" y="T7"/>
                    </a:cxn>
                    <a:cxn ang="T14">
                      <a:pos x="T8" y="T9"/>
                    </a:cxn>
                  </a:cxnLst>
                  <a:rect l="T15" t="T16" r="T17" b="T18"/>
                  <a:pathLst>
                    <a:path w="290" h="145">
                      <a:moveTo>
                        <a:pt x="0" y="144"/>
                      </a:moveTo>
                      <a:lnTo>
                        <a:pt x="36" y="112"/>
                      </a:lnTo>
                      <a:lnTo>
                        <a:pt x="99" y="72"/>
                      </a:lnTo>
                      <a:lnTo>
                        <a:pt x="181" y="40"/>
                      </a:lnTo>
                      <a:lnTo>
                        <a:pt x="28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8964" name="Freeform 78"/>
                <p:cNvSpPr>
                  <a:spLocks/>
                </p:cNvSpPr>
                <p:nvPr/>
              </p:nvSpPr>
              <p:spPr bwMode="auto">
                <a:xfrm>
                  <a:off x="4013" y="1946"/>
                  <a:ext cx="19" cy="41"/>
                </a:xfrm>
                <a:custGeom>
                  <a:avLst/>
                  <a:gdLst>
                    <a:gd name="T0" fmla="*/ 0 w 19"/>
                    <a:gd name="T1" fmla="*/ 40 h 41"/>
                    <a:gd name="T2" fmla="*/ 0 w 19"/>
                    <a:gd name="T3" fmla="*/ 40 h 41"/>
                    <a:gd name="T4" fmla="*/ 18 w 19"/>
                    <a:gd name="T5" fmla="*/ 0 h 41"/>
                    <a:gd name="T6" fmla="*/ 0 60000 65536"/>
                    <a:gd name="T7" fmla="*/ 0 60000 65536"/>
                    <a:gd name="T8" fmla="*/ 0 60000 65536"/>
                    <a:gd name="T9" fmla="*/ 0 w 19"/>
                    <a:gd name="T10" fmla="*/ 0 h 41"/>
                    <a:gd name="T11" fmla="*/ 19 w 19"/>
                    <a:gd name="T12" fmla="*/ 41 h 41"/>
                  </a:gdLst>
                  <a:ahLst/>
                  <a:cxnLst>
                    <a:cxn ang="T6">
                      <a:pos x="T0" y="T1"/>
                    </a:cxn>
                    <a:cxn ang="T7">
                      <a:pos x="T2" y="T3"/>
                    </a:cxn>
                    <a:cxn ang="T8">
                      <a:pos x="T4" y="T5"/>
                    </a:cxn>
                  </a:cxnLst>
                  <a:rect l="T9" t="T10" r="T11" b="T12"/>
                  <a:pathLst>
                    <a:path w="19" h="41">
                      <a:moveTo>
                        <a:pt x="0" y="40"/>
                      </a:moveTo>
                      <a:lnTo>
                        <a:pt x="0" y="40"/>
                      </a:lnTo>
                      <a:lnTo>
                        <a:pt x="1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8965" name="Line 79"/>
                <p:cNvSpPr>
                  <a:spLocks noChangeShapeType="1"/>
                </p:cNvSpPr>
                <p:nvPr/>
              </p:nvSpPr>
              <p:spPr bwMode="auto">
                <a:xfrm flipV="1">
                  <a:off x="4017" y="1942"/>
                  <a:ext cx="19" cy="56"/>
                </a:xfrm>
                <a:prstGeom prst="line">
                  <a:avLst/>
                </a:prstGeom>
                <a:noFill/>
                <a:ln w="12700">
                  <a:solidFill>
                    <a:srgbClr val="009900"/>
                  </a:solidFill>
                  <a:round/>
                  <a:headEnd/>
                  <a:tailEnd/>
                </a:ln>
              </p:spPr>
              <p:txBody>
                <a:bodyPr wrap="none" anchor="ctr"/>
                <a:lstStyle/>
                <a:p>
                  <a:endParaRPr lang="en-US"/>
                </a:p>
              </p:txBody>
            </p:sp>
            <p:sp>
              <p:nvSpPr>
                <p:cNvPr id="38966" name="Freeform 80"/>
                <p:cNvSpPr>
                  <a:spLocks/>
                </p:cNvSpPr>
                <p:nvPr/>
              </p:nvSpPr>
              <p:spPr bwMode="auto">
                <a:xfrm>
                  <a:off x="4217" y="1954"/>
                  <a:ext cx="55" cy="129"/>
                </a:xfrm>
                <a:custGeom>
                  <a:avLst/>
                  <a:gdLst>
                    <a:gd name="T0" fmla="*/ 54 w 55"/>
                    <a:gd name="T1" fmla="*/ 128 h 129"/>
                    <a:gd name="T2" fmla="*/ 18 w 55"/>
                    <a:gd name="T3" fmla="*/ 96 h 129"/>
                    <a:gd name="T4" fmla="*/ 0 w 55"/>
                    <a:gd name="T5" fmla="*/ 0 h 129"/>
                    <a:gd name="T6" fmla="*/ 0 60000 65536"/>
                    <a:gd name="T7" fmla="*/ 0 60000 65536"/>
                    <a:gd name="T8" fmla="*/ 0 60000 65536"/>
                    <a:gd name="T9" fmla="*/ 0 w 55"/>
                    <a:gd name="T10" fmla="*/ 0 h 129"/>
                    <a:gd name="T11" fmla="*/ 55 w 55"/>
                    <a:gd name="T12" fmla="*/ 129 h 129"/>
                  </a:gdLst>
                  <a:ahLst/>
                  <a:cxnLst>
                    <a:cxn ang="T6">
                      <a:pos x="T0" y="T1"/>
                    </a:cxn>
                    <a:cxn ang="T7">
                      <a:pos x="T2" y="T3"/>
                    </a:cxn>
                    <a:cxn ang="T8">
                      <a:pos x="T4" y="T5"/>
                    </a:cxn>
                  </a:cxnLst>
                  <a:rect l="T9" t="T10" r="T11" b="T12"/>
                  <a:pathLst>
                    <a:path w="55" h="129">
                      <a:moveTo>
                        <a:pt x="54" y="128"/>
                      </a:moveTo>
                      <a:lnTo>
                        <a:pt x="18" y="96"/>
                      </a:lnTo>
                      <a:lnTo>
                        <a:pt x="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8967" name="Freeform 81"/>
                <p:cNvSpPr>
                  <a:spLocks/>
                </p:cNvSpPr>
                <p:nvPr/>
              </p:nvSpPr>
              <p:spPr bwMode="auto">
                <a:xfrm rot="1520041">
                  <a:off x="4337" y="1920"/>
                  <a:ext cx="55" cy="129"/>
                </a:xfrm>
                <a:custGeom>
                  <a:avLst/>
                  <a:gdLst>
                    <a:gd name="T0" fmla="*/ 54 w 55"/>
                    <a:gd name="T1" fmla="*/ 128 h 129"/>
                    <a:gd name="T2" fmla="*/ 18 w 55"/>
                    <a:gd name="T3" fmla="*/ 80 h 129"/>
                    <a:gd name="T4" fmla="*/ 0 w 55"/>
                    <a:gd name="T5" fmla="*/ 0 h 129"/>
                    <a:gd name="T6" fmla="*/ 0 60000 65536"/>
                    <a:gd name="T7" fmla="*/ 0 60000 65536"/>
                    <a:gd name="T8" fmla="*/ 0 60000 65536"/>
                    <a:gd name="T9" fmla="*/ 0 w 55"/>
                    <a:gd name="T10" fmla="*/ 0 h 129"/>
                    <a:gd name="T11" fmla="*/ 55 w 55"/>
                    <a:gd name="T12" fmla="*/ 129 h 129"/>
                  </a:gdLst>
                  <a:ahLst/>
                  <a:cxnLst>
                    <a:cxn ang="T6">
                      <a:pos x="T0" y="T1"/>
                    </a:cxn>
                    <a:cxn ang="T7">
                      <a:pos x="T2" y="T3"/>
                    </a:cxn>
                    <a:cxn ang="T8">
                      <a:pos x="T4" y="T5"/>
                    </a:cxn>
                  </a:cxnLst>
                  <a:rect l="T9" t="T10" r="T11" b="T12"/>
                  <a:pathLst>
                    <a:path w="55" h="129">
                      <a:moveTo>
                        <a:pt x="54" y="128"/>
                      </a:moveTo>
                      <a:lnTo>
                        <a:pt x="18" y="80"/>
                      </a:lnTo>
                      <a:lnTo>
                        <a:pt x="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8968" name="Freeform 82"/>
                <p:cNvSpPr>
                  <a:spLocks/>
                </p:cNvSpPr>
                <p:nvPr/>
              </p:nvSpPr>
              <p:spPr bwMode="auto">
                <a:xfrm>
                  <a:off x="4004" y="1882"/>
                  <a:ext cx="28" cy="153"/>
                </a:xfrm>
                <a:custGeom>
                  <a:avLst/>
                  <a:gdLst>
                    <a:gd name="T0" fmla="*/ 27 w 28"/>
                    <a:gd name="T1" fmla="*/ 152 h 153"/>
                    <a:gd name="T2" fmla="*/ 27 w 28"/>
                    <a:gd name="T3" fmla="*/ 152 h 153"/>
                    <a:gd name="T4" fmla="*/ 0 w 28"/>
                    <a:gd name="T5" fmla="*/ 0 h 153"/>
                    <a:gd name="T6" fmla="*/ 0 60000 65536"/>
                    <a:gd name="T7" fmla="*/ 0 60000 65536"/>
                    <a:gd name="T8" fmla="*/ 0 60000 65536"/>
                    <a:gd name="T9" fmla="*/ 0 w 28"/>
                    <a:gd name="T10" fmla="*/ 0 h 153"/>
                    <a:gd name="T11" fmla="*/ 28 w 28"/>
                    <a:gd name="T12" fmla="*/ 153 h 153"/>
                  </a:gdLst>
                  <a:ahLst/>
                  <a:cxnLst>
                    <a:cxn ang="T6">
                      <a:pos x="T0" y="T1"/>
                    </a:cxn>
                    <a:cxn ang="T7">
                      <a:pos x="T2" y="T3"/>
                    </a:cxn>
                    <a:cxn ang="T8">
                      <a:pos x="T4" y="T5"/>
                    </a:cxn>
                  </a:cxnLst>
                  <a:rect l="T9" t="T10" r="T11" b="T12"/>
                  <a:pathLst>
                    <a:path w="28" h="153">
                      <a:moveTo>
                        <a:pt x="27" y="152"/>
                      </a:moveTo>
                      <a:lnTo>
                        <a:pt x="27" y="152"/>
                      </a:lnTo>
                      <a:lnTo>
                        <a:pt x="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8969" name="Line 83"/>
                <p:cNvSpPr>
                  <a:spLocks noChangeShapeType="1"/>
                </p:cNvSpPr>
                <p:nvPr/>
              </p:nvSpPr>
              <p:spPr bwMode="auto">
                <a:xfrm flipH="1" flipV="1">
                  <a:off x="4005" y="1878"/>
                  <a:ext cx="34" cy="160"/>
                </a:xfrm>
                <a:prstGeom prst="line">
                  <a:avLst/>
                </a:prstGeom>
                <a:noFill/>
                <a:ln w="12700">
                  <a:solidFill>
                    <a:srgbClr val="009900"/>
                  </a:solidFill>
                  <a:round/>
                  <a:headEnd/>
                  <a:tailEnd/>
                </a:ln>
              </p:spPr>
              <p:txBody>
                <a:bodyPr wrap="none" anchor="ctr"/>
                <a:lstStyle/>
                <a:p>
                  <a:endParaRPr lang="en-US"/>
                </a:p>
              </p:txBody>
            </p:sp>
            <p:sp>
              <p:nvSpPr>
                <p:cNvPr id="38970" name="Freeform 84"/>
                <p:cNvSpPr>
                  <a:spLocks/>
                </p:cNvSpPr>
                <p:nvPr/>
              </p:nvSpPr>
              <p:spPr bwMode="auto">
                <a:xfrm>
                  <a:off x="4190" y="1994"/>
                  <a:ext cx="10" cy="49"/>
                </a:xfrm>
                <a:custGeom>
                  <a:avLst/>
                  <a:gdLst>
                    <a:gd name="T0" fmla="*/ 0 w 10"/>
                    <a:gd name="T1" fmla="*/ 48 h 49"/>
                    <a:gd name="T2" fmla="*/ 0 w 10"/>
                    <a:gd name="T3" fmla="*/ 48 h 49"/>
                    <a:gd name="T4" fmla="*/ 9 w 10"/>
                    <a:gd name="T5" fmla="*/ 0 h 49"/>
                    <a:gd name="T6" fmla="*/ 0 60000 65536"/>
                    <a:gd name="T7" fmla="*/ 0 60000 65536"/>
                    <a:gd name="T8" fmla="*/ 0 60000 65536"/>
                    <a:gd name="T9" fmla="*/ 0 w 10"/>
                    <a:gd name="T10" fmla="*/ 0 h 49"/>
                    <a:gd name="T11" fmla="*/ 10 w 10"/>
                    <a:gd name="T12" fmla="*/ 49 h 49"/>
                  </a:gdLst>
                  <a:ahLst/>
                  <a:cxnLst>
                    <a:cxn ang="T6">
                      <a:pos x="T0" y="T1"/>
                    </a:cxn>
                    <a:cxn ang="T7">
                      <a:pos x="T2" y="T3"/>
                    </a:cxn>
                    <a:cxn ang="T8">
                      <a:pos x="T4" y="T5"/>
                    </a:cxn>
                  </a:cxnLst>
                  <a:rect l="T9" t="T10" r="T11" b="T12"/>
                  <a:pathLst>
                    <a:path w="10" h="49">
                      <a:moveTo>
                        <a:pt x="0" y="48"/>
                      </a:moveTo>
                      <a:lnTo>
                        <a:pt x="0" y="48"/>
                      </a:lnTo>
                      <a:lnTo>
                        <a:pt x="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8971" name="Line 85"/>
                <p:cNvSpPr>
                  <a:spLocks noChangeShapeType="1"/>
                </p:cNvSpPr>
                <p:nvPr/>
              </p:nvSpPr>
              <p:spPr bwMode="auto">
                <a:xfrm flipV="1">
                  <a:off x="4198" y="1990"/>
                  <a:ext cx="1" cy="56"/>
                </a:xfrm>
                <a:prstGeom prst="line">
                  <a:avLst/>
                </a:prstGeom>
                <a:noFill/>
                <a:ln w="12700">
                  <a:solidFill>
                    <a:srgbClr val="009900"/>
                  </a:solidFill>
                  <a:round/>
                  <a:headEnd/>
                  <a:tailEnd/>
                </a:ln>
              </p:spPr>
              <p:txBody>
                <a:bodyPr wrap="none" anchor="ctr"/>
                <a:lstStyle/>
                <a:p>
                  <a:endParaRPr lang="en-US"/>
                </a:p>
              </p:txBody>
            </p:sp>
            <p:sp>
              <p:nvSpPr>
                <p:cNvPr id="38972" name="Freeform 86"/>
                <p:cNvSpPr>
                  <a:spLocks/>
                </p:cNvSpPr>
                <p:nvPr/>
              </p:nvSpPr>
              <p:spPr bwMode="auto">
                <a:xfrm>
                  <a:off x="4067" y="1938"/>
                  <a:ext cx="19" cy="49"/>
                </a:xfrm>
                <a:custGeom>
                  <a:avLst/>
                  <a:gdLst>
                    <a:gd name="T0" fmla="*/ 0 w 19"/>
                    <a:gd name="T1" fmla="*/ 48 h 49"/>
                    <a:gd name="T2" fmla="*/ 0 w 19"/>
                    <a:gd name="T3" fmla="*/ 48 h 49"/>
                    <a:gd name="T4" fmla="*/ 18 w 19"/>
                    <a:gd name="T5" fmla="*/ 0 h 49"/>
                    <a:gd name="T6" fmla="*/ 0 60000 65536"/>
                    <a:gd name="T7" fmla="*/ 0 60000 65536"/>
                    <a:gd name="T8" fmla="*/ 0 60000 65536"/>
                    <a:gd name="T9" fmla="*/ 0 w 19"/>
                    <a:gd name="T10" fmla="*/ 0 h 49"/>
                    <a:gd name="T11" fmla="*/ 19 w 19"/>
                    <a:gd name="T12" fmla="*/ 49 h 49"/>
                  </a:gdLst>
                  <a:ahLst/>
                  <a:cxnLst>
                    <a:cxn ang="T6">
                      <a:pos x="T0" y="T1"/>
                    </a:cxn>
                    <a:cxn ang="T7">
                      <a:pos x="T2" y="T3"/>
                    </a:cxn>
                    <a:cxn ang="T8">
                      <a:pos x="T4" y="T5"/>
                    </a:cxn>
                  </a:cxnLst>
                  <a:rect l="T9" t="T10" r="T11" b="T12"/>
                  <a:pathLst>
                    <a:path w="19" h="49">
                      <a:moveTo>
                        <a:pt x="0" y="48"/>
                      </a:moveTo>
                      <a:lnTo>
                        <a:pt x="0" y="48"/>
                      </a:lnTo>
                      <a:lnTo>
                        <a:pt x="1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8973" name="Line 87"/>
                <p:cNvSpPr>
                  <a:spLocks noChangeShapeType="1"/>
                </p:cNvSpPr>
                <p:nvPr/>
              </p:nvSpPr>
              <p:spPr bwMode="auto">
                <a:xfrm flipV="1">
                  <a:off x="4076" y="1934"/>
                  <a:ext cx="9" cy="56"/>
                </a:xfrm>
                <a:prstGeom prst="line">
                  <a:avLst/>
                </a:prstGeom>
                <a:noFill/>
                <a:ln w="12700">
                  <a:solidFill>
                    <a:srgbClr val="009900"/>
                  </a:solidFill>
                  <a:round/>
                  <a:headEnd/>
                  <a:tailEnd/>
                </a:ln>
              </p:spPr>
              <p:txBody>
                <a:bodyPr wrap="none" anchor="ctr"/>
                <a:lstStyle/>
                <a:p>
                  <a:endParaRPr lang="en-US"/>
                </a:p>
              </p:txBody>
            </p:sp>
            <p:sp>
              <p:nvSpPr>
                <p:cNvPr id="38974" name="Freeform 88"/>
                <p:cNvSpPr>
                  <a:spLocks/>
                </p:cNvSpPr>
                <p:nvPr/>
              </p:nvSpPr>
              <p:spPr bwMode="auto">
                <a:xfrm>
                  <a:off x="4049" y="1920"/>
                  <a:ext cx="96" cy="96"/>
                </a:xfrm>
                <a:custGeom>
                  <a:avLst/>
                  <a:gdLst>
                    <a:gd name="T0" fmla="*/ 2324 w 19"/>
                    <a:gd name="T1" fmla="*/ 38 h 153"/>
                    <a:gd name="T2" fmla="*/ 2324 w 19"/>
                    <a:gd name="T3" fmla="*/ 38 h 153"/>
                    <a:gd name="T4" fmla="*/ 0 w 19"/>
                    <a:gd name="T5" fmla="*/ 0 h 153"/>
                    <a:gd name="T6" fmla="*/ 0 60000 65536"/>
                    <a:gd name="T7" fmla="*/ 0 60000 65536"/>
                    <a:gd name="T8" fmla="*/ 0 60000 65536"/>
                    <a:gd name="T9" fmla="*/ 0 w 19"/>
                    <a:gd name="T10" fmla="*/ 0 h 153"/>
                    <a:gd name="T11" fmla="*/ 19 w 19"/>
                    <a:gd name="T12" fmla="*/ 153 h 153"/>
                  </a:gdLst>
                  <a:ahLst/>
                  <a:cxnLst>
                    <a:cxn ang="T6">
                      <a:pos x="T0" y="T1"/>
                    </a:cxn>
                    <a:cxn ang="T7">
                      <a:pos x="T2" y="T3"/>
                    </a:cxn>
                    <a:cxn ang="T8">
                      <a:pos x="T4" y="T5"/>
                    </a:cxn>
                  </a:cxnLst>
                  <a:rect l="T9" t="T10" r="T11" b="T12"/>
                  <a:pathLst>
                    <a:path w="19" h="153">
                      <a:moveTo>
                        <a:pt x="18" y="152"/>
                      </a:moveTo>
                      <a:lnTo>
                        <a:pt x="18" y="152"/>
                      </a:lnTo>
                      <a:lnTo>
                        <a:pt x="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8975" name="Line 89"/>
                <p:cNvSpPr>
                  <a:spLocks noChangeShapeType="1"/>
                </p:cNvSpPr>
                <p:nvPr/>
              </p:nvSpPr>
              <p:spPr bwMode="auto">
                <a:xfrm flipH="1" flipV="1">
                  <a:off x="4145" y="1920"/>
                  <a:ext cx="27" cy="160"/>
                </a:xfrm>
                <a:prstGeom prst="line">
                  <a:avLst/>
                </a:prstGeom>
                <a:noFill/>
                <a:ln w="12700">
                  <a:solidFill>
                    <a:srgbClr val="009900"/>
                  </a:solidFill>
                  <a:round/>
                  <a:headEnd/>
                  <a:tailEnd/>
                </a:ln>
              </p:spPr>
              <p:txBody>
                <a:bodyPr wrap="none" anchor="ctr"/>
                <a:lstStyle/>
                <a:p>
                  <a:endParaRPr lang="en-US"/>
                </a:p>
              </p:txBody>
            </p:sp>
            <p:sp>
              <p:nvSpPr>
                <p:cNvPr id="38976" name="Freeform 90"/>
                <p:cNvSpPr>
                  <a:spLocks/>
                </p:cNvSpPr>
                <p:nvPr/>
              </p:nvSpPr>
              <p:spPr bwMode="auto">
                <a:xfrm>
                  <a:off x="4154" y="2018"/>
                  <a:ext cx="19" cy="41"/>
                </a:xfrm>
                <a:custGeom>
                  <a:avLst/>
                  <a:gdLst>
                    <a:gd name="T0" fmla="*/ 0 w 19"/>
                    <a:gd name="T1" fmla="*/ 40 h 41"/>
                    <a:gd name="T2" fmla="*/ 0 w 19"/>
                    <a:gd name="T3" fmla="*/ 40 h 41"/>
                    <a:gd name="T4" fmla="*/ 18 w 19"/>
                    <a:gd name="T5" fmla="*/ 0 h 41"/>
                    <a:gd name="T6" fmla="*/ 0 60000 65536"/>
                    <a:gd name="T7" fmla="*/ 0 60000 65536"/>
                    <a:gd name="T8" fmla="*/ 0 60000 65536"/>
                    <a:gd name="T9" fmla="*/ 0 w 19"/>
                    <a:gd name="T10" fmla="*/ 0 h 41"/>
                    <a:gd name="T11" fmla="*/ 19 w 19"/>
                    <a:gd name="T12" fmla="*/ 41 h 41"/>
                  </a:gdLst>
                  <a:ahLst/>
                  <a:cxnLst>
                    <a:cxn ang="T6">
                      <a:pos x="T0" y="T1"/>
                    </a:cxn>
                    <a:cxn ang="T7">
                      <a:pos x="T2" y="T3"/>
                    </a:cxn>
                    <a:cxn ang="T8">
                      <a:pos x="T4" y="T5"/>
                    </a:cxn>
                  </a:cxnLst>
                  <a:rect l="T9" t="T10" r="T11" b="T12"/>
                  <a:pathLst>
                    <a:path w="19" h="41">
                      <a:moveTo>
                        <a:pt x="0" y="40"/>
                      </a:moveTo>
                      <a:lnTo>
                        <a:pt x="0" y="40"/>
                      </a:lnTo>
                      <a:lnTo>
                        <a:pt x="1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8977" name="Line 91"/>
                <p:cNvSpPr>
                  <a:spLocks noChangeShapeType="1"/>
                </p:cNvSpPr>
                <p:nvPr/>
              </p:nvSpPr>
              <p:spPr bwMode="auto">
                <a:xfrm flipV="1">
                  <a:off x="4158" y="2014"/>
                  <a:ext cx="19" cy="56"/>
                </a:xfrm>
                <a:prstGeom prst="line">
                  <a:avLst/>
                </a:prstGeom>
                <a:noFill/>
                <a:ln w="12700">
                  <a:solidFill>
                    <a:srgbClr val="009900"/>
                  </a:solidFill>
                  <a:round/>
                  <a:headEnd/>
                  <a:tailEnd/>
                </a:ln>
              </p:spPr>
              <p:txBody>
                <a:bodyPr wrap="none" anchor="ctr"/>
                <a:lstStyle/>
                <a:p>
                  <a:endParaRPr lang="en-US"/>
                </a:p>
              </p:txBody>
            </p:sp>
            <p:sp>
              <p:nvSpPr>
                <p:cNvPr id="38978" name="Freeform 92"/>
                <p:cNvSpPr>
                  <a:spLocks/>
                </p:cNvSpPr>
                <p:nvPr/>
              </p:nvSpPr>
              <p:spPr bwMode="auto">
                <a:xfrm>
                  <a:off x="4334" y="1938"/>
                  <a:ext cx="181" cy="49"/>
                </a:xfrm>
                <a:custGeom>
                  <a:avLst/>
                  <a:gdLst>
                    <a:gd name="T0" fmla="*/ 0 w 181"/>
                    <a:gd name="T1" fmla="*/ 48 h 49"/>
                    <a:gd name="T2" fmla="*/ 162 w 181"/>
                    <a:gd name="T3" fmla="*/ 40 h 49"/>
                    <a:gd name="T4" fmla="*/ 180 w 181"/>
                    <a:gd name="T5" fmla="*/ 0 h 49"/>
                    <a:gd name="T6" fmla="*/ 0 60000 65536"/>
                    <a:gd name="T7" fmla="*/ 0 60000 65536"/>
                    <a:gd name="T8" fmla="*/ 0 60000 65536"/>
                    <a:gd name="T9" fmla="*/ 0 w 181"/>
                    <a:gd name="T10" fmla="*/ 0 h 49"/>
                    <a:gd name="T11" fmla="*/ 181 w 181"/>
                    <a:gd name="T12" fmla="*/ 49 h 49"/>
                  </a:gdLst>
                  <a:ahLst/>
                  <a:cxnLst>
                    <a:cxn ang="T6">
                      <a:pos x="T0" y="T1"/>
                    </a:cxn>
                    <a:cxn ang="T7">
                      <a:pos x="T2" y="T3"/>
                    </a:cxn>
                    <a:cxn ang="T8">
                      <a:pos x="T4" y="T5"/>
                    </a:cxn>
                  </a:cxnLst>
                  <a:rect l="T9" t="T10" r="T11" b="T12"/>
                  <a:pathLst>
                    <a:path w="181" h="49">
                      <a:moveTo>
                        <a:pt x="0" y="48"/>
                      </a:moveTo>
                      <a:lnTo>
                        <a:pt x="162" y="40"/>
                      </a:lnTo>
                      <a:lnTo>
                        <a:pt x="18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8979" name="Freeform 93"/>
                <p:cNvSpPr>
                  <a:spLocks/>
                </p:cNvSpPr>
                <p:nvPr/>
              </p:nvSpPr>
              <p:spPr bwMode="auto">
                <a:xfrm>
                  <a:off x="4334" y="1938"/>
                  <a:ext cx="181" cy="49"/>
                </a:xfrm>
                <a:custGeom>
                  <a:avLst/>
                  <a:gdLst>
                    <a:gd name="T0" fmla="*/ 0 w 181"/>
                    <a:gd name="T1" fmla="*/ 48 h 49"/>
                    <a:gd name="T2" fmla="*/ 72 w 181"/>
                    <a:gd name="T3" fmla="*/ 40 h 49"/>
                    <a:gd name="T4" fmla="*/ 126 w 181"/>
                    <a:gd name="T5" fmla="*/ 24 h 49"/>
                    <a:gd name="T6" fmla="*/ 162 w 181"/>
                    <a:gd name="T7" fmla="*/ 16 h 49"/>
                    <a:gd name="T8" fmla="*/ 180 w 181"/>
                    <a:gd name="T9" fmla="*/ 0 h 49"/>
                    <a:gd name="T10" fmla="*/ 0 60000 65536"/>
                    <a:gd name="T11" fmla="*/ 0 60000 65536"/>
                    <a:gd name="T12" fmla="*/ 0 60000 65536"/>
                    <a:gd name="T13" fmla="*/ 0 60000 65536"/>
                    <a:gd name="T14" fmla="*/ 0 60000 65536"/>
                    <a:gd name="T15" fmla="*/ 0 w 181"/>
                    <a:gd name="T16" fmla="*/ 0 h 49"/>
                    <a:gd name="T17" fmla="*/ 181 w 181"/>
                    <a:gd name="T18" fmla="*/ 49 h 49"/>
                  </a:gdLst>
                  <a:ahLst/>
                  <a:cxnLst>
                    <a:cxn ang="T10">
                      <a:pos x="T0" y="T1"/>
                    </a:cxn>
                    <a:cxn ang="T11">
                      <a:pos x="T2" y="T3"/>
                    </a:cxn>
                    <a:cxn ang="T12">
                      <a:pos x="T4" y="T5"/>
                    </a:cxn>
                    <a:cxn ang="T13">
                      <a:pos x="T6" y="T7"/>
                    </a:cxn>
                    <a:cxn ang="T14">
                      <a:pos x="T8" y="T9"/>
                    </a:cxn>
                  </a:cxnLst>
                  <a:rect l="T15" t="T16" r="T17" b="T18"/>
                  <a:pathLst>
                    <a:path w="181" h="49">
                      <a:moveTo>
                        <a:pt x="0" y="48"/>
                      </a:moveTo>
                      <a:lnTo>
                        <a:pt x="72" y="40"/>
                      </a:lnTo>
                      <a:lnTo>
                        <a:pt x="126" y="24"/>
                      </a:lnTo>
                      <a:lnTo>
                        <a:pt x="162" y="16"/>
                      </a:lnTo>
                      <a:lnTo>
                        <a:pt x="18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8980" name="Arc 94"/>
                <p:cNvSpPr>
                  <a:spLocks/>
                </p:cNvSpPr>
                <p:nvPr/>
              </p:nvSpPr>
              <p:spPr bwMode="auto">
                <a:xfrm rot="-5400000">
                  <a:off x="3928" y="1838"/>
                  <a:ext cx="119" cy="104"/>
                </a:xfrm>
                <a:custGeom>
                  <a:avLst/>
                  <a:gdLst>
                    <a:gd name="T0" fmla="*/ 0 w 21784"/>
                    <a:gd name="T1" fmla="*/ 0 h 21600"/>
                    <a:gd name="T2" fmla="*/ 0 w 21784"/>
                    <a:gd name="T3" fmla="*/ 0 h 21600"/>
                    <a:gd name="T4" fmla="*/ 0 w 21784"/>
                    <a:gd name="T5" fmla="*/ 0 h 21600"/>
                    <a:gd name="T6" fmla="*/ 0 60000 65536"/>
                    <a:gd name="T7" fmla="*/ 0 60000 65536"/>
                    <a:gd name="T8" fmla="*/ 0 60000 65536"/>
                    <a:gd name="T9" fmla="*/ 0 w 21784"/>
                    <a:gd name="T10" fmla="*/ 0 h 21600"/>
                    <a:gd name="T11" fmla="*/ 21784 w 21784"/>
                    <a:gd name="T12" fmla="*/ 21600 h 21600"/>
                  </a:gdLst>
                  <a:ahLst/>
                  <a:cxnLst>
                    <a:cxn ang="T6">
                      <a:pos x="T0" y="T1"/>
                    </a:cxn>
                    <a:cxn ang="T7">
                      <a:pos x="T2" y="T3"/>
                    </a:cxn>
                    <a:cxn ang="T8">
                      <a:pos x="T4" y="T5"/>
                    </a:cxn>
                  </a:cxnLst>
                  <a:rect l="T9" t="T10" r="T11" b="T12"/>
                  <a:pathLst>
                    <a:path w="21784" h="21600" fill="none" extrusionOk="0">
                      <a:moveTo>
                        <a:pt x="-1" y="0"/>
                      </a:moveTo>
                      <a:cubicBezTo>
                        <a:pt x="61" y="0"/>
                        <a:pt x="122" y="-1"/>
                        <a:pt x="184" y="0"/>
                      </a:cubicBezTo>
                      <a:cubicBezTo>
                        <a:pt x="12113" y="0"/>
                        <a:pt x="21784" y="9670"/>
                        <a:pt x="21784" y="21600"/>
                      </a:cubicBezTo>
                    </a:path>
                    <a:path w="21784" h="21600" stroke="0" extrusionOk="0">
                      <a:moveTo>
                        <a:pt x="-1" y="0"/>
                      </a:moveTo>
                      <a:cubicBezTo>
                        <a:pt x="61" y="0"/>
                        <a:pt x="122" y="-1"/>
                        <a:pt x="184" y="0"/>
                      </a:cubicBezTo>
                      <a:cubicBezTo>
                        <a:pt x="12113" y="0"/>
                        <a:pt x="21784" y="9670"/>
                        <a:pt x="21784" y="21600"/>
                      </a:cubicBezTo>
                      <a:lnTo>
                        <a:pt x="184" y="21600"/>
                      </a:lnTo>
                      <a:close/>
                    </a:path>
                  </a:pathLst>
                </a:custGeom>
                <a:noFill/>
                <a:ln w="12700" cap="rnd">
                  <a:solidFill>
                    <a:srgbClr val="009900"/>
                  </a:solidFill>
                  <a:round/>
                  <a:headEnd/>
                  <a:tailEnd/>
                </a:ln>
              </p:spPr>
              <p:txBody>
                <a:bodyPr wrap="none" anchor="ctr"/>
                <a:lstStyle/>
                <a:p>
                  <a:endParaRPr lang="en-US"/>
                </a:p>
              </p:txBody>
            </p:sp>
            <p:sp>
              <p:nvSpPr>
                <p:cNvPr id="38981" name="Freeform 95"/>
                <p:cNvSpPr>
                  <a:spLocks/>
                </p:cNvSpPr>
                <p:nvPr/>
              </p:nvSpPr>
              <p:spPr bwMode="auto">
                <a:xfrm>
                  <a:off x="4067" y="2010"/>
                  <a:ext cx="10" cy="41"/>
                </a:xfrm>
                <a:custGeom>
                  <a:avLst/>
                  <a:gdLst>
                    <a:gd name="T0" fmla="*/ 0 w 10"/>
                    <a:gd name="T1" fmla="*/ 40 h 41"/>
                    <a:gd name="T2" fmla="*/ 0 w 10"/>
                    <a:gd name="T3" fmla="*/ 40 h 41"/>
                    <a:gd name="T4" fmla="*/ 9 w 10"/>
                    <a:gd name="T5" fmla="*/ 0 h 41"/>
                    <a:gd name="T6" fmla="*/ 0 60000 65536"/>
                    <a:gd name="T7" fmla="*/ 0 60000 65536"/>
                    <a:gd name="T8" fmla="*/ 0 60000 65536"/>
                    <a:gd name="T9" fmla="*/ 0 w 10"/>
                    <a:gd name="T10" fmla="*/ 0 h 41"/>
                    <a:gd name="T11" fmla="*/ 10 w 10"/>
                    <a:gd name="T12" fmla="*/ 41 h 41"/>
                  </a:gdLst>
                  <a:ahLst/>
                  <a:cxnLst>
                    <a:cxn ang="T6">
                      <a:pos x="T0" y="T1"/>
                    </a:cxn>
                    <a:cxn ang="T7">
                      <a:pos x="T2" y="T3"/>
                    </a:cxn>
                    <a:cxn ang="T8">
                      <a:pos x="T4" y="T5"/>
                    </a:cxn>
                  </a:cxnLst>
                  <a:rect l="T9" t="T10" r="T11" b="T12"/>
                  <a:pathLst>
                    <a:path w="10" h="41">
                      <a:moveTo>
                        <a:pt x="0" y="40"/>
                      </a:moveTo>
                      <a:lnTo>
                        <a:pt x="0" y="40"/>
                      </a:lnTo>
                      <a:lnTo>
                        <a:pt x="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8982" name="Line 96"/>
                <p:cNvSpPr>
                  <a:spLocks noChangeShapeType="1"/>
                </p:cNvSpPr>
                <p:nvPr/>
              </p:nvSpPr>
              <p:spPr bwMode="auto">
                <a:xfrm flipV="1">
                  <a:off x="4084" y="2006"/>
                  <a:ext cx="1" cy="48"/>
                </a:xfrm>
                <a:prstGeom prst="line">
                  <a:avLst/>
                </a:prstGeom>
                <a:noFill/>
                <a:ln w="12700">
                  <a:solidFill>
                    <a:srgbClr val="009900"/>
                  </a:solidFill>
                  <a:round/>
                  <a:headEnd/>
                  <a:tailEnd/>
                </a:ln>
              </p:spPr>
              <p:txBody>
                <a:bodyPr wrap="none" anchor="ctr"/>
                <a:lstStyle/>
                <a:p>
                  <a:endParaRPr lang="en-US"/>
                </a:p>
              </p:txBody>
            </p:sp>
            <p:sp>
              <p:nvSpPr>
                <p:cNvPr id="38983" name="Arc 97"/>
                <p:cNvSpPr>
                  <a:spLocks/>
                </p:cNvSpPr>
                <p:nvPr/>
              </p:nvSpPr>
              <p:spPr bwMode="auto">
                <a:xfrm>
                  <a:off x="4529" y="1968"/>
                  <a:ext cx="119" cy="104"/>
                </a:xfrm>
                <a:custGeom>
                  <a:avLst/>
                  <a:gdLst>
                    <a:gd name="T0" fmla="*/ 0 w 21784"/>
                    <a:gd name="T1" fmla="*/ 0 h 21600"/>
                    <a:gd name="T2" fmla="*/ 0 w 21784"/>
                    <a:gd name="T3" fmla="*/ 0 h 21600"/>
                    <a:gd name="T4" fmla="*/ 0 w 21784"/>
                    <a:gd name="T5" fmla="*/ 0 h 21600"/>
                    <a:gd name="T6" fmla="*/ 0 60000 65536"/>
                    <a:gd name="T7" fmla="*/ 0 60000 65536"/>
                    <a:gd name="T8" fmla="*/ 0 60000 65536"/>
                    <a:gd name="T9" fmla="*/ 0 w 21784"/>
                    <a:gd name="T10" fmla="*/ 0 h 21600"/>
                    <a:gd name="T11" fmla="*/ 21784 w 21784"/>
                    <a:gd name="T12" fmla="*/ 21600 h 21600"/>
                  </a:gdLst>
                  <a:ahLst/>
                  <a:cxnLst>
                    <a:cxn ang="T6">
                      <a:pos x="T0" y="T1"/>
                    </a:cxn>
                    <a:cxn ang="T7">
                      <a:pos x="T2" y="T3"/>
                    </a:cxn>
                    <a:cxn ang="T8">
                      <a:pos x="T4" y="T5"/>
                    </a:cxn>
                  </a:cxnLst>
                  <a:rect l="T9" t="T10" r="T11" b="T12"/>
                  <a:pathLst>
                    <a:path w="21784" h="21600" fill="none" extrusionOk="0">
                      <a:moveTo>
                        <a:pt x="-1" y="0"/>
                      </a:moveTo>
                      <a:cubicBezTo>
                        <a:pt x="61" y="0"/>
                        <a:pt x="122" y="-1"/>
                        <a:pt x="184" y="0"/>
                      </a:cubicBezTo>
                      <a:cubicBezTo>
                        <a:pt x="12113" y="0"/>
                        <a:pt x="21784" y="9670"/>
                        <a:pt x="21784" y="21600"/>
                      </a:cubicBezTo>
                    </a:path>
                    <a:path w="21784" h="21600" stroke="0" extrusionOk="0">
                      <a:moveTo>
                        <a:pt x="-1" y="0"/>
                      </a:moveTo>
                      <a:cubicBezTo>
                        <a:pt x="61" y="0"/>
                        <a:pt x="122" y="-1"/>
                        <a:pt x="184" y="0"/>
                      </a:cubicBezTo>
                      <a:cubicBezTo>
                        <a:pt x="12113" y="0"/>
                        <a:pt x="21784" y="9670"/>
                        <a:pt x="21784" y="21600"/>
                      </a:cubicBezTo>
                      <a:lnTo>
                        <a:pt x="184" y="21600"/>
                      </a:lnTo>
                      <a:close/>
                    </a:path>
                  </a:pathLst>
                </a:custGeom>
                <a:noFill/>
                <a:ln w="12700" cap="rnd">
                  <a:solidFill>
                    <a:srgbClr val="009900"/>
                  </a:solidFill>
                  <a:round/>
                  <a:headEnd/>
                  <a:tailEnd/>
                </a:ln>
              </p:spPr>
              <p:txBody>
                <a:bodyPr wrap="none" anchor="ctr"/>
                <a:lstStyle/>
                <a:p>
                  <a:endParaRPr lang="en-US"/>
                </a:p>
              </p:txBody>
            </p:sp>
            <p:sp>
              <p:nvSpPr>
                <p:cNvPr id="38984" name="Freeform 98"/>
                <p:cNvSpPr>
                  <a:spLocks/>
                </p:cNvSpPr>
                <p:nvPr/>
              </p:nvSpPr>
              <p:spPr bwMode="auto">
                <a:xfrm>
                  <a:off x="4588" y="1947"/>
                  <a:ext cx="46" cy="153"/>
                </a:xfrm>
                <a:custGeom>
                  <a:avLst/>
                  <a:gdLst>
                    <a:gd name="T0" fmla="*/ 0 w 46"/>
                    <a:gd name="T1" fmla="*/ 0 h 153"/>
                    <a:gd name="T2" fmla="*/ 9 w 46"/>
                    <a:gd name="T3" fmla="*/ 8 h 153"/>
                    <a:gd name="T4" fmla="*/ 27 w 46"/>
                    <a:gd name="T5" fmla="*/ 32 h 153"/>
                    <a:gd name="T6" fmla="*/ 36 w 46"/>
                    <a:gd name="T7" fmla="*/ 48 h 153"/>
                    <a:gd name="T8" fmla="*/ 45 w 46"/>
                    <a:gd name="T9" fmla="*/ 64 h 153"/>
                    <a:gd name="T10" fmla="*/ 45 w 46"/>
                    <a:gd name="T11" fmla="*/ 72 h 153"/>
                    <a:gd name="T12" fmla="*/ 45 w 46"/>
                    <a:gd name="T13" fmla="*/ 80 h 153"/>
                    <a:gd name="T14" fmla="*/ 45 w 46"/>
                    <a:gd name="T15" fmla="*/ 104 h 153"/>
                    <a:gd name="T16" fmla="*/ 45 w 46"/>
                    <a:gd name="T17" fmla="*/ 120 h 153"/>
                    <a:gd name="T18" fmla="*/ 36 w 46"/>
                    <a:gd name="T19" fmla="*/ 136 h 153"/>
                    <a:gd name="T20" fmla="*/ 27 w 46"/>
                    <a:gd name="T21" fmla="*/ 152 h 15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6"/>
                    <a:gd name="T34" fmla="*/ 0 h 153"/>
                    <a:gd name="T35" fmla="*/ 46 w 46"/>
                    <a:gd name="T36" fmla="*/ 153 h 15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6" h="153">
                      <a:moveTo>
                        <a:pt x="0" y="0"/>
                      </a:moveTo>
                      <a:lnTo>
                        <a:pt x="9" y="8"/>
                      </a:lnTo>
                      <a:lnTo>
                        <a:pt x="27" y="32"/>
                      </a:lnTo>
                      <a:lnTo>
                        <a:pt x="36" y="48"/>
                      </a:lnTo>
                      <a:lnTo>
                        <a:pt x="45" y="64"/>
                      </a:lnTo>
                      <a:lnTo>
                        <a:pt x="45" y="72"/>
                      </a:lnTo>
                      <a:lnTo>
                        <a:pt x="45" y="80"/>
                      </a:lnTo>
                      <a:lnTo>
                        <a:pt x="45" y="104"/>
                      </a:lnTo>
                      <a:lnTo>
                        <a:pt x="45" y="120"/>
                      </a:lnTo>
                      <a:lnTo>
                        <a:pt x="36" y="136"/>
                      </a:lnTo>
                      <a:lnTo>
                        <a:pt x="27" y="152"/>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8985" name="Freeform 99"/>
                <p:cNvSpPr>
                  <a:spLocks/>
                </p:cNvSpPr>
                <p:nvPr/>
              </p:nvSpPr>
              <p:spPr bwMode="auto">
                <a:xfrm>
                  <a:off x="4523" y="1986"/>
                  <a:ext cx="109" cy="17"/>
                </a:xfrm>
                <a:custGeom>
                  <a:avLst/>
                  <a:gdLst>
                    <a:gd name="T0" fmla="*/ 0 w 109"/>
                    <a:gd name="T1" fmla="*/ 0 h 17"/>
                    <a:gd name="T2" fmla="*/ 27 w 109"/>
                    <a:gd name="T3" fmla="*/ 16 h 17"/>
                    <a:gd name="T4" fmla="*/ 81 w 109"/>
                    <a:gd name="T5" fmla="*/ 16 h 17"/>
                    <a:gd name="T6" fmla="*/ 108 w 109"/>
                    <a:gd name="T7" fmla="*/ 0 h 17"/>
                    <a:gd name="T8" fmla="*/ 0 60000 65536"/>
                    <a:gd name="T9" fmla="*/ 0 60000 65536"/>
                    <a:gd name="T10" fmla="*/ 0 60000 65536"/>
                    <a:gd name="T11" fmla="*/ 0 60000 65536"/>
                    <a:gd name="T12" fmla="*/ 0 w 109"/>
                    <a:gd name="T13" fmla="*/ 0 h 17"/>
                    <a:gd name="T14" fmla="*/ 109 w 109"/>
                    <a:gd name="T15" fmla="*/ 17 h 17"/>
                  </a:gdLst>
                  <a:ahLst/>
                  <a:cxnLst>
                    <a:cxn ang="T8">
                      <a:pos x="T0" y="T1"/>
                    </a:cxn>
                    <a:cxn ang="T9">
                      <a:pos x="T2" y="T3"/>
                    </a:cxn>
                    <a:cxn ang="T10">
                      <a:pos x="T4" y="T5"/>
                    </a:cxn>
                    <a:cxn ang="T11">
                      <a:pos x="T6" y="T7"/>
                    </a:cxn>
                  </a:cxnLst>
                  <a:rect l="T12" t="T13" r="T14" b="T15"/>
                  <a:pathLst>
                    <a:path w="109" h="17">
                      <a:moveTo>
                        <a:pt x="0" y="0"/>
                      </a:moveTo>
                      <a:lnTo>
                        <a:pt x="27" y="16"/>
                      </a:lnTo>
                      <a:lnTo>
                        <a:pt x="81" y="16"/>
                      </a:lnTo>
                      <a:lnTo>
                        <a:pt x="10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8986" name="Freeform 100"/>
                <p:cNvSpPr>
                  <a:spLocks/>
                </p:cNvSpPr>
                <p:nvPr/>
              </p:nvSpPr>
              <p:spPr bwMode="auto">
                <a:xfrm>
                  <a:off x="4523" y="1986"/>
                  <a:ext cx="109" cy="17"/>
                </a:xfrm>
                <a:custGeom>
                  <a:avLst/>
                  <a:gdLst>
                    <a:gd name="T0" fmla="*/ 0 w 109"/>
                    <a:gd name="T1" fmla="*/ 0 h 17"/>
                    <a:gd name="T2" fmla="*/ 54 w 109"/>
                    <a:gd name="T3" fmla="*/ 16 h 17"/>
                    <a:gd name="T4" fmla="*/ 81 w 109"/>
                    <a:gd name="T5" fmla="*/ 8 h 17"/>
                    <a:gd name="T6" fmla="*/ 108 w 109"/>
                    <a:gd name="T7" fmla="*/ 0 h 17"/>
                    <a:gd name="T8" fmla="*/ 0 60000 65536"/>
                    <a:gd name="T9" fmla="*/ 0 60000 65536"/>
                    <a:gd name="T10" fmla="*/ 0 60000 65536"/>
                    <a:gd name="T11" fmla="*/ 0 60000 65536"/>
                    <a:gd name="T12" fmla="*/ 0 w 109"/>
                    <a:gd name="T13" fmla="*/ 0 h 17"/>
                    <a:gd name="T14" fmla="*/ 109 w 109"/>
                    <a:gd name="T15" fmla="*/ 17 h 17"/>
                  </a:gdLst>
                  <a:ahLst/>
                  <a:cxnLst>
                    <a:cxn ang="T8">
                      <a:pos x="T0" y="T1"/>
                    </a:cxn>
                    <a:cxn ang="T9">
                      <a:pos x="T2" y="T3"/>
                    </a:cxn>
                    <a:cxn ang="T10">
                      <a:pos x="T4" y="T5"/>
                    </a:cxn>
                    <a:cxn ang="T11">
                      <a:pos x="T6" y="T7"/>
                    </a:cxn>
                  </a:cxnLst>
                  <a:rect l="T12" t="T13" r="T14" b="T15"/>
                  <a:pathLst>
                    <a:path w="109" h="17">
                      <a:moveTo>
                        <a:pt x="0" y="0"/>
                      </a:moveTo>
                      <a:lnTo>
                        <a:pt x="54" y="16"/>
                      </a:lnTo>
                      <a:lnTo>
                        <a:pt x="81" y="8"/>
                      </a:lnTo>
                      <a:lnTo>
                        <a:pt x="10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8987" name="Freeform 101"/>
                <p:cNvSpPr>
                  <a:spLocks/>
                </p:cNvSpPr>
                <p:nvPr/>
              </p:nvSpPr>
              <p:spPr bwMode="auto">
                <a:xfrm>
                  <a:off x="4100" y="1906"/>
                  <a:ext cx="118" cy="57"/>
                </a:xfrm>
                <a:custGeom>
                  <a:avLst/>
                  <a:gdLst>
                    <a:gd name="T0" fmla="*/ 0 w 118"/>
                    <a:gd name="T1" fmla="*/ 0 h 57"/>
                    <a:gd name="T2" fmla="*/ 54 w 118"/>
                    <a:gd name="T3" fmla="*/ 24 h 57"/>
                    <a:gd name="T4" fmla="*/ 117 w 118"/>
                    <a:gd name="T5" fmla="*/ 56 h 57"/>
                    <a:gd name="T6" fmla="*/ 0 60000 65536"/>
                    <a:gd name="T7" fmla="*/ 0 60000 65536"/>
                    <a:gd name="T8" fmla="*/ 0 60000 65536"/>
                    <a:gd name="T9" fmla="*/ 0 w 118"/>
                    <a:gd name="T10" fmla="*/ 0 h 57"/>
                    <a:gd name="T11" fmla="*/ 118 w 118"/>
                    <a:gd name="T12" fmla="*/ 57 h 57"/>
                  </a:gdLst>
                  <a:ahLst/>
                  <a:cxnLst>
                    <a:cxn ang="T6">
                      <a:pos x="T0" y="T1"/>
                    </a:cxn>
                    <a:cxn ang="T7">
                      <a:pos x="T2" y="T3"/>
                    </a:cxn>
                    <a:cxn ang="T8">
                      <a:pos x="T4" y="T5"/>
                    </a:cxn>
                  </a:cxnLst>
                  <a:rect l="T9" t="T10" r="T11" b="T12"/>
                  <a:pathLst>
                    <a:path w="118" h="57">
                      <a:moveTo>
                        <a:pt x="0" y="0"/>
                      </a:moveTo>
                      <a:lnTo>
                        <a:pt x="54" y="24"/>
                      </a:lnTo>
                      <a:lnTo>
                        <a:pt x="117" y="56"/>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8988" name="Line 102"/>
                <p:cNvSpPr>
                  <a:spLocks noChangeShapeType="1"/>
                </p:cNvSpPr>
                <p:nvPr/>
              </p:nvSpPr>
              <p:spPr bwMode="auto">
                <a:xfrm>
                  <a:off x="4097" y="1968"/>
                  <a:ext cx="121" cy="0"/>
                </a:xfrm>
                <a:prstGeom prst="line">
                  <a:avLst/>
                </a:prstGeom>
                <a:noFill/>
                <a:ln w="12700">
                  <a:solidFill>
                    <a:srgbClr val="009900"/>
                  </a:solidFill>
                  <a:round/>
                  <a:headEnd/>
                  <a:tailEnd/>
                </a:ln>
              </p:spPr>
              <p:txBody>
                <a:bodyPr wrap="none" anchor="ctr"/>
                <a:lstStyle/>
                <a:p>
                  <a:endParaRPr lang="en-US"/>
                </a:p>
              </p:txBody>
            </p:sp>
            <p:sp>
              <p:nvSpPr>
                <p:cNvPr id="38989" name="Freeform 103"/>
                <p:cNvSpPr>
                  <a:spLocks/>
                </p:cNvSpPr>
                <p:nvPr/>
              </p:nvSpPr>
              <p:spPr bwMode="auto">
                <a:xfrm>
                  <a:off x="4478" y="2026"/>
                  <a:ext cx="19" cy="49"/>
                </a:xfrm>
                <a:custGeom>
                  <a:avLst/>
                  <a:gdLst>
                    <a:gd name="T0" fmla="*/ 0 w 19"/>
                    <a:gd name="T1" fmla="*/ 48 h 49"/>
                    <a:gd name="T2" fmla="*/ 0 w 19"/>
                    <a:gd name="T3" fmla="*/ 48 h 49"/>
                    <a:gd name="T4" fmla="*/ 18 w 19"/>
                    <a:gd name="T5" fmla="*/ 0 h 49"/>
                    <a:gd name="T6" fmla="*/ 0 60000 65536"/>
                    <a:gd name="T7" fmla="*/ 0 60000 65536"/>
                    <a:gd name="T8" fmla="*/ 0 60000 65536"/>
                    <a:gd name="T9" fmla="*/ 0 w 19"/>
                    <a:gd name="T10" fmla="*/ 0 h 49"/>
                    <a:gd name="T11" fmla="*/ 19 w 19"/>
                    <a:gd name="T12" fmla="*/ 49 h 49"/>
                  </a:gdLst>
                  <a:ahLst/>
                  <a:cxnLst>
                    <a:cxn ang="T6">
                      <a:pos x="T0" y="T1"/>
                    </a:cxn>
                    <a:cxn ang="T7">
                      <a:pos x="T2" y="T3"/>
                    </a:cxn>
                    <a:cxn ang="T8">
                      <a:pos x="T4" y="T5"/>
                    </a:cxn>
                  </a:cxnLst>
                  <a:rect l="T9" t="T10" r="T11" b="T12"/>
                  <a:pathLst>
                    <a:path w="19" h="49">
                      <a:moveTo>
                        <a:pt x="0" y="48"/>
                      </a:moveTo>
                      <a:lnTo>
                        <a:pt x="0" y="48"/>
                      </a:lnTo>
                      <a:lnTo>
                        <a:pt x="1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8990" name="Line 104"/>
                <p:cNvSpPr>
                  <a:spLocks noChangeShapeType="1"/>
                </p:cNvSpPr>
                <p:nvPr/>
              </p:nvSpPr>
              <p:spPr bwMode="auto">
                <a:xfrm flipV="1">
                  <a:off x="4487" y="2022"/>
                  <a:ext cx="10" cy="56"/>
                </a:xfrm>
                <a:prstGeom prst="line">
                  <a:avLst/>
                </a:prstGeom>
                <a:noFill/>
                <a:ln w="12700">
                  <a:solidFill>
                    <a:srgbClr val="009900"/>
                  </a:solidFill>
                  <a:round/>
                  <a:headEnd/>
                  <a:tailEnd/>
                </a:ln>
              </p:spPr>
              <p:txBody>
                <a:bodyPr wrap="none" anchor="ctr"/>
                <a:lstStyle/>
                <a:p>
                  <a:endParaRPr lang="en-US"/>
                </a:p>
              </p:txBody>
            </p:sp>
            <p:sp>
              <p:nvSpPr>
                <p:cNvPr id="38991" name="Freeform 105"/>
                <p:cNvSpPr>
                  <a:spLocks/>
                </p:cNvSpPr>
                <p:nvPr/>
              </p:nvSpPr>
              <p:spPr bwMode="auto">
                <a:xfrm>
                  <a:off x="4622" y="1970"/>
                  <a:ext cx="10" cy="41"/>
                </a:xfrm>
                <a:custGeom>
                  <a:avLst/>
                  <a:gdLst>
                    <a:gd name="T0" fmla="*/ 0 w 10"/>
                    <a:gd name="T1" fmla="*/ 40 h 41"/>
                    <a:gd name="T2" fmla="*/ 0 w 10"/>
                    <a:gd name="T3" fmla="*/ 40 h 41"/>
                    <a:gd name="T4" fmla="*/ 9 w 10"/>
                    <a:gd name="T5" fmla="*/ 0 h 41"/>
                    <a:gd name="T6" fmla="*/ 0 60000 65536"/>
                    <a:gd name="T7" fmla="*/ 0 60000 65536"/>
                    <a:gd name="T8" fmla="*/ 0 60000 65536"/>
                    <a:gd name="T9" fmla="*/ 0 w 10"/>
                    <a:gd name="T10" fmla="*/ 0 h 41"/>
                    <a:gd name="T11" fmla="*/ 10 w 10"/>
                    <a:gd name="T12" fmla="*/ 41 h 41"/>
                  </a:gdLst>
                  <a:ahLst/>
                  <a:cxnLst>
                    <a:cxn ang="T6">
                      <a:pos x="T0" y="T1"/>
                    </a:cxn>
                    <a:cxn ang="T7">
                      <a:pos x="T2" y="T3"/>
                    </a:cxn>
                    <a:cxn ang="T8">
                      <a:pos x="T4" y="T5"/>
                    </a:cxn>
                  </a:cxnLst>
                  <a:rect l="T9" t="T10" r="T11" b="T12"/>
                  <a:pathLst>
                    <a:path w="10" h="41">
                      <a:moveTo>
                        <a:pt x="0" y="40"/>
                      </a:moveTo>
                      <a:lnTo>
                        <a:pt x="0" y="40"/>
                      </a:lnTo>
                      <a:lnTo>
                        <a:pt x="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8992" name="Line 106"/>
                <p:cNvSpPr>
                  <a:spLocks noChangeShapeType="1"/>
                </p:cNvSpPr>
                <p:nvPr/>
              </p:nvSpPr>
              <p:spPr bwMode="auto">
                <a:xfrm flipV="1">
                  <a:off x="4642" y="1966"/>
                  <a:ext cx="1" cy="48"/>
                </a:xfrm>
                <a:prstGeom prst="line">
                  <a:avLst/>
                </a:prstGeom>
                <a:noFill/>
                <a:ln w="12700">
                  <a:solidFill>
                    <a:srgbClr val="009900"/>
                  </a:solidFill>
                  <a:round/>
                  <a:headEnd/>
                  <a:tailEnd/>
                </a:ln>
              </p:spPr>
              <p:txBody>
                <a:bodyPr wrap="none" anchor="ctr"/>
                <a:lstStyle/>
                <a:p>
                  <a:endParaRPr lang="en-US"/>
                </a:p>
              </p:txBody>
            </p:sp>
            <p:sp>
              <p:nvSpPr>
                <p:cNvPr id="38993" name="Freeform 107"/>
                <p:cNvSpPr>
                  <a:spLocks/>
                </p:cNvSpPr>
                <p:nvPr/>
              </p:nvSpPr>
              <p:spPr bwMode="auto">
                <a:xfrm>
                  <a:off x="4478" y="2026"/>
                  <a:ext cx="19" cy="49"/>
                </a:xfrm>
                <a:custGeom>
                  <a:avLst/>
                  <a:gdLst>
                    <a:gd name="T0" fmla="*/ 0 w 19"/>
                    <a:gd name="T1" fmla="*/ 48 h 49"/>
                    <a:gd name="T2" fmla="*/ 0 w 19"/>
                    <a:gd name="T3" fmla="*/ 48 h 49"/>
                    <a:gd name="T4" fmla="*/ 18 w 19"/>
                    <a:gd name="T5" fmla="*/ 0 h 49"/>
                    <a:gd name="T6" fmla="*/ 0 60000 65536"/>
                    <a:gd name="T7" fmla="*/ 0 60000 65536"/>
                    <a:gd name="T8" fmla="*/ 0 60000 65536"/>
                    <a:gd name="T9" fmla="*/ 0 w 19"/>
                    <a:gd name="T10" fmla="*/ 0 h 49"/>
                    <a:gd name="T11" fmla="*/ 19 w 19"/>
                    <a:gd name="T12" fmla="*/ 49 h 49"/>
                  </a:gdLst>
                  <a:ahLst/>
                  <a:cxnLst>
                    <a:cxn ang="T6">
                      <a:pos x="T0" y="T1"/>
                    </a:cxn>
                    <a:cxn ang="T7">
                      <a:pos x="T2" y="T3"/>
                    </a:cxn>
                    <a:cxn ang="T8">
                      <a:pos x="T4" y="T5"/>
                    </a:cxn>
                  </a:cxnLst>
                  <a:rect l="T9" t="T10" r="T11" b="T12"/>
                  <a:pathLst>
                    <a:path w="19" h="49">
                      <a:moveTo>
                        <a:pt x="0" y="48"/>
                      </a:moveTo>
                      <a:lnTo>
                        <a:pt x="0" y="48"/>
                      </a:lnTo>
                      <a:lnTo>
                        <a:pt x="1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8994" name="Line 108"/>
                <p:cNvSpPr>
                  <a:spLocks noChangeShapeType="1"/>
                </p:cNvSpPr>
                <p:nvPr/>
              </p:nvSpPr>
              <p:spPr bwMode="auto">
                <a:xfrm flipV="1">
                  <a:off x="4487" y="2022"/>
                  <a:ext cx="10" cy="56"/>
                </a:xfrm>
                <a:prstGeom prst="line">
                  <a:avLst/>
                </a:prstGeom>
                <a:noFill/>
                <a:ln w="12700">
                  <a:solidFill>
                    <a:srgbClr val="009900"/>
                  </a:solidFill>
                  <a:round/>
                  <a:headEnd/>
                  <a:tailEnd/>
                </a:ln>
              </p:spPr>
              <p:txBody>
                <a:bodyPr wrap="none" anchor="ctr"/>
                <a:lstStyle/>
                <a:p>
                  <a:endParaRPr lang="en-US"/>
                </a:p>
              </p:txBody>
            </p:sp>
            <p:sp>
              <p:nvSpPr>
                <p:cNvPr id="38995" name="Freeform 109"/>
                <p:cNvSpPr>
                  <a:spLocks/>
                </p:cNvSpPr>
                <p:nvPr/>
              </p:nvSpPr>
              <p:spPr bwMode="auto">
                <a:xfrm>
                  <a:off x="4532" y="2018"/>
                  <a:ext cx="118" cy="49"/>
                </a:xfrm>
                <a:custGeom>
                  <a:avLst/>
                  <a:gdLst>
                    <a:gd name="T0" fmla="*/ 0 w 118"/>
                    <a:gd name="T1" fmla="*/ 0 h 49"/>
                    <a:gd name="T2" fmla="*/ 54 w 118"/>
                    <a:gd name="T3" fmla="*/ 24 h 49"/>
                    <a:gd name="T4" fmla="*/ 117 w 118"/>
                    <a:gd name="T5" fmla="*/ 48 h 49"/>
                    <a:gd name="T6" fmla="*/ 0 60000 65536"/>
                    <a:gd name="T7" fmla="*/ 0 60000 65536"/>
                    <a:gd name="T8" fmla="*/ 0 60000 65536"/>
                    <a:gd name="T9" fmla="*/ 0 w 118"/>
                    <a:gd name="T10" fmla="*/ 0 h 49"/>
                    <a:gd name="T11" fmla="*/ 118 w 118"/>
                    <a:gd name="T12" fmla="*/ 49 h 49"/>
                  </a:gdLst>
                  <a:ahLst/>
                  <a:cxnLst>
                    <a:cxn ang="T6">
                      <a:pos x="T0" y="T1"/>
                    </a:cxn>
                    <a:cxn ang="T7">
                      <a:pos x="T2" y="T3"/>
                    </a:cxn>
                    <a:cxn ang="T8">
                      <a:pos x="T4" y="T5"/>
                    </a:cxn>
                  </a:cxnLst>
                  <a:rect l="T9" t="T10" r="T11" b="T12"/>
                  <a:pathLst>
                    <a:path w="118" h="49">
                      <a:moveTo>
                        <a:pt x="0" y="0"/>
                      </a:moveTo>
                      <a:lnTo>
                        <a:pt x="54" y="24"/>
                      </a:lnTo>
                      <a:lnTo>
                        <a:pt x="117" y="48"/>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8996" name="Line 110"/>
                <p:cNvSpPr>
                  <a:spLocks noChangeShapeType="1"/>
                </p:cNvSpPr>
                <p:nvPr/>
              </p:nvSpPr>
              <p:spPr bwMode="auto">
                <a:xfrm>
                  <a:off x="4529" y="2028"/>
                  <a:ext cx="118" cy="48"/>
                </a:xfrm>
                <a:prstGeom prst="line">
                  <a:avLst/>
                </a:prstGeom>
                <a:noFill/>
                <a:ln w="12700">
                  <a:solidFill>
                    <a:srgbClr val="009900"/>
                  </a:solidFill>
                  <a:round/>
                  <a:headEnd/>
                  <a:tailEnd/>
                </a:ln>
              </p:spPr>
              <p:txBody>
                <a:bodyPr wrap="none" anchor="ctr"/>
                <a:lstStyle/>
                <a:p>
                  <a:endParaRPr lang="en-US"/>
                </a:p>
              </p:txBody>
            </p:sp>
            <p:sp>
              <p:nvSpPr>
                <p:cNvPr id="38997" name="Freeform 111"/>
                <p:cNvSpPr>
                  <a:spLocks/>
                </p:cNvSpPr>
                <p:nvPr/>
              </p:nvSpPr>
              <p:spPr bwMode="auto">
                <a:xfrm>
                  <a:off x="4424" y="1994"/>
                  <a:ext cx="127" cy="81"/>
                </a:xfrm>
                <a:custGeom>
                  <a:avLst/>
                  <a:gdLst>
                    <a:gd name="T0" fmla="*/ 0 w 127"/>
                    <a:gd name="T1" fmla="*/ 80 h 81"/>
                    <a:gd name="T2" fmla="*/ 18 w 127"/>
                    <a:gd name="T3" fmla="*/ 24 h 81"/>
                    <a:gd name="T4" fmla="*/ 126 w 127"/>
                    <a:gd name="T5" fmla="*/ 0 h 81"/>
                    <a:gd name="T6" fmla="*/ 0 60000 65536"/>
                    <a:gd name="T7" fmla="*/ 0 60000 65536"/>
                    <a:gd name="T8" fmla="*/ 0 60000 65536"/>
                    <a:gd name="T9" fmla="*/ 0 w 127"/>
                    <a:gd name="T10" fmla="*/ 0 h 81"/>
                    <a:gd name="T11" fmla="*/ 127 w 127"/>
                    <a:gd name="T12" fmla="*/ 81 h 81"/>
                  </a:gdLst>
                  <a:ahLst/>
                  <a:cxnLst>
                    <a:cxn ang="T6">
                      <a:pos x="T0" y="T1"/>
                    </a:cxn>
                    <a:cxn ang="T7">
                      <a:pos x="T2" y="T3"/>
                    </a:cxn>
                    <a:cxn ang="T8">
                      <a:pos x="T4" y="T5"/>
                    </a:cxn>
                  </a:cxnLst>
                  <a:rect l="T9" t="T10" r="T11" b="T12"/>
                  <a:pathLst>
                    <a:path w="127" h="81">
                      <a:moveTo>
                        <a:pt x="0" y="80"/>
                      </a:moveTo>
                      <a:lnTo>
                        <a:pt x="18" y="24"/>
                      </a:lnTo>
                      <a:lnTo>
                        <a:pt x="126"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8998" name="Freeform 112"/>
                <p:cNvSpPr>
                  <a:spLocks/>
                </p:cNvSpPr>
                <p:nvPr/>
              </p:nvSpPr>
              <p:spPr bwMode="auto">
                <a:xfrm>
                  <a:off x="4416" y="1920"/>
                  <a:ext cx="127" cy="81"/>
                </a:xfrm>
                <a:custGeom>
                  <a:avLst/>
                  <a:gdLst>
                    <a:gd name="T0" fmla="*/ 0 w 127"/>
                    <a:gd name="T1" fmla="*/ 80 h 81"/>
                    <a:gd name="T2" fmla="*/ 36 w 127"/>
                    <a:gd name="T3" fmla="*/ 32 h 81"/>
                    <a:gd name="T4" fmla="*/ 126 w 127"/>
                    <a:gd name="T5" fmla="*/ 0 h 81"/>
                    <a:gd name="T6" fmla="*/ 0 60000 65536"/>
                    <a:gd name="T7" fmla="*/ 0 60000 65536"/>
                    <a:gd name="T8" fmla="*/ 0 60000 65536"/>
                    <a:gd name="T9" fmla="*/ 0 w 127"/>
                    <a:gd name="T10" fmla="*/ 0 h 81"/>
                    <a:gd name="T11" fmla="*/ 127 w 127"/>
                    <a:gd name="T12" fmla="*/ 81 h 81"/>
                  </a:gdLst>
                  <a:ahLst/>
                  <a:cxnLst>
                    <a:cxn ang="T6">
                      <a:pos x="T0" y="T1"/>
                    </a:cxn>
                    <a:cxn ang="T7">
                      <a:pos x="T2" y="T3"/>
                    </a:cxn>
                    <a:cxn ang="T8">
                      <a:pos x="T4" y="T5"/>
                    </a:cxn>
                  </a:cxnLst>
                  <a:rect l="T9" t="T10" r="T11" b="T12"/>
                  <a:pathLst>
                    <a:path w="127" h="81">
                      <a:moveTo>
                        <a:pt x="0" y="80"/>
                      </a:moveTo>
                      <a:lnTo>
                        <a:pt x="36" y="32"/>
                      </a:lnTo>
                      <a:lnTo>
                        <a:pt x="126"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8999" name="Freeform 113"/>
                <p:cNvSpPr>
                  <a:spLocks/>
                </p:cNvSpPr>
                <p:nvPr/>
              </p:nvSpPr>
              <p:spPr bwMode="auto">
                <a:xfrm>
                  <a:off x="4289" y="1962"/>
                  <a:ext cx="19" cy="49"/>
                </a:xfrm>
                <a:custGeom>
                  <a:avLst/>
                  <a:gdLst>
                    <a:gd name="T0" fmla="*/ 0 w 19"/>
                    <a:gd name="T1" fmla="*/ 48 h 49"/>
                    <a:gd name="T2" fmla="*/ 0 w 19"/>
                    <a:gd name="T3" fmla="*/ 48 h 49"/>
                    <a:gd name="T4" fmla="*/ 18 w 19"/>
                    <a:gd name="T5" fmla="*/ 0 h 49"/>
                    <a:gd name="T6" fmla="*/ 0 60000 65536"/>
                    <a:gd name="T7" fmla="*/ 0 60000 65536"/>
                    <a:gd name="T8" fmla="*/ 0 60000 65536"/>
                    <a:gd name="T9" fmla="*/ 0 w 19"/>
                    <a:gd name="T10" fmla="*/ 0 h 49"/>
                    <a:gd name="T11" fmla="*/ 19 w 19"/>
                    <a:gd name="T12" fmla="*/ 49 h 49"/>
                  </a:gdLst>
                  <a:ahLst/>
                  <a:cxnLst>
                    <a:cxn ang="T6">
                      <a:pos x="T0" y="T1"/>
                    </a:cxn>
                    <a:cxn ang="T7">
                      <a:pos x="T2" y="T3"/>
                    </a:cxn>
                    <a:cxn ang="T8">
                      <a:pos x="T4" y="T5"/>
                    </a:cxn>
                  </a:cxnLst>
                  <a:rect l="T9" t="T10" r="T11" b="T12"/>
                  <a:pathLst>
                    <a:path w="19" h="49">
                      <a:moveTo>
                        <a:pt x="0" y="48"/>
                      </a:moveTo>
                      <a:lnTo>
                        <a:pt x="0" y="48"/>
                      </a:lnTo>
                      <a:lnTo>
                        <a:pt x="1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000" name="Line 114"/>
                <p:cNvSpPr>
                  <a:spLocks noChangeShapeType="1"/>
                </p:cNvSpPr>
                <p:nvPr/>
              </p:nvSpPr>
              <p:spPr bwMode="auto">
                <a:xfrm flipV="1">
                  <a:off x="4297" y="1958"/>
                  <a:ext cx="11" cy="56"/>
                </a:xfrm>
                <a:prstGeom prst="line">
                  <a:avLst/>
                </a:prstGeom>
                <a:noFill/>
                <a:ln w="12700">
                  <a:solidFill>
                    <a:srgbClr val="009900"/>
                  </a:solidFill>
                  <a:round/>
                  <a:headEnd/>
                  <a:tailEnd/>
                </a:ln>
              </p:spPr>
              <p:txBody>
                <a:bodyPr wrap="none" anchor="ctr"/>
                <a:lstStyle/>
                <a:p>
                  <a:endParaRPr lang="en-US"/>
                </a:p>
              </p:txBody>
            </p:sp>
            <p:sp>
              <p:nvSpPr>
                <p:cNvPr id="39001" name="Freeform 115"/>
                <p:cNvSpPr>
                  <a:spLocks/>
                </p:cNvSpPr>
                <p:nvPr/>
              </p:nvSpPr>
              <p:spPr bwMode="auto">
                <a:xfrm>
                  <a:off x="3995" y="2018"/>
                  <a:ext cx="10" cy="41"/>
                </a:xfrm>
                <a:custGeom>
                  <a:avLst/>
                  <a:gdLst>
                    <a:gd name="T0" fmla="*/ 0 w 10"/>
                    <a:gd name="T1" fmla="*/ 40 h 41"/>
                    <a:gd name="T2" fmla="*/ 0 w 10"/>
                    <a:gd name="T3" fmla="*/ 40 h 41"/>
                    <a:gd name="T4" fmla="*/ 9 w 10"/>
                    <a:gd name="T5" fmla="*/ 0 h 41"/>
                    <a:gd name="T6" fmla="*/ 0 60000 65536"/>
                    <a:gd name="T7" fmla="*/ 0 60000 65536"/>
                    <a:gd name="T8" fmla="*/ 0 60000 65536"/>
                    <a:gd name="T9" fmla="*/ 0 w 10"/>
                    <a:gd name="T10" fmla="*/ 0 h 41"/>
                    <a:gd name="T11" fmla="*/ 10 w 10"/>
                    <a:gd name="T12" fmla="*/ 41 h 41"/>
                  </a:gdLst>
                  <a:ahLst/>
                  <a:cxnLst>
                    <a:cxn ang="T6">
                      <a:pos x="T0" y="T1"/>
                    </a:cxn>
                    <a:cxn ang="T7">
                      <a:pos x="T2" y="T3"/>
                    </a:cxn>
                    <a:cxn ang="T8">
                      <a:pos x="T4" y="T5"/>
                    </a:cxn>
                  </a:cxnLst>
                  <a:rect l="T9" t="T10" r="T11" b="T12"/>
                  <a:pathLst>
                    <a:path w="10" h="41">
                      <a:moveTo>
                        <a:pt x="0" y="40"/>
                      </a:moveTo>
                      <a:lnTo>
                        <a:pt x="0" y="40"/>
                      </a:lnTo>
                      <a:lnTo>
                        <a:pt x="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002" name="Line 116"/>
                <p:cNvSpPr>
                  <a:spLocks noChangeShapeType="1"/>
                </p:cNvSpPr>
                <p:nvPr/>
              </p:nvSpPr>
              <p:spPr bwMode="auto">
                <a:xfrm flipV="1">
                  <a:off x="4003" y="2014"/>
                  <a:ext cx="2" cy="48"/>
                </a:xfrm>
                <a:prstGeom prst="line">
                  <a:avLst/>
                </a:prstGeom>
                <a:noFill/>
                <a:ln w="12700">
                  <a:solidFill>
                    <a:srgbClr val="009900"/>
                  </a:solidFill>
                  <a:round/>
                  <a:headEnd/>
                  <a:tailEnd/>
                </a:ln>
              </p:spPr>
              <p:txBody>
                <a:bodyPr wrap="none" anchor="ctr"/>
                <a:lstStyle/>
                <a:p>
                  <a:endParaRPr lang="en-US"/>
                </a:p>
              </p:txBody>
            </p:sp>
            <p:sp>
              <p:nvSpPr>
                <p:cNvPr id="39003" name="Freeform 117"/>
                <p:cNvSpPr>
                  <a:spLocks/>
                </p:cNvSpPr>
                <p:nvPr/>
              </p:nvSpPr>
              <p:spPr bwMode="auto">
                <a:xfrm>
                  <a:off x="4307" y="1954"/>
                  <a:ext cx="118" cy="49"/>
                </a:xfrm>
                <a:custGeom>
                  <a:avLst/>
                  <a:gdLst>
                    <a:gd name="T0" fmla="*/ 0 w 118"/>
                    <a:gd name="T1" fmla="*/ 0 h 49"/>
                    <a:gd name="T2" fmla="*/ 54 w 118"/>
                    <a:gd name="T3" fmla="*/ 24 h 49"/>
                    <a:gd name="T4" fmla="*/ 117 w 118"/>
                    <a:gd name="T5" fmla="*/ 48 h 49"/>
                    <a:gd name="T6" fmla="*/ 0 60000 65536"/>
                    <a:gd name="T7" fmla="*/ 0 60000 65536"/>
                    <a:gd name="T8" fmla="*/ 0 60000 65536"/>
                    <a:gd name="T9" fmla="*/ 0 w 118"/>
                    <a:gd name="T10" fmla="*/ 0 h 49"/>
                    <a:gd name="T11" fmla="*/ 118 w 118"/>
                    <a:gd name="T12" fmla="*/ 49 h 49"/>
                  </a:gdLst>
                  <a:ahLst/>
                  <a:cxnLst>
                    <a:cxn ang="T6">
                      <a:pos x="T0" y="T1"/>
                    </a:cxn>
                    <a:cxn ang="T7">
                      <a:pos x="T2" y="T3"/>
                    </a:cxn>
                    <a:cxn ang="T8">
                      <a:pos x="T4" y="T5"/>
                    </a:cxn>
                  </a:cxnLst>
                  <a:rect l="T9" t="T10" r="T11" b="T12"/>
                  <a:pathLst>
                    <a:path w="118" h="49">
                      <a:moveTo>
                        <a:pt x="0" y="0"/>
                      </a:moveTo>
                      <a:lnTo>
                        <a:pt x="54" y="24"/>
                      </a:lnTo>
                      <a:lnTo>
                        <a:pt x="117" y="48"/>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004" name="Line 118"/>
                <p:cNvSpPr>
                  <a:spLocks noChangeShapeType="1"/>
                </p:cNvSpPr>
                <p:nvPr/>
              </p:nvSpPr>
              <p:spPr bwMode="auto">
                <a:xfrm>
                  <a:off x="4307" y="1966"/>
                  <a:ext cx="117" cy="48"/>
                </a:xfrm>
                <a:prstGeom prst="line">
                  <a:avLst/>
                </a:prstGeom>
                <a:noFill/>
                <a:ln w="12700">
                  <a:solidFill>
                    <a:srgbClr val="009900"/>
                  </a:solidFill>
                  <a:round/>
                  <a:headEnd/>
                  <a:tailEnd/>
                </a:ln>
              </p:spPr>
              <p:txBody>
                <a:bodyPr wrap="none" anchor="ctr"/>
                <a:lstStyle/>
                <a:p>
                  <a:endParaRPr lang="en-US"/>
                </a:p>
              </p:txBody>
            </p:sp>
            <p:sp>
              <p:nvSpPr>
                <p:cNvPr id="39005" name="Freeform 119"/>
                <p:cNvSpPr>
                  <a:spLocks/>
                </p:cNvSpPr>
                <p:nvPr/>
              </p:nvSpPr>
              <p:spPr bwMode="auto">
                <a:xfrm>
                  <a:off x="4442" y="1954"/>
                  <a:ext cx="127" cy="73"/>
                </a:xfrm>
                <a:custGeom>
                  <a:avLst/>
                  <a:gdLst>
                    <a:gd name="T0" fmla="*/ 0 w 127"/>
                    <a:gd name="T1" fmla="*/ 72 h 73"/>
                    <a:gd name="T2" fmla="*/ 18 w 127"/>
                    <a:gd name="T3" fmla="*/ 24 h 73"/>
                    <a:gd name="T4" fmla="*/ 126 w 127"/>
                    <a:gd name="T5" fmla="*/ 0 h 73"/>
                    <a:gd name="T6" fmla="*/ 0 60000 65536"/>
                    <a:gd name="T7" fmla="*/ 0 60000 65536"/>
                    <a:gd name="T8" fmla="*/ 0 60000 65536"/>
                    <a:gd name="T9" fmla="*/ 0 w 127"/>
                    <a:gd name="T10" fmla="*/ 0 h 73"/>
                    <a:gd name="T11" fmla="*/ 127 w 127"/>
                    <a:gd name="T12" fmla="*/ 73 h 73"/>
                  </a:gdLst>
                  <a:ahLst/>
                  <a:cxnLst>
                    <a:cxn ang="T6">
                      <a:pos x="T0" y="T1"/>
                    </a:cxn>
                    <a:cxn ang="T7">
                      <a:pos x="T2" y="T3"/>
                    </a:cxn>
                    <a:cxn ang="T8">
                      <a:pos x="T4" y="T5"/>
                    </a:cxn>
                  </a:cxnLst>
                  <a:rect l="T9" t="T10" r="T11" b="T12"/>
                  <a:pathLst>
                    <a:path w="127" h="73">
                      <a:moveTo>
                        <a:pt x="0" y="72"/>
                      </a:moveTo>
                      <a:lnTo>
                        <a:pt x="18" y="24"/>
                      </a:lnTo>
                      <a:lnTo>
                        <a:pt x="126"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006" name="Freeform 120"/>
                <p:cNvSpPr>
                  <a:spLocks/>
                </p:cNvSpPr>
                <p:nvPr/>
              </p:nvSpPr>
              <p:spPr bwMode="auto">
                <a:xfrm>
                  <a:off x="4464" y="1964"/>
                  <a:ext cx="119" cy="73"/>
                </a:xfrm>
                <a:custGeom>
                  <a:avLst/>
                  <a:gdLst>
                    <a:gd name="T0" fmla="*/ 0 w 127"/>
                    <a:gd name="T1" fmla="*/ 72 h 73"/>
                    <a:gd name="T2" fmla="*/ 30 w 127"/>
                    <a:gd name="T3" fmla="*/ 24 h 73"/>
                    <a:gd name="T4" fmla="*/ 104 w 127"/>
                    <a:gd name="T5" fmla="*/ 0 h 73"/>
                    <a:gd name="T6" fmla="*/ 0 60000 65536"/>
                    <a:gd name="T7" fmla="*/ 0 60000 65536"/>
                    <a:gd name="T8" fmla="*/ 0 60000 65536"/>
                    <a:gd name="T9" fmla="*/ 0 w 127"/>
                    <a:gd name="T10" fmla="*/ 0 h 73"/>
                    <a:gd name="T11" fmla="*/ 127 w 127"/>
                    <a:gd name="T12" fmla="*/ 73 h 73"/>
                  </a:gdLst>
                  <a:ahLst/>
                  <a:cxnLst>
                    <a:cxn ang="T6">
                      <a:pos x="T0" y="T1"/>
                    </a:cxn>
                    <a:cxn ang="T7">
                      <a:pos x="T2" y="T3"/>
                    </a:cxn>
                    <a:cxn ang="T8">
                      <a:pos x="T4" y="T5"/>
                    </a:cxn>
                  </a:cxnLst>
                  <a:rect l="T9" t="T10" r="T11" b="T12"/>
                  <a:pathLst>
                    <a:path w="127" h="73">
                      <a:moveTo>
                        <a:pt x="0" y="72"/>
                      </a:moveTo>
                      <a:lnTo>
                        <a:pt x="36" y="24"/>
                      </a:lnTo>
                      <a:lnTo>
                        <a:pt x="126"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007" name="Freeform 121"/>
                <p:cNvSpPr>
                  <a:spLocks/>
                </p:cNvSpPr>
                <p:nvPr/>
              </p:nvSpPr>
              <p:spPr bwMode="auto">
                <a:xfrm>
                  <a:off x="4263" y="1812"/>
                  <a:ext cx="289" cy="145"/>
                </a:xfrm>
                <a:custGeom>
                  <a:avLst/>
                  <a:gdLst>
                    <a:gd name="T0" fmla="*/ 0 w 289"/>
                    <a:gd name="T1" fmla="*/ 144 h 145"/>
                    <a:gd name="T2" fmla="*/ 63 w 289"/>
                    <a:gd name="T3" fmla="*/ 88 h 145"/>
                    <a:gd name="T4" fmla="*/ 288 w 289"/>
                    <a:gd name="T5" fmla="*/ 0 h 145"/>
                    <a:gd name="T6" fmla="*/ 0 60000 65536"/>
                    <a:gd name="T7" fmla="*/ 0 60000 65536"/>
                    <a:gd name="T8" fmla="*/ 0 60000 65536"/>
                    <a:gd name="T9" fmla="*/ 0 w 289"/>
                    <a:gd name="T10" fmla="*/ 0 h 145"/>
                    <a:gd name="T11" fmla="*/ 289 w 289"/>
                    <a:gd name="T12" fmla="*/ 145 h 145"/>
                  </a:gdLst>
                  <a:ahLst/>
                  <a:cxnLst>
                    <a:cxn ang="T6">
                      <a:pos x="T0" y="T1"/>
                    </a:cxn>
                    <a:cxn ang="T7">
                      <a:pos x="T2" y="T3"/>
                    </a:cxn>
                    <a:cxn ang="T8">
                      <a:pos x="T4" y="T5"/>
                    </a:cxn>
                  </a:cxnLst>
                  <a:rect l="T9" t="T10" r="T11" b="T12"/>
                  <a:pathLst>
                    <a:path w="289" h="145">
                      <a:moveTo>
                        <a:pt x="0" y="144"/>
                      </a:moveTo>
                      <a:lnTo>
                        <a:pt x="63" y="88"/>
                      </a:lnTo>
                      <a:lnTo>
                        <a:pt x="28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008" name="Freeform 122"/>
                <p:cNvSpPr>
                  <a:spLocks/>
                </p:cNvSpPr>
                <p:nvPr/>
              </p:nvSpPr>
              <p:spPr bwMode="auto">
                <a:xfrm flipH="1">
                  <a:off x="4220" y="1818"/>
                  <a:ext cx="47" cy="145"/>
                </a:xfrm>
                <a:custGeom>
                  <a:avLst/>
                  <a:gdLst>
                    <a:gd name="T0" fmla="*/ 0 w 290"/>
                    <a:gd name="T1" fmla="*/ 144 h 145"/>
                    <a:gd name="T2" fmla="*/ 0 w 290"/>
                    <a:gd name="T3" fmla="*/ 112 h 145"/>
                    <a:gd name="T4" fmla="*/ 0 w 290"/>
                    <a:gd name="T5" fmla="*/ 72 h 145"/>
                    <a:gd name="T6" fmla="*/ 1 w 290"/>
                    <a:gd name="T7" fmla="*/ 40 h 145"/>
                    <a:gd name="T8" fmla="*/ 1 w 290"/>
                    <a:gd name="T9" fmla="*/ 0 h 145"/>
                    <a:gd name="T10" fmla="*/ 0 60000 65536"/>
                    <a:gd name="T11" fmla="*/ 0 60000 65536"/>
                    <a:gd name="T12" fmla="*/ 0 60000 65536"/>
                    <a:gd name="T13" fmla="*/ 0 60000 65536"/>
                    <a:gd name="T14" fmla="*/ 0 60000 65536"/>
                    <a:gd name="T15" fmla="*/ 0 w 290"/>
                    <a:gd name="T16" fmla="*/ 0 h 145"/>
                    <a:gd name="T17" fmla="*/ 290 w 290"/>
                    <a:gd name="T18" fmla="*/ 145 h 145"/>
                  </a:gdLst>
                  <a:ahLst/>
                  <a:cxnLst>
                    <a:cxn ang="T10">
                      <a:pos x="T0" y="T1"/>
                    </a:cxn>
                    <a:cxn ang="T11">
                      <a:pos x="T2" y="T3"/>
                    </a:cxn>
                    <a:cxn ang="T12">
                      <a:pos x="T4" y="T5"/>
                    </a:cxn>
                    <a:cxn ang="T13">
                      <a:pos x="T6" y="T7"/>
                    </a:cxn>
                    <a:cxn ang="T14">
                      <a:pos x="T8" y="T9"/>
                    </a:cxn>
                  </a:cxnLst>
                  <a:rect l="T15" t="T16" r="T17" b="T18"/>
                  <a:pathLst>
                    <a:path w="290" h="145">
                      <a:moveTo>
                        <a:pt x="0" y="144"/>
                      </a:moveTo>
                      <a:lnTo>
                        <a:pt x="36" y="112"/>
                      </a:lnTo>
                      <a:lnTo>
                        <a:pt x="99" y="72"/>
                      </a:lnTo>
                      <a:lnTo>
                        <a:pt x="181" y="40"/>
                      </a:lnTo>
                      <a:lnTo>
                        <a:pt x="28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009" name="Freeform 123"/>
                <p:cNvSpPr>
                  <a:spLocks/>
                </p:cNvSpPr>
                <p:nvPr/>
              </p:nvSpPr>
              <p:spPr bwMode="auto">
                <a:xfrm>
                  <a:off x="3996" y="1844"/>
                  <a:ext cx="19" cy="41"/>
                </a:xfrm>
                <a:custGeom>
                  <a:avLst/>
                  <a:gdLst>
                    <a:gd name="T0" fmla="*/ 0 w 19"/>
                    <a:gd name="T1" fmla="*/ 40 h 41"/>
                    <a:gd name="T2" fmla="*/ 0 w 19"/>
                    <a:gd name="T3" fmla="*/ 40 h 41"/>
                    <a:gd name="T4" fmla="*/ 18 w 19"/>
                    <a:gd name="T5" fmla="*/ 0 h 41"/>
                    <a:gd name="T6" fmla="*/ 0 60000 65536"/>
                    <a:gd name="T7" fmla="*/ 0 60000 65536"/>
                    <a:gd name="T8" fmla="*/ 0 60000 65536"/>
                    <a:gd name="T9" fmla="*/ 0 w 19"/>
                    <a:gd name="T10" fmla="*/ 0 h 41"/>
                    <a:gd name="T11" fmla="*/ 19 w 19"/>
                    <a:gd name="T12" fmla="*/ 41 h 41"/>
                  </a:gdLst>
                  <a:ahLst/>
                  <a:cxnLst>
                    <a:cxn ang="T6">
                      <a:pos x="T0" y="T1"/>
                    </a:cxn>
                    <a:cxn ang="T7">
                      <a:pos x="T2" y="T3"/>
                    </a:cxn>
                    <a:cxn ang="T8">
                      <a:pos x="T4" y="T5"/>
                    </a:cxn>
                  </a:cxnLst>
                  <a:rect l="T9" t="T10" r="T11" b="T12"/>
                  <a:pathLst>
                    <a:path w="19" h="41">
                      <a:moveTo>
                        <a:pt x="0" y="40"/>
                      </a:moveTo>
                      <a:lnTo>
                        <a:pt x="0" y="40"/>
                      </a:lnTo>
                      <a:lnTo>
                        <a:pt x="1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010" name="Line 124"/>
                <p:cNvSpPr>
                  <a:spLocks noChangeShapeType="1"/>
                </p:cNvSpPr>
                <p:nvPr/>
              </p:nvSpPr>
              <p:spPr bwMode="auto">
                <a:xfrm flipV="1">
                  <a:off x="4000" y="1840"/>
                  <a:ext cx="19" cy="56"/>
                </a:xfrm>
                <a:prstGeom prst="line">
                  <a:avLst/>
                </a:prstGeom>
                <a:noFill/>
                <a:ln w="12700">
                  <a:solidFill>
                    <a:srgbClr val="009900"/>
                  </a:solidFill>
                  <a:round/>
                  <a:headEnd/>
                  <a:tailEnd/>
                </a:ln>
              </p:spPr>
              <p:txBody>
                <a:bodyPr wrap="none" anchor="ctr"/>
                <a:lstStyle/>
                <a:p>
                  <a:endParaRPr lang="en-US"/>
                </a:p>
              </p:txBody>
            </p:sp>
            <p:sp>
              <p:nvSpPr>
                <p:cNvPr id="39011" name="Freeform 125"/>
                <p:cNvSpPr>
                  <a:spLocks/>
                </p:cNvSpPr>
                <p:nvPr/>
              </p:nvSpPr>
              <p:spPr bwMode="auto">
                <a:xfrm>
                  <a:off x="4200" y="1852"/>
                  <a:ext cx="55" cy="129"/>
                </a:xfrm>
                <a:custGeom>
                  <a:avLst/>
                  <a:gdLst>
                    <a:gd name="T0" fmla="*/ 54 w 55"/>
                    <a:gd name="T1" fmla="*/ 128 h 129"/>
                    <a:gd name="T2" fmla="*/ 18 w 55"/>
                    <a:gd name="T3" fmla="*/ 96 h 129"/>
                    <a:gd name="T4" fmla="*/ 0 w 55"/>
                    <a:gd name="T5" fmla="*/ 0 h 129"/>
                    <a:gd name="T6" fmla="*/ 0 60000 65536"/>
                    <a:gd name="T7" fmla="*/ 0 60000 65536"/>
                    <a:gd name="T8" fmla="*/ 0 60000 65536"/>
                    <a:gd name="T9" fmla="*/ 0 w 55"/>
                    <a:gd name="T10" fmla="*/ 0 h 129"/>
                    <a:gd name="T11" fmla="*/ 55 w 55"/>
                    <a:gd name="T12" fmla="*/ 129 h 129"/>
                  </a:gdLst>
                  <a:ahLst/>
                  <a:cxnLst>
                    <a:cxn ang="T6">
                      <a:pos x="T0" y="T1"/>
                    </a:cxn>
                    <a:cxn ang="T7">
                      <a:pos x="T2" y="T3"/>
                    </a:cxn>
                    <a:cxn ang="T8">
                      <a:pos x="T4" y="T5"/>
                    </a:cxn>
                  </a:cxnLst>
                  <a:rect l="T9" t="T10" r="T11" b="T12"/>
                  <a:pathLst>
                    <a:path w="55" h="129">
                      <a:moveTo>
                        <a:pt x="54" y="128"/>
                      </a:moveTo>
                      <a:lnTo>
                        <a:pt x="18" y="96"/>
                      </a:lnTo>
                      <a:lnTo>
                        <a:pt x="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012" name="Freeform 126"/>
                <p:cNvSpPr>
                  <a:spLocks/>
                </p:cNvSpPr>
                <p:nvPr/>
              </p:nvSpPr>
              <p:spPr bwMode="auto">
                <a:xfrm rot="1520041">
                  <a:off x="4320" y="1818"/>
                  <a:ext cx="55" cy="129"/>
                </a:xfrm>
                <a:custGeom>
                  <a:avLst/>
                  <a:gdLst>
                    <a:gd name="T0" fmla="*/ 54 w 55"/>
                    <a:gd name="T1" fmla="*/ 128 h 129"/>
                    <a:gd name="T2" fmla="*/ 18 w 55"/>
                    <a:gd name="T3" fmla="*/ 80 h 129"/>
                    <a:gd name="T4" fmla="*/ 0 w 55"/>
                    <a:gd name="T5" fmla="*/ 0 h 129"/>
                    <a:gd name="T6" fmla="*/ 0 60000 65536"/>
                    <a:gd name="T7" fmla="*/ 0 60000 65536"/>
                    <a:gd name="T8" fmla="*/ 0 60000 65536"/>
                    <a:gd name="T9" fmla="*/ 0 w 55"/>
                    <a:gd name="T10" fmla="*/ 0 h 129"/>
                    <a:gd name="T11" fmla="*/ 55 w 55"/>
                    <a:gd name="T12" fmla="*/ 129 h 129"/>
                  </a:gdLst>
                  <a:ahLst/>
                  <a:cxnLst>
                    <a:cxn ang="T6">
                      <a:pos x="T0" y="T1"/>
                    </a:cxn>
                    <a:cxn ang="T7">
                      <a:pos x="T2" y="T3"/>
                    </a:cxn>
                    <a:cxn ang="T8">
                      <a:pos x="T4" y="T5"/>
                    </a:cxn>
                  </a:cxnLst>
                  <a:rect l="T9" t="T10" r="T11" b="T12"/>
                  <a:pathLst>
                    <a:path w="55" h="129">
                      <a:moveTo>
                        <a:pt x="54" y="128"/>
                      </a:moveTo>
                      <a:lnTo>
                        <a:pt x="18" y="80"/>
                      </a:lnTo>
                      <a:lnTo>
                        <a:pt x="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013" name="Freeform 127"/>
                <p:cNvSpPr>
                  <a:spLocks/>
                </p:cNvSpPr>
                <p:nvPr/>
              </p:nvSpPr>
              <p:spPr bwMode="auto">
                <a:xfrm>
                  <a:off x="3987" y="1780"/>
                  <a:ext cx="28" cy="153"/>
                </a:xfrm>
                <a:custGeom>
                  <a:avLst/>
                  <a:gdLst>
                    <a:gd name="T0" fmla="*/ 27 w 28"/>
                    <a:gd name="T1" fmla="*/ 152 h 153"/>
                    <a:gd name="T2" fmla="*/ 27 w 28"/>
                    <a:gd name="T3" fmla="*/ 152 h 153"/>
                    <a:gd name="T4" fmla="*/ 0 w 28"/>
                    <a:gd name="T5" fmla="*/ 0 h 153"/>
                    <a:gd name="T6" fmla="*/ 0 60000 65536"/>
                    <a:gd name="T7" fmla="*/ 0 60000 65536"/>
                    <a:gd name="T8" fmla="*/ 0 60000 65536"/>
                    <a:gd name="T9" fmla="*/ 0 w 28"/>
                    <a:gd name="T10" fmla="*/ 0 h 153"/>
                    <a:gd name="T11" fmla="*/ 28 w 28"/>
                    <a:gd name="T12" fmla="*/ 153 h 153"/>
                  </a:gdLst>
                  <a:ahLst/>
                  <a:cxnLst>
                    <a:cxn ang="T6">
                      <a:pos x="T0" y="T1"/>
                    </a:cxn>
                    <a:cxn ang="T7">
                      <a:pos x="T2" y="T3"/>
                    </a:cxn>
                    <a:cxn ang="T8">
                      <a:pos x="T4" y="T5"/>
                    </a:cxn>
                  </a:cxnLst>
                  <a:rect l="T9" t="T10" r="T11" b="T12"/>
                  <a:pathLst>
                    <a:path w="28" h="153">
                      <a:moveTo>
                        <a:pt x="27" y="152"/>
                      </a:moveTo>
                      <a:lnTo>
                        <a:pt x="27" y="152"/>
                      </a:lnTo>
                      <a:lnTo>
                        <a:pt x="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014" name="Line 128"/>
                <p:cNvSpPr>
                  <a:spLocks noChangeShapeType="1"/>
                </p:cNvSpPr>
                <p:nvPr/>
              </p:nvSpPr>
              <p:spPr bwMode="auto">
                <a:xfrm flipH="1" flipV="1">
                  <a:off x="3936" y="1824"/>
                  <a:ext cx="86" cy="112"/>
                </a:xfrm>
                <a:prstGeom prst="line">
                  <a:avLst/>
                </a:prstGeom>
                <a:noFill/>
                <a:ln w="12700">
                  <a:solidFill>
                    <a:srgbClr val="009900"/>
                  </a:solidFill>
                  <a:round/>
                  <a:headEnd/>
                  <a:tailEnd/>
                </a:ln>
              </p:spPr>
              <p:txBody>
                <a:bodyPr wrap="none" anchor="ctr"/>
                <a:lstStyle/>
                <a:p>
                  <a:endParaRPr lang="en-US"/>
                </a:p>
              </p:txBody>
            </p:sp>
            <p:sp>
              <p:nvSpPr>
                <p:cNvPr id="39015" name="Freeform 129"/>
                <p:cNvSpPr>
                  <a:spLocks/>
                </p:cNvSpPr>
                <p:nvPr/>
              </p:nvSpPr>
              <p:spPr bwMode="auto">
                <a:xfrm>
                  <a:off x="4173" y="1892"/>
                  <a:ext cx="10" cy="49"/>
                </a:xfrm>
                <a:custGeom>
                  <a:avLst/>
                  <a:gdLst>
                    <a:gd name="T0" fmla="*/ 0 w 10"/>
                    <a:gd name="T1" fmla="*/ 48 h 49"/>
                    <a:gd name="T2" fmla="*/ 0 w 10"/>
                    <a:gd name="T3" fmla="*/ 48 h 49"/>
                    <a:gd name="T4" fmla="*/ 9 w 10"/>
                    <a:gd name="T5" fmla="*/ 0 h 49"/>
                    <a:gd name="T6" fmla="*/ 0 60000 65536"/>
                    <a:gd name="T7" fmla="*/ 0 60000 65536"/>
                    <a:gd name="T8" fmla="*/ 0 60000 65536"/>
                    <a:gd name="T9" fmla="*/ 0 w 10"/>
                    <a:gd name="T10" fmla="*/ 0 h 49"/>
                    <a:gd name="T11" fmla="*/ 10 w 10"/>
                    <a:gd name="T12" fmla="*/ 49 h 49"/>
                  </a:gdLst>
                  <a:ahLst/>
                  <a:cxnLst>
                    <a:cxn ang="T6">
                      <a:pos x="T0" y="T1"/>
                    </a:cxn>
                    <a:cxn ang="T7">
                      <a:pos x="T2" y="T3"/>
                    </a:cxn>
                    <a:cxn ang="T8">
                      <a:pos x="T4" y="T5"/>
                    </a:cxn>
                  </a:cxnLst>
                  <a:rect l="T9" t="T10" r="T11" b="T12"/>
                  <a:pathLst>
                    <a:path w="10" h="49">
                      <a:moveTo>
                        <a:pt x="0" y="48"/>
                      </a:moveTo>
                      <a:lnTo>
                        <a:pt x="0" y="48"/>
                      </a:lnTo>
                      <a:lnTo>
                        <a:pt x="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016" name="Line 130"/>
                <p:cNvSpPr>
                  <a:spLocks noChangeShapeType="1"/>
                </p:cNvSpPr>
                <p:nvPr/>
              </p:nvSpPr>
              <p:spPr bwMode="auto">
                <a:xfrm flipV="1">
                  <a:off x="4181" y="1888"/>
                  <a:ext cx="1" cy="56"/>
                </a:xfrm>
                <a:prstGeom prst="line">
                  <a:avLst/>
                </a:prstGeom>
                <a:noFill/>
                <a:ln w="12700">
                  <a:solidFill>
                    <a:srgbClr val="009900"/>
                  </a:solidFill>
                  <a:round/>
                  <a:headEnd/>
                  <a:tailEnd/>
                </a:ln>
              </p:spPr>
              <p:txBody>
                <a:bodyPr wrap="none" anchor="ctr"/>
                <a:lstStyle/>
                <a:p>
                  <a:endParaRPr lang="en-US"/>
                </a:p>
              </p:txBody>
            </p:sp>
            <p:sp>
              <p:nvSpPr>
                <p:cNvPr id="39017" name="Freeform 131"/>
                <p:cNvSpPr>
                  <a:spLocks/>
                </p:cNvSpPr>
                <p:nvPr/>
              </p:nvSpPr>
              <p:spPr bwMode="auto">
                <a:xfrm>
                  <a:off x="4050" y="1836"/>
                  <a:ext cx="19" cy="49"/>
                </a:xfrm>
                <a:custGeom>
                  <a:avLst/>
                  <a:gdLst>
                    <a:gd name="T0" fmla="*/ 0 w 19"/>
                    <a:gd name="T1" fmla="*/ 48 h 49"/>
                    <a:gd name="T2" fmla="*/ 0 w 19"/>
                    <a:gd name="T3" fmla="*/ 48 h 49"/>
                    <a:gd name="T4" fmla="*/ 18 w 19"/>
                    <a:gd name="T5" fmla="*/ 0 h 49"/>
                    <a:gd name="T6" fmla="*/ 0 60000 65536"/>
                    <a:gd name="T7" fmla="*/ 0 60000 65536"/>
                    <a:gd name="T8" fmla="*/ 0 60000 65536"/>
                    <a:gd name="T9" fmla="*/ 0 w 19"/>
                    <a:gd name="T10" fmla="*/ 0 h 49"/>
                    <a:gd name="T11" fmla="*/ 19 w 19"/>
                    <a:gd name="T12" fmla="*/ 49 h 49"/>
                  </a:gdLst>
                  <a:ahLst/>
                  <a:cxnLst>
                    <a:cxn ang="T6">
                      <a:pos x="T0" y="T1"/>
                    </a:cxn>
                    <a:cxn ang="T7">
                      <a:pos x="T2" y="T3"/>
                    </a:cxn>
                    <a:cxn ang="T8">
                      <a:pos x="T4" y="T5"/>
                    </a:cxn>
                  </a:cxnLst>
                  <a:rect l="T9" t="T10" r="T11" b="T12"/>
                  <a:pathLst>
                    <a:path w="19" h="49">
                      <a:moveTo>
                        <a:pt x="0" y="48"/>
                      </a:moveTo>
                      <a:lnTo>
                        <a:pt x="0" y="48"/>
                      </a:lnTo>
                      <a:lnTo>
                        <a:pt x="1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018" name="Line 132"/>
                <p:cNvSpPr>
                  <a:spLocks noChangeShapeType="1"/>
                </p:cNvSpPr>
                <p:nvPr/>
              </p:nvSpPr>
              <p:spPr bwMode="auto">
                <a:xfrm flipV="1">
                  <a:off x="4059" y="1832"/>
                  <a:ext cx="9" cy="56"/>
                </a:xfrm>
                <a:prstGeom prst="line">
                  <a:avLst/>
                </a:prstGeom>
                <a:noFill/>
                <a:ln w="12700">
                  <a:solidFill>
                    <a:srgbClr val="009900"/>
                  </a:solidFill>
                  <a:round/>
                  <a:headEnd/>
                  <a:tailEnd/>
                </a:ln>
              </p:spPr>
              <p:txBody>
                <a:bodyPr wrap="none" anchor="ctr"/>
                <a:lstStyle/>
                <a:p>
                  <a:endParaRPr lang="en-US"/>
                </a:p>
              </p:txBody>
            </p:sp>
            <p:sp>
              <p:nvSpPr>
                <p:cNvPr id="39019" name="Freeform 133"/>
                <p:cNvSpPr>
                  <a:spLocks/>
                </p:cNvSpPr>
                <p:nvPr/>
              </p:nvSpPr>
              <p:spPr bwMode="auto">
                <a:xfrm>
                  <a:off x="4032" y="1818"/>
                  <a:ext cx="96" cy="96"/>
                </a:xfrm>
                <a:custGeom>
                  <a:avLst/>
                  <a:gdLst>
                    <a:gd name="T0" fmla="*/ 2324 w 19"/>
                    <a:gd name="T1" fmla="*/ 38 h 153"/>
                    <a:gd name="T2" fmla="*/ 2324 w 19"/>
                    <a:gd name="T3" fmla="*/ 38 h 153"/>
                    <a:gd name="T4" fmla="*/ 0 w 19"/>
                    <a:gd name="T5" fmla="*/ 0 h 153"/>
                    <a:gd name="T6" fmla="*/ 0 60000 65536"/>
                    <a:gd name="T7" fmla="*/ 0 60000 65536"/>
                    <a:gd name="T8" fmla="*/ 0 60000 65536"/>
                    <a:gd name="T9" fmla="*/ 0 w 19"/>
                    <a:gd name="T10" fmla="*/ 0 h 153"/>
                    <a:gd name="T11" fmla="*/ 19 w 19"/>
                    <a:gd name="T12" fmla="*/ 153 h 153"/>
                  </a:gdLst>
                  <a:ahLst/>
                  <a:cxnLst>
                    <a:cxn ang="T6">
                      <a:pos x="T0" y="T1"/>
                    </a:cxn>
                    <a:cxn ang="T7">
                      <a:pos x="T2" y="T3"/>
                    </a:cxn>
                    <a:cxn ang="T8">
                      <a:pos x="T4" y="T5"/>
                    </a:cxn>
                  </a:cxnLst>
                  <a:rect l="T9" t="T10" r="T11" b="T12"/>
                  <a:pathLst>
                    <a:path w="19" h="153">
                      <a:moveTo>
                        <a:pt x="18" y="152"/>
                      </a:moveTo>
                      <a:lnTo>
                        <a:pt x="18" y="152"/>
                      </a:lnTo>
                      <a:lnTo>
                        <a:pt x="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020" name="Line 134"/>
                <p:cNvSpPr>
                  <a:spLocks noChangeShapeType="1"/>
                </p:cNvSpPr>
                <p:nvPr/>
              </p:nvSpPr>
              <p:spPr bwMode="auto">
                <a:xfrm flipH="1" flipV="1">
                  <a:off x="4128" y="1818"/>
                  <a:ext cx="27" cy="160"/>
                </a:xfrm>
                <a:prstGeom prst="line">
                  <a:avLst/>
                </a:prstGeom>
                <a:noFill/>
                <a:ln w="12700">
                  <a:solidFill>
                    <a:srgbClr val="009900"/>
                  </a:solidFill>
                  <a:round/>
                  <a:headEnd/>
                  <a:tailEnd/>
                </a:ln>
              </p:spPr>
              <p:txBody>
                <a:bodyPr wrap="none" anchor="ctr"/>
                <a:lstStyle/>
                <a:p>
                  <a:endParaRPr lang="en-US"/>
                </a:p>
              </p:txBody>
            </p:sp>
            <p:sp>
              <p:nvSpPr>
                <p:cNvPr id="39021" name="Freeform 135"/>
                <p:cNvSpPr>
                  <a:spLocks/>
                </p:cNvSpPr>
                <p:nvPr/>
              </p:nvSpPr>
              <p:spPr bwMode="auto">
                <a:xfrm>
                  <a:off x="4137" y="1916"/>
                  <a:ext cx="19" cy="41"/>
                </a:xfrm>
                <a:custGeom>
                  <a:avLst/>
                  <a:gdLst>
                    <a:gd name="T0" fmla="*/ 0 w 19"/>
                    <a:gd name="T1" fmla="*/ 40 h 41"/>
                    <a:gd name="T2" fmla="*/ 0 w 19"/>
                    <a:gd name="T3" fmla="*/ 40 h 41"/>
                    <a:gd name="T4" fmla="*/ 18 w 19"/>
                    <a:gd name="T5" fmla="*/ 0 h 41"/>
                    <a:gd name="T6" fmla="*/ 0 60000 65536"/>
                    <a:gd name="T7" fmla="*/ 0 60000 65536"/>
                    <a:gd name="T8" fmla="*/ 0 60000 65536"/>
                    <a:gd name="T9" fmla="*/ 0 w 19"/>
                    <a:gd name="T10" fmla="*/ 0 h 41"/>
                    <a:gd name="T11" fmla="*/ 19 w 19"/>
                    <a:gd name="T12" fmla="*/ 41 h 41"/>
                  </a:gdLst>
                  <a:ahLst/>
                  <a:cxnLst>
                    <a:cxn ang="T6">
                      <a:pos x="T0" y="T1"/>
                    </a:cxn>
                    <a:cxn ang="T7">
                      <a:pos x="T2" y="T3"/>
                    </a:cxn>
                    <a:cxn ang="T8">
                      <a:pos x="T4" y="T5"/>
                    </a:cxn>
                  </a:cxnLst>
                  <a:rect l="T9" t="T10" r="T11" b="T12"/>
                  <a:pathLst>
                    <a:path w="19" h="41">
                      <a:moveTo>
                        <a:pt x="0" y="40"/>
                      </a:moveTo>
                      <a:lnTo>
                        <a:pt x="0" y="40"/>
                      </a:lnTo>
                      <a:lnTo>
                        <a:pt x="1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022" name="Line 136"/>
                <p:cNvSpPr>
                  <a:spLocks noChangeShapeType="1"/>
                </p:cNvSpPr>
                <p:nvPr/>
              </p:nvSpPr>
              <p:spPr bwMode="auto">
                <a:xfrm flipV="1">
                  <a:off x="4141" y="1912"/>
                  <a:ext cx="19" cy="56"/>
                </a:xfrm>
                <a:prstGeom prst="line">
                  <a:avLst/>
                </a:prstGeom>
                <a:noFill/>
                <a:ln w="12700">
                  <a:solidFill>
                    <a:srgbClr val="009900"/>
                  </a:solidFill>
                  <a:round/>
                  <a:headEnd/>
                  <a:tailEnd/>
                </a:ln>
              </p:spPr>
              <p:txBody>
                <a:bodyPr wrap="none" anchor="ctr"/>
                <a:lstStyle/>
                <a:p>
                  <a:endParaRPr lang="en-US"/>
                </a:p>
              </p:txBody>
            </p:sp>
            <p:sp>
              <p:nvSpPr>
                <p:cNvPr id="39023" name="Freeform 137"/>
                <p:cNvSpPr>
                  <a:spLocks/>
                </p:cNvSpPr>
                <p:nvPr/>
              </p:nvSpPr>
              <p:spPr bwMode="auto">
                <a:xfrm>
                  <a:off x="4317" y="1836"/>
                  <a:ext cx="181" cy="49"/>
                </a:xfrm>
                <a:custGeom>
                  <a:avLst/>
                  <a:gdLst>
                    <a:gd name="T0" fmla="*/ 0 w 181"/>
                    <a:gd name="T1" fmla="*/ 48 h 49"/>
                    <a:gd name="T2" fmla="*/ 162 w 181"/>
                    <a:gd name="T3" fmla="*/ 40 h 49"/>
                    <a:gd name="T4" fmla="*/ 180 w 181"/>
                    <a:gd name="T5" fmla="*/ 0 h 49"/>
                    <a:gd name="T6" fmla="*/ 0 60000 65536"/>
                    <a:gd name="T7" fmla="*/ 0 60000 65536"/>
                    <a:gd name="T8" fmla="*/ 0 60000 65536"/>
                    <a:gd name="T9" fmla="*/ 0 w 181"/>
                    <a:gd name="T10" fmla="*/ 0 h 49"/>
                    <a:gd name="T11" fmla="*/ 181 w 181"/>
                    <a:gd name="T12" fmla="*/ 49 h 49"/>
                  </a:gdLst>
                  <a:ahLst/>
                  <a:cxnLst>
                    <a:cxn ang="T6">
                      <a:pos x="T0" y="T1"/>
                    </a:cxn>
                    <a:cxn ang="T7">
                      <a:pos x="T2" y="T3"/>
                    </a:cxn>
                    <a:cxn ang="T8">
                      <a:pos x="T4" y="T5"/>
                    </a:cxn>
                  </a:cxnLst>
                  <a:rect l="T9" t="T10" r="T11" b="T12"/>
                  <a:pathLst>
                    <a:path w="181" h="49">
                      <a:moveTo>
                        <a:pt x="0" y="48"/>
                      </a:moveTo>
                      <a:lnTo>
                        <a:pt x="162" y="40"/>
                      </a:lnTo>
                      <a:lnTo>
                        <a:pt x="18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024" name="Freeform 138"/>
                <p:cNvSpPr>
                  <a:spLocks/>
                </p:cNvSpPr>
                <p:nvPr/>
              </p:nvSpPr>
              <p:spPr bwMode="auto">
                <a:xfrm>
                  <a:off x="4317" y="1836"/>
                  <a:ext cx="181" cy="49"/>
                </a:xfrm>
                <a:custGeom>
                  <a:avLst/>
                  <a:gdLst>
                    <a:gd name="T0" fmla="*/ 0 w 181"/>
                    <a:gd name="T1" fmla="*/ 48 h 49"/>
                    <a:gd name="T2" fmla="*/ 72 w 181"/>
                    <a:gd name="T3" fmla="*/ 40 h 49"/>
                    <a:gd name="T4" fmla="*/ 126 w 181"/>
                    <a:gd name="T5" fmla="*/ 24 h 49"/>
                    <a:gd name="T6" fmla="*/ 162 w 181"/>
                    <a:gd name="T7" fmla="*/ 16 h 49"/>
                    <a:gd name="T8" fmla="*/ 180 w 181"/>
                    <a:gd name="T9" fmla="*/ 0 h 49"/>
                    <a:gd name="T10" fmla="*/ 0 60000 65536"/>
                    <a:gd name="T11" fmla="*/ 0 60000 65536"/>
                    <a:gd name="T12" fmla="*/ 0 60000 65536"/>
                    <a:gd name="T13" fmla="*/ 0 60000 65536"/>
                    <a:gd name="T14" fmla="*/ 0 60000 65536"/>
                    <a:gd name="T15" fmla="*/ 0 w 181"/>
                    <a:gd name="T16" fmla="*/ 0 h 49"/>
                    <a:gd name="T17" fmla="*/ 181 w 181"/>
                    <a:gd name="T18" fmla="*/ 49 h 49"/>
                  </a:gdLst>
                  <a:ahLst/>
                  <a:cxnLst>
                    <a:cxn ang="T10">
                      <a:pos x="T0" y="T1"/>
                    </a:cxn>
                    <a:cxn ang="T11">
                      <a:pos x="T2" y="T3"/>
                    </a:cxn>
                    <a:cxn ang="T12">
                      <a:pos x="T4" y="T5"/>
                    </a:cxn>
                    <a:cxn ang="T13">
                      <a:pos x="T6" y="T7"/>
                    </a:cxn>
                    <a:cxn ang="T14">
                      <a:pos x="T8" y="T9"/>
                    </a:cxn>
                  </a:cxnLst>
                  <a:rect l="T15" t="T16" r="T17" b="T18"/>
                  <a:pathLst>
                    <a:path w="181" h="49">
                      <a:moveTo>
                        <a:pt x="0" y="48"/>
                      </a:moveTo>
                      <a:lnTo>
                        <a:pt x="72" y="40"/>
                      </a:lnTo>
                      <a:lnTo>
                        <a:pt x="126" y="24"/>
                      </a:lnTo>
                      <a:lnTo>
                        <a:pt x="162" y="16"/>
                      </a:lnTo>
                      <a:lnTo>
                        <a:pt x="18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025" name="Arc 139"/>
                <p:cNvSpPr>
                  <a:spLocks/>
                </p:cNvSpPr>
                <p:nvPr/>
              </p:nvSpPr>
              <p:spPr bwMode="auto">
                <a:xfrm>
                  <a:off x="4176" y="1878"/>
                  <a:ext cx="119" cy="104"/>
                </a:xfrm>
                <a:custGeom>
                  <a:avLst/>
                  <a:gdLst>
                    <a:gd name="T0" fmla="*/ 0 w 21784"/>
                    <a:gd name="T1" fmla="*/ 0 h 21600"/>
                    <a:gd name="T2" fmla="*/ 0 w 21784"/>
                    <a:gd name="T3" fmla="*/ 0 h 21600"/>
                    <a:gd name="T4" fmla="*/ 0 w 21784"/>
                    <a:gd name="T5" fmla="*/ 0 h 21600"/>
                    <a:gd name="T6" fmla="*/ 0 60000 65536"/>
                    <a:gd name="T7" fmla="*/ 0 60000 65536"/>
                    <a:gd name="T8" fmla="*/ 0 60000 65536"/>
                    <a:gd name="T9" fmla="*/ 0 w 21784"/>
                    <a:gd name="T10" fmla="*/ 0 h 21600"/>
                    <a:gd name="T11" fmla="*/ 21784 w 21784"/>
                    <a:gd name="T12" fmla="*/ 21600 h 21600"/>
                  </a:gdLst>
                  <a:ahLst/>
                  <a:cxnLst>
                    <a:cxn ang="T6">
                      <a:pos x="T0" y="T1"/>
                    </a:cxn>
                    <a:cxn ang="T7">
                      <a:pos x="T2" y="T3"/>
                    </a:cxn>
                    <a:cxn ang="T8">
                      <a:pos x="T4" y="T5"/>
                    </a:cxn>
                  </a:cxnLst>
                  <a:rect l="T9" t="T10" r="T11" b="T12"/>
                  <a:pathLst>
                    <a:path w="21784" h="21600" fill="none" extrusionOk="0">
                      <a:moveTo>
                        <a:pt x="-1" y="0"/>
                      </a:moveTo>
                      <a:cubicBezTo>
                        <a:pt x="61" y="0"/>
                        <a:pt x="122" y="-1"/>
                        <a:pt x="184" y="0"/>
                      </a:cubicBezTo>
                      <a:cubicBezTo>
                        <a:pt x="12113" y="0"/>
                        <a:pt x="21784" y="9670"/>
                        <a:pt x="21784" y="21600"/>
                      </a:cubicBezTo>
                    </a:path>
                    <a:path w="21784" h="21600" stroke="0" extrusionOk="0">
                      <a:moveTo>
                        <a:pt x="-1" y="0"/>
                      </a:moveTo>
                      <a:cubicBezTo>
                        <a:pt x="61" y="0"/>
                        <a:pt x="122" y="-1"/>
                        <a:pt x="184" y="0"/>
                      </a:cubicBezTo>
                      <a:cubicBezTo>
                        <a:pt x="12113" y="0"/>
                        <a:pt x="21784" y="9670"/>
                        <a:pt x="21784" y="21600"/>
                      </a:cubicBezTo>
                      <a:lnTo>
                        <a:pt x="184" y="21600"/>
                      </a:lnTo>
                      <a:close/>
                    </a:path>
                  </a:pathLst>
                </a:custGeom>
                <a:noFill/>
                <a:ln w="12700" cap="rnd">
                  <a:solidFill>
                    <a:srgbClr val="009900"/>
                  </a:solidFill>
                  <a:round/>
                  <a:headEnd/>
                  <a:tailEnd/>
                </a:ln>
              </p:spPr>
              <p:txBody>
                <a:bodyPr wrap="none" anchor="ctr"/>
                <a:lstStyle/>
                <a:p>
                  <a:endParaRPr lang="en-US"/>
                </a:p>
              </p:txBody>
            </p:sp>
            <p:sp>
              <p:nvSpPr>
                <p:cNvPr id="39026" name="Freeform 140"/>
                <p:cNvSpPr>
                  <a:spLocks/>
                </p:cNvSpPr>
                <p:nvPr/>
              </p:nvSpPr>
              <p:spPr bwMode="auto">
                <a:xfrm>
                  <a:off x="4050" y="1908"/>
                  <a:ext cx="10" cy="41"/>
                </a:xfrm>
                <a:custGeom>
                  <a:avLst/>
                  <a:gdLst>
                    <a:gd name="T0" fmla="*/ 0 w 10"/>
                    <a:gd name="T1" fmla="*/ 40 h 41"/>
                    <a:gd name="T2" fmla="*/ 0 w 10"/>
                    <a:gd name="T3" fmla="*/ 40 h 41"/>
                    <a:gd name="T4" fmla="*/ 9 w 10"/>
                    <a:gd name="T5" fmla="*/ 0 h 41"/>
                    <a:gd name="T6" fmla="*/ 0 60000 65536"/>
                    <a:gd name="T7" fmla="*/ 0 60000 65536"/>
                    <a:gd name="T8" fmla="*/ 0 60000 65536"/>
                    <a:gd name="T9" fmla="*/ 0 w 10"/>
                    <a:gd name="T10" fmla="*/ 0 h 41"/>
                    <a:gd name="T11" fmla="*/ 10 w 10"/>
                    <a:gd name="T12" fmla="*/ 41 h 41"/>
                  </a:gdLst>
                  <a:ahLst/>
                  <a:cxnLst>
                    <a:cxn ang="T6">
                      <a:pos x="T0" y="T1"/>
                    </a:cxn>
                    <a:cxn ang="T7">
                      <a:pos x="T2" y="T3"/>
                    </a:cxn>
                    <a:cxn ang="T8">
                      <a:pos x="T4" y="T5"/>
                    </a:cxn>
                  </a:cxnLst>
                  <a:rect l="T9" t="T10" r="T11" b="T12"/>
                  <a:pathLst>
                    <a:path w="10" h="41">
                      <a:moveTo>
                        <a:pt x="0" y="40"/>
                      </a:moveTo>
                      <a:lnTo>
                        <a:pt x="0" y="40"/>
                      </a:lnTo>
                      <a:lnTo>
                        <a:pt x="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027" name="Line 141"/>
                <p:cNvSpPr>
                  <a:spLocks noChangeShapeType="1"/>
                </p:cNvSpPr>
                <p:nvPr/>
              </p:nvSpPr>
              <p:spPr bwMode="auto">
                <a:xfrm flipV="1">
                  <a:off x="4067" y="1904"/>
                  <a:ext cx="1" cy="48"/>
                </a:xfrm>
                <a:prstGeom prst="line">
                  <a:avLst/>
                </a:prstGeom>
                <a:noFill/>
                <a:ln w="12700">
                  <a:solidFill>
                    <a:srgbClr val="009900"/>
                  </a:solidFill>
                  <a:round/>
                  <a:headEnd/>
                  <a:tailEnd/>
                </a:ln>
              </p:spPr>
              <p:txBody>
                <a:bodyPr wrap="none" anchor="ctr"/>
                <a:lstStyle/>
                <a:p>
                  <a:endParaRPr lang="en-US"/>
                </a:p>
              </p:txBody>
            </p:sp>
            <p:sp>
              <p:nvSpPr>
                <p:cNvPr id="39028" name="Arc 142"/>
                <p:cNvSpPr>
                  <a:spLocks/>
                </p:cNvSpPr>
                <p:nvPr/>
              </p:nvSpPr>
              <p:spPr bwMode="auto">
                <a:xfrm>
                  <a:off x="4512" y="1866"/>
                  <a:ext cx="119" cy="104"/>
                </a:xfrm>
                <a:custGeom>
                  <a:avLst/>
                  <a:gdLst>
                    <a:gd name="T0" fmla="*/ 0 w 21784"/>
                    <a:gd name="T1" fmla="*/ 0 h 21600"/>
                    <a:gd name="T2" fmla="*/ 0 w 21784"/>
                    <a:gd name="T3" fmla="*/ 0 h 21600"/>
                    <a:gd name="T4" fmla="*/ 0 w 21784"/>
                    <a:gd name="T5" fmla="*/ 0 h 21600"/>
                    <a:gd name="T6" fmla="*/ 0 60000 65536"/>
                    <a:gd name="T7" fmla="*/ 0 60000 65536"/>
                    <a:gd name="T8" fmla="*/ 0 60000 65536"/>
                    <a:gd name="T9" fmla="*/ 0 w 21784"/>
                    <a:gd name="T10" fmla="*/ 0 h 21600"/>
                    <a:gd name="T11" fmla="*/ 21784 w 21784"/>
                    <a:gd name="T12" fmla="*/ 21600 h 21600"/>
                  </a:gdLst>
                  <a:ahLst/>
                  <a:cxnLst>
                    <a:cxn ang="T6">
                      <a:pos x="T0" y="T1"/>
                    </a:cxn>
                    <a:cxn ang="T7">
                      <a:pos x="T2" y="T3"/>
                    </a:cxn>
                    <a:cxn ang="T8">
                      <a:pos x="T4" y="T5"/>
                    </a:cxn>
                  </a:cxnLst>
                  <a:rect l="T9" t="T10" r="T11" b="T12"/>
                  <a:pathLst>
                    <a:path w="21784" h="21600" fill="none" extrusionOk="0">
                      <a:moveTo>
                        <a:pt x="-1" y="0"/>
                      </a:moveTo>
                      <a:cubicBezTo>
                        <a:pt x="61" y="0"/>
                        <a:pt x="122" y="-1"/>
                        <a:pt x="184" y="0"/>
                      </a:cubicBezTo>
                      <a:cubicBezTo>
                        <a:pt x="12113" y="0"/>
                        <a:pt x="21784" y="9670"/>
                        <a:pt x="21784" y="21600"/>
                      </a:cubicBezTo>
                    </a:path>
                    <a:path w="21784" h="21600" stroke="0" extrusionOk="0">
                      <a:moveTo>
                        <a:pt x="-1" y="0"/>
                      </a:moveTo>
                      <a:cubicBezTo>
                        <a:pt x="61" y="0"/>
                        <a:pt x="122" y="-1"/>
                        <a:pt x="184" y="0"/>
                      </a:cubicBezTo>
                      <a:cubicBezTo>
                        <a:pt x="12113" y="0"/>
                        <a:pt x="21784" y="9670"/>
                        <a:pt x="21784" y="21600"/>
                      </a:cubicBezTo>
                      <a:lnTo>
                        <a:pt x="184" y="21600"/>
                      </a:lnTo>
                      <a:close/>
                    </a:path>
                  </a:pathLst>
                </a:custGeom>
                <a:noFill/>
                <a:ln w="12700" cap="rnd">
                  <a:solidFill>
                    <a:srgbClr val="009900"/>
                  </a:solidFill>
                  <a:round/>
                  <a:headEnd/>
                  <a:tailEnd/>
                </a:ln>
              </p:spPr>
              <p:txBody>
                <a:bodyPr wrap="none" anchor="ctr"/>
                <a:lstStyle/>
                <a:p>
                  <a:endParaRPr lang="en-US"/>
                </a:p>
              </p:txBody>
            </p:sp>
            <p:sp>
              <p:nvSpPr>
                <p:cNvPr id="39029" name="Freeform 143"/>
                <p:cNvSpPr>
                  <a:spLocks/>
                </p:cNvSpPr>
                <p:nvPr/>
              </p:nvSpPr>
              <p:spPr bwMode="auto">
                <a:xfrm>
                  <a:off x="4571" y="1845"/>
                  <a:ext cx="46" cy="153"/>
                </a:xfrm>
                <a:custGeom>
                  <a:avLst/>
                  <a:gdLst>
                    <a:gd name="T0" fmla="*/ 0 w 46"/>
                    <a:gd name="T1" fmla="*/ 0 h 153"/>
                    <a:gd name="T2" fmla="*/ 9 w 46"/>
                    <a:gd name="T3" fmla="*/ 8 h 153"/>
                    <a:gd name="T4" fmla="*/ 27 w 46"/>
                    <a:gd name="T5" fmla="*/ 32 h 153"/>
                    <a:gd name="T6" fmla="*/ 36 w 46"/>
                    <a:gd name="T7" fmla="*/ 48 h 153"/>
                    <a:gd name="T8" fmla="*/ 45 w 46"/>
                    <a:gd name="T9" fmla="*/ 64 h 153"/>
                    <a:gd name="T10" fmla="*/ 45 w 46"/>
                    <a:gd name="T11" fmla="*/ 72 h 153"/>
                    <a:gd name="T12" fmla="*/ 45 w 46"/>
                    <a:gd name="T13" fmla="*/ 80 h 153"/>
                    <a:gd name="T14" fmla="*/ 45 w 46"/>
                    <a:gd name="T15" fmla="*/ 104 h 153"/>
                    <a:gd name="T16" fmla="*/ 45 w 46"/>
                    <a:gd name="T17" fmla="*/ 120 h 153"/>
                    <a:gd name="T18" fmla="*/ 36 w 46"/>
                    <a:gd name="T19" fmla="*/ 136 h 153"/>
                    <a:gd name="T20" fmla="*/ 27 w 46"/>
                    <a:gd name="T21" fmla="*/ 152 h 15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6"/>
                    <a:gd name="T34" fmla="*/ 0 h 153"/>
                    <a:gd name="T35" fmla="*/ 46 w 46"/>
                    <a:gd name="T36" fmla="*/ 153 h 15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6" h="153">
                      <a:moveTo>
                        <a:pt x="0" y="0"/>
                      </a:moveTo>
                      <a:lnTo>
                        <a:pt x="9" y="8"/>
                      </a:lnTo>
                      <a:lnTo>
                        <a:pt x="27" y="32"/>
                      </a:lnTo>
                      <a:lnTo>
                        <a:pt x="36" y="48"/>
                      </a:lnTo>
                      <a:lnTo>
                        <a:pt x="45" y="64"/>
                      </a:lnTo>
                      <a:lnTo>
                        <a:pt x="45" y="72"/>
                      </a:lnTo>
                      <a:lnTo>
                        <a:pt x="45" y="80"/>
                      </a:lnTo>
                      <a:lnTo>
                        <a:pt x="45" y="104"/>
                      </a:lnTo>
                      <a:lnTo>
                        <a:pt x="45" y="120"/>
                      </a:lnTo>
                      <a:lnTo>
                        <a:pt x="36" y="136"/>
                      </a:lnTo>
                      <a:lnTo>
                        <a:pt x="27" y="152"/>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030" name="Freeform 144"/>
                <p:cNvSpPr>
                  <a:spLocks/>
                </p:cNvSpPr>
                <p:nvPr/>
              </p:nvSpPr>
              <p:spPr bwMode="auto">
                <a:xfrm>
                  <a:off x="4506" y="1884"/>
                  <a:ext cx="109" cy="17"/>
                </a:xfrm>
                <a:custGeom>
                  <a:avLst/>
                  <a:gdLst>
                    <a:gd name="T0" fmla="*/ 0 w 109"/>
                    <a:gd name="T1" fmla="*/ 0 h 17"/>
                    <a:gd name="T2" fmla="*/ 27 w 109"/>
                    <a:gd name="T3" fmla="*/ 16 h 17"/>
                    <a:gd name="T4" fmla="*/ 81 w 109"/>
                    <a:gd name="T5" fmla="*/ 16 h 17"/>
                    <a:gd name="T6" fmla="*/ 108 w 109"/>
                    <a:gd name="T7" fmla="*/ 0 h 17"/>
                    <a:gd name="T8" fmla="*/ 0 60000 65536"/>
                    <a:gd name="T9" fmla="*/ 0 60000 65536"/>
                    <a:gd name="T10" fmla="*/ 0 60000 65536"/>
                    <a:gd name="T11" fmla="*/ 0 60000 65536"/>
                    <a:gd name="T12" fmla="*/ 0 w 109"/>
                    <a:gd name="T13" fmla="*/ 0 h 17"/>
                    <a:gd name="T14" fmla="*/ 109 w 109"/>
                    <a:gd name="T15" fmla="*/ 17 h 17"/>
                  </a:gdLst>
                  <a:ahLst/>
                  <a:cxnLst>
                    <a:cxn ang="T8">
                      <a:pos x="T0" y="T1"/>
                    </a:cxn>
                    <a:cxn ang="T9">
                      <a:pos x="T2" y="T3"/>
                    </a:cxn>
                    <a:cxn ang="T10">
                      <a:pos x="T4" y="T5"/>
                    </a:cxn>
                    <a:cxn ang="T11">
                      <a:pos x="T6" y="T7"/>
                    </a:cxn>
                  </a:cxnLst>
                  <a:rect l="T12" t="T13" r="T14" b="T15"/>
                  <a:pathLst>
                    <a:path w="109" h="17">
                      <a:moveTo>
                        <a:pt x="0" y="0"/>
                      </a:moveTo>
                      <a:lnTo>
                        <a:pt x="27" y="16"/>
                      </a:lnTo>
                      <a:lnTo>
                        <a:pt x="81" y="16"/>
                      </a:lnTo>
                      <a:lnTo>
                        <a:pt x="10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031" name="Freeform 145"/>
                <p:cNvSpPr>
                  <a:spLocks/>
                </p:cNvSpPr>
                <p:nvPr/>
              </p:nvSpPr>
              <p:spPr bwMode="auto">
                <a:xfrm>
                  <a:off x="4506" y="1884"/>
                  <a:ext cx="109" cy="17"/>
                </a:xfrm>
                <a:custGeom>
                  <a:avLst/>
                  <a:gdLst>
                    <a:gd name="T0" fmla="*/ 0 w 109"/>
                    <a:gd name="T1" fmla="*/ 0 h 17"/>
                    <a:gd name="T2" fmla="*/ 54 w 109"/>
                    <a:gd name="T3" fmla="*/ 16 h 17"/>
                    <a:gd name="T4" fmla="*/ 81 w 109"/>
                    <a:gd name="T5" fmla="*/ 8 h 17"/>
                    <a:gd name="T6" fmla="*/ 108 w 109"/>
                    <a:gd name="T7" fmla="*/ 0 h 17"/>
                    <a:gd name="T8" fmla="*/ 0 60000 65536"/>
                    <a:gd name="T9" fmla="*/ 0 60000 65536"/>
                    <a:gd name="T10" fmla="*/ 0 60000 65536"/>
                    <a:gd name="T11" fmla="*/ 0 60000 65536"/>
                    <a:gd name="T12" fmla="*/ 0 w 109"/>
                    <a:gd name="T13" fmla="*/ 0 h 17"/>
                    <a:gd name="T14" fmla="*/ 109 w 109"/>
                    <a:gd name="T15" fmla="*/ 17 h 17"/>
                  </a:gdLst>
                  <a:ahLst/>
                  <a:cxnLst>
                    <a:cxn ang="T8">
                      <a:pos x="T0" y="T1"/>
                    </a:cxn>
                    <a:cxn ang="T9">
                      <a:pos x="T2" y="T3"/>
                    </a:cxn>
                    <a:cxn ang="T10">
                      <a:pos x="T4" y="T5"/>
                    </a:cxn>
                    <a:cxn ang="T11">
                      <a:pos x="T6" y="T7"/>
                    </a:cxn>
                  </a:cxnLst>
                  <a:rect l="T12" t="T13" r="T14" b="T15"/>
                  <a:pathLst>
                    <a:path w="109" h="17">
                      <a:moveTo>
                        <a:pt x="0" y="0"/>
                      </a:moveTo>
                      <a:lnTo>
                        <a:pt x="54" y="16"/>
                      </a:lnTo>
                      <a:lnTo>
                        <a:pt x="81" y="8"/>
                      </a:lnTo>
                      <a:lnTo>
                        <a:pt x="10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032" name="Freeform 146"/>
                <p:cNvSpPr>
                  <a:spLocks/>
                </p:cNvSpPr>
                <p:nvPr/>
              </p:nvSpPr>
              <p:spPr bwMode="auto">
                <a:xfrm flipV="1">
                  <a:off x="4080" y="1861"/>
                  <a:ext cx="121" cy="59"/>
                </a:xfrm>
                <a:custGeom>
                  <a:avLst/>
                  <a:gdLst>
                    <a:gd name="T0" fmla="*/ 0 w 118"/>
                    <a:gd name="T1" fmla="*/ 0 h 57"/>
                    <a:gd name="T2" fmla="*/ 57 w 118"/>
                    <a:gd name="T3" fmla="*/ 27 h 57"/>
                    <a:gd name="T4" fmla="*/ 126 w 118"/>
                    <a:gd name="T5" fmla="*/ 62 h 57"/>
                    <a:gd name="T6" fmla="*/ 0 60000 65536"/>
                    <a:gd name="T7" fmla="*/ 0 60000 65536"/>
                    <a:gd name="T8" fmla="*/ 0 60000 65536"/>
                    <a:gd name="T9" fmla="*/ 0 w 118"/>
                    <a:gd name="T10" fmla="*/ 0 h 57"/>
                    <a:gd name="T11" fmla="*/ 118 w 118"/>
                    <a:gd name="T12" fmla="*/ 57 h 57"/>
                  </a:gdLst>
                  <a:ahLst/>
                  <a:cxnLst>
                    <a:cxn ang="T6">
                      <a:pos x="T0" y="T1"/>
                    </a:cxn>
                    <a:cxn ang="T7">
                      <a:pos x="T2" y="T3"/>
                    </a:cxn>
                    <a:cxn ang="T8">
                      <a:pos x="T4" y="T5"/>
                    </a:cxn>
                  </a:cxnLst>
                  <a:rect l="T9" t="T10" r="T11" b="T12"/>
                  <a:pathLst>
                    <a:path w="118" h="57">
                      <a:moveTo>
                        <a:pt x="0" y="0"/>
                      </a:moveTo>
                      <a:lnTo>
                        <a:pt x="54" y="24"/>
                      </a:lnTo>
                      <a:lnTo>
                        <a:pt x="117" y="56"/>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033" name="Line 147"/>
                <p:cNvSpPr>
                  <a:spLocks noChangeShapeType="1"/>
                </p:cNvSpPr>
                <p:nvPr/>
              </p:nvSpPr>
              <p:spPr bwMode="auto">
                <a:xfrm>
                  <a:off x="4080" y="1866"/>
                  <a:ext cx="121" cy="0"/>
                </a:xfrm>
                <a:prstGeom prst="line">
                  <a:avLst/>
                </a:prstGeom>
                <a:noFill/>
                <a:ln w="12700">
                  <a:solidFill>
                    <a:srgbClr val="009900"/>
                  </a:solidFill>
                  <a:round/>
                  <a:headEnd/>
                  <a:tailEnd/>
                </a:ln>
              </p:spPr>
              <p:txBody>
                <a:bodyPr wrap="none" anchor="ctr"/>
                <a:lstStyle/>
                <a:p>
                  <a:endParaRPr lang="en-US"/>
                </a:p>
              </p:txBody>
            </p:sp>
            <p:sp>
              <p:nvSpPr>
                <p:cNvPr id="39034" name="Freeform 148"/>
                <p:cNvSpPr>
                  <a:spLocks/>
                </p:cNvSpPr>
                <p:nvPr/>
              </p:nvSpPr>
              <p:spPr bwMode="auto">
                <a:xfrm>
                  <a:off x="4461" y="1924"/>
                  <a:ext cx="19" cy="49"/>
                </a:xfrm>
                <a:custGeom>
                  <a:avLst/>
                  <a:gdLst>
                    <a:gd name="T0" fmla="*/ 0 w 19"/>
                    <a:gd name="T1" fmla="*/ 48 h 49"/>
                    <a:gd name="T2" fmla="*/ 0 w 19"/>
                    <a:gd name="T3" fmla="*/ 48 h 49"/>
                    <a:gd name="T4" fmla="*/ 18 w 19"/>
                    <a:gd name="T5" fmla="*/ 0 h 49"/>
                    <a:gd name="T6" fmla="*/ 0 60000 65536"/>
                    <a:gd name="T7" fmla="*/ 0 60000 65536"/>
                    <a:gd name="T8" fmla="*/ 0 60000 65536"/>
                    <a:gd name="T9" fmla="*/ 0 w 19"/>
                    <a:gd name="T10" fmla="*/ 0 h 49"/>
                    <a:gd name="T11" fmla="*/ 19 w 19"/>
                    <a:gd name="T12" fmla="*/ 49 h 49"/>
                  </a:gdLst>
                  <a:ahLst/>
                  <a:cxnLst>
                    <a:cxn ang="T6">
                      <a:pos x="T0" y="T1"/>
                    </a:cxn>
                    <a:cxn ang="T7">
                      <a:pos x="T2" y="T3"/>
                    </a:cxn>
                    <a:cxn ang="T8">
                      <a:pos x="T4" y="T5"/>
                    </a:cxn>
                  </a:cxnLst>
                  <a:rect l="T9" t="T10" r="T11" b="T12"/>
                  <a:pathLst>
                    <a:path w="19" h="49">
                      <a:moveTo>
                        <a:pt x="0" y="48"/>
                      </a:moveTo>
                      <a:lnTo>
                        <a:pt x="0" y="48"/>
                      </a:lnTo>
                      <a:lnTo>
                        <a:pt x="1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035" name="Line 149"/>
                <p:cNvSpPr>
                  <a:spLocks noChangeShapeType="1"/>
                </p:cNvSpPr>
                <p:nvPr/>
              </p:nvSpPr>
              <p:spPr bwMode="auto">
                <a:xfrm flipV="1">
                  <a:off x="4470" y="1920"/>
                  <a:ext cx="10" cy="56"/>
                </a:xfrm>
                <a:prstGeom prst="line">
                  <a:avLst/>
                </a:prstGeom>
                <a:noFill/>
                <a:ln w="12700">
                  <a:solidFill>
                    <a:srgbClr val="009900"/>
                  </a:solidFill>
                  <a:round/>
                  <a:headEnd/>
                  <a:tailEnd/>
                </a:ln>
              </p:spPr>
              <p:txBody>
                <a:bodyPr wrap="none" anchor="ctr"/>
                <a:lstStyle/>
                <a:p>
                  <a:endParaRPr lang="en-US"/>
                </a:p>
              </p:txBody>
            </p:sp>
            <p:sp>
              <p:nvSpPr>
                <p:cNvPr id="39036" name="Freeform 150"/>
                <p:cNvSpPr>
                  <a:spLocks/>
                </p:cNvSpPr>
                <p:nvPr/>
              </p:nvSpPr>
              <p:spPr bwMode="auto">
                <a:xfrm>
                  <a:off x="4605" y="1868"/>
                  <a:ext cx="10" cy="41"/>
                </a:xfrm>
                <a:custGeom>
                  <a:avLst/>
                  <a:gdLst>
                    <a:gd name="T0" fmla="*/ 0 w 10"/>
                    <a:gd name="T1" fmla="*/ 40 h 41"/>
                    <a:gd name="T2" fmla="*/ 0 w 10"/>
                    <a:gd name="T3" fmla="*/ 40 h 41"/>
                    <a:gd name="T4" fmla="*/ 9 w 10"/>
                    <a:gd name="T5" fmla="*/ 0 h 41"/>
                    <a:gd name="T6" fmla="*/ 0 60000 65536"/>
                    <a:gd name="T7" fmla="*/ 0 60000 65536"/>
                    <a:gd name="T8" fmla="*/ 0 60000 65536"/>
                    <a:gd name="T9" fmla="*/ 0 w 10"/>
                    <a:gd name="T10" fmla="*/ 0 h 41"/>
                    <a:gd name="T11" fmla="*/ 10 w 10"/>
                    <a:gd name="T12" fmla="*/ 41 h 41"/>
                  </a:gdLst>
                  <a:ahLst/>
                  <a:cxnLst>
                    <a:cxn ang="T6">
                      <a:pos x="T0" y="T1"/>
                    </a:cxn>
                    <a:cxn ang="T7">
                      <a:pos x="T2" y="T3"/>
                    </a:cxn>
                    <a:cxn ang="T8">
                      <a:pos x="T4" y="T5"/>
                    </a:cxn>
                  </a:cxnLst>
                  <a:rect l="T9" t="T10" r="T11" b="T12"/>
                  <a:pathLst>
                    <a:path w="10" h="41">
                      <a:moveTo>
                        <a:pt x="0" y="40"/>
                      </a:moveTo>
                      <a:lnTo>
                        <a:pt x="0" y="40"/>
                      </a:lnTo>
                      <a:lnTo>
                        <a:pt x="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037" name="Line 151"/>
                <p:cNvSpPr>
                  <a:spLocks noChangeShapeType="1"/>
                </p:cNvSpPr>
                <p:nvPr/>
              </p:nvSpPr>
              <p:spPr bwMode="auto">
                <a:xfrm flipV="1">
                  <a:off x="4625" y="1864"/>
                  <a:ext cx="1" cy="48"/>
                </a:xfrm>
                <a:prstGeom prst="line">
                  <a:avLst/>
                </a:prstGeom>
                <a:noFill/>
                <a:ln w="12700">
                  <a:solidFill>
                    <a:srgbClr val="009900"/>
                  </a:solidFill>
                  <a:round/>
                  <a:headEnd/>
                  <a:tailEnd/>
                </a:ln>
              </p:spPr>
              <p:txBody>
                <a:bodyPr wrap="none" anchor="ctr"/>
                <a:lstStyle/>
                <a:p>
                  <a:endParaRPr lang="en-US"/>
                </a:p>
              </p:txBody>
            </p:sp>
            <p:sp>
              <p:nvSpPr>
                <p:cNvPr id="39038" name="Freeform 152"/>
                <p:cNvSpPr>
                  <a:spLocks/>
                </p:cNvSpPr>
                <p:nvPr/>
              </p:nvSpPr>
              <p:spPr bwMode="auto">
                <a:xfrm>
                  <a:off x="4461" y="1924"/>
                  <a:ext cx="19" cy="49"/>
                </a:xfrm>
                <a:custGeom>
                  <a:avLst/>
                  <a:gdLst>
                    <a:gd name="T0" fmla="*/ 0 w 19"/>
                    <a:gd name="T1" fmla="*/ 48 h 49"/>
                    <a:gd name="T2" fmla="*/ 0 w 19"/>
                    <a:gd name="T3" fmla="*/ 48 h 49"/>
                    <a:gd name="T4" fmla="*/ 18 w 19"/>
                    <a:gd name="T5" fmla="*/ 0 h 49"/>
                    <a:gd name="T6" fmla="*/ 0 60000 65536"/>
                    <a:gd name="T7" fmla="*/ 0 60000 65536"/>
                    <a:gd name="T8" fmla="*/ 0 60000 65536"/>
                    <a:gd name="T9" fmla="*/ 0 w 19"/>
                    <a:gd name="T10" fmla="*/ 0 h 49"/>
                    <a:gd name="T11" fmla="*/ 19 w 19"/>
                    <a:gd name="T12" fmla="*/ 49 h 49"/>
                  </a:gdLst>
                  <a:ahLst/>
                  <a:cxnLst>
                    <a:cxn ang="T6">
                      <a:pos x="T0" y="T1"/>
                    </a:cxn>
                    <a:cxn ang="T7">
                      <a:pos x="T2" y="T3"/>
                    </a:cxn>
                    <a:cxn ang="T8">
                      <a:pos x="T4" y="T5"/>
                    </a:cxn>
                  </a:cxnLst>
                  <a:rect l="T9" t="T10" r="T11" b="T12"/>
                  <a:pathLst>
                    <a:path w="19" h="49">
                      <a:moveTo>
                        <a:pt x="0" y="48"/>
                      </a:moveTo>
                      <a:lnTo>
                        <a:pt x="0" y="48"/>
                      </a:lnTo>
                      <a:lnTo>
                        <a:pt x="1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039" name="Line 153"/>
                <p:cNvSpPr>
                  <a:spLocks noChangeShapeType="1"/>
                </p:cNvSpPr>
                <p:nvPr/>
              </p:nvSpPr>
              <p:spPr bwMode="auto">
                <a:xfrm flipV="1">
                  <a:off x="4470" y="1920"/>
                  <a:ext cx="10" cy="56"/>
                </a:xfrm>
                <a:prstGeom prst="line">
                  <a:avLst/>
                </a:prstGeom>
                <a:noFill/>
                <a:ln w="12700">
                  <a:solidFill>
                    <a:srgbClr val="009900"/>
                  </a:solidFill>
                  <a:round/>
                  <a:headEnd/>
                  <a:tailEnd/>
                </a:ln>
              </p:spPr>
              <p:txBody>
                <a:bodyPr wrap="none" anchor="ctr"/>
                <a:lstStyle/>
                <a:p>
                  <a:endParaRPr lang="en-US"/>
                </a:p>
              </p:txBody>
            </p:sp>
            <p:sp>
              <p:nvSpPr>
                <p:cNvPr id="39040" name="Freeform 154"/>
                <p:cNvSpPr>
                  <a:spLocks/>
                </p:cNvSpPr>
                <p:nvPr/>
              </p:nvSpPr>
              <p:spPr bwMode="auto">
                <a:xfrm>
                  <a:off x="4515" y="1916"/>
                  <a:ext cx="118" cy="49"/>
                </a:xfrm>
                <a:custGeom>
                  <a:avLst/>
                  <a:gdLst>
                    <a:gd name="T0" fmla="*/ 0 w 118"/>
                    <a:gd name="T1" fmla="*/ 0 h 49"/>
                    <a:gd name="T2" fmla="*/ 54 w 118"/>
                    <a:gd name="T3" fmla="*/ 24 h 49"/>
                    <a:gd name="T4" fmla="*/ 117 w 118"/>
                    <a:gd name="T5" fmla="*/ 48 h 49"/>
                    <a:gd name="T6" fmla="*/ 0 60000 65536"/>
                    <a:gd name="T7" fmla="*/ 0 60000 65536"/>
                    <a:gd name="T8" fmla="*/ 0 60000 65536"/>
                    <a:gd name="T9" fmla="*/ 0 w 118"/>
                    <a:gd name="T10" fmla="*/ 0 h 49"/>
                    <a:gd name="T11" fmla="*/ 118 w 118"/>
                    <a:gd name="T12" fmla="*/ 49 h 49"/>
                  </a:gdLst>
                  <a:ahLst/>
                  <a:cxnLst>
                    <a:cxn ang="T6">
                      <a:pos x="T0" y="T1"/>
                    </a:cxn>
                    <a:cxn ang="T7">
                      <a:pos x="T2" y="T3"/>
                    </a:cxn>
                    <a:cxn ang="T8">
                      <a:pos x="T4" y="T5"/>
                    </a:cxn>
                  </a:cxnLst>
                  <a:rect l="T9" t="T10" r="T11" b="T12"/>
                  <a:pathLst>
                    <a:path w="118" h="49">
                      <a:moveTo>
                        <a:pt x="0" y="0"/>
                      </a:moveTo>
                      <a:lnTo>
                        <a:pt x="54" y="24"/>
                      </a:lnTo>
                      <a:lnTo>
                        <a:pt x="117" y="48"/>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041" name="Line 155"/>
                <p:cNvSpPr>
                  <a:spLocks noChangeShapeType="1"/>
                </p:cNvSpPr>
                <p:nvPr/>
              </p:nvSpPr>
              <p:spPr bwMode="auto">
                <a:xfrm>
                  <a:off x="4512" y="1926"/>
                  <a:ext cx="118" cy="48"/>
                </a:xfrm>
                <a:prstGeom prst="line">
                  <a:avLst/>
                </a:prstGeom>
                <a:noFill/>
                <a:ln w="12700">
                  <a:solidFill>
                    <a:srgbClr val="009900"/>
                  </a:solidFill>
                  <a:round/>
                  <a:headEnd/>
                  <a:tailEnd/>
                </a:ln>
              </p:spPr>
              <p:txBody>
                <a:bodyPr wrap="none" anchor="ctr"/>
                <a:lstStyle/>
                <a:p>
                  <a:endParaRPr lang="en-US"/>
                </a:p>
              </p:txBody>
            </p:sp>
            <p:sp>
              <p:nvSpPr>
                <p:cNvPr id="39042" name="Freeform 156"/>
                <p:cNvSpPr>
                  <a:spLocks/>
                </p:cNvSpPr>
                <p:nvPr/>
              </p:nvSpPr>
              <p:spPr bwMode="auto">
                <a:xfrm>
                  <a:off x="4407" y="1892"/>
                  <a:ext cx="127" cy="81"/>
                </a:xfrm>
                <a:custGeom>
                  <a:avLst/>
                  <a:gdLst>
                    <a:gd name="T0" fmla="*/ 0 w 127"/>
                    <a:gd name="T1" fmla="*/ 80 h 81"/>
                    <a:gd name="T2" fmla="*/ 18 w 127"/>
                    <a:gd name="T3" fmla="*/ 24 h 81"/>
                    <a:gd name="T4" fmla="*/ 126 w 127"/>
                    <a:gd name="T5" fmla="*/ 0 h 81"/>
                    <a:gd name="T6" fmla="*/ 0 60000 65536"/>
                    <a:gd name="T7" fmla="*/ 0 60000 65536"/>
                    <a:gd name="T8" fmla="*/ 0 60000 65536"/>
                    <a:gd name="T9" fmla="*/ 0 w 127"/>
                    <a:gd name="T10" fmla="*/ 0 h 81"/>
                    <a:gd name="T11" fmla="*/ 127 w 127"/>
                    <a:gd name="T12" fmla="*/ 81 h 81"/>
                  </a:gdLst>
                  <a:ahLst/>
                  <a:cxnLst>
                    <a:cxn ang="T6">
                      <a:pos x="T0" y="T1"/>
                    </a:cxn>
                    <a:cxn ang="T7">
                      <a:pos x="T2" y="T3"/>
                    </a:cxn>
                    <a:cxn ang="T8">
                      <a:pos x="T4" y="T5"/>
                    </a:cxn>
                  </a:cxnLst>
                  <a:rect l="T9" t="T10" r="T11" b="T12"/>
                  <a:pathLst>
                    <a:path w="127" h="81">
                      <a:moveTo>
                        <a:pt x="0" y="80"/>
                      </a:moveTo>
                      <a:lnTo>
                        <a:pt x="18" y="24"/>
                      </a:lnTo>
                      <a:lnTo>
                        <a:pt x="126"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043" name="Freeform 157"/>
                <p:cNvSpPr>
                  <a:spLocks/>
                </p:cNvSpPr>
                <p:nvPr/>
              </p:nvSpPr>
              <p:spPr bwMode="auto">
                <a:xfrm>
                  <a:off x="4407" y="1892"/>
                  <a:ext cx="127" cy="81"/>
                </a:xfrm>
                <a:custGeom>
                  <a:avLst/>
                  <a:gdLst>
                    <a:gd name="T0" fmla="*/ 0 w 127"/>
                    <a:gd name="T1" fmla="*/ 80 h 81"/>
                    <a:gd name="T2" fmla="*/ 36 w 127"/>
                    <a:gd name="T3" fmla="*/ 32 h 81"/>
                    <a:gd name="T4" fmla="*/ 126 w 127"/>
                    <a:gd name="T5" fmla="*/ 0 h 81"/>
                    <a:gd name="T6" fmla="*/ 0 60000 65536"/>
                    <a:gd name="T7" fmla="*/ 0 60000 65536"/>
                    <a:gd name="T8" fmla="*/ 0 60000 65536"/>
                    <a:gd name="T9" fmla="*/ 0 w 127"/>
                    <a:gd name="T10" fmla="*/ 0 h 81"/>
                    <a:gd name="T11" fmla="*/ 127 w 127"/>
                    <a:gd name="T12" fmla="*/ 81 h 81"/>
                  </a:gdLst>
                  <a:ahLst/>
                  <a:cxnLst>
                    <a:cxn ang="T6">
                      <a:pos x="T0" y="T1"/>
                    </a:cxn>
                    <a:cxn ang="T7">
                      <a:pos x="T2" y="T3"/>
                    </a:cxn>
                    <a:cxn ang="T8">
                      <a:pos x="T4" y="T5"/>
                    </a:cxn>
                  </a:cxnLst>
                  <a:rect l="T9" t="T10" r="T11" b="T12"/>
                  <a:pathLst>
                    <a:path w="127" h="81">
                      <a:moveTo>
                        <a:pt x="0" y="80"/>
                      </a:moveTo>
                      <a:lnTo>
                        <a:pt x="36" y="32"/>
                      </a:lnTo>
                      <a:lnTo>
                        <a:pt x="126"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044" name="Freeform 158"/>
                <p:cNvSpPr>
                  <a:spLocks/>
                </p:cNvSpPr>
                <p:nvPr/>
              </p:nvSpPr>
              <p:spPr bwMode="auto">
                <a:xfrm>
                  <a:off x="4272" y="1860"/>
                  <a:ext cx="19" cy="49"/>
                </a:xfrm>
                <a:custGeom>
                  <a:avLst/>
                  <a:gdLst>
                    <a:gd name="T0" fmla="*/ 0 w 19"/>
                    <a:gd name="T1" fmla="*/ 48 h 49"/>
                    <a:gd name="T2" fmla="*/ 0 w 19"/>
                    <a:gd name="T3" fmla="*/ 48 h 49"/>
                    <a:gd name="T4" fmla="*/ 18 w 19"/>
                    <a:gd name="T5" fmla="*/ 0 h 49"/>
                    <a:gd name="T6" fmla="*/ 0 60000 65536"/>
                    <a:gd name="T7" fmla="*/ 0 60000 65536"/>
                    <a:gd name="T8" fmla="*/ 0 60000 65536"/>
                    <a:gd name="T9" fmla="*/ 0 w 19"/>
                    <a:gd name="T10" fmla="*/ 0 h 49"/>
                    <a:gd name="T11" fmla="*/ 19 w 19"/>
                    <a:gd name="T12" fmla="*/ 49 h 49"/>
                  </a:gdLst>
                  <a:ahLst/>
                  <a:cxnLst>
                    <a:cxn ang="T6">
                      <a:pos x="T0" y="T1"/>
                    </a:cxn>
                    <a:cxn ang="T7">
                      <a:pos x="T2" y="T3"/>
                    </a:cxn>
                    <a:cxn ang="T8">
                      <a:pos x="T4" y="T5"/>
                    </a:cxn>
                  </a:cxnLst>
                  <a:rect l="T9" t="T10" r="T11" b="T12"/>
                  <a:pathLst>
                    <a:path w="19" h="49">
                      <a:moveTo>
                        <a:pt x="0" y="48"/>
                      </a:moveTo>
                      <a:lnTo>
                        <a:pt x="0" y="48"/>
                      </a:lnTo>
                      <a:lnTo>
                        <a:pt x="1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045" name="Line 159"/>
                <p:cNvSpPr>
                  <a:spLocks noChangeShapeType="1"/>
                </p:cNvSpPr>
                <p:nvPr/>
              </p:nvSpPr>
              <p:spPr bwMode="auto">
                <a:xfrm flipV="1">
                  <a:off x="4280" y="1856"/>
                  <a:ext cx="11" cy="56"/>
                </a:xfrm>
                <a:prstGeom prst="line">
                  <a:avLst/>
                </a:prstGeom>
                <a:noFill/>
                <a:ln w="12700">
                  <a:solidFill>
                    <a:srgbClr val="009900"/>
                  </a:solidFill>
                  <a:round/>
                  <a:headEnd/>
                  <a:tailEnd/>
                </a:ln>
              </p:spPr>
              <p:txBody>
                <a:bodyPr wrap="none" anchor="ctr"/>
                <a:lstStyle/>
                <a:p>
                  <a:endParaRPr lang="en-US"/>
                </a:p>
              </p:txBody>
            </p:sp>
            <p:sp>
              <p:nvSpPr>
                <p:cNvPr id="39046" name="Freeform 160"/>
                <p:cNvSpPr>
                  <a:spLocks/>
                </p:cNvSpPr>
                <p:nvPr/>
              </p:nvSpPr>
              <p:spPr bwMode="auto">
                <a:xfrm>
                  <a:off x="3978" y="1916"/>
                  <a:ext cx="10" cy="41"/>
                </a:xfrm>
                <a:custGeom>
                  <a:avLst/>
                  <a:gdLst>
                    <a:gd name="T0" fmla="*/ 0 w 10"/>
                    <a:gd name="T1" fmla="*/ 40 h 41"/>
                    <a:gd name="T2" fmla="*/ 0 w 10"/>
                    <a:gd name="T3" fmla="*/ 40 h 41"/>
                    <a:gd name="T4" fmla="*/ 9 w 10"/>
                    <a:gd name="T5" fmla="*/ 0 h 41"/>
                    <a:gd name="T6" fmla="*/ 0 60000 65536"/>
                    <a:gd name="T7" fmla="*/ 0 60000 65536"/>
                    <a:gd name="T8" fmla="*/ 0 60000 65536"/>
                    <a:gd name="T9" fmla="*/ 0 w 10"/>
                    <a:gd name="T10" fmla="*/ 0 h 41"/>
                    <a:gd name="T11" fmla="*/ 10 w 10"/>
                    <a:gd name="T12" fmla="*/ 41 h 41"/>
                  </a:gdLst>
                  <a:ahLst/>
                  <a:cxnLst>
                    <a:cxn ang="T6">
                      <a:pos x="T0" y="T1"/>
                    </a:cxn>
                    <a:cxn ang="T7">
                      <a:pos x="T2" y="T3"/>
                    </a:cxn>
                    <a:cxn ang="T8">
                      <a:pos x="T4" y="T5"/>
                    </a:cxn>
                  </a:cxnLst>
                  <a:rect l="T9" t="T10" r="T11" b="T12"/>
                  <a:pathLst>
                    <a:path w="10" h="41">
                      <a:moveTo>
                        <a:pt x="0" y="40"/>
                      </a:moveTo>
                      <a:lnTo>
                        <a:pt x="0" y="40"/>
                      </a:lnTo>
                      <a:lnTo>
                        <a:pt x="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047" name="Line 161"/>
                <p:cNvSpPr>
                  <a:spLocks noChangeShapeType="1"/>
                </p:cNvSpPr>
                <p:nvPr/>
              </p:nvSpPr>
              <p:spPr bwMode="auto">
                <a:xfrm flipV="1">
                  <a:off x="3986" y="1912"/>
                  <a:ext cx="2" cy="48"/>
                </a:xfrm>
                <a:prstGeom prst="line">
                  <a:avLst/>
                </a:prstGeom>
                <a:noFill/>
                <a:ln w="12700">
                  <a:solidFill>
                    <a:srgbClr val="009900"/>
                  </a:solidFill>
                  <a:round/>
                  <a:headEnd/>
                  <a:tailEnd/>
                </a:ln>
              </p:spPr>
              <p:txBody>
                <a:bodyPr wrap="none" anchor="ctr"/>
                <a:lstStyle/>
                <a:p>
                  <a:endParaRPr lang="en-US"/>
                </a:p>
              </p:txBody>
            </p:sp>
            <p:sp>
              <p:nvSpPr>
                <p:cNvPr id="39048" name="Freeform 162"/>
                <p:cNvSpPr>
                  <a:spLocks/>
                </p:cNvSpPr>
                <p:nvPr/>
              </p:nvSpPr>
              <p:spPr bwMode="auto">
                <a:xfrm>
                  <a:off x="4290" y="1852"/>
                  <a:ext cx="118" cy="49"/>
                </a:xfrm>
                <a:custGeom>
                  <a:avLst/>
                  <a:gdLst>
                    <a:gd name="T0" fmla="*/ 0 w 118"/>
                    <a:gd name="T1" fmla="*/ 0 h 49"/>
                    <a:gd name="T2" fmla="*/ 54 w 118"/>
                    <a:gd name="T3" fmla="*/ 24 h 49"/>
                    <a:gd name="T4" fmla="*/ 117 w 118"/>
                    <a:gd name="T5" fmla="*/ 48 h 49"/>
                    <a:gd name="T6" fmla="*/ 0 60000 65536"/>
                    <a:gd name="T7" fmla="*/ 0 60000 65536"/>
                    <a:gd name="T8" fmla="*/ 0 60000 65536"/>
                    <a:gd name="T9" fmla="*/ 0 w 118"/>
                    <a:gd name="T10" fmla="*/ 0 h 49"/>
                    <a:gd name="T11" fmla="*/ 118 w 118"/>
                    <a:gd name="T12" fmla="*/ 49 h 49"/>
                  </a:gdLst>
                  <a:ahLst/>
                  <a:cxnLst>
                    <a:cxn ang="T6">
                      <a:pos x="T0" y="T1"/>
                    </a:cxn>
                    <a:cxn ang="T7">
                      <a:pos x="T2" y="T3"/>
                    </a:cxn>
                    <a:cxn ang="T8">
                      <a:pos x="T4" y="T5"/>
                    </a:cxn>
                  </a:cxnLst>
                  <a:rect l="T9" t="T10" r="T11" b="T12"/>
                  <a:pathLst>
                    <a:path w="118" h="49">
                      <a:moveTo>
                        <a:pt x="0" y="0"/>
                      </a:moveTo>
                      <a:lnTo>
                        <a:pt x="54" y="24"/>
                      </a:lnTo>
                      <a:lnTo>
                        <a:pt x="117" y="48"/>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049" name="Line 163"/>
                <p:cNvSpPr>
                  <a:spLocks noChangeShapeType="1"/>
                </p:cNvSpPr>
                <p:nvPr/>
              </p:nvSpPr>
              <p:spPr bwMode="auto">
                <a:xfrm>
                  <a:off x="4290" y="1864"/>
                  <a:ext cx="117" cy="48"/>
                </a:xfrm>
                <a:prstGeom prst="line">
                  <a:avLst/>
                </a:prstGeom>
                <a:noFill/>
                <a:ln w="12700">
                  <a:solidFill>
                    <a:srgbClr val="009900"/>
                  </a:solidFill>
                  <a:round/>
                  <a:headEnd/>
                  <a:tailEnd/>
                </a:ln>
              </p:spPr>
              <p:txBody>
                <a:bodyPr wrap="none" anchor="ctr"/>
                <a:lstStyle/>
                <a:p>
                  <a:endParaRPr lang="en-US"/>
                </a:p>
              </p:txBody>
            </p:sp>
            <p:sp>
              <p:nvSpPr>
                <p:cNvPr id="39050" name="Freeform 164"/>
                <p:cNvSpPr>
                  <a:spLocks/>
                </p:cNvSpPr>
                <p:nvPr/>
              </p:nvSpPr>
              <p:spPr bwMode="auto">
                <a:xfrm>
                  <a:off x="4425" y="1852"/>
                  <a:ext cx="127" cy="73"/>
                </a:xfrm>
                <a:custGeom>
                  <a:avLst/>
                  <a:gdLst>
                    <a:gd name="T0" fmla="*/ 0 w 127"/>
                    <a:gd name="T1" fmla="*/ 72 h 73"/>
                    <a:gd name="T2" fmla="*/ 18 w 127"/>
                    <a:gd name="T3" fmla="*/ 24 h 73"/>
                    <a:gd name="T4" fmla="*/ 126 w 127"/>
                    <a:gd name="T5" fmla="*/ 0 h 73"/>
                    <a:gd name="T6" fmla="*/ 0 60000 65536"/>
                    <a:gd name="T7" fmla="*/ 0 60000 65536"/>
                    <a:gd name="T8" fmla="*/ 0 60000 65536"/>
                    <a:gd name="T9" fmla="*/ 0 w 127"/>
                    <a:gd name="T10" fmla="*/ 0 h 73"/>
                    <a:gd name="T11" fmla="*/ 127 w 127"/>
                    <a:gd name="T12" fmla="*/ 73 h 73"/>
                  </a:gdLst>
                  <a:ahLst/>
                  <a:cxnLst>
                    <a:cxn ang="T6">
                      <a:pos x="T0" y="T1"/>
                    </a:cxn>
                    <a:cxn ang="T7">
                      <a:pos x="T2" y="T3"/>
                    </a:cxn>
                    <a:cxn ang="T8">
                      <a:pos x="T4" y="T5"/>
                    </a:cxn>
                  </a:cxnLst>
                  <a:rect l="T9" t="T10" r="T11" b="T12"/>
                  <a:pathLst>
                    <a:path w="127" h="73">
                      <a:moveTo>
                        <a:pt x="0" y="72"/>
                      </a:moveTo>
                      <a:lnTo>
                        <a:pt x="18" y="24"/>
                      </a:lnTo>
                      <a:lnTo>
                        <a:pt x="126"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051" name="Freeform 165"/>
                <p:cNvSpPr>
                  <a:spLocks/>
                </p:cNvSpPr>
                <p:nvPr/>
              </p:nvSpPr>
              <p:spPr bwMode="auto">
                <a:xfrm>
                  <a:off x="4439" y="1862"/>
                  <a:ext cx="127" cy="73"/>
                </a:xfrm>
                <a:custGeom>
                  <a:avLst/>
                  <a:gdLst>
                    <a:gd name="T0" fmla="*/ 0 w 127"/>
                    <a:gd name="T1" fmla="*/ 72 h 73"/>
                    <a:gd name="T2" fmla="*/ 36 w 127"/>
                    <a:gd name="T3" fmla="*/ 24 h 73"/>
                    <a:gd name="T4" fmla="*/ 126 w 127"/>
                    <a:gd name="T5" fmla="*/ 0 h 73"/>
                    <a:gd name="T6" fmla="*/ 0 60000 65536"/>
                    <a:gd name="T7" fmla="*/ 0 60000 65536"/>
                    <a:gd name="T8" fmla="*/ 0 60000 65536"/>
                    <a:gd name="T9" fmla="*/ 0 w 127"/>
                    <a:gd name="T10" fmla="*/ 0 h 73"/>
                    <a:gd name="T11" fmla="*/ 127 w 127"/>
                    <a:gd name="T12" fmla="*/ 73 h 73"/>
                  </a:gdLst>
                  <a:ahLst/>
                  <a:cxnLst>
                    <a:cxn ang="T6">
                      <a:pos x="T0" y="T1"/>
                    </a:cxn>
                    <a:cxn ang="T7">
                      <a:pos x="T2" y="T3"/>
                    </a:cxn>
                    <a:cxn ang="T8">
                      <a:pos x="T4" y="T5"/>
                    </a:cxn>
                  </a:cxnLst>
                  <a:rect l="T9" t="T10" r="T11" b="T12"/>
                  <a:pathLst>
                    <a:path w="127" h="73">
                      <a:moveTo>
                        <a:pt x="0" y="72"/>
                      </a:moveTo>
                      <a:lnTo>
                        <a:pt x="36" y="24"/>
                      </a:lnTo>
                      <a:lnTo>
                        <a:pt x="126"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052" name="Freeform 166"/>
                <p:cNvSpPr>
                  <a:spLocks/>
                </p:cNvSpPr>
                <p:nvPr/>
              </p:nvSpPr>
              <p:spPr bwMode="auto">
                <a:xfrm>
                  <a:off x="4288" y="2020"/>
                  <a:ext cx="289" cy="145"/>
                </a:xfrm>
                <a:custGeom>
                  <a:avLst/>
                  <a:gdLst>
                    <a:gd name="T0" fmla="*/ 0 w 289"/>
                    <a:gd name="T1" fmla="*/ 144 h 145"/>
                    <a:gd name="T2" fmla="*/ 63 w 289"/>
                    <a:gd name="T3" fmla="*/ 88 h 145"/>
                    <a:gd name="T4" fmla="*/ 288 w 289"/>
                    <a:gd name="T5" fmla="*/ 0 h 145"/>
                    <a:gd name="T6" fmla="*/ 0 60000 65536"/>
                    <a:gd name="T7" fmla="*/ 0 60000 65536"/>
                    <a:gd name="T8" fmla="*/ 0 60000 65536"/>
                    <a:gd name="T9" fmla="*/ 0 w 289"/>
                    <a:gd name="T10" fmla="*/ 0 h 145"/>
                    <a:gd name="T11" fmla="*/ 289 w 289"/>
                    <a:gd name="T12" fmla="*/ 145 h 145"/>
                  </a:gdLst>
                  <a:ahLst/>
                  <a:cxnLst>
                    <a:cxn ang="T6">
                      <a:pos x="T0" y="T1"/>
                    </a:cxn>
                    <a:cxn ang="T7">
                      <a:pos x="T2" y="T3"/>
                    </a:cxn>
                    <a:cxn ang="T8">
                      <a:pos x="T4" y="T5"/>
                    </a:cxn>
                  </a:cxnLst>
                  <a:rect l="T9" t="T10" r="T11" b="T12"/>
                  <a:pathLst>
                    <a:path w="289" h="145">
                      <a:moveTo>
                        <a:pt x="0" y="144"/>
                      </a:moveTo>
                      <a:lnTo>
                        <a:pt x="63" y="88"/>
                      </a:lnTo>
                      <a:lnTo>
                        <a:pt x="28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053" name="Freeform 167"/>
                <p:cNvSpPr>
                  <a:spLocks/>
                </p:cNvSpPr>
                <p:nvPr/>
              </p:nvSpPr>
              <p:spPr bwMode="auto">
                <a:xfrm flipH="1">
                  <a:off x="4245" y="2026"/>
                  <a:ext cx="47" cy="145"/>
                </a:xfrm>
                <a:custGeom>
                  <a:avLst/>
                  <a:gdLst>
                    <a:gd name="T0" fmla="*/ 0 w 290"/>
                    <a:gd name="T1" fmla="*/ 144 h 145"/>
                    <a:gd name="T2" fmla="*/ 0 w 290"/>
                    <a:gd name="T3" fmla="*/ 112 h 145"/>
                    <a:gd name="T4" fmla="*/ 0 w 290"/>
                    <a:gd name="T5" fmla="*/ 72 h 145"/>
                    <a:gd name="T6" fmla="*/ 1 w 290"/>
                    <a:gd name="T7" fmla="*/ 40 h 145"/>
                    <a:gd name="T8" fmla="*/ 1 w 290"/>
                    <a:gd name="T9" fmla="*/ 0 h 145"/>
                    <a:gd name="T10" fmla="*/ 0 60000 65536"/>
                    <a:gd name="T11" fmla="*/ 0 60000 65536"/>
                    <a:gd name="T12" fmla="*/ 0 60000 65536"/>
                    <a:gd name="T13" fmla="*/ 0 60000 65536"/>
                    <a:gd name="T14" fmla="*/ 0 60000 65536"/>
                    <a:gd name="T15" fmla="*/ 0 w 290"/>
                    <a:gd name="T16" fmla="*/ 0 h 145"/>
                    <a:gd name="T17" fmla="*/ 290 w 290"/>
                    <a:gd name="T18" fmla="*/ 145 h 145"/>
                  </a:gdLst>
                  <a:ahLst/>
                  <a:cxnLst>
                    <a:cxn ang="T10">
                      <a:pos x="T0" y="T1"/>
                    </a:cxn>
                    <a:cxn ang="T11">
                      <a:pos x="T2" y="T3"/>
                    </a:cxn>
                    <a:cxn ang="T12">
                      <a:pos x="T4" y="T5"/>
                    </a:cxn>
                    <a:cxn ang="T13">
                      <a:pos x="T6" y="T7"/>
                    </a:cxn>
                    <a:cxn ang="T14">
                      <a:pos x="T8" y="T9"/>
                    </a:cxn>
                  </a:cxnLst>
                  <a:rect l="T15" t="T16" r="T17" b="T18"/>
                  <a:pathLst>
                    <a:path w="290" h="145">
                      <a:moveTo>
                        <a:pt x="0" y="144"/>
                      </a:moveTo>
                      <a:lnTo>
                        <a:pt x="36" y="112"/>
                      </a:lnTo>
                      <a:lnTo>
                        <a:pt x="99" y="72"/>
                      </a:lnTo>
                      <a:lnTo>
                        <a:pt x="181" y="40"/>
                      </a:lnTo>
                      <a:lnTo>
                        <a:pt x="28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054" name="Freeform 168"/>
                <p:cNvSpPr>
                  <a:spLocks/>
                </p:cNvSpPr>
                <p:nvPr/>
              </p:nvSpPr>
              <p:spPr bwMode="auto">
                <a:xfrm>
                  <a:off x="4021" y="2052"/>
                  <a:ext cx="19" cy="41"/>
                </a:xfrm>
                <a:custGeom>
                  <a:avLst/>
                  <a:gdLst>
                    <a:gd name="T0" fmla="*/ 0 w 19"/>
                    <a:gd name="T1" fmla="*/ 40 h 41"/>
                    <a:gd name="T2" fmla="*/ 0 w 19"/>
                    <a:gd name="T3" fmla="*/ 40 h 41"/>
                    <a:gd name="T4" fmla="*/ 18 w 19"/>
                    <a:gd name="T5" fmla="*/ 0 h 41"/>
                    <a:gd name="T6" fmla="*/ 0 60000 65536"/>
                    <a:gd name="T7" fmla="*/ 0 60000 65536"/>
                    <a:gd name="T8" fmla="*/ 0 60000 65536"/>
                    <a:gd name="T9" fmla="*/ 0 w 19"/>
                    <a:gd name="T10" fmla="*/ 0 h 41"/>
                    <a:gd name="T11" fmla="*/ 19 w 19"/>
                    <a:gd name="T12" fmla="*/ 41 h 41"/>
                  </a:gdLst>
                  <a:ahLst/>
                  <a:cxnLst>
                    <a:cxn ang="T6">
                      <a:pos x="T0" y="T1"/>
                    </a:cxn>
                    <a:cxn ang="T7">
                      <a:pos x="T2" y="T3"/>
                    </a:cxn>
                    <a:cxn ang="T8">
                      <a:pos x="T4" y="T5"/>
                    </a:cxn>
                  </a:cxnLst>
                  <a:rect l="T9" t="T10" r="T11" b="T12"/>
                  <a:pathLst>
                    <a:path w="19" h="41">
                      <a:moveTo>
                        <a:pt x="0" y="40"/>
                      </a:moveTo>
                      <a:lnTo>
                        <a:pt x="0" y="40"/>
                      </a:lnTo>
                      <a:lnTo>
                        <a:pt x="1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055" name="Line 169"/>
                <p:cNvSpPr>
                  <a:spLocks noChangeShapeType="1"/>
                </p:cNvSpPr>
                <p:nvPr/>
              </p:nvSpPr>
              <p:spPr bwMode="auto">
                <a:xfrm flipV="1">
                  <a:off x="4025" y="2048"/>
                  <a:ext cx="19" cy="56"/>
                </a:xfrm>
                <a:prstGeom prst="line">
                  <a:avLst/>
                </a:prstGeom>
                <a:noFill/>
                <a:ln w="12700">
                  <a:solidFill>
                    <a:srgbClr val="009900"/>
                  </a:solidFill>
                  <a:round/>
                  <a:headEnd/>
                  <a:tailEnd/>
                </a:ln>
              </p:spPr>
              <p:txBody>
                <a:bodyPr wrap="none" anchor="ctr"/>
                <a:lstStyle/>
                <a:p>
                  <a:endParaRPr lang="en-US"/>
                </a:p>
              </p:txBody>
            </p:sp>
            <p:sp>
              <p:nvSpPr>
                <p:cNvPr id="39056" name="Freeform 170"/>
                <p:cNvSpPr>
                  <a:spLocks/>
                </p:cNvSpPr>
                <p:nvPr/>
              </p:nvSpPr>
              <p:spPr bwMode="auto">
                <a:xfrm rot="1520041">
                  <a:off x="4345" y="2026"/>
                  <a:ext cx="55" cy="129"/>
                </a:xfrm>
                <a:custGeom>
                  <a:avLst/>
                  <a:gdLst>
                    <a:gd name="T0" fmla="*/ 54 w 55"/>
                    <a:gd name="T1" fmla="*/ 128 h 129"/>
                    <a:gd name="T2" fmla="*/ 18 w 55"/>
                    <a:gd name="T3" fmla="*/ 80 h 129"/>
                    <a:gd name="T4" fmla="*/ 0 w 55"/>
                    <a:gd name="T5" fmla="*/ 0 h 129"/>
                    <a:gd name="T6" fmla="*/ 0 60000 65536"/>
                    <a:gd name="T7" fmla="*/ 0 60000 65536"/>
                    <a:gd name="T8" fmla="*/ 0 60000 65536"/>
                    <a:gd name="T9" fmla="*/ 0 w 55"/>
                    <a:gd name="T10" fmla="*/ 0 h 129"/>
                    <a:gd name="T11" fmla="*/ 55 w 55"/>
                    <a:gd name="T12" fmla="*/ 129 h 129"/>
                  </a:gdLst>
                  <a:ahLst/>
                  <a:cxnLst>
                    <a:cxn ang="T6">
                      <a:pos x="T0" y="T1"/>
                    </a:cxn>
                    <a:cxn ang="T7">
                      <a:pos x="T2" y="T3"/>
                    </a:cxn>
                    <a:cxn ang="T8">
                      <a:pos x="T4" y="T5"/>
                    </a:cxn>
                  </a:cxnLst>
                  <a:rect l="T9" t="T10" r="T11" b="T12"/>
                  <a:pathLst>
                    <a:path w="55" h="129">
                      <a:moveTo>
                        <a:pt x="54" y="128"/>
                      </a:moveTo>
                      <a:lnTo>
                        <a:pt x="18" y="80"/>
                      </a:lnTo>
                      <a:lnTo>
                        <a:pt x="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057" name="Freeform 171"/>
                <p:cNvSpPr>
                  <a:spLocks/>
                </p:cNvSpPr>
                <p:nvPr/>
              </p:nvSpPr>
              <p:spPr bwMode="auto">
                <a:xfrm>
                  <a:off x="4012" y="1988"/>
                  <a:ext cx="28" cy="153"/>
                </a:xfrm>
                <a:custGeom>
                  <a:avLst/>
                  <a:gdLst>
                    <a:gd name="T0" fmla="*/ 27 w 28"/>
                    <a:gd name="T1" fmla="*/ 152 h 153"/>
                    <a:gd name="T2" fmla="*/ 27 w 28"/>
                    <a:gd name="T3" fmla="*/ 152 h 153"/>
                    <a:gd name="T4" fmla="*/ 0 w 28"/>
                    <a:gd name="T5" fmla="*/ 0 h 153"/>
                    <a:gd name="T6" fmla="*/ 0 60000 65536"/>
                    <a:gd name="T7" fmla="*/ 0 60000 65536"/>
                    <a:gd name="T8" fmla="*/ 0 60000 65536"/>
                    <a:gd name="T9" fmla="*/ 0 w 28"/>
                    <a:gd name="T10" fmla="*/ 0 h 153"/>
                    <a:gd name="T11" fmla="*/ 28 w 28"/>
                    <a:gd name="T12" fmla="*/ 153 h 153"/>
                  </a:gdLst>
                  <a:ahLst/>
                  <a:cxnLst>
                    <a:cxn ang="T6">
                      <a:pos x="T0" y="T1"/>
                    </a:cxn>
                    <a:cxn ang="T7">
                      <a:pos x="T2" y="T3"/>
                    </a:cxn>
                    <a:cxn ang="T8">
                      <a:pos x="T4" y="T5"/>
                    </a:cxn>
                  </a:cxnLst>
                  <a:rect l="T9" t="T10" r="T11" b="T12"/>
                  <a:pathLst>
                    <a:path w="28" h="153">
                      <a:moveTo>
                        <a:pt x="27" y="152"/>
                      </a:moveTo>
                      <a:lnTo>
                        <a:pt x="27" y="152"/>
                      </a:lnTo>
                      <a:lnTo>
                        <a:pt x="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058" name="Line 172"/>
                <p:cNvSpPr>
                  <a:spLocks noChangeShapeType="1"/>
                </p:cNvSpPr>
                <p:nvPr/>
              </p:nvSpPr>
              <p:spPr bwMode="auto">
                <a:xfrm flipH="1" flipV="1">
                  <a:off x="4013" y="1984"/>
                  <a:ext cx="34" cy="160"/>
                </a:xfrm>
                <a:prstGeom prst="line">
                  <a:avLst/>
                </a:prstGeom>
                <a:noFill/>
                <a:ln w="12700">
                  <a:solidFill>
                    <a:srgbClr val="009900"/>
                  </a:solidFill>
                  <a:round/>
                  <a:headEnd/>
                  <a:tailEnd/>
                </a:ln>
              </p:spPr>
              <p:txBody>
                <a:bodyPr wrap="none" anchor="ctr"/>
                <a:lstStyle/>
                <a:p>
                  <a:endParaRPr lang="en-US"/>
                </a:p>
              </p:txBody>
            </p:sp>
            <p:sp>
              <p:nvSpPr>
                <p:cNvPr id="39059" name="Freeform 173"/>
                <p:cNvSpPr>
                  <a:spLocks/>
                </p:cNvSpPr>
                <p:nvPr/>
              </p:nvSpPr>
              <p:spPr bwMode="auto">
                <a:xfrm>
                  <a:off x="4198" y="2100"/>
                  <a:ext cx="10" cy="49"/>
                </a:xfrm>
                <a:custGeom>
                  <a:avLst/>
                  <a:gdLst>
                    <a:gd name="T0" fmla="*/ 0 w 10"/>
                    <a:gd name="T1" fmla="*/ 48 h 49"/>
                    <a:gd name="T2" fmla="*/ 0 w 10"/>
                    <a:gd name="T3" fmla="*/ 48 h 49"/>
                    <a:gd name="T4" fmla="*/ 9 w 10"/>
                    <a:gd name="T5" fmla="*/ 0 h 49"/>
                    <a:gd name="T6" fmla="*/ 0 60000 65536"/>
                    <a:gd name="T7" fmla="*/ 0 60000 65536"/>
                    <a:gd name="T8" fmla="*/ 0 60000 65536"/>
                    <a:gd name="T9" fmla="*/ 0 w 10"/>
                    <a:gd name="T10" fmla="*/ 0 h 49"/>
                    <a:gd name="T11" fmla="*/ 10 w 10"/>
                    <a:gd name="T12" fmla="*/ 49 h 49"/>
                  </a:gdLst>
                  <a:ahLst/>
                  <a:cxnLst>
                    <a:cxn ang="T6">
                      <a:pos x="T0" y="T1"/>
                    </a:cxn>
                    <a:cxn ang="T7">
                      <a:pos x="T2" y="T3"/>
                    </a:cxn>
                    <a:cxn ang="T8">
                      <a:pos x="T4" y="T5"/>
                    </a:cxn>
                  </a:cxnLst>
                  <a:rect l="T9" t="T10" r="T11" b="T12"/>
                  <a:pathLst>
                    <a:path w="10" h="49">
                      <a:moveTo>
                        <a:pt x="0" y="48"/>
                      </a:moveTo>
                      <a:lnTo>
                        <a:pt x="0" y="48"/>
                      </a:lnTo>
                      <a:lnTo>
                        <a:pt x="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060" name="Line 174"/>
                <p:cNvSpPr>
                  <a:spLocks noChangeShapeType="1"/>
                </p:cNvSpPr>
                <p:nvPr/>
              </p:nvSpPr>
              <p:spPr bwMode="auto">
                <a:xfrm flipV="1">
                  <a:off x="4206" y="2096"/>
                  <a:ext cx="1" cy="56"/>
                </a:xfrm>
                <a:prstGeom prst="line">
                  <a:avLst/>
                </a:prstGeom>
                <a:noFill/>
                <a:ln w="12700">
                  <a:solidFill>
                    <a:srgbClr val="009900"/>
                  </a:solidFill>
                  <a:round/>
                  <a:headEnd/>
                  <a:tailEnd/>
                </a:ln>
              </p:spPr>
              <p:txBody>
                <a:bodyPr wrap="none" anchor="ctr"/>
                <a:lstStyle/>
                <a:p>
                  <a:endParaRPr lang="en-US"/>
                </a:p>
              </p:txBody>
            </p:sp>
            <p:sp>
              <p:nvSpPr>
                <p:cNvPr id="39061" name="Freeform 175"/>
                <p:cNvSpPr>
                  <a:spLocks/>
                </p:cNvSpPr>
                <p:nvPr/>
              </p:nvSpPr>
              <p:spPr bwMode="auto">
                <a:xfrm>
                  <a:off x="4075" y="2044"/>
                  <a:ext cx="19" cy="49"/>
                </a:xfrm>
                <a:custGeom>
                  <a:avLst/>
                  <a:gdLst>
                    <a:gd name="T0" fmla="*/ 0 w 19"/>
                    <a:gd name="T1" fmla="*/ 48 h 49"/>
                    <a:gd name="T2" fmla="*/ 0 w 19"/>
                    <a:gd name="T3" fmla="*/ 48 h 49"/>
                    <a:gd name="T4" fmla="*/ 18 w 19"/>
                    <a:gd name="T5" fmla="*/ 0 h 49"/>
                    <a:gd name="T6" fmla="*/ 0 60000 65536"/>
                    <a:gd name="T7" fmla="*/ 0 60000 65536"/>
                    <a:gd name="T8" fmla="*/ 0 60000 65536"/>
                    <a:gd name="T9" fmla="*/ 0 w 19"/>
                    <a:gd name="T10" fmla="*/ 0 h 49"/>
                    <a:gd name="T11" fmla="*/ 19 w 19"/>
                    <a:gd name="T12" fmla="*/ 49 h 49"/>
                  </a:gdLst>
                  <a:ahLst/>
                  <a:cxnLst>
                    <a:cxn ang="T6">
                      <a:pos x="T0" y="T1"/>
                    </a:cxn>
                    <a:cxn ang="T7">
                      <a:pos x="T2" y="T3"/>
                    </a:cxn>
                    <a:cxn ang="T8">
                      <a:pos x="T4" y="T5"/>
                    </a:cxn>
                  </a:cxnLst>
                  <a:rect l="T9" t="T10" r="T11" b="T12"/>
                  <a:pathLst>
                    <a:path w="19" h="49">
                      <a:moveTo>
                        <a:pt x="0" y="48"/>
                      </a:moveTo>
                      <a:lnTo>
                        <a:pt x="0" y="48"/>
                      </a:lnTo>
                      <a:lnTo>
                        <a:pt x="1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062" name="Line 176"/>
                <p:cNvSpPr>
                  <a:spLocks noChangeShapeType="1"/>
                </p:cNvSpPr>
                <p:nvPr/>
              </p:nvSpPr>
              <p:spPr bwMode="auto">
                <a:xfrm flipV="1">
                  <a:off x="4084" y="2040"/>
                  <a:ext cx="9" cy="56"/>
                </a:xfrm>
                <a:prstGeom prst="line">
                  <a:avLst/>
                </a:prstGeom>
                <a:noFill/>
                <a:ln w="12700">
                  <a:solidFill>
                    <a:srgbClr val="009900"/>
                  </a:solidFill>
                  <a:round/>
                  <a:headEnd/>
                  <a:tailEnd/>
                </a:ln>
              </p:spPr>
              <p:txBody>
                <a:bodyPr wrap="none" anchor="ctr"/>
                <a:lstStyle/>
                <a:p>
                  <a:endParaRPr lang="en-US"/>
                </a:p>
              </p:txBody>
            </p:sp>
            <p:sp>
              <p:nvSpPr>
                <p:cNvPr id="39063" name="Freeform 177"/>
                <p:cNvSpPr>
                  <a:spLocks/>
                </p:cNvSpPr>
                <p:nvPr/>
              </p:nvSpPr>
              <p:spPr bwMode="auto">
                <a:xfrm>
                  <a:off x="4057" y="2026"/>
                  <a:ext cx="96" cy="96"/>
                </a:xfrm>
                <a:custGeom>
                  <a:avLst/>
                  <a:gdLst>
                    <a:gd name="T0" fmla="*/ 2324 w 19"/>
                    <a:gd name="T1" fmla="*/ 38 h 153"/>
                    <a:gd name="T2" fmla="*/ 2324 w 19"/>
                    <a:gd name="T3" fmla="*/ 38 h 153"/>
                    <a:gd name="T4" fmla="*/ 0 w 19"/>
                    <a:gd name="T5" fmla="*/ 0 h 153"/>
                    <a:gd name="T6" fmla="*/ 0 60000 65536"/>
                    <a:gd name="T7" fmla="*/ 0 60000 65536"/>
                    <a:gd name="T8" fmla="*/ 0 60000 65536"/>
                    <a:gd name="T9" fmla="*/ 0 w 19"/>
                    <a:gd name="T10" fmla="*/ 0 h 153"/>
                    <a:gd name="T11" fmla="*/ 19 w 19"/>
                    <a:gd name="T12" fmla="*/ 153 h 153"/>
                  </a:gdLst>
                  <a:ahLst/>
                  <a:cxnLst>
                    <a:cxn ang="T6">
                      <a:pos x="T0" y="T1"/>
                    </a:cxn>
                    <a:cxn ang="T7">
                      <a:pos x="T2" y="T3"/>
                    </a:cxn>
                    <a:cxn ang="T8">
                      <a:pos x="T4" y="T5"/>
                    </a:cxn>
                  </a:cxnLst>
                  <a:rect l="T9" t="T10" r="T11" b="T12"/>
                  <a:pathLst>
                    <a:path w="19" h="153">
                      <a:moveTo>
                        <a:pt x="18" y="152"/>
                      </a:moveTo>
                      <a:lnTo>
                        <a:pt x="18" y="152"/>
                      </a:lnTo>
                      <a:lnTo>
                        <a:pt x="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064" name="Freeform 178"/>
                <p:cNvSpPr>
                  <a:spLocks/>
                </p:cNvSpPr>
                <p:nvPr/>
              </p:nvSpPr>
              <p:spPr bwMode="auto">
                <a:xfrm>
                  <a:off x="4162" y="2124"/>
                  <a:ext cx="19" cy="41"/>
                </a:xfrm>
                <a:custGeom>
                  <a:avLst/>
                  <a:gdLst>
                    <a:gd name="T0" fmla="*/ 0 w 19"/>
                    <a:gd name="T1" fmla="*/ 40 h 41"/>
                    <a:gd name="T2" fmla="*/ 0 w 19"/>
                    <a:gd name="T3" fmla="*/ 40 h 41"/>
                    <a:gd name="T4" fmla="*/ 18 w 19"/>
                    <a:gd name="T5" fmla="*/ 0 h 41"/>
                    <a:gd name="T6" fmla="*/ 0 60000 65536"/>
                    <a:gd name="T7" fmla="*/ 0 60000 65536"/>
                    <a:gd name="T8" fmla="*/ 0 60000 65536"/>
                    <a:gd name="T9" fmla="*/ 0 w 19"/>
                    <a:gd name="T10" fmla="*/ 0 h 41"/>
                    <a:gd name="T11" fmla="*/ 19 w 19"/>
                    <a:gd name="T12" fmla="*/ 41 h 41"/>
                  </a:gdLst>
                  <a:ahLst/>
                  <a:cxnLst>
                    <a:cxn ang="T6">
                      <a:pos x="T0" y="T1"/>
                    </a:cxn>
                    <a:cxn ang="T7">
                      <a:pos x="T2" y="T3"/>
                    </a:cxn>
                    <a:cxn ang="T8">
                      <a:pos x="T4" y="T5"/>
                    </a:cxn>
                  </a:cxnLst>
                  <a:rect l="T9" t="T10" r="T11" b="T12"/>
                  <a:pathLst>
                    <a:path w="19" h="41">
                      <a:moveTo>
                        <a:pt x="0" y="40"/>
                      </a:moveTo>
                      <a:lnTo>
                        <a:pt x="0" y="40"/>
                      </a:lnTo>
                      <a:lnTo>
                        <a:pt x="1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065" name="Line 179"/>
                <p:cNvSpPr>
                  <a:spLocks noChangeShapeType="1"/>
                </p:cNvSpPr>
                <p:nvPr/>
              </p:nvSpPr>
              <p:spPr bwMode="auto">
                <a:xfrm flipV="1">
                  <a:off x="4166" y="2120"/>
                  <a:ext cx="19" cy="56"/>
                </a:xfrm>
                <a:prstGeom prst="line">
                  <a:avLst/>
                </a:prstGeom>
                <a:noFill/>
                <a:ln w="12700">
                  <a:solidFill>
                    <a:srgbClr val="009900"/>
                  </a:solidFill>
                  <a:round/>
                  <a:headEnd/>
                  <a:tailEnd/>
                </a:ln>
              </p:spPr>
              <p:txBody>
                <a:bodyPr wrap="none" anchor="ctr"/>
                <a:lstStyle/>
                <a:p>
                  <a:endParaRPr lang="en-US"/>
                </a:p>
              </p:txBody>
            </p:sp>
            <p:sp>
              <p:nvSpPr>
                <p:cNvPr id="39066" name="Freeform 180"/>
                <p:cNvSpPr>
                  <a:spLocks/>
                </p:cNvSpPr>
                <p:nvPr/>
              </p:nvSpPr>
              <p:spPr bwMode="auto">
                <a:xfrm>
                  <a:off x="4342" y="2044"/>
                  <a:ext cx="181" cy="49"/>
                </a:xfrm>
                <a:custGeom>
                  <a:avLst/>
                  <a:gdLst>
                    <a:gd name="T0" fmla="*/ 0 w 181"/>
                    <a:gd name="T1" fmla="*/ 48 h 49"/>
                    <a:gd name="T2" fmla="*/ 162 w 181"/>
                    <a:gd name="T3" fmla="*/ 40 h 49"/>
                    <a:gd name="T4" fmla="*/ 180 w 181"/>
                    <a:gd name="T5" fmla="*/ 0 h 49"/>
                    <a:gd name="T6" fmla="*/ 0 60000 65536"/>
                    <a:gd name="T7" fmla="*/ 0 60000 65536"/>
                    <a:gd name="T8" fmla="*/ 0 60000 65536"/>
                    <a:gd name="T9" fmla="*/ 0 w 181"/>
                    <a:gd name="T10" fmla="*/ 0 h 49"/>
                    <a:gd name="T11" fmla="*/ 181 w 181"/>
                    <a:gd name="T12" fmla="*/ 49 h 49"/>
                  </a:gdLst>
                  <a:ahLst/>
                  <a:cxnLst>
                    <a:cxn ang="T6">
                      <a:pos x="T0" y="T1"/>
                    </a:cxn>
                    <a:cxn ang="T7">
                      <a:pos x="T2" y="T3"/>
                    </a:cxn>
                    <a:cxn ang="T8">
                      <a:pos x="T4" y="T5"/>
                    </a:cxn>
                  </a:cxnLst>
                  <a:rect l="T9" t="T10" r="T11" b="T12"/>
                  <a:pathLst>
                    <a:path w="181" h="49">
                      <a:moveTo>
                        <a:pt x="0" y="48"/>
                      </a:moveTo>
                      <a:lnTo>
                        <a:pt x="162" y="40"/>
                      </a:lnTo>
                      <a:lnTo>
                        <a:pt x="18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067" name="Freeform 181"/>
                <p:cNvSpPr>
                  <a:spLocks/>
                </p:cNvSpPr>
                <p:nvPr/>
              </p:nvSpPr>
              <p:spPr bwMode="auto">
                <a:xfrm>
                  <a:off x="4342" y="2044"/>
                  <a:ext cx="181" cy="49"/>
                </a:xfrm>
                <a:custGeom>
                  <a:avLst/>
                  <a:gdLst>
                    <a:gd name="T0" fmla="*/ 0 w 181"/>
                    <a:gd name="T1" fmla="*/ 48 h 49"/>
                    <a:gd name="T2" fmla="*/ 72 w 181"/>
                    <a:gd name="T3" fmla="*/ 40 h 49"/>
                    <a:gd name="T4" fmla="*/ 126 w 181"/>
                    <a:gd name="T5" fmla="*/ 24 h 49"/>
                    <a:gd name="T6" fmla="*/ 162 w 181"/>
                    <a:gd name="T7" fmla="*/ 16 h 49"/>
                    <a:gd name="T8" fmla="*/ 180 w 181"/>
                    <a:gd name="T9" fmla="*/ 0 h 49"/>
                    <a:gd name="T10" fmla="*/ 0 60000 65536"/>
                    <a:gd name="T11" fmla="*/ 0 60000 65536"/>
                    <a:gd name="T12" fmla="*/ 0 60000 65536"/>
                    <a:gd name="T13" fmla="*/ 0 60000 65536"/>
                    <a:gd name="T14" fmla="*/ 0 60000 65536"/>
                    <a:gd name="T15" fmla="*/ 0 w 181"/>
                    <a:gd name="T16" fmla="*/ 0 h 49"/>
                    <a:gd name="T17" fmla="*/ 181 w 181"/>
                    <a:gd name="T18" fmla="*/ 49 h 49"/>
                  </a:gdLst>
                  <a:ahLst/>
                  <a:cxnLst>
                    <a:cxn ang="T10">
                      <a:pos x="T0" y="T1"/>
                    </a:cxn>
                    <a:cxn ang="T11">
                      <a:pos x="T2" y="T3"/>
                    </a:cxn>
                    <a:cxn ang="T12">
                      <a:pos x="T4" y="T5"/>
                    </a:cxn>
                    <a:cxn ang="T13">
                      <a:pos x="T6" y="T7"/>
                    </a:cxn>
                    <a:cxn ang="T14">
                      <a:pos x="T8" y="T9"/>
                    </a:cxn>
                  </a:cxnLst>
                  <a:rect l="T15" t="T16" r="T17" b="T18"/>
                  <a:pathLst>
                    <a:path w="181" h="49">
                      <a:moveTo>
                        <a:pt x="0" y="48"/>
                      </a:moveTo>
                      <a:lnTo>
                        <a:pt x="72" y="40"/>
                      </a:lnTo>
                      <a:lnTo>
                        <a:pt x="126" y="24"/>
                      </a:lnTo>
                      <a:lnTo>
                        <a:pt x="162" y="16"/>
                      </a:lnTo>
                      <a:lnTo>
                        <a:pt x="18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068" name="Arc 182"/>
                <p:cNvSpPr>
                  <a:spLocks/>
                </p:cNvSpPr>
                <p:nvPr/>
              </p:nvSpPr>
              <p:spPr bwMode="auto">
                <a:xfrm>
                  <a:off x="3944" y="2041"/>
                  <a:ext cx="119" cy="104"/>
                </a:xfrm>
                <a:custGeom>
                  <a:avLst/>
                  <a:gdLst>
                    <a:gd name="T0" fmla="*/ 0 w 21784"/>
                    <a:gd name="T1" fmla="*/ 0 h 21600"/>
                    <a:gd name="T2" fmla="*/ 0 w 21784"/>
                    <a:gd name="T3" fmla="*/ 0 h 21600"/>
                    <a:gd name="T4" fmla="*/ 0 w 21784"/>
                    <a:gd name="T5" fmla="*/ 0 h 21600"/>
                    <a:gd name="T6" fmla="*/ 0 60000 65536"/>
                    <a:gd name="T7" fmla="*/ 0 60000 65536"/>
                    <a:gd name="T8" fmla="*/ 0 60000 65536"/>
                    <a:gd name="T9" fmla="*/ 0 w 21784"/>
                    <a:gd name="T10" fmla="*/ 0 h 21600"/>
                    <a:gd name="T11" fmla="*/ 21784 w 21784"/>
                    <a:gd name="T12" fmla="*/ 21600 h 21600"/>
                  </a:gdLst>
                  <a:ahLst/>
                  <a:cxnLst>
                    <a:cxn ang="T6">
                      <a:pos x="T0" y="T1"/>
                    </a:cxn>
                    <a:cxn ang="T7">
                      <a:pos x="T2" y="T3"/>
                    </a:cxn>
                    <a:cxn ang="T8">
                      <a:pos x="T4" y="T5"/>
                    </a:cxn>
                  </a:cxnLst>
                  <a:rect l="T9" t="T10" r="T11" b="T12"/>
                  <a:pathLst>
                    <a:path w="21784" h="21600" fill="none" extrusionOk="0">
                      <a:moveTo>
                        <a:pt x="-1" y="0"/>
                      </a:moveTo>
                      <a:cubicBezTo>
                        <a:pt x="61" y="0"/>
                        <a:pt x="122" y="-1"/>
                        <a:pt x="184" y="0"/>
                      </a:cubicBezTo>
                      <a:cubicBezTo>
                        <a:pt x="12113" y="0"/>
                        <a:pt x="21784" y="9670"/>
                        <a:pt x="21784" y="21600"/>
                      </a:cubicBezTo>
                    </a:path>
                    <a:path w="21784" h="21600" stroke="0" extrusionOk="0">
                      <a:moveTo>
                        <a:pt x="-1" y="0"/>
                      </a:moveTo>
                      <a:cubicBezTo>
                        <a:pt x="61" y="0"/>
                        <a:pt x="122" y="-1"/>
                        <a:pt x="184" y="0"/>
                      </a:cubicBezTo>
                      <a:cubicBezTo>
                        <a:pt x="12113" y="0"/>
                        <a:pt x="21784" y="9670"/>
                        <a:pt x="21784" y="21600"/>
                      </a:cubicBezTo>
                      <a:lnTo>
                        <a:pt x="184" y="21600"/>
                      </a:lnTo>
                      <a:close/>
                    </a:path>
                  </a:pathLst>
                </a:custGeom>
                <a:noFill/>
                <a:ln w="12700" cap="rnd">
                  <a:solidFill>
                    <a:srgbClr val="009900"/>
                  </a:solidFill>
                  <a:round/>
                  <a:headEnd/>
                  <a:tailEnd/>
                </a:ln>
              </p:spPr>
              <p:txBody>
                <a:bodyPr wrap="none" anchor="ctr"/>
                <a:lstStyle/>
                <a:p>
                  <a:endParaRPr lang="en-US"/>
                </a:p>
              </p:txBody>
            </p:sp>
            <p:sp>
              <p:nvSpPr>
                <p:cNvPr id="39069" name="Freeform 183"/>
                <p:cNvSpPr>
                  <a:spLocks/>
                </p:cNvSpPr>
                <p:nvPr/>
              </p:nvSpPr>
              <p:spPr bwMode="auto">
                <a:xfrm>
                  <a:off x="4075" y="2116"/>
                  <a:ext cx="10" cy="41"/>
                </a:xfrm>
                <a:custGeom>
                  <a:avLst/>
                  <a:gdLst>
                    <a:gd name="T0" fmla="*/ 0 w 10"/>
                    <a:gd name="T1" fmla="*/ 40 h 41"/>
                    <a:gd name="T2" fmla="*/ 0 w 10"/>
                    <a:gd name="T3" fmla="*/ 40 h 41"/>
                    <a:gd name="T4" fmla="*/ 9 w 10"/>
                    <a:gd name="T5" fmla="*/ 0 h 41"/>
                    <a:gd name="T6" fmla="*/ 0 60000 65536"/>
                    <a:gd name="T7" fmla="*/ 0 60000 65536"/>
                    <a:gd name="T8" fmla="*/ 0 60000 65536"/>
                    <a:gd name="T9" fmla="*/ 0 w 10"/>
                    <a:gd name="T10" fmla="*/ 0 h 41"/>
                    <a:gd name="T11" fmla="*/ 10 w 10"/>
                    <a:gd name="T12" fmla="*/ 41 h 41"/>
                  </a:gdLst>
                  <a:ahLst/>
                  <a:cxnLst>
                    <a:cxn ang="T6">
                      <a:pos x="T0" y="T1"/>
                    </a:cxn>
                    <a:cxn ang="T7">
                      <a:pos x="T2" y="T3"/>
                    </a:cxn>
                    <a:cxn ang="T8">
                      <a:pos x="T4" y="T5"/>
                    </a:cxn>
                  </a:cxnLst>
                  <a:rect l="T9" t="T10" r="T11" b="T12"/>
                  <a:pathLst>
                    <a:path w="10" h="41">
                      <a:moveTo>
                        <a:pt x="0" y="40"/>
                      </a:moveTo>
                      <a:lnTo>
                        <a:pt x="0" y="40"/>
                      </a:lnTo>
                      <a:lnTo>
                        <a:pt x="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070" name="Line 184"/>
                <p:cNvSpPr>
                  <a:spLocks noChangeShapeType="1"/>
                </p:cNvSpPr>
                <p:nvPr/>
              </p:nvSpPr>
              <p:spPr bwMode="auto">
                <a:xfrm flipV="1">
                  <a:off x="4092" y="2112"/>
                  <a:ext cx="1" cy="48"/>
                </a:xfrm>
                <a:prstGeom prst="line">
                  <a:avLst/>
                </a:prstGeom>
                <a:noFill/>
                <a:ln w="12700">
                  <a:solidFill>
                    <a:srgbClr val="009900"/>
                  </a:solidFill>
                  <a:round/>
                  <a:headEnd/>
                  <a:tailEnd/>
                </a:ln>
              </p:spPr>
              <p:txBody>
                <a:bodyPr wrap="none" anchor="ctr"/>
                <a:lstStyle/>
                <a:p>
                  <a:endParaRPr lang="en-US"/>
                </a:p>
              </p:txBody>
            </p:sp>
            <p:sp>
              <p:nvSpPr>
                <p:cNvPr id="39071" name="Freeform 185"/>
                <p:cNvSpPr>
                  <a:spLocks/>
                </p:cNvSpPr>
                <p:nvPr/>
              </p:nvSpPr>
              <p:spPr bwMode="auto">
                <a:xfrm>
                  <a:off x="4531" y="2092"/>
                  <a:ext cx="109" cy="17"/>
                </a:xfrm>
                <a:custGeom>
                  <a:avLst/>
                  <a:gdLst>
                    <a:gd name="T0" fmla="*/ 0 w 109"/>
                    <a:gd name="T1" fmla="*/ 0 h 17"/>
                    <a:gd name="T2" fmla="*/ 27 w 109"/>
                    <a:gd name="T3" fmla="*/ 16 h 17"/>
                    <a:gd name="T4" fmla="*/ 81 w 109"/>
                    <a:gd name="T5" fmla="*/ 16 h 17"/>
                    <a:gd name="T6" fmla="*/ 108 w 109"/>
                    <a:gd name="T7" fmla="*/ 0 h 17"/>
                    <a:gd name="T8" fmla="*/ 0 60000 65536"/>
                    <a:gd name="T9" fmla="*/ 0 60000 65536"/>
                    <a:gd name="T10" fmla="*/ 0 60000 65536"/>
                    <a:gd name="T11" fmla="*/ 0 60000 65536"/>
                    <a:gd name="T12" fmla="*/ 0 w 109"/>
                    <a:gd name="T13" fmla="*/ 0 h 17"/>
                    <a:gd name="T14" fmla="*/ 109 w 109"/>
                    <a:gd name="T15" fmla="*/ 17 h 17"/>
                  </a:gdLst>
                  <a:ahLst/>
                  <a:cxnLst>
                    <a:cxn ang="T8">
                      <a:pos x="T0" y="T1"/>
                    </a:cxn>
                    <a:cxn ang="T9">
                      <a:pos x="T2" y="T3"/>
                    </a:cxn>
                    <a:cxn ang="T10">
                      <a:pos x="T4" y="T5"/>
                    </a:cxn>
                    <a:cxn ang="T11">
                      <a:pos x="T6" y="T7"/>
                    </a:cxn>
                  </a:cxnLst>
                  <a:rect l="T12" t="T13" r="T14" b="T15"/>
                  <a:pathLst>
                    <a:path w="109" h="17">
                      <a:moveTo>
                        <a:pt x="0" y="0"/>
                      </a:moveTo>
                      <a:lnTo>
                        <a:pt x="27" y="16"/>
                      </a:lnTo>
                      <a:lnTo>
                        <a:pt x="81" y="16"/>
                      </a:lnTo>
                      <a:lnTo>
                        <a:pt x="10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072" name="Freeform 186"/>
                <p:cNvSpPr>
                  <a:spLocks/>
                </p:cNvSpPr>
                <p:nvPr/>
              </p:nvSpPr>
              <p:spPr bwMode="auto">
                <a:xfrm>
                  <a:off x="4108" y="2012"/>
                  <a:ext cx="118" cy="57"/>
                </a:xfrm>
                <a:custGeom>
                  <a:avLst/>
                  <a:gdLst>
                    <a:gd name="T0" fmla="*/ 0 w 118"/>
                    <a:gd name="T1" fmla="*/ 0 h 57"/>
                    <a:gd name="T2" fmla="*/ 54 w 118"/>
                    <a:gd name="T3" fmla="*/ 24 h 57"/>
                    <a:gd name="T4" fmla="*/ 117 w 118"/>
                    <a:gd name="T5" fmla="*/ 56 h 57"/>
                    <a:gd name="T6" fmla="*/ 0 60000 65536"/>
                    <a:gd name="T7" fmla="*/ 0 60000 65536"/>
                    <a:gd name="T8" fmla="*/ 0 60000 65536"/>
                    <a:gd name="T9" fmla="*/ 0 w 118"/>
                    <a:gd name="T10" fmla="*/ 0 h 57"/>
                    <a:gd name="T11" fmla="*/ 118 w 118"/>
                    <a:gd name="T12" fmla="*/ 57 h 57"/>
                  </a:gdLst>
                  <a:ahLst/>
                  <a:cxnLst>
                    <a:cxn ang="T6">
                      <a:pos x="T0" y="T1"/>
                    </a:cxn>
                    <a:cxn ang="T7">
                      <a:pos x="T2" y="T3"/>
                    </a:cxn>
                    <a:cxn ang="T8">
                      <a:pos x="T4" y="T5"/>
                    </a:cxn>
                  </a:cxnLst>
                  <a:rect l="T9" t="T10" r="T11" b="T12"/>
                  <a:pathLst>
                    <a:path w="118" h="57">
                      <a:moveTo>
                        <a:pt x="0" y="0"/>
                      </a:moveTo>
                      <a:lnTo>
                        <a:pt x="54" y="24"/>
                      </a:lnTo>
                      <a:lnTo>
                        <a:pt x="117" y="56"/>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073" name="Line 187"/>
                <p:cNvSpPr>
                  <a:spLocks noChangeShapeType="1"/>
                </p:cNvSpPr>
                <p:nvPr/>
              </p:nvSpPr>
              <p:spPr bwMode="auto">
                <a:xfrm>
                  <a:off x="4105" y="2074"/>
                  <a:ext cx="121" cy="0"/>
                </a:xfrm>
                <a:prstGeom prst="line">
                  <a:avLst/>
                </a:prstGeom>
                <a:noFill/>
                <a:ln w="12700">
                  <a:solidFill>
                    <a:srgbClr val="009900"/>
                  </a:solidFill>
                  <a:round/>
                  <a:headEnd/>
                  <a:tailEnd/>
                </a:ln>
              </p:spPr>
              <p:txBody>
                <a:bodyPr wrap="none" anchor="ctr"/>
                <a:lstStyle/>
                <a:p>
                  <a:endParaRPr lang="en-US"/>
                </a:p>
              </p:txBody>
            </p:sp>
            <p:sp>
              <p:nvSpPr>
                <p:cNvPr id="39074" name="Freeform 188"/>
                <p:cNvSpPr>
                  <a:spLocks/>
                </p:cNvSpPr>
                <p:nvPr/>
              </p:nvSpPr>
              <p:spPr bwMode="auto">
                <a:xfrm>
                  <a:off x="4630" y="2076"/>
                  <a:ext cx="10" cy="41"/>
                </a:xfrm>
                <a:custGeom>
                  <a:avLst/>
                  <a:gdLst>
                    <a:gd name="T0" fmla="*/ 0 w 10"/>
                    <a:gd name="T1" fmla="*/ 40 h 41"/>
                    <a:gd name="T2" fmla="*/ 0 w 10"/>
                    <a:gd name="T3" fmla="*/ 40 h 41"/>
                    <a:gd name="T4" fmla="*/ 9 w 10"/>
                    <a:gd name="T5" fmla="*/ 0 h 41"/>
                    <a:gd name="T6" fmla="*/ 0 60000 65536"/>
                    <a:gd name="T7" fmla="*/ 0 60000 65536"/>
                    <a:gd name="T8" fmla="*/ 0 60000 65536"/>
                    <a:gd name="T9" fmla="*/ 0 w 10"/>
                    <a:gd name="T10" fmla="*/ 0 h 41"/>
                    <a:gd name="T11" fmla="*/ 10 w 10"/>
                    <a:gd name="T12" fmla="*/ 41 h 41"/>
                  </a:gdLst>
                  <a:ahLst/>
                  <a:cxnLst>
                    <a:cxn ang="T6">
                      <a:pos x="T0" y="T1"/>
                    </a:cxn>
                    <a:cxn ang="T7">
                      <a:pos x="T2" y="T3"/>
                    </a:cxn>
                    <a:cxn ang="T8">
                      <a:pos x="T4" y="T5"/>
                    </a:cxn>
                  </a:cxnLst>
                  <a:rect l="T9" t="T10" r="T11" b="T12"/>
                  <a:pathLst>
                    <a:path w="10" h="41">
                      <a:moveTo>
                        <a:pt x="0" y="40"/>
                      </a:moveTo>
                      <a:lnTo>
                        <a:pt x="0" y="40"/>
                      </a:lnTo>
                      <a:lnTo>
                        <a:pt x="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075" name="Freeform 189"/>
                <p:cNvSpPr>
                  <a:spLocks/>
                </p:cNvSpPr>
                <p:nvPr/>
              </p:nvSpPr>
              <p:spPr bwMode="auto">
                <a:xfrm>
                  <a:off x="4297" y="2068"/>
                  <a:ext cx="19" cy="49"/>
                </a:xfrm>
                <a:custGeom>
                  <a:avLst/>
                  <a:gdLst>
                    <a:gd name="T0" fmla="*/ 0 w 19"/>
                    <a:gd name="T1" fmla="*/ 48 h 49"/>
                    <a:gd name="T2" fmla="*/ 0 w 19"/>
                    <a:gd name="T3" fmla="*/ 48 h 49"/>
                    <a:gd name="T4" fmla="*/ 18 w 19"/>
                    <a:gd name="T5" fmla="*/ 0 h 49"/>
                    <a:gd name="T6" fmla="*/ 0 60000 65536"/>
                    <a:gd name="T7" fmla="*/ 0 60000 65536"/>
                    <a:gd name="T8" fmla="*/ 0 60000 65536"/>
                    <a:gd name="T9" fmla="*/ 0 w 19"/>
                    <a:gd name="T10" fmla="*/ 0 h 49"/>
                    <a:gd name="T11" fmla="*/ 19 w 19"/>
                    <a:gd name="T12" fmla="*/ 49 h 49"/>
                  </a:gdLst>
                  <a:ahLst/>
                  <a:cxnLst>
                    <a:cxn ang="T6">
                      <a:pos x="T0" y="T1"/>
                    </a:cxn>
                    <a:cxn ang="T7">
                      <a:pos x="T2" y="T3"/>
                    </a:cxn>
                    <a:cxn ang="T8">
                      <a:pos x="T4" y="T5"/>
                    </a:cxn>
                  </a:cxnLst>
                  <a:rect l="T9" t="T10" r="T11" b="T12"/>
                  <a:pathLst>
                    <a:path w="19" h="49">
                      <a:moveTo>
                        <a:pt x="0" y="48"/>
                      </a:moveTo>
                      <a:lnTo>
                        <a:pt x="0" y="48"/>
                      </a:lnTo>
                      <a:lnTo>
                        <a:pt x="1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076" name="Line 190"/>
                <p:cNvSpPr>
                  <a:spLocks noChangeShapeType="1"/>
                </p:cNvSpPr>
                <p:nvPr/>
              </p:nvSpPr>
              <p:spPr bwMode="auto">
                <a:xfrm flipV="1">
                  <a:off x="4305" y="2064"/>
                  <a:ext cx="11" cy="56"/>
                </a:xfrm>
                <a:prstGeom prst="line">
                  <a:avLst/>
                </a:prstGeom>
                <a:noFill/>
                <a:ln w="12700">
                  <a:solidFill>
                    <a:srgbClr val="009900"/>
                  </a:solidFill>
                  <a:round/>
                  <a:headEnd/>
                  <a:tailEnd/>
                </a:ln>
              </p:spPr>
              <p:txBody>
                <a:bodyPr wrap="none" anchor="ctr"/>
                <a:lstStyle/>
                <a:p>
                  <a:endParaRPr lang="en-US"/>
                </a:p>
              </p:txBody>
            </p:sp>
            <p:sp>
              <p:nvSpPr>
                <p:cNvPr id="39077" name="Freeform 191"/>
                <p:cNvSpPr>
                  <a:spLocks/>
                </p:cNvSpPr>
                <p:nvPr/>
              </p:nvSpPr>
              <p:spPr bwMode="auto">
                <a:xfrm>
                  <a:off x="4003" y="2124"/>
                  <a:ext cx="10" cy="41"/>
                </a:xfrm>
                <a:custGeom>
                  <a:avLst/>
                  <a:gdLst>
                    <a:gd name="T0" fmla="*/ 0 w 10"/>
                    <a:gd name="T1" fmla="*/ 40 h 41"/>
                    <a:gd name="T2" fmla="*/ 0 w 10"/>
                    <a:gd name="T3" fmla="*/ 40 h 41"/>
                    <a:gd name="T4" fmla="*/ 9 w 10"/>
                    <a:gd name="T5" fmla="*/ 0 h 41"/>
                    <a:gd name="T6" fmla="*/ 0 60000 65536"/>
                    <a:gd name="T7" fmla="*/ 0 60000 65536"/>
                    <a:gd name="T8" fmla="*/ 0 60000 65536"/>
                    <a:gd name="T9" fmla="*/ 0 w 10"/>
                    <a:gd name="T10" fmla="*/ 0 h 41"/>
                    <a:gd name="T11" fmla="*/ 10 w 10"/>
                    <a:gd name="T12" fmla="*/ 41 h 41"/>
                  </a:gdLst>
                  <a:ahLst/>
                  <a:cxnLst>
                    <a:cxn ang="T6">
                      <a:pos x="T0" y="T1"/>
                    </a:cxn>
                    <a:cxn ang="T7">
                      <a:pos x="T2" y="T3"/>
                    </a:cxn>
                    <a:cxn ang="T8">
                      <a:pos x="T4" y="T5"/>
                    </a:cxn>
                  </a:cxnLst>
                  <a:rect l="T9" t="T10" r="T11" b="T12"/>
                  <a:pathLst>
                    <a:path w="10" h="41">
                      <a:moveTo>
                        <a:pt x="0" y="40"/>
                      </a:moveTo>
                      <a:lnTo>
                        <a:pt x="0" y="40"/>
                      </a:lnTo>
                      <a:lnTo>
                        <a:pt x="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078" name="Freeform 192"/>
                <p:cNvSpPr>
                  <a:spLocks/>
                </p:cNvSpPr>
                <p:nvPr/>
              </p:nvSpPr>
              <p:spPr bwMode="auto">
                <a:xfrm>
                  <a:off x="4315" y="2060"/>
                  <a:ext cx="118" cy="49"/>
                </a:xfrm>
                <a:custGeom>
                  <a:avLst/>
                  <a:gdLst>
                    <a:gd name="T0" fmla="*/ 0 w 118"/>
                    <a:gd name="T1" fmla="*/ 0 h 49"/>
                    <a:gd name="T2" fmla="*/ 54 w 118"/>
                    <a:gd name="T3" fmla="*/ 24 h 49"/>
                    <a:gd name="T4" fmla="*/ 117 w 118"/>
                    <a:gd name="T5" fmla="*/ 48 h 49"/>
                    <a:gd name="T6" fmla="*/ 0 60000 65536"/>
                    <a:gd name="T7" fmla="*/ 0 60000 65536"/>
                    <a:gd name="T8" fmla="*/ 0 60000 65536"/>
                    <a:gd name="T9" fmla="*/ 0 w 118"/>
                    <a:gd name="T10" fmla="*/ 0 h 49"/>
                    <a:gd name="T11" fmla="*/ 118 w 118"/>
                    <a:gd name="T12" fmla="*/ 49 h 49"/>
                  </a:gdLst>
                  <a:ahLst/>
                  <a:cxnLst>
                    <a:cxn ang="T6">
                      <a:pos x="T0" y="T1"/>
                    </a:cxn>
                    <a:cxn ang="T7">
                      <a:pos x="T2" y="T3"/>
                    </a:cxn>
                    <a:cxn ang="T8">
                      <a:pos x="T4" y="T5"/>
                    </a:cxn>
                  </a:cxnLst>
                  <a:rect l="T9" t="T10" r="T11" b="T12"/>
                  <a:pathLst>
                    <a:path w="118" h="49">
                      <a:moveTo>
                        <a:pt x="0" y="0"/>
                      </a:moveTo>
                      <a:lnTo>
                        <a:pt x="54" y="24"/>
                      </a:lnTo>
                      <a:lnTo>
                        <a:pt x="117" y="48"/>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079" name="Line 193"/>
                <p:cNvSpPr>
                  <a:spLocks noChangeShapeType="1"/>
                </p:cNvSpPr>
                <p:nvPr/>
              </p:nvSpPr>
              <p:spPr bwMode="auto">
                <a:xfrm>
                  <a:off x="4315" y="2072"/>
                  <a:ext cx="117" cy="48"/>
                </a:xfrm>
                <a:prstGeom prst="line">
                  <a:avLst/>
                </a:prstGeom>
                <a:noFill/>
                <a:ln w="12700">
                  <a:solidFill>
                    <a:srgbClr val="009900"/>
                  </a:solidFill>
                  <a:round/>
                  <a:headEnd/>
                  <a:tailEnd/>
                </a:ln>
              </p:spPr>
              <p:txBody>
                <a:bodyPr wrap="none" anchor="ctr"/>
                <a:lstStyle/>
                <a:p>
                  <a:endParaRPr lang="en-US"/>
                </a:p>
              </p:txBody>
            </p:sp>
            <p:sp>
              <p:nvSpPr>
                <p:cNvPr id="39080" name="Freeform 194"/>
                <p:cNvSpPr>
                  <a:spLocks/>
                </p:cNvSpPr>
                <p:nvPr/>
              </p:nvSpPr>
              <p:spPr bwMode="auto">
                <a:xfrm>
                  <a:off x="4450" y="2060"/>
                  <a:ext cx="127" cy="73"/>
                </a:xfrm>
                <a:custGeom>
                  <a:avLst/>
                  <a:gdLst>
                    <a:gd name="T0" fmla="*/ 0 w 127"/>
                    <a:gd name="T1" fmla="*/ 72 h 73"/>
                    <a:gd name="T2" fmla="*/ 18 w 127"/>
                    <a:gd name="T3" fmla="*/ 24 h 73"/>
                    <a:gd name="T4" fmla="*/ 126 w 127"/>
                    <a:gd name="T5" fmla="*/ 0 h 73"/>
                    <a:gd name="T6" fmla="*/ 0 60000 65536"/>
                    <a:gd name="T7" fmla="*/ 0 60000 65536"/>
                    <a:gd name="T8" fmla="*/ 0 60000 65536"/>
                    <a:gd name="T9" fmla="*/ 0 w 127"/>
                    <a:gd name="T10" fmla="*/ 0 h 73"/>
                    <a:gd name="T11" fmla="*/ 127 w 127"/>
                    <a:gd name="T12" fmla="*/ 73 h 73"/>
                  </a:gdLst>
                  <a:ahLst/>
                  <a:cxnLst>
                    <a:cxn ang="T6">
                      <a:pos x="T0" y="T1"/>
                    </a:cxn>
                    <a:cxn ang="T7">
                      <a:pos x="T2" y="T3"/>
                    </a:cxn>
                    <a:cxn ang="T8">
                      <a:pos x="T4" y="T5"/>
                    </a:cxn>
                  </a:cxnLst>
                  <a:rect l="T9" t="T10" r="T11" b="T12"/>
                  <a:pathLst>
                    <a:path w="127" h="73">
                      <a:moveTo>
                        <a:pt x="0" y="72"/>
                      </a:moveTo>
                      <a:lnTo>
                        <a:pt x="18" y="24"/>
                      </a:lnTo>
                      <a:lnTo>
                        <a:pt x="126"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081" name="Freeform 195"/>
                <p:cNvSpPr>
                  <a:spLocks/>
                </p:cNvSpPr>
                <p:nvPr/>
              </p:nvSpPr>
              <p:spPr bwMode="auto">
                <a:xfrm flipH="1">
                  <a:off x="4320" y="2016"/>
                  <a:ext cx="144" cy="127"/>
                </a:xfrm>
                <a:custGeom>
                  <a:avLst/>
                  <a:gdLst>
                    <a:gd name="T0" fmla="*/ 0 w 127"/>
                    <a:gd name="T1" fmla="*/ 378 h 73"/>
                    <a:gd name="T2" fmla="*/ 52 w 127"/>
                    <a:gd name="T3" fmla="*/ 127 h 73"/>
                    <a:gd name="T4" fmla="*/ 184 w 127"/>
                    <a:gd name="T5" fmla="*/ 0 h 73"/>
                    <a:gd name="T6" fmla="*/ 0 60000 65536"/>
                    <a:gd name="T7" fmla="*/ 0 60000 65536"/>
                    <a:gd name="T8" fmla="*/ 0 60000 65536"/>
                    <a:gd name="T9" fmla="*/ 0 w 127"/>
                    <a:gd name="T10" fmla="*/ 0 h 73"/>
                    <a:gd name="T11" fmla="*/ 127 w 127"/>
                    <a:gd name="T12" fmla="*/ 73 h 73"/>
                  </a:gdLst>
                  <a:ahLst/>
                  <a:cxnLst>
                    <a:cxn ang="T6">
                      <a:pos x="T0" y="T1"/>
                    </a:cxn>
                    <a:cxn ang="T7">
                      <a:pos x="T2" y="T3"/>
                    </a:cxn>
                    <a:cxn ang="T8">
                      <a:pos x="T4" y="T5"/>
                    </a:cxn>
                  </a:cxnLst>
                  <a:rect l="T9" t="T10" r="T11" b="T12"/>
                  <a:pathLst>
                    <a:path w="127" h="73">
                      <a:moveTo>
                        <a:pt x="0" y="72"/>
                      </a:moveTo>
                      <a:lnTo>
                        <a:pt x="36" y="24"/>
                      </a:lnTo>
                      <a:lnTo>
                        <a:pt x="126" y="0"/>
                      </a:lnTo>
                    </a:path>
                  </a:pathLst>
                </a:custGeom>
                <a:noFill/>
                <a:ln w="12700" cap="rnd" cmpd="sng">
                  <a:solidFill>
                    <a:srgbClr val="009900"/>
                  </a:solidFill>
                  <a:prstDash val="solid"/>
                  <a:round/>
                  <a:headEnd type="none" w="med" len="med"/>
                  <a:tailEnd type="none" w="med" len="med"/>
                </a:ln>
              </p:spPr>
              <p:txBody>
                <a:bodyPr/>
                <a:lstStyle/>
                <a:p>
                  <a:endParaRPr lang="en-US"/>
                </a:p>
              </p:txBody>
            </p:sp>
          </p:grpSp>
        </p:grpSp>
      </p:grpSp>
      <p:grpSp>
        <p:nvGrpSpPr>
          <p:cNvPr id="38917" name="Group 196"/>
          <p:cNvGrpSpPr>
            <a:grpSpLocks/>
          </p:cNvGrpSpPr>
          <p:nvPr/>
        </p:nvGrpSpPr>
        <p:grpSpPr bwMode="auto">
          <a:xfrm>
            <a:off x="7119938" y="3316288"/>
            <a:ext cx="842962" cy="1581150"/>
            <a:chOff x="4181" y="2217"/>
            <a:chExt cx="531" cy="996"/>
          </a:xfrm>
        </p:grpSpPr>
        <p:grpSp>
          <p:nvGrpSpPr>
            <p:cNvPr id="38931" name="Group 197"/>
            <p:cNvGrpSpPr>
              <a:grpSpLocks/>
            </p:cNvGrpSpPr>
            <p:nvPr/>
          </p:nvGrpSpPr>
          <p:grpSpPr bwMode="auto">
            <a:xfrm>
              <a:off x="4181" y="2567"/>
              <a:ext cx="531" cy="646"/>
              <a:chOff x="3688" y="2111"/>
              <a:chExt cx="1379" cy="1676"/>
            </a:xfrm>
          </p:grpSpPr>
          <p:grpSp>
            <p:nvGrpSpPr>
              <p:cNvPr id="38933" name="Group 198"/>
              <p:cNvGrpSpPr>
                <a:grpSpLocks/>
              </p:cNvGrpSpPr>
              <p:nvPr/>
            </p:nvGrpSpPr>
            <p:grpSpPr bwMode="auto">
              <a:xfrm>
                <a:off x="3690" y="2262"/>
                <a:ext cx="1377" cy="1525"/>
                <a:chOff x="1638" y="1590"/>
                <a:chExt cx="1377" cy="1525"/>
              </a:xfrm>
            </p:grpSpPr>
            <p:sp>
              <p:nvSpPr>
                <p:cNvPr id="38946" name="Oval 199"/>
                <p:cNvSpPr>
                  <a:spLocks noChangeArrowheads="1"/>
                </p:cNvSpPr>
                <p:nvPr/>
              </p:nvSpPr>
              <p:spPr bwMode="auto">
                <a:xfrm>
                  <a:off x="1638" y="2802"/>
                  <a:ext cx="1377" cy="313"/>
                </a:xfrm>
                <a:prstGeom prst="ellipse">
                  <a:avLst/>
                </a:prstGeom>
                <a:solidFill>
                  <a:srgbClr val="A0A0A0"/>
                </a:solidFill>
                <a:ln w="12700">
                  <a:solidFill>
                    <a:srgbClr val="C0C0C0"/>
                  </a:solidFill>
                  <a:round/>
                  <a:headEnd/>
                  <a:tailEnd/>
                </a:ln>
              </p:spPr>
              <p:txBody>
                <a:bodyPr/>
                <a:lstStyle/>
                <a:p>
                  <a:endParaRPr lang="en-NZ">
                    <a:latin typeface="Calibri" pitchFamily="34" charset="0"/>
                  </a:endParaRPr>
                </a:p>
              </p:txBody>
            </p:sp>
            <p:sp>
              <p:nvSpPr>
                <p:cNvPr id="38947" name="Freeform 200"/>
                <p:cNvSpPr>
                  <a:spLocks/>
                </p:cNvSpPr>
                <p:nvPr/>
              </p:nvSpPr>
              <p:spPr bwMode="auto">
                <a:xfrm>
                  <a:off x="1638" y="1590"/>
                  <a:ext cx="1377" cy="1509"/>
                </a:xfrm>
                <a:custGeom>
                  <a:avLst/>
                  <a:gdLst>
                    <a:gd name="T0" fmla="*/ 1377 w 1377"/>
                    <a:gd name="T1" fmla="*/ 4 h 1509"/>
                    <a:gd name="T2" fmla="*/ 1377 w 1377"/>
                    <a:gd name="T3" fmla="*/ 1354 h 1509"/>
                    <a:gd name="T4" fmla="*/ 1374 w 1377"/>
                    <a:gd name="T5" fmla="*/ 1363 h 1509"/>
                    <a:gd name="T6" fmla="*/ 1370 w 1377"/>
                    <a:gd name="T7" fmla="*/ 1372 h 1509"/>
                    <a:gd name="T8" fmla="*/ 1360 w 1377"/>
                    <a:gd name="T9" fmla="*/ 1384 h 1509"/>
                    <a:gd name="T10" fmla="*/ 1349 w 1377"/>
                    <a:gd name="T11" fmla="*/ 1394 h 1509"/>
                    <a:gd name="T12" fmla="*/ 1336 w 1377"/>
                    <a:gd name="T13" fmla="*/ 1403 h 1509"/>
                    <a:gd name="T14" fmla="*/ 1319 w 1377"/>
                    <a:gd name="T15" fmla="*/ 1414 h 1509"/>
                    <a:gd name="T16" fmla="*/ 1298 w 1377"/>
                    <a:gd name="T17" fmla="*/ 1423 h 1509"/>
                    <a:gd name="T18" fmla="*/ 1275 w 1377"/>
                    <a:gd name="T19" fmla="*/ 1433 h 1509"/>
                    <a:gd name="T20" fmla="*/ 1252 w 1377"/>
                    <a:gd name="T21" fmla="*/ 1440 h 1509"/>
                    <a:gd name="T22" fmla="*/ 1227 w 1377"/>
                    <a:gd name="T23" fmla="*/ 1448 h 1509"/>
                    <a:gd name="T24" fmla="*/ 1204 w 1377"/>
                    <a:gd name="T25" fmla="*/ 1455 h 1509"/>
                    <a:gd name="T26" fmla="*/ 1173 w 1377"/>
                    <a:gd name="T27" fmla="*/ 1462 h 1509"/>
                    <a:gd name="T28" fmla="*/ 1146 w 1377"/>
                    <a:gd name="T29" fmla="*/ 1469 h 1509"/>
                    <a:gd name="T30" fmla="*/ 1109 w 1377"/>
                    <a:gd name="T31" fmla="*/ 1476 h 1509"/>
                    <a:gd name="T32" fmla="*/ 1070 w 1377"/>
                    <a:gd name="T33" fmla="*/ 1482 h 1509"/>
                    <a:gd name="T34" fmla="*/ 1037 w 1377"/>
                    <a:gd name="T35" fmla="*/ 1487 h 1509"/>
                    <a:gd name="T36" fmla="*/ 998 w 1377"/>
                    <a:gd name="T37" fmla="*/ 1491 h 1509"/>
                    <a:gd name="T38" fmla="*/ 948 w 1377"/>
                    <a:gd name="T39" fmla="*/ 1497 h 1509"/>
                    <a:gd name="T40" fmla="*/ 894 w 1377"/>
                    <a:gd name="T41" fmla="*/ 1501 h 1509"/>
                    <a:gd name="T42" fmla="*/ 837 w 1377"/>
                    <a:gd name="T43" fmla="*/ 1505 h 1509"/>
                    <a:gd name="T44" fmla="*/ 772 w 1377"/>
                    <a:gd name="T45" fmla="*/ 1507 h 1509"/>
                    <a:gd name="T46" fmla="*/ 716 w 1377"/>
                    <a:gd name="T47" fmla="*/ 1509 h 1509"/>
                    <a:gd name="T48" fmla="*/ 660 w 1377"/>
                    <a:gd name="T49" fmla="*/ 1509 h 1509"/>
                    <a:gd name="T50" fmla="*/ 577 w 1377"/>
                    <a:gd name="T51" fmla="*/ 1506 h 1509"/>
                    <a:gd name="T52" fmla="*/ 489 w 1377"/>
                    <a:gd name="T53" fmla="*/ 1501 h 1509"/>
                    <a:gd name="T54" fmla="*/ 409 w 1377"/>
                    <a:gd name="T55" fmla="*/ 1495 h 1509"/>
                    <a:gd name="T56" fmla="*/ 335 w 1377"/>
                    <a:gd name="T57" fmla="*/ 1487 h 1509"/>
                    <a:gd name="T58" fmla="*/ 294 w 1377"/>
                    <a:gd name="T59" fmla="*/ 1480 h 1509"/>
                    <a:gd name="T60" fmla="*/ 248 w 1377"/>
                    <a:gd name="T61" fmla="*/ 1471 h 1509"/>
                    <a:gd name="T62" fmla="*/ 207 w 1377"/>
                    <a:gd name="T63" fmla="*/ 1463 h 1509"/>
                    <a:gd name="T64" fmla="*/ 156 w 1377"/>
                    <a:gd name="T65" fmla="*/ 1449 h 1509"/>
                    <a:gd name="T66" fmla="*/ 103 w 1377"/>
                    <a:gd name="T67" fmla="*/ 1433 h 1509"/>
                    <a:gd name="T68" fmla="*/ 63 w 1377"/>
                    <a:gd name="T69" fmla="*/ 1417 h 1509"/>
                    <a:gd name="T70" fmla="*/ 32 w 1377"/>
                    <a:gd name="T71" fmla="*/ 1399 h 1509"/>
                    <a:gd name="T72" fmla="*/ 12 w 1377"/>
                    <a:gd name="T73" fmla="*/ 1380 h 1509"/>
                    <a:gd name="T74" fmla="*/ 0 w 1377"/>
                    <a:gd name="T75" fmla="*/ 1360 h 1509"/>
                    <a:gd name="T76" fmla="*/ 0 w 1377"/>
                    <a:gd name="T77" fmla="*/ 0 h 1509"/>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377"/>
                    <a:gd name="T118" fmla="*/ 0 h 1509"/>
                    <a:gd name="T119" fmla="*/ 1377 w 1377"/>
                    <a:gd name="T120" fmla="*/ 1509 h 1509"/>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377" h="1509">
                      <a:moveTo>
                        <a:pt x="0" y="0"/>
                      </a:moveTo>
                      <a:lnTo>
                        <a:pt x="1377" y="4"/>
                      </a:lnTo>
                      <a:lnTo>
                        <a:pt x="1376" y="1347"/>
                      </a:lnTo>
                      <a:lnTo>
                        <a:pt x="1377" y="1354"/>
                      </a:lnTo>
                      <a:lnTo>
                        <a:pt x="1375" y="1358"/>
                      </a:lnTo>
                      <a:lnTo>
                        <a:pt x="1374" y="1363"/>
                      </a:lnTo>
                      <a:lnTo>
                        <a:pt x="1373" y="1368"/>
                      </a:lnTo>
                      <a:lnTo>
                        <a:pt x="1370" y="1372"/>
                      </a:lnTo>
                      <a:lnTo>
                        <a:pt x="1365" y="1379"/>
                      </a:lnTo>
                      <a:lnTo>
                        <a:pt x="1360" y="1384"/>
                      </a:lnTo>
                      <a:lnTo>
                        <a:pt x="1355" y="1389"/>
                      </a:lnTo>
                      <a:lnTo>
                        <a:pt x="1349" y="1394"/>
                      </a:lnTo>
                      <a:lnTo>
                        <a:pt x="1344" y="1398"/>
                      </a:lnTo>
                      <a:lnTo>
                        <a:pt x="1336" y="1403"/>
                      </a:lnTo>
                      <a:lnTo>
                        <a:pt x="1327" y="1408"/>
                      </a:lnTo>
                      <a:lnTo>
                        <a:pt x="1319" y="1414"/>
                      </a:lnTo>
                      <a:lnTo>
                        <a:pt x="1310" y="1418"/>
                      </a:lnTo>
                      <a:lnTo>
                        <a:pt x="1298" y="1423"/>
                      </a:lnTo>
                      <a:lnTo>
                        <a:pt x="1286" y="1429"/>
                      </a:lnTo>
                      <a:lnTo>
                        <a:pt x="1275" y="1433"/>
                      </a:lnTo>
                      <a:lnTo>
                        <a:pt x="1265" y="1437"/>
                      </a:lnTo>
                      <a:lnTo>
                        <a:pt x="1252" y="1440"/>
                      </a:lnTo>
                      <a:lnTo>
                        <a:pt x="1239" y="1445"/>
                      </a:lnTo>
                      <a:lnTo>
                        <a:pt x="1227" y="1448"/>
                      </a:lnTo>
                      <a:lnTo>
                        <a:pt x="1216" y="1451"/>
                      </a:lnTo>
                      <a:lnTo>
                        <a:pt x="1204" y="1455"/>
                      </a:lnTo>
                      <a:lnTo>
                        <a:pt x="1190" y="1459"/>
                      </a:lnTo>
                      <a:lnTo>
                        <a:pt x="1173" y="1462"/>
                      </a:lnTo>
                      <a:lnTo>
                        <a:pt x="1158" y="1466"/>
                      </a:lnTo>
                      <a:lnTo>
                        <a:pt x="1146" y="1469"/>
                      </a:lnTo>
                      <a:lnTo>
                        <a:pt x="1132" y="1471"/>
                      </a:lnTo>
                      <a:lnTo>
                        <a:pt x="1109" y="1476"/>
                      </a:lnTo>
                      <a:lnTo>
                        <a:pt x="1089" y="1480"/>
                      </a:lnTo>
                      <a:lnTo>
                        <a:pt x="1070" y="1482"/>
                      </a:lnTo>
                      <a:lnTo>
                        <a:pt x="1054" y="1484"/>
                      </a:lnTo>
                      <a:lnTo>
                        <a:pt x="1037" y="1487"/>
                      </a:lnTo>
                      <a:lnTo>
                        <a:pt x="1017" y="1489"/>
                      </a:lnTo>
                      <a:lnTo>
                        <a:pt x="998" y="1491"/>
                      </a:lnTo>
                      <a:lnTo>
                        <a:pt x="974" y="1494"/>
                      </a:lnTo>
                      <a:lnTo>
                        <a:pt x="948" y="1497"/>
                      </a:lnTo>
                      <a:lnTo>
                        <a:pt x="920" y="1499"/>
                      </a:lnTo>
                      <a:lnTo>
                        <a:pt x="894" y="1501"/>
                      </a:lnTo>
                      <a:lnTo>
                        <a:pt x="867" y="1503"/>
                      </a:lnTo>
                      <a:lnTo>
                        <a:pt x="837" y="1505"/>
                      </a:lnTo>
                      <a:lnTo>
                        <a:pt x="804" y="1506"/>
                      </a:lnTo>
                      <a:lnTo>
                        <a:pt x="772" y="1507"/>
                      </a:lnTo>
                      <a:lnTo>
                        <a:pt x="738" y="1508"/>
                      </a:lnTo>
                      <a:lnTo>
                        <a:pt x="716" y="1509"/>
                      </a:lnTo>
                      <a:lnTo>
                        <a:pt x="689" y="1509"/>
                      </a:lnTo>
                      <a:lnTo>
                        <a:pt x="660" y="1509"/>
                      </a:lnTo>
                      <a:lnTo>
                        <a:pt x="622" y="1507"/>
                      </a:lnTo>
                      <a:lnTo>
                        <a:pt x="577" y="1506"/>
                      </a:lnTo>
                      <a:lnTo>
                        <a:pt x="534" y="1504"/>
                      </a:lnTo>
                      <a:lnTo>
                        <a:pt x="489" y="1501"/>
                      </a:lnTo>
                      <a:lnTo>
                        <a:pt x="450" y="1499"/>
                      </a:lnTo>
                      <a:lnTo>
                        <a:pt x="409" y="1495"/>
                      </a:lnTo>
                      <a:lnTo>
                        <a:pt x="368" y="1491"/>
                      </a:lnTo>
                      <a:lnTo>
                        <a:pt x="335" y="1487"/>
                      </a:lnTo>
                      <a:lnTo>
                        <a:pt x="316" y="1484"/>
                      </a:lnTo>
                      <a:lnTo>
                        <a:pt x="294" y="1480"/>
                      </a:lnTo>
                      <a:lnTo>
                        <a:pt x="270" y="1476"/>
                      </a:lnTo>
                      <a:lnTo>
                        <a:pt x="248" y="1471"/>
                      </a:lnTo>
                      <a:lnTo>
                        <a:pt x="226" y="1467"/>
                      </a:lnTo>
                      <a:lnTo>
                        <a:pt x="207" y="1463"/>
                      </a:lnTo>
                      <a:lnTo>
                        <a:pt x="181" y="1457"/>
                      </a:lnTo>
                      <a:lnTo>
                        <a:pt x="156" y="1449"/>
                      </a:lnTo>
                      <a:lnTo>
                        <a:pt x="129" y="1443"/>
                      </a:lnTo>
                      <a:lnTo>
                        <a:pt x="103" y="1433"/>
                      </a:lnTo>
                      <a:lnTo>
                        <a:pt x="80" y="1424"/>
                      </a:lnTo>
                      <a:lnTo>
                        <a:pt x="63" y="1417"/>
                      </a:lnTo>
                      <a:lnTo>
                        <a:pt x="46" y="1408"/>
                      </a:lnTo>
                      <a:lnTo>
                        <a:pt x="32" y="1399"/>
                      </a:lnTo>
                      <a:lnTo>
                        <a:pt x="22" y="1390"/>
                      </a:lnTo>
                      <a:lnTo>
                        <a:pt x="12" y="1380"/>
                      </a:lnTo>
                      <a:lnTo>
                        <a:pt x="5" y="1372"/>
                      </a:lnTo>
                      <a:lnTo>
                        <a:pt x="0" y="1360"/>
                      </a:lnTo>
                      <a:lnTo>
                        <a:pt x="0" y="1349"/>
                      </a:lnTo>
                      <a:lnTo>
                        <a:pt x="0" y="0"/>
                      </a:lnTo>
                      <a:close/>
                    </a:path>
                  </a:pathLst>
                </a:custGeom>
                <a:solidFill>
                  <a:srgbClr val="808080"/>
                </a:solidFill>
                <a:ln w="9525">
                  <a:noFill/>
                  <a:round/>
                  <a:headEnd/>
                  <a:tailEnd/>
                </a:ln>
              </p:spPr>
              <p:txBody>
                <a:bodyPr/>
                <a:lstStyle/>
                <a:p>
                  <a:endParaRPr lang="en-US"/>
                </a:p>
              </p:txBody>
            </p:sp>
            <p:sp>
              <p:nvSpPr>
                <p:cNvPr id="38948" name="Freeform 201"/>
                <p:cNvSpPr>
                  <a:spLocks/>
                </p:cNvSpPr>
                <p:nvPr/>
              </p:nvSpPr>
              <p:spPr bwMode="auto">
                <a:xfrm>
                  <a:off x="1929" y="1725"/>
                  <a:ext cx="181" cy="1364"/>
                </a:xfrm>
                <a:custGeom>
                  <a:avLst/>
                  <a:gdLst>
                    <a:gd name="T0" fmla="*/ 0 w 181"/>
                    <a:gd name="T1" fmla="*/ 0 h 1364"/>
                    <a:gd name="T2" fmla="*/ 30 w 181"/>
                    <a:gd name="T3" fmla="*/ 4 h 1364"/>
                    <a:gd name="T4" fmla="*/ 55 w 181"/>
                    <a:gd name="T5" fmla="*/ 7 h 1364"/>
                    <a:gd name="T6" fmla="*/ 87 w 181"/>
                    <a:gd name="T7" fmla="*/ 10 h 1364"/>
                    <a:gd name="T8" fmla="*/ 113 w 181"/>
                    <a:gd name="T9" fmla="*/ 13 h 1364"/>
                    <a:gd name="T10" fmla="*/ 144 w 181"/>
                    <a:gd name="T11" fmla="*/ 17 h 1364"/>
                    <a:gd name="T12" fmla="*/ 181 w 181"/>
                    <a:gd name="T13" fmla="*/ 20 h 1364"/>
                    <a:gd name="T14" fmla="*/ 181 w 181"/>
                    <a:gd name="T15" fmla="*/ 1364 h 1364"/>
                    <a:gd name="T16" fmla="*/ 167 w 181"/>
                    <a:gd name="T17" fmla="*/ 1364 h 1364"/>
                    <a:gd name="T18" fmla="*/ 153 w 181"/>
                    <a:gd name="T19" fmla="*/ 1363 h 1364"/>
                    <a:gd name="T20" fmla="*/ 143 w 181"/>
                    <a:gd name="T21" fmla="*/ 1362 h 1364"/>
                    <a:gd name="T22" fmla="*/ 132 w 181"/>
                    <a:gd name="T23" fmla="*/ 1361 h 1364"/>
                    <a:gd name="T24" fmla="*/ 121 w 181"/>
                    <a:gd name="T25" fmla="*/ 1360 h 1364"/>
                    <a:gd name="T26" fmla="*/ 109 w 181"/>
                    <a:gd name="T27" fmla="*/ 1358 h 1364"/>
                    <a:gd name="T28" fmla="*/ 98 w 181"/>
                    <a:gd name="T29" fmla="*/ 1357 h 1364"/>
                    <a:gd name="T30" fmla="*/ 82 w 181"/>
                    <a:gd name="T31" fmla="*/ 1355 h 1364"/>
                    <a:gd name="T32" fmla="*/ 70 w 181"/>
                    <a:gd name="T33" fmla="*/ 1353 h 1364"/>
                    <a:gd name="T34" fmla="*/ 57 w 181"/>
                    <a:gd name="T35" fmla="*/ 1353 h 1364"/>
                    <a:gd name="T36" fmla="*/ 44 w 181"/>
                    <a:gd name="T37" fmla="*/ 1351 h 1364"/>
                    <a:gd name="T38" fmla="*/ 29 w 181"/>
                    <a:gd name="T39" fmla="*/ 1349 h 1364"/>
                    <a:gd name="T40" fmla="*/ 16 w 181"/>
                    <a:gd name="T41" fmla="*/ 1347 h 1364"/>
                    <a:gd name="T42" fmla="*/ 0 w 181"/>
                    <a:gd name="T43" fmla="*/ 1345 h 1364"/>
                    <a:gd name="T44" fmla="*/ 0 w 181"/>
                    <a:gd name="T45" fmla="*/ 0 h 136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81"/>
                    <a:gd name="T70" fmla="*/ 0 h 1364"/>
                    <a:gd name="T71" fmla="*/ 181 w 181"/>
                    <a:gd name="T72" fmla="*/ 1364 h 136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81" h="1364">
                      <a:moveTo>
                        <a:pt x="0" y="0"/>
                      </a:moveTo>
                      <a:lnTo>
                        <a:pt x="30" y="4"/>
                      </a:lnTo>
                      <a:lnTo>
                        <a:pt x="55" y="7"/>
                      </a:lnTo>
                      <a:lnTo>
                        <a:pt x="87" y="10"/>
                      </a:lnTo>
                      <a:lnTo>
                        <a:pt x="113" y="13"/>
                      </a:lnTo>
                      <a:lnTo>
                        <a:pt x="144" y="17"/>
                      </a:lnTo>
                      <a:lnTo>
                        <a:pt x="181" y="20"/>
                      </a:lnTo>
                      <a:lnTo>
                        <a:pt x="181" y="1364"/>
                      </a:lnTo>
                      <a:lnTo>
                        <a:pt x="167" y="1364"/>
                      </a:lnTo>
                      <a:lnTo>
                        <a:pt x="153" y="1363"/>
                      </a:lnTo>
                      <a:lnTo>
                        <a:pt x="143" y="1362"/>
                      </a:lnTo>
                      <a:lnTo>
                        <a:pt x="132" y="1361"/>
                      </a:lnTo>
                      <a:lnTo>
                        <a:pt x="121" y="1360"/>
                      </a:lnTo>
                      <a:lnTo>
                        <a:pt x="109" y="1358"/>
                      </a:lnTo>
                      <a:lnTo>
                        <a:pt x="98" y="1357"/>
                      </a:lnTo>
                      <a:lnTo>
                        <a:pt x="82" y="1355"/>
                      </a:lnTo>
                      <a:lnTo>
                        <a:pt x="70" y="1353"/>
                      </a:lnTo>
                      <a:lnTo>
                        <a:pt x="57" y="1353"/>
                      </a:lnTo>
                      <a:lnTo>
                        <a:pt x="44" y="1351"/>
                      </a:lnTo>
                      <a:lnTo>
                        <a:pt x="29" y="1349"/>
                      </a:lnTo>
                      <a:lnTo>
                        <a:pt x="16" y="1347"/>
                      </a:lnTo>
                      <a:lnTo>
                        <a:pt x="0" y="1345"/>
                      </a:lnTo>
                      <a:lnTo>
                        <a:pt x="0" y="0"/>
                      </a:lnTo>
                      <a:close/>
                    </a:path>
                  </a:pathLst>
                </a:custGeom>
                <a:solidFill>
                  <a:srgbClr val="A0A0A0"/>
                </a:solidFill>
                <a:ln w="9525">
                  <a:noFill/>
                  <a:round/>
                  <a:headEnd/>
                  <a:tailEnd/>
                </a:ln>
              </p:spPr>
              <p:txBody>
                <a:bodyPr/>
                <a:lstStyle/>
                <a:p>
                  <a:endParaRPr lang="en-US"/>
                </a:p>
              </p:txBody>
            </p:sp>
          </p:grpSp>
          <p:grpSp>
            <p:nvGrpSpPr>
              <p:cNvPr id="38934" name="Group 202"/>
              <p:cNvGrpSpPr>
                <a:grpSpLocks/>
              </p:cNvGrpSpPr>
              <p:nvPr/>
            </p:nvGrpSpPr>
            <p:grpSpPr bwMode="auto">
              <a:xfrm>
                <a:off x="3690" y="2714"/>
                <a:ext cx="1377" cy="852"/>
                <a:chOff x="1638" y="2042"/>
                <a:chExt cx="1377" cy="852"/>
              </a:xfrm>
            </p:grpSpPr>
            <p:sp>
              <p:nvSpPr>
                <p:cNvPr id="38944" name="Freeform 203"/>
                <p:cNvSpPr>
                  <a:spLocks/>
                </p:cNvSpPr>
                <p:nvPr/>
              </p:nvSpPr>
              <p:spPr bwMode="auto">
                <a:xfrm>
                  <a:off x="1638" y="2042"/>
                  <a:ext cx="1377" cy="852"/>
                </a:xfrm>
                <a:custGeom>
                  <a:avLst/>
                  <a:gdLst>
                    <a:gd name="T0" fmla="*/ 7 w 1377"/>
                    <a:gd name="T1" fmla="*/ 17 h 852"/>
                    <a:gd name="T2" fmla="*/ 35 w 1377"/>
                    <a:gd name="T3" fmla="*/ 40 h 852"/>
                    <a:gd name="T4" fmla="*/ 91 w 1377"/>
                    <a:gd name="T5" fmla="*/ 70 h 852"/>
                    <a:gd name="T6" fmla="*/ 160 w 1377"/>
                    <a:gd name="T7" fmla="*/ 92 h 852"/>
                    <a:gd name="T8" fmla="*/ 252 w 1377"/>
                    <a:gd name="T9" fmla="*/ 114 h 852"/>
                    <a:gd name="T10" fmla="*/ 313 w 1377"/>
                    <a:gd name="T11" fmla="*/ 122 h 852"/>
                    <a:gd name="T12" fmla="*/ 397 w 1377"/>
                    <a:gd name="T13" fmla="*/ 133 h 852"/>
                    <a:gd name="T14" fmla="*/ 503 w 1377"/>
                    <a:gd name="T15" fmla="*/ 142 h 852"/>
                    <a:gd name="T16" fmla="*/ 641 w 1377"/>
                    <a:gd name="T17" fmla="*/ 147 h 852"/>
                    <a:gd name="T18" fmla="*/ 770 w 1377"/>
                    <a:gd name="T19" fmla="*/ 147 h 852"/>
                    <a:gd name="T20" fmla="*/ 917 w 1377"/>
                    <a:gd name="T21" fmla="*/ 138 h 852"/>
                    <a:gd name="T22" fmla="*/ 1017 w 1377"/>
                    <a:gd name="T23" fmla="*/ 130 h 852"/>
                    <a:gd name="T24" fmla="*/ 1115 w 1377"/>
                    <a:gd name="T25" fmla="*/ 115 h 852"/>
                    <a:gd name="T26" fmla="*/ 1184 w 1377"/>
                    <a:gd name="T27" fmla="*/ 100 h 852"/>
                    <a:gd name="T28" fmla="*/ 1260 w 1377"/>
                    <a:gd name="T29" fmla="*/ 78 h 852"/>
                    <a:gd name="T30" fmla="*/ 1312 w 1377"/>
                    <a:gd name="T31" fmla="*/ 57 h 852"/>
                    <a:gd name="T32" fmla="*/ 1347 w 1377"/>
                    <a:gd name="T33" fmla="*/ 36 h 852"/>
                    <a:gd name="T34" fmla="*/ 1369 w 1377"/>
                    <a:gd name="T35" fmla="*/ 15 h 852"/>
                    <a:gd name="T36" fmla="*/ 1376 w 1377"/>
                    <a:gd name="T37" fmla="*/ 691 h 852"/>
                    <a:gd name="T38" fmla="*/ 1374 w 1377"/>
                    <a:gd name="T39" fmla="*/ 707 h 852"/>
                    <a:gd name="T40" fmla="*/ 1365 w 1377"/>
                    <a:gd name="T41" fmla="*/ 722 h 852"/>
                    <a:gd name="T42" fmla="*/ 1349 w 1377"/>
                    <a:gd name="T43" fmla="*/ 737 h 852"/>
                    <a:gd name="T44" fmla="*/ 1327 w 1377"/>
                    <a:gd name="T45" fmla="*/ 752 h 852"/>
                    <a:gd name="T46" fmla="*/ 1298 w 1377"/>
                    <a:gd name="T47" fmla="*/ 767 h 852"/>
                    <a:gd name="T48" fmla="*/ 1265 w 1377"/>
                    <a:gd name="T49" fmla="*/ 781 h 852"/>
                    <a:gd name="T50" fmla="*/ 1227 w 1377"/>
                    <a:gd name="T51" fmla="*/ 793 h 852"/>
                    <a:gd name="T52" fmla="*/ 1190 w 1377"/>
                    <a:gd name="T53" fmla="*/ 803 h 852"/>
                    <a:gd name="T54" fmla="*/ 1146 w 1377"/>
                    <a:gd name="T55" fmla="*/ 813 h 852"/>
                    <a:gd name="T56" fmla="*/ 1089 w 1377"/>
                    <a:gd name="T57" fmla="*/ 824 h 852"/>
                    <a:gd name="T58" fmla="*/ 1037 w 1377"/>
                    <a:gd name="T59" fmla="*/ 831 h 852"/>
                    <a:gd name="T60" fmla="*/ 974 w 1377"/>
                    <a:gd name="T61" fmla="*/ 838 h 852"/>
                    <a:gd name="T62" fmla="*/ 894 w 1377"/>
                    <a:gd name="T63" fmla="*/ 846 h 852"/>
                    <a:gd name="T64" fmla="*/ 804 w 1377"/>
                    <a:gd name="T65" fmla="*/ 850 h 852"/>
                    <a:gd name="T66" fmla="*/ 716 w 1377"/>
                    <a:gd name="T67" fmla="*/ 852 h 852"/>
                    <a:gd name="T68" fmla="*/ 622 w 1377"/>
                    <a:gd name="T69" fmla="*/ 850 h 852"/>
                    <a:gd name="T70" fmla="*/ 489 w 1377"/>
                    <a:gd name="T71" fmla="*/ 846 h 852"/>
                    <a:gd name="T72" fmla="*/ 368 w 1377"/>
                    <a:gd name="T73" fmla="*/ 835 h 852"/>
                    <a:gd name="T74" fmla="*/ 294 w 1377"/>
                    <a:gd name="T75" fmla="*/ 824 h 852"/>
                    <a:gd name="T76" fmla="*/ 226 w 1377"/>
                    <a:gd name="T77" fmla="*/ 810 h 852"/>
                    <a:gd name="T78" fmla="*/ 156 w 1377"/>
                    <a:gd name="T79" fmla="*/ 794 h 852"/>
                    <a:gd name="T80" fmla="*/ 80 w 1377"/>
                    <a:gd name="T81" fmla="*/ 769 h 852"/>
                    <a:gd name="T82" fmla="*/ 32 w 1377"/>
                    <a:gd name="T83" fmla="*/ 743 h 852"/>
                    <a:gd name="T84" fmla="*/ 5 w 1377"/>
                    <a:gd name="T85" fmla="*/ 716 h 852"/>
                    <a:gd name="T86" fmla="*/ 0 w 1377"/>
                    <a:gd name="T87" fmla="*/ 0 h 85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377"/>
                    <a:gd name="T133" fmla="*/ 0 h 852"/>
                    <a:gd name="T134" fmla="*/ 1377 w 1377"/>
                    <a:gd name="T135" fmla="*/ 852 h 85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377" h="852">
                      <a:moveTo>
                        <a:pt x="0" y="0"/>
                      </a:moveTo>
                      <a:lnTo>
                        <a:pt x="2" y="9"/>
                      </a:lnTo>
                      <a:lnTo>
                        <a:pt x="7" y="17"/>
                      </a:lnTo>
                      <a:lnTo>
                        <a:pt x="14" y="26"/>
                      </a:lnTo>
                      <a:lnTo>
                        <a:pt x="22" y="31"/>
                      </a:lnTo>
                      <a:lnTo>
                        <a:pt x="35" y="40"/>
                      </a:lnTo>
                      <a:lnTo>
                        <a:pt x="52" y="52"/>
                      </a:lnTo>
                      <a:lnTo>
                        <a:pt x="72" y="62"/>
                      </a:lnTo>
                      <a:lnTo>
                        <a:pt x="91" y="70"/>
                      </a:lnTo>
                      <a:lnTo>
                        <a:pt x="111" y="77"/>
                      </a:lnTo>
                      <a:lnTo>
                        <a:pt x="134" y="85"/>
                      </a:lnTo>
                      <a:lnTo>
                        <a:pt x="160" y="92"/>
                      </a:lnTo>
                      <a:lnTo>
                        <a:pt x="187" y="99"/>
                      </a:lnTo>
                      <a:lnTo>
                        <a:pt x="219" y="106"/>
                      </a:lnTo>
                      <a:lnTo>
                        <a:pt x="252" y="114"/>
                      </a:lnTo>
                      <a:lnTo>
                        <a:pt x="273" y="117"/>
                      </a:lnTo>
                      <a:lnTo>
                        <a:pt x="294" y="120"/>
                      </a:lnTo>
                      <a:lnTo>
                        <a:pt x="313" y="122"/>
                      </a:lnTo>
                      <a:lnTo>
                        <a:pt x="334" y="126"/>
                      </a:lnTo>
                      <a:lnTo>
                        <a:pt x="362" y="130"/>
                      </a:lnTo>
                      <a:lnTo>
                        <a:pt x="397" y="133"/>
                      </a:lnTo>
                      <a:lnTo>
                        <a:pt x="436" y="138"/>
                      </a:lnTo>
                      <a:lnTo>
                        <a:pt x="471" y="140"/>
                      </a:lnTo>
                      <a:lnTo>
                        <a:pt x="503" y="142"/>
                      </a:lnTo>
                      <a:lnTo>
                        <a:pt x="549" y="145"/>
                      </a:lnTo>
                      <a:lnTo>
                        <a:pt x="592" y="147"/>
                      </a:lnTo>
                      <a:lnTo>
                        <a:pt x="641" y="147"/>
                      </a:lnTo>
                      <a:lnTo>
                        <a:pt x="689" y="147"/>
                      </a:lnTo>
                      <a:lnTo>
                        <a:pt x="726" y="147"/>
                      </a:lnTo>
                      <a:lnTo>
                        <a:pt x="770" y="147"/>
                      </a:lnTo>
                      <a:lnTo>
                        <a:pt x="823" y="145"/>
                      </a:lnTo>
                      <a:lnTo>
                        <a:pt x="869" y="142"/>
                      </a:lnTo>
                      <a:lnTo>
                        <a:pt x="917" y="138"/>
                      </a:lnTo>
                      <a:lnTo>
                        <a:pt x="945" y="137"/>
                      </a:lnTo>
                      <a:lnTo>
                        <a:pt x="979" y="133"/>
                      </a:lnTo>
                      <a:lnTo>
                        <a:pt x="1017" y="130"/>
                      </a:lnTo>
                      <a:lnTo>
                        <a:pt x="1045" y="126"/>
                      </a:lnTo>
                      <a:lnTo>
                        <a:pt x="1080" y="120"/>
                      </a:lnTo>
                      <a:lnTo>
                        <a:pt x="1115" y="115"/>
                      </a:lnTo>
                      <a:lnTo>
                        <a:pt x="1146" y="109"/>
                      </a:lnTo>
                      <a:lnTo>
                        <a:pt x="1165" y="105"/>
                      </a:lnTo>
                      <a:lnTo>
                        <a:pt x="1184" y="100"/>
                      </a:lnTo>
                      <a:lnTo>
                        <a:pt x="1212" y="93"/>
                      </a:lnTo>
                      <a:lnTo>
                        <a:pt x="1238" y="86"/>
                      </a:lnTo>
                      <a:lnTo>
                        <a:pt x="1260" y="78"/>
                      </a:lnTo>
                      <a:lnTo>
                        <a:pt x="1284" y="70"/>
                      </a:lnTo>
                      <a:lnTo>
                        <a:pt x="1300" y="63"/>
                      </a:lnTo>
                      <a:lnTo>
                        <a:pt x="1312" y="57"/>
                      </a:lnTo>
                      <a:lnTo>
                        <a:pt x="1325" y="50"/>
                      </a:lnTo>
                      <a:lnTo>
                        <a:pt x="1336" y="44"/>
                      </a:lnTo>
                      <a:lnTo>
                        <a:pt x="1347" y="36"/>
                      </a:lnTo>
                      <a:lnTo>
                        <a:pt x="1358" y="28"/>
                      </a:lnTo>
                      <a:lnTo>
                        <a:pt x="1364" y="21"/>
                      </a:lnTo>
                      <a:lnTo>
                        <a:pt x="1369" y="15"/>
                      </a:lnTo>
                      <a:lnTo>
                        <a:pt x="1373" y="8"/>
                      </a:lnTo>
                      <a:lnTo>
                        <a:pt x="1377" y="1"/>
                      </a:lnTo>
                      <a:lnTo>
                        <a:pt x="1376" y="691"/>
                      </a:lnTo>
                      <a:lnTo>
                        <a:pt x="1377" y="699"/>
                      </a:lnTo>
                      <a:lnTo>
                        <a:pt x="1375" y="703"/>
                      </a:lnTo>
                      <a:lnTo>
                        <a:pt x="1374" y="707"/>
                      </a:lnTo>
                      <a:lnTo>
                        <a:pt x="1373" y="713"/>
                      </a:lnTo>
                      <a:lnTo>
                        <a:pt x="1370" y="716"/>
                      </a:lnTo>
                      <a:lnTo>
                        <a:pt x="1365" y="722"/>
                      </a:lnTo>
                      <a:lnTo>
                        <a:pt x="1360" y="729"/>
                      </a:lnTo>
                      <a:lnTo>
                        <a:pt x="1355" y="733"/>
                      </a:lnTo>
                      <a:lnTo>
                        <a:pt x="1349" y="737"/>
                      </a:lnTo>
                      <a:lnTo>
                        <a:pt x="1344" y="742"/>
                      </a:lnTo>
                      <a:lnTo>
                        <a:pt x="1336" y="747"/>
                      </a:lnTo>
                      <a:lnTo>
                        <a:pt x="1327" y="752"/>
                      </a:lnTo>
                      <a:lnTo>
                        <a:pt x="1319" y="758"/>
                      </a:lnTo>
                      <a:lnTo>
                        <a:pt x="1310" y="762"/>
                      </a:lnTo>
                      <a:lnTo>
                        <a:pt x="1298" y="767"/>
                      </a:lnTo>
                      <a:lnTo>
                        <a:pt x="1286" y="773"/>
                      </a:lnTo>
                      <a:lnTo>
                        <a:pt x="1275" y="777"/>
                      </a:lnTo>
                      <a:lnTo>
                        <a:pt x="1265" y="781"/>
                      </a:lnTo>
                      <a:lnTo>
                        <a:pt x="1252" y="784"/>
                      </a:lnTo>
                      <a:lnTo>
                        <a:pt x="1239" y="788"/>
                      </a:lnTo>
                      <a:lnTo>
                        <a:pt x="1227" y="793"/>
                      </a:lnTo>
                      <a:lnTo>
                        <a:pt x="1216" y="796"/>
                      </a:lnTo>
                      <a:lnTo>
                        <a:pt x="1204" y="799"/>
                      </a:lnTo>
                      <a:lnTo>
                        <a:pt x="1190" y="803"/>
                      </a:lnTo>
                      <a:lnTo>
                        <a:pt x="1173" y="807"/>
                      </a:lnTo>
                      <a:lnTo>
                        <a:pt x="1158" y="810"/>
                      </a:lnTo>
                      <a:lnTo>
                        <a:pt x="1146" y="813"/>
                      </a:lnTo>
                      <a:lnTo>
                        <a:pt x="1132" y="815"/>
                      </a:lnTo>
                      <a:lnTo>
                        <a:pt x="1109" y="820"/>
                      </a:lnTo>
                      <a:lnTo>
                        <a:pt x="1089" y="824"/>
                      </a:lnTo>
                      <a:lnTo>
                        <a:pt x="1070" y="825"/>
                      </a:lnTo>
                      <a:lnTo>
                        <a:pt x="1054" y="828"/>
                      </a:lnTo>
                      <a:lnTo>
                        <a:pt x="1037" y="831"/>
                      </a:lnTo>
                      <a:lnTo>
                        <a:pt x="1017" y="833"/>
                      </a:lnTo>
                      <a:lnTo>
                        <a:pt x="998" y="835"/>
                      </a:lnTo>
                      <a:lnTo>
                        <a:pt x="974" y="838"/>
                      </a:lnTo>
                      <a:lnTo>
                        <a:pt x="948" y="840"/>
                      </a:lnTo>
                      <a:lnTo>
                        <a:pt x="920" y="843"/>
                      </a:lnTo>
                      <a:lnTo>
                        <a:pt x="894" y="846"/>
                      </a:lnTo>
                      <a:lnTo>
                        <a:pt x="867" y="848"/>
                      </a:lnTo>
                      <a:lnTo>
                        <a:pt x="837" y="849"/>
                      </a:lnTo>
                      <a:lnTo>
                        <a:pt x="804" y="850"/>
                      </a:lnTo>
                      <a:lnTo>
                        <a:pt x="772" y="850"/>
                      </a:lnTo>
                      <a:lnTo>
                        <a:pt x="738" y="852"/>
                      </a:lnTo>
                      <a:lnTo>
                        <a:pt x="716" y="852"/>
                      </a:lnTo>
                      <a:lnTo>
                        <a:pt x="689" y="852"/>
                      </a:lnTo>
                      <a:lnTo>
                        <a:pt x="660" y="852"/>
                      </a:lnTo>
                      <a:lnTo>
                        <a:pt x="622" y="850"/>
                      </a:lnTo>
                      <a:lnTo>
                        <a:pt x="577" y="850"/>
                      </a:lnTo>
                      <a:lnTo>
                        <a:pt x="534" y="848"/>
                      </a:lnTo>
                      <a:lnTo>
                        <a:pt x="489" y="846"/>
                      </a:lnTo>
                      <a:lnTo>
                        <a:pt x="450" y="843"/>
                      </a:lnTo>
                      <a:lnTo>
                        <a:pt x="409" y="839"/>
                      </a:lnTo>
                      <a:lnTo>
                        <a:pt x="368" y="835"/>
                      </a:lnTo>
                      <a:lnTo>
                        <a:pt x="335" y="831"/>
                      </a:lnTo>
                      <a:lnTo>
                        <a:pt x="316" y="827"/>
                      </a:lnTo>
                      <a:lnTo>
                        <a:pt x="294" y="824"/>
                      </a:lnTo>
                      <a:lnTo>
                        <a:pt x="270" y="820"/>
                      </a:lnTo>
                      <a:lnTo>
                        <a:pt x="248" y="815"/>
                      </a:lnTo>
                      <a:lnTo>
                        <a:pt x="226" y="810"/>
                      </a:lnTo>
                      <a:lnTo>
                        <a:pt x="207" y="808"/>
                      </a:lnTo>
                      <a:lnTo>
                        <a:pt x="181" y="801"/>
                      </a:lnTo>
                      <a:lnTo>
                        <a:pt x="156" y="794"/>
                      </a:lnTo>
                      <a:lnTo>
                        <a:pt x="129" y="787"/>
                      </a:lnTo>
                      <a:lnTo>
                        <a:pt x="103" y="777"/>
                      </a:lnTo>
                      <a:lnTo>
                        <a:pt x="80" y="769"/>
                      </a:lnTo>
                      <a:lnTo>
                        <a:pt x="63" y="760"/>
                      </a:lnTo>
                      <a:lnTo>
                        <a:pt x="46" y="752"/>
                      </a:lnTo>
                      <a:lnTo>
                        <a:pt x="32" y="743"/>
                      </a:lnTo>
                      <a:lnTo>
                        <a:pt x="22" y="734"/>
                      </a:lnTo>
                      <a:lnTo>
                        <a:pt x="12" y="723"/>
                      </a:lnTo>
                      <a:lnTo>
                        <a:pt x="5" y="716"/>
                      </a:lnTo>
                      <a:lnTo>
                        <a:pt x="0" y="704"/>
                      </a:lnTo>
                      <a:lnTo>
                        <a:pt x="0" y="693"/>
                      </a:lnTo>
                      <a:lnTo>
                        <a:pt x="0" y="0"/>
                      </a:lnTo>
                      <a:close/>
                    </a:path>
                  </a:pathLst>
                </a:custGeom>
                <a:solidFill>
                  <a:srgbClr val="A0A0A0"/>
                </a:solidFill>
                <a:ln w="9525">
                  <a:noFill/>
                  <a:round/>
                  <a:headEnd/>
                  <a:tailEnd/>
                </a:ln>
              </p:spPr>
              <p:txBody>
                <a:bodyPr/>
                <a:lstStyle/>
                <a:p>
                  <a:endParaRPr lang="en-US"/>
                </a:p>
              </p:txBody>
            </p:sp>
            <p:sp>
              <p:nvSpPr>
                <p:cNvPr id="38945" name="Freeform 204"/>
                <p:cNvSpPr>
                  <a:spLocks/>
                </p:cNvSpPr>
                <p:nvPr/>
              </p:nvSpPr>
              <p:spPr bwMode="auto">
                <a:xfrm>
                  <a:off x="1929" y="2162"/>
                  <a:ext cx="181" cy="725"/>
                </a:xfrm>
                <a:custGeom>
                  <a:avLst/>
                  <a:gdLst>
                    <a:gd name="T0" fmla="*/ 0 w 181"/>
                    <a:gd name="T1" fmla="*/ 0 h 725"/>
                    <a:gd name="T2" fmla="*/ 16 w 181"/>
                    <a:gd name="T3" fmla="*/ 2 h 725"/>
                    <a:gd name="T4" fmla="*/ 30 w 181"/>
                    <a:gd name="T5" fmla="*/ 4 h 725"/>
                    <a:gd name="T6" fmla="*/ 42 w 181"/>
                    <a:gd name="T7" fmla="*/ 7 h 725"/>
                    <a:gd name="T8" fmla="*/ 55 w 181"/>
                    <a:gd name="T9" fmla="*/ 8 h 725"/>
                    <a:gd name="T10" fmla="*/ 74 w 181"/>
                    <a:gd name="T11" fmla="*/ 10 h 725"/>
                    <a:gd name="T12" fmla="*/ 97 w 181"/>
                    <a:gd name="T13" fmla="*/ 13 h 725"/>
                    <a:gd name="T14" fmla="*/ 115 w 181"/>
                    <a:gd name="T15" fmla="*/ 16 h 725"/>
                    <a:gd name="T16" fmla="*/ 130 w 181"/>
                    <a:gd name="T17" fmla="*/ 17 h 725"/>
                    <a:gd name="T18" fmla="*/ 144 w 181"/>
                    <a:gd name="T19" fmla="*/ 18 h 725"/>
                    <a:gd name="T20" fmla="*/ 163 w 181"/>
                    <a:gd name="T21" fmla="*/ 20 h 725"/>
                    <a:gd name="T22" fmla="*/ 181 w 181"/>
                    <a:gd name="T23" fmla="*/ 21 h 725"/>
                    <a:gd name="T24" fmla="*/ 181 w 181"/>
                    <a:gd name="T25" fmla="*/ 725 h 725"/>
                    <a:gd name="T26" fmla="*/ 167 w 181"/>
                    <a:gd name="T27" fmla="*/ 725 h 725"/>
                    <a:gd name="T28" fmla="*/ 154 w 181"/>
                    <a:gd name="T29" fmla="*/ 723 h 725"/>
                    <a:gd name="T30" fmla="*/ 142 w 181"/>
                    <a:gd name="T31" fmla="*/ 721 h 725"/>
                    <a:gd name="T32" fmla="*/ 132 w 181"/>
                    <a:gd name="T33" fmla="*/ 721 h 725"/>
                    <a:gd name="T34" fmla="*/ 121 w 181"/>
                    <a:gd name="T35" fmla="*/ 720 h 725"/>
                    <a:gd name="T36" fmla="*/ 109 w 181"/>
                    <a:gd name="T37" fmla="*/ 718 h 725"/>
                    <a:gd name="T38" fmla="*/ 98 w 181"/>
                    <a:gd name="T39" fmla="*/ 717 h 725"/>
                    <a:gd name="T40" fmla="*/ 85 w 181"/>
                    <a:gd name="T41" fmla="*/ 716 h 725"/>
                    <a:gd name="T42" fmla="*/ 72 w 181"/>
                    <a:gd name="T43" fmla="*/ 715 h 725"/>
                    <a:gd name="T44" fmla="*/ 58 w 181"/>
                    <a:gd name="T45" fmla="*/ 713 h 725"/>
                    <a:gd name="T46" fmla="*/ 43 w 181"/>
                    <a:gd name="T47" fmla="*/ 711 h 725"/>
                    <a:gd name="T48" fmla="*/ 28 w 181"/>
                    <a:gd name="T49" fmla="*/ 708 h 725"/>
                    <a:gd name="T50" fmla="*/ 16 w 181"/>
                    <a:gd name="T51" fmla="*/ 706 h 725"/>
                    <a:gd name="T52" fmla="*/ 1 w 181"/>
                    <a:gd name="T53" fmla="*/ 703 h 725"/>
                    <a:gd name="T54" fmla="*/ 0 w 181"/>
                    <a:gd name="T55" fmla="*/ 0 h 725"/>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81"/>
                    <a:gd name="T85" fmla="*/ 0 h 725"/>
                    <a:gd name="T86" fmla="*/ 181 w 181"/>
                    <a:gd name="T87" fmla="*/ 725 h 725"/>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81" h="725">
                      <a:moveTo>
                        <a:pt x="0" y="0"/>
                      </a:moveTo>
                      <a:lnTo>
                        <a:pt x="16" y="2"/>
                      </a:lnTo>
                      <a:lnTo>
                        <a:pt x="30" y="4"/>
                      </a:lnTo>
                      <a:lnTo>
                        <a:pt x="42" y="7"/>
                      </a:lnTo>
                      <a:lnTo>
                        <a:pt x="55" y="8"/>
                      </a:lnTo>
                      <a:lnTo>
                        <a:pt x="74" y="10"/>
                      </a:lnTo>
                      <a:lnTo>
                        <a:pt x="97" y="13"/>
                      </a:lnTo>
                      <a:lnTo>
                        <a:pt x="115" y="16"/>
                      </a:lnTo>
                      <a:lnTo>
                        <a:pt x="130" y="17"/>
                      </a:lnTo>
                      <a:lnTo>
                        <a:pt x="144" y="18"/>
                      </a:lnTo>
                      <a:lnTo>
                        <a:pt x="163" y="20"/>
                      </a:lnTo>
                      <a:lnTo>
                        <a:pt x="181" y="21"/>
                      </a:lnTo>
                      <a:lnTo>
                        <a:pt x="181" y="725"/>
                      </a:lnTo>
                      <a:lnTo>
                        <a:pt x="167" y="725"/>
                      </a:lnTo>
                      <a:lnTo>
                        <a:pt x="154" y="723"/>
                      </a:lnTo>
                      <a:lnTo>
                        <a:pt x="142" y="721"/>
                      </a:lnTo>
                      <a:lnTo>
                        <a:pt x="132" y="721"/>
                      </a:lnTo>
                      <a:lnTo>
                        <a:pt x="121" y="720"/>
                      </a:lnTo>
                      <a:lnTo>
                        <a:pt x="109" y="718"/>
                      </a:lnTo>
                      <a:lnTo>
                        <a:pt x="98" y="717"/>
                      </a:lnTo>
                      <a:lnTo>
                        <a:pt x="85" y="716"/>
                      </a:lnTo>
                      <a:lnTo>
                        <a:pt x="72" y="715"/>
                      </a:lnTo>
                      <a:lnTo>
                        <a:pt x="58" y="713"/>
                      </a:lnTo>
                      <a:lnTo>
                        <a:pt x="43" y="711"/>
                      </a:lnTo>
                      <a:lnTo>
                        <a:pt x="28" y="708"/>
                      </a:lnTo>
                      <a:lnTo>
                        <a:pt x="16" y="706"/>
                      </a:lnTo>
                      <a:lnTo>
                        <a:pt x="1" y="703"/>
                      </a:lnTo>
                      <a:lnTo>
                        <a:pt x="0" y="0"/>
                      </a:lnTo>
                      <a:close/>
                    </a:path>
                  </a:pathLst>
                </a:custGeom>
                <a:solidFill>
                  <a:srgbClr val="C0C0C0"/>
                </a:solidFill>
                <a:ln w="9525">
                  <a:noFill/>
                  <a:round/>
                  <a:headEnd/>
                  <a:tailEnd/>
                </a:ln>
              </p:spPr>
              <p:txBody>
                <a:bodyPr/>
                <a:lstStyle/>
                <a:p>
                  <a:endParaRPr lang="en-US"/>
                </a:p>
              </p:txBody>
            </p:sp>
          </p:grpSp>
          <p:grpSp>
            <p:nvGrpSpPr>
              <p:cNvPr id="38935" name="Group 205"/>
              <p:cNvGrpSpPr>
                <a:grpSpLocks/>
              </p:cNvGrpSpPr>
              <p:nvPr/>
            </p:nvGrpSpPr>
            <p:grpSpPr bwMode="auto">
              <a:xfrm>
                <a:off x="3688" y="2417"/>
                <a:ext cx="685" cy="630"/>
                <a:chOff x="1636" y="1745"/>
                <a:chExt cx="685" cy="630"/>
              </a:xfrm>
            </p:grpSpPr>
            <p:grpSp>
              <p:nvGrpSpPr>
                <p:cNvPr id="38940" name="Group 206"/>
                <p:cNvGrpSpPr>
                  <a:grpSpLocks/>
                </p:cNvGrpSpPr>
                <p:nvPr/>
              </p:nvGrpSpPr>
              <p:grpSpPr bwMode="auto">
                <a:xfrm>
                  <a:off x="1636" y="1745"/>
                  <a:ext cx="655" cy="630"/>
                  <a:chOff x="1636" y="1745"/>
                  <a:chExt cx="655" cy="630"/>
                </a:xfrm>
              </p:grpSpPr>
              <p:sp>
                <p:nvSpPr>
                  <p:cNvPr id="38942" name="Arc 207"/>
                  <p:cNvSpPr>
                    <a:spLocks/>
                  </p:cNvSpPr>
                  <p:nvPr/>
                </p:nvSpPr>
                <p:spPr bwMode="auto">
                  <a:xfrm>
                    <a:off x="1683" y="1745"/>
                    <a:ext cx="608" cy="627"/>
                  </a:xfrm>
                  <a:custGeom>
                    <a:avLst/>
                    <a:gdLst>
                      <a:gd name="T0" fmla="*/ 0 w 21600"/>
                      <a:gd name="T1" fmla="*/ 0 h 21600"/>
                      <a:gd name="T2" fmla="*/ 0 w 21600"/>
                      <a:gd name="T3" fmla="*/ 1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76200">
                    <a:solidFill>
                      <a:srgbClr val="E0E0E0"/>
                    </a:solidFill>
                    <a:round/>
                    <a:headEnd/>
                    <a:tailEnd/>
                  </a:ln>
                </p:spPr>
                <p:txBody>
                  <a:bodyPr/>
                  <a:lstStyle/>
                  <a:p>
                    <a:endParaRPr lang="en-US"/>
                  </a:p>
                </p:txBody>
              </p:sp>
              <p:sp>
                <p:nvSpPr>
                  <p:cNvPr id="38943" name="Arc 208"/>
                  <p:cNvSpPr>
                    <a:spLocks/>
                  </p:cNvSpPr>
                  <p:nvPr/>
                </p:nvSpPr>
                <p:spPr bwMode="auto">
                  <a:xfrm>
                    <a:off x="1636" y="2333"/>
                    <a:ext cx="47" cy="42"/>
                  </a:xfrm>
                  <a:custGeom>
                    <a:avLst/>
                    <a:gdLst>
                      <a:gd name="T0" fmla="*/ 0 w 21600"/>
                      <a:gd name="T1" fmla="*/ 0 h 22081"/>
                      <a:gd name="T2" fmla="*/ 0 w 21600"/>
                      <a:gd name="T3" fmla="*/ 0 h 22081"/>
                      <a:gd name="T4" fmla="*/ 0 w 21600"/>
                      <a:gd name="T5" fmla="*/ 0 h 22081"/>
                      <a:gd name="T6" fmla="*/ 0 60000 65536"/>
                      <a:gd name="T7" fmla="*/ 0 60000 65536"/>
                      <a:gd name="T8" fmla="*/ 0 60000 65536"/>
                      <a:gd name="T9" fmla="*/ 0 w 21600"/>
                      <a:gd name="T10" fmla="*/ 0 h 22081"/>
                      <a:gd name="T11" fmla="*/ 21600 w 21600"/>
                      <a:gd name="T12" fmla="*/ 22081 h 22081"/>
                    </a:gdLst>
                    <a:ahLst/>
                    <a:cxnLst>
                      <a:cxn ang="T6">
                        <a:pos x="T0" y="T1"/>
                      </a:cxn>
                      <a:cxn ang="T7">
                        <a:pos x="T2" y="T3"/>
                      </a:cxn>
                      <a:cxn ang="T8">
                        <a:pos x="T4" y="T5"/>
                      </a:cxn>
                    </a:cxnLst>
                    <a:rect l="T9" t="T10" r="T11" b="T12"/>
                    <a:pathLst>
                      <a:path w="21600" h="22081" fill="none" extrusionOk="0">
                        <a:moveTo>
                          <a:pt x="21181" y="22080"/>
                        </a:moveTo>
                        <a:cubicBezTo>
                          <a:pt x="9417" y="21852"/>
                          <a:pt x="0" y="12251"/>
                          <a:pt x="0" y="485"/>
                        </a:cubicBezTo>
                        <a:cubicBezTo>
                          <a:pt x="-1" y="323"/>
                          <a:pt x="1" y="161"/>
                          <a:pt x="5" y="0"/>
                        </a:cubicBezTo>
                      </a:path>
                      <a:path w="21600" h="22081" stroke="0" extrusionOk="0">
                        <a:moveTo>
                          <a:pt x="21181" y="22080"/>
                        </a:moveTo>
                        <a:cubicBezTo>
                          <a:pt x="9417" y="21852"/>
                          <a:pt x="0" y="12251"/>
                          <a:pt x="0" y="485"/>
                        </a:cubicBezTo>
                        <a:cubicBezTo>
                          <a:pt x="-1" y="323"/>
                          <a:pt x="1" y="161"/>
                          <a:pt x="5" y="0"/>
                        </a:cubicBezTo>
                        <a:lnTo>
                          <a:pt x="21600" y="485"/>
                        </a:lnTo>
                        <a:close/>
                      </a:path>
                    </a:pathLst>
                  </a:custGeom>
                  <a:noFill/>
                  <a:ln w="76200">
                    <a:solidFill>
                      <a:srgbClr val="E0E0E0"/>
                    </a:solidFill>
                    <a:round/>
                    <a:headEnd/>
                    <a:tailEnd/>
                  </a:ln>
                </p:spPr>
                <p:txBody>
                  <a:bodyPr/>
                  <a:lstStyle/>
                  <a:p>
                    <a:endParaRPr lang="en-US"/>
                  </a:p>
                </p:txBody>
              </p:sp>
            </p:grpSp>
            <p:sp>
              <p:nvSpPr>
                <p:cNvPr id="38941" name="Rectangle 209"/>
                <p:cNvSpPr>
                  <a:spLocks noChangeArrowheads="1"/>
                </p:cNvSpPr>
                <p:nvPr/>
              </p:nvSpPr>
              <p:spPr bwMode="auto">
                <a:xfrm>
                  <a:off x="2265" y="1751"/>
                  <a:ext cx="56" cy="38"/>
                </a:xfrm>
                <a:prstGeom prst="rect">
                  <a:avLst/>
                </a:prstGeom>
                <a:solidFill>
                  <a:srgbClr val="C0C0C0"/>
                </a:solidFill>
                <a:ln w="76200">
                  <a:solidFill>
                    <a:srgbClr val="000000"/>
                  </a:solidFill>
                  <a:miter lim="800000"/>
                  <a:headEnd/>
                  <a:tailEnd/>
                </a:ln>
              </p:spPr>
              <p:txBody>
                <a:bodyPr/>
                <a:lstStyle/>
                <a:p>
                  <a:endParaRPr lang="en-NZ">
                    <a:latin typeface="Calibri" pitchFamily="34" charset="0"/>
                  </a:endParaRPr>
                </a:p>
              </p:txBody>
            </p:sp>
          </p:grpSp>
          <p:sp>
            <p:nvSpPr>
              <p:cNvPr id="38936" name="Oval 210"/>
              <p:cNvSpPr>
                <a:spLocks noChangeArrowheads="1"/>
              </p:cNvSpPr>
              <p:nvPr/>
            </p:nvSpPr>
            <p:spPr bwMode="auto">
              <a:xfrm>
                <a:off x="3690" y="2111"/>
                <a:ext cx="1377" cy="312"/>
              </a:xfrm>
              <a:prstGeom prst="ellipse">
                <a:avLst/>
              </a:prstGeom>
              <a:solidFill>
                <a:srgbClr val="C0C0C0"/>
              </a:solidFill>
              <a:ln w="12700">
                <a:solidFill>
                  <a:srgbClr val="A0A0A0"/>
                </a:solidFill>
                <a:round/>
                <a:headEnd/>
                <a:tailEnd/>
              </a:ln>
            </p:spPr>
            <p:txBody>
              <a:bodyPr/>
              <a:lstStyle/>
              <a:p>
                <a:endParaRPr lang="en-NZ">
                  <a:latin typeface="Calibri" pitchFamily="34" charset="0"/>
                </a:endParaRPr>
              </a:p>
            </p:txBody>
          </p:sp>
          <p:sp>
            <p:nvSpPr>
              <p:cNvPr id="38937" name="Oval 211"/>
              <p:cNvSpPr>
                <a:spLocks noChangeArrowheads="1"/>
              </p:cNvSpPr>
              <p:nvPr/>
            </p:nvSpPr>
            <p:spPr bwMode="auto">
              <a:xfrm>
                <a:off x="3712" y="2132"/>
                <a:ext cx="1333" cy="269"/>
              </a:xfrm>
              <a:prstGeom prst="ellipse">
                <a:avLst/>
              </a:prstGeom>
              <a:solidFill>
                <a:srgbClr val="606060"/>
              </a:solidFill>
              <a:ln w="12700">
                <a:solidFill>
                  <a:srgbClr val="A0A0A0"/>
                </a:solidFill>
                <a:round/>
                <a:headEnd/>
                <a:tailEnd/>
              </a:ln>
            </p:spPr>
            <p:txBody>
              <a:bodyPr/>
              <a:lstStyle/>
              <a:p>
                <a:endParaRPr lang="en-NZ">
                  <a:latin typeface="Calibri" pitchFamily="34" charset="0"/>
                </a:endParaRPr>
              </a:p>
            </p:txBody>
          </p:sp>
          <p:sp>
            <p:nvSpPr>
              <p:cNvPr id="38938" name="Freeform 212"/>
              <p:cNvSpPr>
                <a:spLocks/>
              </p:cNvSpPr>
              <p:nvPr/>
            </p:nvSpPr>
            <p:spPr bwMode="auto">
              <a:xfrm>
                <a:off x="3984" y="2138"/>
                <a:ext cx="181" cy="256"/>
              </a:xfrm>
              <a:custGeom>
                <a:avLst/>
                <a:gdLst>
                  <a:gd name="T0" fmla="*/ 0 w 181"/>
                  <a:gd name="T1" fmla="*/ 20 h 256"/>
                  <a:gd name="T2" fmla="*/ 26 w 181"/>
                  <a:gd name="T3" fmla="*/ 16 h 256"/>
                  <a:gd name="T4" fmla="*/ 48 w 181"/>
                  <a:gd name="T5" fmla="*/ 13 h 256"/>
                  <a:gd name="T6" fmla="*/ 77 w 181"/>
                  <a:gd name="T7" fmla="*/ 9 h 256"/>
                  <a:gd name="T8" fmla="*/ 106 w 181"/>
                  <a:gd name="T9" fmla="*/ 7 h 256"/>
                  <a:gd name="T10" fmla="*/ 130 w 181"/>
                  <a:gd name="T11" fmla="*/ 4 h 256"/>
                  <a:gd name="T12" fmla="*/ 150 w 181"/>
                  <a:gd name="T13" fmla="*/ 1 h 256"/>
                  <a:gd name="T14" fmla="*/ 181 w 181"/>
                  <a:gd name="T15" fmla="*/ 0 h 256"/>
                  <a:gd name="T16" fmla="*/ 181 w 181"/>
                  <a:gd name="T17" fmla="*/ 256 h 256"/>
                  <a:gd name="T18" fmla="*/ 168 w 181"/>
                  <a:gd name="T19" fmla="*/ 254 h 256"/>
                  <a:gd name="T20" fmla="*/ 154 w 181"/>
                  <a:gd name="T21" fmla="*/ 254 h 256"/>
                  <a:gd name="T22" fmla="*/ 143 w 181"/>
                  <a:gd name="T23" fmla="*/ 252 h 256"/>
                  <a:gd name="T24" fmla="*/ 133 w 181"/>
                  <a:gd name="T25" fmla="*/ 251 h 256"/>
                  <a:gd name="T26" fmla="*/ 121 w 181"/>
                  <a:gd name="T27" fmla="*/ 251 h 256"/>
                  <a:gd name="T28" fmla="*/ 110 w 181"/>
                  <a:gd name="T29" fmla="*/ 250 h 256"/>
                  <a:gd name="T30" fmla="*/ 98 w 181"/>
                  <a:gd name="T31" fmla="*/ 249 h 256"/>
                  <a:gd name="T32" fmla="*/ 82 w 181"/>
                  <a:gd name="T33" fmla="*/ 246 h 256"/>
                  <a:gd name="T34" fmla="*/ 71 w 181"/>
                  <a:gd name="T35" fmla="*/ 245 h 256"/>
                  <a:gd name="T36" fmla="*/ 58 w 181"/>
                  <a:gd name="T37" fmla="*/ 244 h 256"/>
                  <a:gd name="T38" fmla="*/ 45 w 181"/>
                  <a:gd name="T39" fmla="*/ 242 h 256"/>
                  <a:gd name="T40" fmla="*/ 29 w 181"/>
                  <a:gd name="T41" fmla="*/ 241 h 256"/>
                  <a:gd name="T42" fmla="*/ 16 w 181"/>
                  <a:gd name="T43" fmla="*/ 238 h 256"/>
                  <a:gd name="T44" fmla="*/ 0 w 181"/>
                  <a:gd name="T45" fmla="*/ 237 h 256"/>
                  <a:gd name="T46" fmla="*/ 0 w 181"/>
                  <a:gd name="T47" fmla="*/ 20 h 25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81"/>
                  <a:gd name="T73" fmla="*/ 0 h 256"/>
                  <a:gd name="T74" fmla="*/ 181 w 181"/>
                  <a:gd name="T75" fmla="*/ 256 h 25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81" h="256">
                    <a:moveTo>
                      <a:pt x="0" y="20"/>
                    </a:moveTo>
                    <a:lnTo>
                      <a:pt x="26" y="16"/>
                    </a:lnTo>
                    <a:lnTo>
                      <a:pt x="48" y="13"/>
                    </a:lnTo>
                    <a:lnTo>
                      <a:pt x="77" y="9"/>
                    </a:lnTo>
                    <a:lnTo>
                      <a:pt x="106" y="7"/>
                    </a:lnTo>
                    <a:lnTo>
                      <a:pt x="130" y="4"/>
                    </a:lnTo>
                    <a:lnTo>
                      <a:pt x="150" y="1"/>
                    </a:lnTo>
                    <a:lnTo>
                      <a:pt x="181" y="0"/>
                    </a:lnTo>
                    <a:lnTo>
                      <a:pt x="181" y="256"/>
                    </a:lnTo>
                    <a:lnTo>
                      <a:pt x="168" y="254"/>
                    </a:lnTo>
                    <a:lnTo>
                      <a:pt x="154" y="254"/>
                    </a:lnTo>
                    <a:lnTo>
                      <a:pt x="143" y="252"/>
                    </a:lnTo>
                    <a:lnTo>
                      <a:pt x="133" y="251"/>
                    </a:lnTo>
                    <a:lnTo>
                      <a:pt x="121" y="251"/>
                    </a:lnTo>
                    <a:lnTo>
                      <a:pt x="110" y="250"/>
                    </a:lnTo>
                    <a:lnTo>
                      <a:pt x="98" y="249"/>
                    </a:lnTo>
                    <a:lnTo>
                      <a:pt x="82" y="246"/>
                    </a:lnTo>
                    <a:lnTo>
                      <a:pt x="71" y="245"/>
                    </a:lnTo>
                    <a:lnTo>
                      <a:pt x="58" y="244"/>
                    </a:lnTo>
                    <a:lnTo>
                      <a:pt x="45" y="242"/>
                    </a:lnTo>
                    <a:lnTo>
                      <a:pt x="29" y="241"/>
                    </a:lnTo>
                    <a:lnTo>
                      <a:pt x="16" y="238"/>
                    </a:lnTo>
                    <a:lnTo>
                      <a:pt x="0" y="237"/>
                    </a:lnTo>
                    <a:lnTo>
                      <a:pt x="0" y="20"/>
                    </a:lnTo>
                    <a:close/>
                  </a:path>
                </a:pathLst>
              </a:custGeom>
              <a:solidFill>
                <a:srgbClr val="404040"/>
              </a:solidFill>
              <a:ln w="9525">
                <a:noFill/>
                <a:round/>
                <a:headEnd/>
                <a:tailEnd/>
              </a:ln>
            </p:spPr>
            <p:txBody>
              <a:bodyPr/>
              <a:lstStyle/>
              <a:p>
                <a:endParaRPr lang="en-US"/>
              </a:p>
            </p:txBody>
          </p:sp>
          <p:sp>
            <p:nvSpPr>
              <p:cNvPr id="38939" name="Freeform 213"/>
              <p:cNvSpPr>
                <a:spLocks/>
              </p:cNvSpPr>
              <p:nvPr/>
            </p:nvSpPr>
            <p:spPr bwMode="auto">
              <a:xfrm>
                <a:off x="3805" y="2254"/>
                <a:ext cx="1148" cy="147"/>
              </a:xfrm>
              <a:custGeom>
                <a:avLst/>
                <a:gdLst>
                  <a:gd name="T0" fmla="*/ 538 w 1148"/>
                  <a:gd name="T1" fmla="*/ 0 h 147"/>
                  <a:gd name="T2" fmla="*/ 484 w 1148"/>
                  <a:gd name="T3" fmla="*/ 0 h 147"/>
                  <a:gd name="T4" fmla="*/ 413 w 1148"/>
                  <a:gd name="T5" fmla="*/ 4 h 147"/>
                  <a:gd name="T6" fmla="*/ 340 w 1148"/>
                  <a:gd name="T7" fmla="*/ 9 h 147"/>
                  <a:gd name="T8" fmla="*/ 266 w 1148"/>
                  <a:gd name="T9" fmla="*/ 18 h 147"/>
                  <a:gd name="T10" fmla="*/ 190 w 1148"/>
                  <a:gd name="T11" fmla="*/ 29 h 147"/>
                  <a:gd name="T12" fmla="*/ 133 w 1148"/>
                  <a:gd name="T13" fmla="*/ 39 h 147"/>
                  <a:gd name="T14" fmla="*/ 86 w 1148"/>
                  <a:gd name="T15" fmla="*/ 51 h 147"/>
                  <a:gd name="T16" fmla="*/ 41 w 1148"/>
                  <a:gd name="T17" fmla="*/ 63 h 147"/>
                  <a:gd name="T18" fmla="*/ 9 w 1148"/>
                  <a:gd name="T19" fmla="*/ 76 h 147"/>
                  <a:gd name="T20" fmla="*/ 11 w 1148"/>
                  <a:gd name="T21" fmla="*/ 84 h 147"/>
                  <a:gd name="T22" fmla="*/ 33 w 1148"/>
                  <a:gd name="T23" fmla="*/ 92 h 147"/>
                  <a:gd name="T24" fmla="*/ 63 w 1148"/>
                  <a:gd name="T25" fmla="*/ 98 h 147"/>
                  <a:gd name="T26" fmla="*/ 102 w 1148"/>
                  <a:gd name="T27" fmla="*/ 108 h 147"/>
                  <a:gd name="T28" fmla="*/ 152 w 1148"/>
                  <a:gd name="T29" fmla="*/ 116 h 147"/>
                  <a:gd name="T30" fmla="*/ 197 w 1148"/>
                  <a:gd name="T31" fmla="*/ 123 h 147"/>
                  <a:gd name="T32" fmla="*/ 263 w 1148"/>
                  <a:gd name="T33" fmla="*/ 131 h 147"/>
                  <a:gd name="T34" fmla="*/ 325 w 1148"/>
                  <a:gd name="T35" fmla="*/ 137 h 147"/>
                  <a:gd name="T36" fmla="*/ 397 w 1148"/>
                  <a:gd name="T37" fmla="*/ 141 h 147"/>
                  <a:gd name="T38" fmla="*/ 471 w 1148"/>
                  <a:gd name="T39" fmla="*/ 145 h 147"/>
                  <a:gd name="T40" fmla="*/ 543 w 1148"/>
                  <a:gd name="T41" fmla="*/ 147 h 147"/>
                  <a:gd name="T42" fmla="*/ 619 w 1148"/>
                  <a:gd name="T43" fmla="*/ 147 h 147"/>
                  <a:gd name="T44" fmla="*/ 685 w 1148"/>
                  <a:gd name="T45" fmla="*/ 145 h 147"/>
                  <a:gd name="T46" fmla="*/ 738 w 1148"/>
                  <a:gd name="T47" fmla="*/ 143 h 147"/>
                  <a:gd name="T48" fmla="*/ 794 w 1148"/>
                  <a:gd name="T49" fmla="*/ 138 h 147"/>
                  <a:gd name="T50" fmla="*/ 860 w 1148"/>
                  <a:gd name="T51" fmla="*/ 134 h 147"/>
                  <a:gd name="T52" fmla="*/ 908 w 1148"/>
                  <a:gd name="T53" fmla="*/ 128 h 147"/>
                  <a:gd name="T54" fmla="*/ 962 w 1148"/>
                  <a:gd name="T55" fmla="*/ 121 h 147"/>
                  <a:gd name="T56" fmla="*/ 1011 w 1148"/>
                  <a:gd name="T57" fmla="*/ 113 h 147"/>
                  <a:gd name="T58" fmla="*/ 1056 w 1148"/>
                  <a:gd name="T59" fmla="*/ 107 h 147"/>
                  <a:gd name="T60" fmla="*/ 1098 w 1148"/>
                  <a:gd name="T61" fmla="*/ 95 h 147"/>
                  <a:gd name="T62" fmla="*/ 1127 w 1148"/>
                  <a:gd name="T63" fmla="*/ 87 h 147"/>
                  <a:gd name="T64" fmla="*/ 1139 w 1148"/>
                  <a:gd name="T65" fmla="*/ 77 h 147"/>
                  <a:gd name="T66" fmla="*/ 1121 w 1148"/>
                  <a:gd name="T67" fmla="*/ 69 h 147"/>
                  <a:gd name="T68" fmla="*/ 1095 w 1148"/>
                  <a:gd name="T69" fmla="*/ 60 h 147"/>
                  <a:gd name="T70" fmla="*/ 1061 w 1148"/>
                  <a:gd name="T71" fmla="*/ 51 h 147"/>
                  <a:gd name="T72" fmla="*/ 1031 w 1148"/>
                  <a:gd name="T73" fmla="*/ 42 h 147"/>
                  <a:gd name="T74" fmla="*/ 988 w 1148"/>
                  <a:gd name="T75" fmla="*/ 34 h 147"/>
                  <a:gd name="T76" fmla="*/ 944 w 1148"/>
                  <a:gd name="T77" fmla="*/ 27 h 147"/>
                  <a:gd name="T78" fmla="*/ 902 w 1148"/>
                  <a:gd name="T79" fmla="*/ 19 h 147"/>
                  <a:gd name="T80" fmla="*/ 861 w 1148"/>
                  <a:gd name="T81" fmla="*/ 15 h 147"/>
                  <a:gd name="T82" fmla="*/ 803 w 1148"/>
                  <a:gd name="T83" fmla="*/ 9 h 147"/>
                  <a:gd name="T84" fmla="*/ 752 w 1148"/>
                  <a:gd name="T85" fmla="*/ 4 h 147"/>
                  <a:gd name="T86" fmla="*/ 705 w 1148"/>
                  <a:gd name="T87" fmla="*/ 4 h 147"/>
                  <a:gd name="T88" fmla="*/ 640 w 1148"/>
                  <a:gd name="T89" fmla="*/ 0 h 147"/>
                  <a:gd name="T90" fmla="*/ 574 w 1148"/>
                  <a:gd name="T91" fmla="*/ 0 h 14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148"/>
                  <a:gd name="T139" fmla="*/ 0 h 147"/>
                  <a:gd name="T140" fmla="*/ 1148 w 1148"/>
                  <a:gd name="T141" fmla="*/ 147 h 14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148" h="147">
                    <a:moveTo>
                      <a:pt x="574" y="0"/>
                    </a:moveTo>
                    <a:lnTo>
                      <a:pt x="555" y="0"/>
                    </a:lnTo>
                    <a:lnTo>
                      <a:pt x="538" y="0"/>
                    </a:lnTo>
                    <a:lnTo>
                      <a:pt x="522" y="0"/>
                    </a:lnTo>
                    <a:lnTo>
                      <a:pt x="501" y="0"/>
                    </a:lnTo>
                    <a:lnTo>
                      <a:pt x="484" y="0"/>
                    </a:lnTo>
                    <a:lnTo>
                      <a:pt x="458" y="2"/>
                    </a:lnTo>
                    <a:lnTo>
                      <a:pt x="440" y="2"/>
                    </a:lnTo>
                    <a:lnTo>
                      <a:pt x="413" y="4"/>
                    </a:lnTo>
                    <a:lnTo>
                      <a:pt x="390" y="5"/>
                    </a:lnTo>
                    <a:lnTo>
                      <a:pt x="366" y="7"/>
                    </a:lnTo>
                    <a:lnTo>
                      <a:pt x="340" y="9"/>
                    </a:lnTo>
                    <a:lnTo>
                      <a:pt x="311" y="12"/>
                    </a:lnTo>
                    <a:lnTo>
                      <a:pt x="287" y="16"/>
                    </a:lnTo>
                    <a:lnTo>
                      <a:pt x="266" y="18"/>
                    </a:lnTo>
                    <a:lnTo>
                      <a:pt x="234" y="21"/>
                    </a:lnTo>
                    <a:lnTo>
                      <a:pt x="211" y="26"/>
                    </a:lnTo>
                    <a:lnTo>
                      <a:pt x="190" y="29"/>
                    </a:lnTo>
                    <a:lnTo>
                      <a:pt x="170" y="32"/>
                    </a:lnTo>
                    <a:lnTo>
                      <a:pt x="152" y="35"/>
                    </a:lnTo>
                    <a:lnTo>
                      <a:pt x="133" y="39"/>
                    </a:lnTo>
                    <a:lnTo>
                      <a:pt x="119" y="42"/>
                    </a:lnTo>
                    <a:lnTo>
                      <a:pt x="102" y="46"/>
                    </a:lnTo>
                    <a:lnTo>
                      <a:pt x="86" y="51"/>
                    </a:lnTo>
                    <a:lnTo>
                      <a:pt x="70" y="56"/>
                    </a:lnTo>
                    <a:lnTo>
                      <a:pt x="55" y="59"/>
                    </a:lnTo>
                    <a:lnTo>
                      <a:pt x="41" y="63"/>
                    </a:lnTo>
                    <a:lnTo>
                      <a:pt x="29" y="68"/>
                    </a:lnTo>
                    <a:lnTo>
                      <a:pt x="19" y="71"/>
                    </a:lnTo>
                    <a:lnTo>
                      <a:pt x="9" y="76"/>
                    </a:lnTo>
                    <a:lnTo>
                      <a:pt x="0" y="81"/>
                    </a:lnTo>
                    <a:lnTo>
                      <a:pt x="5" y="82"/>
                    </a:lnTo>
                    <a:lnTo>
                      <a:pt x="11" y="84"/>
                    </a:lnTo>
                    <a:lnTo>
                      <a:pt x="18" y="86"/>
                    </a:lnTo>
                    <a:lnTo>
                      <a:pt x="26" y="89"/>
                    </a:lnTo>
                    <a:lnTo>
                      <a:pt x="33" y="92"/>
                    </a:lnTo>
                    <a:lnTo>
                      <a:pt x="42" y="94"/>
                    </a:lnTo>
                    <a:lnTo>
                      <a:pt x="51" y="95"/>
                    </a:lnTo>
                    <a:lnTo>
                      <a:pt x="63" y="98"/>
                    </a:lnTo>
                    <a:lnTo>
                      <a:pt x="77" y="102"/>
                    </a:lnTo>
                    <a:lnTo>
                      <a:pt x="89" y="105"/>
                    </a:lnTo>
                    <a:lnTo>
                      <a:pt x="102" y="108"/>
                    </a:lnTo>
                    <a:lnTo>
                      <a:pt x="123" y="110"/>
                    </a:lnTo>
                    <a:lnTo>
                      <a:pt x="138" y="113"/>
                    </a:lnTo>
                    <a:lnTo>
                      <a:pt x="152" y="116"/>
                    </a:lnTo>
                    <a:lnTo>
                      <a:pt x="166" y="119"/>
                    </a:lnTo>
                    <a:lnTo>
                      <a:pt x="179" y="121"/>
                    </a:lnTo>
                    <a:lnTo>
                      <a:pt x="197" y="123"/>
                    </a:lnTo>
                    <a:lnTo>
                      <a:pt x="214" y="125"/>
                    </a:lnTo>
                    <a:lnTo>
                      <a:pt x="243" y="128"/>
                    </a:lnTo>
                    <a:lnTo>
                      <a:pt x="263" y="131"/>
                    </a:lnTo>
                    <a:lnTo>
                      <a:pt x="284" y="134"/>
                    </a:lnTo>
                    <a:lnTo>
                      <a:pt x="303" y="135"/>
                    </a:lnTo>
                    <a:lnTo>
                      <a:pt x="325" y="137"/>
                    </a:lnTo>
                    <a:lnTo>
                      <a:pt x="350" y="139"/>
                    </a:lnTo>
                    <a:lnTo>
                      <a:pt x="373" y="141"/>
                    </a:lnTo>
                    <a:lnTo>
                      <a:pt x="397" y="141"/>
                    </a:lnTo>
                    <a:lnTo>
                      <a:pt x="421" y="143"/>
                    </a:lnTo>
                    <a:lnTo>
                      <a:pt x="444" y="143"/>
                    </a:lnTo>
                    <a:lnTo>
                      <a:pt x="471" y="145"/>
                    </a:lnTo>
                    <a:lnTo>
                      <a:pt x="497" y="146"/>
                    </a:lnTo>
                    <a:lnTo>
                      <a:pt x="525" y="147"/>
                    </a:lnTo>
                    <a:lnTo>
                      <a:pt x="543" y="147"/>
                    </a:lnTo>
                    <a:lnTo>
                      <a:pt x="574" y="147"/>
                    </a:lnTo>
                    <a:lnTo>
                      <a:pt x="600" y="147"/>
                    </a:lnTo>
                    <a:lnTo>
                      <a:pt x="619" y="147"/>
                    </a:lnTo>
                    <a:lnTo>
                      <a:pt x="644" y="146"/>
                    </a:lnTo>
                    <a:lnTo>
                      <a:pt x="665" y="146"/>
                    </a:lnTo>
                    <a:lnTo>
                      <a:pt x="685" y="145"/>
                    </a:lnTo>
                    <a:lnTo>
                      <a:pt x="705" y="144"/>
                    </a:lnTo>
                    <a:lnTo>
                      <a:pt x="726" y="144"/>
                    </a:lnTo>
                    <a:lnTo>
                      <a:pt x="738" y="143"/>
                    </a:lnTo>
                    <a:lnTo>
                      <a:pt x="746" y="143"/>
                    </a:lnTo>
                    <a:lnTo>
                      <a:pt x="765" y="141"/>
                    </a:lnTo>
                    <a:lnTo>
                      <a:pt x="794" y="138"/>
                    </a:lnTo>
                    <a:lnTo>
                      <a:pt x="818" y="136"/>
                    </a:lnTo>
                    <a:lnTo>
                      <a:pt x="835" y="135"/>
                    </a:lnTo>
                    <a:lnTo>
                      <a:pt x="860" y="134"/>
                    </a:lnTo>
                    <a:lnTo>
                      <a:pt x="877" y="132"/>
                    </a:lnTo>
                    <a:lnTo>
                      <a:pt x="893" y="130"/>
                    </a:lnTo>
                    <a:lnTo>
                      <a:pt x="908" y="128"/>
                    </a:lnTo>
                    <a:lnTo>
                      <a:pt x="925" y="126"/>
                    </a:lnTo>
                    <a:lnTo>
                      <a:pt x="943" y="124"/>
                    </a:lnTo>
                    <a:lnTo>
                      <a:pt x="962" y="121"/>
                    </a:lnTo>
                    <a:lnTo>
                      <a:pt x="980" y="119"/>
                    </a:lnTo>
                    <a:lnTo>
                      <a:pt x="997" y="116"/>
                    </a:lnTo>
                    <a:lnTo>
                      <a:pt x="1011" y="113"/>
                    </a:lnTo>
                    <a:lnTo>
                      <a:pt x="1025" y="112"/>
                    </a:lnTo>
                    <a:lnTo>
                      <a:pt x="1041" y="109"/>
                    </a:lnTo>
                    <a:lnTo>
                      <a:pt x="1056" y="107"/>
                    </a:lnTo>
                    <a:lnTo>
                      <a:pt x="1070" y="102"/>
                    </a:lnTo>
                    <a:lnTo>
                      <a:pt x="1085" y="99"/>
                    </a:lnTo>
                    <a:lnTo>
                      <a:pt x="1098" y="95"/>
                    </a:lnTo>
                    <a:lnTo>
                      <a:pt x="1108" y="93"/>
                    </a:lnTo>
                    <a:lnTo>
                      <a:pt x="1118" y="90"/>
                    </a:lnTo>
                    <a:lnTo>
                      <a:pt x="1127" y="87"/>
                    </a:lnTo>
                    <a:lnTo>
                      <a:pt x="1137" y="84"/>
                    </a:lnTo>
                    <a:lnTo>
                      <a:pt x="1148" y="81"/>
                    </a:lnTo>
                    <a:lnTo>
                      <a:pt x="1139" y="77"/>
                    </a:lnTo>
                    <a:lnTo>
                      <a:pt x="1132" y="73"/>
                    </a:lnTo>
                    <a:lnTo>
                      <a:pt x="1127" y="71"/>
                    </a:lnTo>
                    <a:lnTo>
                      <a:pt x="1121" y="69"/>
                    </a:lnTo>
                    <a:lnTo>
                      <a:pt x="1113" y="66"/>
                    </a:lnTo>
                    <a:lnTo>
                      <a:pt x="1106" y="63"/>
                    </a:lnTo>
                    <a:lnTo>
                      <a:pt x="1095" y="60"/>
                    </a:lnTo>
                    <a:lnTo>
                      <a:pt x="1083" y="56"/>
                    </a:lnTo>
                    <a:lnTo>
                      <a:pt x="1072" y="54"/>
                    </a:lnTo>
                    <a:lnTo>
                      <a:pt x="1061" y="51"/>
                    </a:lnTo>
                    <a:lnTo>
                      <a:pt x="1050" y="48"/>
                    </a:lnTo>
                    <a:lnTo>
                      <a:pt x="1041" y="45"/>
                    </a:lnTo>
                    <a:lnTo>
                      <a:pt x="1031" y="42"/>
                    </a:lnTo>
                    <a:lnTo>
                      <a:pt x="1018" y="41"/>
                    </a:lnTo>
                    <a:lnTo>
                      <a:pt x="1004" y="37"/>
                    </a:lnTo>
                    <a:lnTo>
                      <a:pt x="988" y="34"/>
                    </a:lnTo>
                    <a:lnTo>
                      <a:pt x="974" y="32"/>
                    </a:lnTo>
                    <a:lnTo>
                      <a:pt x="957" y="28"/>
                    </a:lnTo>
                    <a:lnTo>
                      <a:pt x="944" y="27"/>
                    </a:lnTo>
                    <a:lnTo>
                      <a:pt x="929" y="25"/>
                    </a:lnTo>
                    <a:lnTo>
                      <a:pt x="919" y="23"/>
                    </a:lnTo>
                    <a:lnTo>
                      <a:pt x="902" y="19"/>
                    </a:lnTo>
                    <a:lnTo>
                      <a:pt x="886" y="18"/>
                    </a:lnTo>
                    <a:lnTo>
                      <a:pt x="873" y="17"/>
                    </a:lnTo>
                    <a:lnTo>
                      <a:pt x="861" y="15"/>
                    </a:lnTo>
                    <a:lnTo>
                      <a:pt x="844" y="12"/>
                    </a:lnTo>
                    <a:lnTo>
                      <a:pt x="824" y="11"/>
                    </a:lnTo>
                    <a:lnTo>
                      <a:pt x="803" y="9"/>
                    </a:lnTo>
                    <a:lnTo>
                      <a:pt x="781" y="6"/>
                    </a:lnTo>
                    <a:lnTo>
                      <a:pt x="764" y="5"/>
                    </a:lnTo>
                    <a:lnTo>
                      <a:pt x="752" y="4"/>
                    </a:lnTo>
                    <a:lnTo>
                      <a:pt x="741" y="4"/>
                    </a:lnTo>
                    <a:lnTo>
                      <a:pt x="725" y="4"/>
                    </a:lnTo>
                    <a:lnTo>
                      <a:pt x="705" y="4"/>
                    </a:lnTo>
                    <a:lnTo>
                      <a:pt x="681" y="2"/>
                    </a:lnTo>
                    <a:lnTo>
                      <a:pt x="661" y="2"/>
                    </a:lnTo>
                    <a:lnTo>
                      <a:pt x="640" y="0"/>
                    </a:lnTo>
                    <a:lnTo>
                      <a:pt x="615" y="0"/>
                    </a:lnTo>
                    <a:lnTo>
                      <a:pt x="596" y="0"/>
                    </a:lnTo>
                    <a:lnTo>
                      <a:pt x="574" y="0"/>
                    </a:lnTo>
                    <a:close/>
                  </a:path>
                </a:pathLst>
              </a:custGeom>
              <a:solidFill>
                <a:schemeClr val="tx1">
                  <a:alpha val="50195"/>
                </a:schemeClr>
              </a:solidFill>
              <a:ln w="9525">
                <a:noFill/>
                <a:round/>
                <a:headEnd/>
                <a:tailEnd/>
              </a:ln>
            </p:spPr>
            <p:txBody>
              <a:bodyPr/>
              <a:lstStyle/>
              <a:p>
                <a:endParaRPr lang="en-US"/>
              </a:p>
            </p:txBody>
          </p:sp>
        </p:grpSp>
        <p:sp>
          <p:nvSpPr>
            <p:cNvPr id="38932" name="Text Box 214"/>
            <p:cNvSpPr txBox="1">
              <a:spLocks noChangeArrowheads="1"/>
            </p:cNvSpPr>
            <p:nvPr/>
          </p:nvSpPr>
          <p:spPr bwMode="auto">
            <a:xfrm>
              <a:off x="4240" y="2217"/>
              <a:ext cx="373" cy="233"/>
            </a:xfrm>
            <a:prstGeom prst="rect">
              <a:avLst/>
            </a:prstGeom>
            <a:noFill/>
            <a:ln w="9525">
              <a:noFill/>
              <a:miter lim="800000"/>
              <a:headEnd/>
              <a:tailEnd/>
            </a:ln>
          </p:spPr>
          <p:txBody>
            <a:bodyPr wrap="none">
              <a:spAutoFit/>
            </a:bodyPr>
            <a:lstStyle/>
            <a:p>
              <a:r>
                <a:rPr lang="en-US">
                  <a:latin typeface="Calibri" pitchFamily="34" charset="0"/>
                </a:rPr>
                <a:t>Milk</a:t>
              </a:r>
            </a:p>
          </p:txBody>
        </p:sp>
      </p:grpSp>
      <p:grpSp>
        <p:nvGrpSpPr>
          <p:cNvPr id="570583" name="Group 215"/>
          <p:cNvGrpSpPr>
            <a:grpSpLocks/>
          </p:cNvGrpSpPr>
          <p:nvPr/>
        </p:nvGrpSpPr>
        <p:grpSpPr bwMode="auto">
          <a:xfrm>
            <a:off x="971550" y="1398588"/>
            <a:ext cx="2622550" cy="1752600"/>
            <a:chOff x="612" y="881"/>
            <a:chExt cx="1652" cy="1104"/>
          </a:xfrm>
        </p:grpSpPr>
        <p:cxnSp>
          <p:nvCxnSpPr>
            <p:cNvPr id="38929" name="AutoShape 216"/>
            <p:cNvCxnSpPr>
              <a:cxnSpLocks noChangeShapeType="1"/>
              <a:stCxn id="38949" idx="0"/>
              <a:endCxn id="39138" idx="2"/>
            </p:cNvCxnSpPr>
            <p:nvPr/>
          </p:nvCxnSpPr>
          <p:spPr bwMode="auto">
            <a:xfrm rot="5400000" flipH="1" flipV="1">
              <a:off x="1339" y="1060"/>
              <a:ext cx="769" cy="1081"/>
            </a:xfrm>
            <a:prstGeom prst="curvedConnector2">
              <a:avLst/>
            </a:prstGeom>
            <a:noFill/>
            <a:ln w="57150">
              <a:solidFill>
                <a:schemeClr val="tx2"/>
              </a:solidFill>
              <a:round/>
              <a:headEnd/>
              <a:tailEnd type="triangle" w="med" len="med"/>
            </a:ln>
          </p:spPr>
        </p:cxnSp>
        <p:sp>
          <p:nvSpPr>
            <p:cNvPr id="38930" name="Text Box 217"/>
            <p:cNvSpPr txBox="1">
              <a:spLocks noChangeArrowheads="1"/>
            </p:cNvSpPr>
            <p:nvPr/>
          </p:nvSpPr>
          <p:spPr bwMode="auto">
            <a:xfrm>
              <a:off x="612" y="881"/>
              <a:ext cx="1005" cy="407"/>
            </a:xfrm>
            <a:prstGeom prst="rect">
              <a:avLst/>
            </a:prstGeom>
            <a:noFill/>
            <a:ln w="9525">
              <a:noFill/>
              <a:miter lim="800000"/>
              <a:headEnd/>
              <a:tailEnd/>
            </a:ln>
          </p:spPr>
          <p:txBody>
            <a:bodyPr wrap="none">
              <a:spAutoFit/>
            </a:bodyPr>
            <a:lstStyle/>
            <a:p>
              <a:pPr algn="r"/>
              <a:r>
                <a:rPr lang="en-US" b="1">
                  <a:solidFill>
                    <a:schemeClr val="tx2"/>
                  </a:solidFill>
                  <a:latin typeface="Calibri" pitchFamily="34" charset="0"/>
                </a:rPr>
                <a:t>75%</a:t>
              </a:r>
            </a:p>
            <a:p>
              <a:pPr algn="r"/>
              <a:r>
                <a:rPr lang="en-US" b="1">
                  <a:solidFill>
                    <a:schemeClr val="tx2"/>
                  </a:solidFill>
                  <a:latin typeface="Calibri" pitchFamily="34" charset="0"/>
                </a:rPr>
                <a:t>(lactating cow)</a:t>
              </a:r>
            </a:p>
          </p:txBody>
        </p:sp>
      </p:grpSp>
      <p:grpSp>
        <p:nvGrpSpPr>
          <p:cNvPr id="570586" name="Group 218"/>
          <p:cNvGrpSpPr>
            <a:grpSpLocks/>
          </p:cNvGrpSpPr>
          <p:nvPr/>
        </p:nvGrpSpPr>
        <p:grpSpPr bwMode="auto">
          <a:xfrm>
            <a:off x="2552700" y="2414588"/>
            <a:ext cx="2011363" cy="1281112"/>
            <a:chOff x="1608" y="1521"/>
            <a:chExt cx="1267" cy="807"/>
          </a:xfrm>
        </p:grpSpPr>
        <p:cxnSp>
          <p:nvCxnSpPr>
            <p:cNvPr id="38927" name="AutoShape 219"/>
            <p:cNvCxnSpPr>
              <a:cxnSpLocks noChangeShapeType="1"/>
              <a:endCxn id="39138" idx="3"/>
            </p:cNvCxnSpPr>
            <p:nvPr/>
          </p:nvCxnSpPr>
          <p:spPr bwMode="auto">
            <a:xfrm flipV="1">
              <a:off x="1608" y="1521"/>
              <a:ext cx="873" cy="607"/>
            </a:xfrm>
            <a:prstGeom prst="curvedConnector2">
              <a:avLst/>
            </a:prstGeom>
            <a:noFill/>
            <a:ln w="57150">
              <a:solidFill>
                <a:schemeClr val="tx1"/>
              </a:solidFill>
              <a:round/>
              <a:headEnd/>
              <a:tailEnd type="triangle" w="med" len="med"/>
            </a:ln>
          </p:spPr>
        </p:cxnSp>
        <p:sp>
          <p:nvSpPr>
            <p:cNvPr id="38928" name="Text Box 220"/>
            <p:cNvSpPr txBox="1">
              <a:spLocks noChangeArrowheads="1"/>
            </p:cNvSpPr>
            <p:nvPr/>
          </p:nvSpPr>
          <p:spPr bwMode="auto">
            <a:xfrm>
              <a:off x="2190" y="1921"/>
              <a:ext cx="685" cy="407"/>
            </a:xfrm>
            <a:prstGeom prst="rect">
              <a:avLst/>
            </a:prstGeom>
            <a:noFill/>
            <a:ln w="9525">
              <a:noFill/>
              <a:miter lim="800000"/>
              <a:headEnd/>
              <a:tailEnd/>
            </a:ln>
          </p:spPr>
          <p:txBody>
            <a:bodyPr wrap="none">
              <a:spAutoFit/>
            </a:bodyPr>
            <a:lstStyle/>
            <a:p>
              <a:r>
                <a:rPr lang="en-US" b="1">
                  <a:latin typeface="Calibri" pitchFamily="34" charset="0"/>
                </a:rPr>
                <a:t>59%</a:t>
              </a:r>
            </a:p>
            <a:p>
              <a:r>
                <a:rPr lang="en-US" b="1">
                  <a:latin typeface="Calibri" pitchFamily="34" charset="0"/>
                </a:rPr>
                <a:t>(dry cow)</a:t>
              </a:r>
            </a:p>
          </p:txBody>
        </p:sp>
      </p:grpSp>
      <p:grpSp>
        <p:nvGrpSpPr>
          <p:cNvPr id="570589" name="Group 221"/>
          <p:cNvGrpSpPr>
            <a:grpSpLocks/>
          </p:cNvGrpSpPr>
          <p:nvPr/>
        </p:nvGrpSpPr>
        <p:grpSpPr bwMode="auto">
          <a:xfrm>
            <a:off x="5943600" y="1930400"/>
            <a:ext cx="1855788" cy="1385888"/>
            <a:chOff x="3744" y="1216"/>
            <a:chExt cx="1169" cy="873"/>
          </a:xfrm>
        </p:grpSpPr>
        <p:cxnSp>
          <p:nvCxnSpPr>
            <p:cNvPr id="38925" name="AutoShape 222"/>
            <p:cNvCxnSpPr>
              <a:cxnSpLocks noChangeShapeType="1"/>
              <a:stCxn id="39138" idx="6"/>
              <a:endCxn id="38932" idx="0"/>
            </p:cNvCxnSpPr>
            <p:nvPr/>
          </p:nvCxnSpPr>
          <p:spPr bwMode="auto">
            <a:xfrm>
              <a:off x="3744" y="1216"/>
              <a:ext cx="987" cy="873"/>
            </a:xfrm>
            <a:prstGeom prst="curvedConnector2">
              <a:avLst/>
            </a:prstGeom>
            <a:noFill/>
            <a:ln w="57150">
              <a:solidFill>
                <a:schemeClr val="tx1"/>
              </a:solidFill>
              <a:round/>
              <a:headEnd/>
              <a:tailEnd type="triangle" w="med" len="med"/>
            </a:ln>
          </p:spPr>
        </p:cxnSp>
        <p:sp>
          <p:nvSpPr>
            <p:cNvPr id="38926" name="Text Box 223"/>
            <p:cNvSpPr txBox="1">
              <a:spLocks noChangeArrowheads="1"/>
            </p:cNvSpPr>
            <p:nvPr/>
          </p:nvSpPr>
          <p:spPr bwMode="auto">
            <a:xfrm>
              <a:off x="4543" y="1249"/>
              <a:ext cx="370" cy="233"/>
            </a:xfrm>
            <a:prstGeom prst="rect">
              <a:avLst/>
            </a:prstGeom>
            <a:noFill/>
            <a:ln w="9525">
              <a:noFill/>
              <a:miter lim="800000"/>
              <a:headEnd/>
              <a:tailEnd/>
            </a:ln>
          </p:spPr>
          <p:txBody>
            <a:bodyPr wrap="none">
              <a:spAutoFit/>
            </a:bodyPr>
            <a:lstStyle/>
            <a:p>
              <a:pPr algn="r"/>
              <a:r>
                <a:rPr lang="en-US" b="1">
                  <a:latin typeface="Calibri" pitchFamily="34" charset="0"/>
                </a:rPr>
                <a:t>82%</a:t>
              </a:r>
            </a:p>
          </p:txBody>
        </p:sp>
      </p:grpSp>
      <p:grpSp>
        <p:nvGrpSpPr>
          <p:cNvPr id="570592" name="Group 224"/>
          <p:cNvGrpSpPr>
            <a:grpSpLocks/>
          </p:cNvGrpSpPr>
          <p:nvPr/>
        </p:nvGrpSpPr>
        <p:grpSpPr bwMode="auto">
          <a:xfrm>
            <a:off x="1924050" y="4746625"/>
            <a:ext cx="5384800" cy="654050"/>
            <a:chOff x="1212" y="2990"/>
            <a:chExt cx="3392" cy="412"/>
          </a:xfrm>
        </p:grpSpPr>
        <p:cxnSp>
          <p:nvCxnSpPr>
            <p:cNvPr id="38923" name="AutoShape 225"/>
            <p:cNvCxnSpPr>
              <a:cxnSpLocks noChangeShapeType="1"/>
              <a:stCxn id="39132" idx="3"/>
              <a:endCxn id="38945" idx="25"/>
            </p:cNvCxnSpPr>
            <p:nvPr/>
          </p:nvCxnSpPr>
          <p:spPr bwMode="auto">
            <a:xfrm rot="5400000" flipH="1" flipV="1">
              <a:off x="2872" y="1330"/>
              <a:ext cx="72" cy="3392"/>
            </a:xfrm>
            <a:prstGeom prst="curvedConnector3">
              <a:avLst>
                <a:gd name="adj1" fmla="val -222222"/>
              </a:avLst>
            </a:prstGeom>
            <a:noFill/>
            <a:ln w="57150">
              <a:solidFill>
                <a:schemeClr val="tx1"/>
              </a:solidFill>
              <a:round/>
              <a:headEnd/>
              <a:tailEnd type="triangle" w="med" len="med"/>
            </a:ln>
          </p:spPr>
        </p:cxnSp>
        <p:sp>
          <p:nvSpPr>
            <p:cNvPr id="38924" name="Text Box 226"/>
            <p:cNvSpPr txBox="1">
              <a:spLocks noChangeArrowheads="1"/>
            </p:cNvSpPr>
            <p:nvPr/>
          </p:nvSpPr>
          <p:spPr bwMode="auto">
            <a:xfrm>
              <a:off x="2751" y="3169"/>
              <a:ext cx="370" cy="233"/>
            </a:xfrm>
            <a:prstGeom prst="rect">
              <a:avLst/>
            </a:prstGeom>
            <a:noFill/>
            <a:ln w="9525">
              <a:noFill/>
              <a:miter lim="800000"/>
              <a:headEnd/>
              <a:tailEnd/>
            </a:ln>
          </p:spPr>
          <p:txBody>
            <a:bodyPr wrap="none">
              <a:spAutoFit/>
            </a:bodyPr>
            <a:lstStyle/>
            <a:p>
              <a:pPr algn="r"/>
              <a:r>
                <a:rPr lang="en-US" b="1">
                  <a:latin typeface="Calibri" pitchFamily="34" charset="0"/>
                </a:rPr>
                <a:t>62%</a:t>
              </a:r>
            </a:p>
          </p:txBody>
        </p:sp>
      </p:grpSp>
      <p:sp>
        <p:nvSpPr>
          <p:cNvPr id="570595" name="Text Box 227"/>
          <p:cNvSpPr txBox="1">
            <a:spLocks noChangeArrowheads="1"/>
          </p:cNvSpPr>
          <p:nvPr/>
        </p:nvSpPr>
        <p:spPr bwMode="auto">
          <a:xfrm>
            <a:off x="250825" y="5486400"/>
            <a:ext cx="9172575" cy="1016000"/>
          </a:xfrm>
          <a:prstGeom prst="rect">
            <a:avLst/>
          </a:prstGeom>
          <a:noFill/>
          <a:ln w="9525">
            <a:noFill/>
            <a:miter lim="800000"/>
            <a:headEnd/>
            <a:tailEnd/>
          </a:ln>
        </p:spPr>
        <p:txBody>
          <a:bodyPr wrap="none">
            <a:spAutoFit/>
          </a:bodyPr>
          <a:lstStyle/>
          <a:p>
            <a:r>
              <a:rPr lang="en-US" sz="2000">
                <a:latin typeface="Calibri" pitchFamily="34" charset="0"/>
              </a:rPr>
              <a:t>Efficiency of converting feed (ME) to milk is 62%</a:t>
            </a:r>
          </a:p>
          <a:p>
            <a:r>
              <a:rPr lang="en-US" sz="2000">
                <a:latin typeface="Calibri" pitchFamily="34" charset="0"/>
              </a:rPr>
              <a:t>Converting feed (ME) to body fat (during lactation) then to milk is: 0.75 x 0.82 = 0.62</a:t>
            </a:r>
          </a:p>
          <a:p>
            <a:r>
              <a:rPr lang="en-US" sz="2000">
                <a:latin typeface="Calibri" pitchFamily="34" charset="0"/>
              </a:rPr>
              <a:t>Converting feed (ME) to body fat (during dry period), then to milk is: 0.59 x 0.82 = 0.48</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70592"/>
                                        </p:tgtEl>
                                        <p:attrNameLst>
                                          <p:attrName>style.visibility</p:attrName>
                                        </p:attrNameLst>
                                      </p:cBhvr>
                                      <p:to>
                                        <p:strVal val="visible"/>
                                      </p:to>
                                    </p:set>
                                    <p:animEffect transition="in" filter="wipe(left)">
                                      <p:cBhvr>
                                        <p:cTn id="7" dur="500"/>
                                        <p:tgtEl>
                                          <p:spTgt spid="57059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570589"/>
                                        </p:tgtEl>
                                        <p:attrNameLst>
                                          <p:attrName>style.visibility</p:attrName>
                                        </p:attrNameLst>
                                      </p:cBhvr>
                                      <p:to>
                                        <p:strVal val="visible"/>
                                      </p:to>
                                    </p:set>
                                    <p:animEffect transition="in" filter="wipe(up)">
                                      <p:cBhvr>
                                        <p:cTn id="12" dur="500"/>
                                        <p:tgtEl>
                                          <p:spTgt spid="57058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70583"/>
                                        </p:tgtEl>
                                        <p:attrNameLst>
                                          <p:attrName>style.visibility</p:attrName>
                                        </p:attrNameLst>
                                      </p:cBhvr>
                                      <p:to>
                                        <p:strVal val="visible"/>
                                      </p:to>
                                    </p:set>
                                    <p:animEffect transition="in" filter="wipe(left)">
                                      <p:cBhvr>
                                        <p:cTn id="17" dur="500"/>
                                        <p:tgtEl>
                                          <p:spTgt spid="57058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570586"/>
                                        </p:tgtEl>
                                        <p:attrNameLst>
                                          <p:attrName>style.visibility</p:attrName>
                                        </p:attrNameLst>
                                      </p:cBhvr>
                                      <p:to>
                                        <p:strVal val="visible"/>
                                      </p:to>
                                    </p:set>
                                    <p:animEffect transition="in" filter="wipe(left)">
                                      <p:cBhvr>
                                        <p:cTn id="22" dur="500"/>
                                        <p:tgtEl>
                                          <p:spTgt spid="57058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70595"/>
                                        </p:tgtEl>
                                        <p:attrNameLst>
                                          <p:attrName>style.visibility</p:attrName>
                                        </p:attrNameLst>
                                      </p:cBhvr>
                                      <p:to>
                                        <p:strVal val="visible"/>
                                      </p:to>
                                    </p:set>
                                    <p:animEffect transition="in" filter="wipe(left)">
                                      <p:cBhvr>
                                        <p:cTn id="27" dur="500"/>
                                        <p:tgtEl>
                                          <p:spTgt spid="5705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0595"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3" name="Slide Number Placeholder 4"/>
          <p:cNvSpPr>
            <a:spLocks noGrp="1"/>
          </p:cNvSpPr>
          <p:nvPr>
            <p:ph type="sldNum" sz="quarter" idx="12"/>
          </p:nvPr>
        </p:nvSpPr>
        <p:spPr/>
        <p:txBody>
          <a:bodyPr/>
          <a:lstStyle/>
          <a:p>
            <a:pPr>
              <a:defRPr/>
            </a:pPr>
            <a:r>
              <a:rPr lang="en-US" dirty="0"/>
              <a:t> </a:t>
            </a:r>
            <a:endParaRPr lang="en-US" sz="1800" dirty="0">
              <a:solidFill>
                <a:schemeClr val="tx1"/>
              </a:solidFill>
            </a:endParaRPr>
          </a:p>
        </p:txBody>
      </p:sp>
      <p:sp>
        <p:nvSpPr>
          <p:cNvPr id="599042" name="Rectangle 2"/>
          <p:cNvSpPr>
            <a:spLocks noGrp="1" noChangeArrowheads="1"/>
          </p:cNvSpPr>
          <p:nvPr>
            <p:ph type="title"/>
          </p:nvPr>
        </p:nvSpPr>
        <p:spPr>
          <a:xfrm>
            <a:off x="685800" y="152400"/>
            <a:ext cx="7772400" cy="1066800"/>
          </a:xfrm>
        </p:spPr>
        <p:txBody>
          <a:bodyPr rtlCol="0">
            <a:normAutofit fontScale="90000"/>
          </a:bodyPr>
          <a:lstStyle/>
          <a:p>
            <a:pPr eaLnBrk="1" fontAlgn="auto" hangingPunct="1">
              <a:spcAft>
                <a:spcPts val="0"/>
              </a:spcAft>
              <a:defRPr/>
            </a:pPr>
            <a:r>
              <a:rPr lang="en-US" sz="3600" b="1" dirty="0" smtClean="0"/>
              <a:t>INFLUENCE OF RATION COMPOSITION ON DMI: FORAGE TO CONCENTRATE RATIO (</a:t>
            </a:r>
            <a:r>
              <a:rPr lang="en-US" sz="3600" b="1" dirty="0"/>
              <a:t>F/C)</a:t>
            </a:r>
          </a:p>
        </p:txBody>
      </p:sp>
      <p:grpSp>
        <p:nvGrpSpPr>
          <p:cNvPr id="599848" name="Group 808"/>
          <p:cNvGrpSpPr>
            <a:grpSpLocks/>
          </p:cNvGrpSpPr>
          <p:nvPr/>
        </p:nvGrpSpPr>
        <p:grpSpPr bwMode="auto">
          <a:xfrm>
            <a:off x="512763" y="3997325"/>
            <a:ext cx="2882900" cy="2332038"/>
            <a:chOff x="363" y="2518"/>
            <a:chExt cx="2043" cy="1469"/>
          </a:xfrm>
        </p:grpSpPr>
        <p:sp>
          <p:nvSpPr>
            <p:cNvPr id="40473" name="Text Box 4"/>
            <p:cNvSpPr txBox="1">
              <a:spLocks noChangeArrowheads="1"/>
            </p:cNvSpPr>
            <p:nvPr/>
          </p:nvSpPr>
          <p:spPr bwMode="auto">
            <a:xfrm>
              <a:off x="385" y="3466"/>
              <a:ext cx="2021" cy="233"/>
            </a:xfrm>
            <a:prstGeom prst="rect">
              <a:avLst/>
            </a:prstGeom>
            <a:noFill/>
            <a:ln w="9525">
              <a:noFill/>
              <a:miter lim="800000"/>
              <a:headEnd/>
              <a:tailEnd/>
            </a:ln>
          </p:spPr>
          <p:txBody>
            <a:bodyPr wrap="none">
              <a:spAutoFit/>
            </a:bodyPr>
            <a:lstStyle/>
            <a:p>
              <a:r>
                <a:rPr lang="en-US" b="1"/>
                <a:t>High volume (bulkiness)</a:t>
              </a:r>
            </a:p>
          </p:txBody>
        </p:sp>
        <p:sp>
          <p:nvSpPr>
            <p:cNvPr id="40474" name="Text Box 7"/>
            <p:cNvSpPr txBox="1">
              <a:spLocks noChangeArrowheads="1"/>
            </p:cNvSpPr>
            <p:nvPr/>
          </p:nvSpPr>
          <p:spPr bwMode="auto">
            <a:xfrm>
              <a:off x="385" y="3754"/>
              <a:ext cx="1658" cy="233"/>
            </a:xfrm>
            <a:prstGeom prst="rect">
              <a:avLst/>
            </a:prstGeom>
            <a:noFill/>
            <a:ln w="9525">
              <a:noFill/>
              <a:miter lim="800000"/>
              <a:headEnd/>
              <a:tailEnd/>
            </a:ln>
          </p:spPr>
          <p:txBody>
            <a:bodyPr wrap="none">
              <a:spAutoFit/>
            </a:bodyPr>
            <a:lstStyle/>
            <a:p>
              <a:r>
                <a:rPr lang="en-US" b="1"/>
                <a:t>Low energy density</a:t>
              </a:r>
            </a:p>
          </p:txBody>
        </p:sp>
        <p:sp>
          <p:nvSpPr>
            <p:cNvPr id="40475" name="Text Box 10"/>
            <p:cNvSpPr txBox="1">
              <a:spLocks noChangeArrowheads="1"/>
            </p:cNvSpPr>
            <p:nvPr/>
          </p:nvSpPr>
          <p:spPr bwMode="auto">
            <a:xfrm>
              <a:off x="385" y="3178"/>
              <a:ext cx="1794" cy="233"/>
            </a:xfrm>
            <a:prstGeom prst="rect">
              <a:avLst/>
            </a:prstGeom>
            <a:noFill/>
            <a:ln w="9525">
              <a:noFill/>
              <a:miter lim="800000"/>
              <a:headEnd/>
              <a:tailEnd/>
            </a:ln>
          </p:spPr>
          <p:txBody>
            <a:bodyPr wrap="none">
              <a:spAutoFit/>
            </a:bodyPr>
            <a:lstStyle/>
            <a:p>
              <a:r>
                <a:rPr lang="en-US" b="1"/>
                <a:t>High forage: high F/C</a:t>
              </a:r>
            </a:p>
          </p:txBody>
        </p:sp>
        <p:grpSp>
          <p:nvGrpSpPr>
            <p:cNvPr id="40476" name="Group 13"/>
            <p:cNvGrpSpPr>
              <a:grpSpLocks/>
            </p:cNvGrpSpPr>
            <p:nvPr/>
          </p:nvGrpSpPr>
          <p:grpSpPr bwMode="auto">
            <a:xfrm>
              <a:off x="363" y="2518"/>
              <a:ext cx="835" cy="660"/>
              <a:chOff x="672" y="1000"/>
              <a:chExt cx="835" cy="660"/>
            </a:xfrm>
          </p:grpSpPr>
          <p:grpSp>
            <p:nvGrpSpPr>
              <p:cNvPr id="40477" name="Group 14"/>
              <p:cNvGrpSpPr>
                <a:grpSpLocks/>
              </p:cNvGrpSpPr>
              <p:nvPr/>
            </p:nvGrpSpPr>
            <p:grpSpPr bwMode="auto">
              <a:xfrm>
                <a:off x="819" y="1462"/>
                <a:ext cx="523" cy="184"/>
                <a:chOff x="827" y="1640"/>
                <a:chExt cx="523" cy="184"/>
              </a:xfrm>
            </p:grpSpPr>
            <p:sp>
              <p:nvSpPr>
                <p:cNvPr id="40711" name="Line 15"/>
                <p:cNvSpPr>
                  <a:spLocks noChangeShapeType="1"/>
                </p:cNvSpPr>
                <p:nvPr/>
              </p:nvSpPr>
              <p:spPr bwMode="auto">
                <a:xfrm flipH="1">
                  <a:off x="927" y="1660"/>
                  <a:ext cx="269" cy="0"/>
                </a:xfrm>
                <a:prstGeom prst="line">
                  <a:avLst/>
                </a:prstGeom>
                <a:noFill/>
                <a:ln w="12700">
                  <a:solidFill>
                    <a:schemeClr val="bg1"/>
                  </a:solidFill>
                  <a:round/>
                  <a:headEnd/>
                  <a:tailEnd/>
                </a:ln>
              </p:spPr>
              <p:txBody>
                <a:bodyPr wrap="none" anchor="ctr"/>
                <a:lstStyle/>
                <a:p>
                  <a:endParaRPr lang="en-US"/>
                </a:p>
              </p:txBody>
            </p:sp>
            <p:sp>
              <p:nvSpPr>
                <p:cNvPr id="40712" name="Oval 16"/>
                <p:cNvSpPr>
                  <a:spLocks noChangeArrowheads="1"/>
                </p:cNvSpPr>
                <p:nvPr/>
              </p:nvSpPr>
              <p:spPr bwMode="auto">
                <a:xfrm>
                  <a:off x="998" y="1736"/>
                  <a:ext cx="46" cy="64"/>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40713" name="Oval 17"/>
                <p:cNvSpPr>
                  <a:spLocks noChangeArrowheads="1"/>
                </p:cNvSpPr>
                <p:nvPr/>
              </p:nvSpPr>
              <p:spPr bwMode="auto">
                <a:xfrm>
                  <a:off x="1080" y="1753"/>
                  <a:ext cx="46" cy="64"/>
                </a:xfrm>
                <a:prstGeom prst="ellipse">
                  <a:avLst/>
                </a:prstGeom>
                <a:solidFill>
                  <a:schemeClr val="accent1"/>
                </a:solidFill>
                <a:ln w="12700">
                  <a:solidFill>
                    <a:srgbClr val="000000"/>
                  </a:solidFill>
                  <a:round/>
                  <a:headEnd/>
                  <a:tailEnd/>
                </a:ln>
              </p:spPr>
              <p:txBody>
                <a:bodyPr wrap="none" anchor="ctr"/>
                <a:lstStyle/>
                <a:p>
                  <a:endParaRPr lang="en-NZ">
                    <a:latin typeface="Calibri" pitchFamily="34" charset="0"/>
                  </a:endParaRPr>
                </a:p>
              </p:txBody>
            </p:sp>
            <p:sp>
              <p:nvSpPr>
                <p:cNvPr id="40714" name="Oval 18"/>
                <p:cNvSpPr>
                  <a:spLocks noChangeArrowheads="1"/>
                </p:cNvSpPr>
                <p:nvPr/>
              </p:nvSpPr>
              <p:spPr bwMode="auto">
                <a:xfrm>
                  <a:off x="854" y="1744"/>
                  <a:ext cx="100" cy="48"/>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40715" name="Oval 19"/>
                <p:cNvSpPr>
                  <a:spLocks noChangeArrowheads="1"/>
                </p:cNvSpPr>
                <p:nvPr/>
              </p:nvSpPr>
              <p:spPr bwMode="auto">
                <a:xfrm>
                  <a:off x="918" y="1737"/>
                  <a:ext cx="46" cy="64"/>
                </a:xfrm>
                <a:prstGeom prst="ellipse">
                  <a:avLst/>
                </a:prstGeom>
                <a:solidFill>
                  <a:schemeClr val="accent1"/>
                </a:solidFill>
                <a:ln w="12700">
                  <a:solidFill>
                    <a:srgbClr val="000000"/>
                  </a:solidFill>
                  <a:round/>
                  <a:headEnd/>
                  <a:tailEnd/>
                </a:ln>
              </p:spPr>
              <p:txBody>
                <a:bodyPr wrap="none" anchor="ctr"/>
                <a:lstStyle/>
                <a:p>
                  <a:endParaRPr lang="en-NZ">
                    <a:latin typeface="Calibri" pitchFamily="34" charset="0"/>
                  </a:endParaRPr>
                </a:p>
              </p:txBody>
            </p:sp>
            <p:sp>
              <p:nvSpPr>
                <p:cNvPr id="40716" name="Oval 20"/>
                <p:cNvSpPr>
                  <a:spLocks noChangeArrowheads="1"/>
                </p:cNvSpPr>
                <p:nvPr/>
              </p:nvSpPr>
              <p:spPr bwMode="auto">
                <a:xfrm>
                  <a:off x="917" y="1776"/>
                  <a:ext cx="82" cy="40"/>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40717" name="Oval 21"/>
                <p:cNvSpPr>
                  <a:spLocks noChangeArrowheads="1"/>
                </p:cNvSpPr>
                <p:nvPr/>
              </p:nvSpPr>
              <p:spPr bwMode="auto">
                <a:xfrm>
                  <a:off x="1106" y="1776"/>
                  <a:ext cx="100" cy="48"/>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40718" name="Oval 22"/>
                <p:cNvSpPr>
                  <a:spLocks noChangeArrowheads="1"/>
                </p:cNvSpPr>
                <p:nvPr/>
              </p:nvSpPr>
              <p:spPr bwMode="auto">
                <a:xfrm>
                  <a:off x="1173" y="1764"/>
                  <a:ext cx="92" cy="40"/>
                </a:xfrm>
                <a:prstGeom prst="ellipse">
                  <a:avLst/>
                </a:prstGeom>
                <a:solidFill>
                  <a:srgbClr val="FE910B"/>
                </a:solidFill>
                <a:ln w="25400">
                  <a:solidFill>
                    <a:srgbClr val="000000"/>
                  </a:solidFill>
                  <a:round/>
                  <a:headEnd/>
                  <a:tailEnd/>
                </a:ln>
              </p:spPr>
              <p:txBody>
                <a:bodyPr wrap="none" anchor="ctr"/>
                <a:lstStyle/>
                <a:p>
                  <a:endParaRPr lang="en-NZ">
                    <a:latin typeface="Calibri" pitchFamily="34" charset="0"/>
                  </a:endParaRPr>
                </a:p>
              </p:txBody>
            </p:sp>
            <p:sp>
              <p:nvSpPr>
                <p:cNvPr id="40719" name="Oval 23"/>
                <p:cNvSpPr>
                  <a:spLocks noChangeArrowheads="1"/>
                </p:cNvSpPr>
                <p:nvPr/>
              </p:nvSpPr>
              <p:spPr bwMode="auto">
                <a:xfrm>
                  <a:off x="1151" y="1728"/>
                  <a:ext cx="46" cy="64"/>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40720" name="Oval 24"/>
                <p:cNvSpPr>
                  <a:spLocks noChangeArrowheads="1"/>
                </p:cNvSpPr>
                <p:nvPr/>
              </p:nvSpPr>
              <p:spPr bwMode="auto">
                <a:xfrm>
                  <a:off x="1241" y="1720"/>
                  <a:ext cx="46" cy="64"/>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40721" name="Oval 25"/>
                <p:cNvSpPr>
                  <a:spLocks noChangeArrowheads="1"/>
                </p:cNvSpPr>
                <p:nvPr/>
              </p:nvSpPr>
              <p:spPr bwMode="auto">
                <a:xfrm>
                  <a:off x="890" y="1736"/>
                  <a:ext cx="100" cy="48"/>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40722" name="Oval 26"/>
                <p:cNvSpPr>
                  <a:spLocks noChangeArrowheads="1"/>
                </p:cNvSpPr>
                <p:nvPr/>
              </p:nvSpPr>
              <p:spPr bwMode="auto">
                <a:xfrm>
                  <a:off x="989" y="1776"/>
                  <a:ext cx="100" cy="48"/>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40723" name="Oval 27"/>
                <p:cNvSpPr>
                  <a:spLocks noChangeArrowheads="1"/>
                </p:cNvSpPr>
                <p:nvPr/>
              </p:nvSpPr>
              <p:spPr bwMode="auto">
                <a:xfrm>
                  <a:off x="953" y="1704"/>
                  <a:ext cx="46" cy="64"/>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40724" name="Oval 28"/>
                <p:cNvSpPr>
                  <a:spLocks noChangeArrowheads="1"/>
                </p:cNvSpPr>
                <p:nvPr/>
              </p:nvSpPr>
              <p:spPr bwMode="auto">
                <a:xfrm>
                  <a:off x="1070" y="1736"/>
                  <a:ext cx="82" cy="40"/>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40725" name="Oval 29"/>
                <p:cNvSpPr>
                  <a:spLocks noChangeArrowheads="1"/>
                </p:cNvSpPr>
                <p:nvPr/>
              </p:nvSpPr>
              <p:spPr bwMode="auto">
                <a:xfrm>
                  <a:off x="998" y="1696"/>
                  <a:ext cx="100" cy="48"/>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40726" name="Oval 30"/>
                <p:cNvSpPr>
                  <a:spLocks noChangeArrowheads="1"/>
                </p:cNvSpPr>
                <p:nvPr/>
              </p:nvSpPr>
              <p:spPr bwMode="auto">
                <a:xfrm>
                  <a:off x="1079" y="1688"/>
                  <a:ext cx="100" cy="48"/>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40727" name="Oval 31"/>
                <p:cNvSpPr>
                  <a:spLocks noChangeArrowheads="1"/>
                </p:cNvSpPr>
                <p:nvPr/>
              </p:nvSpPr>
              <p:spPr bwMode="auto">
                <a:xfrm>
                  <a:off x="1152" y="1680"/>
                  <a:ext cx="46" cy="65"/>
                </a:xfrm>
                <a:prstGeom prst="ellipse">
                  <a:avLst/>
                </a:prstGeom>
                <a:solidFill>
                  <a:schemeClr val="accent1"/>
                </a:solidFill>
                <a:ln w="12700">
                  <a:solidFill>
                    <a:srgbClr val="000000"/>
                  </a:solidFill>
                  <a:round/>
                  <a:headEnd/>
                  <a:tailEnd/>
                </a:ln>
              </p:spPr>
              <p:txBody>
                <a:bodyPr wrap="none" anchor="ctr"/>
                <a:lstStyle/>
                <a:p>
                  <a:endParaRPr lang="en-NZ">
                    <a:latin typeface="Calibri" pitchFamily="34" charset="0"/>
                  </a:endParaRPr>
                </a:p>
              </p:txBody>
            </p:sp>
            <p:sp>
              <p:nvSpPr>
                <p:cNvPr id="40728" name="Oval 32"/>
                <p:cNvSpPr>
                  <a:spLocks noChangeArrowheads="1"/>
                </p:cNvSpPr>
                <p:nvPr/>
              </p:nvSpPr>
              <p:spPr bwMode="auto">
                <a:xfrm>
                  <a:off x="1200" y="1728"/>
                  <a:ext cx="82" cy="40"/>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40729" name="Oval 33"/>
                <p:cNvSpPr>
                  <a:spLocks noChangeArrowheads="1"/>
                </p:cNvSpPr>
                <p:nvPr/>
              </p:nvSpPr>
              <p:spPr bwMode="auto">
                <a:xfrm>
                  <a:off x="1056" y="1728"/>
                  <a:ext cx="46" cy="64"/>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40730" name="Oval 34"/>
                <p:cNvSpPr>
                  <a:spLocks noChangeArrowheads="1"/>
                </p:cNvSpPr>
                <p:nvPr/>
              </p:nvSpPr>
              <p:spPr bwMode="auto">
                <a:xfrm>
                  <a:off x="854" y="1696"/>
                  <a:ext cx="100" cy="48"/>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40731" name="Oval 35"/>
                <p:cNvSpPr>
                  <a:spLocks noChangeArrowheads="1"/>
                </p:cNvSpPr>
                <p:nvPr/>
              </p:nvSpPr>
              <p:spPr bwMode="auto">
                <a:xfrm>
                  <a:off x="935" y="1688"/>
                  <a:ext cx="100" cy="48"/>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40732" name="Oval 36"/>
                <p:cNvSpPr>
                  <a:spLocks noChangeArrowheads="1"/>
                </p:cNvSpPr>
                <p:nvPr/>
              </p:nvSpPr>
              <p:spPr bwMode="auto">
                <a:xfrm>
                  <a:off x="1007" y="1655"/>
                  <a:ext cx="46" cy="65"/>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40733" name="Oval 37"/>
                <p:cNvSpPr>
                  <a:spLocks noChangeArrowheads="1"/>
                </p:cNvSpPr>
                <p:nvPr/>
              </p:nvSpPr>
              <p:spPr bwMode="auto">
                <a:xfrm>
                  <a:off x="1178" y="1640"/>
                  <a:ext cx="46" cy="64"/>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40734" name="Oval 38"/>
                <p:cNvSpPr>
                  <a:spLocks noChangeArrowheads="1"/>
                </p:cNvSpPr>
                <p:nvPr/>
              </p:nvSpPr>
              <p:spPr bwMode="auto">
                <a:xfrm>
                  <a:off x="1169" y="1664"/>
                  <a:ext cx="100" cy="48"/>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40735" name="Oval 39"/>
                <p:cNvSpPr>
                  <a:spLocks noChangeArrowheads="1"/>
                </p:cNvSpPr>
                <p:nvPr/>
              </p:nvSpPr>
              <p:spPr bwMode="auto">
                <a:xfrm>
                  <a:off x="1268" y="1696"/>
                  <a:ext cx="82" cy="40"/>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40736" name="Oval 40"/>
                <p:cNvSpPr>
                  <a:spLocks noChangeArrowheads="1"/>
                </p:cNvSpPr>
                <p:nvPr/>
              </p:nvSpPr>
              <p:spPr bwMode="auto">
                <a:xfrm>
                  <a:off x="827" y="1696"/>
                  <a:ext cx="46" cy="65"/>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grpSp>
          <p:grpSp>
            <p:nvGrpSpPr>
              <p:cNvPr id="40478" name="Group 41"/>
              <p:cNvGrpSpPr>
                <a:grpSpLocks/>
              </p:cNvGrpSpPr>
              <p:nvPr/>
            </p:nvGrpSpPr>
            <p:grpSpPr bwMode="auto">
              <a:xfrm>
                <a:off x="688" y="1000"/>
                <a:ext cx="784" cy="614"/>
                <a:chOff x="688" y="1000"/>
                <a:chExt cx="784" cy="614"/>
              </a:xfrm>
            </p:grpSpPr>
            <p:sp>
              <p:nvSpPr>
                <p:cNvPr id="40483" name="Freeform 42"/>
                <p:cNvSpPr>
                  <a:spLocks/>
                </p:cNvSpPr>
                <p:nvPr/>
              </p:nvSpPr>
              <p:spPr bwMode="auto">
                <a:xfrm>
                  <a:off x="1180" y="1301"/>
                  <a:ext cx="288" cy="145"/>
                </a:xfrm>
                <a:custGeom>
                  <a:avLst/>
                  <a:gdLst>
                    <a:gd name="T0" fmla="*/ 0 w 288"/>
                    <a:gd name="T1" fmla="*/ 144 h 145"/>
                    <a:gd name="T2" fmla="*/ 63 w 288"/>
                    <a:gd name="T3" fmla="*/ 88 h 145"/>
                    <a:gd name="T4" fmla="*/ 287 w 288"/>
                    <a:gd name="T5" fmla="*/ 0 h 145"/>
                    <a:gd name="T6" fmla="*/ 0 60000 65536"/>
                    <a:gd name="T7" fmla="*/ 0 60000 65536"/>
                    <a:gd name="T8" fmla="*/ 0 60000 65536"/>
                    <a:gd name="T9" fmla="*/ 0 w 288"/>
                    <a:gd name="T10" fmla="*/ 0 h 145"/>
                    <a:gd name="T11" fmla="*/ 288 w 288"/>
                    <a:gd name="T12" fmla="*/ 145 h 145"/>
                  </a:gdLst>
                  <a:ahLst/>
                  <a:cxnLst>
                    <a:cxn ang="T6">
                      <a:pos x="T0" y="T1"/>
                    </a:cxn>
                    <a:cxn ang="T7">
                      <a:pos x="T2" y="T3"/>
                    </a:cxn>
                    <a:cxn ang="T8">
                      <a:pos x="T4" y="T5"/>
                    </a:cxn>
                  </a:cxnLst>
                  <a:rect l="T9" t="T10" r="T11" b="T12"/>
                  <a:pathLst>
                    <a:path w="288" h="145">
                      <a:moveTo>
                        <a:pt x="0" y="144"/>
                      </a:moveTo>
                      <a:lnTo>
                        <a:pt x="63" y="88"/>
                      </a:lnTo>
                      <a:lnTo>
                        <a:pt x="287"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484" name="Freeform 43"/>
                <p:cNvSpPr>
                  <a:spLocks/>
                </p:cNvSpPr>
                <p:nvPr/>
              </p:nvSpPr>
              <p:spPr bwMode="auto">
                <a:xfrm>
                  <a:off x="1021" y="1208"/>
                  <a:ext cx="289" cy="145"/>
                </a:xfrm>
                <a:custGeom>
                  <a:avLst/>
                  <a:gdLst>
                    <a:gd name="T0" fmla="*/ 0 w 289"/>
                    <a:gd name="T1" fmla="*/ 144 h 145"/>
                    <a:gd name="T2" fmla="*/ 36 w 289"/>
                    <a:gd name="T3" fmla="*/ 112 h 145"/>
                    <a:gd name="T4" fmla="*/ 99 w 289"/>
                    <a:gd name="T5" fmla="*/ 72 h 145"/>
                    <a:gd name="T6" fmla="*/ 180 w 289"/>
                    <a:gd name="T7" fmla="*/ 40 h 145"/>
                    <a:gd name="T8" fmla="*/ 288 w 289"/>
                    <a:gd name="T9" fmla="*/ 0 h 145"/>
                    <a:gd name="T10" fmla="*/ 0 60000 65536"/>
                    <a:gd name="T11" fmla="*/ 0 60000 65536"/>
                    <a:gd name="T12" fmla="*/ 0 60000 65536"/>
                    <a:gd name="T13" fmla="*/ 0 60000 65536"/>
                    <a:gd name="T14" fmla="*/ 0 60000 65536"/>
                    <a:gd name="T15" fmla="*/ 0 w 289"/>
                    <a:gd name="T16" fmla="*/ 0 h 145"/>
                    <a:gd name="T17" fmla="*/ 289 w 289"/>
                    <a:gd name="T18" fmla="*/ 145 h 145"/>
                  </a:gdLst>
                  <a:ahLst/>
                  <a:cxnLst>
                    <a:cxn ang="T10">
                      <a:pos x="T0" y="T1"/>
                    </a:cxn>
                    <a:cxn ang="T11">
                      <a:pos x="T2" y="T3"/>
                    </a:cxn>
                    <a:cxn ang="T12">
                      <a:pos x="T4" y="T5"/>
                    </a:cxn>
                    <a:cxn ang="T13">
                      <a:pos x="T6" y="T7"/>
                    </a:cxn>
                    <a:cxn ang="T14">
                      <a:pos x="T8" y="T9"/>
                    </a:cxn>
                  </a:cxnLst>
                  <a:rect l="T15" t="T16" r="T17" b="T18"/>
                  <a:pathLst>
                    <a:path w="289" h="145">
                      <a:moveTo>
                        <a:pt x="0" y="144"/>
                      </a:moveTo>
                      <a:lnTo>
                        <a:pt x="36" y="112"/>
                      </a:lnTo>
                      <a:lnTo>
                        <a:pt x="99" y="72"/>
                      </a:lnTo>
                      <a:lnTo>
                        <a:pt x="180" y="40"/>
                      </a:lnTo>
                      <a:lnTo>
                        <a:pt x="28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485" name="Freeform 44"/>
                <p:cNvSpPr>
                  <a:spLocks/>
                </p:cNvSpPr>
                <p:nvPr/>
              </p:nvSpPr>
              <p:spPr bwMode="auto">
                <a:xfrm>
                  <a:off x="760" y="1272"/>
                  <a:ext cx="10" cy="41"/>
                </a:xfrm>
                <a:custGeom>
                  <a:avLst/>
                  <a:gdLst>
                    <a:gd name="T0" fmla="*/ 0 w 10"/>
                    <a:gd name="T1" fmla="*/ 40 h 41"/>
                    <a:gd name="T2" fmla="*/ 0 w 10"/>
                    <a:gd name="T3" fmla="*/ 40 h 41"/>
                    <a:gd name="T4" fmla="*/ 9 w 10"/>
                    <a:gd name="T5" fmla="*/ 0 h 41"/>
                    <a:gd name="T6" fmla="*/ 0 60000 65536"/>
                    <a:gd name="T7" fmla="*/ 0 60000 65536"/>
                    <a:gd name="T8" fmla="*/ 0 60000 65536"/>
                    <a:gd name="T9" fmla="*/ 0 w 10"/>
                    <a:gd name="T10" fmla="*/ 0 h 41"/>
                    <a:gd name="T11" fmla="*/ 10 w 10"/>
                    <a:gd name="T12" fmla="*/ 41 h 41"/>
                  </a:gdLst>
                  <a:ahLst/>
                  <a:cxnLst>
                    <a:cxn ang="T6">
                      <a:pos x="T0" y="T1"/>
                    </a:cxn>
                    <a:cxn ang="T7">
                      <a:pos x="T2" y="T3"/>
                    </a:cxn>
                    <a:cxn ang="T8">
                      <a:pos x="T4" y="T5"/>
                    </a:cxn>
                  </a:cxnLst>
                  <a:rect l="T9" t="T10" r="T11" b="T12"/>
                  <a:pathLst>
                    <a:path w="10" h="41">
                      <a:moveTo>
                        <a:pt x="0" y="40"/>
                      </a:moveTo>
                      <a:lnTo>
                        <a:pt x="0" y="40"/>
                      </a:lnTo>
                      <a:lnTo>
                        <a:pt x="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486" name="Line 45"/>
                <p:cNvSpPr>
                  <a:spLocks noChangeShapeType="1"/>
                </p:cNvSpPr>
                <p:nvPr/>
              </p:nvSpPr>
              <p:spPr bwMode="auto">
                <a:xfrm flipV="1">
                  <a:off x="927" y="1361"/>
                  <a:ext cx="1" cy="48"/>
                </a:xfrm>
                <a:prstGeom prst="line">
                  <a:avLst/>
                </a:prstGeom>
                <a:noFill/>
                <a:ln w="12700">
                  <a:solidFill>
                    <a:srgbClr val="009900"/>
                  </a:solidFill>
                  <a:round/>
                  <a:headEnd/>
                  <a:tailEnd/>
                </a:ln>
              </p:spPr>
              <p:txBody>
                <a:bodyPr wrap="none" anchor="ctr"/>
                <a:lstStyle/>
                <a:p>
                  <a:endParaRPr lang="en-US"/>
                </a:p>
              </p:txBody>
            </p:sp>
            <p:sp>
              <p:nvSpPr>
                <p:cNvPr id="40487" name="Freeform 46"/>
                <p:cNvSpPr>
                  <a:spLocks/>
                </p:cNvSpPr>
                <p:nvPr/>
              </p:nvSpPr>
              <p:spPr bwMode="auto">
                <a:xfrm>
                  <a:off x="913" y="1168"/>
                  <a:ext cx="55" cy="137"/>
                </a:xfrm>
                <a:custGeom>
                  <a:avLst/>
                  <a:gdLst>
                    <a:gd name="T0" fmla="*/ 54 w 55"/>
                    <a:gd name="T1" fmla="*/ 136 h 137"/>
                    <a:gd name="T2" fmla="*/ 18 w 55"/>
                    <a:gd name="T3" fmla="*/ 104 h 137"/>
                    <a:gd name="T4" fmla="*/ 0 w 55"/>
                    <a:gd name="T5" fmla="*/ 0 h 137"/>
                    <a:gd name="T6" fmla="*/ 0 60000 65536"/>
                    <a:gd name="T7" fmla="*/ 0 60000 65536"/>
                    <a:gd name="T8" fmla="*/ 0 60000 65536"/>
                    <a:gd name="T9" fmla="*/ 0 w 55"/>
                    <a:gd name="T10" fmla="*/ 0 h 137"/>
                    <a:gd name="T11" fmla="*/ 55 w 55"/>
                    <a:gd name="T12" fmla="*/ 137 h 137"/>
                  </a:gdLst>
                  <a:ahLst/>
                  <a:cxnLst>
                    <a:cxn ang="T6">
                      <a:pos x="T0" y="T1"/>
                    </a:cxn>
                    <a:cxn ang="T7">
                      <a:pos x="T2" y="T3"/>
                    </a:cxn>
                    <a:cxn ang="T8">
                      <a:pos x="T4" y="T5"/>
                    </a:cxn>
                  </a:cxnLst>
                  <a:rect l="T9" t="T10" r="T11" b="T12"/>
                  <a:pathLst>
                    <a:path w="55" h="137">
                      <a:moveTo>
                        <a:pt x="54" y="136"/>
                      </a:moveTo>
                      <a:lnTo>
                        <a:pt x="18" y="104"/>
                      </a:lnTo>
                      <a:lnTo>
                        <a:pt x="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488" name="Freeform 47"/>
                <p:cNvSpPr>
                  <a:spLocks/>
                </p:cNvSpPr>
                <p:nvPr/>
              </p:nvSpPr>
              <p:spPr bwMode="auto">
                <a:xfrm>
                  <a:off x="913" y="1168"/>
                  <a:ext cx="55" cy="137"/>
                </a:xfrm>
                <a:custGeom>
                  <a:avLst/>
                  <a:gdLst>
                    <a:gd name="T0" fmla="*/ 54 w 55"/>
                    <a:gd name="T1" fmla="*/ 136 h 137"/>
                    <a:gd name="T2" fmla="*/ 18 w 55"/>
                    <a:gd name="T3" fmla="*/ 80 h 137"/>
                    <a:gd name="T4" fmla="*/ 0 w 55"/>
                    <a:gd name="T5" fmla="*/ 0 h 137"/>
                    <a:gd name="T6" fmla="*/ 0 60000 65536"/>
                    <a:gd name="T7" fmla="*/ 0 60000 65536"/>
                    <a:gd name="T8" fmla="*/ 0 60000 65536"/>
                    <a:gd name="T9" fmla="*/ 0 w 55"/>
                    <a:gd name="T10" fmla="*/ 0 h 137"/>
                    <a:gd name="T11" fmla="*/ 55 w 55"/>
                    <a:gd name="T12" fmla="*/ 137 h 137"/>
                  </a:gdLst>
                  <a:ahLst/>
                  <a:cxnLst>
                    <a:cxn ang="T6">
                      <a:pos x="T0" y="T1"/>
                    </a:cxn>
                    <a:cxn ang="T7">
                      <a:pos x="T2" y="T3"/>
                    </a:cxn>
                    <a:cxn ang="T8">
                      <a:pos x="T4" y="T5"/>
                    </a:cxn>
                  </a:cxnLst>
                  <a:rect l="T9" t="T10" r="T11" b="T12"/>
                  <a:pathLst>
                    <a:path w="55" h="137">
                      <a:moveTo>
                        <a:pt x="54" y="136"/>
                      </a:moveTo>
                      <a:lnTo>
                        <a:pt x="18" y="80"/>
                      </a:lnTo>
                      <a:lnTo>
                        <a:pt x="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489" name="Freeform 48"/>
                <p:cNvSpPr>
                  <a:spLocks/>
                </p:cNvSpPr>
                <p:nvPr/>
              </p:nvSpPr>
              <p:spPr bwMode="auto">
                <a:xfrm>
                  <a:off x="892" y="1317"/>
                  <a:ext cx="19" cy="153"/>
                </a:xfrm>
                <a:custGeom>
                  <a:avLst/>
                  <a:gdLst>
                    <a:gd name="T0" fmla="*/ 18 w 19"/>
                    <a:gd name="T1" fmla="*/ 152 h 153"/>
                    <a:gd name="T2" fmla="*/ 18 w 19"/>
                    <a:gd name="T3" fmla="*/ 152 h 153"/>
                    <a:gd name="T4" fmla="*/ 0 w 19"/>
                    <a:gd name="T5" fmla="*/ 0 h 153"/>
                    <a:gd name="T6" fmla="*/ 0 60000 65536"/>
                    <a:gd name="T7" fmla="*/ 0 60000 65536"/>
                    <a:gd name="T8" fmla="*/ 0 60000 65536"/>
                    <a:gd name="T9" fmla="*/ 0 w 19"/>
                    <a:gd name="T10" fmla="*/ 0 h 153"/>
                    <a:gd name="T11" fmla="*/ 19 w 19"/>
                    <a:gd name="T12" fmla="*/ 153 h 153"/>
                  </a:gdLst>
                  <a:ahLst/>
                  <a:cxnLst>
                    <a:cxn ang="T6">
                      <a:pos x="T0" y="T1"/>
                    </a:cxn>
                    <a:cxn ang="T7">
                      <a:pos x="T2" y="T3"/>
                    </a:cxn>
                    <a:cxn ang="T8">
                      <a:pos x="T4" y="T5"/>
                    </a:cxn>
                  </a:cxnLst>
                  <a:rect l="T9" t="T10" r="T11" b="T12"/>
                  <a:pathLst>
                    <a:path w="19" h="153">
                      <a:moveTo>
                        <a:pt x="18" y="152"/>
                      </a:moveTo>
                      <a:lnTo>
                        <a:pt x="18" y="152"/>
                      </a:lnTo>
                      <a:lnTo>
                        <a:pt x="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490" name="Line 49"/>
                <p:cNvSpPr>
                  <a:spLocks noChangeShapeType="1"/>
                </p:cNvSpPr>
                <p:nvPr/>
              </p:nvSpPr>
              <p:spPr bwMode="auto">
                <a:xfrm flipH="1" flipV="1">
                  <a:off x="733" y="1220"/>
                  <a:ext cx="27" cy="160"/>
                </a:xfrm>
                <a:prstGeom prst="line">
                  <a:avLst/>
                </a:prstGeom>
                <a:noFill/>
                <a:ln w="12700">
                  <a:solidFill>
                    <a:srgbClr val="009900"/>
                  </a:solidFill>
                  <a:round/>
                  <a:headEnd/>
                  <a:tailEnd/>
                </a:ln>
              </p:spPr>
              <p:txBody>
                <a:bodyPr wrap="none" anchor="ctr"/>
                <a:lstStyle/>
                <a:p>
                  <a:endParaRPr lang="en-US"/>
                </a:p>
              </p:txBody>
            </p:sp>
            <p:sp>
              <p:nvSpPr>
                <p:cNvPr id="40491" name="Freeform 50"/>
                <p:cNvSpPr>
                  <a:spLocks/>
                </p:cNvSpPr>
                <p:nvPr/>
              </p:nvSpPr>
              <p:spPr bwMode="auto">
                <a:xfrm>
                  <a:off x="922" y="1216"/>
                  <a:ext cx="10" cy="41"/>
                </a:xfrm>
                <a:custGeom>
                  <a:avLst/>
                  <a:gdLst>
                    <a:gd name="T0" fmla="*/ 0 w 10"/>
                    <a:gd name="T1" fmla="*/ 40 h 41"/>
                    <a:gd name="T2" fmla="*/ 0 w 10"/>
                    <a:gd name="T3" fmla="*/ 40 h 41"/>
                    <a:gd name="T4" fmla="*/ 9 w 10"/>
                    <a:gd name="T5" fmla="*/ 0 h 41"/>
                    <a:gd name="T6" fmla="*/ 0 60000 65536"/>
                    <a:gd name="T7" fmla="*/ 0 60000 65536"/>
                    <a:gd name="T8" fmla="*/ 0 60000 65536"/>
                    <a:gd name="T9" fmla="*/ 0 w 10"/>
                    <a:gd name="T10" fmla="*/ 0 h 41"/>
                    <a:gd name="T11" fmla="*/ 10 w 10"/>
                    <a:gd name="T12" fmla="*/ 41 h 41"/>
                  </a:gdLst>
                  <a:ahLst/>
                  <a:cxnLst>
                    <a:cxn ang="T6">
                      <a:pos x="T0" y="T1"/>
                    </a:cxn>
                    <a:cxn ang="T7">
                      <a:pos x="T2" y="T3"/>
                    </a:cxn>
                    <a:cxn ang="T8">
                      <a:pos x="T4" y="T5"/>
                    </a:cxn>
                  </a:cxnLst>
                  <a:rect l="T9" t="T10" r="T11" b="T12"/>
                  <a:pathLst>
                    <a:path w="10" h="41">
                      <a:moveTo>
                        <a:pt x="0" y="40"/>
                      </a:moveTo>
                      <a:lnTo>
                        <a:pt x="0" y="40"/>
                      </a:lnTo>
                      <a:lnTo>
                        <a:pt x="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492" name="Line 51"/>
                <p:cNvSpPr>
                  <a:spLocks noChangeShapeType="1"/>
                </p:cNvSpPr>
                <p:nvPr/>
              </p:nvSpPr>
              <p:spPr bwMode="auto">
                <a:xfrm flipV="1">
                  <a:off x="1089" y="1305"/>
                  <a:ext cx="1" cy="48"/>
                </a:xfrm>
                <a:prstGeom prst="line">
                  <a:avLst/>
                </a:prstGeom>
                <a:noFill/>
                <a:ln w="12700">
                  <a:solidFill>
                    <a:srgbClr val="009900"/>
                  </a:solidFill>
                  <a:round/>
                  <a:headEnd/>
                  <a:tailEnd/>
                </a:ln>
              </p:spPr>
              <p:txBody>
                <a:bodyPr wrap="none" anchor="ctr"/>
                <a:lstStyle/>
                <a:p>
                  <a:endParaRPr lang="en-US"/>
                </a:p>
              </p:txBody>
            </p:sp>
            <p:sp>
              <p:nvSpPr>
                <p:cNvPr id="40493" name="Freeform 52"/>
                <p:cNvSpPr>
                  <a:spLocks/>
                </p:cNvSpPr>
                <p:nvPr/>
              </p:nvSpPr>
              <p:spPr bwMode="auto">
                <a:xfrm>
                  <a:off x="832" y="1272"/>
                  <a:ext cx="19" cy="49"/>
                </a:xfrm>
                <a:custGeom>
                  <a:avLst/>
                  <a:gdLst>
                    <a:gd name="T0" fmla="*/ 0 w 19"/>
                    <a:gd name="T1" fmla="*/ 48 h 49"/>
                    <a:gd name="T2" fmla="*/ 0 w 19"/>
                    <a:gd name="T3" fmla="*/ 48 h 49"/>
                    <a:gd name="T4" fmla="*/ 18 w 19"/>
                    <a:gd name="T5" fmla="*/ 0 h 49"/>
                    <a:gd name="T6" fmla="*/ 0 60000 65536"/>
                    <a:gd name="T7" fmla="*/ 0 60000 65536"/>
                    <a:gd name="T8" fmla="*/ 0 60000 65536"/>
                    <a:gd name="T9" fmla="*/ 0 w 19"/>
                    <a:gd name="T10" fmla="*/ 0 h 49"/>
                    <a:gd name="T11" fmla="*/ 19 w 19"/>
                    <a:gd name="T12" fmla="*/ 49 h 49"/>
                  </a:gdLst>
                  <a:ahLst/>
                  <a:cxnLst>
                    <a:cxn ang="T6">
                      <a:pos x="T0" y="T1"/>
                    </a:cxn>
                    <a:cxn ang="T7">
                      <a:pos x="T2" y="T3"/>
                    </a:cxn>
                    <a:cxn ang="T8">
                      <a:pos x="T4" y="T5"/>
                    </a:cxn>
                  </a:cxnLst>
                  <a:rect l="T9" t="T10" r="T11" b="T12"/>
                  <a:pathLst>
                    <a:path w="19" h="49">
                      <a:moveTo>
                        <a:pt x="0" y="48"/>
                      </a:moveTo>
                      <a:lnTo>
                        <a:pt x="0" y="48"/>
                      </a:lnTo>
                      <a:lnTo>
                        <a:pt x="1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494" name="Line 53"/>
                <p:cNvSpPr>
                  <a:spLocks noChangeShapeType="1"/>
                </p:cNvSpPr>
                <p:nvPr/>
              </p:nvSpPr>
              <p:spPr bwMode="auto">
                <a:xfrm flipV="1">
                  <a:off x="840" y="1268"/>
                  <a:ext cx="11" cy="56"/>
                </a:xfrm>
                <a:prstGeom prst="line">
                  <a:avLst/>
                </a:prstGeom>
                <a:noFill/>
                <a:ln w="12700">
                  <a:solidFill>
                    <a:srgbClr val="009900"/>
                  </a:solidFill>
                  <a:round/>
                  <a:headEnd/>
                  <a:tailEnd/>
                </a:ln>
              </p:spPr>
              <p:txBody>
                <a:bodyPr wrap="none" anchor="ctr"/>
                <a:lstStyle/>
                <a:p>
                  <a:endParaRPr lang="en-US"/>
                </a:p>
              </p:txBody>
            </p:sp>
            <p:sp>
              <p:nvSpPr>
                <p:cNvPr id="40495" name="Freeform 54"/>
                <p:cNvSpPr>
                  <a:spLocks/>
                </p:cNvSpPr>
                <p:nvPr/>
              </p:nvSpPr>
              <p:spPr bwMode="auto">
                <a:xfrm>
                  <a:off x="1165" y="1097"/>
                  <a:ext cx="28" cy="152"/>
                </a:xfrm>
                <a:custGeom>
                  <a:avLst/>
                  <a:gdLst>
                    <a:gd name="T0" fmla="*/ 27 w 28"/>
                    <a:gd name="T1" fmla="*/ 151 h 152"/>
                    <a:gd name="T2" fmla="*/ 27 w 28"/>
                    <a:gd name="T3" fmla="*/ 151 h 152"/>
                    <a:gd name="T4" fmla="*/ 0 w 28"/>
                    <a:gd name="T5" fmla="*/ 0 h 152"/>
                    <a:gd name="T6" fmla="*/ 0 60000 65536"/>
                    <a:gd name="T7" fmla="*/ 0 60000 65536"/>
                    <a:gd name="T8" fmla="*/ 0 60000 65536"/>
                    <a:gd name="T9" fmla="*/ 0 w 28"/>
                    <a:gd name="T10" fmla="*/ 0 h 152"/>
                    <a:gd name="T11" fmla="*/ 28 w 28"/>
                    <a:gd name="T12" fmla="*/ 152 h 152"/>
                  </a:gdLst>
                  <a:ahLst/>
                  <a:cxnLst>
                    <a:cxn ang="T6">
                      <a:pos x="T0" y="T1"/>
                    </a:cxn>
                    <a:cxn ang="T7">
                      <a:pos x="T2" y="T3"/>
                    </a:cxn>
                    <a:cxn ang="T8">
                      <a:pos x="T4" y="T5"/>
                    </a:cxn>
                  </a:cxnLst>
                  <a:rect l="T9" t="T10" r="T11" b="T12"/>
                  <a:pathLst>
                    <a:path w="28" h="152">
                      <a:moveTo>
                        <a:pt x="27" y="151"/>
                      </a:moveTo>
                      <a:lnTo>
                        <a:pt x="27" y="151"/>
                      </a:lnTo>
                      <a:lnTo>
                        <a:pt x="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496" name="Line 55"/>
                <p:cNvSpPr>
                  <a:spLocks noChangeShapeType="1"/>
                </p:cNvSpPr>
                <p:nvPr/>
              </p:nvSpPr>
              <p:spPr bwMode="auto">
                <a:xfrm flipH="1" flipV="1">
                  <a:off x="1324" y="1185"/>
                  <a:ext cx="35" cy="160"/>
                </a:xfrm>
                <a:prstGeom prst="line">
                  <a:avLst/>
                </a:prstGeom>
                <a:noFill/>
                <a:ln w="12700">
                  <a:solidFill>
                    <a:srgbClr val="009900"/>
                  </a:solidFill>
                  <a:round/>
                  <a:headEnd/>
                  <a:tailEnd/>
                </a:ln>
              </p:spPr>
              <p:txBody>
                <a:bodyPr wrap="none" anchor="ctr"/>
                <a:lstStyle/>
                <a:p>
                  <a:endParaRPr lang="en-US"/>
                </a:p>
              </p:txBody>
            </p:sp>
            <p:sp>
              <p:nvSpPr>
                <p:cNvPr id="40497" name="Freeform 56"/>
                <p:cNvSpPr>
                  <a:spLocks/>
                </p:cNvSpPr>
                <p:nvPr/>
              </p:nvSpPr>
              <p:spPr bwMode="auto">
                <a:xfrm>
                  <a:off x="1054" y="1405"/>
                  <a:ext cx="19" cy="41"/>
                </a:xfrm>
                <a:custGeom>
                  <a:avLst/>
                  <a:gdLst>
                    <a:gd name="T0" fmla="*/ 0 w 19"/>
                    <a:gd name="T1" fmla="*/ 40 h 41"/>
                    <a:gd name="T2" fmla="*/ 0 w 19"/>
                    <a:gd name="T3" fmla="*/ 40 h 41"/>
                    <a:gd name="T4" fmla="*/ 18 w 19"/>
                    <a:gd name="T5" fmla="*/ 0 h 41"/>
                    <a:gd name="T6" fmla="*/ 0 60000 65536"/>
                    <a:gd name="T7" fmla="*/ 0 60000 65536"/>
                    <a:gd name="T8" fmla="*/ 0 60000 65536"/>
                    <a:gd name="T9" fmla="*/ 0 w 19"/>
                    <a:gd name="T10" fmla="*/ 0 h 41"/>
                    <a:gd name="T11" fmla="*/ 19 w 19"/>
                    <a:gd name="T12" fmla="*/ 41 h 41"/>
                  </a:gdLst>
                  <a:ahLst/>
                  <a:cxnLst>
                    <a:cxn ang="T6">
                      <a:pos x="T0" y="T1"/>
                    </a:cxn>
                    <a:cxn ang="T7">
                      <a:pos x="T2" y="T3"/>
                    </a:cxn>
                    <a:cxn ang="T8">
                      <a:pos x="T4" y="T5"/>
                    </a:cxn>
                  </a:cxnLst>
                  <a:rect l="T9" t="T10" r="T11" b="T12"/>
                  <a:pathLst>
                    <a:path w="19" h="41">
                      <a:moveTo>
                        <a:pt x="0" y="40"/>
                      </a:moveTo>
                      <a:lnTo>
                        <a:pt x="0" y="40"/>
                      </a:lnTo>
                      <a:lnTo>
                        <a:pt x="1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498" name="Line 57"/>
                <p:cNvSpPr>
                  <a:spLocks noChangeShapeType="1"/>
                </p:cNvSpPr>
                <p:nvPr/>
              </p:nvSpPr>
              <p:spPr bwMode="auto">
                <a:xfrm flipV="1">
                  <a:off x="899" y="1308"/>
                  <a:ext cx="19" cy="56"/>
                </a:xfrm>
                <a:prstGeom prst="line">
                  <a:avLst/>
                </a:prstGeom>
                <a:noFill/>
                <a:ln w="12700">
                  <a:solidFill>
                    <a:srgbClr val="009900"/>
                  </a:solidFill>
                  <a:round/>
                  <a:headEnd/>
                  <a:tailEnd/>
                </a:ln>
              </p:spPr>
              <p:txBody>
                <a:bodyPr wrap="none" anchor="ctr"/>
                <a:lstStyle/>
                <a:p>
                  <a:endParaRPr lang="en-US"/>
                </a:p>
              </p:txBody>
            </p:sp>
            <p:sp>
              <p:nvSpPr>
                <p:cNvPr id="40499" name="Freeform 58"/>
                <p:cNvSpPr>
                  <a:spLocks/>
                </p:cNvSpPr>
                <p:nvPr/>
              </p:nvSpPr>
              <p:spPr bwMode="auto">
                <a:xfrm>
                  <a:off x="1216" y="1221"/>
                  <a:ext cx="190" cy="49"/>
                </a:xfrm>
                <a:custGeom>
                  <a:avLst/>
                  <a:gdLst>
                    <a:gd name="T0" fmla="*/ 0 w 190"/>
                    <a:gd name="T1" fmla="*/ 48 h 49"/>
                    <a:gd name="T2" fmla="*/ 180 w 190"/>
                    <a:gd name="T3" fmla="*/ 24 h 49"/>
                    <a:gd name="T4" fmla="*/ 189 w 190"/>
                    <a:gd name="T5" fmla="*/ 0 h 49"/>
                    <a:gd name="T6" fmla="*/ 0 60000 65536"/>
                    <a:gd name="T7" fmla="*/ 0 60000 65536"/>
                    <a:gd name="T8" fmla="*/ 0 60000 65536"/>
                    <a:gd name="T9" fmla="*/ 0 w 190"/>
                    <a:gd name="T10" fmla="*/ 0 h 49"/>
                    <a:gd name="T11" fmla="*/ 190 w 190"/>
                    <a:gd name="T12" fmla="*/ 49 h 49"/>
                  </a:gdLst>
                  <a:ahLst/>
                  <a:cxnLst>
                    <a:cxn ang="T6">
                      <a:pos x="T0" y="T1"/>
                    </a:cxn>
                    <a:cxn ang="T7">
                      <a:pos x="T2" y="T3"/>
                    </a:cxn>
                    <a:cxn ang="T8">
                      <a:pos x="T4" y="T5"/>
                    </a:cxn>
                  </a:cxnLst>
                  <a:rect l="T9" t="T10" r="T11" b="T12"/>
                  <a:pathLst>
                    <a:path w="190" h="49">
                      <a:moveTo>
                        <a:pt x="0" y="48"/>
                      </a:moveTo>
                      <a:lnTo>
                        <a:pt x="180" y="24"/>
                      </a:lnTo>
                      <a:lnTo>
                        <a:pt x="18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00" name="Freeform 59"/>
                <p:cNvSpPr>
                  <a:spLocks/>
                </p:cNvSpPr>
                <p:nvPr/>
              </p:nvSpPr>
              <p:spPr bwMode="auto">
                <a:xfrm>
                  <a:off x="1057" y="1128"/>
                  <a:ext cx="190" cy="49"/>
                </a:xfrm>
                <a:custGeom>
                  <a:avLst/>
                  <a:gdLst>
                    <a:gd name="T0" fmla="*/ 0 w 190"/>
                    <a:gd name="T1" fmla="*/ 48 h 49"/>
                    <a:gd name="T2" fmla="*/ 72 w 190"/>
                    <a:gd name="T3" fmla="*/ 32 h 49"/>
                    <a:gd name="T4" fmla="*/ 135 w 190"/>
                    <a:gd name="T5" fmla="*/ 24 h 49"/>
                    <a:gd name="T6" fmla="*/ 171 w 190"/>
                    <a:gd name="T7" fmla="*/ 8 h 49"/>
                    <a:gd name="T8" fmla="*/ 189 w 190"/>
                    <a:gd name="T9" fmla="*/ 0 h 49"/>
                    <a:gd name="T10" fmla="*/ 0 60000 65536"/>
                    <a:gd name="T11" fmla="*/ 0 60000 65536"/>
                    <a:gd name="T12" fmla="*/ 0 60000 65536"/>
                    <a:gd name="T13" fmla="*/ 0 60000 65536"/>
                    <a:gd name="T14" fmla="*/ 0 60000 65536"/>
                    <a:gd name="T15" fmla="*/ 0 w 190"/>
                    <a:gd name="T16" fmla="*/ 0 h 49"/>
                    <a:gd name="T17" fmla="*/ 190 w 190"/>
                    <a:gd name="T18" fmla="*/ 49 h 49"/>
                  </a:gdLst>
                  <a:ahLst/>
                  <a:cxnLst>
                    <a:cxn ang="T10">
                      <a:pos x="T0" y="T1"/>
                    </a:cxn>
                    <a:cxn ang="T11">
                      <a:pos x="T2" y="T3"/>
                    </a:cxn>
                    <a:cxn ang="T12">
                      <a:pos x="T4" y="T5"/>
                    </a:cxn>
                    <a:cxn ang="T13">
                      <a:pos x="T6" y="T7"/>
                    </a:cxn>
                    <a:cxn ang="T14">
                      <a:pos x="T8" y="T9"/>
                    </a:cxn>
                  </a:cxnLst>
                  <a:rect l="T15" t="T16" r="T17" b="T18"/>
                  <a:pathLst>
                    <a:path w="190" h="49">
                      <a:moveTo>
                        <a:pt x="0" y="48"/>
                      </a:moveTo>
                      <a:lnTo>
                        <a:pt x="72" y="32"/>
                      </a:lnTo>
                      <a:lnTo>
                        <a:pt x="135" y="24"/>
                      </a:lnTo>
                      <a:lnTo>
                        <a:pt x="171" y="8"/>
                      </a:lnTo>
                      <a:lnTo>
                        <a:pt x="18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01" name="Arc 60"/>
                <p:cNvSpPr>
                  <a:spLocks/>
                </p:cNvSpPr>
                <p:nvPr/>
              </p:nvSpPr>
              <p:spPr bwMode="auto">
                <a:xfrm>
                  <a:off x="719" y="1181"/>
                  <a:ext cx="119" cy="104"/>
                </a:xfrm>
                <a:custGeom>
                  <a:avLst/>
                  <a:gdLst>
                    <a:gd name="T0" fmla="*/ 0 w 21784"/>
                    <a:gd name="T1" fmla="*/ 0 h 21600"/>
                    <a:gd name="T2" fmla="*/ 0 w 21784"/>
                    <a:gd name="T3" fmla="*/ 0 h 21600"/>
                    <a:gd name="T4" fmla="*/ 0 w 21784"/>
                    <a:gd name="T5" fmla="*/ 0 h 21600"/>
                    <a:gd name="T6" fmla="*/ 0 60000 65536"/>
                    <a:gd name="T7" fmla="*/ 0 60000 65536"/>
                    <a:gd name="T8" fmla="*/ 0 60000 65536"/>
                    <a:gd name="T9" fmla="*/ 0 w 21784"/>
                    <a:gd name="T10" fmla="*/ 0 h 21600"/>
                    <a:gd name="T11" fmla="*/ 21784 w 21784"/>
                    <a:gd name="T12" fmla="*/ 21600 h 21600"/>
                  </a:gdLst>
                  <a:ahLst/>
                  <a:cxnLst>
                    <a:cxn ang="T6">
                      <a:pos x="T0" y="T1"/>
                    </a:cxn>
                    <a:cxn ang="T7">
                      <a:pos x="T2" y="T3"/>
                    </a:cxn>
                    <a:cxn ang="T8">
                      <a:pos x="T4" y="T5"/>
                    </a:cxn>
                  </a:cxnLst>
                  <a:rect l="T9" t="T10" r="T11" b="T12"/>
                  <a:pathLst>
                    <a:path w="21784" h="21600" fill="none" extrusionOk="0">
                      <a:moveTo>
                        <a:pt x="-1" y="0"/>
                      </a:moveTo>
                      <a:cubicBezTo>
                        <a:pt x="61" y="0"/>
                        <a:pt x="122" y="-1"/>
                        <a:pt x="184" y="0"/>
                      </a:cubicBezTo>
                      <a:cubicBezTo>
                        <a:pt x="12113" y="0"/>
                        <a:pt x="21784" y="9670"/>
                        <a:pt x="21784" y="21600"/>
                      </a:cubicBezTo>
                    </a:path>
                    <a:path w="21784" h="21600" stroke="0" extrusionOk="0">
                      <a:moveTo>
                        <a:pt x="-1" y="0"/>
                      </a:moveTo>
                      <a:cubicBezTo>
                        <a:pt x="61" y="0"/>
                        <a:pt x="122" y="-1"/>
                        <a:pt x="184" y="0"/>
                      </a:cubicBezTo>
                      <a:cubicBezTo>
                        <a:pt x="12113" y="0"/>
                        <a:pt x="21784" y="9670"/>
                        <a:pt x="21784" y="21600"/>
                      </a:cubicBezTo>
                      <a:lnTo>
                        <a:pt x="184" y="21600"/>
                      </a:lnTo>
                      <a:close/>
                    </a:path>
                  </a:pathLst>
                </a:custGeom>
                <a:noFill/>
                <a:ln w="12700" cap="rnd">
                  <a:solidFill>
                    <a:srgbClr val="009900"/>
                  </a:solidFill>
                  <a:round/>
                  <a:headEnd/>
                  <a:tailEnd/>
                </a:ln>
              </p:spPr>
              <p:txBody>
                <a:bodyPr wrap="none" anchor="ctr"/>
                <a:lstStyle/>
                <a:p>
                  <a:endParaRPr lang="en-US"/>
                </a:p>
              </p:txBody>
            </p:sp>
            <p:sp>
              <p:nvSpPr>
                <p:cNvPr id="40502" name="Arc 61"/>
                <p:cNvSpPr>
                  <a:spLocks/>
                </p:cNvSpPr>
                <p:nvPr/>
              </p:nvSpPr>
              <p:spPr bwMode="auto">
                <a:xfrm>
                  <a:off x="1322" y="1181"/>
                  <a:ext cx="119" cy="104"/>
                </a:xfrm>
                <a:custGeom>
                  <a:avLst/>
                  <a:gdLst>
                    <a:gd name="T0" fmla="*/ 0 w 21784"/>
                    <a:gd name="T1" fmla="*/ 0 h 21600"/>
                    <a:gd name="T2" fmla="*/ 0 w 21784"/>
                    <a:gd name="T3" fmla="*/ 0 h 21600"/>
                    <a:gd name="T4" fmla="*/ 0 w 21784"/>
                    <a:gd name="T5" fmla="*/ 0 h 21600"/>
                    <a:gd name="T6" fmla="*/ 0 60000 65536"/>
                    <a:gd name="T7" fmla="*/ 0 60000 65536"/>
                    <a:gd name="T8" fmla="*/ 0 60000 65536"/>
                    <a:gd name="T9" fmla="*/ 0 w 21784"/>
                    <a:gd name="T10" fmla="*/ 0 h 21600"/>
                    <a:gd name="T11" fmla="*/ 21784 w 21784"/>
                    <a:gd name="T12" fmla="*/ 21600 h 21600"/>
                  </a:gdLst>
                  <a:ahLst/>
                  <a:cxnLst>
                    <a:cxn ang="T6">
                      <a:pos x="T0" y="T1"/>
                    </a:cxn>
                    <a:cxn ang="T7">
                      <a:pos x="T2" y="T3"/>
                    </a:cxn>
                    <a:cxn ang="T8">
                      <a:pos x="T4" y="T5"/>
                    </a:cxn>
                  </a:cxnLst>
                  <a:rect l="T9" t="T10" r="T11" b="T12"/>
                  <a:pathLst>
                    <a:path w="21784" h="21600" fill="none" extrusionOk="0">
                      <a:moveTo>
                        <a:pt x="-1" y="0"/>
                      </a:moveTo>
                      <a:cubicBezTo>
                        <a:pt x="61" y="0"/>
                        <a:pt x="122" y="-1"/>
                        <a:pt x="184" y="0"/>
                      </a:cubicBezTo>
                      <a:cubicBezTo>
                        <a:pt x="12113" y="0"/>
                        <a:pt x="21784" y="9670"/>
                        <a:pt x="21784" y="21600"/>
                      </a:cubicBezTo>
                    </a:path>
                    <a:path w="21784" h="21600" stroke="0" extrusionOk="0">
                      <a:moveTo>
                        <a:pt x="-1" y="0"/>
                      </a:moveTo>
                      <a:cubicBezTo>
                        <a:pt x="61" y="0"/>
                        <a:pt x="122" y="-1"/>
                        <a:pt x="184" y="0"/>
                      </a:cubicBezTo>
                      <a:cubicBezTo>
                        <a:pt x="12113" y="0"/>
                        <a:pt x="21784" y="9670"/>
                        <a:pt x="21784" y="21600"/>
                      </a:cubicBezTo>
                      <a:lnTo>
                        <a:pt x="184" y="21600"/>
                      </a:lnTo>
                      <a:close/>
                    </a:path>
                  </a:pathLst>
                </a:custGeom>
                <a:noFill/>
                <a:ln w="12700" cap="rnd">
                  <a:solidFill>
                    <a:srgbClr val="009900"/>
                  </a:solidFill>
                  <a:round/>
                  <a:headEnd/>
                  <a:tailEnd/>
                </a:ln>
              </p:spPr>
              <p:txBody>
                <a:bodyPr wrap="none" anchor="ctr"/>
                <a:lstStyle/>
                <a:p>
                  <a:endParaRPr lang="en-US"/>
                </a:p>
              </p:txBody>
            </p:sp>
            <p:sp>
              <p:nvSpPr>
                <p:cNvPr id="40503" name="Freeform 62"/>
                <p:cNvSpPr>
                  <a:spLocks/>
                </p:cNvSpPr>
                <p:nvPr/>
              </p:nvSpPr>
              <p:spPr bwMode="auto">
                <a:xfrm>
                  <a:off x="1372" y="1168"/>
                  <a:ext cx="55" cy="145"/>
                </a:xfrm>
                <a:custGeom>
                  <a:avLst/>
                  <a:gdLst>
                    <a:gd name="T0" fmla="*/ 0 w 55"/>
                    <a:gd name="T1" fmla="*/ 0 h 145"/>
                    <a:gd name="T2" fmla="*/ 18 w 55"/>
                    <a:gd name="T3" fmla="*/ 8 h 145"/>
                    <a:gd name="T4" fmla="*/ 36 w 55"/>
                    <a:gd name="T5" fmla="*/ 24 h 145"/>
                    <a:gd name="T6" fmla="*/ 45 w 55"/>
                    <a:gd name="T7" fmla="*/ 40 h 145"/>
                    <a:gd name="T8" fmla="*/ 54 w 55"/>
                    <a:gd name="T9" fmla="*/ 56 h 145"/>
                    <a:gd name="T10" fmla="*/ 54 w 55"/>
                    <a:gd name="T11" fmla="*/ 64 h 145"/>
                    <a:gd name="T12" fmla="*/ 54 w 55"/>
                    <a:gd name="T13" fmla="*/ 80 h 145"/>
                    <a:gd name="T14" fmla="*/ 54 w 55"/>
                    <a:gd name="T15" fmla="*/ 96 h 145"/>
                    <a:gd name="T16" fmla="*/ 45 w 55"/>
                    <a:gd name="T17" fmla="*/ 112 h 145"/>
                    <a:gd name="T18" fmla="*/ 36 w 55"/>
                    <a:gd name="T19" fmla="*/ 136 h 145"/>
                    <a:gd name="T20" fmla="*/ 27 w 55"/>
                    <a:gd name="T21" fmla="*/ 144 h 14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5"/>
                    <a:gd name="T34" fmla="*/ 0 h 145"/>
                    <a:gd name="T35" fmla="*/ 55 w 55"/>
                    <a:gd name="T36" fmla="*/ 145 h 14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5" h="145">
                      <a:moveTo>
                        <a:pt x="0" y="0"/>
                      </a:moveTo>
                      <a:lnTo>
                        <a:pt x="18" y="8"/>
                      </a:lnTo>
                      <a:lnTo>
                        <a:pt x="36" y="24"/>
                      </a:lnTo>
                      <a:lnTo>
                        <a:pt x="45" y="40"/>
                      </a:lnTo>
                      <a:lnTo>
                        <a:pt x="54" y="56"/>
                      </a:lnTo>
                      <a:lnTo>
                        <a:pt x="54" y="64"/>
                      </a:lnTo>
                      <a:lnTo>
                        <a:pt x="54" y="80"/>
                      </a:lnTo>
                      <a:lnTo>
                        <a:pt x="54" y="96"/>
                      </a:lnTo>
                      <a:lnTo>
                        <a:pt x="45" y="112"/>
                      </a:lnTo>
                      <a:lnTo>
                        <a:pt x="36" y="136"/>
                      </a:lnTo>
                      <a:lnTo>
                        <a:pt x="27" y="144"/>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04" name="Freeform 63"/>
                <p:cNvSpPr>
                  <a:spLocks/>
                </p:cNvSpPr>
                <p:nvPr/>
              </p:nvSpPr>
              <p:spPr bwMode="auto">
                <a:xfrm>
                  <a:off x="688" y="1104"/>
                  <a:ext cx="109" cy="17"/>
                </a:xfrm>
                <a:custGeom>
                  <a:avLst/>
                  <a:gdLst>
                    <a:gd name="T0" fmla="*/ 0 w 109"/>
                    <a:gd name="T1" fmla="*/ 0 h 17"/>
                    <a:gd name="T2" fmla="*/ 27 w 109"/>
                    <a:gd name="T3" fmla="*/ 16 h 17"/>
                    <a:gd name="T4" fmla="*/ 81 w 109"/>
                    <a:gd name="T5" fmla="*/ 16 h 17"/>
                    <a:gd name="T6" fmla="*/ 108 w 109"/>
                    <a:gd name="T7" fmla="*/ 0 h 17"/>
                    <a:gd name="T8" fmla="*/ 0 60000 65536"/>
                    <a:gd name="T9" fmla="*/ 0 60000 65536"/>
                    <a:gd name="T10" fmla="*/ 0 60000 65536"/>
                    <a:gd name="T11" fmla="*/ 0 60000 65536"/>
                    <a:gd name="T12" fmla="*/ 0 w 109"/>
                    <a:gd name="T13" fmla="*/ 0 h 17"/>
                    <a:gd name="T14" fmla="*/ 109 w 109"/>
                    <a:gd name="T15" fmla="*/ 17 h 17"/>
                  </a:gdLst>
                  <a:ahLst/>
                  <a:cxnLst>
                    <a:cxn ang="T8">
                      <a:pos x="T0" y="T1"/>
                    </a:cxn>
                    <a:cxn ang="T9">
                      <a:pos x="T2" y="T3"/>
                    </a:cxn>
                    <a:cxn ang="T10">
                      <a:pos x="T4" y="T5"/>
                    </a:cxn>
                    <a:cxn ang="T11">
                      <a:pos x="T6" y="T7"/>
                    </a:cxn>
                  </a:cxnLst>
                  <a:rect l="T12" t="T13" r="T14" b="T15"/>
                  <a:pathLst>
                    <a:path w="109" h="17">
                      <a:moveTo>
                        <a:pt x="0" y="0"/>
                      </a:moveTo>
                      <a:lnTo>
                        <a:pt x="27" y="16"/>
                      </a:lnTo>
                      <a:lnTo>
                        <a:pt x="81" y="16"/>
                      </a:lnTo>
                      <a:lnTo>
                        <a:pt x="10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05" name="Freeform 64"/>
                <p:cNvSpPr>
                  <a:spLocks/>
                </p:cNvSpPr>
                <p:nvPr/>
              </p:nvSpPr>
              <p:spPr bwMode="auto">
                <a:xfrm>
                  <a:off x="688" y="1104"/>
                  <a:ext cx="109" cy="17"/>
                </a:xfrm>
                <a:custGeom>
                  <a:avLst/>
                  <a:gdLst>
                    <a:gd name="T0" fmla="*/ 0 w 109"/>
                    <a:gd name="T1" fmla="*/ 0 h 17"/>
                    <a:gd name="T2" fmla="*/ 54 w 109"/>
                    <a:gd name="T3" fmla="*/ 16 h 17"/>
                    <a:gd name="T4" fmla="*/ 81 w 109"/>
                    <a:gd name="T5" fmla="*/ 8 h 17"/>
                    <a:gd name="T6" fmla="*/ 108 w 109"/>
                    <a:gd name="T7" fmla="*/ 0 h 17"/>
                    <a:gd name="T8" fmla="*/ 0 60000 65536"/>
                    <a:gd name="T9" fmla="*/ 0 60000 65536"/>
                    <a:gd name="T10" fmla="*/ 0 60000 65536"/>
                    <a:gd name="T11" fmla="*/ 0 60000 65536"/>
                    <a:gd name="T12" fmla="*/ 0 w 109"/>
                    <a:gd name="T13" fmla="*/ 0 h 17"/>
                    <a:gd name="T14" fmla="*/ 109 w 109"/>
                    <a:gd name="T15" fmla="*/ 17 h 17"/>
                  </a:gdLst>
                  <a:ahLst/>
                  <a:cxnLst>
                    <a:cxn ang="T8">
                      <a:pos x="T0" y="T1"/>
                    </a:cxn>
                    <a:cxn ang="T9">
                      <a:pos x="T2" y="T3"/>
                    </a:cxn>
                    <a:cxn ang="T10">
                      <a:pos x="T4" y="T5"/>
                    </a:cxn>
                    <a:cxn ang="T11">
                      <a:pos x="T6" y="T7"/>
                    </a:cxn>
                  </a:cxnLst>
                  <a:rect l="T12" t="T13" r="T14" b="T15"/>
                  <a:pathLst>
                    <a:path w="109" h="17">
                      <a:moveTo>
                        <a:pt x="0" y="0"/>
                      </a:moveTo>
                      <a:lnTo>
                        <a:pt x="54" y="16"/>
                      </a:lnTo>
                      <a:lnTo>
                        <a:pt x="81" y="8"/>
                      </a:lnTo>
                      <a:lnTo>
                        <a:pt x="10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06" name="Freeform 65"/>
                <p:cNvSpPr>
                  <a:spLocks/>
                </p:cNvSpPr>
                <p:nvPr/>
              </p:nvSpPr>
              <p:spPr bwMode="auto">
                <a:xfrm>
                  <a:off x="832" y="1128"/>
                  <a:ext cx="118" cy="49"/>
                </a:xfrm>
                <a:custGeom>
                  <a:avLst/>
                  <a:gdLst>
                    <a:gd name="T0" fmla="*/ 0 w 118"/>
                    <a:gd name="T1" fmla="*/ 0 h 49"/>
                    <a:gd name="T2" fmla="*/ 54 w 118"/>
                    <a:gd name="T3" fmla="*/ 24 h 49"/>
                    <a:gd name="T4" fmla="*/ 117 w 118"/>
                    <a:gd name="T5" fmla="*/ 48 h 49"/>
                    <a:gd name="T6" fmla="*/ 0 60000 65536"/>
                    <a:gd name="T7" fmla="*/ 0 60000 65536"/>
                    <a:gd name="T8" fmla="*/ 0 60000 65536"/>
                    <a:gd name="T9" fmla="*/ 0 w 118"/>
                    <a:gd name="T10" fmla="*/ 0 h 49"/>
                    <a:gd name="T11" fmla="*/ 118 w 118"/>
                    <a:gd name="T12" fmla="*/ 49 h 49"/>
                  </a:gdLst>
                  <a:ahLst/>
                  <a:cxnLst>
                    <a:cxn ang="T6">
                      <a:pos x="T0" y="T1"/>
                    </a:cxn>
                    <a:cxn ang="T7">
                      <a:pos x="T2" y="T3"/>
                    </a:cxn>
                    <a:cxn ang="T8">
                      <a:pos x="T4" y="T5"/>
                    </a:cxn>
                  </a:cxnLst>
                  <a:rect l="T9" t="T10" r="T11" b="T12"/>
                  <a:pathLst>
                    <a:path w="118" h="49">
                      <a:moveTo>
                        <a:pt x="0" y="0"/>
                      </a:moveTo>
                      <a:lnTo>
                        <a:pt x="54" y="24"/>
                      </a:lnTo>
                      <a:lnTo>
                        <a:pt x="117" y="48"/>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07" name="Line 66"/>
                <p:cNvSpPr>
                  <a:spLocks noChangeShapeType="1"/>
                </p:cNvSpPr>
                <p:nvPr/>
              </p:nvSpPr>
              <p:spPr bwMode="auto">
                <a:xfrm>
                  <a:off x="995" y="1225"/>
                  <a:ext cx="118" cy="48"/>
                </a:xfrm>
                <a:prstGeom prst="line">
                  <a:avLst/>
                </a:prstGeom>
                <a:noFill/>
                <a:ln w="12700">
                  <a:solidFill>
                    <a:srgbClr val="009900"/>
                  </a:solidFill>
                  <a:round/>
                  <a:headEnd/>
                  <a:tailEnd/>
                </a:ln>
              </p:spPr>
              <p:txBody>
                <a:bodyPr wrap="none" anchor="ctr"/>
                <a:lstStyle/>
                <a:p>
                  <a:endParaRPr lang="en-US"/>
                </a:p>
              </p:txBody>
            </p:sp>
            <p:sp>
              <p:nvSpPr>
                <p:cNvPr id="40508" name="Freeform 67"/>
                <p:cNvSpPr>
                  <a:spLocks/>
                </p:cNvSpPr>
                <p:nvPr/>
              </p:nvSpPr>
              <p:spPr bwMode="auto">
                <a:xfrm>
                  <a:off x="1219" y="1320"/>
                  <a:ext cx="19" cy="49"/>
                </a:xfrm>
                <a:custGeom>
                  <a:avLst/>
                  <a:gdLst>
                    <a:gd name="T0" fmla="*/ 0 w 19"/>
                    <a:gd name="T1" fmla="*/ 48 h 49"/>
                    <a:gd name="T2" fmla="*/ 0 w 19"/>
                    <a:gd name="T3" fmla="*/ 48 h 49"/>
                    <a:gd name="T4" fmla="*/ 18 w 19"/>
                    <a:gd name="T5" fmla="*/ 0 h 49"/>
                    <a:gd name="T6" fmla="*/ 0 60000 65536"/>
                    <a:gd name="T7" fmla="*/ 0 60000 65536"/>
                    <a:gd name="T8" fmla="*/ 0 60000 65536"/>
                    <a:gd name="T9" fmla="*/ 0 w 19"/>
                    <a:gd name="T10" fmla="*/ 0 h 49"/>
                    <a:gd name="T11" fmla="*/ 19 w 19"/>
                    <a:gd name="T12" fmla="*/ 49 h 49"/>
                  </a:gdLst>
                  <a:ahLst/>
                  <a:cxnLst>
                    <a:cxn ang="T6">
                      <a:pos x="T0" y="T1"/>
                    </a:cxn>
                    <a:cxn ang="T7">
                      <a:pos x="T2" y="T3"/>
                    </a:cxn>
                    <a:cxn ang="T8">
                      <a:pos x="T4" y="T5"/>
                    </a:cxn>
                  </a:cxnLst>
                  <a:rect l="T9" t="T10" r="T11" b="T12"/>
                  <a:pathLst>
                    <a:path w="19" h="49">
                      <a:moveTo>
                        <a:pt x="0" y="48"/>
                      </a:moveTo>
                      <a:lnTo>
                        <a:pt x="0" y="48"/>
                      </a:lnTo>
                      <a:lnTo>
                        <a:pt x="1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09" name="Line 68"/>
                <p:cNvSpPr>
                  <a:spLocks noChangeShapeType="1"/>
                </p:cNvSpPr>
                <p:nvPr/>
              </p:nvSpPr>
              <p:spPr bwMode="auto">
                <a:xfrm flipV="1">
                  <a:off x="1228" y="1316"/>
                  <a:ext cx="9" cy="56"/>
                </a:xfrm>
                <a:prstGeom prst="line">
                  <a:avLst/>
                </a:prstGeom>
                <a:noFill/>
                <a:ln w="12700">
                  <a:solidFill>
                    <a:srgbClr val="009900"/>
                  </a:solidFill>
                  <a:round/>
                  <a:headEnd/>
                  <a:tailEnd/>
                </a:ln>
              </p:spPr>
              <p:txBody>
                <a:bodyPr wrap="none" anchor="ctr"/>
                <a:lstStyle/>
                <a:p>
                  <a:endParaRPr lang="en-US"/>
                </a:p>
              </p:txBody>
            </p:sp>
            <p:sp>
              <p:nvSpPr>
                <p:cNvPr id="40510" name="Freeform 69"/>
                <p:cNvSpPr>
                  <a:spLocks/>
                </p:cNvSpPr>
                <p:nvPr/>
              </p:nvSpPr>
              <p:spPr bwMode="auto">
                <a:xfrm>
                  <a:off x="1363" y="1264"/>
                  <a:ext cx="10" cy="41"/>
                </a:xfrm>
                <a:custGeom>
                  <a:avLst/>
                  <a:gdLst>
                    <a:gd name="T0" fmla="*/ 0 w 10"/>
                    <a:gd name="T1" fmla="*/ 40 h 41"/>
                    <a:gd name="T2" fmla="*/ 0 w 10"/>
                    <a:gd name="T3" fmla="*/ 40 h 41"/>
                    <a:gd name="T4" fmla="*/ 9 w 10"/>
                    <a:gd name="T5" fmla="*/ 0 h 41"/>
                    <a:gd name="T6" fmla="*/ 0 60000 65536"/>
                    <a:gd name="T7" fmla="*/ 0 60000 65536"/>
                    <a:gd name="T8" fmla="*/ 0 60000 65536"/>
                    <a:gd name="T9" fmla="*/ 0 w 10"/>
                    <a:gd name="T10" fmla="*/ 0 h 41"/>
                    <a:gd name="T11" fmla="*/ 10 w 10"/>
                    <a:gd name="T12" fmla="*/ 41 h 41"/>
                  </a:gdLst>
                  <a:ahLst/>
                  <a:cxnLst>
                    <a:cxn ang="T6">
                      <a:pos x="T0" y="T1"/>
                    </a:cxn>
                    <a:cxn ang="T7">
                      <a:pos x="T2" y="T3"/>
                    </a:cxn>
                    <a:cxn ang="T8">
                      <a:pos x="T4" y="T5"/>
                    </a:cxn>
                  </a:cxnLst>
                  <a:rect l="T9" t="T10" r="T11" b="T12"/>
                  <a:pathLst>
                    <a:path w="10" h="41">
                      <a:moveTo>
                        <a:pt x="0" y="40"/>
                      </a:moveTo>
                      <a:lnTo>
                        <a:pt x="0" y="40"/>
                      </a:lnTo>
                      <a:lnTo>
                        <a:pt x="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11" name="Line 70"/>
                <p:cNvSpPr>
                  <a:spLocks noChangeShapeType="1"/>
                </p:cNvSpPr>
                <p:nvPr/>
              </p:nvSpPr>
              <p:spPr bwMode="auto">
                <a:xfrm flipV="1">
                  <a:off x="1371" y="1260"/>
                  <a:ext cx="1" cy="48"/>
                </a:xfrm>
                <a:prstGeom prst="line">
                  <a:avLst/>
                </a:prstGeom>
                <a:noFill/>
                <a:ln w="12700">
                  <a:solidFill>
                    <a:srgbClr val="009900"/>
                  </a:solidFill>
                  <a:round/>
                  <a:headEnd/>
                  <a:tailEnd/>
                </a:ln>
              </p:spPr>
              <p:txBody>
                <a:bodyPr wrap="none" anchor="ctr"/>
                <a:lstStyle/>
                <a:p>
                  <a:endParaRPr lang="en-US"/>
                </a:p>
              </p:txBody>
            </p:sp>
            <p:sp>
              <p:nvSpPr>
                <p:cNvPr id="40512" name="Freeform 71"/>
                <p:cNvSpPr>
                  <a:spLocks/>
                </p:cNvSpPr>
                <p:nvPr/>
              </p:nvSpPr>
              <p:spPr bwMode="auto">
                <a:xfrm>
                  <a:off x="1300" y="1264"/>
                  <a:ext cx="19" cy="41"/>
                </a:xfrm>
                <a:custGeom>
                  <a:avLst/>
                  <a:gdLst>
                    <a:gd name="T0" fmla="*/ 0 w 19"/>
                    <a:gd name="T1" fmla="*/ 40 h 41"/>
                    <a:gd name="T2" fmla="*/ 0 w 19"/>
                    <a:gd name="T3" fmla="*/ 40 h 41"/>
                    <a:gd name="T4" fmla="*/ 18 w 19"/>
                    <a:gd name="T5" fmla="*/ 0 h 41"/>
                    <a:gd name="T6" fmla="*/ 0 60000 65536"/>
                    <a:gd name="T7" fmla="*/ 0 60000 65536"/>
                    <a:gd name="T8" fmla="*/ 0 60000 65536"/>
                    <a:gd name="T9" fmla="*/ 0 w 19"/>
                    <a:gd name="T10" fmla="*/ 0 h 41"/>
                    <a:gd name="T11" fmla="*/ 19 w 19"/>
                    <a:gd name="T12" fmla="*/ 41 h 41"/>
                  </a:gdLst>
                  <a:ahLst/>
                  <a:cxnLst>
                    <a:cxn ang="T6">
                      <a:pos x="T0" y="T1"/>
                    </a:cxn>
                    <a:cxn ang="T7">
                      <a:pos x="T2" y="T3"/>
                    </a:cxn>
                    <a:cxn ang="T8">
                      <a:pos x="T4" y="T5"/>
                    </a:cxn>
                  </a:cxnLst>
                  <a:rect l="T9" t="T10" r="T11" b="T12"/>
                  <a:pathLst>
                    <a:path w="19" h="41">
                      <a:moveTo>
                        <a:pt x="0" y="40"/>
                      </a:moveTo>
                      <a:lnTo>
                        <a:pt x="0" y="40"/>
                      </a:lnTo>
                      <a:lnTo>
                        <a:pt x="1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13" name="Line 72"/>
                <p:cNvSpPr>
                  <a:spLocks noChangeShapeType="1"/>
                </p:cNvSpPr>
                <p:nvPr/>
              </p:nvSpPr>
              <p:spPr bwMode="auto">
                <a:xfrm flipV="1">
                  <a:off x="1304" y="1260"/>
                  <a:ext cx="19" cy="56"/>
                </a:xfrm>
                <a:prstGeom prst="line">
                  <a:avLst/>
                </a:prstGeom>
                <a:noFill/>
                <a:ln w="12700">
                  <a:solidFill>
                    <a:srgbClr val="009900"/>
                  </a:solidFill>
                  <a:round/>
                  <a:headEnd/>
                  <a:tailEnd/>
                </a:ln>
              </p:spPr>
              <p:txBody>
                <a:bodyPr wrap="none" anchor="ctr"/>
                <a:lstStyle/>
                <a:p>
                  <a:endParaRPr lang="en-US"/>
                </a:p>
              </p:txBody>
            </p:sp>
            <p:sp>
              <p:nvSpPr>
                <p:cNvPr id="40514" name="Freeform 73"/>
                <p:cNvSpPr>
                  <a:spLocks/>
                </p:cNvSpPr>
                <p:nvPr/>
              </p:nvSpPr>
              <p:spPr bwMode="auto">
                <a:xfrm>
                  <a:off x="1291" y="1208"/>
                  <a:ext cx="118" cy="49"/>
                </a:xfrm>
                <a:custGeom>
                  <a:avLst/>
                  <a:gdLst>
                    <a:gd name="T0" fmla="*/ 0 w 118"/>
                    <a:gd name="T1" fmla="*/ 0 h 49"/>
                    <a:gd name="T2" fmla="*/ 54 w 118"/>
                    <a:gd name="T3" fmla="*/ 16 h 49"/>
                    <a:gd name="T4" fmla="*/ 117 w 118"/>
                    <a:gd name="T5" fmla="*/ 48 h 49"/>
                    <a:gd name="T6" fmla="*/ 0 60000 65536"/>
                    <a:gd name="T7" fmla="*/ 0 60000 65536"/>
                    <a:gd name="T8" fmla="*/ 0 60000 65536"/>
                    <a:gd name="T9" fmla="*/ 0 w 118"/>
                    <a:gd name="T10" fmla="*/ 0 h 49"/>
                    <a:gd name="T11" fmla="*/ 118 w 118"/>
                    <a:gd name="T12" fmla="*/ 49 h 49"/>
                  </a:gdLst>
                  <a:ahLst/>
                  <a:cxnLst>
                    <a:cxn ang="T6">
                      <a:pos x="T0" y="T1"/>
                    </a:cxn>
                    <a:cxn ang="T7">
                      <a:pos x="T2" y="T3"/>
                    </a:cxn>
                    <a:cxn ang="T8">
                      <a:pos x="T4" y="T5"/>
                    </a:cxn>
                  </a:cxnLst>
                  <a:rect l="T9" t="T10" r="T11" b="T12"/>
                  <a:pathLst>
                    <a:path w="118" h="49">
                      <a:moveTo>
                        <a:pt x="0" y="0"/>
                      </a:moveTo>
                      <a:lnTo>
                        <a:pt x="54" y="16"/>
                      </a:lnTo>
                      <a:lnTo>
                        <a:pt x="117" y="48"/>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15" name="Line 74"/>
                <p:cNvSpPr>
                  <a:spLocks noChangeShapeType="1"/>
                </p:cNvSpPr>
                <p:nvPr/>
              </p:nvSpPr>
              <p:spPr bwMode="auto">
                <a:xfrm>
                  <a:off x="1295" y="1212"/>
                  <a:ext cx="118" cy="48"/>
                </a:xfrm>
                <a:prstGeom prst="line">
                  <a:avLst/>
                </a:prstGeom>
                <a:noFill/>
                <a:ln w="12700">
                  <a:solidFill>
                    <a:srgbClr val="009900"/>
                  </a:solidFill>
                  <a:round/>
                  <a:headEnd/>
                  <a:tailEnd/>
                </a:ln>
              </p:spPr>
              <p:txBody>
                <a:bodyPr wrap="none" anchor="ctr"/>
                <a:lstStyle/>
                <a:p>
                  <a:endParaRPr lang="en-US"/>
                </a:p>
              </p:txBody>
            </p:sp>
            <p:sp>
              <p:nvSpPr>
                <p:cNvPr id="40516" name="Freeform 75"/>
                <p:cNvSpPr>
                  <a:spLocks/>
                </p:cNvSpPr>
                <p:nvPr/>
              </p:nvSpPr>
              <p:spPr bwMode="auto">
                <a:xfrm>
                  <a:off x="1126" y="1221"/>
                  <a:ext cx="127" cy="81"/>
                </a:xfrm>
                <a:custGeom>
                  <a:avLst/>
                  <a:gdLst>
                    <a:gd name="T0" fmla="*/ 0 w 127"/>
                    <a:gd name="T1" fmla="*/ 80 h 81"/>
                    <a:gd name="T2" fmla="*/ 18 w 127"/>
                    <a:gd name="T3" fmla="*/ 24 h 81"/>
                    <a:gd name="T4" fmla="*/ 126 w 127"/>
                    <a:gd name="T5" fmla="*/ 0 h 81"/>
                    <a:gd name="T6" fmla="*/ 0 60000 65536"/>
                    <a:gd name="T7" fmla="*/ 0 60000 65536"/>
                    <a:gd name="T8" fmla="*/ 0 60000 65536"/>
                    <a:gd name="T9" fmla="*/ 0 w 127"/>
                    <a:gd name="T10" fmla="*/ 0 h 81"/>
                    <a:gd name="T11" fmla="*/ 127 w 127"/>
                    <a:gd name="T12" fmla="*/ 81 h 81"/>
                  </a:gdLst>
                  <a:ahLst/>
                  <a:cxnLst>
                    <a:cxn ang="T6">
                      <a:pos x="T0" y="T1"/>
                    </a:cxn>
                    <a:cxn ang="T7">
                      <a:pos x="T2" y="T3"/>
                    </a:cxn>
                    <a:cxn ang="T8">
                      <a:pos x="T4" y="T5"/>
                    </a:cxn>
                  </a:cxnLst>
                  <a:rect l="T9" t="T10" r="T11" b="T12"/>
                  <a:pathLst>
                    <a:path w="127" h="81">
                      <a:moveTo>
                        <a:pt x="0" y="80"/>
                      </a:moveTo>
                      <a:lnTo>
                        <a:pt x="18" y="24"/>
                      </a:lnTo>
                      <a:lnTo>
                        <a:pt x="126"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17" name="Freeform 76"/>
                <p:cNvSpPr>
                  <a:spLocks/>
                </p:cNvSpPr>
                <p:nvPr/>
              </p:nvSpPr>
              <p:spPr bwMode="auto">
                <a:xfrm>
                  <a:off x="967" y="1128"/>
                  <a:ext cx="127" cy="81"/>
                </a:xfrm>
                <a:custGeom>
                  <a:avLst/>
                  <a:gdLst>
                    <a:gd name="T0" fmla="*/ 0 w 127"/>
                    <a:gd name="T1" fmla="*/ 80 h 81"/>
                    <a:gd name="T2" fmla="*/ 36 w 127"/>
                    <a:gd name="T3" fmla="*/ 32 h 81"/>
                    <a:gd name="T4" fmla="*/ 126 w 127"/>
                    <a:gd name="T5" fmla="*/ 0 h 81"/>
                    <a:gd name="T6" fmla="*/ 0 60000 65536"/>
                    <a:gd name="T7" fmla="*/ 0 60000 65536"/>
                    <a:gd name="T8" fmla="*/ 0 60000 65536"/>
                    <a:gd name="T9" fmla="*/ 0 w 127"/>
                    <a:gd name="T10" fmla="*/ 0 h 81"/>
                    <a:gd name="T11" fmla="*/ 127 w 127"/>
                    <a:gd name="T12" fmla="*/ 81 h 81"/>
                  </a:gdLst>
                  <a:ahLst/>
                  <a:cxnLst>
                    <a:cxn ang="T6">
                      <a:pos x="T0" y="T1"/>
                    </a:cxn>
                    <a:cxn ang="T7">
                      <a:pos x="T2" y="T3"/>
                    </a:cxn>
                    <a:cxn ang="T8">
                      <a:pos x="T4" y="T5"/>
                    </a:cxn>
                  </a:cxnLst>
                  <a:rect l="T9" t="T10" r="T11" b="T12"/>
                  <a:pathLst>
                    <a:path w="127" h="81">
                      <a:moveTo>
                        <a:pt x="0" y="80"/>
                      </a:moveTo>
                      <a:lnTo>
                        <a:pt x="36" y="32"/>
                      </a:lnTo>
                      <a:lnTo>
                        <a:pt x="126"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18" name="Freeform 77"/>
                <p:cNvSpPr>
                  <a:spLocks/>
                </p:cNvSpPr>
                <p:nvPr/>
              </p:nvSpPr>
              <p:spPr bwMode="auto">
                <a:xfrm>
                  <a:off x="1030" y="1256"/>
                  <a:ext cx="19" cy="49"/>
                </a:xfrm>
                <a:custGeom>
                  <a:avLst/>
                  <a:gdLst>
                    <a:gd name="T0" fmla="*/ 0 w 19"/>
                    <a:gd name="T1" fmla="*/ 48 h 49"/>
                    <a:gd name="T2" fmla="*/ 0 w 19"/>
                    <a:gd name="T3" fmla="*/ 48 h 49"/>
                    <a:gd name="T4" fmla="*/ 18 w 19"/>
                    <a:gd name="T5" fmla="*/ 0 h 49"/>
                    <a:gd name="T6" fmla="*/ 0 60000 65536"/>
                    <a:gd name="T7" fmla="*/ 0 60000 65536"/>
                    <a:gd name="T8" fmla="*/ 0 60000 65536"/>
                    <a:gd name="T9" fmla="*/ 0 w 19"/>
                    <a:gd name="T10" fmla="*/ 0 h 49"/>
                    <a:gd name="T11" fmla="*/ 19 w 19"/>
                    <a:gd name="T12" fmla="*/ 49 h 49"/>
                  </a:gdLst>
                  <a:ahLst/>
                  <a:cxnLst>
                    <a:cxn ang="T6">
                      <a:pos x="T0" y="T1"/>
                    </a:cxn>
                    <a:cxn ang="T7">
                      <a:pos x="T2" y="T3"/>
                    </a:cxn>
                    <a:cxn ang="T8">
                      <a:pos x="T4" y="T5"/>
                    </a:cxn>
                  </a:cxnLst>
                  <a:rect l="T9" t="T10" r="T11" b="T12"/>
                  <a:pathLst>
                    <a:path w="19" h="49">
                      <a:moveTo>
                        <a:pt x="0" y="48"/>
                      </a:moveTo>
                      <a:lnTo>
                        <a:pt x="0" y="48"/>
                      </a:lnTo>
                      <a:lnTo>
                        <a:pt x="1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19" name="Line 78"/>
                <p:cNvSpPr>
                  <a:spLocks noChangeShapeType="1"/>
                </p:cNvSpPr>
                <p:nvPr/>
              </p:nvSpPr>
              <p:spPr bwMode="auto">
                <a:xfrm flipV="1">
                  <a:off x="1039" y="1252"/>
                  <a:ext cx="9" cy="56"/>
                </a:xfrm>
                <a:prstGeom prst="line">
                  <a:avLst/>
                </a:prstGeom>
                <a:noFill/>
                <a:ln w="12700">
                  <a:solidFill>
                    <a:srgbClr val="009900"/>
                  </a:solidFill>
                  <a:round/>
                  <a:headEnd/>
                  <a:tailEnd/>
                </a:ln>
              </p:spPr>
              <p:txBody>
                <a:bodyPr wrap="none" anchor="ctr"/>
                <a:lstStyle/>
                <a:p>
                  <a:endParaRPr lang="en-US"/>
                </a:p>
              </p:txBody>
            </p:sp>
            <p:sp>
              <p:nvSpPr>
                <p:cNvPr id="40520" name="Freeform 79"/>
                <p:cNvSpPr>
                  <a:spLocks/>
                </p:cNvSpPr>
                <p:nvPr/>
              </p:nvSpPr>
              <p:spPr bwMode="auto">
                <a:xfrm>
                  <a:off x="760" y="1352"/>
                  <a:ext cx="10" cy="41"/>
                </a:xfrm>
                <a:custGeom>
                  <a:avLst/>
                  <a:gdLst>
                    <a:gd name="T0" fmla="*/ 0 w 10"/>
                    <a:gd name="T1" fmla="*/ 40 h 41"/>
                    <a:gd name="T2" fmla="*/ 0 w 10"/>
                    <a:gd name="T3" fmla="*/ 40 h 41"/>
                    <a:gd name="T4" fmla="*/ 9 w 10"/>
                    <a:gd name="T5" fmla="*/ 0 h 41"/>
                    <a:gd name="T6" fmla="*/ 0 60000 65536"/>
                    <a:gd name="T7" fmla="*/ 0 60000 65536"/>
                    <a:gd name="T8" fmla="*/ 0 60000 65536"/>
                    <a:gd name="T9" fmla="*/ 0 w 10"/>
                    <a:gd name="T10" fmla="*/ 0 h 41"/>
                    <a:gd name="T11" fmla="*/ 10 w 10"/>
                    <a:gd name="T12" fmla="*/ 41 h 41"/>
                  </a:gdLst>
                  <a:ahLst/>
                  <a:cxnLst>
                    <a:cxn ang="T6">
                      <a:pos x="T0" y="T1"/>
                    </a:cxn>
                    <a:cxn ang="T7">
                      <a:pos x="T2" y="T3"/>
                    </a:cxn>
                    <a:cxn ang="T8">
                      <a:pos x="T4" y="T5"/>
                    </a:cxn>
                  </a:cxnLst>
                  <a:rect l="T9" t="T10" r="T11" b="T12"/>
                  <a:pathLst>
                    <a:path w="10" h="41">
                      <a:moveTo>
                        <a:pt x="0" y="40"/>
                      </a:moveTo>
                      <a:lnTo>
                        <a:pt x="0" y="40"/>
                      </a:lnTo>
                      <a:lnTo>
                        <a:pt x="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21" name="Line 80"/>
                <p:cNvSpPr>
                  <a:spLocks noChangeShapeType="1"/>
                </p:cNvSpPr>
                <p:nvPr/>
              </p:nvSpPr>
              <p:spPr bwMode="auto">
                <a:xfrm flipV="1">
                  <a:off x="927" y="1441"/>
                  <a:ext cx="1" cy="48"/>
                </a:xfrm>
                <a:prstGeom prst="line">
                  <a:avLst/>
                </a:prstGeom>
                <a:noFill/>
                <a:ln w="12700">
                  <a:solidFill>
                    <a:srgbClr val="009900"/>
                  </a:solidFill>
                  <a:round/>
                  <a:headEnd/>
                  <a:tailEnd/>
                </a:ln>
              </p:spPr>
              <p:txBody>
                <a:bodyPr wrap="none" anchor="ctr"/>
                <a:lstStyle/>
                <a:p>
                  <a:endParaRPr lang="en-US"/>
                </a:p>
              </p:txBody>
            </p:sp>
            <p:sp>
              <p:nvSpPr>
                <p:cNvPr id="40522" name="Freeform 81"/>
                <p:cNvSpPr>
                  <a:spLocks/>
                </p:cNvSpPr>
                <p:nvPr/>
              </p:nvSpPr>
              <p:spPr bwMode="auto">
                <a:xfrm>
                  <a:off x="751" y="1408"/>
                  <a:ext cx="118" cy="57"/>
                </a:xfrm>
                <a:custGeom>
                  <a:avLst/>
                  <a:gdLst>
                    <a:gd name="T0" fmla="*/ 0 w 118"/>
                    <a:gd name="T1" fmla="*/ 0 h 57"/>
                    <a:gd name="T2" fmla="*/ 54 w 118"/>
                    <a:gd name="T3" fmla="*/ 24 h 57"/>
                    <a:gd name="T4" fmla="*/ 117 w 118"/>
                    <a:gd name="T5" fmla="*/ 56 h 57"/>
                    <a:gd name="T6" fmla="*/ 0 60000 65536"/>
                    <a:gd name="T7" fmla="*/ 0 60000 65536"/>
                    <a:gd name="T8" fmla="*/ 0 60000 65536"/>
                    <a:gd name="T9" fmla="*/ 0 w 118"/>
                    <a:gd name="T10" fmla="*/ 0 h 57"/>
                    <a:gd name="T11" fmla="*/ 118 w 118"/>
                    <a:gd name="T12" fmla="*/ 57 h 57"/>
                  </a:gdLst>
                  <a:ahLst/>
                  <a:cxnLst>
                    <a:cxn ang="T6">
                      <a:pos x="T0" y="T1"/>
                    </a:cxn>
                    <a:cxn ang="T7">
                      <a:pos x="T2" y="T3"/>
                    </a:cxn>
                    <a:cxn ang="T8">
                      <a:pos x="T4" y="T5"/>
                    </a:cxn>
                  </a:cxnLst>
                  <a:rect l="T9" t="T10" r="T11" b="T12"/>
                  <a:pathLst>
                    <a:path w="118" h="57">
                      <a:moveTo>
                        <a:pt x="0" y="0"/>
                      </a:moveTo>
                      <a:lnTo>
                        <a:pt x="54" y="24"/>
                      </a:lnTo>
                      <a:lnTo>
                        <a:pt x="117" y="56"/>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23" name="Line 82"/>
                <p:cNvSpPr>
                  <a:spLocks noChangeShapeType="1"/>
                </p:cNvSpPr>
                <p:nvPr/>
              </p:nvSpPr>
              <p:spPr bwMode="auto">
                <a:xfrm>
                  <a:off x="748" y="1418"/>
                  <a:ext cx="118" cy="56"/>
                </a:xfrm>
                <a:prstGeom prst="line">
                  <a:avLst/>
                </a:prstGeom>
                <a:noFill/>
                <a:ln w="12700">
                  <a:solidFill>
                    <a:srgbClr val="009900"/>
                  </a:solidFill>
                  <a:round/>
                  <a:headEnd/>
                  <a:tailEnd/>
                </a:ln>
              </p:spPr>
              <p:txBody>
                <a:bodyPr wrap="none" anchor="ctr"/>
                <a:lstStyle/>
                <a:p>
                  <a:endParaRPr lang="en-US"/>
                </a:p>
              </p:txBody>
            </p:sp>
            <p:sp>
              <p:nvSpPr>
                <p:cNvPr id="40524" name="Freeform 83"/>
                <p:cNvSpPr>
                  <a:spLocks/>
                </p:cNvSpPr>
                <p:nvPr/>
              </p:nvSpPr>
              <p:spPr bwMode="auto">
                <a:xfrm>
                  <a:off x="1183" y="1248"/>
                  <a:ext cx="127" cy="73"/>
                </a:xfrm>
                <a:custGeom>
                  <a:avLst/>
                  <a:gdLst>
                    <a:gd name="T0" fmla="*/ 0 w 127"/>
                    <a:gd name="T1" fmla="*/ 72 h 73"/>
                    <a:gd name="T2" fmla="*/ 18 w 127"/>
                    <a:gd name="T3" fmla="*/ 24 h 73"/>
                    <a:gd name="T4" fmla="*/ 126 w 127"/>
                    <a:gd name="T5" fmla="*/ 0 h 73"/>
                    <a:gd name="T6" fmla="*/ 0 60000 65536"/>
                    <a:gd name="T7" fmla="*/ 0 60000 65536"/>
                    <a:gd name="T8" fmla="*/ 0 60000 65536"/>
                    <a:gd name="T9" fmla="*/ 0 w 127"/>
                    <a:gd name="T10" fmla="*/ 0 h 73"/>
                    <a:gd name="T11" fmla="*/ 127 w 127"/>
                    <a:gd name="T12" fmla="*/ 73 h 73"/>
                  </a:gdLst>
                  <a:ahLst/>
                  <a:cxnLst>
                    <a:cxn ang="T6">
                      <a:pos x="T0" y="T1"/>
                    </a:cxn>
                    <a:cxn ang="T7">
                      <a:pos x="T2" y="T3"/>
                    </a:cxn>
                    <a:cxn ang="T8">
                      <a:pos x="T4" y="T5"/>
                    </a:cxn>
                  </a:cxnLst>
                  <a:rect l="T9" t="T10" r="T11" b="T12"/>
                  <a:pathLst>
                    <a:path w="127" h="73">
                      <a:moveTo>
                        <a:pt x="0" y="72"/>
                      </a:moveTo>
                      <a:lnTo>
                        <a:pt x="18" y="24"/>
                      </a:lnTo>
                      <a:lnTo>
                        <a:pt x="126"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25" name="Freeform 84"/>
                <p:cNvSpPr>
                  <a:spLocks/>
                </p:cNvSpPr>
                <p:nvPr/>
              </p:nvSpPr>
              <p:spPr bwMode="auto">
                <a:xfrm>
                  <a:off x="1183" y="1248"/>
                  <a:ext cx="127" cy="73"/>
                </a:xfrm>
                <a:custGeom>
                  <a:avLst/>
                  <a:gdLst>
                    <a:gd name="T0" fmla="*/ 0 w 127"/>
                    <a:gd name="T1" fmla="*/ 72 h 73"/>
                    <a:gd name="T2" fmla="*/ 36 w 127"/>
                    <a:gd name="T3" fmla="*/ 24 h 73"/>
                    <a:gd name="T4" fmla="*/ 126 w 127"/>
                    <a:gd name="T5" fmla="*/ 0 h 73"/>
                    <a:gd name="T6" fmla="*/ 0 60000 65536"/>
                    <a:gd name="T7" fmla="*/ 0 60000 65536"/>
                    <a:gd name="T8" fmla="*/ 0 60000 65536"/>
                    <a:gd name="T9" fmla="*/ 0 w 127"/>
                    <a:gd name="T10" fmla="*/ 0 h 73"/>
                    <a:gd name="T11" fmla="*/ 127 w 127"/>
                    <a:gd name="T12" fmla="*/ 73 h 73"/>
                  </a:gdLst>
                  <a:ahLst/>
                  <a:cxnLst>
                    <a:cxn ang="T6">
                      <a:pos x="T0" y="T1"/>
                    </a:cxn>
                    <a:cxn ang="T7">
                      <a:pos x="T2" y="T3"/>
                    </a:cxn>
                    <a:cxn ang="T8">
                      <a:pos x="T4" y="T5"/>
                    </a:cxn>
                  </a:cxnLst>
                  <a:rect l="T9" t="T10" r="T11" b="T12"/>
                  <a:pathLst>
                    <a:path w="127" h="73">
                      <a:moveTo>
                        <a:pt x="0" y="72"/>
                      </a:moveTo>
                      <a:lnTo>
                        <a:pt x="36" y="24"/>
                      </a:lnTo>
                      <a:lnTo>
                        <a:pt x="126"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26" name="Freeform 85"/>
                <p:cNvSpPr>
                  <a:spLocks/>
                </p:cNvSpPr>
                <p:nvPr/>
              </p:nvSpPr>
              <p:spPr bwMode="auto">
                <a:xfrm>
                  <a:off x="1039" y="1296"/>
                  <a:ext cx="55" cy="129"/>
                </a:xfrm>
                <a:custGeom>
                  <a:avLst/>
                  <a:gdLst>
                    <a:gd name="T0" fmla="*/ 54 w 55"/>
                    <a:gd name="T1" fmla="*/ 128 h 129"/>
                    <a:gd name="T2" fmla="*/ 0 w 55"/>
                    <a:gd name="T3" fmla="*/ 96 h 129"/>
                    <a:gd name="T4" fmla="*/ 0 w 55"/>
                    <a:gd name="T5" fmla="*/ 0 h 129"/>
                    <a:gd name="T6" fmla="*/ 0 60000 65536"/>
                    <a:gd name="T7" fmla="*/ 0 60000 65536"/>
                    <a:gd name="T8" fmla="*/ 0 60000 65536"/>
                    <a:gd name="T9" fmla="*/ 0 w 55"/>
                    <a:gd name="T10" fmla="*/ 0 h 129"/>
                    <a:gd name="T11" fmla="*/ 55 w 55"/>
                    <a:gd name="T12" fmla="*/ 129 h 129"/>
                  </a:gdLst>
                  <a:ahLst/>
                  <a:cxnLst>
                    <a:cxn ang="T6">
                      <a:pos x="T0" y="T1"/>
                    </a:cxn>
                    <a:cxn ang="T7">
                      <a:pos x="T2" y="T3"/>
                    </a:cxn>
                    <a:cxn ang="T8">
                      <a:pos x="T4" y="T5"/>
                    </a:cxn>
                  </a:cxnLst>
                  <a:rect l="T9" t="T10" r="T11" b="T12"/>
                  <a:pathLst>
                    <a:path w="55" h="129">
                      <a:moveTo>
                        <a:pt x="54" y="128"/>
                      </a:moveTo>
                      <a:lnTo>
                        <a:pt x="0" y="96"/>
                      </a:lnTo>
                      <a:lnTo>
                        <a:pt x="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27" name="Freeform 86"/>
                <p:cNvSpPr>
                  <a:spLocks/>
                </p:cNvSpPr>
                <p:nvPr/>
              </p:nvSpPr>
              <p:spPr bwMode="auto">
                <a:xfrm>
                  <a:off x="1039" y="1296"/>
                  <a:ext cx="55" cy="129"/>
                </a:xfrm>
                <a:custGeom>
                  <a:avLst/>
                  <a:gdLst>
                    <a:gd name="T0" fmla="*/ 54 w 55"/>
                    <a:gd name="T1" fmla="*/ 128 h 129"/>
                    <a:gd name="T2" fmla="*/ 9 w 55"/>
                    <a:gd name="T3" fmla="*/ 80 h 129"/>
                    <a:gd name="T4" fmla="*/ 0 w 55"/>
                    <a:gd name="T5" fmla="*/ 0 h 129"/>
                    <a:gd name="T6" fmla="*/ 0 60000 65536"/>
                    <a:gd name="T7" fmla="*/ 0 60000 65536"/>
                    <a:gd name="T8" fmla="*/ 0 60000 65536"/>
                    <a:gd name="T9" fmla="*/ 0 w 55"/>
                    <a:gd name="T10" fmla="*/ 0 h 129"/>
                    <a:gd name="T11" fmla="*/ 55 w 55"/>
                    <a:gd name="T12" fmla="*/ 129 h 129"/>
                  </a:gdLst>
                  <a:ahLst/>
                  <a:cxnLst>
                    <a:cxn ang="T6">
                      <a:pos x="T0" y="T1"/>
                    </a:cxn>
                    <a:cxn ang="T7">
                      <a:pos x="T2" y="T3"/>
                    </a:cxn>
                    <a:cxn ang="T8">
                      <a:pos x="T4" y="T5"/>
                    </a:cxn>
                  </a:cxnLst>
                  <a:rect l="T9" t="T10" r="T11" b="T12"/>
                  <a:pathLst>
                    <a:path w="55" h="129">
                      <a:moveTo>
                        <a:pt x="54" y="128"/>
                      </a:moveTo>
                      <a:lnTo>
                        <a:pt x="9" y="80"/>
                      </a:lnTo>
                      <a:lnTo>
                        <a:pt x="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28" name="Freeform 87"/>
                <p:cNvSpPr>
                  <a:spLocks/>
                </p:cNvSpPr>
                <p:nvPr/>
              </p:nvSpPr>
              <p:spPr bwMode="auto">
                <a:xfrm>
                  <a:off x="1039" y="1344"/>
                  <a:ext cx="19" cy="41"/>
                </a:xfrm>
                <a:custGeom>
                  <a:avLst/>
                  <a:gdLst>
                    <a:gd name="T0" fmla="*/ 0 w 19"/>
                    <a:gd name="T1" fmla="*/ 40 h 41"/>
                    <a:gd name="T2" fmla="*/ 0 w 19"/>
                    <a:gd name="T3" fmla="*/ 40 h 41"/>
                    <a:gd name="T4" fmla="*/ 18 w 19"/>
                    <a:gd name="T5" fmla="*/ 0 h 41"/>
                    <a:gd name="T6" fmla="*/ 0 60000 65536"/>
                    <a:gd name="T7" fmla="*/ 0 60000 65536"/>
                    <a:gd name="T8" fmla="*/ 0 60000 65536"/>
                    <a:gd name="T9" fmla="*/ 0 w 19"/>
                    <a:gd name="T10" fmla="*/ 0 h 41"/>
                    <a:gd name="T11" fmla="*/ 19 w 19"/>
                    <a:gd name="T12" fmla="*/ 41 h 41"/>
                  </a:gdLst>
                  <a:ahLst/>
                  <a:cxnLst>
                    <a:cxn ang="T6">
                      <a:pos x="T0" y="T1"/>
                    </a:cxn>
                    <a:cxn ang="T7">
                      <a:pos x="T2" y="T3"/>
                    </a:cxn>
                    <a:cxn ang="T8">
                      <a:pos x="T4" y="T5"/>
                    </a:cxn>
                  </a:cxnLst>
                  <a:rect l="T9" t="T10" r="T11" b="T12"/>
                  <a:pathLst>
                    <a:path w="19" h="41">
                      <a:moveTo>
                        <a:pt x="0" y="40"/>
                      </a:moveTo>
                      <a:lnTo>
                        <a:pt x="0" y="40"/>
                      </a:lnTo>
                      <a:lnTo>
                        <a:pt x="1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29" name="Line 88"/>
                <p:cNvSpPr>
                  <a:spLocks noChangeShapeType="1"/>
                </p:cNvSpPr>
                <p:nvPr/>
              </p:nvSpPr>
              <p:spPr bwMode="auto">
                <a:xfrm flipV="1">
                  <a:off x="1043" y="1340"/>
                  <a:ext cx="19" cy="56"/>
                </a:xfrm>
                <a:prstGeom prst="line">
                  <a:avLst/>
                </a:prstGeom>
                <a:noFill/>
                <a:ln w="12700">
                  <a:solidFill>
                    <a:srgbClr val="009900"/>
                  </a:solidFill>
                  <a:round/>
                  <a:headEnd/>
                  <a:tailEnd/>
                </a:ln>
              </p:spPr>
              <p:txBody>
                <a:bodyPr wrap="none" anchor="ctr"/>
                <a:lstStyle/>
                <a:p>
                  <a:endParaRPr lang="en-US"/>
                </a:p>
              </p:txBody>
            </p:sp>
            <p:sp>
              <p:nvSpPr>
                <p:cNvPr id="40530" name="Freeform 89"/>
                <p:cNvSpPr>
                  <a:spLocks/>
                </p:cNvSpPr>
                <p:nvPr/>
              </p:nvSpPr>
              <p:spPr bwMode="auto">
                <a:xfrm>
                  <a:off x="958" y="1256"/>
                  <a:ext cx="118" cy="49"/>
                </a:xfrm>
                <a:custGeom>
                  <a:avLst/>
                  <a:gdLst>
                    <a:gd name="T0" fmla="*/ 0 w 118"/>
                    <a:gd name="T1" fmla="*/ 0 h 49"/>
                    <a:gd name="T2" fmla="*/ 54 w 118"/>
                    <a:gd name="T3" fmla="*/ 24 h 49"/>
                    <a:gd name="T4" fmla="*/ 117 w 118"/>
                    <a:gd name="T5" fmla="*/ 48 h 49"/>
                    <a:gd name="T6" fmla="*/ 0 60000 65536"/>
                    <a:gd name="T7" fmla="*/ 0 60000 65536"/>
                    <a:gd name="T8" fmla="*/ 0 60000 65536"/>
                    <a:gd name="T9" fmla="*/ 0 w 118"/>
                    <a:gd name="T10" fmla="*/ 0 h 49"/>
                    <a:gd name="T11" fmla="*/ 118 w 118"/>
                    <a:gd name="T12" fmla="*/ 49 h 49"/>
                  </a:gdLst>
                  <a:ahLst/>
                  <a:cxnLst>
                    <a:cxn ang="T6">
                      <a:pos x="T0" y="T1"/>
                    </a:cxn>
                    <a:cxn ang="T7">
                      <a:pos x="T2" y="T3"/>
                    </a:cxn>
                    <a:cxn ang="T8">
                      <a:pos x="T4" y="T5"/>
                    </a:cxn>
                  </a:cxnLst>
                  <a:rect l="T9" t="T10" r="T11" b="T12"/>
                  <a:pathLst>
                    <a:path w="118" h="49">
                      <a:moveTo>
                        <a:pt x="0" y="0"/>
                      </a:moveTo>
                      <a:lnTo>
                        <a:pt x="54" y="24"/>
                      </a:lnTo>
                      <a:lnTo>
                        <a:pt x="117" y="48"/>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31" name="Line 90"/>
                <p:cNvSpPr>
                  <a:spLocks noChangeShapeType="1"/>
                </p:cNvSpPr>
                <p:nvPr/>
              </p:nvSpPr>
              <p:spPr bwMode="auto">
                <a:xfrm>
                  <a:off x="953" y="1262"/>
                  <a:ext cx="118" cy="48"/>
                </a:xfrm>
                <a:prstGeom prst="line">
                  <a:avLst/>
                </a:prstGeom>
                <a:noFill/>
                <a:ln w="12700">
                  <a:solidFill>
                    <a:srgbClr val="009900"/>
                  </a:solidFill>
                  <a:round/>
                  <a:headEnd/>
                  <a:tailEnd/>
                </a:ln>
              </p:spPr>
              <p:txBody>
                <a:bodyPr wrap="none" anchor="ctr"/>
                <a:lstStyle/>
                <a:p>
                  <a:endParaRPr lang="en-US"/>
                </a:p>
              </p:txBody>
            </p:sp>
            <p:sp>
              <p:nvSpPr>
                <p:cNvPr id="40532" name="Freeform 91"/>
                <p:cNvSpPr>
                  <a:spLocks/>
                </p:cNvSpPr>
                <p:nvPr/>
              </p:nvSpPr>
              <p:spPr bwMode="auto">
                <a:xfrm>
                  <a:off x="940" y="1064"/>
                  <a:ext cx="127" cy="81"/>
                </a:xfrm>
                <a:custGeom>
                  <a:avLst/>
                  <a:gdLst>
                    <a:gd name="T0" fmla="*/ 0 w 127"/>
                    <a:gd name="T1" fmla="*/ 80 h 81"/>
                    <a:gd name="T2" fmla="*/ 18 w 127"/>
                    <a:gd name="T3" fmla="*/ 32 h 81"/>
                    <a:gd name="T4" fmla="*/ 126 w 127"/>
                    <a:gd name="T5" fmla="*/ 0 h 81"/>
                    <a:gd name="T6" fmla="*/ 0 60000 65536"/>
                    <a:gd name="T7" fmla="*/ 0 60000 65536"/>
                    <a:gd name="T8" fmla="*/ 0 60000 65536"/>
                    <a:gd name="T9" fmla="*/ 0 w 127"/>
                    <a:gd name="T10" fmla="*/ 0 h 81"/>
                    <a:gd name="T11" fmla="*/ 127 w 127"/>
                    <a:gd name="T12" fmla="*/ 81 h 81"/>
                  </a:gdLst>
                  <a:ahLst/>
                  <a:cxnLst>
                    <a:cxn ang="T6">
                      <a:pos x="T0" y="T1"/>
                    </a:cxn>
                    <a:cxn ang="T7">
                      <a:pos x="T2" y="T3"/>
                    </a:cxn>
                    <a:cxn ang="T8">
                      <a:pos x="T4" y="T5"/>
                    </a:cxn>
                  </a:cxnLst>
                  <a:rect l="T9" t="T10" r="T11" b="T12"/>
                  <a:pathLst>
                    <a:path w="127" h="81">
                      <a:moveTo>
                        <a:pt x="0" y="80"/>
                      </a:moveTo>
                      <a:lnTo>
                        <a:pt x="18" y="32"/>
                      </a:lnTo>
                      <a:lnTo>
                        <a:pt x="126"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33" name="Freeform 92"/>
                <p:cNvSpPr>
                  <a:spLocks/>
                </p:cNvSpPr>
                <p:nvPr/>
              </p:nvSpPr>
              <p:spPr bwMode="auto">
                <a:xfrm>
                  <a:off x="940" y="1064"/>
                  <a:ext cx="127" cy="81"/>
                </a:xfrm>
                <a:custGeom>
                  <a:avLst/>
                  <a:gdLst>
                    <a:gd name="T0" fmla="*/ 0 w 127"/>
                    <a:gd name="T1" fmla="*/ 80 h 81"/>
                    <a:gd name="T2" fmla="*/ 36 w 127"/>
                    <a:gd name="T3" fmla="*/ 32 h 81"/>
                    <a:gd name="T4" fmla="*/ 126 w 127"/>
                    <a:gd name="T5" fmla="*/ 0 h 81"/>
                    <a:gd name="T6" fmla="*/ 0 60000 65536"/>
                    <a:gd name="T7" fmla="*/ 0 60000 65536"/>
                    <a:gd name="T8" fmla="*/ 0 60000 65536"/>
                    <a:gd name="T9" fmla="*/ 0 w 127"/>
                    <a:gd name="T10" fmla="*/ 0 h 81"/>
                    <a:gd name="T11" fmla="*/ 127 w 127"/>
                    <a:gd name="T12" fmla="*/ 81 h 81"/>
                  </a:gdLst>
                  <a:ahLst/>
                  <a:cxnLst>
                    <a:cxn ang="T6">
                      <a:pos x="T0" y="T1"/>
                    </a:cxn>
                    <a:cxn ang="T7">
                      <a:pos x="T2" y="T3"/>
                    </a:cxn>
                    <a:cxn ang="T8">
                      <a:pos x="T4" y="T5"/>
                    </a:cxn>
                  </a:cxnLst>
                  <a:rect l="T9" t="T10" r="T11" b="T12"/>
                  <a:pathLst>
                    <a:path w="127" h="81">
                      <a:moveTo>
                        <a:pt x="0" y="80"/>
                      </a:moveTo>
                      <a:lnTo>
                        <a:pt x="36" y="32"/>
                      </a:lnTo>
                      <a:lnTo>
                        <a:pt x="126"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34" name="Freeform 93"/>
                <p:cNvSpPr>
                  <a:spLocks/>
                </p:cNvSpPr>
                <p:nvPr/>
              </p:nvSpPr>
              <p:spPr bwMode="auto">
                <a:xfrm>
                  <a:off x="1156" y="1384"/>
                  <a:ext cx="10" cy="41"/>
                </a:xfrm>
                <a:custGeom>
                  <a:avLst/>
                  <a:gdLst>
                    <a:gd name="T0" fmla="*/ 0 w 10"/>
                    <a:gd name="T1" fmla="*/ 40 h 41"/>
                    <a:gd name="T2" fmla="*/ 0 w 10"/>
                    <a:gd name="T3" fmla="*/ 40 h 41"/>
                    <a:gd name="T4" fmla="*/ 9 w 10"/>
                    <a:gd name="T5" fmla="*/ 0 h 41"/>
                    <a:gd name="T6" fmla="*/ 0 60000 65536"/>
                    <a:gd name="T7" fmla="*/ 0 60000 65536"/>
                    <a:gd name="T8" fmla="*/ 0 60000 65536"/>
                    <a:gd name="T9" fmla="*/ 0 w 10"/>
                    <a:gd name="T10" fmla="*/ 0 h 41"/>
                    <a:gd name="T11" fmla="*/ 10 w 10"/>
                    <a:gd name="T12" fmla="*/ 41 h 41"/>
                  </a:gdLst>
                  <a:ahLst/>
                  <a:cxnLst>
                    <a:cxn ang="T6">
                      <a:pos x="T0" y="T1"/>
                    </a:cxn>
                    <a:cxn ang="T7">
                      <a:pos x="T2" y="T3"/>
                    </a:cxn>
                    <a:cxn ang="T8">
                      <a:pos x="T4" y="T5"/>
                    </a:cxn>
                  </a:cxnLst>
                  <a:rect l="T9" t="T10" r="T11" b="T12"/>
                  <a:pathLst>
                    <a:path w="10" h="41">
                      <a:moveTo>
                        <a:pt x="0" y="40"/>
                      </a:moveTo>
                      <a:lnTo>
                        <a:pt x="0" y="40"/>
                      </a:lnTo>
                      <a:lnTo>
                        <a:pt x="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35" name="Line 94"/>
                <p:cNvSpPr>
                  <a:spLocks noChangeShapeType="1"/>
                </p:cNvSpPr>
                <p:nvPr/>
              </p:nvSpPr>
              <p:spPr bwMode="auto">
                <a:xfrm flipV="1">
                  <a:off x="1323" y="1473"/>
                  <a:ext cx="1" cy="48"/>
                </a:xfrm>
                <a:prstGeom prst="line">
                  <a:avLst/>
                </a:prstGeom>
                <a:noFill/>
                <a:ln w="12700">
                  <a:solidFill>
                    <a:srgbClr val="009900"/>
                  </a:solidFill>
                  <a:round/>
                  <a:headEnd/>
                  <a:tailEnd/>
                </a:ln>
              </p:spPr>
              <p:txBody>
                <a:bodyPr wrap="none" anchor="ctr"/>
                <a:lstStyle/>
                <a:p>
                  <a:endParaRPr lang="en-US"/>
                </a:p>
              </p:txBody>
            </p:sp>
            <p:sp>
              <p:nvSpPr>
                <p:cNvPr id="40536" name="Freeform 95"/>
                <p:cNvSpPr>
                  <a:spLocks/>
                </p:cNvSpPr>
                <p:nvPr/>
              </p:nvSpPr>
              <p:spPr bwMode="auto">
                <a:xfrm>
                  <a:off x="1111" y="1408"/>
                  <a:ext cx="109" cy="57"/>
                </a:xfrm>
                <a:custGeom>
                  <a:avLst/>
                  <a:gdLst>
                    <a:gd name="T0" fmla="*/ 0 w 109"/>
                    <a:gd name="T1" fmla="*/ 0 h 57"/>
                    <a:gd name="T2" fmla="*/ 45 w 109"/>
                    <a:gd name="T3" fmla="*/ 24 h 57"/>
                    <a:gd name="T4" fmla="*/ 108 w 109"/>
                    <a:gd name="T5" fmla="*/ 56 h 57"/>
                    <a:gd name="T6" fmla="*/ 0 60000 65536"/>
                    <a:gd name="T7" fmla="*/ 0 60000 65536"/>
                    <a:gd name="T8" fmla="*/ 0 60000 65536"/>
                    <a:gd name="T9" fmla="*/ 0 w 109"/>
                    <a:gd name="T10" fmla="*/ 0 h 57"/>
                    <a:gd name="T11" fmla="*/ 109 w 109"/>
                    <a:gd name="T12" fmla="*/ 57 h 57"/>
                  </a:gdLst>
                  <a:ahLst/>
                  <a:cxnLst>
                    <a:cxn ang="T6">
                      <a:pos x="T0" y="T1"/>
                    </a:cxn>
                    <a:cxn ang="T7">
                      <a:pos x="T2" y="T3"/>
                    </a:cxn>
                    <a:cxn ang="T8">
                      <a:pos x="T4" y="T5"/>
                    </a:cxn>
                  </a:cxnLst>
                  <a:rect l="T9" t="T10" r="T11" b="T12"/>
                  <a:pathLst>
                    <a:path w="109" h="57">
                      <a:moveTo>
                        <a:pt x="0" y="0"/>
                      </a:moveTo>
                      <a:lnTo>
                        <a:pt x="45" y="24"/>
                      </a:lnTo>
                      <a:lnTo>
                        <a:pt x="108" y="56"/>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37" name="Freeform 96"/>
                <p:cNvSpPr>
                  <a:spLocks/>
                </p:cNvSpPr>
                <p:nvPr/>
              </p:nvSpPr>
              <p:spPr bwMode="auto">
                <a:xfrm>
                  <a:off x="1111" y="1408"/>
                  <a:ext cx="109" cy="57"/>
                </a:xfrm>
                <a:custGeom>
                  <a:avLst/>
                  <a:gdLst>
                    <a:gd name="T0" fmla="*/ 0 w 109"/>
                    <a:gd name="T1" fmla="*/ 0 h 57"/>
                    <a:gd name="T2" fmla="*/ 45 w 109"/>
                    <a:gd name="T3" fmla="*/ 24 h 57"/>
                    <a:gd name="T4" fmla="*/ 108 w 109"/>
                    <a:gd name="T5" fmla="*/ 56 h 57"/>
                    <a:gd name="T6" fmla="*/ 0 60000 65536"/>
                    <a:gd name="T7" fmla="*/ 0 60000 65536"/>
                    <a:gd name="T8" fmla="*/ 0 60000 65536"/>
                    <a:gd name="T9" fmla="*/ 0 w 109"/>
                    <a:gd name="T10" fmla="*/ 0 h 57"/>
                    <a:gd name="T11" fmla="*/ 109 w 109"/>
                    <a:gd name="T12" fmla="*/ 57 h 57"/>
                  </a:gdLst>
                  <a:ahLst/>
                  <a:cxnLst>
                    <a:cxn ang="T6">
                      <a:pos x="T0" y="T1"/>
                    </a:cxn>
                    <a:cxn ang="T7">
                      <a:pos x="T2" y="T3"/>
                    </a:cxn>
                    <a:cxn ang="T8">
                      <a:pos x="T4" y="T5"/>
                    </a:cxn>
                  </a:cxnLst>
                  <a:rect l="T9" t="T10" r="T11" b="T12"/>
                  <a:pathLst>
                    <a:path w="109" h="57">
                      <a:moveTo>
                        <a:pt x="0" y="0"/>
                      </a:moveTo>
                      <a:lnTo>
                        <a:pt x="45" y="24"/>
                      </a:lnTo>
                      <a:lnTo>
                        <a:pt x="108" y="56"/>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38" name="Freeform 97"/>
                <p:cNvSpPr>
                  <a:spLocks/>
                </p:cNvSpPr>
                <p:nvPr/>
              </p:nvSpPr>
              <p:spPr bwMode="auto">
                <a:xfrm>
                  <a:off x="877" y="1304"/>
                  <a:ext cx="46" cy="137"/>
                </a:xfrm>
                <a:custGeom>
                  <a:avLst/>
                  <a:gdLst>
                    <a:gd name="T0" fmla="*/ 45 w 46"/>
                    <a:gd name="T1" fmla="*/ 136 h 137"/>
                    <a:gd name="T2" fmla="*/ 0 w 46"/>
                    <a:gd name="T3" fmla="*/ 104 h 137"/>
                    <a:gd name="T4" fmla="*/ 0 w 46"/>
                    <a:gd name="T5" fmla="*/ 0 h 137"/>
                    <a:gd name="T6" fmla="*/ 0 60000 65536"/>
                    <a:gd name="T7" fmla="*/ 0 60000 65536"/>
                    <a:gd name="T8" fmla="*/ 0 60000 65536"/>
                    <a:gd name="T9" fmla="*/ 0 w 46"/>
                    <a:gd name="T10" fmla="*/ 0 h 137"/>
                    <a:gd name="T11" fmla="*/ 46 w 46"/>
                    <a:gd name="T12" fmla="*/ 137 h 137"/>
                  </a:gdLst>
                  <a:ahLst/>
                  <a:cxnLst>
                    <a:cxn ang="T6">
                      <a:pos x="T0" y="T1"/>
                    </a:cxn>
                    <a:cxn ang="T7">
                      <a:pos x="T2" y="T3"/>
                    </a:cxn>
                    <a:cxn ang="T8">
                      <a:pos x="T4" y="T5"/>
                    </a:cxn>
                  </a:cxnLst>
                  <a:rect l="T9" t="T10" r="T11" b="T12"/>
                  <a:pathLst>
                    <a:path w="46" h="137">
                      <a:moveTo>
                        <a:pt x="45" y="136"/>
                      </a:moveTo>
                      <a:lnTo>
                        <a:pt x="0" y="104"/>
                      </a:lnTo>
                      <a:lnTo>
                        <a:pt x="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39" name="Freeform 98"/>
                <p:cNvSpPr>
                  <a:spLocks/>
                </p:cNvSpPr>
                <p:nvPr/>
              </p:nvSpPr>
              <p:spPr bwMode="auto">
                <a:xfrm>
                  <a:off x="877" y="1304"/>
                  <a:ext cx="46" cy="137"/>
                </a:xfrm>
                <a:custGeom>
                  <a:avLst/>
                  <a:gdLst>
                    <a:gd name="T0" fmla="*/ 45 w 46"/>
                    <a:gd name="T1" fmla="*/ 136 h 137"/>
                    <a:gd name="T2" fmla="*/ 9 w 46"/>
                    <a:gd name="T3" fmla="*/ 80 h 137"/>
                    <a:gd name="T4" fmla="*/ 0 w 46"/>
                    <a:gd name="T5" fmla="*/ 0 h 137"/>
                    <a:gd name="T6" fmla="*/ 0 60000 65536"/>
                    <a:gd name="T7" fmla="*/ 0 60000 65536"/>
                    <a:gd name="T8" fmla="*/ 0 60000 65536"/>
                    <a:gd name="T9" fmla="*/ 0 w 46"/>
                    <a:gd name="T10" fmla="*/ 0 h 137"/>
                    <a:gd name="T11" fmla="*/ 46 w 46"/>
                    <a:gd name="T12" fmla="*/ 137 h 137"/>
                  </a:gdLst>
                  <a:ahLst/>
                  <a:cxnLst>
                    <a:cxn ang="T6">
                      <a:pos x="T0" y="T1"/>
                    </a:cxn>
                    <a:cxn ang="T7">
                      <a:pos x="T2" y="T3"/>
                    </a:cxn>
                    <a:cxn ang="T8">
                      <a:pos x="T4" y="T5"/>
                    </a:cxn>
                  </a:cxnLst>
                  <a:rect l="T9" t="T10" r="T11" b="T12"/>
                  <a:pathLst>
                    <a:path w="46" h="137">
                      <a:moveTo>
                        <a:pt x="45" y="136"/>
                      </a:moveTo>
                      <a:lnTo>
                        <a:pt x="9" y="80"/>
                      </a:lnTo>
                      <a:lnTo>
                        <a:pt x="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40" name="Freeform 99"/>
                <p:cNvSpPr>
                  <a:spLocks/>
                </p:cNvSpPr>
                <p:nvPr/>
              </p:nvSpPr>
              <p:spPr bwMode="auto">
                <a:xfrm>
                  <a:off x="1036" y="1445"/>
                  <a:ext cx="19" cy="41"/>
                </a:xfrm>
                <a:custGeom>
                  <a:avLst/>
                  <a:gdLst>
                    <a:gd name="T0" fmla="*/ 0 w 19"/>
                    <a:gd name="T1" fmla="*/ 40 h 41"/>
                    <a:gd name="T2" fmla="*/ 0 w 19"/>
                    <a:gd name="T3" fmla="*/ 40 h 41"/>
                    <a:gd name="T4" fmla="*/ 18 w 19"/>
                    <a:gd name="T5" fmla="*/ 0 h 41"/>
                    <a:gd name="T6" fmla="*/ 0 60000 65536"/>
                    <a:gd name="T7" fmla="*/ 0 60000 65536"/>
                    <a:gd name="T8" fmla="*/ 0 60000 65536"/>
                    <a:gd name="T9" fmla="*/ 0 w 19"/>
                    <a:gd name="T10" fmla="*/ 0 h 41"/>
                    <a:gd name="T11" fmla="*/ 19 w 19"/>
                    <a:gd name="T12" fmla="*/ 41 h 41"/>
                  </a:gdLst>
                  <a:ahLst/>
                  <a:cxnLst>
                    <a:cxn ang="T6">
                      <a:pos x="T0" y="T1"/>
                    </a:cxn>
                    <a:cxn ang="T7">
                      <a:pos x="T2" y="T3"/>
                    </a:cxn>
                    <a:cxn ang="T8">
                      <a:pos x="T4" y="T5"/>
                    </a:cxn>
                  </a:cxnLst>
                  <a:rect l="T9" t="T10" r="T11" b="T12"/>
                  <a:pathLst>
                    <a:path w="19" h="41">
                      <a:moveTo>
                        <a:pt x="0" y="40"/>
                      </a:moveTo>
                      <a:lnTo>
                        <a:pt x="0" y="40"/>
                      </a:lnTo>
                      <a:lnTo>
                        <a:pt x="1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41" name="Line 100"/>
                <p:cNvSpPr>
                  <a:spLocks noChangeShapeType="1"/>
                </p:cNvSpPr>
                <p:nvPr/>
              </p:nvSpPr>
              <p:spPr bwMode="auto">
                <a:xfrm flipV="1">
                  <a:off x="881" y="1348"/>
                  <a:ext cx="19" cy="56"/>
                </a:xfrm>
                <a:prstGeom prst="line">
                  <a:avLst/>
                </a:prstGeom>
                <a:noFill/>
                <a:ln w="12700">
                  <a:solidFill>
                    <a:srgbClr val="009900"/>
                  </a:solidFill>
                  <a:round/>
                  <a:headEnd/>
                  <a:tailEnd/>
                </a:ln>
              </p:spPr>
              <p:txBody>
                <a:bodyPr wrap="none" anchor="ctr"/>
                <a:lstStyle/>
                <a:p>
                  <a:endParaRPr lang="en-US"/>
                </a:p>
              </p:txBody>
            </p:sp>
            <p:sp>
              <p:nvSpPr>
                <p:cNvPr id="40542" name="Freeform 101"/>
                <p:cNvSpPr>
                  <a:spLocks/>
                </p:cNvSpPr>
                <p:nvPr/>
              </p:nvSpPr>
              <p:spPr bwMode="auto">
                <a:xfrm>
                  <a:off x="688" y="1176"/>
                  <a:ext cx="109" cy="49"/>
                </a:xfrm>
                <a:custGeom>
                  <a:avLst/>
                  <a:gdLst>
                    <a:gd name="T0" fmla="*/ 0 w 109"/>
                    <a:gd name="T1" fmla="*/ 0 h 49"/>
                    <a:gd name="T2" fmla="*/ 45 w 109"/>
                    <a:gd name="T3" fmla="*/ 24 h 49"/>
                    <a:gd name="T4" fmla="*/ 108 w 109"/>
                    <a:gd name="T5" fmla="*/ 48 h 49"/>
                    <a:gd name="T6" fmla="*/ 0 60000 65536"/>
                    <a:gd name="T7" fmla="*/ 0 60000 65536"/>
                    <a:gd name="T8" fmla="*/ 0 60000 65536"/>
                    <a:gd name="T9" fmla="*/ 0 w 109"/>
                    <a:gd name="T10" fmla="*/ 0 h 49"/>
                    <a:gd name="T11" fmla="*/ 109 w 109"/>
                    <a:gd name="T12" fmla="*/ 49 h 49"/>
                  </a:gdLst>
                  <a:ahLst/>
                  <a:cxnLst>
                    <a:cxn ang="T6">
                      <a:pos x="T0" y="T1"/>
                    </a:cxn>
                    <a:cxn ang="T7">
                      <a:pos x="T2" y="T3"/>
                    </a:cxn>
                    <a:cxn ang="T8">
                      <a:pos x="T4" y="T5"/>
                    </a:cxn>
                  </a:cxnLst>
                  <a:rect l="T9" t="T10" r="T11" b="T12"/>
                  <a:pathLst>
                    <a:path w="109" h="49">
                      <a:moveTo>
                        <a:pt x="0" y="0"/>
                      </a:moveTo>
                      <a:lnTo>
                        <a:pt x="45" y="24"/>
                      </a:lnTo>
                      <a:lnTo>
                        <a:pt x="108" y="48"/>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43" name="Freeform 102"/>
                <p:cNvSpPr>
                  <a:spLocks/>
                </p:cNvSpPr>
                <p:nvPr/>
              </p:nvSpPr>
              <p:spPr bwMode="auto">
                <a:xfrm>
                  <a:off x="688" y="1176"/>
                  <a:ext cx="109" cy="49"/>
                </a:xfrm>
                <a:custGeom>
                  <a:avLst/>
                  <a:gdLst>
                    <a:gd name="T0" fmla="*/ 0 w 109"/>
                    <a:gd name="T1" fmla="*/ 0 h 49"/>
                    <a:gd name="T2" fmla="*/ 45 w 109"/>
                    <a:gd name="T3" fmla="*/ 24 h 49"/>
                    <a:gd name="T4" fmla="*/ 108 w 109"/>
                    <a:gd name="T5" fmla="*/ 48 h 49"/>
                    <a:gd name="T6" fmla="*/ 0 60000 65536"/>
                    <a:gd name="T7" fmla="*/ 0 60000 65536"/>
                    <a:gd name="T8" fmla="*/ 0 60000 65536"/>
                    <a:gd name="T9" fmla="*/ 0 w 109"/>
                    <a:gd name="T10" fmla="*/ 0 h 49"/>
                    <a:gd name="T11" fmla="*/ 109 w 109"/>
                    <a:gd name="T12" fmla="*/ 49 h 49"/>
                  </a:gdLst>
                  <a:ahLst/>
                  <a:cxnLst>
                    <a:cxn ang="T6">
                      <a:pos x="T0" y="T1"/>
                    </a:cxn>
                    <a:cxn ang="T7">
                      <a:pos x="T2" y="T3"/>
                    </a:cxn>
                    <a:cxn ang="T8">
                      <a:pos x="T4" y="T5"/>
                    </a:cxn>
                  </a:cxnLst>
                  <a:rect l="T9" t="T10" r="T11" b="T12"/>
                  <a:pathLst>
                    <a:path w="109" h="49">
                      <a:moveTo>
                        <a:pt x="0" y="0"/>
                      </a:moveTo>
                      <a:lnTo>
                        <a:pt x="45" y="24"/>
                      </a:lnTo>
                      <a:lnTo>
                        <a:pt x="108" y="48"/>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44" name="Freeform 103"/>
                <p:cNvSpPr>
                  <a:spLocks/>
                </p:cNvSpPr>
                <p:nvPr/>
              </p:nvSpPr>
              <p:spPr bwMode="auto">
                <a:xfrm>
                  <a:off x="922" y="1264"/>
                  <a:ext cx="127" cy="81"/>
                </a:xfrm>
                <a:custGeom>
                  <a:avLst/>
                  <a:gdLst>
                    <a:gd name="T0" fmla="*/ 0 w 127"/>
                    <a:gd name="T1" fmla="*/ 80 h 81"/>
                    <a:gd name="T2" fmla="*/ 27 w 127"/>
                    <a:gd name="T3" fmla="*/ 24 h 81"/>
                    <a:gd name="T4" fmla="*/ 126 w 127"/>
                    <a:gd name="T5" fmla="*/ 0 h 81"/>
                    <a:gd name="T6" fmla="*/ 0 60000 65536"/>
                    <a:gd name="T7" fmla="*/ 0 60000 65536"/>
                    <a:gd name="T8" fmla="*/ 0 60000 65536"/>
                    <a:gd name="T9" fmla="*/ 0 w 127"/>
                    <a:gd name="T10" fmla="*/ 0 h 81"/>
                    <a:gd name="T11" fmla="*/ 127 w 127"/>
                    <a:gd name="T12" fmla="*/ 81 h 81"/>
                  </a:gdLst>
                  <a:ahLst/>
                  <a:cxnLst>
                    <a:cxn ang="T6">
                      <a:pos x="T0" y="T1"/>
                    </a:cxn>
                    <a:cxn ang="T7">
                      <a:pos x="T2" y="T3"/>
                    </a:cxn>
                    <a:cxn ang="T8">
                      <a:pos x="T4" y="T5"/>
                    </a:cxn>
                  </a:cxnLst>
                  <a:rect l="T9" t="T10" r="T11" b="T12"/>
                  <a:pathLst>
                    <a:path w="127" h="81">
                      <a:moveTo>
                        <a:pt x="0" y="80"/>
                      </a:moveTo>
                      <a:lnTo>
                        <a:pt x="27" y="24"/>
                      </a:lnTo>
                      <a:lnTo>
                        <a:pt x="126"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45" name="Freeform 104"/>
                <p:cNvSpPr>
                  <a:spLocks/>
                </p:cNvSpPr>
                <p:nvPr/>
              </p:nvSpPr>
              <p:spPr bwMode="auto">
                <a:xfrm>
                  <a:off x="922" y="1264"/>
                  <a:ext cx="127" cy="81"/>
                </a:xfrm>
                <a:custGeom>
                  <a:avLst/>
                  <a:gdLst>
                    <a:gd name="T0" fmla="*/ 0 w 127"/>
                    <a:gd name="T1" fmla="*/ 80 h 81"/>
                    <a:gd name="T2" fmla="*/ 45 w 127"/>
                    <a:gd name="T3" fmla="*/ 32 h 81"/>
                    <a:gd name="T4" fmla="*/ 126 w 127"/>
                    <a:gd name="T5" fmla="*/ 0 h 81"/>
                    <a:gd name="T6" fmla="*/ 0 60000 65536"/>
                    <a:gd name="T7" fmla="*/ 0 60000 65536"/>
                    <a:gd name="T8" fmla="*/ 0 60000 65536"/>
                    <a:gd name="T9" fmla="*/ 0 w 127"/>
                    <a:gd name="T10" fmla="*/ 0 h 81"/>
                    <a:gd name="T11" fmla="*/ 127 w 127"/>
                    <a:gd name="T12" fmla="*/ 81 h 81"/>
                  </a:gdLst>
                  <a:ahLst/>
                  <a:cxnLst>
                    <a:cxn ang="T6">
                      <a:pos x="T0" y="T1"/>
                    </a:cxn>
                    <a:cxn ang="T7">
                      <a:pos x="T2" y="T3"/>
                    </a:cxn>
                    <a:cxn ang="T8">
                      <a:pos x="T4" y="T5"/>
                    </a:cxn>
                  </a:cxnLst>
                  <a:rect l="T9" t="T10" r="T11" b="T12"/>
                  <a:pathLst>
                    <a:path w="127" h="81">
                      <a:moveTo>
                        <a:pt x="0" y="80"/>
                      </a:moveTo>
                      <a:lnTo>
                        <a:pt x="45" y="32"/>
                      </a:lnTo>
                      <a:lnTo>
                        <a:pt x="126"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46" name="Freeform 105"/>
                <p:cNvSpPr>
                  <a:spLocks/>
                </p:cNvSpPr>
                <p:nvPr/>
              </p:nvSpPr>
              <p:spPr bwMode="auto">
                <a:xfrm>
                  <a:off x="994" y="1392"/>
                  <a:ext cx="10" cy="49"/>
                </a:xfrm>
                <a:custGeom>
                  <a:avLst/>
                  <a:gdLst>
                    <a:gd name="T0" fmla="*/ 0 w 10"/>
                    <a:gd name="T1" fmla="*/ 48 h 49"/>
                    <a:gd name="T2" fmla="*/ 0 w 10"/>
                    <a:gd name="T3" fmla="*/ 48 h 49"/>
                    <a:gd name="T4" fmla="*/ 9 w 10"/>
                    <a:gd name="T5" fmla="*/ 0 h 49"/>
                    <a:gd name="T6" fmla="*/ 0 60000 65536"/>
                    <a:gd name="T7" fmla="*/ 0 60000 65536"/>
                    <a:gd name="T8" fmla="*/ 0 60000 65536"/>
                    <a:gd name="T9" fmla="*/ 0 w 10"/>
                    <a:gd name="T10" fmla="*/ 0 h 49"/>
                    <a:gd name="T11" fmla="*/ 10 w 10"/>
                    <a:gd name="T12" fmla="*/ 49 h 49"/>
                  </a:gdLst>
                  <a:ahLst/>
                  <a:cxnLst>
                    <a:cxn ang="T6">
                      <a:pos x="T0" y="T1"/>
                    </a:cxn>
                    <a:cxn ang="T7">
                      <a:pos x="T2" y="T3"/>
                    </a:cxn>
                    <a:cxn ang="T8">
                      <a:pos x="T4" y="T5"/>
                    </a:cxn>
                  </a:cxnLst>
                  <a:rect l="T9" t="T10" r="T11" b="T12"/>
                  <a:pathLst>
                    <a:path w="10" h="49">
                      <a:moveTo>
                        <a:pt x="0" y="48"/>
                      </a:moveTo>
                      <a:lnTo>
                        <a:pt x="0" y="48"/>
                      </a:lnTo>
                      <a:lnTo>
                        <a:pt x="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47" name="Line 106"/>
                <p:cNvSpPr>
                  <a:spLocks noChangeShapeType="1"/>
                </p:cNvSpPr>
                <p:nvPr/>
              </p:nvSpPr>
              <p:spPr bwMode="auto">
                <a:xfrm flipV="1">
                  <a:off x="1184" y="1493"/>
                  <a:ext cx="1" cy="56"/>
                </a:xfrm>
                <a:prstGeom prst="line">
                  <a:avLst/>
                </a:prstGeom>
                <a:noFill/>
                <a:ln w="12700">
                  <a:solidFill>
                    <a:srgbClr val="009900"/>
                  </a:solidFill>
                  <a:round/>
                  <a:headEnd/>
                  <a:tailEnd/>
                </a:ln>
              </p:spPr>
              <p:txBody>
                <a:bodyPr wrap="none" anchor="ctr"/>
                <a:lstStyle/>
                <a:p>
                  <a:endParaRPr lang="en-US"/>
                </a:p>
              </p:txBody>
            </p:sp>
            <p:sp>
              <p:nvSpPr>
                <p:cNvPr id="40548" name="Freeform 107"/>
                <p:cNvSpPr>
                  <a:spLocks/>
                </p:cNvSpPr>
                <p:nvPr/>
              </p:nvSpPr>
              <p:spPr bwMode="auto">
                <a:xfrm>
                  <a:off x="1012" y="1384"/>
                  <a:ext cx="109" cy="49"/>
                </a:xfrm>
                <a:custGeom>
                  <a:avLst/>
                  <a:gdLst>
                    <a:gd name="T0" fmla="*/ 0 w 109"/>
                    <a:gd name="T1" fmla="*/ 0 h 49"/>
                    <a:gd name="T2" fmla="*/ 45 w 109"/>
                    <a:gd name="T3" fmla="*/ 24 h 49"/>
                    <a:gd name="T4" fmla="*/ 108 w 109"/>
                    <a:gd name="T5" fmla="*/ 48 h 49"/>
                    <a:gd name="T6" fmla="*/ 0 60000 65536"/>
                    <a:gd name="T7" fmla="*/ 0 60000 65536"/>
                    <a:gd name="T8" fmla="*/ 0 60000 65536"/>
                    <a:gd name="T9" fmla="*/ 0 w 109"/>
                    <a:gd name="T10" fmla="*/ 0 h 49"/>
                    <a:gd name="T11" fmla="*/ 109 w 109"/>
                    <a:gd name="T12" fmla="*/ 49 h 49"/>
                  </a:gdLst>
                  <a:ahLst/>
                  <a:cxnLst>
                    <a:cxn ang="T6">
                      <a:pos x="T0" y="T1"/>
                    </a:cxn>
                    <a:cxn ang="T7">
                      <a:pos x="T2" y="T3"/>
                    </a:cxn>
                    <a:cxn ang="T8">
                      <a:pos x="T4" y="T5"/>
                    </a:cxn>
                  </a:cxnLst>
                  <a:rect l="T9" t="T10" r="T11" b="T12"/>
                  <a:pathLst>
                    <a:path w="109" h="49">
                      <a:moveTo>
                        <a:pt x="0" y="0"/>
                      </a:moveTo>
                      <a:lnTo>
                        <a:pt x="45" y="24"/>
                      </a:lnTo>
                      <a:lnTo>
                        <a:pt x="108" y="48"/>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49" name="Freeform 108"/>
                <p:cNvSpPr>
                  <a:spLocks/>
                </p:cNvSpPr>
                <p:nvPr/>
              </p:nvSpPr>
              <p:spPr bwMode="auto">
                <a:xfrm>
                  <a:off x="1012" y="1384"/>
                  <a:ext cx="109" cy="49"/>
                </a:xfrm>
                <a:custGeom>
                  <a:avLst/>
                  <a:gdLst>
                    <a:gd name="T0" fmla="*/ 0 w 109"/>
                    <a:gd name="T1" fmla="*/ 0 h 49"/>
                    <a:gd name="T2" fmla="*/ 45 w 109"/>
                    <a:gd name="T3" fmla="*/ 24 h 49"/>
                    <a:gd name="T4" fmla="*/ 108 w 109"/>
                    <a:gd name="T5" fmla="*/ 48 h 49"/>
                    <a:gd name="T6" fmla="*/ 0 60000 65536"/>
                    <a:gd name="T7" fmla="*/ 0 60000 65536"/>
                    <a:gd name="T8" fmla="*/ 0 60000 65536"/>
                    <a:gd name="T9" fmla="*/ 0 w 109"/>
                    <a:gd name="T10" fmla="*/ 0 h 49"/>
                    <a:gd name="T11" fmla="*/ 109 w 109"/>
                    <a:gd name="T12" fmla="*/ 49 h 49"/>
                  </a:gdLst>
                  <a:ahLst/>
                  <a:cxnLst>
                    <a:cxn ang="T6">
                      <a:pos x="T0" y="T1"/>
                    </a:cxn>
                    <a:cxn ang="T7">
                      <a:pos x="T2" y="T3"/>
                    </a:cxn>
                    <a:cxn ang="T8">
                      <a:pos x="T4" y="T5"/>
                    </a:cxn>
                  </a:cxnLst>
                  <a:rect l="T9" t="T10" r="T11" b="T12"/>
                  <a:pathLst>
                    <a:path w="109" h="49">
                      <a:moveTo>
                        <a:pt x="0" y="0"/>
                      </a:moveTo>
                      <a:lnTo>
                        <a:pt x="45" y="24"/>
                      </a:lnTo>
                      <a:lnTo>
                        <a:pt x="108" y="48"/>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50" name="Freeform 109"/>
                <p:cNvSpPr>
                  <a:spLocks/>
                </p:cNvSpPr>
                <p:nvPr/>
              </p:nvSpPr>
              <p:spPr bwMode="auto">
                <a:xfrm>
                  <a:off x="1174" y="1272"/>
                  <a:ext cx="55" cy="137"/>
                </a:xfrm>
                <a:custGeom>
                  <a:avLst/>
                  <a:gdLst>
                    <a:gd name="T0" fmla="*/ 54 w 55"/>
                    <a:gd name="T1" fmla="*/ 136 h 137"/>
                    <a:gd name="T2" fmla="*/ 9 w 55"/>
                    <a:gd name="T3" fmla="*/ 104 h 137"/>
                    <a:gd name="T4" fmla="*/ 0 w 55"/>
                    <a:gd name="T5" fmla="*/ 0 h 137"/>
                    <a:gd name="T6" fmla="*/ 0 60000 65536"/>
                    <a:gd name="T7" fmla="*/ 0 60000 65536"/>
                    <a:gd name="T8" fmla="*/ 0 60000 65536"/>
                    <a:gd name="T9" fmla="*/ 0 w 55"/>
                    <a:gd name="T10" fmla="*/ 0 h 137"/>
                    <a:gd name="T11" fmla="*/ 55 w 55"/>
                    <a:gd name="T12" fmla="*/ 137 h 137"/>
                  </a:gdLst>
                  <a:ahLst/>
                  <a:cxnLst>
                    <a:cxn ang="T6">
                      <a:pos x="T0" y="T1"/>
                    </a:cxn>
                    <a:cxn ang="T7">
                      <a:pos x="T2" y="T3"/>
                    </a:cxn>
                    <a:cxn ang="T8">
                      <a:pos x="T4" y="T5"/>
                    </a:cxn>
                  </a:cxnLst>
                  <a:rect l="T9" t="T10" r="T11" b="T12"/>
                  <a:pathLst>
                    <a:path w="55" h="137">
                      <a:moveTo>
                        <a:pt x="54" y="136"/>
                      </a:moveTo>
                      <a:lnTo>
                        <a:pt x="9" y="104"/>
                      </a:lnTo>
                      <a:lnTo>
                        <a:pt x="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51" name="Freeform 110"/>
                <p:cNvSpPr>
                  <a:spLocks/>
                </p:cNvSpPr>
                <p:nvPr/>
              </p:nvSpPr>
              <p:spPr bwMode="auto">
                <a:xfrm>
                  <a:off x="1174" y="1272"/>
                  <a:ext cx="55" cy="137"/>
                </a:xfrm>
                <a:custGeom>
                  <a:avLst/>
                  <a:gdLst>
                    <a:gd name="T0" fmla="*/ 54 w 55"/>
                    <a:gd name="T1" fmla="*/ 136 h 137"/>
                    <a:gd name="T2" fmla="*/ 9 w 55"/>
                    <a:gd name="T3" fmla="*/ 80 h 137"/>
                    <a:gd name="T4" fmla="*/ 0 w 55"/>
                    <a:gd name="T5" fmla="*/ 0 h 137"/>
                    <a:gd name="T6" fmla="*/ 0 60000 65536"/>
                    <a:gd name="T7" fmla="*/ 0 60000 65536"/>
                    <a:gd name="T8" fmla="*/ 0 60000 65536"/>
                    <a:gd name="T9" fmla="*/ 0 w 55"/>
                    <a:gd name="T10" fmla="*/ 0 h 137"/>
                    <a:gd name="T11" fmla="*/ 55 w 55"/>
                    <a:gd name="T12" fmla="*/ 137 h 137"/>
                  </a:gdLst>
                  <a:ahLst/>
                  <a:cxnLst>
                    <a:cxn ang="T6">
                      <a:pos x="T0" y="T1"/>
                    </a:cxn>
                    <a:cxn ang="T7">
                      <a:pos x="T2" y="T3"/>
                    </a:cxn>
                    <a:cxn ang="T8">
                      <a:pos x="T4" y="T5"/>
                    </a:cxn>
                  </a:cxnLst>
                  <a:rect l="T9" t="T10" r="T11" b="T12"/>
                  <a:pathLst>
                    <a:path w="55" h="137">
                      <a:moveTo>
                        <a:pt x="54" y="136"/>
                      </a:moveTo>
                      <a:lnTo>
                        <a:pt x="9" y="80"/>
                      </a:lnTo>
                      <a:lnTo>
                        <a:pt x="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52" name="Freeform 111"/>
                <p:cNvSpPr>
                  <a:spLocks/>
                </p:cNvSpPr>
                <p:nvPr/>
              </p:nvSpPr>
              <p:spPr bwMode="auto">
                <a:xfrm>
                  <a:off x="1342" y="1413"/>
                  <a:ext cx="10" cy="41"/>
                </a:xfrm>
                <a:custGeom>
                  <a:avLst/>
                  <a:gdLst>
                    <a:gd name="T0" fmla="*/ 0 w 10"/>
                    <a:gd name="T1" fmla="*/ 40 h 41"/>
                    <a:gd name="T2" fmla="*/ 0 w 10"/>
                    <a:gd name="T3" fmla="*/ 40 h 41"/>
                    <a:gd name="T4" fmla="*/ 9 w 10"/>
                    <a:gd name="T5" fmla="*/ 0 h 41"/>
                    <a:gd name="T6" fmla="*/ 0 60000 65536"/>
                    <a:gd name="T7" fmla="*/ 0 60000 65536"/>
                    <a:gd name="T8" fmla="*/ 0 60000 65536"/>
                    <a:gd name="T9" fmla="*/ 0 w 10"/>
                    <a:gd name="T10" fmla="*/ 0 h 41"/>
                    <a:gd name="T11" fmla="*/ 10 w 10"/>
                    <a:gd name="T12" fmla="*/ 41 h 41"/>
                  </a:gdLst>
                  <a:ahLst/>
                  <a:cxnLst>
                    <a:cxn ang="T6">
                      <a:pos x="T0" y="T1"/>
                    </a:cxn>
                    <a:cxn ang="T7">
                      <a:pos x="T2" y="T3"/>
                    </a:cxn>
                    <a:cxn ang="T8">
                      <a:pos x="T4" y="T5"/>
                    </a:cxn>
                  </a:cxnLst>
                  <a:rect l="T9" t="T10" r="T11" b="T12"/>
                  <a:pathLst>
                    <a:path w="10" h="41">
                      <a:moveTo>
                        <a:pt x="0" y="40"/>
                      </a:moveTo>
                      <a:lnTo>
                        <a:pt x="0" y="40"/>
                      </a:lnTo>
                      <a:lnTo>
                        <a:pt x="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53" name="Line 112"/>
                <p:cNvSpPr>
                  <a:spLocks noChangeShapeType="1"/>
                </p:cNvSpPr>
                <p:nvPr/>
              </p:nvSpPr>
              <p:spPr bwMode="auto">
                <a:xfrm flipV="1">
                  <a:off x="1191" y="1316"/>
                  <a:ext cx="1" cy="48"/>
                </a:xfrm>
                <a:prstGeom prst="line">
                  <a:avLst/>
                </a:prstGeom>
                <a:noFill/>
                <a:ln w="12700">
                  <a:solidFill>
                    <a:srgbClr val="009900"/>
                  </a:solidFill>
                  <a:round/>
                  <a:headEnd/>
                  <a:tailEnd/>
                </a:ln>
              </p:spPr>
              <p:txBody>
                <a:bodyPr wrap="none" anchor="ctr"/>
                <a:lstStyle/>
                <a:p>
                  <a:endParaRPr lang="en-US"/>
                </a:p>
              </p:txBody>
            </p:sp>
            <p:sp>
              <p:nvSpPr>
                <p:cNvPr id="40554" name="Freeform 113"/>
                <p:cNvSpPr>
                  <a:spLocks/>
                </p:cNvSpPr>
                <p:nvPr/>
              </p:nvSpPr>
              <p:spPr bwMode="auto">
                <a:xfrm>
                  <a:off x="1239" y="1364"/>
                  <a:ext cx="110" cy="49"/>
                </a:xfrm>
                <a:custGeom>
                  <a:avLst/>
                  <a:gdLst>
                    <a:gd name="T0" fmla="*/ 0 w 110"/>
                    <a:gd name="T1" fmla="*/ 0 h 49"/>
                    <a:gd name="T2" fmla="*/ 45 w 110"/>
                    <a:gd name="T3" fmla="*/ 24 h 49"/>
                    <a:gd name="T4" fmla="*/ 109 w 110"/>
                    <a:gd name="T5" fmla="*/ 48 h 49"/>
                    <a:gd name="T6" fmla="*/ 0 60000 65536"/>
                    <a:gd name="T7" fmla="*/ 0 60000 65536"/>
                    <a:gd name="T8" fmla="*/ 0 60000 65536"/>
                    <a:gd name="T9" fmla="*/ 0 w 110"/>
                    <a:gd name="T10" fmla="*/ 0 h 49"/>
                    <a:gd name="T11" fmla="*/ 110 w 110"/>
                    <a:gd name="T12" fmla="*/ 49 h 49"/>
                  </a:gdLst>
                  <a:ahLst/>
                  <a:cxnLst>
                    <a:cxn ang="T6">
                      <a:pos x="T0" y="T1"/>
                    </a:cxn>
                    <a:cxn ang="T7">
                      <a:pos x="T2" y="T3"/>
                    </a:cxn>
                    <a:cxn ang="T8">
                      <a:pos x="T4" y="T5"/>
                    </a:cxn>
                  </a:cxnLst>
                  <a:rect l="T9" t="T10" r="T11" b="T12"/>
                  <a:pathLst>
                    <a:path w="110" h="49">
                      <a:moveTo>
                        <a:pt x="0" y="0"/>
                      </a:moveTo>
                      <a:lnTo>
                        <a:pt x="45" y="24"/>
                      </a:lnTo>
                      <a:lnTo>
                        <a:pt x="109" y="48"/>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55" name="Freeform 114"/>
                <p:cNvSpPr>
                  <a:spLocks/>
                </p:cNvSpPr>
                <p:nvPr/>
              </p:nvSpPr>
              <p:spPr bwMode="auto">
                <a:xfrm>
                  <a:off x="1203" y="1372"/>
                  <a:ext cx="109" cy="49"/>
                </a:xfrm>
                <a:custGeom>
                  <a:avLst/>
                  <a:gdLst>
                    <a:gd name="T0" fmla="*/ 0 w 109"/>
                    <a:gd name="T1" fmla="*/ 0 h 49"/>
                    <a:gd name="T2" fmla="*/ 45 w 109"/>
                    <a:gd name="T3" fmla="*/ 24 h 49"/>
                    <a:gd name="T4" fmla="*/ 108 w 109"/>
                    <a:gd name="T5" fmla="*/ 48 h 49"/>
                    <a:gd name="T6" fmla="*/ 0 60000 65536"/>
                    <a:gd name="T7" fmla="*/ 0 60000 65536"/>
                    <a:gd name="T8" fmla="*/ 0 60000 65536"/>
                    <a:gd name="T9" fmla="*/ 0 w 109"/>
                    <a:gd name="T10" fmla="*/ 0 h 49"/>
                    <a:gd name="T11" fmla="*/ 109 w 109"/>
                    <a:gd name="T12" fmla="*/ 49 h 49"/>
                  </a:gdLst>
                  <a:ahLst/>
                  <a:cxnLst>
                    <a:cxn ang="T6">
                      <a:pos x="T0" y="T1"/>
                    </a:cxn>
                    <a:cxn ang="T7">
                      <a:pos x="T2" y="T3"/>
                    </a:cxn>
                    <a:cxn ang="T8">
                      <a:pos x="T4" y="T5"/>
                    </a:cxn>
                  </a:cxnLst>
                  <a:rect l="T9" t="T10" r="T11" b="T12"/>
                  <a:pathLst>
                    <a:path w="109" h="49">
                      <a:moveTo>
                        <a:pt x="0" y="0"/>
                      </a:moveTo>
                      <a:lnTo>
                        <a:pt x="45" y="24"/>
                      </a:lnTo>
                      <a:lnTo>
                        <a:pt x="108" y="48"/>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56" name="Freeform 115"/>
                <p:cNvSpPr>
                  <a:spLocks/>
                </p:cNvSpPr>
                <p:nvPr/>
              </p:nvSpPr>
              <p:spPr bwMode="auto">
                <a:xfrm>
                  <a:off x="1228" y="1232"/>
                  <a:ext cx="127" cy="81"/>
                </a:xfrm>
                <a:custGeom>
                  <a:avLst/>
                  <a:gdLst>
                    <a:gd name="T0" fmla="*/ 0 w 127"/>
                    <a:gd name="T1" fmla="*/ 80 h 81"/>
                    <a:gd name="T2" fmla="*/ 18 w 127"/>
                    <a:gd name="T3" fmla="*/ 24 h 81"/>
                    <a:gd name="T4" fmla="*/ 126 w 127"/>
                    <a:gd name="T5" fmla="*/ 0 h 81"/>
                    <a:gd name="T6" fmla="*/ 0 60000 65536"/>
                    <a:gd name="T7" fmla="*/ 0 60000 65536"/>
                    <a:gd name="T8" fmla="*/ 0 60000 65536"/>
                    <a:gd name="T9" fmla="*/ 0 w 127"/>
                    <a:gd name="T10" fmla="*/ 0 h 81"/>
                    <a:gd name="T11" fmla="*/ 127 w 127"/>
                    <a:gd name="T12" fmla="*/ 81 h 81"/>
                  </a:gdLst>
                  <a:ahLst/>
                  <a:cxnLst>
                    <a:cxn ang="T6">
                      <a:pos x="T0" y="T1"/>
                    </a:cxn>
                    <a:cxn ang="T7">
                      <a:pos x="T2" y="T3"/>
                    </a:cxn>
                    <a:cxn ang="T8">
                      <a:pos x="T4" y="T5"/>
                    </a:cxn>
                  </a:cxnLst>
                  <a:rect l="T9" t="T10" r="T11" b="T12"/>
                  <a:pathLst>
                    <a:path w="127" h="81">
                      <a:moveTo>
                        <a:pt x="0" y="80"/>
                      </a:moveTo>
                      <a:lnTo>
                        <a:pt x="18" y="24"/>
                      </a:lnTo>
                      <a:lnTo>
                        <a:pt x="126"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57" name="Freeform 116"/>
                <p:cNvSpPr>
                  <a:spLocks/>
                </p:cNvSpPr>
                <p:nvPr/>
              </p:nvSpPr>
              <p:spPr bwMode="auto">
                <a:xfrm>
                  <a:off x="1228" y="1232"/>
                  <a:ext cx="127" cy="81"/>
                </a:xfrm>
                <a:custGeom>
                  <a:avLst/>
                  <a:gdLst>
                    <a:gd name="T0" fmla="*/ 0 w 127"/>
                    <a:gd name="T1" fmla="*/ 80 h 81"/>
                    <a:gd name="T2" fmla="*/ 36 w 127"/>
                    <a:gd name="T3" fmla="*/ 32 h 81"/>
                    <a:gd name="T4" fmla="*/ 126 w 127"/>
                    <a:gd name="T5" fmla="*/ 0 h 81"/>
                    <a:gd name="T6" fmla="*/ 0 60000 65536"/>
                    <a:gd name="T7" fmla="*/ 0 60000 65536"/>
                    <a:gd name="T8" fmla="*/ 0 60000 65536"/>
                    <a:gd name="T9" fmla="*/ 0 w 127"/>
                    <a:gd name="T10" fmla="*/ 0 h 81"/>
                    <a:gd name="T11" fmla="*/ 127 w 127"/>
                    <a:gd name="T12" fmla="*/ 81 h 81"/>
                  </a:gdLst>
                  <a:ahLst/>
                  <a:cxnLst>
                    <a:cxn ang="T6">
                      <a:pos x="T0" y="T1"/>
                    </a:cxn>
                    <a:cxn ang="T7">
                      <a:pos x="T2" y="T3"/>
                    </a:cxn>
                    <a:cxn ang="T8">
                      <a:pos x="T4" y="T5"/>
                    </a:cxn>
                  </a:cxnLst>
                  <a:rect l="T9" t="T10" r="T11" b="T12"/>
                  <a:pathLst>
                    <a:path w="127" h="81">
                      <a:moveTo>
                        <a:pt x="0" y="80"/>
                      </a:moveTo>
                      <a:lnTo>
                        <a:pt x="36" y="32"/>
                      </a:lnTo>
                      <a:lnTo>
                        <a:pt x="126"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58" name="Freeform 117"/>
                <p:cNvSpPr>
                  <a:spLocks/>
                </p:cNvSpPr>
                <p:nvPr/>
              </p:nvSpPr>
              <p:spPr bwMode="auto">
                <a:xfrm>
                  <a:off x="1291" y="1360"/>
                  <a:ext cx="19" cy="49"/>
                </a:xfrm>
                <a:custGeom>
                  <a:avLst/>
                  <a:gdLst>
                    <a:gd name="T0" fmla="*/ 0 w 19"/>
                    <a:gd name="T1" fmla="*/ 48 h 49"/>
                    <a:gd name="T2" fmla="*/ 0 w 19"/>
                    <a:gd name="T3" fmla="*/ 48 h 49"/>
                    <a:gd name="T4" fmla="*/ 18 w 19"/>
                    <a:gd name="T5" fmla="*/ 0 h 49"/>
                    <a:gd name="T6" fmla="*/ 0 60000 65536"/>
                    <a:gd name="T7" fmla="*/ 0 60000 65536"/>
                    <a:gd name="T8" fmla="*/ 0 60000 65536"/>
                    <a:gd name="T9" fmla="*/ 0 w 19"/>
                    <a:gd name="T10" fmla="*/ 0 h 49"/>
                    <a:gd name="T11" fmla="*/ 19 w 19"/>
                    <a:gd name="T12" fmla="*/ 49 h 49"/>
                  </a:gdLst>
                  <a:ahLst/>
                  <a:cxnLst>
                    <a:cxn ang="T6">
                      <a:pos x="T0" y="T1"/>
                    </a:cxn>
                    <a:cxn ang="T7">
                      <a:pos x="T2" y="T3"/>
                    </a:cxn>
                    <a:cxn ang="T8">
                      <a:pos x="T4" y="T5"/>
                    </a:cxn>
                  </a:cxnLst>
                  <a:rect l="T9" t="T10" r="T11" b="T12"/>
                  <a:pathLst>
                    <a:path w="19" h="49">
                      <a:moveTo>
                        <a:pt x="0" y="48"/>
                      </a:moveTo>
                      <a:lnTo>
                        <a:pt x="0" y="48"/>
                      </a:lnTo>
                      <a:lnTo>
                        <a:pt x="1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59" name="Line 118"/>
                <p:cNvSpPr>
                  <a:spLocks noChangeShapeType="1"/>
                </p:cNvSpPr>
                <p:nvPr/>
              </p:nvSpPr>
              <p:spPr bwMode="auto">
                <a:xfrm flipV="1">
                  <a:off x="1300" y="1356"/>
                  <a:ext cx="10" cy="56"/>
                </a:xfrm>
                <a:prstGeom prst="line">
                  <a:avLst/>
                </a:prstGeom>
                <a:noFill/>
                <a:ln w="12700">
                  <a:solidFill>
                    <a:srgbClr val="009900"/>
                  </a:solidFill>
                  <a:round/>
                  <a:headEnd/>
                  <a:tailEnd/>
                </a:ln>
              </p:spPr>
              <p:txBody>
                <a:bodyPr wrap="none" anchor="ctr"/>
                <a:lstStyle/>
                <a:p>
                  <a:endParaRPr lang="en-US"/>
                </a:p>
              </p:txBody>
            </p:sp>
            <p:sp>
              <p:nvSpPr>
                <p:cNvPr id="40560" name="Freeform 119"/>
                <p:cNvSpPr>
                  <a:spLocks/>
                </p:cNvSpPr>
                <p:nvPr/>
              </p:nvSpPr>
              <p:spPr bwMode="auto">
                <a:xfrm>
                  <a:off x="1309" y="1352"/>
                  <a:ext cx="118" cy="49"/>
                </a:xfrm>
                <a:custGeom>
                  <a:avLst/>
                  <a:gdLst>
                    <a:gd name="T0" fmla="*/ 0 w 118"/>
                    <a:gd name="T1" fmla="*/ 0 h 49"/>
                    <a:gd name="T2" fmla="*/ 54 w 118"/>
                    <a:gd name="T3" fmla="*/ 24 h 49"/>
                    <a:gd name="T4" fmla="*/ 117 w 118"/>
                    <a:gd name="T5" fmla="*/ 48 h 49"/>
                    <a:gd name="T6" fmla="*/ 0 60000 65536"/>
                    <a:gd name="T7" fmla="*/ 0 60000 65536"/>
                    <a:gd name="T8" fmla="*/ 0 60000 65536"/>
                    <a:gd name="T9" fmla="*/ 0 w 118"/>
                    <a:gd name="T10" fmla="*/ 0 h 49"/>
                    <a:gd name="T11" fmla="*/ 118 w 118"/>
                    <a:gd name="T12" fmla="*/ 49 h 49"/>
                  </a:gdLst>
                  <a:ahLst/>
                  <a:cxnLst>
                    <a:cxn ang="T6">
                      <a:pos x="T0" y="T1"/>
                    </a:cxn>
                    <a:cxn ang="T7">
                      <a:pos x="T2" y="T3"/>
                    </a:cxn>
                    <a:cxn ang="T8">
                      <a:pos x="T4" y="T5"/>
                    </a:cxn>
                  </a:cxnLst>
                  <a:rect l="T9" t="T10" r="T11" b="T12"/>
                  <a:pathLst>
                    <a:path w="118" h="49">
                      <a:moveTo>
                        <a:pt x="0" y="0"/>
                      </a:moveTo>
                      <a:lnTo>
                        <a:pt x="54" y="24"/>
                      </a:lnTo>
                      <a:lnTo>
                        <a:pt x="117" y="48"/>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61" name="Line 120"/>
                <p:cNvSpPr>
                  <a:spLocks noChangeShapeType="1"/>
                </p:cNvSpPr>
                <p:nvPr/>
              </p:nvSpPr>
              <p:spPr bwMode="auto">
                <a:xfrm>
                  <a:off x="1292" y="1358"/>
                  <a:ext cx="119" cy="48"/>
                </a:xfrm>
                <a:prstGeom prst="line">
                  <a:avLst/>
                </a:prstGeom>
                <a:noFill/>
                <a:ln w="12700">
                  <a:solidFill>
                    <a:srgbClr val="009900"/>
                  </a:solidFill>
                  <a:round/>
                  <a:headEnd/>
                  <a:tailEnd/>
                </a:ln>
              </p:spPr>
              <p:txBody>
                <a:bodyPr wrap="none" anchor="ctr"/>
                <a:lstStyle/>
                <a:p>
                  <a:endParaRPr lang="en-US"/>
                </a:p>
              </p:txBody>
            </p:sp>
            <p:sp>
              <p:nvSpPr>
                <p:cNvPr id="40562" name="Freeform 121"/>
                <p:cNvSpPr>
                  <a:spLocks/>
                </p:cNvSpPr>
                <p:nvPr/>
              </p:nvSpPr>
              <p:spPr bwMode="auto">
                <a:xfrm>
                  <a:off x="1192" y="1056"/>
                  <a:ext cx="55" cy="129"/>
                </a:xfrm>
                <a:custGeom>
                  <a:avLst/>
                  <a:gdLst>
                    <a:gd name="T0" fmla="*/ 54 w 55"/>
                    <a:gd name="T1" fmla="*/ 128 h 129"/>
                    <a:gd name="T2" fmla="*/ 9 w 55"/>
                    <a:gd name="T3" fmla="*/ 96 h 129"/>
                    <a:gd name="T4" fmla="*/ 0 w 55"/>
                    <a:gd name="T5" fmla="*/ 0 h 129"/>
                    <a:gd name="T6" fmla="*/ 0 60000 65536"/>
                    <a:gd name="T7" fmla="*/ 0 60000 65536"/>
                    <a:gd name="T8" fmla="*/ 0 60000 65536"/>
                    <a:gd name="T9" fmla="*/ 0 w 55"/>
                    <a:gd name="T10" fmla="*/ 0 h 129"/>
                    <a:gd name="T11" fmla="*/ 55 w 55"/>
                    <a:gd name="T12" fmla="*/ 129 h 129"/>
                  </a:gdLst>
                  <a:ahLst/>
                  <a:cxnLst>
                    <a:cxn ang="T6">
                      <a:pos x="T0" y="T1"/>
                    </a:cxn>
                    <a:cxn ang="T7">
                      <a:pos x="T2" y="T3"/>
                    </a:cxn>
                    <a:cxn ang="T8">
                      <a:pos x="T4" y="T5"/>
                    </a:cxn>
                  </a:cxnLst>
                  <a:rect l="T9" t="T10" r="T11" b="T12"/>
                  <a:pathLst>
                    <a:path w="55" h="129">
                      <a:moveTo>
                        <a:pt x="54" y="128"/>
                      </a:moveTo>
                      <a:lnTo>
                        <a:pt x="9" y="96"/>
                      </a:lnTo>
                      <a:lnTo>
                        <a:pt x="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63" name="Freeform 122"/>
                <p:cNvSpPr>
                  <a:spLocks/>
                </p:cNvSpPr>
                <p:nvPr/>
              </p:nvSpPr>
              <p:spPr bwMode="auto">
                <a:xfrm>
                  <a:off x="1192" y="1056"/>
                  <a:ext cx="55" cy="129"/>
                </a:xfrm>
                <a:custGeom>
                  <a:avLst/>
                  <a:gdLst>
                    <a:gd name="T0" fmla="*/ 54 w 55"/>
                    <a:gd name="T1" fmla="*/ 128 h 129"/>
                    <a:gd name="T2" fmla="*/ 9 w 55"/>
                    <a:gd name="T3" fmla="*/ 72 h 129"/>
                    <a:gd name="T4" fmla="*/ 0 w 55"/>
                    <a:gd name="T5" fmla="*/ 0 h 129"/>
                    <a:gd name="T6" fmla="*/ 0 60000 65536"/>
                    <a:gd name="T7" fmla="*/ 0 60000 65536"/>
                    <a:gd name="T8" fmla="*/ 0 60000 65536"/>
                    <a:gd name="T9" fmla="*/ 0 w 55"/>
                    <a:gd name="T10" fmla="*/ 0 h 129"/>
                    <a:gd name="T11" fmla="*/ 55 w 55"/>
                    <a:gd name="T12" fmla="*/ 129 h 129"/>
                  </a:gdLst>
                  <a:ahLst/>
                  <a:cxnLst>
                    <a:cxn ang="T6">
                      <a:pos x="T0" y="T1"/>
                    </a:cxn>
                    <a:cxn ang="T7">
                      <a:pos x="T2" y="T3"/>
                    </a:cxn>
                    <a:cxn ang="T8">
                      <a:pos x="T4" y="T5"/>
                    </a:cxn>
                  </a:cxnLst>
                  <a:rect l="T9" t="T10" r="T11" b="T12"/>
                  <a:pathLst>
                    <a:path w="55" h="129">
                      <a:moveTo>
                        <a:pt x="54" y="128"/>
                      </a:moveTo>
                      <a:lnTo>
                        <a:pt x="9" y="72"/>
                      </a:lnTo>
                      <a:lnTo>
                        <a:pt x="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64" name="Freeform 123"/>
                <p:cNvSpPr>
                  <a:spLocks/>
                </p:cNvSpPr>
                <p:nvPr/>
              </p:nvSpPr>
              <p:spPr bwMode="auto">
                <a:xfrm>
                  <a:off x="1246" y="1008"/>
                  <a:ext cx="127" cy="81"/>
                </a:xfrm>
                <a:custGeom>
                  <a:avLst/>
                  <a:gdLst>
                    <a:gd name="T0" fmla="*/ 0 w 127"/>
                    <a:gd name="T1" fmla="*/ 80 h 81"/>
                    <a:gd name="T2" fmla="*/ 18 w 127"/>
                    <a:gd name="T3" fmla="*/ 32 h 81"/>
                    <a:gd name="T4" fmla="*/ 126 w 127"/>
                    <a:gd name="T5" fmla="*/ 0 h 81"/>
                    <a:gd name="T6" fmla="*/ 0 60000 65536"/>
                    <a:gd name="T7" fmla="*/ 0 60000 65536"/>
                    <a:gd name="T8" fmla="*/ 0 60000 65536"/>
                    <a:gd name="T9" fmla="*/ 0 w 127"/>
                    <a:gd name="T10" fmla="*/ 0 h 81"/>
                    <a:gd name="T11" fmla="*/ 127 w 127"/>
                    <a:gd name="T12" fmla="*/ 81 h 81"/>
                  </a:gdLst>
                  <a:ahLst/>
                  <a:cxnLst>
                    <a:cxn ang="T6">
                      <a:pos x="T0" y="T1"/>
                    </a:cxn>
                    <a:cxn ang="T7">
                      <a:pos x="T2" y="T3"/>
                    </a:cxn>
                    <a:cxn ang="T8">
                      <a:pos x="T4" y="T5"/>
                    </a:cxn>
                  </a:cxnLst>
                  <a:rect l="T9" t="T10" r="T11" b="T12"/>
                  <a:pathLst>
                    <a:path w="127" h="81">
                      <a:moveTo>
                        <a:pt x="0" y="80"/>
                      </a:moveTo>
                      <a:lnTo>
                        <a:pt x="18" y="32"/>
                      </a:lnTo>
                      <a:lnTo>
                        <a:pt x="126"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65" name="Freeform 124"/>
                <p:cNvSpPr>
                  <a:spLocks/>
                </p:cNvSpPr>
                <p:nvPr/>
              </p:nvSpPr>
              <p:spPr bwMode="auto">
                <a:xfrm>
                  <a:off x="1246" y="1008"/>
                  <a:ext cx="127" cy="81"/>
                </a:xfrm>
                <a:custGeom>
                  <a:avLst/>
                  <a:gdLst>
                    <a:gd name="T0" fmla="*/ 0 w 127"/>
                    <a:gd name="T1" fmla="*/ 80 h 81"/>
                    <a:gd name="T2" fmla="*/ 36 w 127"/>
                    <a:gd name="T3" fmla="*/ 32 h 81"/>
                    <a:gd name="T4" fmla="*/ 126 w 127"/>
                    <a:gd name="T5" fmla="*/ 0 h 81"/>
                    <a:gd name="T6" fmla="*/ 0 60000 65536"/>
                    <a:gd name="T7" fmla="*/ 0 60000 65536"/>
                    <a:gd name="T8" fmla="*/ 0 60000 65536"/>
                    <a:gd name="T9" fmla="*/ 0 w 127"/>
                    <a:gd name="T10" fmla="*/ 0 h 81"/>
                    <a:gd name="T11" fmla="*/ 127 w 127"/>
                    <a:gd name="T12" fmla="*/ 81 h 81"/>
                  </a:gdLst>
                  <a:ahLst/>
                  <a:cxnLst>
                    <a:cxn ang="T6">
                      <a:pos x="T0" y="T1"/>
                    </a:cxn>
                    <a:cxn ang="T7">
                      <a:pos x="T2" y="T3"/>
                    </a:cxn>
                    <a:cxn ang="T8">
                      <a:pos x="T4" y="T5"/>
                    </a:cxn>
                  </a:cxnLst>
                  <a:rect l="T9" t="T10" r="T11" b="T12"/>
                  <a:pathLst>
                    <a:path w="127" h="81">
                      <a:moveTo>
                        <a:pt x="0" y="80"/>
                      </a:moveTo>
                      <a:lnTo>
                        <a:pt x="36" y="32"/>
                      </a:lnTo>
                      <a:lnTo>
                        <a:pt x="126"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66" name="Freeform 125"/>
                <p:cNvSpPr>
                  <a:spLocks/>
                </p:cNvSpPr>
                <p:nvPr/>
              </p:nvSpPr>
              <p:spPr bwMode="auto">
                <a:xfrm>
                  <a:off x="1309" y="1144"/>
                  <a:ext cx="19" cy="41"/>
                </a:xfrm>
                <a:custGeom>
                  <a:avLst/>
                  <a:gdLst>
                    <a:gd name="T0" fmla="*/ 0 w 19"/>
                    <a:gd name="T1" fmla="*/ 40 h 41"/>
                    <a:gd name="T2" fmla="*/ 0 w 19"/>
                    <a:gd name="T3" fmla="*/ 40 h 41"/>
                    <a:gd name="T4" fmla="*/ 18 w 19"/>
                    <a:gd name="T5" fmla="*/ 0 h 41"/>
                    <a:gd name="T6" fmla="*/ 0 60000 65536"/>
                    <a:gd name="T7" fmla="*/ 0 60000 65536"/>
                    <a:gd name="T8" fmla="*/ 0 60000 65536"/>
                    <a:gd name="T9" fmla="*/ 0 w 19"/>
                    <a:gd name="T10" fmla="*/ 0 h 41"/>
                    <a:gd name="T11" fmla="*/ 19 w 19"/>
                    <a:gd name="T12" fmla="*/ 41 h 41"/>
                  </a:gdLst>
                  <a:ahLst/>
                  <a:cxnLst>
                    <a:cxn ang="T6">
                      <a:pos x="T0" y="T1"/>
                    </a:cxn>
                    <a:cxn ang="T7">
                      <a:pos x="T2" y="T3"/>
                    </a:cxn>
                    <a:cxn ang="T8">
                      <a:pos x="T4" y="T5"/>
                    </a:cxn>
                  </a:cxnLst>
                  <a:rect l="T9" t="T10" r="T11" b="T12"/>
                  <a:pathLst>
                    <a:path w="19" h="41">
                      <a:moveTo>
                        <a:pt x="0" y="40"/>
                      </a:moveTo>
                      <a:lnTo>
                        <a:pt x="0" y="40"/>
                      </a:lnTo>
                      <a:lnTo>
                        <a:pt x="1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67" name="Line 126"/>
                <p:cNvSpPr>
                  <a:spLocks noChangeShapeType="1"/>
                </p:cNvSpPr>
                <p:nvPr/>
              </p:nvSpPr>
              <p:spPr bwMode="auto">
                <a:xfrm flipV="1">
                  <a:off x="1313" y="1140"/>
                  <a:ext cx="19" cy="56"/>
                </a:xfrm>
                <a:prstGeom prst="line">
                  <a:avLst/>
                </a:prstGeom>
                <a:noFill/>
                <a:ln w="12700">
                  <a:solidFill>
                    <a:srgbClr val="009900"/>
                  </a:solidFill>
                  <a:round/>
                  <a:headEnd/>
                  <a:tailEnd/>
                </a:ln>
              </p:spPr>
              <p:txBody>
                <a:bodyPr wrap="none" anchor="ctr"/>
                <a:lstStyle/>
                <a:p>
                  <a:endParaRPr lang="en-US"/>
                </a:p>
              </p:txBody>
            </p:sp>
            <p:sp>
              <p:nvSpPr>
                <p:cNvPr id="40568" name="Freeform 127"/>
                <p:cNvSpPr>
                  <a:spLocks/>
                </p:cNvSpPr>
                <p:nvPr/>
              </p:nvSpPr>
              <p:spPr bwMode="auto">
                <a:xfrm>
                  <a:off x="1327" y="1128"/>
                  <a:ext cx="118" cy="49"/>
                </a:xfrm>
                <a:custGeom>
                  <a:avLst/>
                  <a:gdLst>
                    <a:gd name="T0" fmla="*/ 0 w 118"/>
                    <a:gd name="T1" fmla="*/ 0 h 49"/>
                    <a:gd name="T2" fmla="*/ 54 w 118"/>
                    <a:gd name="T3" fmla="*/ 24 h 49"/>
                    <a:gd name="T4" fmla="*/ 117 w 118"/>
                    <a:gd name="T5" fmla="*/ 48 h 49"/>
                    <a:gd name="T6" fmla="*/ 0 60000 65536"/>
                    <a:gd name="T7" fmla="*/ 0 60000 65536"/>
                    <a:gd name="T8" fmla="*/ 0 60000 65536"/>
                    <a:gd name="T9" fmla="*/ 0 w 118"/>
                    <a:gd name="T10" fmla="*/ 0 h 49"/>
                    <a:gd name="T11" fmla="*/ 118 w 118"/>
                    <a:gd name="T12" fmla="*/ 49 h 49"/>
                  </a:gdLst>
                  <a:ahLst/>
                  <a:cxnLst>
                    <a:cxn ang="T6">
                      <a:pos x="T0" y="T1"/>
                    </a:cxn>
                    <a:cxn ang="T7">
                      <a:pos x="T2" y="T3"/>
                    </a:cxn>
                    <a:cxn ang="T8">
                      <a:pos x="T4" y="T5"/>
                    </a:cxn>
                  </a:cxnLst>
                  <a:rect l="T9" t="T10" r="T11" b="T12"/>
                  <a:pathLst>
                    <a:path w="118" h="49">
                      <a:moveTo>
                        <a:pt x="0" y="0"/>
                      </a:moveTo>
                      <a:lnTo>
                        <a:pt x="54" y="24"/>
                      </a:lnTo>
                      <a:lnTo>
                        <a:pt x="117" y="48"/>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69" name="Line 128"/>
                <p:cNvSpPr>
                  <a:spLocks noChangeShapeType="1"/>
                </p:cNvSpPr>
                <p:nvPr/>
              </p:nvSpPr>
              <p:spPr bwMode="auto">
                <a:xfrm>
                  <a:off x="1318" y="1142"/>
                  <a:ext cx="118" cy="48"/>
                </a:xfrm>
                <a:prstGeom prst="line">
                  <a:avLst/>
                </a:prstGeom>
                <a:noFill/>
                <a:ln w="12700">
                  <a:solidFill>
                    <a:srgbClr val="009900"/>
                  </a:solidFill>
                  <a:round/>
                  <a:headEnd/>
                  <a:tailEnd/>
                </a:ln>
              </p:spPr>
              <p:txBody>
                <a:bodyPr wrap="none" anchor="ctr"/>
                <a:lstStyle/>
                <a:p>
                  <a:endParaRPr lang="en-US"/>
                </a:p>
              </p:txBody>
            </p:sp>
            <p:sp>
              <p:nvSpPr>
                <p:cNvPr id="40570" name="Freeform 129"/>
                <p:cNvSpPr>
                  <a:spLocks/>
                </p:cNvSpPr>
                <p:nvPr/>
              </p:nvSpPr>
              <p:spPr bwMode="auto">
                <a:xfrm>
                  <a:off x="949" y="1048"/>
                  <a:ext cx="55" cy="129"/>
                </a:xfrm>
                <a:custGeom>
                  <a:avLst/>
                  <a:gdLst>
                    <a:gd name="T0" fmla="*/ 54 w 55"/>
                    <a:gd name="T1" fmla="*/ 128 h 129"/>
                    <a:gd name="T2" fmla="*/ 9 w 55"/>
                    <a:gd name="T3" fmla="*/ 96 h 129"/>
                    <a:gd name="T4" fmla="*/ 0 w 55"/>
                    <a:gd name="T5" fmla="*/ 0 h 129"/>
                    <a:gd name="T6" fmla="*/ 0 60000 65536"/>
                    <a:gd name="T7" fmla="*/ 0 60000 65536"/>
                    <a:gd name="T8" fmla="*/ 0 60000 65536"/>
                    <a:gd name="T9" fmla="*/ 0 w 55"/>
                    <a:gd name="T10" fmla="*/ 0 h 129"/>
                    <a:gd name="T11" fmla="*/ 55 w 55"/>
                    <a:gd name="T12" fmla="*/ 129 h 129"/>
                  </a:gdLst>
                  <a:ahLst/>
                  <a:cxnLst>
                    <a:cxn ang="T6">
                      <a:pos x="T0" y="T1"/>
                    </a:cxn>
                    <a:cxn ang="T7">
                      <a:pos x="T2" y="T3"/>
                    </a:cxn>
                    <a:cxn ang="T8">
                      <a:pos x="T4" y="T5"/>
                    </a:cxn>
                  </a:cxnLst>
                  <a:rect l="T9" t="T10" r="T11" b="T12"/>
                  <a:pathLst>
                    <a:path w="55" h="129">
                      <a:moveTo>
                        <a:pt x="54" y="128"/>
                      </a:moveTo>
                      <a:lnTo>
                        <a:pt x="9" y="96"/>
                      </a:lnTo>
                      <a:lnTo>
                        <a:pt x="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71" name="Freeform 130"/>
                <p:cNvSpPr>
                  <a:spLocks/>
                </p:cNvSpPr>
                <p:nvPr/>
              </p:nvSpPr>
              <p:spPr bwMode="auto">
                <a:xfrm>
                  <a:off x="949" y="1048"/>
                  <a:ext cx="55" cy="129"/>
                </a:xfrm>
                <a:custGeom>
                  <a:avLst/>
                  <a:gdLst>
                    <a:gd name="T0" fmla="*/ 54 w 55"/>
                    <a:gd name="T1" fmla="*/ 128 h 129"/>
                    <a:gd name="T2" fmla="*/ 9 w 55"/>
                    <a:gd name="T3" fmla="*/ 72 h 129"/>
                    <a:gd name="T4" fmla="*/ 0 w 55"/>
                    <a:gd name="T5" fmla="*/ 0 h 129"/>
                    <a:gd name="T6" fmla="*/ 0 60000 65536"/>
                    <a:gd name="T7" fmla="*/ 0 60000 65536"/>
                    <a:gd name="T8" fmla="*/ 0 60000 65536"/>
                    <a:gd name="T9" fmla="*/ 0 w 55"/>
                    <a:gd name="T10" fmla="*/ 0 h 129"/>
                    <a:gd name="T11" fmla="*/ 55 w 55"/>
                    <a:gd name="T12" fmla="*/ 129 h 129"/>
                  </a:gdLst>
                  <a:ahLst/>
                  <a:cxnLst>
                    <a:cxn ang="T6">
                      <a:pos x="T0" y="T1"/>
                    </a:cxn>
                    <a:cxn ang="T7">
                      <a:pos x="T2" y="T3"/>
                    </a:cxn>
                    <a:cxn ang="T8">
                      <a:pos x="T4" y="T5"/>
                    </a:cxn>
                  </a:cxnLst>
                  <a:rect l="T9" t="T10" r="T11" b="T12"/>
                  <a:pathLst>
                    <a:path w="55" h="129">
                      <a:moveTo>
                        <a:pt x="54" y="128"/>
                      </a:moveTo>
                      <a:lnTo>
                        <a:pt x="9" y="72"/>
                      </a:lnTo>
                      <a:lnTo>
                        <a:pt x="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72" name="Freeform 131"/>
                <p:cNvSpPr>
                  <a:spLocks/>
                </p:cNvSpPr>
                <p:nvPr/>
              </p:nvSpPr>
              <p:spPr bwMode="auto">
                <a:xfrm>
                  <a:off x="958" y="1088"/>
                  <a:ext cx="10" cy="49"/>
                </a:xfrm>
                <a:custGeom>
                  <a:avLst/>
                  <a:gdLst>
                    <a:gd name="T0" fmla="*/ 0 w 10"/>
                    <a:gd name="T1" fmla="*/ 48 h 49"/>
                    <a:gd name="T2" fmla="*/ 0 w 10"/>
                    <a:gd name="T3" fmla="*/ 48 h 49"/>
                    <a:gd name="T4" fmla="*/ 9 w 10"/>
                    <a:gd name="T5" fmla="*/ 0 h 49"/>
                    <a:gd name="T6" fmla="*/ 0 60000 65536"/>
                    <a:gd name="T7" fmla="*/ 0 60000 65536"/>
                    <a:gd name="T8" fmla="*/ 0 60000 65536"/>
                    <a:gd name="T9" fmla="*/ 0 w 10"/>
                    <a:gd name="T10" fmla="*/ 0 h 49"/>
                    <a:gd name="T11" fmla="*/ 10 w 10"/>
                    <a:gd name="T12" fmla="*/ 49 h 49"/>
                  </a:gdLst>
                  <a:ahLst/>
                  <a:cxnLst>
                    <a:cxn ang="T6">
                      <a:pos x="T0" y="T1"/>
                    </a:cxn>
                    <a:cxn ang="T7">
                      <a:pos x="T2" y="T3"/>
                    </a:cxn>
                    <a:cxn ang="T8">
                      <a:pos x="T4" y="T5"/>
                    </a:cxn>
                  </a:cxnLst>
                  <a:rect l="T9" t="T10" r="T11" b="T12"/>
                  <a:pathLst>
                    <a:path w="10" h="49">
                      <a:moveTo>
                        <a:pt x="0" y="48"/>
                      </a:moveTo>
                      <a:lnTo>
                        <a:pt x="0" y="48"/>
                      </a:lnTo>
                      <a:lnTo>
                        <a:pt x="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73" name="Line 132"/>
                <p:cNvSpPr>
                  <a:spLocks noChangeShapeType="1"/>
                </p:cNvSpPr>
                <p:nvPr/>
              </p:nvSpPr>
              <p:spPr bwMode="auto">
                <a:xfrm flipV="1">
                  <a:off x="1126" y="1177"/>
                  <a:ext cx="0" cy="56"/>
                </a:xfrm>
                <a:prstGeom prst="line">
                  <a:avLst/>
                </a:prstGeom>
                <a:noFill/>
                <a:ln w="12700">
                  <a:solidFill>
                    <a:srgbClr val="009900"/>
                  </a:solidFill>
                  <a:round/>
                  <a:headEnd/>
                  <a:tailEnd/>
                </a:ln>
              </p:spPr>
              <p:txBody>
                <a:bodyPr wrap="none" anchor="ctr"/>
                <a:lstStyle/>
                <a:p>
                  <a:endParaRPr lang="en-US"/>
                </a:p>
              </p:txBody>
            </p:sp>
            <p:sp>
              <p:nvSpPr>
                <p:cNvPr id="40574" name="Freeform 133"/>
                <p:cNvSpPr>
                  <a:spLocks/>
                </p:cNvSpPr>
                <p:nvPr/>
              </p:nvSpPr>
              <p:spPr bwMode="auto">
                <a:xfrm>
                  <a:off x="868" y="1000"/>
                  <a:ext cx="118" cy="57"/>
                </a:xfrm>
                <a:custGeom>
                  <a:avLst/>
                  <a:gdLst>
                    <a:gd name="T0" fmla="*/ 0 w 118"/>
                    <a:gd name="T1" fmla="*/ 0 h 57"/>
                    <a:gd name="T2" fmla="*/ 54 w 118"/>
                    <a:gd name="T3" fmla="*/ 24 h 57"/>
                    <a:gd name="T4" fmla="*/ 117 w 118"/>
                    <a:gd name="T5" fmla="*/ 56 h 57"/>
                    <a:gd name="T6" fmla="*/ 0 60000 65536"/>
                    <a:gd name="T7" fmla="*/ 0 60000 65536"/>
                    <a:gd name="T8" fmla="*/ 0 60000 65536"/>
                    <a:gd name="T9" fmla="*/ 0 w 118"/>
                    <a:gd name="T10" fmla="*/ 0 h 57"/>
                    <a:gd name="T11" fmla="*/ 118 w 118"/>
                    <a:gd name="T12" fmla="*/ 57 h 57"/>
                  </a:gdLst>
                  <a:ahLst/>
                  <a:cxnLst>
                    <a:cxn ang="T6">
                      <a:pos x="T0" y="T1"/>
                    </a:cxn>
                    <a:cxn ang="T7">
                      <a:pos x="T2" y="T3"/>
                    </a:cxn>
                    <a:cxn ang="T8">
                      <a:pos x="T4" y="T5"/>
                    </a:cxn>
                  </a:cxnLst>
                  <a:rect l="T9" t="T10" r="T11" b="T12"/>
                  <a:pathLst>
                    <a:path w="118" h="57">
                      <a:moveTo>
                        <a:pt x="0" y="0"/>
                      </a:moveTo>
                      <a:lnTo>
                        <a:pt x="54" y="24"/>
                      </a:lnTo>
                      <a:lnTo>
                        <a:pt x="117" y="56"/>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75" name="Line 134"/>
                <p:cNvSpPr>
                  <a:spLocks noChangeShapeType="1"/>
                </p:cNvSpPr>
                <p:nvPr/>
              </p:nvSpPr>
              <p:spPr bwMode="auto">
                <a:xfrm>
                  <a:off x="1031" y="1097"/>
                  <a:ext cx="117" cy="56"/>
                </a:xfrm>
                <a:prstGeom prst="line">
                  <a:avLst/>
                </a:prstGeom>
                <a:noFill/>
                <a:ln w="12700">
                  <a:solidFill>
                    <a:srgbClr val="009900"/>
                  </a:solidFill>
                  <a:round/>
                  <a:headEnd/>
                  <a:tailEnd/>
                </a:ln>
              </p:spPr>
              <p:txBody>
                <a:bodyPr wrap="none" anchor="ctr"/>
                <a:lstStyle/>
                <a:p>
                  <a:endParaRPr lang="en-US"/>
                </a:p>
              </p:txBody>
            </p:sp>
            <p:sp>
              <p:nvSpPr>
                <p:cNvPr id="40576" name="Freeform 135"/>
                <p:cNvSpPr>
                  <a:spLocks/>
                </p:cNvSpPr>
                <p:nvPr/>
              </p:nvSpPr>
              <p:spPr bwMode="auto">
                <a:xfrm>
                  <a:off x="1003" y="1000"/>
                  <a:ext cx="127" cy="81"/>
                </a:xfrm>
                <a:custGeom>
                  <a:avLst/>
                  <a:gdLst>
                    <a:gd name="T0" fmla="*/ 0 w 127"/>
                    <a:gd name="T1" fmla="*/ 80 h 81"/>
                    <a:gd name="T2" fmla="*/ 18 w 127"/>
                    <a:gd name="T3" fmla="*/ 32 h 81"/>
                    <a:gd name="T4" fmla="*/ 126 w 127"/>
                    <a:gd name="T5" fmla="*/ 0 h 81"/>
                    <a:gd name="T6" fmla="*/ 0 60000 65536"/>
                    <a:gd name="T7" fmla="*/ 0 60000 65536"/>
                    <a:gd name="T8" fmla="*/ 0 60000 65536"/>
                    <a:gd name="T9" fmla="*/ 0 w 127"/>
                    <a:gd name="T10" fmla="*/ 0 h 81"/>
                    <a:gd name="T11" fmla="*/ 127 w 127"/>
                    <a:gd name="T12" fmla="*/ 81 h 81"/>
                  </a:gdLst>
                  <a:ahLst/>
                  <a:cxnLst>
                    <a:cxn ang="T6">
                      <a:pos x="T0" y="T1"/>
                    </a:cxn>
                    <a:cxn ang="T7">
                      <a:pos x="T2" y="T3"/>
                    </a:cxn>
                    <a:cxn ang="T8">
                      <a:pos x="T4" y="T5"/>
                    </a:cxn>
                  </a:cxnLst>
                  <a:rect l="T9" t="T10" r="T11" b="T12"/>
                  <a:pathLst>
                    <a:path w="127" h="81">
                      <a:moveTo>
                        <a:pt x="0" y="80"/>
                      </a:moveTo>
                      <a:lnTo>
                        <a:pt x="18" y="32"/>
                      </a:lnTo>
                      <a:lnTo>
                        <a:pt x="126"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77" name="Freeform 136"/>
                <p:cNvSpPr>
                  <a:spLocks/>
                </p:cNvSpPr>
                <p:nvPr/>
              </p:nvSpPr>
              <p:spPr bwMode="auto">
                <a:xfrm>
                  <a:off x="1003" y="1000"/>
                  <a:ext cx="127" cy="81"/>
                </a:xfrm>
                <a:custGeom>
                  <a:avLst/>
                  <a:gdLst>
                    <a:gd name="T0" fmla="*/ 0 w 127"/>
                    <a:gd name="T1" fmla="*/ 80 h 81"/>
                    <a:gd name="T2" fmla="*/ 36 w 127"/>
                    <a:gd name="T3" fmla="*/ 32 h 81"/>
                    <a:gd name="T4" fmla="*/ 126 w 127"/>
                    <a:gd name="T5" fmla="*/ 0 h 81"/>
                    <a:gd name="T6" fmla="*/ 0 60000 65536"/>
                    <a:gd name="T7" fmla="*/ 0 60000 65536"/>
                    <a:gd name="T8" fmla="*/ 0 60000 65536"/>
                    <a:gd name="T9" fmla="*/ 0 w 127"/>
                    <a:gd name="T10" fmla="*/ 0 h 81"/>
                    <a:gd name="T11" fmla="*/ 127 w 127"/>
                    <a:gd name="T12" fmla="*/ 81 h 81"/>
                  </a:gdLst>
                  <a:ahLst/>
                  <a:cxnLst>
                    <a:cxn ang="T6">
                      <a:pos x="T0" y="T1"/>
                    </a:cxn>
                    <a:cxn ang="T7">
                      <a:pos x="T2" y="T3"/>
                    </a:cxn>
                    <a:cxn ang="T8">
                      <a:pos x="T4" y="T5"/>
                    </a:cxn>
                  </a:cxnLst>
                  <a:rect l="T9" t="T10" r="T11" b="T12"/>
                  <a:pathLst>
                    <a:path w="127" h="81">
                      <a:moveTo>
                        <a:pt x="0" y="80"/>
                      </a:moveTo>
                      <a:lnTo>
                        <a:pt x="36" y="32"/>
                      </a:lnTo>
                      <a:lnTo>
                        <a:pt x="126"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78" name="Freeform 137"/>
                <p:cNvSpPr>
                  <a:spLocks/>
                </p:cNvSpPr>
                <p:nvPr/>
              </p:nvSpPr>
              <p:spPr bwMode="auto">
                <a:xfrm>
                  <a:off x="1066" y="1136"/>
                  <a:ext cx="19" cy="41"/>
                </a:xfrm>
                <a:custGeom>
                  <a:avLst/>
                  <a:gdLst>
                    <a:gd name="T0" fmla="*/ 0 w 19"/>
                    <a:gd name="T1" fmla="*/ 40 h 41"/>
                    <a:gd name="T2" fmla="*/ 0 w 19"/>
                    <a:gd name="T3" fmla="*/ 40 h 41"/>
                    <a:gd name="T4" fmla="*/ 18 w 19"/>
                    <a:gd name="T5" fmla="*/ 0 h 41"/>
                    <a:gd name="T6" fmla="*/ 0 60000 65536"/>
                    <a:gd name="T7" fmla="*/ 0 60000 65536"/>
                    <a:gd name="T8" fmla="*/ 0 60000 65536"/>
                    <a:gd name="T9" fmla="*/ 0 w 19"/>
                    <a:gd name="T10" fmla="*/ 0 h 41"/>
                    <a:gd name="T11" fmla="*/ 19 w 19"/>
                    <a:gd name="T12" fmla="*/ 41 h 41"/>
                  </a:gdLst>
                  <a:ahLst/>
                  <a:cxnLst>
                    <a:cxn ang="T6">
                      <a:pos x="T0" y="T1"/>
                    </a:cxn>
                    <a:cxn ang="T7">
                      <a:pos x="T2" y="T3"/>
                    </a:cxn>
                    <a:cxn ang="T8">
                      <a:pos x="T4" y="T5"/>
                    </a:cxn>
                  </a:cxnLst>
                  <a:rect l="T9" t="T10" r="T11" b="T12"/>
                  <a:pathLst>
                    <a:path w="19" h="41">
                      <a:moveTo>
                        <a:pt x="0" y="40"/>
                      </a:moveTo>
                      <a:lnTo>
                        <a:pt x="0" y="40"/>
                      </a:lnTo>
                      <a:lnTo>
                        <a:pt x="1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79" name="Line 138"/>
                <p:cNvSpPr>
                  <a:spLocks noChangeShapeType="1"/>
                </p:cNvSpPr>
                <p:nvPr/>
              </p:nvSpPr>
              <p:spPr bwMode="auto">
                <a:xfrm flipV="1">
                  <a:off x="1070" y="1132"/>
                  <a:ext cx="19" cy="56"/>
                </a:xfrm>
                <a:prstGeom prst="line">
                  <a:avLst/>
                </a:prstGeom>
                <a:noFill/>
                <a:ln w="12700">
                  <a:solidFill>
                    <a:srgbClr val="009900"/>
                  </a:solidFill>
                  <a:round/>
                  <a:headEnd/>
                  <a:tailEnd/>
                </a:ln>
              </p:spPr>
              <p:txBody>
                <a:bodyPr wrap="none" anchor="ctr"/>
                <a:lstStyle/>
                <a:p>
                  <a:endParaRPr lang="en-US"/>
                </a:p>
              </p:txBody>
            </p:sp>
            <p:sp>
              <p:nvSpPr>
                <p:cNvPr id="40580" name="Freeform 139"/>
                <p:cNvSpPr>
                  <a:spLocks/>
                </p:cNvSpPr>
                <p:nvPr/>
              </p:nvSpPr>
              <p:spPr bwMode="auto">
                <a:xfrm>
                  <a:off x="769" y="1040"/>
                  <a:ext cx="46" cy="129"/>
                </a:xfrm>
                <a:custGeom>
                  <a:avLst/>
                  <a:gdLst>
                    <a:gd name="T0" fmla="*/ 45 w 46"/>
                    <a:gd name="T1" fmla="*/ 128 h 129"/>
                    <a:gd name="T2" fmla="*/ 0 w 46"/>
                    <a:gd name="T3" fmla="*/ 96 h 129"/>
                    <a:gd name="T4" fmla="*/ 0 w 46"/>
                    <a:gd name="T5" fmla="*/ 0 h 129"/>
                    <a:gd name="T6" fmla="*/ 0 60000 65536"/>
                    <a:gd name="T7" fmla="*/ 0 60000 65536"/>
                    <a:gd name="T8" fmla="*/ 0 60000 65536"/>
                    <a:gd name="T9" fmla="*/ 0 w 46"/>
                    <a:gd name="T10" fmla="*/ 0 h 129"/>
                    <a:gd name="T11" fmla="*/ 46 w 46"/>
                    <a:gd name="T12" fmla="*/ 129 h 129"/>
                  </a:gdLst>
                  <a:ahLst/>
                  <a:cxnLst>
                    <a:cxn ang="T6">
                      <a:pos x="T0" y="T1"/>
                    </a:cxn>
                    <a:cxn ang="T7">
                      <a:pos x="T2" y="T3"/>
                    </a:cxn>
                    <a:cxn ang="T8">
                      <a:pos x="T4" y="T5"/>
                    </a:cxn>
                  </a:cxnLst>
                  <a:rect l="T9" t="T10" r="T11" b="T12"/>
                  <a:pathLst>
                    <a:path w="46" h="129">
                      <a:moveTo>
                        <a:pt x="45" y="128"/>
                      </a:moveTo>
                      <a:lnTo>
                        <a:pt x="0" y="96"/>
                      </a:lnTo>
                      <a:lnTo>
                        <a:pt x="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81" name="Freeform 140"/>
                <p:cNvSpPr>
                  <a:spLocks/>
                </p:cNvSpPr>
                <p:nvPr/>
              </p:nvSpPr>
              <p:spPr bwMode="auto">
                <a:xfrm>
                  <a:off x="769" y="1040"/>
                  <a:ext cx="46" cy="129"/>
                </a:xfrm>
                <a:custGeom>
                  <a:avLst/>
                  <a:gdLst>
                    <a:gd name="T0" fmla="*/ 45 w 46"/>
                    <a:gd name="T1" fmla="*/ 128 h 129"/>
                    <a:gd name="T2" fmla="*/ 9 w 46"/>
                    <a:gd name="T3" fmla="*/ 80 h 129"/>
                    <a:gd name="T4" fmla="*/ 0 w 46"/>
                    <a:gd name="T5" fmla="*/ 0 h 129"/>
                    <a:gd name="T6" fmla="*/ 0 60000 65536"/>
                    <a:gd name="T7" fmla="*/ 0 60000 65536"/>
                    <a:gd name="T8" fmla="*/ 0 60000 65536"/>
                    <a:gd name="T9" fmla="*/ 0 w 46"/>
                    <a:gd name="T10" fmla="*/ 0 h 129"/>
                    <a:gd name="T11" fmla="*/ 46 w 46"/>
                    <a:gd name="T12" fmla="*/ 129 h 129"/>
                  </a:gdLst>
                  <a:ahLst/>
                  <a:cxnLst>
                    <a:cxn ang="T6">
                      <a:pos x="T0" y="T1"/>
                    </a:cxn>
                    <a:cxn ang="T7">
                      <a:pos x="T2" y="T3"/>
                    </a:cxn>
                    <a:cxn ang="T8">
                      <a:pos x="T4" y="T5"/>
                    </a:cxn>
                  </a:cxnLst>
                  <a:rect l="T9" t="T10" r="T11" b="T12"/>
                  <a:pathLst>
                    <a:path w="46" h="129">
                      <a:moveTo>
                        <a:pt x="45" y="128"/>
                      </a:moveTo>
                      <a:lnTo>
                        <a:pt x="9" y="80"/>
                      </a:lnTo>
                      <a:lnTo>
                        <a:pt x="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82" name="Freeform 141"/>
                <p:cNvSpPr>
                  <a:spLocks/>
                </p:cNvSpPr>
                <p:nvPr/>
              </p:nvSpPr>
              <p:spPr bwMode="auto">
                <a:xfrm>
                  <a:off x="769" y="1088"/>
                  <a:ext cx="19" cy="41"/>
                </a:xfrm>
                <a:custGeom>
                  <a:avLst/>
                  <a:gdLst>
                    <a:gd name="T0" fmla="*/ 0 w 19"/>
                    <a:gd name="T1" fmla="*/ 40 h 41"/>
                    <a:gd name="T2" fmla="*/ 0 w 19"/>
                    <a:gd name="T3" fmla="*/ 40 h 41"/>
                    <a:gd name="T4" fmla="*/ 18 w 19"/>
                    <a:gd name="T5" fmla="*/ 0 h 41"/>
                    <a:gd name="T6" fmla="*/ 0 60000 65536"/>
                    <a:gd name="T7" fmla="*/ 0 60000 65536"/>
                    <a:gd name="T8" fmla="*/ 0 60000 65536"/>
                    <a:gd name="T9" fmla="*/ 0 w 19"/>
                    <a:gd name="T10" fmla="*/ 0 h 41"/>
                    <a:gd name="T11" fmla="*/ 19 w 19"/>
                    <a:gd name="T12" fmla="*/ 41 h 41"/>
                  </a:gdLst>
                  <a:ahLst/>
                  <a:cxnLst>
                    <a:cxn ang="T6">
                      <a:pos x="T0" y="T1"/>
                    </a:cxn>
                    <a:cxn ang="T7">
                      <a:pos x="T2" y="T3"/>
                    </a:cxn>
                    <a:cxn ang="T8">
                      <a:pos x="T4" y="T5"/>
                    </a:cxn>
                  </a:cxnLst>
                  <a:rect l="T9" t="T10" r="T11" b="T12"/>
                  <a:pathLst>
                    <a:path w="19" h="41">
                      <a:moveTo>
                        <a:pt x="0" y="40"/>
                      </a:moveTo>
                      <a:lnTo>
                        <a:pt x="0" y="40"/>
                      </a:lnTo>
                      <a:lnTo>
                        <a:pt x="1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83" name="Line 142"/>
                <p:cNvSpPr>
                  <a:spLocks noChangeShapeType="1"/>
                </p:cNvSpPr>
                <p:nvPr/>
              </p:nvSpPr>
              <p:spPr bwMode="auto">
                <a:xfrm flipV="1">
                  <a:off x="773" y="1084"/>
                  <a:ext cx="19" cy="56"/>
                </a:xfrm>
                <a:prstGeom prst="line">
                  <a:avLst/>
                </a:prstGeom>
                <a:noFill/>
                <a:ln w="12700">
                  <a:solidFill>
                    <a:srgbClr val="009900"/>
                  </a:solidFill>
                  <a:round/>
                  <a:headEnd/>
                  <a:tailEnd/>
                </a:ln>
              </p:spPr>
              <p:txBody>
                <a:bodyPr wrap="none" anchor="ctr"/>
                <a:lstStyle/>
                <a:p>
                  <a:endParaRPr lang="en-US"/>
                </a:p>
              </p:txBody>
            </p:sp>
            <p:sp>
              <p:nvSpPr>
                <p:cNvPr id="40584" name="Freeform 143"/>
                <p:cNvSpPr>
                  <a:spLocks/>
                </p:cNvSpPr>
                <p:nvPr/>
              </p:nvSpPr>
              <p:spPr bwMode="auto">
                <a:xfrm>
                  <a:off x="688" y="1000"/>
                  <a:ext cx="109" cy="49"/>
                </a:xfrm>
                <a:custGeom>
                  <a:avLst/>
                  <a:gdLst>
                    <a:gd name="T0" fmla="*/ 0 w 109"/>
                    <a:gd name="T1" fmla="*/ 0 h 49"/>
                    <a:gd name="T2" fmla="*/ 45 w 109"/>
                    <a:gd name="T3" fmla="*/ 24 h 49"/>
                    <a:gd name="T4" fmla="*/ 108 w 109"/>
                    <a:gd name="T5" fmla="*/ 48 h 49"/>
                    <a:gd name="T6" fmla="*/ 0 60000 65536"/>
                    <a:gd name="T7" fmla="*/ 0 60000 65536"/>
                    <a:gd name="T8" fmla="*/ 0 60000 65536"/>
                    <a:gd name="T9" fmla="*/ 0 w 109"/>
                    <a:gd name="T10" fmla="*/ 0 h 49"/>
                    <a:gd name="T11" fmla="*/ 109 w 109"/>
                    <a:gd name="T12" fmla="*/ 49 h 49"/>
                  </a:gdLst>
                  <a:ahLst/>
                  <a:cxnLst>
                    <a:cxn ang="T6">
                      <a:pos x="T0" y="T1"/>
                    </a:cxn>
                    <a:cxn ang="T7">
                      <a:pos x="T2" y="T3"/>
                    </a:cxn>
                    <a:cxn ang="T8">
                      <a:pos x="T4" y="T5"/>
                    </a:cxn>
                  </a:cxnLst>
                  <a:rect l="T9" t="T10" r="T11" b="T12"/>
                  <a:pathLst>
                    <a:path w="109" h="49">
                      <a:moveTo>
                        <a:pt x="0" y="0"/>
                      </a:moveTo>
                      <a:lnTo>
                        <a:pt x="45" y="24"/>
                      </a:lnTo>
                      <a:lnTo>
                        <a:pt x="108" y="48"/>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85" name="Freeform 144"/>
                <p:cNvSpPr>
                  <a:spLocks/>
                </p:cNvSpPr>
                <p:nvPr/>
              </p:nvSpPr>
              <p:spPr bwMode="auto">
                <a:xfrm>
                  <a:off x="688" y="1000"/>
                  <a:ext cx="109" cy="49"/>
                </a:xfrm>
                <a:custGeom>
                  <a:avLst/>
                  <a:gdLst>
                    <a:gd name="T0" fmla="*/ 0 w 109"/>
                    <a:gd name="T1" fmla="*/ 0 h 49"/>
                    <a:gd name="T2" fmla="*/ 45 w 109"/>
                    <a:gd name="T3" fmla="*/ 24 h 49"/>
                    <a:gd name="T4" fmla="*/ 108 w 109"/>
                    <a:gd name="T5" fmla="*/ 48 h 49"/>
                    <a:gd name="T6" fmla="*/ 0 60000 65536"/>
                    <a:gd name="T7" fmla="*/ 0 60000 65536"/>
                    <a:gd name="T8" fmla="*/ 0 60000 65536"/>
                    <a:gd name="T9" fmla="*/ 0 w 109"/>
                    <a:gd name="T10" fmla="*/ 0 h 49"/>
                    <a:gd name="T11" fmla="*/ 109 w 109"/>
                    <a:gd name="T12" fmla="*/ 49 h 49"/>
                  </a:gdLst>
                  <a:ahLst/>
                  <a:cxnLst>
                    <a:cxn ang="T6">
                      <a:pos x="T0" y="T1"/>
                    </a:cxn>
                    <a:cxn ang="T7">
                      <a:pos x="T2" y="T3"/>
                    </a:cxn>
                    <a:cxn ang="T8">
                      <a:pos x="T4" y="T5"/>
                    </a:cxn>
                  </a:cxnLst>
                  <a:rect l="T9" t="T10" r="T11" b="T12"/>
                  <a:pathLst>
                    <a:path w="109" h="49">
                      <a:moveTo>
                        <a:pt x="0" y="0"/>
                      </a:moveTo>
                      <a:lnTo>
                        <a:pt x="45" y="24"/>
                      </a:lnTo>
                      <a:lnTo>
                        <a:pt x="108" y="48"/>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86" name="Freeform 145"/>
                <p:cNvSpPr>
                  <a:spLocks/>
                </p:cNvSpPr>
                <p:nvPr/>
              </p:nvSpPr>
              <p:spPr bwMode="auto">
                <a:xfrm>
                  <a:off x="814" y="1000"/>
                  <a:ext cx="127" cy="73"/>
                </a:xfrm>
                <a:custGeom>
                  <a:avLst/>
                  <a:gdLst>
                    <a:gd name="T0" fmla="*/ 0 w 127"/>
                    <a:gd name="T1" fmla="*/ 72 h 73"/>
                    <a:gd name="T2" fmla="*/ 27 w 127"/>
                    <a:gd name="T3" fmla="*/ 24 h 73"/>
                    <a:gd name="T4" fmla="*/ 126 w 127"/>
                    <a:gd name="T5" fmla="*/ 0 h 73"/>
                    <a:gd name="T6" fmla="*/ 0 60000 65536"/>
                    <a:gd name="T7" fmla="*/ 0 60000 65536"/>
                    <a:gd name="T8" fmla="*/ 0 60000 65536"/>
                    <a:gd name="T9" fmla="*/ 0 w 127"/>
                    <a:gd name="T10" fmla="*/ 0 h 73"/>
                    <a:gd name="T11" fmla="*/ 127 w 127"/>
                    <a:gd name="T12" fmla="*/ 73 h 73"/>
                  </a:gdLst>
                  <a:ahLst/>
                  <a:cxnLst>
                    <a:cxn ang="T6">
                      <a:pos x="T0" y="T1"/>
                    </a:cxn>
                    <a:cxn ang="T7">
                      <a:pos x="T2" y="T3"/>
                    </a:cxn>
                    <a:cxn ang="T8">
                      <a:pos x="T4" y="T5"/>
                    </a:cxn>
                  </a:cxnLst>
                  <a:rect l="T9" t="T10" r="T11" b="T12"/>
                  <a:pathLst>
                    <a:path w="127" h="73">
                      <a:moveTo>
                        <a:pt x="0" y="72"/>
                      </a:moveTo>
                      <a:lnTo>
                        <a:pt x="27" y="24"/>
                      </a:lnTo>
                      <a:lnTo>
                        <a:pt x="126"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87" name="Freeform 146"/>
                <p:cNvSpPr>
                  <a:spLocks/>
                </p:cNvSpPr>
                <p:nvPr/>
              </p:nvSpPr>
              <p:spPr bwMode="auto">
                <a:xfrm>
                  <a:off x="814" y="1000"/>
                  <a:ext cx="127" cy="73"/>
                </a:xfrm>
                <a:custGeom>
                  <a:avLst/>
                  <a:gdLst>
                    <a:gd name="T0" fmla="*/ 0 w 127"/>
                    <a:gd name="T1" fmla="*/ 72 h 73"/>
                    <a:gd name="T2" fmla="*/ 45 w 127"/>
                    <a:gd name="T3" fmla="*/ 24 h 73"/>
                    <a:gd name="T4" fmla="*/ 126 w 127"/>
                    <a:gd name="T5" fmla="*/ 0 h 73"/>
                    <a:gd name="T6" fmla="*/ 0 60000 65536"/>
                    <a:gd name="T7" fmla="*/ 0 60000 65536"/>
                    <a:gd name="T8" fmla="*/ 0 60000 65536"/>
                    <a:gd name="T9" fmla="*/ 0 w 127"/>
                    <a:gd name="T10" fmla="*/ 0 h 73"/>
                    <a:gd name="T11" fmla="*/ 127 w 127"/>
                    <a:gd name="T12" fmla="*/ 73 h 73"/>
                  </a:gdLst>
                  <a:ahLst/>
                  <a:cxnLst>
                    <a:cxn ang="T6">
                      <a:pos x="T0" y="T1"/>
                    </a:cxn>
                    <a:cxn ang="T7">
                      <a:pos x="T2" y="T3"/>
                    </a:cxn>
                    <a:cxn ang="T8">
                      <a:pos x="T4" y="T5"/>
                    </a:cxn>
                  </a:cxnLst>
                  <a:rect l="T9" t="T10" r="T11" b="T12"/>
                  <a:pathLst>
                    <a:path w="127" h="73">
                      <a:moveTo>
                        <a:pt x="0" y="72"/>
                      </a:moveTo>
                      <a:lnTo>
                        <a:pt x="45" y="24"/>
                      </a:lnTo>
                      <a:lnTo>
                        <a:pt x="126"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88" name="Freeform 147"/>
                <p:cNvSpPr>
                  <a:spLocks/>
                </p:cNvSpPr>
                <p:nvPr/>
              </p:nvSpPr>
              <p:spPr bwMode="auto">
                <a:xfrm>
                  <a:off x="886" y="1128"/>
                  <a:ext cx="10" cy="41"/>
                </a:xfrm>
                <a:custGeom>
                  <a:avLst/>
                  <a:gdLst>
                    <a:gd name="T0" fmla="*/ 0 w 10"/>
                    <a:gd name="T1" fmla="*/ 40 h 41"/>
                    <a:gd name="T2" fmla="*/ 0 w 10"/>
                    <a:gd name="T3" fmla="*/ 40 h 41"/>
                    <a:gd name="T4" fmla="*/ 9 w 10"/>
                    <a:gd name="T5" fmla="*/ 0 h 41"/>
                    <a:gd name="T6" fmla="*/ 0 60000 65536"/>
                    <a:gd name="T7" fmla="*/ 0 60000 65536"/>
                    <a:gd name="T8" fmla="*/ 0 60000 65536"/>
                    <a:gd name="T9" fmla="*/ 0 w 10"/>
                    <a:gd name="T10" fmla="*/ 0 h 41"/>
                    <a:gd name="T11" fmla="*/ 10 w 10"/>
                    <a:gd name="T12" fmla="*/ 41 h 41"/>
                  </a:gdLst>
                  <a:ahLst/>
                  <a:cxnLst>
                    <a:cxn ang="T6">
                      <a:pos x="T0" y="T1"/>
                    </a:cxn>
                    <a:cxn ang="T7">
                      <a:pos x="T2" y="T3"/>
                    </a:cxn>
                    <a:cxn ang="T8">
                      <a:pos x="T4" y="T5"/>
                    </a:cxn>
                  </a:cxnLst>
                  <a:rect l="T9" t="T10" r="T11" b="T12"/>
                  <a:pathLst>
                    <a:path w="10" h="41">
                      <a:moveTo>
                        <a:pt x="0" y="40"/>
                      </a:moveTo>
                      <a:lnTo>
                        <a:pt x="0" y="40"/>
                      </a:lnTo>
                      <a:lnTo>
                        <a:pt x="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89" name="Line 148"/>
                <p:cNvSpPr>
                  <a:spLocks noChangeShapeType="1"/>
                </p:cNvSpPr>
                <p:nvPr/>
              </p:nvSpPr>
              <p:spPr bwMode="auto">
                <a:xfrm flipV="1">
                  <a:off x="895" y="1124"/>
                  <a:ext cx="1" cy="48"/>
                </a:xfrm>
                <a:prstGeom prst="line">
                  <a:avLst/>
                </a:prstGeom>
                <a:noFill/>
                <a:ln w="12700">
                  <a:solidFill>
                    <a:srgbClr val="009900"/>
                  </a:solidFill>
                  <a:round/>
                  <a:headEnd/>
                  <a:tailEnd/>
                </a:ln>
              </p:spPr>
              <p:txBody>
                <a:bodyPr wrap="none" anchor="ctr"/>
                <a:lstStyle/>
                <a:p>
                  <a:endParaRPr lang="en-US"/>
                </a:p>
              </p:txBody>
            </p:sp>
            <p:sp>
              <p:nvSpPr>
                <p:cNvPr id="40590" name="Freeform 149"/>
                <p:cNvSpPr>
                  <a:spLocks/>
                </p:cNvSpPr>
                <p:nvPr/>
              </p:nvSpPr>
              <p:spPr bwMode="auto">
                <a:xfrm>
                  <a:off x="904" y="1120"/>
                  <a:ext cx="109" cy="49"/>
                </a:xfrm>
                <a:custGeom>
                  <a:avLst/>
                  <a:gdLst>
                    <a:gd name="T0" fmla="*/ 0 w 109"/>
                    <a:gd name="T1" fmla="*/ 0 h 49"/>
                    <a:gd name="T2" fmla="*/ 45 w 109"/>
                    <a:gd name="T3" fmla="*/ 16 h 49"/>
                    <a:gd name="T4" fmla="*/ 108 w 109"/>
                    <a:gd name="T5" fmla="*/ 48 h 49"/>
                    <a:gd name="T6" fmla="*/ 0 60000 65536"/>
                    <a:gd name="T7" fmla="*/ 0 60000 65536"/>
                    <a:gd name="T8" fmla="*/ 0 60000 65536"/>
                    <a:gd name="T9" fmla="*/ 0 w 109"/>
                    <a:gd name="T10" fmla="*/ 0 h 49"/>
                    <a:gd name="T11" fmla="*/ 109 w 109"/>
                    <a:gd name="T12" fmla="*/ 49 h 49"/>
                  </a:gdLst>
                  <a:ahLst/>
                  <a:cxnLst>
                    <a:cxn ang="T6">
                      <a:pos x="T0" y="T1"/>
                    </a:cxn>
                    <a:cxn ang="T7">
                      <a:pos x="T2" y="T3"/>
                    </a:cxn>
                    <a:cxn ang="T8">
                      <a:pos x="T4" y="T5"/>
                    </a:cxn>
                  </a:cxnLst>
                  <a:rect l="T9" t="T10" r="T11" b="T12"/>
                  <a:pathLst>
                    <a:path w="109" h="49">
                      <a:moveTo>
                        <a:pt x="0" y="0"/>
                      </a:moveTo>
                      <a:lnTo>
                        <a:pt x="45" y="16"/>
                      </a:lnTo>
                      <a:lnTo>
                        <a:pt x="108" y="48"/>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91" name="Freeform 150"/>
                <p:cNvSpPr>
                  <a:spLocks/>
                </p:cNvSpPr>
                <p:nvPr/>
              </p:nvSpPr>
              <p:spPr bwMode="auto">
                <a:xfrm>
                  <a:off x="904" y="1120"/>
                  <a:ext cx="109" cy="49"/>
                </a:xfrm>
                <a:custGeom>
                  <a:avLst/>
                  <a:gdLst>
                    <a:gd name="T0" fmla="*/ 0 w 109"/>
                    <a:gd name="T1" fmla="*/ 0 h 49"/>
                    <a:gd name="T2" fmla="*/ 45 w 109"/>
                    <a:gd name="T3" fmla="*/ 16 h 49"/>
                    <a:gd name="T4" fmla="*/ 108 w 109"/>
                    <a:gd name="T5" fmla="*/ 48 h 49"/>
                    <a:gd name="T6" fmla="*/ 0 60000 65536"/>
                    <a:gd name="T7" fmla="*/ 0 60000 65536"/>
                    <a:gd name="T8" fmla="*/ 0 60000 65536"/>
                    <a:gd name="T9" fmla="*/ 0 w 109"/>
                    <a:gd name="T10" fmla="*/ 0 h 49"/>
                    <a:gd name="T11" fmla="*/ 109 w 109"/>
                    <a:gd name="T12" fmla="*/ 49 h 49"/>
                  </a:gdLst>
                  <a:ahLst/>
                  <a:cxnLst>
                    <a:cxn ang="T6">
                      <a:pos x="T0" y="T1"/>
                    </a:cxn>
                    <a:cxn ang="T7">
                      <a:pos x="T2" y="T3"/>
                    </a:cxn>
                    <a:cxn ang="T8">
                      <a:pos x="T4" y="T5"/>
                    </a:cxn>
                  </a:cxnLst>
                  <a:rect l="T9" t="T10" r="T11" b="T12"/>
                  <a:pathLst>
                    <a:path w="109" h="49">
                      <a:moveTo>
                        <a:pt x="0" y="0"/>
                      </a:moveTo>
                      <a:lnTo>
                        <a:pt x="45" y="16"/>
                      </a:lnTo>
                      <a:lnTo>
                        <a:pt x="108" y="48"/>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92" name="Freeform 151"/>
                <p:cNvSpPr>
                  <a:spLocks/>
                </p:cNvSpPr>
                <p:nvPr/>
              </p:nvSpPr>
              <p:spPr bwMode="auto">
                <a:xfrm>
                  <a:off x="769" y="1256"/>
                  <a:ext cx="55" cy="137"/>
                </a:xfrm>
                <a:custGeom>
                  <a:avLst/>
                  <a:gdLst>
                    <a:gd name="T0" fmla="*/ 54 w 55"/>
                    <a:gd name="T1" fmla="*/ 136 h 137"/>
                    <a:gd name="T2" fmla="*/ 18 w 55"/>
                    <a:gd name="T3" fmla="*/ 104 h 137"/>
                    <a:gd name="T4" fmla="*/ 0 w 55"/>
                    <a:gd name="T5" fmla="*/ 0 h 137"/>
                    <a:gd name="T6" fmla="*/ 0 60000 65536"/>
                    <a:gd name="T7" fmla="*/ 0 60000 65536"/>
                    <a:gd name="T8" fmla="*/ 0 60000 65536"/>
                    <a:gd name="T9" fmla="*/ 0 w 55"/>
                    <a:gd name="T10" fmla="*/ 0 h 137"/>
                    <a:gd name="T11" fmla="*/ 55 w 55"/>
                    <a:gd name="T12" fmla="*/ 137 h 137"/>
                  </a:gdLst>
                  <a:ahLst/>
                  <a:cxnLst>
                    <a:cxn ang="T6">
                      <a:pos x="T0" y="T1"/>
                    </a:cxn>
                    <a:cxn ang="T7">
                      <a:pos x="T2" y="T3"/>
                    </a:cxn>
                    <a:cxn ang="T8">
                      <a:pos x="T4" y="T5"/>
                    </a:cxn>
                  </a:cxnLst>
                  <a:rect l="T9" t="T10" r="T11" b="T12"/>
                  <a:pathLst>
                    <a:path w="55" h="137">
                      <a:moveTo>
                        <a:pt x="54" y="136"/>
                      </a:moveTo>
                      <a:lnTo>
                        <a:pt x="18" y="104"/>
                      </a:lnTo>
                      <a:lnTo>
                        <a:pt x="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93" name="Freeform 152"/>
                <p:cNvSpPr>
                  <a:spLocks/>
                </p:cNvSpPr>
                <p:nvPr/>
              </p:nvSpPr>
              <p:spPr bwMode="auto">
                <a:xfrm>
                  <a:off x="769" y="1256"/>
                  <a:ext cx="55" cy="137"/>
                </a:xfrm>
                <a:custGeom>
                  <a:avLst/>
                  <a:gdLst>
                    <a:gd name="T0" fmla="*/ 54 w 55"/>
                    <a:gd name="T1" fmla="*/ 136 h 137"/>
                    <a:gd name="T2" fmla="*/ 18 w 55"/>
                    <a:gd name="T3" fmla="*/ 80 h 137"/>
                    <a:gd name="T4" fmla="*/ 0 w 55"/>
                    <a:gd name="T5" fmla="*/ 0 h 137"/>
                    <a:gd name="T6" fmla="*/ 0 60000 65536"/>
                    <a:gd name="T7" fmla="*/ 0 60000 65536"/>
                    <a:gd name="T8" fmla="*/ 0 60000 65536"/>
                    <a:gd name="T9" fmla="*/ 0 w 55"/>
                    <a:gd name="T10" fmla="*/ 0 h 137"/>
                    <a:gd name="T11" fmla="*/ 55 w 55"/>
                    <a:gd name="T12" fmla="*/ 137 h 137"/>
                  </a:gdLst>
                  <a:ahLst/>
                  <a:cxnLst>
                    <a:cxn ang="T6">
                      <a:pos x="T0" y="T1"/>
                    </a:cxn>
                    <a:cxn ang="T7">
                      <a:pos x="T2" y="T3"/>
                    </a:cxn>
                    <a:cxn ang="T8">
                      <a:pos x="T4" y="T5"/>
                    </a:cxn>
                  </a:cxnLst>
                  <a:rect l="T9" t="T10" r="T11" b="T12"/>
                  <a:pathLst>
                    <a:path w="55" h="137">
                      <a:moveTo>
                        <a:pt x="54" y="136"/>
                      </a:moveTo>
                      <a:lnTo>
                        <a:pt x="18" y="80"/>
                      </a:lnTo>
                      <a:lnTo>
                        <a:pt x="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94" name="Freeform 153"/>
                <p:cNvSpPr>
                  <a:spLocks/>
                </p:cNvSpPr>
                <p:nvPr/>
              </p:nvSpPr>
              <p:spPr bwMode="auto">
                <a:xfrm>
                  <a:off x="927" y="1181"/>
                  <a:ext cx="20" cy="41"/>
                </a:xfrm>
                <a:custGeom>
                  <a:avLst/>
                  <a:gdLst>
                    <a:gd name="T0" fmla="*/ 0 w 20"/>
                    <a:gd name="T1" fmla="*/ 40 h 41"/>
                    <a:gd name="T2" fmla="*/ 0 w 20"/>
                    <a:gd name="T3" fmla="*/ 40 h 41"/>
                    <a:gd name="T4" fmla="*/ 19 w 20"/>
                    <a:gd name="T5" fmla="*/ 0 h 41"/>
                    <a:gd name="T6" fmla="*/ 0 60000 65536"/>
                    <a:gd name="T7" fmla="*/ 0 60000 65536"/>
                    <a:gd name="T8" fmla="*/ 0 60000 65536"/>
                    <a:gd name="T9" fmla="*/ 0 w 20"/>
                    <a:gd name="T10" fmla="*/ 0 h 41"/>
                    <a:gd name="T11" fmla="*/ 20 w 20"/>
                    <a:gd name="T12" fmla="*/ 41 h 41"/>
                  </a:gdLst>
                  <a:ahLst/>
                  <a:cxnLst>
                    <a:cxn ang="T6">
                      <a:pos x="T0" y="T1"/>
                    </a:cxn>
                    <a:cxn ang="T7">
                      <a:pos x="T2" y="T3"/>
                    </a:cxn>
                    <a:cxn ang="T8">
                      <a:pos x="T4" y="T5"/>
                    </a:cxn>
                  </a:cxnLst>
                  <a:rect l="T9" t="T10" r="T11" b="T12"/>
                  <a:pathLst>
                    <a:path w="20" h="41">
                      <a:moveTo>
                        <a:pt x="0" y="40"/>
                      </a:moveTo>
                      <a:lnTo>
                        <a:pt x="0" y="40"/>
                      </a:lnTo>
                      <a:lnTo>
                        <a:pt x="1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95" name="Line 154"/>
                <p:cNvSpPr>
                  <a:spLocks noChangeShapeType="1"/>
                </p:cNvSpPr>
                <p:nvPr/>
              </p:nvSpPr>
              <p:spPr bwMode="auto">
                <a:xfrm flipV="1">
                  <a:off x="773" y="1084"/>
                  <a:ext cx="19" cy="56"/>
                </a:xfrm>
                <a:prstGeom prst="line">
                  <a:avLst/>
                </a:prstGeom>
                <a:noFill/>
                <a:ln w="12700">
                  <a:solidFill>
                    <a:srgbClr val="009900"/>
                  </a:solidFill>
                  <a:round/>
                  <a:headEnd/>
                  <a:tailEnd/>
                </a:ln>
              </p:spPr>
              <p:txBody>
                <a:bodyPr wrap="none" anchor="ctr"/>
                <a:lstStyle/>
                <a:p>
                  <a:endParaRPr lang="en-US"/>
                </a:p>
              </p:txBody>
            </p:sp>
            <p:sp>
              <p:nvSpPr>
                <p:cNvPr id="40596" name="Freeform 155"/>
                <p:cNvSpPr>
                  <a:spLocks/>
                </p:cNvSpPr>
                <p:nvPr/>
              </p:nvSpPr>
              <p:spPr bwMode="auto">
                <a:xfrm>
                  <a:off x="688" y="1000"/>
                  <a:ext cx="109" cy="49"/>
                </a:xfrm>
                <a:custGeom>
                  <a:avLst/>
                  <a:gdLst>
                    <a:gd name="T0" fmla="*/ 0 w 109"/>
                    <a:gd name="T1" fmla="*/ 0 h 49"/>
                    <a:gd name="T2" fmla="*/ 45 w 109"/>
                    <a:gd name="T3" fmla="*/ 24 h 49"/>
                    <a:gd name="T4" fmla="*/ 108 w 109"/>
                    <a:gd name="T5" fmla="*/ 48 h 49"/>
                    <a:gd name="T6" fmla="*/ 0 60000 65536"/>
                    <a:gd name="T7" fmla="*/ 0 60000 65536"/>
                    <a:gd name="T8" fmla="*/ 0 60000 65536"/>
                    <a:gd name="T9" fmla="*/ 0 w 109"/>
                    <a:gd name="T10" fmla="*/ 0 h 49"/>
                    <a:gd name="T11" fmla="*/ 109 w 109"/>
                    <a:gd name="T12" fmla="*/ 49 h 49"/>
                  </a:gdLst>
                  <a:ahLst/>
                  <a:cxnLst>
                    <a:cxn ang="T6">
                      <a:pos x="T0" y="T1"/>
                    </a:cxn>
                    <a:cxn ang="T7">
                      <a:pos x="T2" y="T3"/>
                    </a:cxn>
                    <a:cxn ang="T8">
                      <a:pos x="T4" y="T5"/>
                    </a:cxn>
                  </a:cxnLst>
                  <a:rect l="T9" t="T10" r="T11" b="T12"/>
                  <a:pathLst>
                    <a:path w="109" h="49">
                      <a:moveTo>
                        <a:pt x="0" y="0"/>
                      </a:moveTo>
                      <a:lnTo>
                        <a:pt x="45" y="24"/>
                      </a:lnTo>
                      <a:lnTo>
                        <a:pt x="108" y="48"/>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97" name="Freeform 156"/>
                <p:cNvSpPr>
                  <a:spLocks/>
                </p:cNvSpPr>
                <p:nvPr/>
              </p:nvSpPr>
              <p:spPr bwMode="auto">
                <a:xfrm>
                  <a:off x="688" y="1000"/>
                  <a:ext cx="109" cy="49"/>
                </a:xfrm>
                <a:custGeom>
                  <a:avLst/>
                  <a:gdLst>
                    <a:gd name="T0" fmla="*/ 0 w 109"/>
                    <a:gd name="T1" fmla="*/ 0 h 49"/>
                    <a:gd name="T2" fmla="*/ 45 w 109"/>
                    <a:gd name="T3" fmla="*/ 24 h 49"/>
                    <a:gd name="T4" fmla="*/ 108 w 109"/>
                    <a:gd name="T5" fmla="*/ 48 h 49"/>
                    <a:gd name="T6" fmla="*/ 0 60000 65536"/>
                    <a:gd name="T7" fmla="*/ 0 60000 65536"/>
                    <a:gd name="T8" fmla="*/ 0 60000 65536"/>
                    <a:gd name="T9" fmla="*/ 0 w 109"/>
                    <a:gd name="T10" fmla="*/ 0 h 49"/>
                    <a:gd name="T11" fmla="*/ 109 w 109"/>
                    <a:gd name="T12" fmla="*/ 49 h 49"/>
                  </a:gdLst>
                  <a:ahLst/>
                  <a:cxnLst>
                    <a:cxn ang="T6">
                      <a:pos x="T0" y="T1"/>
                    </a:cxn>
                    <a:cxn ang="T7">
                      <a:pos x="T2" y="T3"/>
                    </a:cxn>
                    <a:cxn ang="T8">
                      <a:pos x="T4" y="T5"/>
                    </a:cxn>
                  </a:cxnLst>
                  <a:rect l="T9" t="T10" r="T11" b="T12"/>
                  <a:pathLst>
                    <a:path w="109" h="49">
                      <a:moveTo>
                        <a:pt x="0" y="0"/>
                      </a:moveTo>
                      <a:lnTo>
                        <a:pt x="45" y="24"/>
                      </a:lnTo>
                      <a:lnTo>
                        <a:pt x="108" y="48"/>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98" name="Freeform 157"/>
                <p:cNvSpPr>
                  <a:spLocks/>
                </p:cNvSpPr>
                <p:nvPr/>
              </p:nvSpPr>
              <p:spPr bwMode="auto">
                <a:xfrm>
                  <a:off x="814" y="1000"/>
                  <a:ext cx="127" cy="73"/>
                </a:xfrm>
                <a:custGeom>
                  <a:avLst/>
                  <a:gdLst>
                    <a:gd name="T0" fmla="*/ 0 w 127"/>
                    <a:gd name="T1" fmla="*/ 72 h 73"/>
                    <a:gd name="T2" fmla="*/ 27 w 127"/>
                    <a:gd name="T3" fmla="*/ 24 h 73"/>
                    <a:gd name="T4" fmla="*/ 126 w 127"/>
                    <a:gd name="T5" fmla="*/ 0 h 73"/>
                    <a:gd name="T6" fmla="*/ 0 60000 65536"/>
                    <a:gd name="T7" fmla="*/ 0 60000 65536"/>
                    <a:gd name="T8" fmla="*/ 0 60000 65536"/>
                    <a:gd name="T9" fmla="*/ 0 w 127"/>
                    <a:gd name="T10" fmla="*/ 0 h 73"/>
                    <a:gd name="T11" fmla="*/ 127 w 127"/>
                    <a:gd name="T12" fmla="*/ 73 h 73"/>
                  </a:gdLst>
                  <a:ahLst/>
                  <a:cxnLst>
                    <a:cxn ang="T6">
                      <a:pos x="T0" y="T1"/>
                    </a:cxn>
                    <a:cxn ang="T7">
                      <a:pos x="T2" y="T3"/>
                    </a:cxn>
                    <a:cxn ang="T8">
                      <a:pos x="T4" y="T5"/>
                    </a:cxn>
                  </a:cxnLst>
                  <a:rect l="T9" t="T10" r="T11" b="T12"/>
                  <a:pathLst>
                    <a:path w="127" h="73">
                      <a:moveTo>
                        <a:pt x="0" y="72"/>
                      </a:moveTo>
                      <a:lnTo>
                        <a:pt x="27" y="24"/>
                      </a:lnTo>
                      <a:lnTo>
                        <a:pt x="126"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599" name="Freeform 158"/>
                <p:cNvSpPr>
                  <a:spLocks/>
                </p:cNvSpPr>
                <p:nvPr/>
              </p:nvSpPr>
              <p:spPr bwMode="auto">
                <a:xfrm>
                  <a:off x="814" y="1000"/>
                  <a:ext cx="127" cy="73"/>
                </a:xfrm>
                <a:custGeom>
                  <a:avLst/>
                  <a:gdLst>
                    <a:gd name="T0" fmla="*/ 0 w 127"/>
                    <a:gd name="T1" fmla="*/ 72 h 73"/>
                    <a:gd name="T2" fmla="*/ 45 w 127"/>
                    <a:gd name="T3" fmla="*/ 24 h 73"/>
                    <a:gd name="T4" fmla="*/ 126 w 127"/>
                    <a:gd name="T5" fmla="*/ 0 h 73"/>
                    <a:gd name="T6" fmla="*/ 0 60000 65536"/>
                    <a:gd name="T7" fmla="*/ 0 60000 65536"/>
                    <a:gd name="T8" fmla="*/ 0 60000 65536"/>
                    <a:gd name="T9" fmla="*/ 0 w 127"/>
                    <a:gd name="T10" fmla="*/ 0 h 73"/>
                    <a:gd name="T11" fmla="*/ 127 w 127"/>
                    <a:gd name="T12" fmla="*/ 73 h 73"/>
                  </a:gdLst>
                  <a:ahLst/>
                  <a:cxnLst>
                    <a:cxn ang="T6">
                      <a:pos x="T0" y="T1"/>
                    </a:cxn>
                    <a:cxn ang="T7">
                      <a:pos x="T2" y="T3"/>
                    </a:cxn>
                    <a:cxn ang="T8">
                      <a:pos x="T4" y="T5"/>
                    </a:cxn>
                  </a:cxnLst>
                  <a:rect l="T9" t="T10" r="T11" b="T12"/>
                  <a:pathLst>
                    <a:path w="127" h="73">
                      <a:moveTo>
                        <a:pt x="0" y="72"/>
                      </a:moveTo>
                      <a:lnTo>
                        <a:pt x="45" y="24"/>
                      </a:lnTo>
                      <a:lnTo>
                        <a:pt x="126"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00" name="Freeform 159"/>
                <p:cNvSpPr>
                  <a:spLocks/>
                </p:cNvSpPr>
                <p:nvPr/>
              </p:nvSpPr>
              <p:spPr bwMode="auto">
                <a:xfrm>
                  <a:off x="886" y="1128"/>
                  <a:ext cx="10" cy="41"/>
                </a:xfrm>
                <a:custGeom>
                  <a:avLst/>
                  <a:gdLst>
                    <a:gd name="T0" fmla="*/ 0 w 10"/>
                    <a:gd name="T1" fmla="*/ 40 h 41"/>
                    <a:gd name="T2" fmla="*/ 0 w 10"/>
                    <a:gd name="T3" fmla="*/ 40 h 41"/>
                    <a:gd name="T4" fmla="*/ 9 w 10"/>
                    <a:gd name="T5" fmla="*/ 0 h 41"/>
                    <a:gd name="T6" fmla="*/ 0 60000 65536"/>
                    <a:gd name="T7" fmla="*/ 0 60000 65536"/>
                    <a:gd name="T8" fmla="*/ 0 60000 65536"/>
                    <a:gd name="T9" fmla="*/ 0 w 10"/>
                    <a:gd name="T10" fmla="*/ 0 h 41"/>
                    <a:gd name="T11" fmla="*/ 10 w 10"/>
                    <a:gd name="T12" fmla="*/ 41 h 41"/>
                  </a:gdLst>
                  <a:ahLst/>
                  <a:cxnLst>
                    <a:cxn ang="T6">
                      <a:pos x="T0" y="T1"/>
                    </a:cxn>
                    <a:cxn ang="T7">
                      <a:pos x="T2" y="T3"/>
                    </a:cxn>
                    <a:cxn ang="T8">
                      <a:pos x="T4" y="T5"/>
                    </a:cxn>
                  </a:cxnLst>
                  <a:rect l="T9" t="T10" r="T11" b="T12"/>
                  <a:pathLst>
                    <a:path w="10" h="41">
                      <a:moveTo>
                        <a:pt x="0" y="40"/>
                      </a:moveTo>
                      <a:lnTo>
                        <a:pt x="0" y="40"/>
                      </a:lnTo>
                      <a:lnTo>
                        <a:pt x="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01" name="Line 160"/>
                <p:cNvSpPr>
                  <a:spLocks noChangeShapeType="1"/>
                </p:cNvSpPr>
                <p:nvPr/>
              </p:nvSpPr>
              <p:spPr bwMode="auto">
                <a:xfrm flipV="1">
                  <a:off x="1053" y="1217"/>
                  <a:ext cx="1" cy="48"/>
                </a:xfrm>
                <a:prstGeom prst="line">
                  <a:avLst/>
                </a:prstGeom>
                <a:noFill/>
                <a:ln w="12700">
                  <a:solidFill>
                    <a:srgbClr val="009900"/>
                  </a:solidFill>
                  <a:round/>
                  <a:headEnd/>
                  <a:tailEnd/>
                </a:ln>
              </p:spPr>
              <p:txBody>
                <a:bodyPr wrap="none" anchor="ctr"/>
                <a:lstStyle/>
                <a:p>
                  <a:endParaRPr lang="en-US"/>
                </a:p>
              </p:txBody>
            </p:sp>
            <p:sp>
              <p:nvSpPr>
                <p:cNvPr id="40602" name="Freeform 161"/>
                <p:cNvSpPr>
                  <a:spLocks/>
                </p:cNvSpPr>
                <p:nvPr/>
              </p:nvSpPr>
              <p:spPr bwMode="auto">
                <a:xfrm>
                  <a:off x="904" y="1120"/>
                  <a:ext cx="109" cy="49"/>
                </a:xfrm>
                <a:custGeom>
                  <a:avLst/>
                  <a:gdLst>
                    <a:gd name="T0" fmla="*/ 0 w 109"/>
                    <a:gd name="T1" fmla="*/ 0 h 49"/>
                    <a:gd name="T2" fmla="*/ 45 w 109"/>
                    <a:gd name="T3" fmla="*/ 16 h 49"/>
                    <a:gd name="T4" fmla="*/ 108 w 109"/>
                    <a:gd name="T5" fmla="*/ 48 h 49"/>
                    <a:gd name="T6" fmla="*/ 0 60000 65536"/>
                    <a:gd name="T7" fmla="*/ 0 60000 65536"/>
                    <a:gd name="T8" fmla="*/ 0 60000 65536"/>
                    <a:gd name="T9" fmla="*/ 0 w 109"/>
                    <a:gd name="T10" fmla="*/ 0 h 49"/>
                    <a:gd name="T11" fmla="*/ 109 w 109"/>
                    <a:gd name="T12" fmla="*/ 49 h 49"/>
                  </a:gdLst>
                  <a:ahLst/>
                  <a:cxnLst>
                    <a:cxn ang="T6">
                      <a:pos x="T0" y="T1"/>
                    </a:cxn>
                    <a:cxn ang="T7">
                      <a:pos x="T2" y="T3"/>
                    </a:cxn>
                    <a:cxn ang="T8">
                      <a:pos x="T4" y="T5"/>
                    </a:cxn>
                  </a:cxnLst>
                  <a:rect l="T9" t="T10" r="T11" b="T12"/>
                  <a:pathLst>
                    <a:path w="109" h="49">
                      <a:moveTo>
                        <a:pt x="0" y="0"/>
                      </a:moveTo>
                      <a:lnTo>
                        <a:pt x="45" y="16"/>
                      </a:lnTo>
                      <a:lnTo>
                        <a:pt x="108" y="48"/>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03" name="Freeform 162"/>
                <p:cNvSpPr>
                  <a:spLocks/>
                </p:cNvSpPr>
                <p:nvPr/>
              </p:nvSpPr>
              <p:spPr bwMode="auto">
                <a:xfrm>
                  <a:off x="904" y="1120"/>
                  <a:ext cx="109" cy="49"/>
                </a:xfrm>
                <a:custGeom>
                  <a:avLst/>
                  <a:gdLst>
                    <a:gd name="T0" fmla="*/ 0 w 109"/>
                    <a:gd name="T1" fmla="*/ 0 h 49"/>
                    <a:gd name="T2" fmla="*/ 45 w 109"/>
                    <a:gd name="T3" fmla="*/ 16 h 49"/>
                    <a:gd name="T4" fmla="*/ 108 w 109"/>
                    <a:gd name="T5" fmla="*/ 48 h 49"/>
                    <a:gd name="T6" fmla="*/ 0 60000 65536"/>
                    <a:gd name="T7" fmla="*/ 0 60000 65536"/>
                    <a:gd name="T8" fmla="*/ 0 60000 65536"/>
                    <a:gd name="T9" fmla="*/ 0 w 109"/>
                    <a:gd name="T10" fmla="*/ 0 h 49"/>
                    <a:gd name="T11" fmla="*/ 109 w 109"/>
                    <a:gd name="T12" fmla="*/ 49 h 49"/>
                  </a:gdLst>
                  <a:ahLst/>
                  <a:cxnLst>
                    <a:cxn ang="T6">
                      <a:pos x="T0" y="T1"/>
                    </a:cxn>
                    <a:cxn ang="T7">
                      <a:pos x="T2" y="T3"/>
                    </a:cxn>
                    <a:cxn ang="T8">
                      <a:pos x="T4" y="T5"/>
                    </a:cxn>
                  </a:cxnLst>
                  <a:rect l="T9" t="T10" r="T11" b="T12"/>
                  <a:pathLst>
                    <a:path w="109" h="49">
                      <a:moveTo>
                        <a:pt x="0" y="0"/>
                      </a:moveTo>
                      <a:lnTo>
                        <a:pt x="45" y="16"/>
                      </a:lnTo>
                      <a:lnTo>
                        <a:pt x="108" y="48"/>
                      </a:lnTo>
                    </a:path>
                  </a:pathLst>
                </a:custGeom>
                <a:noFill/>
                <a:ln w="12700" cap="rnd" cmpd="sng">
                  <a:solidFill>
                    <a:srgbClr val="009900"/>
                  </a:solidFill>
                  <a:prstDash val="solid"/>
                  <a:round/>
                  <a:headEnd type="none" w="med" len="med"/>
                  <a:tailEnd type="none" w="med" len="med"/>
                </a:ln>
              </p:spPr>
              <p:txBody>
                <a:bodyPr/>
                <a:lstStyle/>
                <a:p>
                  <a:endParaRPr lang="en-US"/>
                </a:p>
              </p:txBody>
            </p:sp>
            <p:grpSp>
              <p:nvGrpSpPr>
                <p:cNvPr id="40604" name="Group 163"/>
                <p:cNvGrpSpPr>
                  <a:grpSpLocks/>
                </p:cNvGrpSpPr>
                <p:nvPr/>
              </p:nvGrpSpPr>
              <p:grpSpPr bwMode="auto">
                <a:xfrm>
                  <a:off x="769" y="1237"/>
                  <a:ext cx="226" cy="223"/>
                  <a:chOff x="769" y="3165"/>
                  <a:chExt cx="226" cy="223"/>
                </a:xfrm>
              </p:grpSpPr>
              <p:sp>
                <p:nvSpPr>
                  <p:cNvPr id="40699" name="Freeform 164"/>
                  <p:cNvSpPr>
                    <a:spLocks/>
                  </p:cNvSpPr>
                  <p:nvPr/>
                </p:nvSpPr>
                <p:spPr bwMode="auto">
                  <a:xfrm>
                    <a:off x="823" y="3240"/>
                    <a:ext cx="46" cy="17"/>
                  </a:xfrm>
                  <a:custGeom>
                    <a:avLst/>
                    <a:gdLst>
                      <a:gd name="T0" fmla="*/ 0 w 46"/>
                      <a:gd name="T1" fmla="*/ 0 h 17"/>
                      <a:gd name="T2" fmla="*/ 0 w 46"/>
                      <a:gd name="T3" fmla="*/ 0 h 17"/>
                      <a:gd name="T4" fmla="*/ 45 w 46"/>
                      <a:gd name="T5" fmla="*/ 16 h 17"/>
                      <a:gd name="T6" fmla="*/ 0 60000 65536"/>
                      <a:gd name="T7" fmla="*/ 0 60000 65536"/>
                      <a:gd name="T8" fmla="*/ 0 60000 65536"/>
                      <a:gd name="T9" fmla="*/ 0 w 46"/>
                      <a:gd name="T10" fmla="*/ 0 h 17"/>
                      <a:gd name="T11" fmla="*/ 46 w 46"/>
                      <a:gd name="T12" fmla="*/ 17 h 17"/>
                    </a:gdLst>
                    <a:ahLst/>
                    <a:cxnLst>
                      <a:cxn ang="T6">
                        <a:pos x="T0" y="T1"/>
                      </a:cxn>
                      <a:cxn ang="T7">
                        <a:pos x="T2" y="T3"/>
                      </a:cxn>
                      <a:cxn ang="T8">
                        <a:pos x="T4" y="T5"/>
                      </a:cxn>
                    </a:cxnLst>
                    <a:rect l="T9" t="T10" r="T11" b="T12"/>
                    <a:pathLst>
                      <a:path w="46" h="17">
                        <a:moveTo>
                          <a:pt x="0" y="0"/>
                        </a:moveTo>
                        <a:lnTo>
                          <a:pt x="0" y="0"/>
                        </a:lnTo>
                        <a:lnTo>
                          <a:pt x="45" y="16"/>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700" name="Line 165"/>
                  <p:cNvSpPr>
                    <a:spLocks noChangeShapeType="1"/>
                  </p:cNvSpPr>
                  <p:nvPr/>
                </p:nvSpPr>
                <p:spPr bwMode="auto">
                  <a:xfrm>
                    <a:off x="827" y="3244"/>
                    <a:ext cx="46" cy="16"/>
                  </a:xfrm>
                  <a:prstGeom prst="line">
                    <a:avLst/>
                  </a:prstGeom>
                  <a:noFill/>
                  <a:ln w="12700">
                    <a:solidFill>
                      <a:srgbClr val="009900"/>
                    </a:solidFill>
                    <a:round/>
                    <a:headEnd/>
                    <a:tailEnd/>
                  </a:ln>
                </p:spPr>
                <p:txBody>
                  <a:bodyPr wrap="none" anchor="ctr"/>
                  <a:lstStyle/>
                  <a:p>
                    <a:endParaRPr lang="en-US"/>
                  </a:p>
                </p:txBody>
              </p:sp>
              <p:sp>
                <p:nvSpPr>
                  <p:cNvPr id="40701" name="Freeform 166"/>
                  <p:cNvSpPr>
                    <a:spLocks/>
                  </p:cNvSpPr>
                  <p:nvPr/>
                </p:nvSpPr>
                <p:spPr bwMode="auto">
                  <a:xfrm>
                    <a:off x="868" y="3368"/>
                    <a:ext cx="46" cy="17"/>
                  </a:xfrm>
                  <a:custGeom>
                    <a:avLst/>
                    <a:gdLst>
                      <a:gd name="T0" fmla="*/ 0 w 46"/>
                      <a:gd name="T1" fmla="*/ 0 h 17"/>
                      <a:gd name="T2" fmla="*/ 0 w 46"/>
                      <a:gd name="T3" fmla="*/ 0 h 17"/>
                      <a:gd name="T4" fmla="*/ 45 w 46"/>
                      <a:gd name="T5" fmla="*/ 16 h 17"/>
                      <a:gd name="T6" fmla="*/ 0 60000 65536"/>
                      <a:gd name="T7" fmla="*/ 0 60000 65536"/>
                      <a:gd name="T8" fmla="*/ 0 60000 65536"/>
                      <a:gd name="T9" fmla="*/ 0 w 46"/>
                      <a:gd name="T10" fmla="*/ 0 h 17"/>
                      <a:gd name="T11" fmla="*/ 46 w 46"/>
                      <a:gd name="T12" fmla="*/ 17 h 17"/>
                    </a:gdLst>
                    <a:ahLst/>
                    <a:cxnLst>
                      <a:cxn ang="T6">
                        <a:pos x="T0" y="T1"/>
                      </a:cxn>
                      <a:cxn ang="T7">
                        <a:pos x="T2" y="T3"/>
                      </a:cxn>
                      <a:cxn ang="T8">
                        <a:pos x="T4" y="T5"/>
                      </a:cxn>
                    </a:cxnLst>
                    <a:rect l="T9" t="T10" r="T11" b="T12"/>
                    <a:pathLst>
                      <a:path w="46" h="17">
                        <a:moveTo>
                          <a:pt x="0" y="0"/>
                        </a:moveTo>
                        <a:lnTo>
                          <a:pt x="0" y="0"/>
                        </a:lnTo>
                        <a:lnTo>
                          <a:pt x="45" y="16"/>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702" name="Line 167"/>
                  <p:cNvSpPr>
                    <a:spLocks noChangeShapeType="1"/>
                  </p:cNvSpPr>
                  <p:nvPr/>
                </p:nvSpPr>
                <p:spPr bwMode="auto">
                  <a:xfrm>
                    <a:off x="872" y="3372"/>
                    <a:ext cx="46" cy="16"/>
                  </a:xfrm>
                  <a:prstGeom prst="line">
                    <a:avLst/>
                  </a:prstGeom>
                  <a:noFill/>
                  <a:ln w="12700">
                    <a:solidFill>
                      <a:srgbClr val="009900"/>
                    </a:solidFill>
                    <a:round/>
                    <a:headEnd/>
                    <a:tailEnd/>
                  </a:ln>
                </p:spPr>
                <p:txBody>
                  <a:bodyPr wrap="none" anchor="ctr"/>
                  <a:lstStyle/>
                  <a:p>
                    <a:endParaRPr lang="en-US"/>
                  </a:p>
                </p:txBody>
              </p:sp>
              <p:sp>
                <p:nvSpPr>
                  <p:cNvPr id="40703" name="Freeform 168"/>
                  <p:cNvSpPr>
                    <a:spLocks/>
                  </p:cNvSpPr>
                  <p:nvPr/>
                </p:nvSpPr>
                <p:spPr bwMode="auto">
                  <a:xfrm>
                    <a:off x="823" y="3288"/>
                    <a:ext cx="46" cy="17"/>
                  </a:xfrm>
                  <a:custGeom>
                    <a:avLst/>
                    <a:gdLst>
                      <a:gd name="T0" fmla="*/ 0 w 46"/>
                      <a:gd name="T1" fmla="*/ 0 h 17"/>
                      <a:gd name="T2" fmla="*/ 0 w 46"/>
                      <a:gd name="T3" fmla="*/ 0 h 17"/>
                      <a:gd name="T4" fmla="*/ 45 w 46"/>
                      <a:gd name="T5" fmla="*/ 16 h 17"/>
                      <a:gd name="T6" fmla="*/ 0 60000 65536"/>
                      <a:gd name="T7" fmla="*/ 0 60000 65536"/>
                      <a:gd name="T8" fmla="*/ 0 60000 65536"/>
                      <a:gd name="T9" fmla="*/ 0 w 46"/>
                      <a:gd name="T10" fmla="*/ 0 h 17"/>
                      <a:gd name="T11" fmla="*/ 46 w 46"/>
                      <a:gd name="T12" fmla="*/ 17 h 17"/>
                    </a:gdLst>
                    <a:ahLst/>
                    <a:cxnLst>
                      <a:cxn ang="T6">
                        <a:pos x="T0" y="T1"/>
                      </a:cxn>
                      <a:cxn ang="T7">
                        <a:pos x="T2" y="T3"/>
                      </a:cxn>
                      <a:cxn ang="T8">
                        <a:pos x="T4" y="T5"/>
                      </a:cxn>
                    </a:cxnLst>
                    <a:rect l="T9" t="T10" r="T11" b="T12"/>
                    <a:pathLst>
                      <a:path w="46" h="17">
                        <a:moveTo>
                          <a:pt x="0" y="0"/>
                        </a:moveTo>
                        <a:lnTo>
                          <a:pt x="0" y="0"/>
                        </a:lnTo>
                        <a:lnTo>
                          <a:pt x="45" y="16"/>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704" name="Line 169"/>
                  <p:cNvSpPr>
                    <a:spLocks noChangeShapeType="1"/>
                  </p:cNvSpPr>
                  <p:nvPr/>
                </p:nvSpPr>
                <p:spPr bwMode="auto">
                  <a:xfrm>
                    <a:off x="827" y="3292"/>
                    <a:ext cx="46" cy="16"/>
                  </a:xfrm>
                  <a:prstGeom prst="line">
                    <a:avLst/>
                  </a:prstGeom>
                  <a:noFill/>
                  <a:ln w="12700">
                    <a:solidFill>
                      <a:srgbClr val="009900"/>
                    </a:solidFill>
                    <a:round/>
                    <a:headEnd/>
                    <a:tailEnd/>
                  </a:ln>
                </p:spPr>
                <p:txBody>
                  <a:bodyPr wrap="none" anchor="ctr"/>
                  <a:lstStyle/>
                  <a:p>
                    <a:endParaRPr lang="en-US"/>
                  </a:p>
                </p:txBody>
              </p:sp>
              <p:sp>
                <p:nvSpPr>
                  <p:cNvPr id="40705" name="Freeform 170"/>
                  <p:cNvSpPr>
                    <a:spLocks/>
                  </p:cNvSpPr>
                  <p:nvPr/>
                </p:nvSpPr>
                <p:spPr bwMode="auto">
                  <a:xfrm>
                    <a:off x="769" y="3336"/>
                    <a:ext cx="46" cy="17"/>
                  </a:xfrm>
                  <a:custGeom>
                    <a:avLst/>
                    <a:gdLst>
                      <a:gd name="T0" fmla="*/ 0 w 46"/>
                      <a:gd name="T1" fmla="*/ 0 h 17"/>
                      <a:gd name="T2" fmla="*/ 0 w 46"/>
                      <a:gd name="T3" fmla="*/ 0 h 17"/>
                      <a:gd name="T4" fmla="*/ 45 w 46"/>
                      <a:gd name="T5" fmla="*/ 16 h 17"/>
                      <a:gd name="T6" fmla="*/ 0 60000 65536"/>
                      <a:gd name="T7" fmla="*/ 0 60000 65536"/>
                      <a:gd name="T8" fmla="*/ 0 60000 65536"/>
                      <a:gd name="T9" fmla="*/ 0 w 46"/>
                      <a:gd name="T10" fmla="*/ 0 h 17"/>
                      <a:gd name="T11" fmla="*/ 46 w 46"/>
                      <a:gd name="T12" fmla="*/ 17 h 17"/>
                    </a:gdLst>
                    <a:ahLst/>
                    <a:cxnLst>
                      <a:cxn ang="T6">
                        <a:pos x="T0" y="T1"/>
                      </a:cxn>
                      <a:cxn ang="T7">
                        <a:pos x="T2" y="T3"/>
                      </a:cxn>
                      <a:cxn ang="T8">
                        <a:pos x="T4" y="T5"/>
                      </a:cxn>
                    </a:cxnLst>
                    <a:rect l="T9" t="T10" r="T11" b="T12"/>
                    <a:pathLst>
                      <a:path w="46" h="17">
                        <a:moveTo>
                          <a:pt x="0" y="0"/>
                        </a:moveTo>
                        <a:lnTo>
                          <a:pt x="0" y="0"/>
                        </a:lnTo>
                        <a:lnTo>
                          <a:pt x="45" y="16"/>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706" name="Line 171"/>
                  <p:cNvSpPr>
                    <a:spLocks noChangeShapeType="1"/>
                  </p:cNvSpPr>
                  <p:nvPr/>
                </p:nvSpPr>
                <p:spPr bwMode="auto">
                  <a:xfrm>
                    <a:off x="773" y="3340"/>
                    <a:ext cx="46" cy="16"/>
                  </a:xfrm>
                  <a:prstGeom prst="line">
                    <a:avLst/>
                  </a:prstGeom>
                  <a:noFill/>
                  <a:ln w="12700">
                    <a:solidFill>
                      <a:srgbClr val="009900"/>
                    </a:solidFill>
                    <a:round/>
                    <a:headEnd/>
                    <a:tailEnd/>
                  </a:ln>
                </p:spPr>
                <p:txBody>
                  <a:bodyPr wrap="none" anchor="ctr"/>
                  <a:lstStyle/>
                  <a:p>
                    <a:endParaRPr lang="en-US"/>
                  </a:p>
                </p:txBody>
              </p:sp>
              <p:sp>
                <p:nvSpPr>
                  <p:cNvPr id="40707" name="Arc 172"/>
                  <p:cNvSpPr>
                    <a:spLocks/>
                  </p:cNvSpPr>
                  <p:nvPr/>
                </p:nvSpPr>
                <p:spPr bwMode="auto">
                  <a:xfrm>
                    <a:off x="863" y="3165"/>
                    <a:ext cx="119" cy="104"/>
                  </a:xfrm>
                  <a:custGeom>
                    <a:avLst/>
                    <a:gdLst>
                      <a:gd name="T0" fmla="*/ 0 w 21784"/>
                      <a:gd name="T1" fmla="*/ 0 h 21600"/>
                      <a:gd name="T2" fmla="*/ 0 w 21784"/>
                      <a:gd name="T3" fmla="*/ 0 h 21600"/>
                      <a:gd name="T4" fmla="*/ 0 w 21784"/>
                      <a:gd name="T5" fmla="*/ 0 h 21600"/>
                      <a:gd name="T6" fmla="*/ 0 60000 65536"/>
                      <a:gd name="T7" fmla="*/ 0 60000 65536"/>
                      <a:gd name="T8" fmla="*/ 0 60000 65536"/>
                      <a:gd name="T9" fmla="*/ 0 w 21784"/>
                      <a:gd name="T10" fmla="*/ 0 h 21600"/>
                      <a:gd name="T11" fmla="*/ 21784 w 21784"/>
                      <a:gd name="T12" fmla="*/ 21600 h 21600"/>
                    </a:gdLst>
                    <a:ahLst/>
                    <a:cxnLst>
                      <a:cxn ang="T6">
                        <a:pos x="T0" y="T1"/>
                      </a:cxn>
                      <a:cxn ang="T7">
                        <a:pos x="T2" y="T3"/>
                      </a:cxn>
                      <a:cxn ang="T8">
                        <a:pos x="T4" y="T5"/>
                      </a:cxn>
                    </a:cxnLst>
                    <a:rect l="T9" t="T10" r="T11" b="T12"/>
                    <a:pathLst>
                      <a:path w="21784" h="21600" fill="none" extrusionOk="0">
                        <a:moveTo>
                          <a:pt x="-1" y="0"/>
                        </a:moveTo>
                        <a:cubicBezTo>
                          <a:pt x="61" y="0"/>
                          <a:pt x="122" y="-1"/>
                          <a:pt x="184" y="0"/>
                        </a:cubicBezTo>
                        <a:cubicBezTo>
                          <a:pt x="12113" y="0"/>
                          <a:pt x="21784" y="9670"/>
                          <a:pt x="21784" y="21600"/>
                        </a:cubicBezTo>
                      </a:path>
                      <a:path w="21784" h="21600" stroke="0" extrusionOk="0">
                        <a:moveTo>
                          <a:pt x="-1" y="0"/>
                        </a:moveTo>
                        <a:cubicBezTo>
                          <a:pt x="61" y="0"/>
                          <a:pt x="122" y="-1"/>
                          <a:pt x="184" y="0"/>
                        </a:cubicBezTo>
                        <a:cubicBezTo>
                          <a:pt x="12113" y="0"/>
                          <a:pt x="21784" y="9670"/>
                          <a:pt x="21784" y="21600"/>
                        </a:cubicBezTo>
                        <a:lnTo>
                          <a:pt x="184" y="21600"/>
                        </a:lnTo>
                        <a:close/>
                      </a:path>
                    </a:pathLst>
                  </a:custGeom>
                  <a:noFill/>
                  <a:ln w="12700" cap="rnd">
                    <a:solidFill>
                      <a:srgbClr val="009900"/>
                    </a:solidFill>
                    <a:round/>
                    <a:headEnd/>
                    <a:tailEnd/>
                  </a:ln>
                </p:spPr>
                <p:txBody>
                  <a:bodyPr wrap="none" anchor="ctr"/>
                  <a:lstStyle/>
                  <a:p>
                    <a:endParaRPr lang="en-US"/>
                  </a:p>
                </p:txBody>
              </p:sp>
              <p:sp>
                <p:nvSpPr>
                  <p:cNvPr id="40708" name="Freeform 173"/>
                  <p:cNvSpPr>
                    <a:spLocks/>
                  </p:cNvSpPr>
                  <p:nvPr/>
                </p:nvSpPr>
                <p:spPr bwMode="auto">
                  <a:xfrm>
                    <a:off x="859" y="3176"/>
                    <a:ext cx="136" cy="89"/>
                  </a:xfrm>
                  <a:custGeom>
                    <a:avLst/>
                    <a:gdLst>
                      <a:gd name="T0" fmla="*/ 135 w 136"/>
                      <a:gd name="T1" fmla="*/ 0 h 89"/>
                      <a:gd name="T2" fmla="*/ 135 w 136"/>
                      <a:gd name="T3" fmla="*/ 8 h 89"/>
                      <a:gd name="T4" fmla="*/ 126 w 136"/>
                      <a:gd name="T5" fmla="*/ 32 h 89"/>
                      <a:gd name="T6" fmla="*/ 117 w 136"/>
                      <a:gd name="T7" fmla="*/ 48 h 89"/>
                      <a:gd name="T8" fmla="*/ 99 w 136"/>
                      <a:gd name="T9" fmla="*/ 64 h 89"/>
                      <a:gd name="T10" fmla="*/ 90 w 136"/>
                      <a:gd name="T11" fmla="*/ 72 h 89"/>
                      <a:gd name="T12" fmla="*/ 81 w 136"/>
                      <a:gd name="T13" fmla="*/ 80 h 89"/>
                      <a:gd name="T14" fmla="*/ 54 w 136"/>
                      <a:gd name="T15" fmla="*/ 88 h 89"/>
                      <a:gd name="T16" fmla="*/ 45 w 136"/>
                      <a:gd name="T17" fmla="*/ 88 h 89"/>
                      <a:gd name="T18" fmla="*/ 9 w 136"/>
                      <a:gd name="T19" fmla="*/ 88 h 89"/>
                      <a:gd name="T20" fmla="*/ 0 w 136"/>
                      <a:gd name="T21" fmla="*/ 88 h 8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6"/>
                      <a:gd name="T34" fmla="*/ 0 h 89"/>
                      <a:gd name="T35" fmla="*/ 136 w 136"/>
                      <a:gd name="T36" fmla="*/ 89 h 8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6" h="89">
                        <a:moveTo>
                          <a:pt x="135" y="0"/>
                        </a:moveTo>
                        <a:lnTo>
                          <a:pt x="135" y="8"/>
                        </a:lnTo>
                        <a:lnTo>
                          <a:pt x="126" y="32"/>
                        </a:lnTo>
                        <a:lnTo>
                          <a:pt x="117" y="48"/>
                        </a:lnTo>
                        <a:lnTo>
                          <a:pt x="99" y="64"/>
                        </a:lnTo>
                        <a:lnTo>
                          <a:pt x="90" y="72"/>
                        </a:lnTo>
                        <a:lnTo>
                          <a:pt x="81" y="80"/>
                        </a:lnTo>
                        <a:lnTo>
                          <a:pt x="54" y="88"/>
                        </a:lnTo>
                        <a:lnTo>
                          <a:pt x="45" y="88"/>
                        </a:lnTo>
                        <a:lnTo>
                          <a:pt x="9" y="88"/>
                        </a:lnTo>
                        <a:lnTo>
                          <a:pt x="0" y="88"/>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709" name="Freeform 174"/>
                  <p:cNvSpPr>
                    <a:spLocks/>
                  </p:cNvSpPr>
                  <p:nvPr/>
                </p:nvSpPr>
                <p:spPr bwMode="auto">
                  <a:xfrm>
                    <a:off x="814" y="3256"/>
                    <a:ext cx="64" cy="97"/>
                  </a:xfrm>
                  <a:custGeom>
                    <a:avLst/>
                    <a:gdLst>
                      <a:gd name="T0" fmla="*/ 63 w 64"/>
                      <a:gd name="T1" fmla="*/ 0 h 97"/>
                      <a:gd name="T2" fmla="*/ 36 w 64"/>
                      <a:gd name="T3" fmla="*/ 40 h 97"/>
                      <a:gd name="T4" fmla="*/ 0 w 64"/>
                      <a:gd name="T5" fmla="*/ 96 h 97"/>
                      <a:gd name="T6" fmla="*/ 0 60000 65536"/>
                      <a:gd name="T7" fmla="*/ 0 60000 65536"/>
                      <a:gd name="T8" fmla="*/ 0 60000 65536"/>
                      <a:gd name="T9" fmla="*/ 0 w 64"/>
                      <a:gd name="T10" fmla="*/ 0 h 97"/>
                      <a:gd name="T11" fmla="*/ 64 w 64"/>
                      <a:gd name="T12" fmla="*/ 97 h 97"/>
                    </a:gdLst>
                    <a:ahLst/>
                    <a:cxnLst>
                      <a:cxn ang="T6">
                        <a:pos x="T0" y="T1"/>
                      </a:cxn>
                      <a:cxn ang="T7">
                        <a:pos x="T2" y="T3"/>
                      </a:cxn>
                      <a:cxn ang="T8">
                        <a:pos x="T4" y="T5"/>
                      </a:cxn>
                    </a:cxnLst>
                    <a:rect l="T9" t="T10" r="T11" b="T12"/>
                    <a:pathLst>
                      <a:path w="64" h="97">
                        <a:moveTo>
                          <a:pt x="63" y="0"/>
                        </a:moveTo>
                        <a:lnTo>
                          <a:pt x="36" y="40"/>
                        </a:lnTo>
                        <a:lnTo>
                          <a:pt x="0" y="96"/>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710" name="Line 175"/>
                  <p:cNvSpPr>
                    <a:spLocks noChangeShapeType="1"/>
                  </p:cNvSpPr>
                  <p:nvPr/>
                </p:nvSpPr>
                <p:spPr bwMode="auto">
                  <a:xfrm flipH="1">
                    <a:off x="810" y="3260"/>
                    <a:ext cx="80" cy="96"/>
                  </a:xfrm>
                  <a:prstGeom prst="line">
                    <a:avLst/>
                  </a:prstGeom>
                  <a:noFill/>
                  <a:ln w="12700">
                    <a:solidFill>
                      <a:srgbClr val="009900"/>
                    </a:solidFill>
                    <a:round/>
                    <a:headEnd/>
                    <a:tailEnd/>
                  </a:ln>
                </p:spPr>
                <p:txBody>
                  <a:bodyPr wrap="none" anchor="ctr"/>
                  <a:lstStyle/>
                  <a:p>
                    <a:endParaRPr lang="en-US"/>
                  </a:p>
                </p:txBody>
              </p:sp>
            </p:grpSp>
            <p:sp>
              <p:nvSpPr>
                <p:cNvPr id="40605" name="Freeform 176"/>
                <p:cNvSpPr>
                  <a:spLocks/>
                </p:cNvSpPr>
                <p:nvPr/>
              </p:nvSpPr>
              <p:spPr bwMode="auto">
                <a:xfrm>
                  <a:off x="1111" y="1416"/>
                  <a:ext cx="10" cy="41"/>
                </a:xfrm>
                <a:custGeom>
                  <a:avLst/>
                  <a:gdLst>
                    <a:gd name="T0" fmla="*/ 0 w 10"/>
                    <a:gd name="T1" fmla="*/ 40 h 41"/>
                    <a:gd name="T2" fmla="*/ 0 w 10"/>
                    <a:gd name="T3" fmla="*/ 40 h 41"/>
                    <a:gd name="T4" fmla="*/ 9 w 10"/>
                    <a:gd name="T5" fmla="*/ 0 h 41"/>
                    <a:gd name="T6" fmla="*/ 0 60000 65536"/>
                    <a:gd name="T7" fmla="*/ 0 60000 65536"/>
                    <a:gd name="T8" fmla="*/ 0 60000 65536"/>
                    <a:gd name="T9" fmla="*/ 0 w 10"/>
                    <a:gd name="T10" fmla="*/ 0 h 41"/>
                    <a:gd name="T11" fmla="*/ 10 w 10"/>
                    <a:gd name="T12" fmla="*/ 41 h 41"/>
                  </a:gdLst>
                  <a:ahLst/>
                  <a:cxnLst>
                    <a:cxn ang="T6">
                      <a:pos x="T0" y="T1"/>
                    </a:cxn>
                    <a:cxn ang="T7">
                      <a:pos x="T2" y="T3"/>
                    </a:cxn>
                    <a:cxn ang="T8">
                      <a:pos x="T4" y="T5"/>
                    </a:cxn>
                  </a:cxnLst>
                  <a:rect l="T9" t="T10" r="T11" b="T12"/>
                  <a:pathLst>
                    <a:path w="10" h="41">
                      <a:moveTo>
                        <a:pt x="0" y="40"/>
                      </a:moveTo>
                      <a:lnTo>
                        <a:pt x="0" y="40"/>
                      </a:lnTo>
                      <a:lnTo>
                        <a:pt x="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06" name="Line 177"/>
                <p:cNvSpPr>
                  <a:spLocks noChangeShapeType="1"/>
                </p:cNvSpPr>
                <p:nvPr/>
              </p:nvSpPr>
              <p:spPr bwMode="auto">
                <a:xfrm flipV="1">
                  <a:off x="1120" y="1412"/>
                  <a:ext cx="1" cy="48"/>
                </a:xfrm>
                <a:prstGeom prst="line">
                  <a:avLst/>
                </a:prstGeom>
                <a:noFill/>
                <a:ln w="12700">
                  <a:solidFill>
                    <a:srgbClr val="009900"/>
                  </a:solidFill>
                  <a:round/>
                  <a:headEnd/>
                  <a:tailEnd/>
                </a:ln>
              </p:spPr>
              <p:txBody>
                <a:bodyPr wrap="none" anchor="ctr"/>
                <a:lstStyle/>
                <a:p>
                  <a:endParaRPr lang="en-US"/>
                </a:p>
              </p:txBody>
            </p:sp>
            <p:sp>
              <p:nvSpPr>
                <p:cNvPr id="40607" name="Freeform 178"/>
                <p:cNvSpPr>
                  <a:spLocks/>
                </p:cNvSpPr>
                <p:nvPr/>
              </p:nvSpPr>
              <p:spPr bwMode="auto">
                <a:xfrm>
                  <a:off x="1021" y="1328"/>
                  <a:ext cx="118" cy="49"/>
                </a:xfrm>
                <a:custGeom>
                  <a:avLst/>
                  <a:gdLst>
                    <a:gd name="T0" fmla="*/ 0 w 118"/>
                    <a:gd name="T1" fmla="*/ 0 h 49"/>
                    <a:gd name="T2" fmla="*/ 54 w 118"/>
                    <a:gd name="T3" fmla="*/ 24 h 49"/>
                    <a:gd name="T4" fmla="*/ 117 w 118"/>
                    <a:gd name="T5" fmla="*/ 48 h 49"/>
                    <a:gd name="T6" fmla="*/ 0 60000 65536"/>
                    <a:gd name="T7" fmla="*/ 0 60000 65536"/>
                    <a:gd name="T8" fmla="*/ 0 60000 65536"/>
                    <a:gd name="T9" fmla="*/ 0 w 118"/>
                    <a:gd name="T10" fmla="*/ 0 h 49"/>
                    <a:gd name="T11" fmla="*/ 118 w 118"/>
                    <a:gd name="T12" fmla="*/ 49 h 49"/>
                  </a:gdLst>
                  <a:ahLst/>
                  <a:cxnLst>
                    <a:cxn ang="T6">
                      <a:pos x="T0" y="T1"/>
                    </a:cxn>
                    <a:cxn ang="T7">
                      <a:pos x="T2" y="T3"/>
                    </a:cxn>
                    <a:cxn ang="T8">
                      <a:pos x="T4" y="T5"/>
                    </a:cxn>
                  </a:cxnLst>
                  <a:rect l="T9" t="T10" r="T11" b="T12"/>
                  <a:pathLst>
                    <a:path w="118" h="49">
                      <a:moveTo>
                        <a:pt x="0" y="0"/>
                      </a:moveTo>
                      <a:lnTo>
                        <a:pt x="54" y="24"/>
                      </a:lnTo>
                      <a:lnTo>
                        <a:pt x="117" y="48"/>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08" name="Line 179"/>
                <p:cNvSpPr>
                  <a:spLocks noChangeShapeType="1"/>
                </p:cNvSpPr>
                <p:nvPr/>
              </p:nvSpPr>
              <p:spPr bwMode="auto">
                <a:xfrm>
                  <a:off x="1184" y="1425"/>
                  <a:ext cx="118" cy="48"/>
                </a:xfrm>
                <a:prstGeom prst="line">
                  <a:avLst/>
                </a:prstGeom>
                <a:noFill/>
                <a:ln w="12700">
                  <a:solidFill>
                    <a:srgbClr val="009900"/>
                  </a:solidFill>
                  <a:round/>
                  <a:headEnd/>
                  <a:tailEnd/>
                </a:ln>
              </p:spPr>
              <p:txBody>
                <a:bodyPr wrap="none" anchor="ctr"/>
                <a:lstStyle/>
                <a:p>
                  <a:endParaRPr lang="en-US"/>
                </a:p>
              </p:txBody>
            </p:sp>
            <p:sp>
              <p:nvSpPr>
                <p:cNvPr id="40609" name="Freeform 180"/>
                <p:cNvSpPr>
                  <a:spLocks/>
                </p:cNvSpPr>
                <p:nvPr/>
              </p:nvSpPr>
              <p:spPr bwMode="auto">
                <a:xfrm>
                  <a:off x="1345" y="1048"/>
                  <a:ext cx="127" cy="73"/>
                </a:xfrm>
                <a:custGeom>
                  <a:avLst/>
                  <a:gdLst>
                    <a:gd name="T0" fmla="*/ 0 w 127"/>
                    <a:gd name="T1" fmla="*/ 72 h 73"/>
                    <a:gd name="T2" fmla="*/ 18 w 127"/>
                    <a:gd name="T3" fmla="*/ 24 h 73"/>
                    <a:gd name="T4" fmla="*/ 126 w 127"/>
                    <a:gd name="T5" fmla="*/ 0 h 73"/>
                    <a:gd name="T6" fmla="*/ 0 60000 65536"/>
                    <a:gd name="T7" fmla="*/ 0 60000 65536"/>
                    <a:gd name="T8" fmla="*/ 0 60000 65536"/>
                    <a:gd name="T9" fmla="*/ 0 w 127"/>
                    <a:gd name="T10" fmla="*/ 0 h 73"/>
                    <a:gd name="T11" fmla="*/ 127 w 127"/>
                    <a:gd name="T12" fmla="*/ 73 h 73"/>
                  </a:gdLst>
                  <a:ahLst/>
                  <a:cxnLst>
                    <a:cxn ang="T6">
                      <a:pos x="T0" y="T1"/>
                    </a:cxn>
                    <a:cxn ang="T7">
                      <a:pos x="T2" y="T3"/>
                    </a:cxn>
                    <a:cxn ang="T8">
                      <a:pos x="T4" y="T5"/>
                    </a:cxn>
                  </a:cxnLst>
                  <a:rect l="T9" t="T10" r="T11" b="T12"/>
                  <a:pathLst>
                    <a:path w="127" h="73">
                      <a:moveTo>
                        <a:pt x="0" y="72"/>
                      </a:moveTo>
                      <a:lnTo>
                        <a:pt x="18" y="24"/>
                      </a:lnTo>
                      <a:lnTo>
                        <a:pt x="126"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10" name="Freeform 181"/>
                <p:cNvSpPr>
                  <a:spLocks/>
                </p:cNvSpPr>
                <p:nvPr/>
              </p:nvSpPr>
              <p:spPr bwMode="auto">
                <a:xfrm>
                  <a:off x="1345" y="1048"/>
                  <a:ext cx="127" cy="73"/>
                </a:xfrm>
                <a:custGeom>
                  <a:avLst/>
                  <a:gdLst>
                    <a:gd name="T0" fmla="*/ 0 w 127"/>
                    <a:gd name="T1" fmla="*/ 72 h 73"/>
                    <a:gd name="T2" fmla="*/ 36 w 127"/>
                    <a:gd name="T3" fmla="*/ 24 h 73"/>
                    <a:gd name="T4" fmla="*/ 126 w 127"/>
                    <a:gd name="T5" fmla="*/ 0 h 73"/>
                    <a:gd name="T6" fmla="*/ 0 60000 65536"/>
                    <a:gd name="T7" fmla="*/ 0 60000 65536"/>
                    <a:gd name="T8" fmla="*/ 0 60000 65536"/>
                    <a:gd name="T9" fmla="*/ 0 w 127"/>
                    <a:gd name="T10" fmla="*/ 0 h 73"/>
                    <a:gd name="T11" fmla="*/ 127 w 127"/>
                    <a:gd name="T12" fmla="*/ 73 h 73"/>
                  </a:gdLst>
                  <a:ahLst/>
                  <a:cxnLst>
                    <a:cxn ang="T6">
                      <a:pos x="T0" y="T1"/>
                    </a:cxn>
                    <a:cxn ang="T7">
                      <a:pos x="T2" y="T3"/>
                    </a:cxn>
                    <a:cxn ang="T8">
                      <a:pos x="T4" y="T5"/>
                    </a:cxn>
                  </a:cxnLst>
                  <a:rect l="T9" t="T10" r="T11" b="T12"/>
                  <a:pathLst>
                    <a:path w="127" h="73">
                      <a:moveTo>
                        <a:pt x="0" y="72"/>
                      </a:moveTo>
                      <a:lnTo>
                        <a:pt x="36" y="24"/>
                      </a:lnTo>
                      <a:lnTo>
                        <a:pt x="126"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11" name="Freeform 182"/>
                <p:cNvSpPr>
                  <a:spLocks/>
                </p:cNvSpPr>
                <p:nvPr/>
              </p:nvSpPr>
              <p:spPr bwMode="auto">
                <a:xfrm>
                  <a:off x="1282" y="1432"/>
                  <a:ext cx="118" cy="49"/>
                </a:xfrm>
                <a:custGeom>
                  <a:avLst/>
                  <a:gdLst>
                    <a:gd name="T0" fmla="*/ 0 w 118"/>
                    <a:gd name="T1" fmla="*/ 0 h 49"/>
                    <a:gd name="T2" fmla="*/ 54 w 118"/>
                    <a:gd name="T3" fmla="*/ 24 h 49"/>
                    <a:gd name="T4" fmla="*/ 117 w 118"/>
                    <a:gd name="T5" fmla="*/ 48 h 49"/>
                    <a:gd name="T6" fmla="*/ 0 60000 65536"/>
                    <a:gd name="T7" fmla="*/ 0 60000 65536"/>
                    <a:gd name="T8" fmla="*/ 0 60000 65536"/>
                    <a:gd name="T9" fmla="*/ 0 w 118"/>
                    <a:gd name="T10" fmla="*/ 0 h 49"/>
                    <a:gd name="T11" fmla="*/ 118 w 118"/>
                    <a:gd name="T12" fmla="*/ 49 h 49"/>
                  </a:gdLst>
                  <a:ahLst/>
                  <a:cxnLst>
                    <a:cxn ang="T6">
                      <a:pos x="T0" y="T1"/>
                    </a:cxn>
                    <a:cxn ang="T7">
                      <a:pos x="T2" y="T3"/>
                    </a:cxn>
                    <a:cxn ang="T8">
                      <a:pos x="T4" y="T5"/>
                    </a:cxn>
                  </a:cxnLst>
                  <a:rect l="T9" t="T10" r="T11" b="T12"/>
                  <a:pathLst>
                    <a:path w="118" h="49">
                      <a:moveTo>
                        <a:pt x="0" y="0"/>
                      </a:moveTo>
                      <a:lnTo>
                        <a:pt x="54" y="24"/>
                      </a:lnTo>
                      <a:lnTo>
                        <a:pt x="117" y="48"/>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12" name="Line 183"/>
                <p:cNvSpPr>
                  <a:spLocks noChangeShapeType="1"/>
                </p:cNvSpPr>
                <p:nvPr/>
              </p:nvSpPr>
              <p:spPr bwMode="auto">
                <a:xfrm>
                  <a:off x="1259" y="1440"/>
                  <a:ext cx="118" cy="48"/>
                </a:xfrm>
                <a:prstGeom prst="line">
                  <a:avLst/>
                </a:prstGeom>
                <a:noFill/>
                <a:ln w="12700">
                  <a:solidFill>
                    <a:srgbClr val="009900"/>
                  </a:solidFill>
                  <a:round/>
                  <a:headEnd/>
                  <a:tailEnd/>
                </a:ln>
              </p:spPr>
              <p:txBody>
                <a:bodyPr wrap="none" anchor="ctr"/>
                <a:lstStyle/>
                <a:p>
                  <a:endParaRPr lang="en-US"/>
                </a:p>
              </p:txBody>
            </p:sp>
            <p:sp>
              <p:nvSpPr>
                <p:cNvPr id="40613" name="Freeform 184"/>
                <p:cNvSpPr>
                  <a:spLocks/>
                </p:cNvSpPr>
                <p:nvPr/>
              </p:nvSpPr>
              <p:spPr bwMode="auto">
                <a:xfrm>
                  <a:off x="1381" y="1296"/>
                  <a:ext cx="19" cy="41"/>
                </a:xfrm>
                <a:custGeom>
                  <a:avLst/>
                  <a:gdLst>
                    <a:gd name="T0" fmla="*/ 0 w 19"/>
                    <a:gd name="T1" fmla="*/ 40 h 41"/>
                    <a:gd name="T2" fmla="*/ 0 w 19"/>
                    <a:gd name="T3" fmla="*/ 40 h 41"/>
                    <a:gd name="T4" fmla="*/ 18 w 19"/>
                    <a:gd name="T5" fmla="*/ 0 h 41"/>
                    <a:gd name="T6" fmla="*/ 0 60000 65536"/>
                    <a:gd name="T7" fmla="*/ 0 60000 65536"/>
                    <a:gd name="T8" fmla="*/ 0 60000 65536"/>
                    <a:gd name="T9" fmla="*/ 0 w 19"/>
                    <a:gd name="T10" fmla="*/ 0 h 41"/>
                    <a:gd name="T11" fmla="*/ 19 w 19"/>
                    <a:gd name="T12" fmla="*/ 41 h 41"/>
                  </a:gdLst>
                  <a:ahLst/>
                  <a:cxnLst>
                    <a:cxn ang="T6">
                      <a:pos x="T0" y="T1"/>
                    </a:cxn>
                    <a:cxn ang="T7">
                      <a:pos x="T2" y="T3"/>
                    </a:cxn>
                    <a:cxn ang="T8">
                      <a:pos x="T4" y="T5"/>
                    </a:cxn>
                  </a:cxnLst>
                  <a:rect l="T9" t="T10" r="T11" b="T12"/>
                  <a:pathLst>
                    <a:path w="19" h="41">
                      <a:moveTo>
                        <a:pt x="0" y="40"/>
                      </a:moveTo>
                      <a:lnTo>
                        <a:pt x="0" y="40"/>
                      </a:lnTo>
                      <a:lnTo>
                        <a:pt x="1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14" name="Line 185"/>
                <p:cNvSpPr>
                  <a:spLocks noChangeShapeType="1"/>
                </p:cNvSpPr>
                <p:nvPr/>
              </p:nvSpPr>
              <p:spPr bwMode="auto">
                <a:xfrm flipV="1">
                  <a:off x="1385" y="1292"/>
                  <a:ext cx="19" cy="56"/>
                </a:xfrm>
                <a:prstGeom prst="line">
                  <a:avLst/>
                </a:prstGeom>
                <a:noFill/>
                <a:ln w="12700">
                  <a:solidFill>
                    <a:srgbClr val="009900"/>
                  </a:solidFill>
                  <a:round/>
                  <a:headEnd/>
                  <a:tailEnd/>
                </a:ln>
              </p:spPr>
              <p:txBody>
                <a:bodyPr wrap="none" anchor="ctr"/>
                <a:lstStyle/>
                <a:p>
                  <a:endParaRPr lang="en-US"/>
                </a:p>
              </p:txBody>
            </p:sp>
            <p:sp>
              <p:nvSpPr>
                <p:cNvPr id="40615" name="Freeform 186"/>
                <p:cNvSpPr>
                  <a:spLocks/>
                </p:cNvSpPr>
                <p:nvPr/>
              </p:nvSpPr>
              <p:spPr bwMode="auto">
                <a:xfrm>
                  <a:off x="1138" y="1240"/>
                  <a:ext cx="55" cy="137"/>
                </a:xfrm>
                <a:custGeom>
                  <a:avLst/>
                  <a:gdLst>
                    <a:gd name="T0" fmla="*/ 54 w 55"/>
                    <a:gd name="T1" fmla="*/ 136 h 137"/>
                    <a:gd name="T2" fmla="*/ 0 w 55"/>
                    <a:gd name="T3" fmla="*/ 104 h 137"/>
                    <a:gd name="T4" fmla="*/ 0 w 55"/>
                    <a:gd name="T5" fmla="*/ 0 h 137"/>
                    <a:gd name="T6" fmla="*/ 0 60000 65536"/>
                    <a:gd name="T7" fmla="*/ 0 60000 65536"/>
                    <a:gd name="T8" fmla="*/ 0 60000 65536"/>
                    <a:gd name="T9" fmla="*/ 0 w 55"/>
                    <a:gd name="T10" fmla="*/ 0 h 137"/>
                    <a:gd name="T11" fmla="*/ 55 w 55"/>
                    <a:gd name="T12" fmla="*/ 137 h 137"/>
                  </a:gdLst>
                  <a:ahLst/>
                  <a:cxnLst>
                    <a:cxn ang="T6">
                      <a:pos x="T0" y="T1"/>
                    </a:cxn>
                    <a:cxn ang="T7">
                      <a:pos x="T2" y="T3"/>
                    </a:cxn>
                    <a:cxn ang="T8">
                      <a:pos x="T4" y="T5"/>
                    </a:cxn>
                  </a:cxnLst>
                  <a:rect l="T9" t="T10" r="T11" b="T12"/>
                  <a:pathLst>
                    <a:path w="55" h="137">
                      <a:moveTo>
                        <a:pt x="54" y="136"/>
                      </a:moveTo>
                      <a:lnTo>
                        <a:pt x="0" y="104"/>
                      </a:lnTo>
                      <a:lnTo>
                        <a:pt x="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16" name="Freeform 187"/>
                <p:cNvSpPr>
                  <a:spLocks/>
                </p:cNvSpPr>
                <p:nvPr/>
              </p:nvSpPr>
              <p:spPr bwMode="auto">
                <a:xfrm>
                  <a:off x="1138" y="1240"/>
                  <a:ext cx="55" cy="137"/>
                </a:xfrm>
                <a:custGeom>
                  <a:avLst/>
                  <a:gdLst>
                    <a:gd name="T0" fmla="*/ 54 w 55"/>
                    <a:gd name="T1" fmla="*/ 136 h 137"/>
                    <a:gd name="T2" fmla="*/ 9 w 55"/>
                    <a:gd name="T3" fmla="*/ 80 h 137"/>
                    <a:gd name="T4" fmla="*/ 0 w 55"/>
                    <a:gd name="T5" fmla="*/ 0 h 137"/>
                    <a:gd name="T6" fmla="*/ 0 60000 65536"/>
                    <a:gd name="T7" fmla="*/ 0 60000 65536"/>
                    <a:gd name="T8" fmla="*/ 0 60000 65536"/>
                    <a:gd name="T9" fmla="*/ 0 w 55"/>
                    <a:gd name="T10" fmla="*/ 0 h 137"/>
                    <a:gd name="T11" fmla="*/ 55 w 55"/>
                    <a:gd name="T12" fmla="*/ 137 h 137"/>
                  </a:gdLst>
                  <a:ahLst/>
                  <a:cxnLst>
                    <a:cxn ang="T6">
                      <a:pos x="T0" y="T1"/>
                    </a:cxn>
                    <a:cxn ang="T7">
                      <a:pos x="T2" y="T3"/>
                    </a:cxn>
                    <a:cxn ang="T8">
                      <a:pos x="T4" y="T5"/>
                    </a:cxn>
                  </a:cxnLst>
                  <a:rect l="T9" t="T10" r="T11" b="T12"/>
                  <a:pathLst>
                    <a:path w="55" h="137">
                      <a:moveTo>
                        <a:pt x="54" y="136"/>
                      </a:moveTo>
                      <a:lnTo>
                        <a:pt x="9" y="80"/>
                      </a:lnTo>
                      <a:lnTo>
                        <a:pt x="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17" name="Freeform 188"/>
                <p:cNvSpPr>
                  <a:spLocks/>
                </p:cNvSpPr>
                <p:nvPr/>
              </p:nvSpPr>
              <p:spPr bwMode="auto">
                <a:xfrm>
                  <a:off x="1138" y="1288"/>
                  <a:ext cx="19" cy="41"/>
                </a:xfrm>
                <a:custGeom>
                  <a:avLst/>
                  <a:gdLst>
                    <a:gd name="T0" fmla="*/ 0 w 19"/>
                    <a:gd name="T1" fmla="*/ 40 h 41"/>
                    <a:gd name="T2" fmla="*/ 0 w 19"/>
                    <a:gd name="T3" fmla="*/ 40 h 41"/>
                    <a:gd name="T4" fmla="*/ 18 w 19"/>
                    <a:gd name="T5" fmla="*/ 0 h 41"/>
                    <a:gd name="T6" fmla="*/ 0 60000 65536"/>
                    <a:gd name="T7" fmla="*/ 0 60000 65536"/>
                    <a:gd name="T8" fmla="*/ 0 60000 65536"/>
                    <a:gd name="T9" fmla="*/ 0 w 19"/>
                    <a:gd name="T10" fmla="*/ 0 h 41"/>
                    <a:gd name="T11" fmla="*/ 19 w 19"/>
                    <a:gd name="T12" fmla="*/ 41 h 41"/>
                  </a:gdLst>
                  <a:ahLst/>
                  <a:cxnLst>
                    <a:cxn ang="T6">
                      <a:pos x="T0" y="T1"/>
                    </a:cxn>
                    <a:cxn ang="T7">
                      <a:pos x="T2" y="T3"/>
                    </a:cxn>
                    <a:cxn ang="T8">
                      <a:pos x="T4" y="T5"/>
                    </a:cxn>
                  </a:cxnLst>
                  <a:rect l="T9" t="T10" r="T11" b="T12"/>
                  <a:pathLst>
                    <a:path w="19" h="41">
                      <a:moveTo>
                        <a:pt x="0" y="40"/>
                      </a:moveTo>
                      <a:lnTo>
                        <a:pt x="0" y="40"/>
                      </a:lnTo>
                      <a:lnTo>
                        <a:pt x="1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18" name="Line 189"/>
                <p:cNvSpPr>
                  <a:spLocks noChangeShapeType="1"/>
                </p:cNvSpPr>
                <p:nvPr/>
              </p:nvSpPr>
              <p:spPr bwMode="auto">
                <a:xfrm flipV="1">
                  <a:off x="1142" y="1284"/>
                  <a:ext cx="19" cy="56"/>
                </a:xfrm>
                <a:prstGeom prst="line">
                  <a:avLst/>
                </a:prstGeom>
                <a:noFill/>
                <a:ln w="12700">
                  <a:solidFill>
                    <a:srgbClr val="009900"/>
                  </a:solidFill>
                  <a:round/>
                  <a:headEnd/>
                  <a:tailEnd/>
                </a:ln>
              </p:spPr>
              <p:txBody>
                <a:bodyPr wrap="none" anchor="ctr"/>
                <a:lstStyle/>
                <a:p>
                  <a:endParaRPr lang="en-US"/>
                </a:p>
              </p:txBody>
            </p:sp>
            <p:sp>
              <p:nvSpPr>
                <p:cNvPr id="40619" name="Freeform 190"/>
                <p:cNvSpPr>
                  <a:spLocks/>
                </p:cNvSpPr>
                <p:nvPr/>
              </p:nvSpPr>
              <p:spPr bwMode="auto">
                <a:xfrm>
                  <a:off x="1057" y="1200"/>
                  <a:ext cx="118" cy="49"/>
                </a:xfrm>
                <a:custGeom>
                  <a:avLst/>
                  <a:gdLst>
                    <a:gd name="T0" fmla="*/ 0 w 118"/>
                    <a:gd name="T1" fmla="*/ 0 h 49"/>
                    <a:gd name="T2" fmla="*/ 54 w 118"/>
                    <a:gd name="T3" fmla="*/ 24 h 49"/>
                    <a:gd name="T4" fmla="*/ 117 w 118"/>
                    <a:gd name="T5" fmla="*/ 48 h 49"/>
                    <a:gd name="T6" fmla="*/ 0 60000 65536"/>
                    <a:gd name="T7" fmla="*/ 0 60000 65536"/>
                    <a:gd name="T8" fmla="*/ 0 60000 65536"/>
                    <a:gd name="T9" fmla="*/ 0 w 118"/>
                    <a:gd name="T10" fmla="*/ 0 h 49"/>
                    <a:gd name="T11" fmla="*/ 118 w 118"/>
                    <a:gd name="T12" fmla="*/ 49 h 49"/>
                  </a:gdLst>
                  <a:ahLst/>
                  <a:cxnLst>
                    <a:cxn ang="T6">
                      <a:pos x="T0" y="T1"/>
                    </a:cxn>
                    <a:cxn ang="T7">
                      <a:pos x="T2" y="T3"/>
                    </a:cxn>
                    <a:cxn ang="T8">
                      <a:pos x="T4" y="T5"/>
                    </a:cxn>
                  </a:cxnLst>
                  <a:rect l="T9" t="T10" r="T11" b="T12"/>
                  <a:pathLst>
                    <a:path w="118" h="49">
                      <a:moveTo>
                        <a:pt x="0" y="0"/>
                      </a:moveTo>
                      <a:lnTo>
                        <a:pt x="54" y="24"/>
                      </a:lnTo>
                      <a:lnTo>
                        <a:pt x="117" y="48"/>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20" name="Line 191"/>
                <p:cNvSpPr>
                  <a:spLocks noChangeShapeType="1"/>
                </p:cNvSpPr>
                <p:nvPr/>
              </p:nvSpPr>
              <p:spPr bwMode="auto">
                <a:xfrm>
                  <a:off x="1048" y="1214"/>
                  <a:ext cx="118" cy="48"/>
                </a:xfrm>
                <a:prstGeom prst="line">
                  <a:avLst/>
                </a:prstGeom>
                <a:noFill/>
                <a:ln w="12700">
                  <a:solidFill>
                    <a:srgbClr val="009900"/>
                  </a:solidFill>
                  <a:round/>
                  <a:headEnd/>
                  <a:tailEnd/>
                </a:ln>
              </p:spPr>
              <p:txBody>
                <a:bodyPr wrap="none" anchor="ctr"/>
                <a:lstStyle/>
                <a:p>
                  <a:endParaRPr lang="en-US"/>
                </a:p>
              </p:txBody>
            </p:sp>
            <p:sp>
              <p:nvSpPr>
                <p:cNvPr id="40621" name="Freeform 192"/>
                <p:cNvSpPr>
                  <a:spLocks/>
                </p:cNvSpPr>
                <p:nvPr/>
              </p:nvSpPr>
              <p:spPr bwMode="auto">
                <a:xfrm>
                  <a:off x="1192" y="1200"/>
                  <a:ext cx="127" cy="81"/>
                </a:xfrm>
                <a:custGeom>
                  <a:avLst/>
                  <a:gdLst>
                    <a:gd name="T0" fmla="*/ 0 w 127"/>
                    <a:gd name="T1" fmla="*/ 80 h 81"/>
                    <a:gd name="T2" fmla="*/ 18 w 127"/>
                    <a:gd name="T3" fmla="*/ 24 h 81"/>
                    <a:gd name="T4" fmla="*/ 126 w 127"/>
                    <a:gd name="T5" fmla="*/ 0 h 81"/>
                    <a:gd name="T6" fmla="*/ 0 60000 65536"/>
                    <a:gd name="T7" fmla="*/ 0 60000 65536"/>
                    <a:gd name="T8" fmla="*/ 0 60000 65536"/>
                    <a:gd name="T9" fmla="*/ 0 w 127"/>
                    <a:gd name="T10" fmla="*/ 0 h 81"/>
                    <a:gd name="T11" fmla="*/ 127 w 127"/>
                    <a:gd name="T12" fmla="*/ 81 h 81"/>
                  </a:gdLst>
                  <a:ahLst/>
                  <a:cxnLst>
                    <a:cxn ang="T6">
                      <a:pos x="T0" y="T1"/>
                    </a:cxn>
                    <a:cxn ang="T7">
                      <a:pos x="T2" y="T3"/>
                    </a:cxn>
                    <a:cxn ang="T8">
                      <a:pos x="T4" y="T5"/>
                    </a:cxn>
                  </a:cxnLst>
                  <a:rect l="T9" t="T10" r="T11" b="T12"/>
                  <a:pathLst>
                    <a:path w="127" h="81">
                      <a:moveTo>
                        <a:pt x="0" y="80"/>
                      </a:moveTo>
                      <a:lnTo>
                        <a:pt x="18" y="24"/>
                      </a:lnTo>
                      <a:lnTo>
                        <a:pt x="126"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22" name="Freeform 193"/>
                <p:cNvSpPr>
                  <a:spLocks/>
                </p:cNvSpPr>
                <p:nvPr/>
              </p:nvSpPr>
              <p:spPr bwMode="auto">
                <a:xfrm>
                  <a:off x="1192" y="1200"/>
                  <a:ext cx="127" cy="81"/>
                </a:xfrm>
                <a:custGeom>
                  <a:avLst/>
                  <a:gdLst>
                    <a:gd name="T0" fmla="*/ 0 w 127"/>
                    <a:gd name="T1" fmla="*/ 80 h 81"/>
                    <a:gd name="T2" fmla="*/ 36 w 127"/>
                    <a:gd name="T3" fmla="*/ 32 h 81"/>
                    <a:gd name="T4" fmla="*/ 126 w 127"/>
                    <a:gd name="T5" fmla="*/ 0 h 81"/>
                    <a:gd name="T6" fmla="*/ 0 60000 65536"/>
                    <a:gd name="T7" fmla="*/ 0 60000 65536"/>
                    <a:gd name="T8" fmla="*/ 0 60000 65536"/>
                    <a:gd name="T9" fmla="*/ 0 w 127"/>
                    <a:gd name="T10" fmla="*/ 0 h 81"/>
                    <a:gd name="T11" fmla="*/ 127 w 127"/>
                    <a:gd name="T12" fmla="*/ 81 h 81"/>
                  </a:gdLst>
                  <a:ahLst/>
                  <a:cxnLst>
                    <a:cxn ang="T6">
                      <a:pos x="T0" y="T1"/>
                    </a:cxn>
                    <a:cxn ang="T7">
                      <a:pos x="T2" y="T3"/>
                    </a:cxn>
                    <a:cxn ang="T8">
                      <a:pos x="T4" y="T5"/>
                    </a:cxn>
                  </a:cxnLst>
                  <a:rect l="T9" t="T10" r="T11" b="T12"/>
                  <a:pathLst>
                    <a:path w="127" h="81">
                      <a:moveTo>
                        <a:pt x="0" y="80"/>
                      </a:moveTo>
                      <a:lnTo>
                        <a:pt x="36" y="32"/>
                      </a:lnTo>
                      <a:lnTo>
                        <a:pt x="126"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23" name="Freeform 194"/>
                <p:cNvSpPr>
                  <a:spLocks/>
                </p:cNvSpPr>
                <p:nvPr/>
              </p:nvSpPr>
              <p:spPr bwMode="auto">
                <a:xfrm>
                  <a:off x="1255" y="1328"/>
                  <a:ext cx="10" cy="49"/>
                </a:xfrm>
                <a:custGeom>
                  <a:avLst/>
                  <a:gdLst>
                    <a:gd name="T0" fmla="*/ 0 w 10"/>
                    <a:gd name="T1" fmla="*/ 48 h 49"/>
                    <a:gd name="T2" fmla="*/ 0 w 10"/>
                    <a:gd name="T3" fmla="*/ 48 h 49"/>
                    <a:gd name="T4" fmla="*/ 9 w 10"/>
                    <a:gd name="T5" fmla="*/ 0 h 49"/>
                    <a:gd name="T6" fmla="*/ 0 60000 65536"/>
                    <a:gd name="T7" fmla="*/ 0 60000 65536"/>
                    <a:gd name="T8" fmla="*/ 0 60000 65536"/>
                    <a:gd name="T9" fmla="*/ 0 w 10"/>
                    <a:gd name="T10" fmla="*/ 0 h 49"/>
                    <a:gd name="T11" fmla="*/ 10 w 10"/>
                    <a:gd name="T12" fmla="*/ 49 h 49"/>
                  </a:gdLst>
                  <a:ahLst/>
                  <a:cxnLst>
                    <a:cxn ang="T6">
                      <a:pos x="T0" y="T1"/>
                    </a:cxn>
                    <a:cxn ang="T7">
                      <a:pos x="T2" y="T3"/>
                    </a:cxn>
                    <a:cxn ang="T8">
                      <a:pos x="T4" y="T5"/>
                    </a:cxn>
                  </a:cxnLst>
                  <a:rect l="T9" t="T10" r="T11" b="T12"/>
                  <a:pathLst>
                    <a:path w="10" h="49">
                      <a:moveTo>
                        <a:pt x="0" y="48"/>
                      </a:moveTo>
                      <a:lnTo>
                        <a:pt x="0" y="48"/>
                      </a:lnTo>
                      <a:lnTo>
                        <a:pt x="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24" name="Line 195"/>
                <p:cNvSpPr>
                  <a:spLocks noChangeShapeType="1"/>
                </p:cNvSpPr>
                <p:nvPr/>
              </p:nvSpPr>
              <p:spPr bwMode="auto">
                <a:xfrm flipV="1">
                  <a:off x="1264" y="1324"/>
                  <a:ext cx="1" cy="56"/>
                </a:xfrm>
                <a:prstGeom prst="line">
                  <a:avLst/>
                </a:prstGeom>
                <a:noFill/>
                <a:ln w="12700">
                  <a:solidFill>
                    <a:srgbClr val="009900"/>
                  </a:solidFill>
                  <a:round/>
                  <a:headEnd/>
                  <a:tailEnd/>
                </a:ln>
              </p:spPr>
              <p:txBody>
                <a:bodyPr wrap="none" anchor="ctr"/>
                <a:lstStyle/>
                <a:p>
                  <a:endParaRPr lang="en-US"/>
                </a:p>
              </p:txBody>
            </p:sp>
            <p:sp>
              <p:nvSpPr>
                <p:cNvPr id="40625" name="Freeform 196"/>
                <p:cNvSpPr>
                  <a:spLocks/>
                </p:cNvSpPr>
                <p:nvPr/>
              </p:nvSpPr>
              <p:spPr bwMode="auto">
                <a:xfrm>
                  <a:off x="1273" y="1320"/>
                  <a:ext cx="118" cy="49"/>
                </a:xfrm>
                <a:custGeom>
                  <a:avLst/>
                  <a:gdLst>
                    <a:gd name="T0" fmla="*/ 0 w 118"/>
                    <a:gd name="T1" fmla="*/ 0 h 49"/>
                    <a:gd name="T2" fmla="*/ 54 w 118"/>
                    <a:gd name="T3" fmla="*/ 24 h 49"/>
                    <a:gd name="T4" fmla="*/ 117 w 118"/>
                    <a:gd name="T5" fmla="*/ 48 h 49"/>
                    <a:gd name="T6" fmla="*/ 0 60000 65536"/>
                    <a:gd name="T7" fmla="*/ 0 60000 65536"/>
                    <a:gd name="T8" fmla="*/ 0 60000 65536"/>
                    <a:gd name="T9" fmla="*/ 0 w 118"/>
                    <a:gd name="T10" fmla="*/ 0 h 49"/>
                    <a:gd name="T11" fmla="*/ 118 w 118"/>
                    <a:gd name="T12" fmla="*/ 49 h 49"/>
                  </a:gdLst>
                  <a:ahLst/>
                  <a:cxnLst>
                    <a:cxn ang="T6">
                      <a:pos x="T0" y="T1"/>
                    </a:cxn>
                    <a:cxn ang="T7">
                      <a:pos x="T2" y="T3"/>
                    </a:cxn>
                    <a:cxn ang="T8">
                      <a:pos x="T4" y="T5"/>
                    </a:cxn>
                  </a:cxnLst>
                  <a:rect l="T9" t="T10" r="T11" b="T12"/>
                  <a:pathLst>
                    <a:path w="118" h="49">
                      <a:moveTo>
                        <a:pt x="0" y="0"/>
                      </a:moveTo>
                      <a:lnTo>
                        <a:pt x="54" y="24"/>
                      </a:lnTo>
                      <a:lnTo>
                        <a:pt x="117" y="48"/>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26" name="Line 197"/>
                <p:cNvSpPr>
                  <a:spLocks noChangeShapeType="1"/>
                </p:cNvSpPr>
                <p:nvPr/>
              </p:nvSpPr>
              <p:spPr bwMode="auto">
                <a:xfrm>
                  <a:off x="1281" y="1308"/>
                  <a:ext cx="119" cy="48"/>
                </a:xfrm>
                <a:prstGeom prst="line">
                  <a:avLst/>
                </a:prstGeom>
                <a:noFill/>
                <a:ln w="12700">
                  <a:solidFill>
                    <a:srgbClr val="009900"/>
                  </a:solidFill>
                  <a:round/>
                  <a:headEnd/>
                  <a:tailEnd/>
                </a:ln>
              </p:spPr>
              <p:txBody>
                <a:bodyPr wrap="none" anchor="ctr"/>
                <a:lstStyle/>
                <a:p>
                  <a:endParaRPr lang="en-US"/>
                </a:p>
              </p:txBody>
            </p:sp>
            <p:sp>
              <p:nvSpPr>
                <p:cNvPr id="40627" name="Freeform 198"/>
                <p:cNvSpPr>
                  <a:spLocks/>
                </p:cNvSpPr>
                <p:nvPr/>
              </p:nvSpPr>
              <p:spPr bwMode="auto">
                <a:xfrm>
                  <a:off x="1003" y="1192"/>
                  <a:ext cx="127" cy="81"/>
                </a:xfrm>
                <a:custGeom>
                  <a:avLst/>
                  <a:gdLst>
                    <a:gd name="T0" fmla="*/ 0 w 127"/>
                    <a:gd name="T1" fmla="*/ 80 h 81"/>
                    <a:gd name="T2" fmla="*/ 18 w 127"/>
                    <a:gd name="T3" fmla="*/ 32 h 81"/>
                    <a:gd name="T4" fmla="*/ 126 w 127"/>
                    <a:gd name="T5" fmla="*/ 0 h 81"/>
                    <a:gd name="T6" fmla="*/ 0 60000 65536"/>
                    <a:gd name="T7" fmla="*/ 0 60000 65536"/>
                    <a:gd name="T8" fmla="*/ 0 60000 65536"/>
                    <a:gd name="T9" fmla="*/ 0 w 127"/>
                    <a:gd name="T10" fmla="*/ 0 h 81"/>
                    <a:gd name="T11" fmla="*/ 127 w 127"/>
                    <a:gd name="T12" fmla="*/ 81 h 81"/>
                  </a:gdLst>
                  <a:ahLst/>
                  <a:cxnLst>
                    <a:cxn ang="T6">
                      <a:pos x="T0" y="T1"/>
                    </a:cxn>
                    <a:cxn ang="T7">
                      <a:pos x="T2" y="T3"/>
                    </a:cxn>
                    <a:cxn ang="T8">
                      <a:pos x="T4" y="T5"/>
                    </a:cxn>
                  </a:cxnLst>
                  <a:rect l="T9" t="T10" r="T11" b="T12"/>
                  <a:pathLst>
                    <a:path w="127" h="81">
                      <a:moveTo>
                        <a:pt x="0" y="80"/>
                      </a:moveTo>
                      <a:lnTo>
                        <a:pt x="18" y="32"/>
                      </a:lnTo>
                      <a:lnTo>
                        <a:pt x="126"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28" name="Freeform 199"/>
                <p:cNvSpPr>
                  <a:spLocks/>
                </p:cNvSpPr>
                <p:nvPr/>
              </p:nvSpPr>
              <p:spPr bwMode="auto">
                <a:xfrm>
                  <a:off x="1003" y="1192"/>
                  <a:ext cx="127" cy="81"/>
                </a:xfrm>
                <a:custGeom>
                  <a:avLst/>
                  <a:gdLst>
                    <a:gd name="T0" fmla="*/ 0 w 127"/>
                    <a:gd name="T1" fmla="*/ 80 h 81"/>
                    <a:gd name="T2" fmla="*/ 36 w 127"/>
                    <a:gd name="T3" fmla="*/ 32 h 81"/>
                    <a:gd name="T4" fmla="*/ 126 w 127"/>
                    <a:gd name="T5" fmla="*/ 0 h 81"/>
                    <a:gd name="T6" fmla="*/ 0 60000 65536"/>
                    <a:gd name="T7" fmla="*/ 0 60000 65536"/>
                    <a:gd name="T8" fmla="*/ 0 60000 65536"/>
                    <a:gd name="T9" fmla="*/ 0 w 127"/>
                    <a:gd name="T10" fmla="*/ 0 h 81"/>
                    <a:gd name="T11" fmla="*/ 127 w 127"/>
                    <a:gd name="T12" fmla="*/ 81 h 81"/>
                  </a:gdLst>
                  <a:ahLst/>
                  <a:cxnLst>
                    <a:cxn ang="T6">
                      <a:pos x="T0" y="T1"/>
                    </a:cxn>
                    <a:cxn ang="T7">
                      <a:pos x="T2" y="T3"/>
                    </a:cxn>
                    <a:cxn ang="T8">
                      <a:pos x="T4" y="T5"/>
                    </a:cxn>
                  </a:cxnLst>
                  <a:rect l="T9" t="T10" r="T11" b="T12"/>
                  <a:pathLst>
                    <a:path w="127" h="81">
                      <a:moveTo>
                        <a:pt x="0" y="80"/>
                      </a:moveTo>
                      <a:lnTo>
                        <a:pt x="36" y="32"/>
                      </a:lnTo>
                      <a:lnTo>
                        <a:pt x="126"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29" name="Freeform 200"/>
                <p:cNvSpPr>
                  <a:spLocks/>
                </p:cNvSpPr>
                <p:nvPr/>
              </p:nvSpPr>
              <p:spPr bwMode="auto">
                <a:xfrm>
                  <a:off x="1066" y="1328"/>
                  <a:ext cx="19" cy="41"/>
                </a:xfrm>
                <a:custGeom>
                  <a:avLst/>
                  <a:gdLst>
                    <a:gd name="T0" fmla="*/ 0 w 19"/>
                    <a:gd name="T1" fmla="*/ 40 h 41"/>
                    <a:gd name="T2" fmla="*/ 0 w 19"/>
                    <a:gd name="T3" fmla="*/ 40 h 41"/>
                    <a:gd name="T4" fmla="*/ 18 w 19"/>
                    <a:gd name="T5" fmla="*/ 0 h 41"/>
                    <a:gd name="T6" fmla="*/ 0 60000 65536"/>
                    <a:gd name="T7" fmla="*/ 0 60000 65536"/>
                    <a:gd name="T8" fmla="*/ 0 60000 65536"/>
                    <a:gd name="T9" fmla="*/ 0 w 19"/>
                    <a:gd name="T10" fmla="*/ 0 h 41"/>
                    <a:gd name="T11" fmla="*/ 19 w 19"/>
                    <a:gd name="T12" fmla="*/ 41 h 41"/>
                  </a:gdLst>
                  <a:ahLst/>
                  <a:cxnLst>
                    <a:cxn ang="T6">
                      <a:pos x="T0" y="T1"/>
                    </a:cxn>
                    <a:cxn ang="T7">
                      <a:pos x="T2" y="T3"/>
                    </a:cxn>
                    <a:cxn ang="T8">
                      <a:pos x="T4" y="T5"/>
                    </a:cxn>
                  </a:cxnLst>
                  <a:rect l="T9" t="T10" r="T11" b="T12"/>
                  <a:pathLst>
                    <a:path w="19" h="41">
                      <a:moveTo>
                        <a:pt x="0" y="40"/>
                      </a:moveTo>
                      <a:lnTo>
                        <a:pt x="0" y="40"/>
                      </a:lnTo>
                      <a:lnTo>
                        <a:pt x="1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30" name="Line 201"/>
                <p:cNvSpPr>
                  <a:spLocks noChangeShapeType="1"/>
                </p:cNvSpPr>
                <p:nvPr/>
              </p:nvSpPr>
              <p:spPr bwMode="auto">
                <a:xfrm flipV="1">
                  <a:off x="1070" y="1324"/>
                  <a:ext cx="19" cy="56"/>
                </a:xfrm>
                <a:prstGeom prst="line">
                  <a:avLst/>
                </a:prstGeom>
                <a:noFill/>
                <a:ln w="12700">
                  <a:solidFill>
                    <a:srgbClr val="009900"/>
                  </a:solidFill>
                  <a:round/>
                  <a:headEnd/>
                  <a:tailEnd/>
                </a:ln>
              </p:spPr>
              <p:txBody>
                <a:bodyPr wrap="none" anchor="ctr"/>
                <a:lstStyle/>
                <a:p>
                  <a:endParaRPr lang="en-US"/>
                </a:p>
              </p:txBody>
            </p:sp>
            <p:sp>
              <p:nvSpPr>
                <p:cNvPr id="40631" name="Freeform 202"/>
                <p:cNvSpPr>
                  <a:spLocks/>
                </p:cNvSpPr>
                <p:nvPr/>
              </p:nvSpPr>
              <p:spPr bwMode="auto">
                <a:xfrm>
                  <a:off x="1084" y="1312"/>
                  <a:ext cx="118" cy="57"/>
                </a:xfrm>
                <a:custGeom>
                  <a:avLst/>
                  <a:gdLst>
                    <a:gd name="T0" fmla="*/ 0 w 118"/>
                    <a:gd name="T1" fmla="*/ 0 h 57"/>
                    <a:gd name="T2" fmla="*/ 54 w 118"/>
                    <a:gd name="T3" fmla="*/ 24 h 57"/>
                    <a:gd name="T4" fmla="*/ 117 w 118"/>
                    <a:gd name="T5" fmla="*/ 56 h 57"/>
                    <a:gd name="T6" fmla="*/ 0 60000 65536"/>
                    <a:gd name="T7" fmla="*/ 0 60000 65536"/>
                    <a:gd name="T8" fmla="*/ 0 60000 65536"/>
                    <a:gd name="T9" fmla="*/ 0 w 118"/>
                    <a:gd name="T10" fmla="*/ 0 h 57"/>
                    <a:gd name="T11" fmla="*/ 118 w 118"/>
                    <a:gd name="T12" fmla="*/ 57 h 57"/>
                  </a:gdLst>
                  <a:ahLst/>
                  <a:cxnLst>
                    <a:cxn ang="T6">
                      <a:pos x="T0" y="T1"/>
                    </a:cxn>
                    <a:cxn ang="T7">
                      <a:pos x="T2" y="T3"/>
                    </a:cxn>
                    <a:cxn ang="T8">
                      <a:pos x="T4" y="T5"/>
                    </a:cxn>
                  </a:cxnLst>
                  <a:rect l="T9" t="T10" r="T11" b="T12"/>
                  <a:pathLst>
                    <a:path w="118" h="57">
                      <a:moveTo>
                        <a:pt x="0" y="0"/>
                      </a:moveTo>
                      <a:lnTo>
                        <a:pt x="54" y="24"/>
                      </a:lnTo>
                      <a:lnTo>
                        <a:pt x="117" y="56"/>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32" name="Line 203"/>
                <p:cNvSpPr>
                  <a:spLocks noChangeShapeType="1"/>
                </p:cNvSpPr>
                <p:nvPr/>
              </p:nvSpPr>
              <p:spPr bwMode="auto">
                <a:xfrm>
                  <a:off x="1088" y="1316"/>
                  <a:ext cx="118" cy="56"/>
                </a:xfrm>
                <a:prstGeom prst="line">
                  <a:avLst/>
                </a:prstGeom>
                <a:noFill/>
                <a:ln w="12700">
                  <a:solidFill>
                    <a:srgbClr val="009900"/>
                  </a:solidFill>
                  <a:round/>
                  <a:headEnd/>
                  <a:tailEnd/>
                </a:ln>
              </p:spPr>
              <p:txBody>
                <a:bodyPr wrap="none" anchor="ctr"/>
                <a:lstStyle/>
                <a:p>
                  <a:endParaRPr lang="en-US"/>
                </a:p>
              </p:txBody>
            </p:sp>
            <p:sp>
              <p:nvSpPr>
                <p:cNvPr id="40633" name="Freeform 204"/>
                <p:cNvSpPr>
                  <a:spLocks/>
                </p:cNvSpPr>
                <p:nvPr/>
              </p:nvSpPr>
              <p:spPr bwMode="auto">
                <a:xfrm>
                  <a:off x="1003" y="1192"/>
                  <a:ext cx="127" cy="81"/>
                </a:xfrm>
                <a:custGeom>
                  <a:avLst/>
                  <a:gdLst>
                    <a:gd name="T0" fmla="*/ 0 w 127"/>
                    <a:gd name="T1" fmla="*/ 80 h 81"/>
                    <a:gd name="T2" fmla="*/ 18 w 127"/>
                    <a:gd name="T3" fmla="*/ 32 h 81"/>
                    <a:gd name="T4" fmla="*/ 126 w 127"/>
                    <a:gd name="T5" fmla="*/ 0 h 81"/>
                    <a:gd name="T6" fmla="*/ 0 60000 65536"/>
                    <a:gd name="T7" fmla="*/ 0 60000 65536"/>
                    <a:gd name="T8" fmla="*/ 0 60000 65536"/>
                    <a:gd name="T9" fmla="*/ 0 w 127"/>
                    <a:gd name="T10" fmla="*/ 0 h 81"/>
                    <a:gd name="T11" fmla="*/ 127 w 127"/>
                    <a:gd name="T12" fmla="*/ 81 h 81"/>
                  </a:gdLst>
                  <a:ahLst/>
                  <a:cxnLst>
                    <a:cxn ang="T6">
                      <a:pos x="T0" y="T1"/>
                    </a:cxn>
                    <a:cxn ang="T7">
                      <a:pos x="T2" y="T3"/>
                    </a:cxn>
                    <a:cxn ang="T8">
                      <a:pos x="T4" y="T5"/>
                    </a:cxn>
                  </a:cxnLst>
                  <a:rect l="T9" t="T10" r="T11" b="T12"/>
                  <a:pathLst>
                    <a:path w="127" h="81">
                      <a:moveTo>
                        <a:pt x="0" y="80"/>
                      </a:moveTo>
                      <a:lnTo>
                        <a:pt x="18" y="32"/>
                      </a:lnTo>
                      <a:lnTo>
                        <a:pt x="126"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34" name="Freeform 205"/>
                <p:cNvSpPr>
                  <a:spLocks/>
                </p:cNvSpPr>
                <p:nvPr/>
              </p:nvSpPr>
              <p:spPr bwMode="auto">
                <a:xfrm>
                  <a:off x="1003" y="1192"/>
                  <a:ext cx="127" cy="81"/>
                </a:xfrm>
                <a:custGeom>
                  <a:avLst/>
                  <a:gdLst>
                    <a:gd name="T0" fmla="*/ 0 w 127"/>
                    <a:gd name="T1" fmla="*/ 80 h 81"/>
                    <a:gd name="T2" fmla="*/ 36 w 127"/>
                    <a:gd name="T3" fmla="*/ 32 h 81"/>
                    <a:gd name="T4" fmla="*/ 126 w 127"/>
                    <a:gd name="T5" fmla="*/ 0 h 81"/>
                    <a:gd name="T6" fmla="*/ 0 60000 65536"/>
                    <a:gd name="T7" fmla="*/ 0 60000 65536"/>
                    <a:gd name="T8" fmla="*/ 0 60000 65536"/>
                    <a:gd name="T9" fmla="*/ 0 w 127"/>
                    <a:gd name="T10" fmla="*/ 0 h 81"/>
                    <a:gd name="T11" fmla="*/ 127 w 127"/>
                    <a:gd name="T12" fmla="*/ 81 h 81"/>
                  </a:gdLst>
                  <a:ahLst/>
                  <a:cxnLst>
                    <a:cxn ang="T6">
                      <a:pos x="T0" y="T1"/>
                    </a:cxn>
                    <a:cxn ang="T7">
                      <a:pos x="T2" y="T3"/>
                    </a:cxn>
                    <a:cxn ang="T8">
                      <a:pos x="T4" y="T5"/>
                    </a:cxn>
                  </a:cxnLst>
                  <a:rect l="T9" t="T10" r="T11" b="T12"/>
                  <a:pathLst>
                    <a:path w="127" h="81">
                      <a:moveTo>
                        <a:pt x="0" y="80"/>
                      </a:moveTo>
                      <a:lnTo>
                        <a:pt x="36" y="32"/>
                      </a:lnTo>
                      <a:lnTo>
                        <a:pt x="126"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35" name="Freeform 206"/>
                <p:cNvSpPr>
                  <a:spLocks/>
                </p:cNvSpPr>
                <p:nvPr/>
              </p:nvSpPr>
              <p:spPr bwMode="auto">
                <a:xfrm>
                  <a:off x="1066" y="1328"/>
                  <a:ext cx="19" cy="41"/>
                </a:xfrm>
                <a:custGeom>
                  <a:avLst/>
                  <a:gdLst>
                    <a:gd name="T0" fmla="*/ 0 w 19"/>
                    <a:gd name="T1" fmla="*/ 40 h 41"/>
                    <a:gd name="T2" fmla="*/ 0 w 19"/>
                    <a:gd name="T3" fmla="*/ 40 h 41"/>
                    <a:gd name="T4" fmla="*/ 18 w 19"/>
                    <a:gd name="T5" fmla="*/ 0 h 41"/>
                    <a:gd name="T6" fmla="*/ 0 60000 65536"/>
                    <a:gd name="T7" fmla="*/ 0 60000 65536"/>
                    <a:gd name="T8" fmla="*/ 0 60000 65536"/>
                    <a:gd name="T9" fmla="*/ 0 w 19"/>
                    <a:gd name="T10" fmla="*/ 0 h 41"/>
                    <a:gd name="T11" fmla="*/ 19 w 19"/>
                    <a:gd name="T12" fmla="*/ 41 h 41"/>
                  </a:gdLst>
                  <a:ahLst/>
                  <a:cxnLst>
                    <a:cxn ang="T6">
                      <a:pos x="T0" y="T1"/>
                    </a:cxn>
                    <a:cxn ang="T7">
                      <a:pos x="T2" y="T3"/>
                    </a:cxn>
                    <a:cxn ang="T8">
                      <a:pos x="T4" y="T5"/>
                    </a:cxn>
                  </a:cxnLst>
                  <a:rect l="T9" t="T10" r="T11" b="T12"/>
                  <a:pathLst>
                    <a:path w="19" h="41">
                      <a:moveTo>
                        <a:pt x="0" y="40"/>
                      </a:moveTo>
                      <a:lnTo>
                        <a:pt x="0" y="40"/>
                      </a:lnTo>
                      <a:lnTo>
                        <a:pt x="1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36" name="Line 207"/>
                <p:cNvSpPr>
                  <a:spLocks noChangeShapeType="1"/>
                </p:cNvSpPr>
                <p:nvPr/>
              </p:nvSpPr>
              <p:spPr bwMode="auto">
                <a:xfrm flipV="1">
                  <a:off x="1070" y="1324"/>
                  <a:ext cx="19" cy="56"/>
                </a:xfrm>
                <a:prstGeom prst="line">
                  <a:avLst/>
                </a:prstGeom>
                <a:noFill/>
                <a:ln w="12700">
                  <a:solidFill>
                    <a:srgbClr val="009900"/>
                  </a:solidFill>
                  <a:round/>
                  <a:headEnd/>
                  <a:tailEnd/>
                </a:ln>
              </p:spPr>
              <p:txBody>
                <a:bodyPr wrap="none" anchor="ctr"/>
                <a:lstStyle/>
                <a:p>
                  <a:endParaRPr lang="en-US"/>
                </a:p>
              </p:txBody>
            </p:sp>
            <p:sp>
              <p:nvSpPr>
                <p:cNvPr id="40637" name="Freeform 208"/>
                <p:cNvSpPr>
                  <a:spLocks/>
                </p:cNvSpPr>
                <p:nvPr/>
              </p:nvSpPr>
              <p:spPr bwMode="auto">
                <a:xfrm>
                  <a:off x="1084" y="1312"/>
                  <a:ext cx="118" cy="57"/>
                </a:xfrm>
                <a:custGeom>
                  <a:avLst/>
                  <a:gdLst>
                    <a:gd name="T0" fmla="*/ 0 w 118"/>
                    <a:gd name="T1" fmla="*/ 0 h 57"/>
                    <a:gd name="T2" fmla="*/ 54 w 118"/>
                    <a:gd name="T3" fmla="*/ 24 h 57"/>
                    <a:gd name="T4" fmla="*/ 117 w 118"/>
                    <a:gd name="T5" fmla="*/ 56 h 57"/>
                    <a:gd name="T6" fmla="*/ 0 60000 65536"/>
                    <a:gd name="T7" fmla="*/ 0 60000 65536"/>
                    <a:gd name="T8" fmla="*/ 0 60000 65536"/>
                    <a:gd name="T9" fmla="*/ 0 w 118"/>
                    <a:gd name="T10" fmla="*/ 0 h 57"/>
                    <a:gd name="T11" fmla="*/ 118 w 118"/>
                    <a:gd name="T12" fmla="*/ 57 h 57"/>
                  </a:gdLst>
                  <a:ahLst/>
                  <a:cxnLst>
                    <a:cxn ang="T6">
                      <a:pos x="T0" y="T1"/>
                    </a:cxn>
                    <a:cxn ang="T7">
                      <a:pos x="T2" y="T3"/>
                    </a:cxn>
                    <a:cxn ang="T8">
                      <a:pos x="T4" y="T5"/>
                    </a:cxn>
                  </a:cxnLst>
                  <a:rect l="T9" t="T10" r="T11" b="T12"/>
                  <a:pathLst>
                    <a:path w="118" h="57">
                      <a:moveTo>
                        <a:pt x="0" y="0"/>
                      </a:moveTo>
                      <a:lnTo>
                        <a:pt x="54" y="24"/>
                      </a:lnTo>
                      <a:lnTo>
                        <a:pt x="117" y="56"/>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38" name="Line 209"/>
                <p:cNvSpPr>
                  <a:spLocks noChangeShapeType="1"/>
                </p:cNvSpPr>
                <p:nvPr/>
              </p:nvSpPr>
              <p:spPr bwMode="auto">
                <a:xfrm>
                  <a:off x="1088" y="1316"/>
                  <a:ext cx="118" cy="56"/>
                </a:xfrm>
                <a:prstGeom prst="line">
                  <a:avLst/>
                </a:prstGeom>
                <a:noFill/>
                <a:ln w="12700">
                  <a:solidFill>
                    <a:srgbClr val="009900"/>
                  </a:solidFill>
                  <a:round/>
                  <a:headEnd/>
                  <a:tailEnd/>
                </a:ln>
              </p:spPr>
              <p:txBody>
                <a:bodyPr wrap="none" anchor="ctr"/>
                <a:lstStyle/>
                <a:p>
                  <a:endParaRPr lang="en-US"/>
                </a:p>
              </p:txBody>
            </p:sp>
            <p:sp>
              <p:nvSpPr>
                <p:cNvPr id="40639" name="Freeform 210"/>
                <p:cNvSpPr>
                  <a:spLocks/>
                </p:cNvSpPr>
                <p:nvPr/>
              </p:nvSpPr>
              <p:spPr bwMode="auto">
                <a:xfrm>
                  <a:off x="1111" y="1416"/>
                  <a:ext cx="10" cy="41"/>
                </a:xfrm>
                <a:custGeom>
                  <a:avLst/>
                  <a:gdLst>
                    <a:gd name="T0" fmla="*/ 0 w 10"/>
                    <a:gd name="T1" fmla="*/ 40 h 41"/>
                    <a:gd name="T2" fmla="*/ 0 w 10"/>
                    <a:gd name="T3" fmla="*/ 40 h 41"/>
                    <a:gd name="T4" fmla="*/ 9 w 10"/>
                    <a:gd name="T5" fmla="*/ 0 h 41"/>
                    <a:gd name="T6" fmla="*/ 0 60000 65536"/>
                    <a:gd name="T7" fmla="*/ 0 60000 65536"/>
                    <a:gd name="T8" fmla="*/ 0 60000 65536"/>
                    <a:gd name="T9" fmla="*/ 0 w 10"/>
                    <a:gd name="T10" fmla="*/ 0 h 41"/>
                    <a:gd name="T11" fmla="*/ 10 w 10"/>
                    <a:gd name="T12" fmla="*/ 41 h 41"/>
                  </a:gdLst>
                  <a:ahLst/>
                  <a:cxnLst>
                    <a:cxn ang="T6">
                      <a:pos x="T0" y="T1"/>
                    </a:cxn>
                    <a:cxn ang="T7">
                      <a:pos x="T2" y="T3"/>
                    </a:cxn>
                    <a:cxn ang="T8">
                      <a:pos x="T4" y="T5"/>
                    </a:cxn>
                  </a:cxnLst>
                  <a:rect l="T9" t="T10" r="T11" b="T12"/>
                  <a:pathLst>
                    <a:path w="10" h="41">
                      <a:moveTo>
                        <a:pt x="0" y="40"/>
                      </a:moveTo>
                      <a:lnTo>
                        <a:pt x="0" y="40"/>
                      </a:lnTo>
                      <a:lnTo>
                        <a:pt x="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40" name="Line 211"/>
                <p:cNvSpPr>
                  <a:spLocks noChangeShapeType="1"/>
                </p:cNvSpPr>
                <p:nvPr/>
              </p:nvSpPr>
              <p:spPr bwMode="auto">
                <a:xfrm flipV="1">
                  <a:off x="1278" y="1506"/>
                  <a:ext cx="1" cy="47"/>
                </a:xfrm>
                <a:prstGeom prst="line">
                  <a:avLst/>
                </a:prstGeom>
                <a:noFill/>
                <a:ln w="12700">
                  <a:solidFill>
                    <a:srgbClr val="009900"/>
                  </a:solidFill>
                  <a:round/>
                  <a:headEnd/>
                  <a:tailEnd/>
                </a:ln>
              </p:spPr>
              <p:txBody>
                <a:bodyPr wrap="none" anchor="ctr"/>
                <a:lstStyle/>
                <a:p>
                  <a:endParaRPr lang="en-US"/>
                </a:p>
              </p:txBody>
            </p:sp>
            <p:sp>
              <p:nvSpPr>
                <p:cNvPr id="40641" name="Freeform 212"/>
                <p:cNvSpPr>
                  <a:spLocks/>
                </p:cNvSpPr>
                <p:nvPr/>
              </p:nvSpPr>
              <p:spPr bwMode="auto">
                <a:xfrm>
                  <a:off x="1075" y="1080"/>
                  <a:ext cx="118" cy="57"/>
                </a:xfrm>
                <a:custGeom>
                  <a:avLst/>
                  <a:gdLst>
                    <a:gd name="T0" fmla="*/ 0 w 118"/>
                    <a:gd name="T1" fmla="*/ 0 h 57"/>
                    <a:gd name="T2" fmla="*/ 54 w 118"/>
                    <a:gd name="T3" fmla="*/ 24 h 57"/>
                    <a:gd name="T4" fmla="*/ 117 w 118"/>
                    <a:gd name="T5" fmla="*/ 56 h 57"/>
                    <a:gd name="T6" fmla="*/ 0 60000 65536"/>
                    <a:gd name="T7" fmla="*/ 0 60000 65536"/>
                    <a:gd name="T8" fmla="*/ 0 60000 65536"/>
                    <a:gd name="T9" fmla="*/ 0 w 118"/>
                    <a:gd name="T10" fmla="*/ 0 h 57"/>
                    <a:gd name="T11" fmla="*/ 118 w 118"/>
                    <a:gd name="T12" fmla="*/ 57 h 57"/>
                  </a:gdLst>
                  <a:ahLst/>
                  <a:cxnLst>
                    <a:cxn ang="T6">
                      <a:pos x="T0" y="T1"/>
                    </a:cxn>
                    <a:cxn ang="T7">
                      <a:pos x="T2" y="T3"/>
                    </a:cxn>
                    <a:cxn ang="T8">
                      <a:pos x="T4" y="T5"/>
                    </a:cxn>
                  </a:cxnLst>
                  <a:rect l="T9" t="T10" r="T11" b="T12"/>
                  <a:pathLst>
                    <a:path w="118" h="57">
                      <a:moveTo>
                        <a:pt x="0" y="0"/>
                      </a:moveTo>
                      <a:lnTo>
                        <a:pt x="54" y="24"/>
                      </a:lnTo>
                      <a:lnTo>
                        <a:pt x="117" y="56"/>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42" name="Line 213"/>
                <p:cNvSpPr>
                  <a:spLocks noChangeShapeType="1"/>
                </p:cNvSpPr>
                <p:nvPr/>
              </p:nvSpPr>
              <p:spPr bwMode="auto">
                <a:xfrm>
                  <a:off x="1070" y="1092"/>
                  <a:ext cx="118" cy="56"/>
                </a:xfrm>
                <a:prstGeom prst="line">
                  <a:avLst/>
                </a:prstGeom>
                <a:noFill/>
                <a:ln w="12700">
                  <a:solidFill>
                    <a:srgbClr val="009900"/>
                  </a:solidFill>
                  <a:round/>
                  <a:headEnd/>
                  <a:tailEnd/>
                </a:ln>
              </p:spPr>
              <p:txBody>
                <a:bodyPr wrap="none" anchor="ctr"/>
                <a:lstStyle/>
                <a:p>
                  <a:endParaRPr lang="en-US"/>
                </a:p>
              </p:txBody>
            </p:sp>
            <p:sp>
              <p:nvSpPr>
                <p:cNvPr id="40643" name="Freeform 214"/>
                <p:cNvSpPr>
                  <a:spLocks/>
                </p:cNvSpPr>
                <p:nvPr/>
              </p:nvSpPr>
              <p:spPr bwMode="auto">
                <a:xfrm>
                  <a:off x="1255" y="1072"/>
                  <a:ext cx="127" cy="81"/>
                </a:xfrm>
                <a:custGeom>
                  <a:avLst/>
                  <a:gdLst>
                    <a:gd name="T0" fmla="*/ 0 w 127"/>
                    <a:gd name="T1" fmla="*/ 80 h 81"/>
                    <a:gd name="T2" fmla="*/ 18 w 127"/>
                    <a:gd name="T3" fmla="*/ 32 h 81"/>
                    <a:gd name="T4" fmla="*/ 126 w 127"/>
                    <a:gd name="T5" fmla="*/ 0 h 81"/>
                    <a:gd name="T6" fmla="*/ 0 60000 65536"/>
                    <a:gd name="T7" fmla="*/ 0 60000 65536"/>
                    <a:gd name="T8" fmla="*/ 0 60000 65536"/>
                    <a:gd name="T9" fmla="*/ 0 w 127"/>
                    <a:gd name="T10" fmla="*/ 0 h 81"/>
                    <a:gd name="T11" fmla="*/ 127 w 127"/>
                    <a:gd name="T12" fmla="*/ 81 h 81"/>
                  </a:gdLst>
                  <a:ahLst/>
                  <a:cxnLst>
                    <a:cxn ang="T6">
                      <a:pos x="T0" y="T1"/>
                    </a:cxn>
                    <a:cxn ang="T7">
                      <a:pos x="T2" y="T3"/>
                    </a:cxn>
                    <a:cxn ang="T8">
                      <a:pos x="T4" y="T5"/>
                    </a:cxn>
                  </a:cxnLst>
                  <a:rect l="T9" t="T10" r="T11" b="T12"/>
                  <a:pathLst>
                    <a:path w="127" h="81">
                      <a:moveTo>
                        <a:pt x="0" y="80"/>
                      </a:moveTo>
                      <a:lnTo>
                        <a:pt x="18" y="32"/>
                      </a:lnTo>
                      <a:lnTo>
                        <a:pt x="126"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44" name="Freeform 215"/>
                <p:cNvSpPr>
                  <a:spLocks/>
                </p:cNvSpPr>
                <p:nvPr/>
              </p:nvSpPr>
              <p:spPr bwMode="auto">
                <a:xfrm>
                  <a:off x="1255" y="1072"/>
                  <a:ext cx="127" cy="81"/>
                </a:xfrm>
                <a:custGeom>
                  <a:avLst/>
                  <a:gdLst>
                    <a:gd name="T0" fmla="*/ 0 w 127"/>
                    <a:gd name="T1" fmla="*/ 80 h 81"/>
                    <a:gd name="T2" fmla="*/ 36 w 127"/>
                    <a:gd name="T3" fmla="*/ 32 h 81"/>
                    <a:gd name="T4" fmla="*/ 126 w 127"/>
                    <a:gd name="T5" fmla="*/ 0 h 81"/>
                    <a:gd name="T6" fmla="*/ 0 60000 65536"/>
                    <a:gd name="T7" fmla="*/ 0 60000 65536"/>
                    <a:gd name="T8" fmla="*/ 0 60000 65536"/>
                    <a:gd name="T9" fmla="*/ 0 w 127"/>
                    <a:gd name="T10" fmla="*/ 0 h 81"/>
                    <a:gd name="T11" fmla="*/ 127 w 127"/>
                    <a:gd name="T12" fmla="*/ 81 h 81"/>
                  </a:gdLst>
                  <a:ahLst/>
                  <a:cxnLst>
                    <a:cxn ang="T6">
                      <a:pos x="T0" y="T1"/>
                    </a:cxn>
                    <a:cxn ang="T7">
                      <a:pos x="T2" y="T3"/>
                    </a:cxn>
                    <a:cxn ang="T8">
                      <a:pos x="T4" y="T5"/>
                    </a:cxn>
                  </a:cxnLst>
                  <a:rect l="T9" t="T10" r="T11" b="T12"/>
                  <a:pathLst>
                    <a:path w="127" h="81">
                      <a:moveTo>
                        <a:pt x="0" y="80"/>
                      </a:moveTo>
                      <a:lnTo>
                        <a:pt x="36" y="32"/>
                      </a:lnTo>
                      <a:lnTo>
                        <a:pt x="126"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45" name="Freeform 216"/>
                <p:cNvSpPr>
                  <a:spLocks/>
                </p:cNvSpPr>
                <p:nvPr/>
              </p:nvSpPr>
              <p:spPr bwMode="auto">
                <a:xfrm>
                  <a:off x="1291" y="1384"/>
                  <a:ext cx="109" cy="49"/>
                </a:xfrm>
                <a:custGeom>
                  <a:avLst/>
                  <a:gdLst>
                    <a:gd name="T0" fmla="*/ 0 w 109"/>
                    <a:gd name="T1" fmla="*/ 0 h 49"/>
                    <a:gd name="T2" fmla="*/ 45 w 109"/>
                    <a:gd name="T3" fmla="*/ 24 h 49"/>
                    <a:gd name="T4" fmla="*/ 108 w 109"/>
                    <a:gd name="T5" fmla="*/ 48 h 49"/>
                    <a:gd name="T6" fmla="*/ 0 60000 65536"/>
                    <a:gd name="T7" fmla="*/ 0 60000 65536"/>
                    <a:gd name="T8" fmla="*/ 0 60000 65536"/>
                    <a:gd name="T9" fmla="*/ 0 w 109"/>
                    <a:gd name="T10" fmla="*/ 0 h 49"/>
                    <a:gd name="T11" fmla="*/ 109 w 109"/>
                    <a:gd name="T12" fmla="*/ 49 h 49"/>
                  </a:gdLst>
                  <a:ahLst/>
                  <a:cxnLst>
                    <a:cxn ang="T6">
                      <a:pos x="T0" y="T1"/>
                    </a:cxn>
                    <a:cxn ang="T7">
                      <a:pos x="T2" y="T3"/>
                    </a:cxn>
                    <a:cxn ang="T8">
                      <a:pos x="T4" y="T5"/>
                    </a:cxn>
                  </a:cxnLst>
                  <a:rect l="T9" t="T10" r="T11" b="T12"/>
                  <a:pathLst>
                    <a:path w="109" h="49">
                      <a:moveTo>
                        <a:pt x="0" y="0"/>
                      </a:moveTo>
                      <a:lnTo>
                        <a:pt x="45" y="24"/>
                      </a:lnTo>
                      <a:lnTo>
                        <a:pt x="108" y="48"/>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46" name="Freeform 217"/>
                <p:cNvSpPr>
                  <a:spLocks/>
                </p:cNvSpPr>
                <p:nvPr/>
              </p:nvSpPr>
              <p:spPr bwMode="auto">
                <a:xfrm>
                  <a:off x="1291" y="1384"/>
                  <a:ext cx="109" cy="49"/>
                </a:xfrm>
                <a:custGeom>
                  <a:avLst/>
                  <a:gdLst>
                    <a:gd name="T0" fmla="*/ 0 w 109"/>
                    <a:gd name="T1" fmla="*/ 0 h 49"/>
                    <a:gd name="T2" fmla="*/ 45 w 109"/>
                    <a:gd name="T3" fmla="*/ 24 h 49"/>
                    <a:gd name="T4" fmla="*/ 108 w 109"/>
                    <a:gd name="T5" fmla="*/ 48 h 49"/>
                    <a:gd name="T6" fmla="*/ 0 60000 65536"/>
                    <a:gd name="T7" fmla="*/ 0 60000 65536"/>
                    <a:gd name="T8" fmla="*/ 0 60000 65536"/>
                    <a:gd name="T9" fmla="*/ 0 w 109"/>
                    <a:gd name="T10" fmla="*/ 0 h 49"/>
                    <a:gd name="T11" fmla="*/ 109 w 109"/>
                    <a:gd name="T12" fmla="*/ 49 h 49"/>
                  </a:gdLst>
                  <a:ahLst/>
                  <a:cxnLst>
                    <a:cxn ang="T6">
                      <a:pos x="T0" y="T1"/>
                    </a:cxn>
                    <a:cxn ang="T7">
                      <a:pos x="T2" y="T3"/>
                    </a:cxn>
                    <a:cxn ang="T8">
                      <a:pos x="T4" y="T5"/>
                    </a:cxn>
                  </a:cxnLst>
                  <a:rect l="T9" t="T10" r="T11" b="T12"/>
                  <a:pathLst>
                    <a:path w="109" h="49">
                      <a:moveTo>
                        <a:pt x="0" y="0"/>
                      </a:moveTo>
                      <a:lnTo>
                        <a:pt x="45" y="24"/>
                      </a:lnTo>
                      <a:lnTo>
                        <a:pt x="108" y="48"/>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47" name="Freeform 218"/>
                <p:cNvSpPr>
                  <a:spLocks/>
                </p:cNvSpPr>
                <p:nvPr/>
              </p:nvSpPr>
              <p:spPr bwMode="auto">
                <a:xfrm>
                  <a:off x="1381" y="1296"/>
                  <a:ext cx="19" cy="41"/>
                </a:xfrm>
                <a:custGeom>
                  <a:avLst/>
                  <a:gdLst>
                    <a:gd name="T0" fmla="*/ 0 w 19"/>
                    <a:gd name="T1" fmla="*/ 40 h 41"/>
                    <a:gd name="T2" fmla="*/ 0 w 19"/>
                    <a:gd name="T3" fmla="*/ 40 h 41"/>
                    <a:gd name="T4" fmla="*/ 18 w 19"/>
                    <a:gd name="T5" fmla="*/ 0 h 41"/>
                    <a:gd name="T6" fmla="*/ 0 60000 65536"/>
                    <a:gd name="T7" fmla="*/ 0 60000 65536"/>
                    <a:gd name="T8" fmla="*/ 0 60000 65536"/>
                    <a:gd name="T9" fmla="*/ 0 w 19"/>
                    <a:gd name="T10" fmla="*/ 0 h 41"/>
                    <a:gd name="T11" fmla="*/ 19 w 19"/>
                    <a:gd name="T12" fmla="*/ 41 h 41"/>
                  </a:gdLst>
                  <a:ahLst/>
                  <a:cxnLst>
                    <a:cxn ang="T6">
                      <a:pos x="T0" y="T1"/>
                    </a:cxn>
                    <a:cxn ang="T7">
                      <a:pos x="T2" y="T3"/>
                    </a:cxn>
                    <a:cxn ang="T8">
                      <a:pos x="T4" y="T5"/>
                    </a:cxn>
                  </a:cxnLst>
                  <a:rect l="T9" t="T10" r="T11" b="T12"/>
                  <a:pathLst>
                    <a:path w="19" h="41">
                      <a:moveTo>
                        <a:pt x="0" y="40"/>
                      </a:moveTo>
                      <a:lnTo>
                        <a:pt x="0" y="40"/>
                      </a:lnTo>
                      <a:lnTo>
                        <a:pt x="1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48" name="Line 219"/>
                <p:cNvSpPr>
                  <a:spLocks noChangeShapeType="1"/>
                </p:cNvSpPr>
                <p:nvPr/>
              </p:nvSpPr>
              <p:spPr bwMode="auto">
                <a:xfrm flipV="1">
                  <a:off x="1385" y="1292"/>
                  <a:ext cx="19" cy="56"/>
                </a:xfrm>
                <a:prstGeom prst="line">
                  <a:avLst/>
                </a:prstGeom>
                <a:noFill/>
                <a:ln w="12700">
                  <a:solidFill>
                    <a:srgbClr val="009900"/>
                  </a:solidFill>
                  <a:round/>
                  <a:headEnd/>
                  <a:tailEnd/>
                </a:ln>
              </p:spPr>
              <p:txBody>
                <a:bodyPr wrap="none" anchor="ctr"/>
                <a:lstStyle/>
                <a:p>
                  <a:endParaRPr lang="en-US"/>
                </a:p>
              </p:txBody>
            </p:sp>
            <p:sp>
              <p:nvSpPr>
                <p:cNvPr id="40649" name="Freeform 220"/>
                <p:cNvSpPr>
                  <a:spLocks/>
                </p:cNvSpPr>
                <p:nvPr/>
              </p:nvSpPr>
              <p:spPr bwMode="auto">
                <a:xfrm>
                  <a:off x="1138" y="1240"/>
                  <a:ext cx="55" cy="137"/>
                </a:xfrm>
                <a:custGeom>
                  <a:avLst/>
                  <a:gdLst>
                    <a:gd name="T0" fmla="*/ 54 w 55"/>
                    <a:gd name="T1" fmla="*/ 136 h 137"/>
                    <a:gd name="T2" fmla="*/ 0 w 55"/>
                    <a:gd name="T3" fmla="*/ 104 h 137"/>
                    <a:gd name="T4" fmla="*/ 0 w 55"/>
                    <a:gd name="T5" fmla="*/ 0 h 137"/>
                    <a:gd name="T6" fmla="*/ 0 60000 65536"/>
                    <a:gd name="T7" fmla="*/ 0 60000 65536"/>
                    <a:gd name="T8" fmla="*/ 0 60000 65536"/>
                    <a:gd name="T9" fmla="*/ 0 w 55"/>
                    <a:gd name="T10" fmla="*/ 0 h 137"/>
                    <a:gd name="T11" fmla="*/ 55 w 55"/>
                    <a:gd name="T12" fmla="*/ 137 h 137"/>
                  </a:gdLst>
                  <a:ahLst/>
                  <a:cxnLst>
                    <a:cxn ang="T6">
                      <a:pos x="T0" y="T1"/>
                    </a:cxn>
                    <a:cxn ang="T7">
                      <a:pos x="T2" y="T3"/>
                    </a:cxn>
                    <a:cxn ang="T8">
                      <a:pos x="T4" y="T5"/>
                    </a:cxn>
                  </a:cxnLst>
                  <a:rect l="T9" t="T10" r="T11" b="T12"/>
                  <a:pathLst>
                    <a:path w="55" h="137">
                      <a:moveTo>
                        <a:pt x="54" y="136"/>
                      </a:moveTo>
                      <a:lnTo>
                        <a:pt x="0" y="104"/>
                      </a:lnTo>
                      <a:lnTo>
                        <a:pt x="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50" name="Freeform 221"/>
                <p:cNvSpPr>
                  <a:spLocks/>
                </p:cNvSpPr>
                <p:nvPr/>
              </p:nvSpPr>
              <p:spPr bwMode="auto">
                <a:xfrm>
                  <a:off x="1156" y="1240"/>
                  <a:ext cx="55" cy="137"/>
                </a:xfrm>
                <a:custGeom>
                  <a:avLst/>
                  <a:gdLst>
                    <a:gd name="T0" fmla="*/ 54 w 55"/>
                    <a:gd name="T1" fmla="*/ 136 h 137"/>
                    <a:gd name="T2" fmla="*/ 9 w 55"/>
                    <a:gd name="T3" fmla="*/ 80 h 137"/>
                    <a:gd name="T4" fmla="*/ 0 w 55"/>
                    <a:gd name="T5" fmla="*/ 0 h 137"/>
                    <a:gd name="T6" fmla="*/ 0 60000 65536"/>
                    <a:gd name="T7" fmla="*/ 0 60000 65536"/>
                    <a:gd name="T8" fmla="*/ 0 60000 65536"/>
                    <a:gd name="T9" fmla="*/ 0 w 55"/>
                    <a:gd name="T10" fmla="*/ 0 h 137"/>
                    <a:gd name="T11" fmla="*/ 55 w 55"/>
                    <a:gd name="T12" fmla="*/ 137 h 137"/>
                  </a:gdLst>
                  <a:ahLst/>
                  <a:cxnLst>
                    <a:cxn ang="T6">
                      <a:pos x="T0" y="T1"/>
                    </a:cxn>
                    <a:cxn ang="T7">
                      <a:pos x="T2" y="T3"/>
                    </a:cxn>
                    <a:cxn ang="T8">
                      <a:pos x="T4" y="T5"/>
                    </a:cxn>
                  </a:cxnLst>
                  <a:rect l="T9" t="T10" r="T11" b="T12"/>
                  <a:pathLst>
                    <a:path w="55" h="137">
                      <a:moveTo>
                        <a:pt x="54" y="136"/>
                      </a:moveTo>
                      <a:lnTo>
                        <a:pt x="9" y="80"/>
                      </a:lnTo>
                      <a:lnTo>
                        <a:pt x="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51" name="Freeform 222"/>
                <p:cNvSpPr>
                  <a:spLocks/>
                </p:cNvSpPr>
                <p:nvPr/>
              </p:nvSpPr>
              <p:spPr bwMode="auto">
                <a:xfrm>
                  <a:off x="1138" y="1288"/>
                  <a:ext cx="19" cy="41"/>
                </a:xfrm>
                <a:custGeom>
                  <a:avLst/>
                  <a:gdLst>
                    <a:gd name="T0" fmla="*/ 0 w 19"/>
                    <a:gd name="T1" fmla="*/ 40 h 41"/>
                    <a:gd name="T2" fmla="*/ 0 w 19"/>
                    <a:gd name="T3" fmla="*/ 40 h 41"/>
                    <a:gd name="T4" fmla="*/ 18 w 19"/>
                    <a:gd name="T5" fmla="*/ 0 h 41"/>
                    <a:gd name="T6" fmla="*/ 0 60000 65536"/>
                    <a:gd name="T7" fmla="*/ 0 60000 65536"/>
                    <a:gd name="T8" fmla="*/ 0 60000 65536"/>
                    <a:gd name="T9" fmla="*/ 0 w 19"/>
                    <a:gd name="T10" fmla="*/ 0 h 41"/>
                    <a:gd name="T11" fmla="*/ 19 w 19"/>
                    <a:gd name="T12" fmla="*/ 41 h 41"/>
                  </a:gdLst>
                  <a:ahLst/>
                  <a:cxnLst>
                    <a:cxn ang="T6">
                      <a:pos x="T0" y="T1"/>
                    </a:cxn>
                    <a:cxn ang="T7">
                      <a:pos x="T2" y="T3"/>
                    </a:cxn>
                    <a:cxn ang="T8">
                      <a:pos x="T4" y="T5"/>
                    </a:cxn>
                  </a:cxnLst>
                  <a:rect l="T9" t="T10" r="T11" b="T12"/>
                  <a:pathLst>
                    <a:path w="19" h="41">
                      <a:moveTo>
                        <a:pt x="0" y="40"/>
                      </a:moveTo>
                      <a:lnTo>
                        <a:pt x="0" y="40"/>
                      </a:lnTo>
                      <a:lnTo>
                        <a:pt x="1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52" name="Line 223"/>
                <p:cNvSpPr>
                  <a:spLocks noChangeShapeType="1"/>
                </p:cNvSpPr>
                <p:nvPr/>
              </p:nvSpPr>
              <p:spPr bwMode="auto">
                <a:xfrm flipV="1">
                  <a:off x="1301" y="1377"/>
                  <a:ext cx="19" cy="56"/>
                </a:xfrm>
                <a:prstGeom prst="line">
                  <a:avLst/>
                </a:prstGeom>
                <a:noFill/>
                <a:ln w="12700">
                  <a:solidFill>
                    <a:srgbClr val="009900"/>
                  </a:solidFill>
                  <a:round/>
                  <a:headEnd/>
                  <a:tailEnd/>
                </a:ln>
              </p:spPr>
              <p:txBody>
                <a:bodyPr wrap="none" anchor="ctr"/>
                <a:lstStyle/>
                <a:p>
                  <a:endParaRPr lang="en-US"/>
                </a:p>
              </p:txBody>
            </p:sp>
            <p:sp>
              <p:nvSpPr>
                <p:cNvPr id="40653" name="Freeform 224"/>
                <p:cNvSpPr>
                  <a:spLocks/>
                </p:cNvSpPr>
                <p:nvPr/>
              </p:nvSpPr>
              <p:spPr bwMode="auto">
                <a:xfrm>
                  <a:off x="1201" y="1160"/>
                  <a:ext cx="28" cy="33"/>
                </a:xfrm>
                <a:custGeom>
                  <a:avLst/>
                  <a:gdLst>
                    <a:gd name="T0" fmla="*/ 0 w 28"/>
                    <a:gd name="T1" fmla="*/ 32 h 33"/>
                    <a:gd name="T2" fmla="*/ 0 w 28"/>
                    <a:gd name="T3" fmla="*/ 32 h 33"/>
                    <a:gd name="T4" fmla="*/ 27 w 28"/>
                    <a:gd name="T5" fmla="*/ 0 h 33"/>
                    <a:gd name="T6" fmla="*/ 0 60000 65536"/>
                    <a:gd name="T7" fmla="*/ 0 60000 65536"/>
                    <a:gd name="T8" fmla="*/ 0 60000 65536"/>
                    <a:gd name="T9" fmla="*/ 0 w 28"/>
                    <a:gd name="T10" fmla="*/ 0 h 33"/>
                    <a:gd name="T11" fmla="*/ 28 w 28"/>
                    <a:gd name="T12" fmla="*/ 33 h 33"/>
                  </a:gdLst>
                  <a:ahLst/>
                  <a:cxnLst>
                    <a:cxn ang="T6">
                      <a:pos x="T0" y="T1"/>
                    </a:cxn>
                    <a:cxn ang="T7">
                      <a:pos x="T2" y="T3"/>
                    </a:cxn>
                    <a:cxn ang="T8">
                      <a:pos x="T4" y="T5"/>
                    </a:cxn>
                  </a:cxnLst>
                  <a:rect l="T9" t="T10" r="T11" b="T12"/>
                  <a:pathLst>
                    <a:path w="28" h="33">
                      <a:moveTo>
                        <a:pt x="0" y="32"/>
                      </a:moveTo>
                      <a:lnTo>
                        <a:pt x="0" y="32"/>
                      </a:lnTo>
                      <a:lnTo>
                        <a:pt x="27"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54" name="Line 225"/>
                <p:cNvSpPr>
                  <a:spLocks noChangeShapeType="1"/>
                </p:cNvSpPr>
                <p:nvPr/>
              </p:nvSpPr>
              <p:spPr bwMode="auto">
                <a:xfrm flipV="1">
                  <a:off x="1205" y="1156"/>
                  <a:ext cx="28" cy="48"/>
                </a:xfrm>
                <a:prstGeom prst="line">
                  <a:avLst/>
                </a:prstGeom>
                <a:noFill/>
                <a:ln w="12700">
                  <a:solidFill>
                    <a:srgbClr val="009900"/>
                  </a:solidFill>
                  <a:round/>
                  <a:headEnd/>
                  <a:tailEnd/>
                </a:ln>
              </p:spPr>
              <p:txBody>
                <a:bodyPr wrap="none" anchor="ctr"/>
                <a:lstStyle/>
                <a:p>
                  <a:endParaRPr lang="en-US"/>
                </a:p>
              </p:txBody>
            </p:sp>
            <p:sp>
              <p:nvSpPr>
                <p:cNvPr id="40655" name="Freeform 226"/>
                <p:cNvSpPr>
                  <a:spLocks/>
                </p:cNvSpPr>
                <p:nvPr/>
              </p:nvSpPr>
              <p:spPr bwMode="auto">
                <a:xfrm>
                  <a:off x="1183" y="1040"/>
                  <a:ext cx="82" cy="89"/>
                </a:xfrm>
                <a:custGeom>
                  <a:avLst/>
                  <a:gdLst>
                    <a:gd name="T0" fmla="*/ 0 w 82"/>
                    <a:gd name="T1" fmla="*/ 0 h 89"/>
                    <a:gd name="T2" fmla="*/ 36 w 82"/>
                    <a:gd name="T3" fmla="*/ 40 h 89"/>
                    <a:gd name="T4" fmla="*/ 81 w 82"/>
                    <a:gd name="T5" fmla="*/ 88 h 89"/>
                    <a:gd name="T6" fmla="*/ 0 60000 65536"/>
                    <a:gd name="T7" fmla="*/ 0 60000 65536"/>
                    <a:gd name="T8" fmla="*/ 0 60000 65536"/>
                    <a:gd name="T9" fmla="*/ 0 w 82"/>
                    <a:gd name="T10" fmla="*/ 0 h 89"/>
                    <a:gd name="T11" fmla="*/ 82 w 82"/>
                    <a:gd name="T12" fmla="*/ 89 h 89"/>
                  </a:gdLst>
                  <a:ahLst/>
                  <a:cxnLst>
                    <a:cxn ang="T6">
                      <a:pos x="T0" y="T1"/>
                    </a:cxn>
                    <a:cxn ang="T7">
                      <a:pos x="T2" y="T3"/>
                    </a:cxn>
                    <a:cxn ang="T8">
                      <a:pos x="T4" y="T5"/>
                    </a:cxn>
                  </a:cxnLst>
                  <a:rect l="T9" t="T10" r="T11" b="T12"/>
                  <a:pathLst>
                    <a:path w="82" h="89">
                      <a:moveTo>
                        <a:pt x="0" y="0"/>
                      </a:moveTo>
                      <a:lnTo>
                        <a:pt x="36" y="40"/>
                      </a:lnTo>
                      <a:lnTo>
                        <a:pt x="81" y="88"/>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56" name="Freeform 227"/>
                <p:cNvSpPr>
                  <a:spLocks/>
                </p:cNvSpPr>
                <p:nvPr/>
              </p:nvSpPr>
              <p:spPr bwMode="auto">
                <a:xfrm>
                  <a:off x="1183" y="1040"/>
                  <a:ext cx="82" cy="89"/>
                </a:xfrm>
                <a:custGeom>
                  <a:avLst/>
                  <a:gdLst>
                    <a:gd name="T0" fmla="*/ 0 w 82"/>
                    <a:gd name="T1" fmla="*/ 0 h 89"/>
                    <a:gd name="T2" fmla="*/ 36 w 82"/>
                    <a:gd name="T3" fmla="*/ 40 h 89"/>
                    <a:gd name="T4" fmla="*/ 81 w 82"/>
                    <a:gd name="T5" fmla="*/ 88 h 89"/>
                    <a:gd name="T6" fmla="*/ 0 60000 65536"/>
                    <a:gd name="T7" fmla="*/ 0 60000 65536"/>
                    <a:gd name="T8" fmla="*/ 0 60000 65536"/>
                    <a:gd name="T9" fmla="*/ 0 w 82"/>
                    <a:gd name="T10" fmla="*/ 0 h 89"/>
                    <a:gd name="T11" fmla="*/ 82 w 82"/>
                    <a:gd name="T12" fmla="*/ 89 h 89"/>
                  </a:gdLst>
                  <a:ahLst/>
                  <a:cxnLst>
                    <a:cxn ang="T6">
                      <a:pos x="T0" y="T1"/>
                    </a:cxn>
                    <a:cxn ang="T7">
                      <a:pos x="T2" y="T3"/>
                    </a:cxn>
                    <a:cxn ang="T8">
                      <a:pos x="T4" y="T5"/>
                    </a:cxn>
                  </a:cxnLst>
                  <a:rect l="T9" t="T10" r="T11" b="T12"/>
                  <a:pathLst>
                    <a:path w="82" h="89">
                      <a:moveTo>
                        <a:pt x="0" y="0"/>
                      </a:moveTo>
                      <a:lnTo>
                        <a:pt x="36" y="40"/>
                      </a:lnTo>
                      <a:lnTo>
                        <a:pt x="81" y="88"/>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57" name="Freeform 228"/>
                <p:cNvSpPr>
                  <a:spLocks/>
                </p:cNvSpPr>
                <p:nvPr/>
              </p:nvSpPr>
              <p:spPr bwMode="auto">
                <a:xfrm>
                  <a:off x="1363" y="1088"/>
                  <a:ext cx="91" cy="89"/>
                </a:xfrm>
                <a:custGeom>
                  <a:avLst/>
                  <a:gdLst>
                    <a:gd name="T0" fmla="*/ 0 w 91"/>
                    <a:gd name="T1" fmla="*/ 0 h 89"/>
                    <a:gd name="T2" fmla="*/ 36 w 91"/>
                    <a:gd name="T3" fmla="*/ 40 h 89"/>
                    <a:gd name="T4" fmla="*/ 90 w 91"/>
                    <a:gd name="T5" fmla="*/ 88 h 89"/>
                    <a:gd name="T6" fmla="*/ 0 60000 65536"/>
                    <a:gd name="T7" fmla="*/ 0 60000 65536"/>
                    <a:gd name="T8" fmla="*/ 0 60000 65536"/>
                    <a:gd name="T9" fmla="*/ 0 w 91"/>
                    <a:gd name="T10" fmla="*/ 0 h 89"/>
                    <a:gd name="T11" fmla="*/ 91 w 91"/>
                    <a:gd name="T12" fmla="*/ 89 h 89"/>
                  </a:gdLst>
                  <a:ahLst/>
                  <a:cxnLst>
                    <a:cxn ang="T6">
                      <a:pos x="T0" y="T1"/>
                    </a:cxn>
                    <a:cxn ang="T7">
                      <a:pos x="T2" y="T3"/>
                    </a:cxn>
                    <a:cxn ang="T8">
                      <a:pos x="T4" y="T5"/>
                    </a:cxn>
                  </a:cxnLst>
                  <a:rect l="T9" t="T10" r="T11" b="T12"/>
                  <a:pathLst>
                    <a:path w="91" h="89">
                      <a:moveTo>
                        <a:pt x="0" y="0"/>
                      </a:moveTo>
                      <a:lnTo>
                        <a:pt x="36" y="40"/>
                      </a:lnTo>
                      <a:lnTo>
                        <a:pt x="90" y="88"/>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58" name="Line 229"/>
                <p:cNvSpPr>
                  <a:spLocks noChangeShapeType="1"/>
                </p:cNvSpPr>
                <p:nvPr/>
              </p:nvSpPr>
              <p:spPr bwMode="auto">
                <a:xfrm>
                  <a:off x="1349" y="1074"/>
                  <a:ext cx="91" cy="88"/>
                </a:xfrm>
                <a:prstGeom prst="line">
                  <a:avLst/>
                </a:prstGeom>
                <a:noFill/>
                <a:ln w="12700">
                  <a:solidFill>
                    <a:srgbClr val="009900"/>
                  </a:solidFill>
                  <a:round/>
                  <a:headEnd/>
                  <a:tailEnd/>
                </a:ln>
              </p:spPr>
              <p:txBody>
                <a:bodyPr wrap="none" anchor="ctr"/>
                <a:lstStyle/>
                <a:p>
                  <a:endParaRPr lang="en-US"/>
                </a:p>
              </p:txBody>
            </p:sp>
            <p:sp>
              <p:nvSpPr>
                <p:cNvPr id="40659" name="Freeform 230"/>
                <p:cNvSpPr>
                  <a:spLocks/>
                </p:cNvSpPr>
                <p:nvPr/>
              </p:nvSpPr>
              <p:spPr bwMode="auto">
                <a:xfrm>
                  <a:off x="1261" y="1117"/>
                  <a:ext cx="82" cy="89"/>
                </a:xfrm>
                <a:custGeom>
                  <a:avLst/>
                  <a:gdLst>
                    <a:gd name="T0" fmla="*/ 0 w 82"/>
                    <a:gd name="T1" fmla="*/ 0 h 89"/>
                    <a:gd name="T2" fmla="*/ 45 w 82"/>
                    <a:gd name="T3" fmla="*/ 32 h 89"/>
                    <a:gd name="T4" fmla="*/ 81 w 82"/>
                    <a:gd name="T5" fmla="*/ 88 h 89"/>
                    <a:gd name="T6" fmla="*/ 0 60000 65536"/>
                    <a:gd name="T7" fmla="*/ 0 60000 65536"/>
                    <a:gd name="T8" fmla="*/ 0 60000 65536"/>
                    <a:gd name="T9" fmla="*/ 0 w 82"/>
                    <a:gd name="T10" fmla="*/ 0 h 89"/>
                    <a:gd name="T11" fmla="*/ 82 w 82"/>
                    <a:gd name="T12" fmla="*/ 89 h 89"/>
                  </a:gdLst>
                  <a:ahLst/>
                  <a:cxnLst>
                    <a:cxn ang="T6">
                      <a:pos x="T0" y="T1"/>
                    </a:cxn>
                    <a:cxn ang="T7">
                      <a:pos x="T2" y="T3"/>
                    </a:cxn>
                    <a:cxn ang="T8">
                      <a:pos x="T4" y="T5"/>
                    </a:cxn>
                  </a:cxnLst>
                  <a:rect l="T9" t="T10" r="T11" b="T12"/>
                  <a:pathLst>
                    <a:path w="82" h="89">
                      <a:moveTo>
                        <a:pt x="0" y="0"/>
                      </a:moveTo>
                      <a:lnTo>
                        <a:pt x="45" y="32"/>
                      </a:lnTo>
                      <a:lnTo>
                        <a:pt x="81" y="88"/>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60" name="Freeform 231"/>
                <p:cNvSpPr>
                  <a:spLocks/>
                </p:cNvSpPr>
                <p:nvPr/>
              </p:nvSpPr>
              <p:spPr bwMode="auto">
                <a:xfrm>
                  <a:off x="1102" y="1024"/>
                  <a:ext cx="82" cy="89"/>
                </a:xfrm>
                <a:custGeom>
                  <a:avLst/>
                  <a:gdLst>
                    <a:gd name="T0" fmla="*/ 0 w 82"/>
                    <a:gd name="T1" fmla="*/ 0 h 89"/>
                    <a:gd name="T2" fmla="*/ 36 w 82"/>
                    <a:gd name="T3" fmla="*/ 32 h 89"/>
                    <a:gd name="T4" fmla="*/ 81 w 82"/>
                    <a:gd name="T5" fmla="*/ 88 h 89"/>
                    <a:gd name="T6" fmla="*/ 0 60000 65536"/>
                    <a:gd name="T7" fmla="*/ 0 60000 65536"/>
                    <a:gd name="T8" fmla="*/ 0 60000 65536"/>
                    <a:gd name="T9" fmla="*/ 0 w 82"/>
                    <a:gd name="T10" fmla="*/ 0 h 89"/>
                    <a:gd name="T11" fmla="*/ 82 w 82"/>
                    <a:gd name="T12" fmla="*/ 89 h 89"/>
                  </a:gdLst>
                  <a:ahLst/>
                  <a:cxnLst>
                    <a:cxn ang="T6">
                      <a:pos x="T0" y="T1"/>
                    </a:cxn>
                    <a:cxn ang="T7">
                      <a:pos x="T2" y="T3"/>
                    </a:cxn>
                    <a:cxn ang="T8">
                      <a:pos x="T4" y="T5"/>
                    </a:cxn>
                  </a:cxnLst>
                  <a:rect l="T9" t="T10" r="T11" b="T12"/>
                  <a:pathLst>
                    <a:path w="82" h="89">
                      <a:moveTo>
                        <a:pt x="0" y="0"/>
                      </a:moveTo>
                      <a:lnTo>
                        <a:pt x="36" y="32"/>
                      </a:lnTo>
                      <a:lnTo>
                        <a:pt x="81" y="88"/>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61" name="Freeform 232"/>
                <p:cNvSpPr>
                  <a:spLocks/>
                </p:cNvSpPr>
                <p:nvPr/>
              </p:nvSpPr>
              <p:spPr bwMode="auto">
                <a:xfrm>
                  <a:off x="1192" y="1200"/>
                  <a:ext cx="127" cy="81"/>
                </a:xfrm>
                <a:custGeom>
                  <a:avLst/>
                  <a:gdLst>
                    <a:gd name="T0" fmla="*/ 0 w 127"/>
                    <a:gd name="T1" fmla="*/ 80 h 81"/>
                    <a:gd name="T2" fmla="*/ 18 w 127"/>
                    <a:gd name="T3" fmla="*/ 24 h 81"/>
                    <a:gd name="T4" fmla="*/ 126 w 127"/>
                    <a:gd name="T5" fmla="*/ 0 h 81"/>
                    <a:gd name="T6" fmla="*/ 0 60000 65536"/>
                    <a:gd name="T7" fmla="*/ 0 60000 65536"/>
                    <a:gd name="T8" fmla="*/ 0 60000 65536"/>
                    <a:gd name="T9" fmla="*/ 0 w 127"/>
                    <a:gd name="T10" fmla="*/ 0 h 81"/>
                    <a:gd name="T11" fmla="*/ 127 w 127"/>
                    <a:gd name="T12" fmla="*/ 81 h 81"/>
                  </a:gdLst>
                  <a:ahLst/>
                  <a:cxnLst>
                    <a:cxn ang="T6">
                      <a:pos x="T0" y="T1"/>
                    </a:cxn>
                    <a:cxn ang="T7">
                      <a:pos x="T2" y="T3"/>
                    </a:cxn>
                    <a:cxn ang="T8">
                      <a:pos x="T4" y="T5"/>
                    </a:cxn>
                  </a:cxnLst>
                  <a:rect l="T9" t="T10" r="T11" b="T12"/>
                  <a:pathLst>
                    <a:path w="127" h="81">
                      <a:moveTo>
                        <a:pt x="0" y="80"/>
                      </a:moveTo>
                      <a:lnTo>
                        <a:pt x="18" y="24"/>
                      </a:lnTo>
                      <a:lnTo>
                        <a:pt x="126"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62" name="Freeform 233"/>
                <p:cNvSpPr>
                  <a:spLocks/>
                </p:cNvSpPr>
                <p:nvPr/>
              </p:nvSpPr>
              <p:spPr bwMode="auto">
                <a:xfrm>
                  <a:off x="1192" y="1200"/>
                  <a:ext cx="127" cy="81"/>
                </a:xfrm>
                <a:custGeom>
                  <a:avLst/>
                  <a:gdLst>
                    <a:gd name="T0" fmla="*/ 0 w 127"/>
                    <a:gd name="T1" fmla="*/ 80 h 81"/>
                    <a:gd name="T2" fmla="*/ 36 w 127"/>
                    <a:gd name="T3" fmla="*/ 32 h 81"/>
                    <a:gd name="T4" fmla="*/ 126 w 127"/>
                    <a:gd name="T5" fmla="*/ 0 h 81"/>
                    <a:gd name="T6" fmla="*/ 0 60000 65536"/>
                    <a:gd name="T7" fmla="*/ 0 60000 65536"/>
                    <a:gd name="T8" fmla="*/ 0 60000 65536"/>
                    <a:gd name="T9" fmla="*/ 0 w 127"/>
                    <a:gd name="T10" fmla="*/ 0 h 81"/>
                    <a:gd name="T11" fmla="*/ 127 w 127"/>
                    <a:gd name="T12" fmla="*/ 81 h 81"/>
                  </a:gdLst>
                  <a:ahLst/>
                  <a:cxnLst>
                    <a:cxn ang="T6">
                      <a:pos x="T0" y="T1"/>
                    </a:cxn>
                    <a:cxn ang="T7">
                      <a:pos x="T2" y="T3"/>
                    </a:cxn>
                    <a:cxn ang="T8">
                      <a:pos x="T4" y="T5"/>
                    </a:cxn>
                  </a:cxnLst>
                  <a:rect l="T9" t="T10" r="T11" b="T12"/>
                  <a:pathLst>
                    <a:path w="127" h="81">
                      <a:moveTo>
                        <a:pt x="0" y="80"/>
                      </a:moveTo>
                      <a:lnTo>
                        <a:pt x="36" y="32"/>
                      </a:lnTo>
                      <a:lnTo>
                        <a:pt x="126"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63" name="Freeform 234"/>
                <p:cNvSpPr>
                  <a:spLocks/>
                </p:cNvSpPr>
                <p:nvPr/>
              </p:nvSpPr>
              <p:spPr bwMode="auto">
                <a:xfrm>
                  <a:off x="958" y="1360"/>
                  <a:ext cx="10" cy="41"/>
                </a:xfrm>
                <a:custGeom>
                  <a:avLst/>
                  <a:gdLst>
                    <a:gd name="T0" fmla="*/ 0 w 10"/>
                    <a:gd name="T1" fmla="*/ 40 h 41"/>
                    <a:gd name="T2" fmla="*/ 0 w 10"/>
                    <a:gd name="T3" fmla="*/ 40 h 41"/>
                    <a:gd name="T4" fmla="*/ 9 w 10"/>
                    <a:gd name="T5" fmla="*/ 0 h 41"/>
                    <a:gd name="T6" fmla="*/ 0 60000 65536"/>
                    <a:gd name="T7" fmla="*/ 0 60000 65536"/>
                    <a:gd name="T8" fmla="*/ 0 60000 65536"/>
                    <a:gd name="T9" fmla="*/ 0 w 10"/>
                    <a:gd name="T10" fmla="*/ 0 h 41"/>
                    <a:gd name="T11" fmla="*/ 10 w 10"/>
                    <a:gd name="T12" fmla="*/ 41 h 41"/>
                  </a:gdLst>
                  <a:ahLst/>
                  <a:cxnLst>
                    <a:cxn ang="T6">
                      <a:pos x="T0" y="T1"/>
                    </a:cxn>
                    <a:cxn ang="T7">
                      <a:pos x="T2" y="T3"/>
                    </a:cxn>
                    <a:cxn ang="T8">
                      <a:pos x="T4" y="T5"/>
                    </a:cxn>
                  </a:cxnLst>
                  <a:rect l="T9" t="T10" r="T11" b="T12"/>
                  <a:pathLst>
                    <a:path w="10" h="41">
                      <a:moveTo>
                        <a:pt x="0" y="40"/>
                      </a:moveTo>
                      <a:lnTo>
                        <a:pt x="0" y="40"/>
                      </a:lnTo>
                      <a:lnTo>
                        <a:pt x="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64" name="Line 235"/>
                <p:cNvSpPr>
                  <a:spLocks noChangeShapeType="1"/>
                </p:cNvSpPr>
                <p:nvPr/>
              </p:nvSpPr>
              <p:spPr bwMode="auto">
                <a:xfrm flipV="1">
                  <a:off x="1126" y="1449"/>
                  <a:ext cx="0" cy="48"/>
                </a:xfrm>
                <a:prstGeom prst="line">
                  <a:avLst/>
                </a:prstGeom>
                <a:noFill/>
                <a:ln w="12700">
                  <a:solidFill>
                    <a:srgbClr val="009900"/>
                  </a:solidFill>
                  <a:round/>
                  <a:headEnd/>
                  <a:tailEnd/>
                </a:ln>
              </p:spPr>
              <p:txBody>
                <a:bodyPr wrap="none" anchor="ctr"/>
                <a:lstStyle/>
                <a:p>
                  <a:endParaRPr lang="en-US"/>
                </a:p>
              </p:txBody>
            </p:sp>
            <p:sp>
              <p:nvSpPr>
                <p:cNvPr id="40665" name="Freeform 236"/>
                <p:cNvSpPr>
                  <a:spLocks/>
                </p:cNvSpPr>
                <p:nvPr/>
              </p:nvSpPr>
              <p:spPr bwMode="auto">
                <a:xfrm>
                  <a:off x="1273" y="1280"/>
                  <a:ext cx="118" cy="57"/>
                </a:xfrm>
                <a:custGeom>
                  <a:avLst/>
                  <a:gdLst>
                    <a:gd name="T0" fmla="*/ 0 w 118"/>
                    <a:gd name="T1" fmla="*/ 0 h 57"/>
                    <a:gd name="T2" fmla="*/ 54 w 118"/>
                    <a:gd name="T3" fmla="*/ 24 h 57"/>
                    <a:gd name="T4" fmla="*/ 117 w 118"/>
                    <a:gd name="T5" fmla="*/ 56 h 57"/>
                    <a:gd name="T6" fmla="*/ 0 60000 65536"/>
                    <a:gd name="T7" fmla="*/ 0 60000 65536"/>
                    <a:gd name="T8" fmla="*/ 0 60000 65536"/>
                    <a:gd name="T9" fmla="*/ 0 w 118"/>
                    <a:gd name="T10" fmla="*/ 0 h 57"/>
                    <a:gd name="T11" fmla="*/ 118 w 118"/>
                    <a:gd name="T12" fmla="*/ 57 h 57"/>
                  </a:gdLst>
                  <a:ahLst/>
                  <a:cxnLst>
                    <a:cxn ang="T6">
                      <a:pos x="T0" y="T1"/>
                    </a:cxn>
                    <a:cxn ang="T7">
                      <a:pos x="T2" y="T3"/>
                    </a:cxn>
                    <a:cxn ang="T8">
                      <a:pos x="T4" y="T5"/>
                    </a:cxn>
                  </a:cxnLst>
                  <a:rect l="T9" t="T10" r="T11" b="T12"/>
                  <a:pathLst>
                    <a:path w="118" h="57">
                      <a:moveTo>
                        <a:pt x="0" y="0"/>
                      </a:moveTo>
                      <a:lnTo>
                        <a:pt x="54" y="24"/>
                      </a:lnTo>
                      <a:lnTo>
                        <a:pt x="117" y="56"/>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66" name="Line 237"/>
                <p:cNvSpPr>
                  <a:spLocks noChangeShapeType="1"/>
                </p:cNvSpPr>
                <p:nvPr/>
              </p:nvSpPr>
              <p:spPr bwMode="auto">
                <a:xfrm>
                  <a:off x="1288" y="1262"/>
                  <a:ext cx="118" cy="56"/>
                </a:xfrm>
                <a:prstGeom prst="line">
                  <a:avLst/>
                </a:prstGeom>
                <a:noFill/>
                <a:ln w="12700">
                  <a:solidFill>
                    <a:srgbClr val="009900"/>
                  </a:solidFill>
                  <a:round/>
                  <a:headEnd/>
                  <a:tailEnd/>
                </a:ln>
              </p:spPr>
              <p:txBody>
                <a:bodyPr wrap="none" anchor="ctr"/>
                <a:lstStyle/>
                <a:p>
                  <a:endParaRPr lang="en-US"/>
                </a:p>
              </p:txBody>
            </p:sp>
            <p:sp>
              <p:nvSpPr>
                <p:cNvPr id="40667" name="Freeform 238"/>
                <p:cNvSpPr>
                  <a:spLocks/>
                </p:cNvSpPr>
                <p:nvPr/>
              </p:nvSpPr>
              <p:spPr bwMode="auto">
                <a:xfrm>
                  <a:off x="1003" y="1192"/>
                  <a:ext cx="127" cy="81"/>
                </a:xfrm>
                <a:custGeom>
                  <a:avLst/>
                  <a:gdLst>
                    <a:gd name="T0" fmla="*/ 0 w 127"/>
                    <a:gd name="T1" fmla="*/ 80 h 81"/>
                    <a:gd name="T2" fmla="*/ 18 w 127"/>
                    <a:gd name="T3" fmla="*/ 32 h 81"/>
                    <a:gd name="T4" fmla="*/ 126 w 127"/>
                    <a:gd name="T5" fmla="*/ 0 h 81"/>
                    <a:gd name="T6" fmla="*/ 0 60000 65536"/>
                    <a:gd name="T7" fmla="*/ 0 60000 65536"/>
                    <a:gd name="T8" fmla="*/ 0 60000 65536"/>
                    <a:gd name="T9" fmla="*/ 0 w 127"/>
                    <a:gd name="T10" fmla="*/ 0 h 81"/>
                    <a:gd name="T11" fmla="*/ 127 w 127"/>
                    <a:gd name="T12" fmla="*/ 81 h 81"/>
                  </a:gdLst>
                  <a:ahLst/>
                  <a:cxnLst>
                    <a:cxn ang="T6">
                      <a:pos x="T0" y="T1"/>
                    </a:cxn>
                    <a:cxn ang="T7">
                      <a:pos x="T2" y="T3"/>
                    </a:cxn>
                    <a:cxn ang="T8">
                      <a:pos x="T4" y="T5"/>
                    </a:cxn>
                  </a:cxnLst>
                  <a:rect l="T9" t="T10" r="T11" b="T12"/>
                  <a:pathLst>
                    <a:path w="127" h="81">
                      <a:moveTo>
                        <a:pt x="0" y="80"/>
                      </a:moveTo>
                      <a:lnTo>
                        <a:pt x="18" y="32"/>
                      </a:lnTo>
                      <a:lnTo>
                        <a:pt x="126"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68" name="Freeform 239"/>
                <p:cNvSpPr>
                  <a:spLocks/>
                </p:cNvSpPr>
                <p:nvPr/>
              </p:nvSpPr>
              <p:spPr bwMode="auto">
                <a:xfrm>
                  <a:off x="1003" y="1192"/>
                  <a:ext cx="127" cy="81"/>
                </a:xfrm>
                <a:custGeom>
                  <a:avLst/>
                  <a:gdLst>
                    <a:gd name="T0" fmla="*/ 0 w 127"/>
                    <a:gd name="T1" fmla="*/ 80 h 81"/>
                    <a:gd name="T2" fmla="*/ 36 w 127"/>
                    <a:gd name="T3" fmla="*/ 32 h 81"/>
                    <a:gd name="T4" fmla="*/ 126 w 127"/>
                    <a:gd name="T5" fmla="*/ 0 h 81"/>
                    <a:gd name="T6" fmla="*/ 0 60000 65536"/>
                    <a:gd name="T7" fmla="*/ 0 60000 65536"/>
                    <a:gd name="T8" fmla="*/ 0 60000 65536"/>
                    <a:gd name="T9" fmla="*/ 0 w 127"/>
                    <a:gd name="T10" fmla="*/ 0 h 81"/>
                    <a:gd name="T11" fmla="*/ 127 w 127"/>
                    <a:gd name="T12" fmla="*/ 81 h 81"/>
                  </a:gdLst>
                  <a:ahLst/>
                  <a:cxnLst>
                    <a:cxn ang="T6">
                      <a:pos x="T0" y="T1"/>
                    </a:cxn>
                    <a:cxn ang="T7">
                      <a:pos x="T2" y="T3"/>
                    </a:cxn>
                    <a:cxn ang="T8">
                      <a:pos x="T4" y="T5"/>
                    </a:cxn>
                  </a:cxnLst>
                  <a:rect l="T9" t="T10" r="T11" b="T12"/>
                  <a:pathLst>
                    <a:path w="127" h="81">
                      <a:moveTo>
                        <a:pt x="0" y="80"/>
                      </a:moveTo>
                      <a:lnTo>
                        <a:pt x="36" y="32"/>
                      </a:lnTo>
                      <a:lnTo>
                        <a:pt x="126"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69" name="Freeform 240"/>
                <p:cNvSpPr>
                  <a:spLocks/>
                </p:cNvSpPr>
                <p:nvPr/>
              </p:nvSpPr>
              <p:spPr bwMode="auto">
                <a:xfrm>
                  <a:off x="1066" y="1328"/>
                  <a:ext cx="19" cy="41"/>
                </a:xfrm>
                <a:custGeom>
                  <a:avLst/>
                  <a:gdLst>
                    <a:gd name="T0" fmla="*/ 0 w 19"/>
                    <a:gd name="T1" fmla="*/ 40 h 41"/>
                    <a:gd name="T2" fmla="*/ 0 w 19"/>
                    <a:gd name="T3" fmla="*/ 40 h 41"/>
                    <a:gd name="T4" fmla="*/ 18 w 19"/>
                    <a:gd name="T5" fmla="*/ 0 h 41"/>
                    <a:gd name="T6" fmla="*/ 0 60000 65536"/>
                    <a:gd name="T7" fmla="*/ 0 60000 65536"/>
                    <a:gd name="T8" fmla="*/ 0 60000 65536"/>
                    <a:gd name="T9" fmla="*/ 0 w 19"/>
                    <a:gd name="T10" fmla="*/ 0 h 41"/>
                    <a:gd name="T11" fmla="*/ 19 w 19"/>
                    <a:gd name="T12" fmla="*/ 41 h 41"/>
                  </a:gdLst>
                  <a:ahLst/>
                  <a:cxnLst>
                    <a:cxn ang="T6">
                      <a:pos x="T0" y="T1"/>
                    </a:cxn>
                    <a:cxn ang="T7">
                      <a:pos x="T2" y="T3"/>
                    </a:cxn>
                    <a:cxn ang="T8">
                      <a:pos x="T4" y="T5"/>
                    </a:cxn>
                  </a:cxnLst>
                  <a:rect l="T9" t="T10" r="T11" b="T12"/>
                  <a:pathLst>
                    <a:path w="19" h="41">
                      <a:moveTo>
                        <a:pt x="0" y="40"/>
                      </a:moveTo>
                      <a:lnTo>
                        <a:pt x="0" y="40"/>
                      </a:lnTo>
                      <a:lnTo>
                        <a:pt x="1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70" name="Line 241"/>
                <p:cNvSpPr>
                  <a:spLocks noChangeShapeType="1"/>
                </p:cNvSpPr>
                <p:nvPr/>
              </p:nvSpPr>
              <p:spPr bwMode="auto">
                <a:xfrm flipV="1">
                  <a:off x="1070" y="1324"/>
                  <a:ext cx="19" cy="56"/>
                </a:xfrm>
                <a:prstGeom prst="line">
                  <a:avLst/>
                </a:prstGeom>
                <a:noFill/>
                <a:ln w="12700">
                  <a:solidFill>
                    <a:srgbClr val="009900"/>
                  </a:solidFill>
                  <a:round/>
                  <a:headEnd/>
                  <a:tailEnd/>
                </a:ln>
              </p:spPr>
              <p:txBody>
                <a:bodyPr wrap="none" anchor="ctr"/>
                <a:lstStyle/>
                <a:p>
                  <a:endParaRPr lang="en-US"/>
                </a:p>
              </p:txBody>
            </p:sp>
            <p:sp>
              <p:nvSpPr>
                <p:cNvPr id="40671" name="Freeform 242"/>
                <p:cNvSpPr>
                  <a:spLocks/>
                </p:cNvSpPr>
                <p:nvPr/>
              </p:nvSpPr>
              <p:spPr bwMode="auto">
                <a:xfrm>
                  <a:off x="1084" y="1312"/>
                  <a:ext cx="118" cy="57"/>
                </a:xfrm>
                <a:custGeom>
                  <a:avLst/>
                  <a:gdLst>
                    <a:gd name="T0" fmla="*/ 0 w 118"/>
                    <a:gd name="T1" fmla="*/ 0 h 57"/>
                    <a:gd name="T2" fmla="*/ 54 w 118"/>
                    <a:gd name="T3" fmla="*/ 24 h 57"/>
                    <a:gd name="T4" fmla="*/ 117 w 118"/>
                    <a:gd name="T5" fmla="*/ 56 h 57"/>
                    <a:gd name="T6" fmla="*/ 0 60000 65536"/>
                    <a:gd name="T7" fmla="*/ 0 60000 65536"/>
                    <a:gd name="T8" fmla="*/ 0 60000 65536"/>
                    <a:gd name="T9" fmla="*/ 0 w 118"/>
                    <a:gd name="T10" fmla="*/ 0 h 57"/>
                    <a:gd name="T11" fmla="*/ 118 w 118"/>
                    <a:gd name="T12" fmla="*/ 57 h 57"/>
                  </a:gdLst>
                  <a:ahLst/>
                  <a:cxnLst>
                    <a:cxn ang="T6">
                      <a:pos x="T0" y="T1"/>
                    </a:cxn>
                    <a:cxn ang="T7">
                      <a:pos x="T2" y="T3"/>
                    </a:cxn>
                    <a:cxn ang="T8">
                      <a:pos x="T4" y="T5"/>
                    </a:cxn>
                  </a:cxnLst>
                  <a:rect l="T9" t="T10" r="T11" b="T12"/>
                  <a:pathLst>
                    <a:path w="118" h="57">
                      <a:moveTo>
                        <a:pt x="0" y="0"/>
                      </a:moveTo>
                      <a:lnTo>
                        <a:pt x="54" y="24"/>
                      </a:lnTo>
                      <a:lnTo>
                        <a:pt x="117" y="56"/>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72" name="Line 243"/>
                <p:cNvSpPr>
                  <a:spLocks noChangeShapeType="1"/>
                </p:cNvSpPr>
                <p:nvPr/>
              </p:nvSpPr>
              <p:spPr bwMode="auto">
                <a:xfrm>
                  <a:off x="1088" y="1316"/>
                  <a:ext cx="118" cy="56"/>
                </a:xfrm>
                <a:prstGeom prst="line">
                  <a:avLst/>
                </a:prstGeom>
                <a:noFill/>
                <a:ln w="12700">
                  <a:solidFill>
                    <a:srgbClr val="009900"/>
                  </a:solidFill>
                  <a:round/>
                  <a:headEnd/>
                  <a:tailEnd/>
                </a:ln>
              </p:spPr>
              <p:txBody>
                <a:bodyPr wrap="none" anchor="ctr"/>
                <a:lstStyle/>
                <a:p>
                  <a:endParaRPr lang="en-US"/>
                </a:p>
              </p:txBody>
            </p:sp>
            <p:sp>
              <p:nvSpPr>
                <p:cNvPr id="40673" name="Freeform 244"/>
                <p:cNvSpPr>
                  <a:spLocks/>
                </p:cNvSpPr>
                <p:nvPr/>
              </p:nvSpPr>
              <p:spPr bwMode="auto">
                <a:xfrm>
                  <a:off x="1003" y="1192"/>
                  <a:ext cx="127" cy="81"/>
                </a:xfrm>
                <a:custGeom>
                  <a:avLst/>
                  <a:gdLst>
                    <a:gd name="T0" fmla="*/ 0 w 127"/>
                    <a:gd name="T1" fmla="*/ 80 h 81"/>
                    <a:gd name="T2" fmla="*/ 18 w 127"/>
                    <a:gd name="T3" fmla="*/ 32 h 81"/>
                    <a:gd name="T4" fmla="*/ 126 w 127"/>
                    <a:gd name="T5" fmla="*/ 0 h 81"/>
                    <a:gd name="T6" fmla="*/ 0 60000 65536"/>
                    <a:gd name="T7" fmla="*/ 0 60000 65536"/>
                    <a:gd name="T8" fmla="*/ 0 60000 65536"/>
                    <a:gd name="T9" fmla="*/ 0 w 127"/>
                    <a:gd name="T10" fmla="*/ 0 h 81"/>
                    <a:gd name="T11" fmla="*/ 127 w 127"/>
                    <a:gd name="T12" fmla="*/ 81 h 81"/>
                  </a:gdLst>
                  <a:ahLst/>
                  <a:cxnLst>
                    <a:cxn ang="T6">
                      <a:pos x="T0" y="T1"/>
                    </a:cxn>
                    <a:cxn ang="T7">
                      <a:pos x="T2" y="T3"/>
                    </a:cxn>
                    <a:cxn ang="T8">
                      <a:pos x="T4" y="T5"/>
                    </a:cxn>
                  </a:cxnLst>
                  <a:rect l="T9" t="T10" r="T11" b="T12"/>
                  <a:pathLst>
                    <a:path w="127" h="81">
                      <a:moveTo>
                        <a:pt x="0" y="80"/>
                      </a:moveTo>
                      <a:lnTo>
                        <a:pt x="18" y="32"/>
                      </a:lnTo>
                      <a:lnTo>
                        <a:pt x="126"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74" name="Freeform 245"/>
                <p:cNvSpPr>
                  <a:spLocks/>
                </p:cNvSpPr>
                <p:nvPr/>
              </p:nvSpPr>
              <p:spPr bwMode="auto">
                <a:xfrm>
                  <a:off x="1003" y="1192"/>
                  <a:ext cx="127" cy="81"/>
                </a:xfrm>
                <a:custGeom>
                  <a:avLst/>
                  <a:gdLst>
                    <a:gd name="T0" fmla="*/ 0 w 127"/>
                    <a:gd name="T1" fmla="*/ 80 h 81"/>
                    <a:gd name="T2" fmla="*/ 36 w 127"/>
                    <a:gd name="T3" fmla="*/ 32 h 81"/>
                    <a:gd name="T4" fmla="*/ 126 w 127"/>
                    <a:gd name="T5" fmla="*/ 0 h 81"/>
                    <a:gd name="T6" fmla="*/ 0 60000 65536"/>
                    <a:gd name="T7" fmla="*/ 0 60000 65536"/>
                    <a:gd name="T8" fmla="*/ 0 60000 65536"/>
                    <a:gd name="T9" fmla="*/ 0 w 127"/>
                    <a:gd name="T10" fmla="*/ 0 h 81"/>
                    <a:gd name="T11" fmla="*/ 127 w 127"/>
                    <a:gd name="T12" fmla="*/ 81 h 81"/>
                  </a:gdLst>
                  <a:ahLst/>
                  <a:cxnLst>
                    <a:cxn ang="T6">
                      <a:pos x="T0" y="T1"/>
                    </a:cxn>
                    <a:cxn ang="T7">
                      <a:pos x="T2" y="T3"/>
                    </a:cxn>
                    <a:cxn ang="T8">
                      <a:pos x="T4" y="T5"/>
                    </a:cxn>
                  </a:cxnLst>
                  <a:rect l="T9" t="T10" r="T11" b="T12"/>
                  <a:pathLst>
                    <a:path w="127" h="81">
                      <a:moveTo>
                        <a:pt x="0" y="80"/>
                      </a:moveTo>
                      <a:lnTo>
                        <a:pt x="36" y="32"/>
                      </a:lnTo>
                      <a:lnTo>
                        <a:pt x="126"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75" name="Freeform 246"/>
                <p:cNvSpPr>
                  <a:spLocks/>
                </p:cNvSpPr>
                <p:nvPr/>
              </p:nvSpPr>
              <p:spPr bwMode="auto">
                <a:xfrm>
                  <a:off x="1225" y="1421"/>
                  <a:ext cx="18" cy="41"/>
                </a:xfrm>
                <a:custGeom>
                  <a:avLst/>
                  <a:gdLst>
                    <a:gd name="T0" fmla="*/ 0 w 18"/>
                    <a:gd name="T1" fmla="*/ 40 h 41"/>
                    <a:gd name="T2" fmla="*/ 0 w 18"/>
                    <a:gd name="T3" fmla="*/ 40 h 41"/>
                    <a:gd name="T4" fmla="*/ 17 w 18"/>
                    <a:gd name="T5" fmla="*/ 0 h 41"/>
                    <a:gd name="T6" fmla="*/ 0 60000 65536"/>
                    <a:gd name="T7" fmla="*/ 0 60000 65536"/>
                    <a:gd name="T8" fmla="*/ 0 60000 65536"/>
                    <a:gd name="T9" fmla="*/ 0 w 18"/>
                    <a:gd name="T10" fmla="*/ 0 h 41"/>
                    <a:gd name="T11" fmla="*/ 18 w 18"/>
                    <a:gd name="T12" fmla="*/ 41 h 41"/>
                  </a:gdLst>
                  <a:ahLst/>
                  <a:cxnLst>
                    <a:cxn ang="T6">
                      <a:pos x="T0" y="T1"/>
                    </a:cxn>
                    <a:cxn ang="T7">
                      <a:pos x="T2" y="T3"/>
                    </a:cxn>
                    <a:cxn ang="T8">
                      <a:pos x="T4" y="T5"/>
                    </a:cxn>
                  </a:cxnLst>
                  <a:rect l="T9" t="T10" r="T11" b="T12"/>
                  <a:pathLst>
                    <a:path w="18" h="41">
                      <a:moveTo>
                        <a:pt x="0" y="40"/>
                      </a:moveTo>
                      <a:lnTo>
                        <a:pt x="0" y="40"/>
                      </a:lnTo>
                      <a:lnTo>
                        <a:pt x="17"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76" name="Line 247"/>
                <p:cNvSpPr>
                  <a:spLocks noChangeShapeType="1"/>
                </p:cNvSpPr>
                <p:nvPr/>
              </p:nvSpPr>
              <p:spPr bwMode="auto">
                <a:xfrm flipV="1">
                  <a:off x="1070" y="1324"/>
                  <a:ext cx="19" cy="56"/>
                </a:xfrm>
                <a:prstGeom prst="line">
                  <a:avLst/>
                </a:prstGeom>
                <a:noFill/>
                <a:ln w="12700">
                  <a:solidFill>
                    <a:srgbClr val="009900"/>
                  </a:solidFill>
                  <a:round/>
                  <a:headEnd/>
                  <a:tailEnd/>
                </a:ln>
              </p:spPr>
              <p:txBody>
                <a:bodyPr wrap="none" anchor="ctr"/>
                <a:lstStyle/>
                <a:p>
                  <a:endParaRPr lang="en-US"/>
                </a:p>
              </p:txBody>
            </p:sp>
            <p:sp>
              <p:nvSpPr>
                <p:cNvPr id="40677" name="Freeform 248"/>
                <p:cNvSpPr>
                  <a:spLocks/>
                </p:cNvSpPr>
                <p:nvPr/>
              </p:nvSpPr>
              <p:spPr bwMode="auto">
                <a:xfrm>
                  <a:off x="1084" y="1312"/>
                  <a:ext cx="118" cy="57"/>
                </a:xfrm>
                <a:custGeom>
                  <a:avLst/>
                  <a:gdLst>
                    <a:gd name="T0" fmla="*/ 0 w 118"/>
                    <a:gd name="T1" fmla="*/ 0 h 57"/>
                    <a:gd name="T2" fmla="*/ 54 w 118"/>
                    <a:gd name="T3" fmla="*/ 24 h 57"/>
                    <a:gd name="T4" fmla="*/ 117 w 118"/>
                    <a:gd name="T5" fmla="*/ 56 h 57"/>
                    <a:gd name="T6" fmla="*/ 0 60000 65536"/>
                    <a:gd name="T7" fmla="*/ 0 60000 65536"/>
                    <a:gd name="T8" fmla="*/ 0 60000 65536"/>
                    <a:gd name="T9" fmla="*/ 0 w 118"/>
                    <a:gd name="T10" fmla="*/ 0 h 57"/>
                    <a:gd name="T11" fmla="*/ 118 w 118"/>
                    <a:gd name="T12" fmla="*/ 57 h 57"/>
                  </a:gdLst>
                  <a:ahLst/>
                  <a:cxnLst>
                    <a:cxn ang="T6">
                      <a:pos x="T0" y="T1"/>
                    </a:cxn>
                    <a:cxn ang="T7">
                      <a:pos x="T2" y="T3"/>
                    </a:cxn>
                    <a:cxn ang="T8">
                      <a:pos x="T4" y="T5"/>
                    </a:cxn>
                  </a:cxnLst>
                  <a:rect l="T9" t="T10" r="T11" b="T12"/>
                  <a:pathLst>
                    <a:path w="118" h="57">
                      <a:moveTo>
                        <a:pt x="0" y="0"/>
                      </a:moveTo>
                      <a:lnTo>
                        <a:pt x="54" y="24"/>
                      </a:lnTo>
                      <a:lnTo>
                        <a:pt x="117" y="56"/>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78" name="Line 249"/>
                <p:cNvSpPr>
                  <a:spLocks noChangeShapeType="1"/>
                </p:cNvSpPr>
                <p:nvPr/>
              </p:nvSpPr>
              <p:spPr bwMode="auto">
                <a:xfrm>
                  <a:off x="1088" y="1322"/>
                  <a:ext cx="118" cy="56"/>
                </a:xfrm>
                <a:prstGeom prst="line">
                  <a:avLst/>
                </a:prstGeom>
                <a:noFill/>
                <a:ln w="12700">
                  <a:solidFill>
                    <a:srgbClr val="009900"/>
                  </a:solidFill>
                  <a:round/>
                  <a:headEnd/>
                  <a:tailEnd/>
                </a:ln>
              </p:spPr>
              <p:txBody>
                <a:bodyPr wrap="none" anchor="ctr"/>
                <a:lstStyle/>
                <a:p>
                  <a:endParaRPr lang="en-US"/>
                </a:p>
              </p:txBody>
            </p:sp>
            <p:sp>
              <p:nvSpPr>
                <p:cNvPr id="40679" name="Freeform 250"/>
                <p:cNvSpPr>
                  <a:spLocks/>
                </p:cNvSpPr>
                <p:nvPr/>
              </p:nvSpPr>
              <p:spPr bwMode="auto">
                <a:xfrm>
                  <a:off x="1027" y="1565"/>
                  <a:ext cx="190" cy="49"/>
                </a:xfrm>
                <a:custGeom>
                  <a:avLst/>
                  <a:gdLst>
                    <a:gd name="T0" fmla="*/ 0 w 190"/>
                    <a:gd name="T1" fmla="*/ 48 h 49"/>
                    <a:gd name="T2" fmla="*/ 180 w 190"/>
                    <a:gd name="T3" fmla="*/ 24 h 49"/>
                    <a:gd name="T4" fmla="*/ 189 w 190"/>
                    <a:gd name="T5" fmla="*/ 0 h 49"/>
                    <a:gd name="T6" fmla="*/ 0 60000 65536"/>
                    <a:gd name="T7" fmla="*/ 0 60000 65536"/>
                    <a:gd name="T8" fmla="*/ 0 60000 65536"/>
                    <a:gd name="T9" fmla="*/ 0 w 190"/>
                    <a:gd name="T10" fmla="*/ 0 h 49"/>
                    <a:gd name="T11" fmla="*/ 190 w 190"/>
                    <a:gd name="T12" fmla="*/ 49 h 49"/>
                  </a:gdLst>
                  <a:ahLst/>
                  <a:cxnLst>
                    <a:cxn ang="T6">
                      <a:pos x="T0" y="T1"/>
                    </a:cxn>
                    <a:cxn ang="T7">
                      <a:pos x="T2" y="T3"/>
                    </a:cxn>
                    <a:cxn ang="T8">
                      <a:pos x="T4" y="T5"/>
                    </a:cxn>
                  </a:cxnLst>
                  <a:rect l="T9" t="T10" r="T11" b="T12"/>
                  <a:pathLst>
                    <a:path w="190" h="49">
                      <a:moveTo>
                        <a:pt x="0" y="48"/>
                      </a:moveTo>
                      <a:lnTo>
                        <a:pt x="180" y="24"/>
                      </a:lnTo>
                      <a:lnTo>
                        <a:pt x="18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80" name="Freeform 251"/>
                <p:cNvSpPr>
                  <a:spLocks/>
                </p:cNvSpPr>
                <p:nvPr/>
              </p:nvSpPr>
              <p:spPr bwMode="auto">
                <a:xfrm>
                  <a:off x="832" y="1440"/>
                  <a:ext cx="190" cy="49"/>
                </a:xfrm>
                <a:custGeom>
                  <a:avLst/>
                  <a:gdLst>
                    <a:gd name="T0" fmla="*/ 0 w 190"/>
                    <a:gd name="T1" fmla="*/ 48 h 49"/>
                    <a:gd name="T2" fmla="*/ 72 w 190"/>
                    <a:gd name="T3" fmla="*/ 32 h 49"/>
                    <a:gd name="T4" fmla="*/ 135 w 190"/>
                    <a:gd name="T5" fmla="*/ 24 h 49"/>
                    <a:gd name="T6" fmla="*/ 171 w 190"/>
                    <a:gd name="T7" fmla="*/ 8 h 49"/>
                    <a:gd name="T8" fmla="*/ 189 w 190"/>
                    <a:gd name="T9" fmla="*/ 0 h 49"/>
                    <a:gd name="T10" fmla="*/ 0 60000 65536"/>
                    <a:gd name="T11" fmla="*/ 0 60000 65536"/>
                    <a:gd name="T12" fmla="*/ 0 60000 65536"/>
                    <a:gd name="T13" fmla="*/ 0 60000 65536"/>
                    <a:gd name="T14" fmla="*/ 0 60000 65536"/>
                    <a:gd name="T15" fmla="*/ 0 w 190"/>
                    <a:gd name="T16" fmla="*/ 0 h 49"/>
                    <a:gd name="T17" fmla="*/ 190 w 190"/>
                    <a:gd name="T18" fmla="*/ 49 h 49"/>
                  </a:gdLst>
                  <a:ahLst/>
                  <a:cxnLst>
                    <a:cxn ang="T10">
                      <a:pos x="T0" y="T1"/>
                    </a:cxn>
                    <a:cxn ang="T11">
                      <a:pos x="T2" y="T3"/>
                    </a:cxn>
                    <a:cxn ang="T12">
                      <a:pos x="T4" y="T5"/>
                    </a:cxn>
                    <a:cxn ang="T13">
                      <a:pos x="T6" y="T7"/>
                    </a:cxn>
                    <a:cxn ang="T14">
                      <a:pos x="T8" y="T9"/>
                    </a:cxn>
                  </a:cxnLst>
                  <a:rect l="T15" t="T16" r="T17" b="T18"/>
                  <a:pathLst>
                    <a:path w="190" h="49">
                      <a:moveTo>
                        <a:pt x="0" y="48"/>
                      </a:moveTo>
                      <a:lnTo>
                        <a:pt x="72" y="32"/>
                      </a:lnTo>
                      <a:lnTo>
                        <a:pt x="135" y="24"/>
                      </a:lnTo>
                      <a:lnTo>
                        <a:pt x="171" y="8"/>
                      </a:lnTo>
                      <a:lnTo>
                        <a:pt x="18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81" name="Freeform 252"/>
                <p:cNvSpPr>
                  <a:spLocks/>
                </p:cNvSpPr>
                <p:nvPr/>
              </p:nvSpPr>
              <p:spPr bwMode="auto">
                <a:xfrm>
                  <a:off x="958" y="1328"/>
                  <a:ext cx="55" cy="137"/>
                </a:xfrm>
                <a:custGeom>
                  <a:avLst/>
                  <a:gdLst>
                    <a:gd name="T0" fmla="*/ 54 w 55"/>
                    <a:gd name="T1" fmla="*/ 136 h 137"/>
                    <a:gd name="T2" fmla="*/ 9 w 55"/>
                    <a:gd name="T3" fmla="*/ 104 h 137"/>
                    <a:gd name="T4" fmla="*/ 0 w 55"/>
                    <a:gd name="T5" fmla="*/ 0 h 137"/>
                    <a:gd name="T6" fmla="*/ 0 60000 65536"/>
                    <a:gd name="T7" fmla="*/ 0 60000 65536"/>
                    <a:gd name="T8" fmla="*/ 0 60000 65536"/>
                    <a:gd name="T9" fmla="*/ 0 w 55"/>
                    <a:gd name="T10" fmla="*/ 0 h 137"/>
                    <a:gd name="T11" fmla="*/ 55 w 55"/>
                    <a:gd name="T12" fmla="*/ 137 h 137"/>
                  </a:gdLst>
                  <a:ahLst/>
                  <a:cxnLst>
                    <a:cxn ang="T6">
                      <a:pos x="T0" y="T1"/>
                    </a:cxn>
                    <a:cxn ang="T7">
                      <a:pos x="T2" y="T3"/>
                    </a:cxn>
                    <a:cxn ang="T8">
                      <a:pos x="T4" y="T5"/>
                    </a:cxn>
                  </a:cxnLst>
                  <a:rect l="T9" t="T10" r="T11" b="T12"/>
                  <a:pathLst>
                    <a:path w="55" h="137">
                      <a:moveTo>
                        <a:pt x="54" y="136"/>
                      </a:moveTo>
                      <a:lnTo>
                        <a:pt x="9" y="104"/>
                      </a:lnTo>
                      <a:lnTo>
                        <a:pt x="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82" name="Freeform 253"/>
                <p:cNvSpPr>
                  <a:spLocks/>
                </p:cNvSpPr>
                <p:nvPr/>
              </p:nvSpPr>
              <p:spPr bwMode="auto">
                <a:xfrm>
                  <a:off x="958" y="1328"/>
                  <a:ext cx="55" cy="137"/>
                </a:xfrm>
                <a:custGeom>
                  <a:avLst/>
                  <a:gdLst>
                    <a:gd name="T0" fmla="*/ 54 w 55"/>
                    <a:gd name="T1" fmla="*/ 136 h 137"/>
                    <a:gd name="T2" fmla="*/ 9 w 55"/>
                    <a:gd name="T3" fmla="*/ 80 h 137"/>
                    <a:gd name="T4" fmla="*/ 0 w 55"/>
                    <a:gd name="T5" fmla="*/ 0 h 137"/>
                    <a:gd name="T6" fmla="*/ 0 60000 65536"/>
                    <a:gd name="T7" fmla="*/ 0 60000 65536"/>
                    <a:gd name="T8" fmla="*/ 0 60000 65536"/>
                    <a:gd name="T9" fmla="*/ 0 w 55"/>
                    <a:gd name="T10" fmla="*/ 0 h 137"/>
                    <a:gd name="T11" fmla="*/ 55 w 55"/>
                    <a:gd name="T12" fmla="*/ 137 h 137"/>
                  </a:gdLst>
                  <a:ahLst/>
                  <a:cxnLst>
                    <a:cxn ang="T6">
                      <a:pos x="T0" y="T1"/>
                    </a:cxn>
                    <a:cxn ang="T7">
                      <a:pos x="T2" y="T3"/>
                    </a:cxn>
                    <a:cxn ang="T8">
                      <a:pos x="T4" y="T5"/>
                    </a:cxn>
                  </a:cxnLst>
                  <a:rect l="T9" t="T10" r="T11" b="T12"/>
                  <a:pathLst>
                    <a:path w="55" h="137">
                      <a:moveTo>
                        <a:pt x="54" y="136"/>
                      </a:moveTo>
                      <a:lnTo>
                        <a:pt x="9" y="80"/>
                      </a:lnTo>
                      <a:lnTo>
                        <a:pt x="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83" name="Freeform 254"/>
                <p:cNvSpPr>
                  <a:spLocks/>
                </p:cNvSpPr>
                <p:nvPr/>
              </p:nvSpPr>
              <p:spPr bwMode="auto">
                <a:xfrm>
                  <a:off x="1126" y="1469"/>
                  <a:ext cx="10" cy="42"/>
                </a:xfrm>
                <a:custGeom>
                  <a:avLst/>
                  <a:gdLst>
                    <a:gd name="T0" fmla="*/ 0 w 10"/>
                    <a:gd name="T1" fmla="*/ 41 h 42"/>
                    <a:gd name="T2" fmla="*/ 0 w 10"/>
                    <a:gd name="T3" fmla="*/ 41 h 42"/>
                    <a:gd name="T4" fmla="*/ 9 w 10"/>
                    <a:gd name="T5" fmla="*/ 0 h 42"/>
                    <a:gd name="T6" fmla="*/ 0 60000 65536"/>
                    <a:gd name="T7" fmla="*/ 0 60000 65536"/>
                    <a:gd name="T8" fmla="*/ 0 60000 65536"/>
                    <a:gd name="T9" fmla="*/ 0 w 10"/>
                    <a:gd name="T10" fmla="*/ 0 h 42"/>
                    <a:gd name="T11" fmla="*/ 10 w 10"/>
                    <a:gd name="T12" fmla="*/ 42 h 42"/>
                  </a:gdLst>
                  <a:ahLst/>
                  <a:cxnLst>
                    <a:cxn ang="T6">
                      <a:pos x="T0" y="T1"/>
                    </a:cxn>
                    <a:cxn ang="T7">
                      <a:pos x="T2" y="T3"/>
                    </a:cxn>
                    <a:cxn ang="T8">
                      <a:pos x="T4" y="T5"/>
                    </a:cxn>
                  </a:cxnLst>
                  <a:rect l="T9" t="T10" r="T11" b="T12"/>
                  <a:pathLst>
                    <a:path w="10" h="42">
                      <a:moveTo>
                        <a:pt x="0" y="41"/>
                      </a:moveTo>
                      <a:lnTo>
                        <a:pt x="0" y="41"/>
                      </a:lnTo>
                      <a:lnTo>
                        <a:pt x="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84" name="Line 255"/>
                <p:cNvSpPr>
                  <a:spLocks noChangeShapeType="1"/>
                </p:cNvSpPr>
                <p:nvPr/>
              </p:nvSpPr>
              <p:spPr bwMode="auto">
                <a:xfrm flipV="1">
                  <a:off x="975" y="1372"/>
                  <a:ext cx="2" cy="48"/>
                </a:xfrm>
                <a:prstGeom prst="line">
                  <a:avLst/>
                </a:prstGeom>
                <a:noFill/>
                <a:ln w="12700">
                  <a:solidFill>
                    <a:srgbClr val="009900"/>
                  </a:solidFill>
                  <a:round/>
                  <a:headEnd/>
                  <a:tailEnd/>
                </a:ln>
              </p:spPr>
              <p:txBody>
                <a:bodyPr wrap="none" anchor="ctr"/>
                <a:lstStyle/>
                <a:p>
                  <a:endParaRPr lang="en-US"/>
                </a:p>
              </p:txBody>
            </p:sp>
            <p:sp>
              <p:nvSpPr>
                <p:cNvPr id="40685" name="Freeform 256"/>
                <p:cNvSpPr>
                  <a:spLocks/>
                </p:cNvSpPr>
                <p:nvPr/>
              </p:nvSpPr>
              <p:spPr bwMode="auto">
                <a:xfrm>
                  <a:off x="877" y="1288"/>
                  <a:ext cx="118" cy="49"/>
                </a:xfrm>
                <a:custGeom>
                  <a:avLst/>
                  <a:gdLst>
                    <a:gd name="T0" fmla="*/ 0 w 118"/>
                    <a:gd name="T1" fmla="*/ 0 h 49"/>
                    <a:gd name="T2" fmla="*/ 54 w 118"/>
                    <a:gd name="T3" fmla="*/ 24 h 49"/>
                    <a:gd name="T4" fmla="*/ 117 w 118"/>
                    <a:gd name="T5" fmla="*/ 48 h 49"/>
                    <a:gd name="T6" fmla="*/ 0 60000 65536"/>
                    <a:gd name="T7" fmla="*/ 0 60000 65536"/>
                    <a:gd name="T8" fmla="*/ 0 60000 65536"/>
                    <a:gd name="T9" fmla="*/ 0 w 118"/>
                    <a:gd name="T10" fmla="*/ 0 h 49"/>
                    <a:gd name="T11" fmla="*/ 118 w 118"/>
                    <a:gd name="T12" fmla="*/ 49 h 49"/>
                  </a:gdLst>
                  <a:ahLst/>
                  <a:cxnLst>
                    <a:cxn ang="T6">
                      <a:pos x="T0" y="T1"/>
                    </a:cxn>
                    <a:cxn ang="T7">
                      <a:pos x="T2" y="T3"/>
                    </a:cxn>
                    <a:cxn ang="T8">
                      <a:pos x="T4" y="T5"/>
                    </a:cxn>
                  </a:cxnLst>
                  <a:rect l="T9" t="T10" r="T11" b="T12"/>
                  <a:pathLst>
                    <a:path w="118" h="49">
                      <a:moveTo>
                        <a:pt x="0" y="0"/>
                      </a:moveTo>
                      <a:lnTo>
                        <a:pt x="54" y="24"/>
                      </a:lnTo>
                      <a:lnTo>
                        <a:pt x="117" y="48"/>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86" name="Line 257"/>
                <p:cNvSpPr>
                  <a:spLocks noChangeShapeType="1"/>
                </p:cNvSpPr>
                <p:nvPr/>
              </p:nvSpPr>
              <p:spPr bwMode="auto">
                <a:xfrm>
                  <a:off x="892" y="1278"/>
                  <a:ext cx="118" cy="48"/>
                </a:xfrm>
                <a:prstGeom prst="line">
                  <a:avLst/>
                </a:prstGeom>
                <a:noFill/>
                <a:ln w="12700">
                  <a:solidFill>
                    <a:srgbClr val="009900"/>
                  </a:solidFill>
                  <a:round/>
                  <a:headEnd/>
                  <a:tailEnd/>
                </a:ln>
              </p:spPr>
              <p:txBody>
                <a:bodyPr wrap="none" anchor="ctr"/>
                <a:lstStyle/>
                <a:p>
                  <a:endParaRPr lang="en-US"/>
                </a:p>
              </p:txBody>
            </p:sp>
            <p:sp>
              <p:nvSpPr>
                <p:cNvPr id="40687" name="Freeform 258"/>
                <p:cNvSpPr>
                  <a:spLocks/>
                </p:cNvSpPr>
                <p:nvPr/>
              </p:nvSpPr>
              <p:spPr bwMode="auto">
                <a:xfrm>
                  <a:off x="1012" y="1288"/>
                  <a:ext cx="127" cy="81"/>
                </a:xfrm>
                <a:custGeom>
                  <a:avLst/>
                  <a:gdLst>
                    <a:gd name="T0" fmla="*/ 0 w 127"/>
                    <a:gd name="T1" fmla="*/ 80 h 81"/>
                    <a:gd name="T2" fmla="*/ 18 w 127"/>
                    <a:gd name="T3" fmla="*/ 24 h 81"/>
                    <a:gd name="T4" fmla="*/ 126 w 127"/>
                    <a:gd name="T5" fmla="*/ 0 h 81"/>
                    <a:gd name="T6" fmla="*/ 0 60000 65536"/>
                    <a:gd name="T7" fmla="*/ 0 60000 65536"/>
                    <a:gd name="T8" fmla="*/ 0 60000 65536"/>
                    <a:gd name="T9" fmla="*/ 0 w 127"/>
                    <a:gd name="T10" fmla="*/ 0 h 81"/>
                    <a:gd name="T11" fmla="*/ 127 w 127"/>
                    <a:gd name="T12" fmla="*/ 81 h 81"/>
                  </a:gdLst>
                  <a:ahLst/>
                  <a:cxnLst>
                    <a:cxn ang="T6">
                      <a:pos x="T0" y="T1"/>
                    </a:cxn>
                    <a:cxn ang="T7">
                      <a:pos x="T2" y="T3"/>
                    </a:cxn>
                    <a:cxn ang="T8">
                      <a:pos x="T4" y="T5"/>
                    </a:cxn>
                  </a:cxnLst>
                  <a:rect l="T9" t="T10" r="T11" b="T12"/>
                  <a:pathLst>
                    <a:path w="127" h="81">
                      <a:moveTo>
                        <a:pt x="0" y="80"/>
                      </a:moveTo>
                      <a:lnTo>
                        <a:pt x="18" y="24"/>
                      </a:lnTo>
                      <a:lnTo>
                        <a:pt x="126"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88" name="Freeform 259"/>
                <p:cNvSpPr>
                  <a:spLocks/>
                </p:cNvSpPr>
                <p:nvPr/>
              </p:nvSpPr>
              <p:spPr bwMode="auto">
                <a:xfrm>
                  <a:off x="1012" y="1288"/>
                  <a:ext cx="127" cy="81"/>
                </a:xfrm>
                <a:custGeom>
                  <a:avLst/>
                  <a:gdLst>
                    <a:gd name="T0" fmla="*/ 0 w 127"/>
                    <a:gd name="T1" fmla="*/ 80 h 81"/>
                    <a:gd name="T2" fmla="*/ 36 w 127"/>
                    <a:gd name="T3" fmla="*/ 32 h 81"/>
                    <a:gd name="T4" fmla="*/ 126 w 127"/>
                    <a:gd name="T5" fmla="*/ 0 h 81"/>
                    <a:gd name="T6" fmla="*/ 0 60000 65536"/>
                    <a:gd name="T7" fmla="*/ 0 60000 65536"/>
                    <a:gd name="T8" fmla="*/ 0 60000 65536"/>
                    <a:gd name="T9" fmla="*/ 0 w 127"/>
                    <a:gd name="T10" fmla="*/ 0 h 81"/>
                    <a:gd name="T11" fmla="*/ 127 w 127"/>
                    <a:gd name="T12" fmla="*/ 81 h 81"/>
                  </a:gdLst>
                  <a:ahLst/>
                  <a:cxnLst>
                    <a:cxn ang="T6">
                      <a:pos x="T0" y="T1"/>
                    </a:cxn>
                    <a:cxn ang="T7">
                      <a:pos x="T2" y="T3"/>
                    </a:cxn>
                    <a:cxn ang="T8">
                      <a:pos x="T4" y="T5"/>
                    </a:cxn>
                  </a:cxnLst>
                  <a:rect l="T9" t="T10" r="T11" b="T12"/>
                  <a:pathLst>
                    <a:path w="127" h="81">
                      <a:moveTo>
                        <a:pt x="0" y="80"/>
                      </a:moveTo>
                      <a:lnTo>
                        <a:pt x="36" y="32"/>
                      </a:lnTo>
                      <a:lnTo>
                        <a:pt x="126"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89" name="Freeform 260"/>
                <p:cNvSpPr>
                  <a:spLocks/>
                </p:cNvSpPr>
                <p:nvPr/>
              </p:nvSpPr>
              <p:spPr bwMode="auto">
                <a:xfrm>
                  <a:off x="1234" y="1510"/>
                  <a:ext cx="19" cy="48"/>
                </a:xfrm>
                <a:custGeom>
                  <a:avLst/>
                  <a:gdLst>
                    <a:gd name="T0" fmla="*/ 0 w 19"/>
                    <a:gd name="T1" fmla="*/ 47 h 48"/>
                    <a:gd name="T2" fmla="*/ 0 w 19"/>
                    <a:gd name="T3" fmla="*/ 47 h 48"/>
                    <a:gd name="T4" fmla="*/ 18 w 19"/>
                    <a:gd name="T5" fmla="*/ 0 h 48"/>
                    <a:gd name="T6" fmla="*/ 0 60000 65536"/>
                    <a:gd name="T7" fmla="*/ 0 60000 65536"/>
                    <a:gd name="T8" fmla="*/ 0 60000 65536"/>
                    <a:gd name="T9" fmla="*/ 0 w 19"/>
                    <a:gd name="T10" fmla="*/ 0 h 48"/>
                    <a:gd name="T11" fmla="*/ 19 w 19"/>
                    <a:gd name="T12" fmla="*/ 48 h 48"/>
                  </a:gdLst>
                  <a:ahLst/>
                  <a:cxnLst>
                    <a:cxn ang="T6">
                      <a:pos x="T0" y="T1"/>
                    </a:cxn>
                    <a:cxn ang="T7">
                      <a:pos x="T2" y="T3"/>
                    </a:cxn>
                    <a:cxn ang="T8">
                      <a:pos x="T4" y="T5"/>
                    </a:cxn>
                  </a:cxnLst>
                  <a:rect l="T9" t="T10" r="T11" b="T12"/>
                  <a:pathLst>
                    <a:path w="19" h="48">
                      <a:moveTo>
                        <a:pt x="0" y="47"/>
                      </a:moveTo>
                      <a:lnTo>
                        <a:pt x="0" y="47"/>
                      </a:lnTo>
                      <a:lnTo>
                        <a:pt x="1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90" name="Line 261"/>
                <p:cNvSpPr>
                  <a:spLocks noChangeShapeType="1"/>
                </p:cNvSpPr>
                <p:nvPr/>
              </p:nvSpPr>
              <p:spPr bwMode="auto">
                <a:xfrm flipV="1">
                  <a:off x="1084" y="1412"/>
                  <a:ext cx="9" cy="56"/>
                </a:xfrm>
                <a:prstGeom prst="line">
                  <a:avLst/>
                </a:prstGeom>
                <a:noFill/>
                <a:ln w="12700">
                  <a:solidFill>
                    <a:srgbClr val="009900"/>
                  </a:solidFill>
                  <a:round/>
                  <a:headEnd/>
                  <a:tailEnd/>
                </a:ln>
              </p:spPr>
              <p:txBody>
                <a:bodyPr wrap="none" anchor="ctr"/>
                <a:lstStyle/>
                <a:p>
                  <a:endParaRPr lang="en-US"/>
                </a:p>
              </p:txBody>
            </p:sp>
            <p:sp>
              <p:nvSpPr>
                <p:cNvPr id="40691" name="Freeform 262"/>
                <p:cNvSpPr>
                  <a:spLocks/>
                </p:cNvSpPr>
                <p:nvPr/>
              </p:nvSpPr>
              <p:spPr bwMode="auto">
                <a:xfrm>
                  <a:off x="832" y="1408"/>
                  <a:ext cx="19" cy="49"/>
                </a:xfrm>
                <a:custGeom>
                  <a:avLst/>
                  <a:gdLst>
                    <a:gd name="T0" fmla="*/ 0 w 19"/>
                    <a:gd name="T1" fmla="*/ 48 h 49"/>
                    <a:gd name="T2" fmla="*/ 0 w 19"/>
                    <a:gd name="T3" fmla="*/ 48 h 49"/>
                    <a:gd name="T4" fmla="*/ 18 w 19"/>
                    <a:gd name="T5" fmla="*/ 0 h 49"/>
                    <a:gd name="T6" fmla="*/ 0 60000 65536"/>
                    <a:gd name="T7" fmla="*/ 0 60000 65536"/>
                    <a:gd name="T8" fmla="*/ 0 60000 65536"/>
                    <a:gd name="T9" fmla="*/ 0 w 19"/>
                    <a:gd name="T10" fmla="*/ 0 h 49"/>
                    <a:gd name="T11" fmla="*/ 19 w 19"/>
                    <a:gd name="T12" fmla="*/ 49 h 49"/>
                  </a:gdLst>
                  <a:ahLst/>
                  <a:cxnLst>
                    <a:cxn ang="T6">
                      <a:pos x="T0" y="T1"/>
                    </a:cxn>
                    <a:cxn ang="T7">
                      <a:pos x="T2" y="T3"/>
                    </a:cxn>
                    <a:cxn ang="T8">
                      <a:pos x="T4" y="T5"/>
                    </a:cxn>
                  </a:cxnLst>
                  <a:rect l="T9" t="T10" r="T11" b="T12"/>
                  <a:pathLst>
                    <a:path w="19" h="49">
                      <a:moveTo>
                        <a:pt x="0" y="48"/>
                      </a:moveTo>
                      <a:lnTo>
                        <a:pt x="0" y="48"/>
                      </a:lnTo>
                      <a:lnTo>
                        <a:pt x="1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92" name="Line 263"/>
                <p:cNvSpPr>
                  <a:spLocks noChangeShapeType="1"/>
                </p:cNvSpPr>
                <p:nvPr/>
              </p:nvSpPr>
              <p:spPr bwMode="auto">
                <a:xfrm flipV="1">
                  <a:off x="999" y="1497"/>
                  <a:ext cx="10" cy="56"/>
                </a:xfrm>
                <a:prstGeom prst="line">
                  <a:avLst/>
                </a:prstGeom>
                <a:noFill/>
                <a:ln w="12700">
                  <a:solidFill>
                    <a:srgbClr val="009900"/>
                  </a:solidFill>
                  <a:round/>
                  <a:headEnd/>
                  <a:tailEnd/>
                </a:ln>
              </p:spPr>
              <p:txBody>
                <a:bodyPr wrap="none" anchor="ctr"/>
                <a:lstStyle/>
                <a:p>
                  <a:endParaRPr lang="en-US"/>
                </a:p>
              </p:txBody>
            </p:sp>
            <p:sp>
              <p:nvSpPr>
                <p:cNvPr id="40693" name="Freeform 264"/>
                <p:cNvSpPr>
                  <a:spLocks/>
                </p:cNvSpPr>
                <p:nvPr/>
              </p:nvSpPr>
              <p:spPr bwMode="auto">
                <a:xfrm>
                  <a:off x="1057" y="1448"/>
                  <a:ext cx="118" cy="49"/>
                </a:xfrm>
                <a:custGeom>
                  <a:avLst/>
                  <a:gdLst>
                    <a:gd name="T0" fmla="*/ 0 w 118"/>
                    <a:gd name="T1" fmla="*/ 0 h 49"/>
                    <a:gd name="T2" fmla="*/ 54 w 118"/>
                    <a:gd name="T3" fmla="*/ 24 h 49"/>
                    <a:gd name="T4" fmla="*/ 117 w 118"/>
                    <a:gd name="T5" fmla="*/ 48 h 49"/>
                    <a:gd name="T6" fmla="*/ 0 60000 65536"/>
                    <a:gd name="T7" fmla="*/ 0 60000 65536"/>
                    <a:gd name="T8" fmla="*/ 0 60000 65536"/>
                    <a:gd name="T9" fmla="*/ 0 w 118"/>
                    <a:gd name="T10" fmla="*/ 0 h 49"/>
                    <a:gd name="T11" fmla="*/ 118 w 118"/>
                    <a:gd name="T12" fmla="*/ 49 h 49"/>
                  </a:gdLst>
                  <a:ahLst/>
                  <a:cxnLst>
                    <a:cxn ang="T6">
                      <a:pos x="T0" y="T1"/>
                    </a:cxn>
                    <a:cxn ang="T7">
                      <a:pos x="T2" y="T3"/>
                    </a:cxn>
                    <a:cxn ang="T8">
                      <a:pos x="T4" y="T5"/>
                    </a:cxn>
                  </a:cxnLst>
                  <a:rect l="T9" t="T10" r="T11" b="T12"/>
                  <a:pathLst>
                    <a:path w="118" h="49">
                      <a:moveTo>
                        <a:pt x="0" y="0"/>
                      </a:moveTo>
                      <a:lnTo>
                        <a:pt x="54" y="24"/>
                      </a:lnTo>
                      <a:lnTo>
                        <a:pt x="117" y="48"/>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94" name="Line 265"/>
                <p:cNvSpPr>
                  <a:spLocks noChangeShapeType="1"/>
                </p:cNvSpPr>
                <p:nvPr/>
              </p:nvSpPr>
              <p:spPr bwMode="auto">
                <a:xfrm>
                  <a:off x="1059" y="1475"/>
                  <a:ext cx="118" cy="49"/>
                </a:xfrm>
                <a:prstGeom prst="line">
                  <a:avLst/>
                </a:prstGeom>
                <a:noFill/>
                <a:ln w="12700">
                  <a:solidFill>
                    <a:srgbClr val="009900"/>
                  </a:solidFill>
                  <a:round/>
                  <a:headEnd/>
                  <a:tailEnd/>
                </a:ln>
              </p:spPr>
              <p:txBody>
                <a:bodyPr wrap="none" anchor="ctr"/>
                <a:lstStyle/>
                <a:p>
                  <a:endParaRPr lang="en-US"/>
                </a:p>
              </p:txBody>
            </p:sp>
            <p:sp>
              <p:nvSpPr>
                <p:cNvPr id="40695" name="Freeform 266"/>
                <p:cNvSpPr>
                  <a:spLocks/>
                </p:cNvSpPr>
                <p:nvPr/>
              </p:nvSpPr>
              <p:spPr bwMode="auto">
                <a:xfrm>
                  <a:off x="823" y="1480"/>
                  <a:ext cx="118" cy="49"/>
                </a:xfrm>
                <a:custGeom>
                  <a:avLst/>
                  <a:gdLst>
                    <a:gd name="T0" fmla="*/ 0 w 118"/>
                    <a:gd name="T1" fmla="*/ 0 h 49"/>
                    <a:gd name="T2" fmla="*/ 54 w 118"/>
                    <a:gd name="T3" fmla="*/ 24 h 49"/>
                    <a:gd name="T4" fmla="*/ 117 w 118"/>
                    <a:gd name="T5" fmla="*/ 48 h 49"/>
                    <a:gd name="T6" fmla="*/ 0 60000 65536"/>
                    <a:gd name="T7" fmla="*/ 0 60000 65536"/>
                    <a:gd name="T8" fmla="*/ 0 60000 65536"/>
                    <a:gd name="T9" fmla="*/ 0 w 118"/>
                    <a:gd name="T10" fmla="*/ 0 h 49"/>
                    <a:gd name="T11" fmla="*/ 118 w 118"/>
                    <a:gd name="T12" fmla="*/ 49 h 49"/>
                  </a:gdLst>
                  <a:ahLst/>
                  <a:cxnLst>
                    <a:cxn ang="T6">
                      <a:pos x="T0" y="T1"/>
                    </a:cxn>
                    <a:cxn ang="T7">
                      <a:pos x="T2" y="T3"/>
                    </a:cxn>
                    <a:cxn ang="T8">
                      <a:pos x="T4" y="T5"/>
                    </a:cxn>
                  </a:cxnLst>
                  <a:rect l="T9" t="T10" r="T11" b="T12"/>
                  <a:pathLst>
                    <a:path w="118" h="49">
                      <a:moveTo>
                        <a:pt x="0" y="0"/>
                      </a:moveTo>
                      <a:lnTo>
                        <a:pt x="54" y="24"/>
                      </a:lnTo>
                      <a:lnTo>
                        <a:pt x="117" y="48"/>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96" name="Line 267"/>
                <p:cNvSpPr>
                  <a:spLocks noChangeShapeType="1"/>
                </p:cNvSpPr>
                <p:nvPr/>
              </p:nvSpPr>
              <p:spPr bwMode="auto">
                <a:xfrm>
                  <a:off x="831" y="1464"/>
                  <a:ext cx="119" cy="48"/>
                </a:xfrm>
                <a:prstGeom prst="line">
                  <a:avLst/>
                </a:prstGeom>
                <a:noFill/>
                <a:ln w="12700">
                  <a:solidFill>
                    <a:srgbClr val="009900"/>
                  </a:solidFill>
                  <a:round/>
                  <a:headEnd/>
                  <a:tailEnd/>
                </a:ln>
              </p:spPr>
              <p:txBody>
                <a:bodyPr wrap="none" anchor="ctr"/>
                <a:lstStyle/>
                <a:p>
                  <a:endParaRPr lang="en-US"/>
                </a:p>
              </p:txBody>
            </p:sp>
            <p:sp>
              <p:nvSpPr>
                <p:cNvPr id="40697" name="Freeform 268"/>
                <p:cNvSpPr>
                  <a:spLocks/>
                </p:cNvSpPr>
                <p:nvPr/>
              </p:nvSpPr>
              <p:spPr bwMode="auto">
                <a:xfrm>
                  <a:off x="832" y="1200"/>
                  <a:ext cx="109" cy="57"/>
                </a:xfrm>
                <a:custGeom>
                  <a:avLst/>
                  <a:gdLst>
                    <a:gd name="T0" fmla="*/ 0 w 109"/>
                    <a:gd name="T1" fmla="*/ 0 h 57"/>
                    <a:gd name="T2" fmla="*/ 45 w 109"/>
                    <a:gd name="T3" fmla="*/ 24 h 57"/>
                    <a:gd name="T4" fmla="*/ 108 w 109"/>
                    <a:gd name="T5" fmla="*/ 56 h 57"/>
                    <a:gd name="T6" fmla="*/ 0 60000 65536"/>
                    <a:gd name="T7" fmla="*/ 0 60000 65536"/>
                    <a:gd name="T8" fmla="*/ 0 60000 65536"/>
                    <a:gd name="T9" fmla="*/ 0 w 109"/>
                    <a:gd name="T10" fmla="*/ 0 h 57"/>
                    <a:gd name="T11" fmla="*/ 109 w 109"/>
                    <a:gd name="T12" fmla="*/ 57 h 57"/>
                  </a:gdLst>
                  <a:ahLst/>
                  <a:cxnLst>
                    <a:cxn ang="T6">
                      <a:pos x="T0" y="T1"/>
                    </a:cxn>
                    <a:cxn ang="T7">
                      <a:pos x="T2" y="T3"/>
                    </a:cxn>
                    <a:cxn ang="T8">
                      <a:pos x="T4" y="T5"/>
                    </a:cxn>
                  </a:cxnLst>
                  <a:rect l="T9" t="T10" r="T11" b="T12"/>
                  <a:pathLst>
                    <a:path w="109" h="57">
                      <a:moveTo>
                        <a:pt x="0" y="0"/>
                      </a:moveTo>
                      <a:lnTo>
                        <a:pt x="45" y="24"/>
                      </a:lnTo>
                      <a:lnTo>
                        <a:pt x="108" y="56"/>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698" name="Freeform 269"/>
                <p:cNvSpPr>
                  <a:spLocks/>
                </p:cNvSpPr>
                <p:nvPr/>
              </p:nvSpPr>
              <p:spPr bwMode="auto">
                <a:xfrm>
                  <a:off x="832" y="1200"/>
                  <a:ext cx="109" cy="57"/>
                </a:xfrm>
                <a:custGeom>
                  <a:avLst/>
                  <a:gdLst>
                    <a:gd name="T0" fmla="*/ 0 w 109"/>
                    <a:gd name="T1" fmla="*/ 0 h 57"/>
                    <a:gd name="T2" fmla="*/ 45 w 109"/>
                    <a:gd name="T3" fmla="*/ 24 h 57"/>
                    <a:gd name="T4" fmla="*/ 108 w 109"/>
                    <a:gd name="T5" fmla="*/ 56 h 57"/>
                    <a:gd name="T6" fmla="*/ 0 60000 65536"/>
                    <a:gd name="T7" fmla="*/ 0 60000 65536"/>
                    <a:gd name="T8" fmla="*/ 0 60000 65536"/>
                    <a:gd name="T9" fmla="*/ 0 w 109"/>
                    <a:gd name="T10" fmla="*/ 0 h 57"/>
                    <a:gd name="T11" fmla="*/ 109 w 109"/>
                    <a:gd name="T12" fmla="*/ 57 h 57"/>
                  </a:gdLst>
                  <a:ahLst/>
                  <a:cxnLst>
                    <a:cxn ang="T6">
                      <a:pos x="T0" y="T1"/>
                    </a:cxn>
                    <a:cxn ang="T7">
                      <a:pos x="T2" y="T3"/>
                    </a:cxn>
                    <a:cxn ang="T8">
                      <a:pos x="T4" y="T5"/>
                    </a:cxn>
                  </a:cxnLst>
                  <a:rect l="T9" t="T10" r="T11" b="T12"/>
                  <a:pathLst>
                    <a:path w="109" h="57">
                      <a:moveTo>
                        <a:pt x="0" y="0"/>
                      </a:moveTo>
                      <a:lnTo>
                        <a:pt x="45" y="24"/>
                      </a:lnTo>
                      <a:lnTo>
                        <a:pt x="108" y="56"/>
                      </a:lnTo>
                    </a:path>
                  </a:pathLst>
                </a:custGeom>
                <a:noFill/>
                <a:ln w="12700" cap="rnd" cmpd="sng">
                  <a:solidFill>
                    <a:srgbClr val="009900"/>
                  </a:solidFill>
                  <a:prstDash val="solid"/>
                  <a:round/>
                  <a:headEnd type="none" w="med" len="med"/>
                  <a:tailEnd type="none" w="med" len="med"/>
                </a:ln>
              </p:spPr>
              <p:txBody>
                <a:bodyPr/>
                <a:lstStyle/>
                <a:p>
                  <a:endParaRPr lang="en-US"/>
                </a:p>
              </p:txBody>
            </p:sp>
          </p:grpSp>
          <p:grpSp>
            <p:nvGrpSpPr>
              <p:cNvPr id="40479" name="Group 270"/>
              <p:cNvGrpSpPr>
                <a:grpSpLocks/>
              </p:cNvGrpSpPr>
              <p:nvPr/>
            </p:nvGrpSpPr>
            <p:grpSpPr bwMode="auto">
              <a:xfrm>
                <a:off x="672" y="1008"/>
                <a:ext cx="835" cy="652"/>
                <a:chOff x="661" y="2928"/>
                <a:chExt cx="835" cy="652"/>
              </a:xfrm>
            </p:grpSpPr>
            <p:sp>
              <p:nvSpPr>
                <p:cNvPr id="40480" name="Arc 271"/>
                <p:cNvSpPr>
                  <a:spLocks/>
                </p:cNvSpPr>
                <p:nvPr/>
              </p:nvSpPr>
              <p:spPr bwMode="auto">
                <a:xfrm>
                  <a:off x="661" y="2936"/>
                  <a:ext cx="289" cy="640"/>
                </a:xfrm>
                <a:custGeom>
                  <a:avLst/>
                  <a:gdLst>
                    <a:gd name="T0" fmla="*/ 0 w 21600"/>
                    <a:gd name="T1" fmla="*/ 1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28575" cap="rnd">
                  <a:solidFill>
                    <a:schemeClr val="tx1"/>
                  </a:solidFill>
                  <a:round/>
                  <a:headEnd/>
                  <a:tailEnd/>
                </a:ln>
              </p:spPr>
              <p:txBody>
                <a:bodyPr wrap="none" anchor="ctr"/>
                <a:lstStyle/>
                <a:p>
                  <a:endParaRPr lang="en-US"/>
                </a:p>
              </p:txBody>
            </p:sp>
            <p:sp>
              <p:nvSpPr>
                <p:cNvPr id="40481" name="Arc 272"/>
                <p:cNvSpPr>
                  <a:spLocks/>
                </p:cNvSpPr>
                <p:nvPr/>
              </p:nvSpPr>
              <p:spPr bwMode="auto">
                <a:xfrm>
                  <a:off x="1207" y="2928"/>
                  <a:ext cx="289" cy="640"/>
                </a:xfrm>
                <a:custGeom>
                  <a:avLst/>
                  <a:gdLst>
                    <a:gd name="T0" fmla="*/ 0 w 21600"/>
                    <a:gd name="T1" fmla="*/ 0 h 21600"/>
                    <a:gd name="T2" fmla="*/ 0 w 21600"/>
                    <a:gd name="T3" fmla="*/ 1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28575" cap="rnd">
                  <a:solidFill>
                    <a:schemeClr val="tx1"/>
                  </a:solidFill>
                  <a:round/>
                  <a:headEnd/>
                  <a:tailEnd/>
                </a:ln>
              </p:spPr>
              <p:txBody>
                <a:bodyPr wrap="none" anchor="ctr"/>
                <a:lstStyle/>
                <a:p>
                  <a:endParaRPr lang="en-US"/>
                </a:p>
              </p:txBody>
            </p:sp>
            <p:sp>
              <p:nvSpPr>
                <p:cNvPr id="40482" name="Line 273"/>
                <p:cNvSpPr>
                  <a:spLocks noChangeShapeType="1"/>
                </p:cNvSpPr>
                <p:nvPr/>
              </p:nvSpPr>
              <p:spPr bwMode="auto">
                <a:xfrm flipH="1">
                  <a:off x="951" y="3580"/>
                  <a:ext cx="269" cy="0"/>
                </a:xfrm>
                <a:prstGeom prst="line">
                  <a:avLst/>
                </a:prstGeom>
                <a:noFill/>
                <a:ln w="28575">
                  <a:solidFill>
                    <a:schemeClr val="tx1"/>
                  </a:solidFill>
                  <a:round/>
                  <a:headEnd/>
                  <a:tailEnd/>
                </a:ln>
              </p:spPr>
              <p:txBody>
                <a:bodyPr wrap="none" anchor="ctr"/>
                <a:lstStyle/>
                <a:p>
                  <a:endParaRPr lang="en-US"/>
                </a:p>
              </p:txBody>
            </p:sp>
          </p:grpSp>
        </p:grpSp>
      </p:grpSp>
      <p:grpSp>
        <p:nvGrpSpPr>
          <p:cNvPr id="599849" name="Group 809"/>
          <p:cNvGrpSpPr>
            <a:grpSpLocks/>
          </p:cNvGrpSpPr>
          <p:nvPr/>
        </p:nvGrpSpPr>
        <p:grpSpPr bwMode="auto">
          <a:xfrm>
            <a:off x="5545138" y="4010025"/>
            <a:ext cx="3032125" cy="2319338"/>
            <a:chOff x="3930" y="2526"/>
            <a:chExt cx="2148" cy="1461"/>
          </a:xfrm>
        </p:grpSpPr>
        <p:sp>
          <p:nvSpPr>
            <p:cNvPr id="40317" name="Text Box 5"/>
            <p:cNvSpPr txBox="1">
              <a:spLocks noChangeArrowheads="1"/>
            </p:cNvSpPr>
            <p:nvPr/>
          </p:nvSpPr>
          <p:spPr bwMode="auto">
            <a:xfrm>
              <a:off x="3930" y="3466"/>
              <a:ext cx="1985" cy="233"/>
            </a:xfrm>
            <a:prstGeom prst="rect">
              <a:avLst/>
            </a:prstGeom>
            <a:noFill/>
            <a:ln w="9525">
              <a:noFill/>
              <a:miter lim="800000"/>
              <a:headEnd/>
              <a:tailEnd/>
            </a:ln>
          </p:spPr>
          <p:txBody>
            <a:bodyPr wrap="none">
              <a:spAutoFit/>
            </a:bodyPr>
            <a:lstStyle/>
            <a:p>
              <a:r>
                <a:rPr lang="en-US" b="1"/>
                <a:t>Low volume (bulkiness)</a:t>
              </a:r>
            </a:p>
          </p:txBody>
        </p:sp>
        <p:sp>
          <p:nvSpPr>
            <p:cNvPr id="40318" name="Text Box 8"/>
            <p:cNvSpPr txBox="1">
              <a:spLocks noChangeArrowheads="1"/>
            </p:cNvSpPr>
            <p:nvPr/>
          </p:nvSpPr>
          <p:spPr bwMode="auto">
            <a:xfrm>
              <a:off x="3930" y="3754"/>
              <a:ext cx="1694" cy="233"/>
            </a:xfrm>
            <a:prstGeom prst="rect">
              <a:avLst/>
            </a:prstGeom>
            <a:noFill/>
            <a:ln w="9525">
              <a:noFill/>
              <a:miter lim="800000"/>
              <a:headEnd/>
              <a:tailEnd/>
            </a:ln>
          </p:spPr>
          <p:txBody>
            <a:bodyPr wrap="none">
              <a:spAutoFit/>
            </a:bodyPr>
            <a:lstStyle/>
            <a:p>
              <a:r>
                <a:rPr lang="en-US" b="1"/>
                <a:t>High energy density</a:t>
              </a:r>
            </a:p>
          </p:txBody>
        </p:sp>
        <p:sp>
          <p:nvSpPr>
            <p:cNvPr id="40319" name="Text Box 11"/>
            <p:cNvSpPr txBox="1">
              <a:spLocks noChangeArrowheads="1"/>
            </p:cNvSpPr>
            <p:nvPr/>
          </p:nvSpPr>
          <p:spPr bwMode="auto">
            <a:xfrm>
              <a:off x="3930" y="3178"/>
              <a:ext cx="2148" cy="233"/>
            </a:xfrm>
            <a:prstGeom prst="rect">
              <a:avLst/>
            </a:prstGeom>
            <a:noFill/>
            <a:ln w="9525">
              <a:noFill/>
              <a:miter lim="800000"/>
              <a:headEnd/>
              <a:tailEnd/>
            </a:ln>
          </p:spPr>
          <p:txBody>
            <a:bodyPr wrap="none">
              <a:spAutoFit/>
            </a:bodyPr>
            <a:lstStyle/>
            <a:p>
              <a:r>
                <a:rPr lang="en-US" b="1"/>
                <a:t>High concentrate: low F/C</a:t>
              </a:r>
            </a:p>
          </p:txBody>
        </p:sp>
        <p:grpSp>
          <p:nvGrpSpPr>
            <p:cNvPr id="40320" name="Group 274"/>
            <p:cNvGrpSpPr>
              <a:grpSpLocks/>
            </p:cNvGrpSpPr>
            <p:nvPr/>
          </p:nvGrpSpPr>
          <p:grpSpPr bwMode="auto">
            <a:xfrm>
              <a:off x="5166" y="2526"/>
              <a:ext cx="828" cy="652"/>
              <a:chOff x="4944" y="1008"/>
              <a:chExt cx="828" cy="652"/>
            </a:xfrm>
          </p:grpSpPr>
          <p:grpSp>
            <p:nvGrpSpPr>
              <p:cNvPr id="40321" name="Group 275"/>
              <p:cNvGrpSpPr>
                <a:grpSpLocks/>
              </p:cNvGrpSpPr>
              <p:nvPr/>
            </p:nvGrpSpPr>
            <p:grpSpPr bwMode="auto">
              <a:xfrm>
                <a:off x="4992" y="1200"/>
                <a:ext cx="714" cy="222"/>
                <a:chOff x="4975" y="1062"/>
                <a:chExt cx="714" cy="222"/>
              </a:xfrm>
            </p:grpSpPr>
            <p:sp>
              <p:nvSpPr>
                <p:cNvPr id="40428" name="Freeform 276"/>
                <p:cNvSpPr>
                  <a:spLocks/>
                </p:cNvSpPr>
                <p:nvPr/>
              </p:nvSpPr>
              <p:spPr bwMode="auto">
                <a:xfrm>
                  <a:off x="5319" y="1098"/>
                  <a:ext cx="289" cy="145"/>
                </a:xfrm>
                <a:custGeom>
                  <a:avLst/>
                  <a:gdLst>
                    <a:gd name="T0" fmla="*/ 0 w 289"/>
                    <a:gd name="T1" fmla="*/ 144 h 145"/>
                    <a:gd name="T2" fmla="*/ 63 w 289"/>
                    <a:gd name="T3" fmla="*/ 88 h 145"/>
                    <a:gd name="T4" fmla="*/ 288 w 289"/>
                    <a:gd name="T5" fmla="*/ 0 h 145"/>
                    <a:gd name="T6" fmla="*/ 0 60000 65536"/>
                    <a:gd name="T7" fmla="*/ 0 60000 65536"/>
                    <a:gd name="T8" fmla="*/ 0 60000 65536"/>
                    <a:gd name="T9" fmla="*/ 0 w 289"/>
                    <a:gd name="T10" fmla="*/ 0 h 145"/>
                    <a:gd name="T11" fmla="*/ 289 w 289"/>
                    <a:gd name="T12" fmla="*/ 145 h 145"/>
                  </a:gdLst>
                  <a:ahLst/>
                  <a:cxnLst>
                    <a:cxn ang="T6">
                      <a:pos x="T0" y="T1"/>
                    </a:cxn>
                    <a:cxn ang="T7">
                      <a:pos x="T2" y="T3"/>
                    </a:cxn>
                    <a:cxn ang="T8">
                      <a:pos x="T4" y="T5"/>
                    </a:cxn>
                  </a:cxnLst>
                  <a:rect l="T9" t="T10" r="T11" b="T12"/>
                  <a:pathLst>
                    <a:path w="289" h="145">
                      <a:moveTo>
                        <a:pt x="0" y="144"/>
                      </a:moveTo>
                      <a:lnTo>
                        <a:pt x="63" y="88"/>
                      </a:lnTo>
                      <a:lnTo>
                        <a:pt x="28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429" name="Freeform 277"/>
                <p:cNvSpPr>
                  <a:spLocks/>
                </p:cNvSpPr>
                <p:nvPr/>
              </p:nvSpPr>
              <p:spPr bwMode="auto">
                <a:xfrm flipH="1">
                  <a:off x="5276" y="1104"/>
                  <a:ext cx="47" cy="145"/>
                </a:xfrm>
                <a:custGeom>
                  <a:avLst/>
                  <a:gdLst>
                    <a:gd name="T0" fmla="*/ 0 w 290"/>
                    <a:gd name="T1" fmla="*/ 144 h 145"/>
                    <a:gd name="T2" fmla="*/ 0 w 290"/>
                    <a:gd name="T3" fmla="*/ 112 h 145"/>
                    <a:gd name="T4" fmla="*/ 0 w 290"/>
                    <a:gd name="T5" fmla="*/ 72 h 145"/>
                    <a:gd name="T6" fmla="*/ 1 w 290"/>
                    <a:gd name="T7" fmla="*/ 40 h 145"/>
                    <a:gd name="T8" fmla="*/ 1 w 290"/>
                    <a:gd name="T9" fmla="*/ 0 h 145"/>
                    <a:gd name="T10" fmla="*/ 0 60000 65536"/>
                    <a:gd name="T11" fmla="*/ 0 60000 65536"/>
                    <a:gd name="T12" fmla="*/ 0 60000 65536"/>
                    <a:gd name="T13" fmla="*/ 0 60000 65536"/>
                    <a:gd name="T14" fmla="*/ 0 60000 65536"/>
                    <a:gd name="T15" fmla="*/ 0 w 290"/>
                    <a:gd name="T16" fmla="*/ 0 h 145"/>
                    <a:gd name="T17" fmla="*/ 290 w 290"/>
                    <a:gd name="T18" fmla="*/ 145 h 145"/>
                  </a:gdLst>
                  <a:ahLst/>
                  <a:cxnLst>
                    <a:cxn ang="T10">
                      <a:pos x="T0" y="T1"/>
                    </a:cxn>
                    <a:cxn ang="T11">
                      <a:pos x="T2" y="T3"/>
                    </a:cxn>
                    <a:cxn ang="T12">
                      <a:pos x="T4" y="T5"/>
                    </a:cxn>
                    <a:cxn ang="T13">
                      <a:pos x="T6" y="T7"/>
                    </a:cxn>
                    <a:cxn ang="T14">
                      <a:pos x="T8" y="T9"/>
                    </a:cxn>
                  </a:cxnLst>
                  <a:rect l="T15" t="T16" r="T17" b="T18"/>
                  <a:pathLst>
                    <a:path w="290" h="145">
                      <a:moveTo>
                        <a:pt x="0" y="144"/>
                      </a:moveTo>
                      <a:lnTo>
                        <a:pt x="36" y="112"/>
                      </a:lnTo>
                      <a:lnTo>
                        <a:pt x="99" y="72"/>
                      </a:lnTo>
                      <a:lnTo>
                        <a:pt x="181" y="40"/>
                      </a:lnTo>
                      <a:lnTo>
                        <a:pt x="28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430" name="Freeform 278"/>
                <p:cNvSpPr>
                  <a:spLocks/>
                </p:cNvSpPr>
                <p:nvPr/>
              </p:nvSpPr>
              <p:spPr bwMode="auto">
                <a:xfrm>
                  <a:off x="5052" y="1130"/>
                  <a:ext cx="19" cy="41"/>
                </a:xfrm>
                <a:custGeom>
                  <a:avLst/>
                  <a:gdLst>
                    <a:gd name="T0" fmla="*/ 0 w 19"/>
                    <a:gd name="T1" fmla="*/ 40 h 41"/>
                    <a:gd name="T2" fmla="*/ 0 w 19"/>
                    <a:gd name="T3" fmla="*/ 40 h 41"/>
                    <a:gd name="T4" fmla="*/ 18 w 19"/>
                    <a:gd name="T5" fmla="*/ 0 h 41"/>
                    <a:gd name="T6" fmla="*/ 0 60000 65536"/>
                    <a:gd name="T7" fmla="*/ 0 60000 65536"/>
                    <a:gd name="T8" fmla="*/ 0 60000 65536"/>
                    <a:gd name="T9" fmla="*/ 0 w 19"/>
                    <a:gd name="T10" fmla="*/ 0 h 41"/>
                    <a:gd name="T11" fmla="*/ 19 w 19"/>
                    <a:gd name="T12" fmla="*/ 41 h 41"/>
                  </a:gdLst>
                  <a:ahLst/>
                  <a:cxnLst>
                    <a:cxn ang="T6">
                      <a:pos x="T0" y="T1"/>
                    </a:cxn>
                    <a:cxn ang="T7">
                      <a:pos x="T2" y="T3"/>
                    </a:cxn>
                    <a:cxn ang="T8">
                      <a:pos x="T4" y="T5"/>
                    </a:cxn>
                  </a:cxnLst>
                  <a:rect l="T9" t="T10" r="T11" b="T12"/>
                  <a:pathLst>
                    <a:path w="19" h="41">
                      <a:moveTo>
                        <a:pt x="0" y="40"/>
                      </a:moveTo>
                      <a:lnTo>
                        <a:pt x="0" y="40"/>
                      </a:lnTo>
                      <a:lnTo>
                        <a:pt x="1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431" name="Line 279"/>
                <p:cNvSpPr>
                  <a:spLocks noChangeShapeType="1"/>
                </p:cNvSpPr>
                <p:nvPr/>
              </p:nvSpPr>
              <p:spPr bwMode="auto">
                <a:xfrm flipV="1">
                  <a:off x="5056" y="1126"/>
                  <a:ext cx="19" cy="56"/>
                </a:xfrm>
                <a:prstGeom prst="line">
                  <a:avLst/>
                </a:prstGeom>
                <a:noFill/>
                <a:ln w="12700">
                  <a:solidFill>
                    <a:srgbClr val="009900"/>
                  </a:solidFill>
                  <a:round/>
                  <a:headEnd/>
                  <a:tailEnd/>
                </a:ln>
              </p:spPr>
              <p:txBody>
                <a:bodyPr wrap="none" anchor="ctr"/>
                <a:lstStyle/>
                <a:p>
                  <a:endParaRPr lang="en-US"/>
                </a:p>
              </p:txBody>
            </p:sp>
            <p:sp>
              <p:nvSpPr>
                <p:cNvPr id="40432" name="Freeform 280"/>
                <p:cNvSpPr>
                  <a:spLocks/>
                </p:cNvSpPr>
                <p:nvPr/>
              </p:nvSpPr>
              <p:spPr bwMode="auto">
                <a:xfrm>
                  <a:off x="5256" y="1138"/>
                  <a:ext cx="55" cy="129"/>
                </a:xfrm>
                <a:custGeom>
                  <a:avLst/>
                  <a:gdLst>
                    <a:gd name="T0" fmla="*/ 54 w 55"/>
                    <a:gd name="T1" fmla="*/ 128 h 129"/>
                    <a:gd name="T2" fmla="*/ 18 w 55"/>
                    <a:gd name="T3" fmla="*/ 96 h 129"/>
                    <a:gd name="T4" fmla="*/ 0 w 55"/>
                    <a:gd name="T5" fmla="*/ 0 h 129"/>
                    <a:gd name="T6" fmla="*/ 0 60000 65536"/>
                    <a:gd name="T7" fmla="*/ 0 60000 65536"/>
                    <a:gd name="T8" fmla="*/ 0 60000 65536"/>
                    <a:gd name="T9" fmla="*/ 0 w 55"/>
                    <a:gd name="T10" fmla="*/ 0 h 129"/>
                    <a:gd name="T11" fmla="*/ 55 w 55"/>
                    <a:gd name="T12" fmla="*/ 129 h 129"/>
                  </a:gdLst>
                  <a:ahLst/>
                  <a:cxnLst>
                    <a:cxn ang="T6">
                      <a:pos x="T0" y="T1"/>
                    </a:cxn>
                    <a:cxn ang="T7">
                      <a:pos x="T2" y="T3"/>
                    </a:cxn>
                    <a:cxn ang="T8">
                      <a:pos x="T4" y="T5"/>
                    </a:cxn>
                  </a:cxnLst>
                  <a:rect l="T9" t="T10" r="T11" b="T12"/>
                  <a:pathLst>
                    <a:path w="55" h="129">
                      <a:moveTo>
                        <a:pt x="54" y="128"/>
                      </a:moveTo>
                      <a:lnTo>
                        <a:pt x="18" y="96"/>
                      </a:lnTo>
                      <a:lnTo>
                        <a:pt x="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433" name="Freeform 281"/>
                <p:cNvSpPr>
                  <a:spLocks/>
                </p:cNvSpPr>
                <p:nvPr/>
              </p:nvSpPr>
              <p:spPr bwMode="auto">
                <a:xfrm rot="1520041">
                  <a:off x="5376" y="1104"/>
                  <a:ext cx="55" cy="129"/>
                </a:xfrm>
                <a:custGeom>
                  <a:avLst/>
                  <a:gdLst>
                    <a:gd name="T0" fmla="*/ 54 w 55"/>
                    <a:gd name="T1" fmla="*/ 128 h 129"/>
                    <a:gd name="T2" fmla="*/ 18 w 55"/>
                    <a:gd name="T3" fmla="*/ 80 h 129"/>
                    <a:gd name="T4" fmla="*/ 0 w 55"/>
                    <a:gd name="T5" fmla="*/ 0 h 129"/>
                    <a:gd name="T6" fmla="*/ 0 60000 65536"/>
                    <a:gd name="T7" fmla="*/ 0 60000 65536"/>
                    <a:gd name="T8" fmla="*/ 0 60000 65536"/>
                    <a:gd name="T9" fmla="*/ 0 w 55"/>
                    <a:gd name="T10" fmla="*/ 0 h 129"/>
                    <a:gd name="T11" fmla="*/ 55 w 55"/>
                    <a:gd name="T12" fmla="*/ 129 h 129"/>
                  </a:gdLst>
                  <a:ahLst/>
                  <a:cxnLst>
                    <a:cxn ang="T6">
                      <a:pos x="T0" y="T1"/>
                    </a:cxn>
                    <a:cxn ang="T7">
                      <a:pos x="T2" y="T3"/>
                    </a:cxn>
                    <a:cxn ang="T8">
                      <a:pos x="T4" y="T5"/>
                    </a:cxn>
                  </a:cxnLst>
                  <a:rect l="T9" t="T10" r="T11" b="T12"/>
                  <a:pathLst>
                    <a:path w="55" h="129">
                      <a:moveTo>
                        <a:pt x="54" y="128"/>
                      </a:moveTo>
                      <a:lnTo>
                        <a:pt x="18" y="80"/>
                      </a:lnTo>
                      <a:lnTo>
                        <a:pt x="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434" name="Freeform 282"/>
                <p:cNvSpPr>
                  <a:spLocks/>
                </p:cNvSpPr>
                <p:nvPr/>
              </p:nvSpPr>
              <p:spPr bwMode="auto">
                <a:xfrm>
                  <a:off x="5043" y="1066"/>
                  <a:ext cx="28" cy="153"/>
                </a:xfrm>
                <a:custGeom>
                  <a:avLst/>
                  <a:gdLst>
                    <a:gd name="T0" fmla="*/ 27 w 28"/>
                    <a:gd name="T1" fmla="*/ 152 h 153"/>
                    <a:gd name="T2" fmla="*/ 27 w 28"/>
                    <a:gd name="T3" fmla="*/ 152 h 153"/>
                    <a:gd name="T4" fmla="*/ 0 w 28"/>
                    <a:gd name="T5" fmla="*/ 0 h 153"/>
                    <a:gd name="T6" fmla="*/ 0 60000 65536"/>
                    <a:gd name="T7" fmla="*/ 0 60000 65536"/>
                    <a:gd name="T8" fmla="*/ 0 60000 65536"/>
                    <a:gd name="T9" fmla="*/ 0 w 28"/>
                    <a:gd name="T10" fmla="*/ 0 h 153"/>
                    <a:gd name="T11" fmla="*/ 28 w 28"/>
                    <a:gd name="T12" fmla="*/ 153 h 153"/>
                  </a:gdLst>
                  <a:ahLst/>
                  <a:cxnLst>
                    <a:cxn ang="T6">
                      <a:pos x="T0" y="T1"/>
                    </a:cxn>
                    <a:cxn ang="T7">
                      <a:pos x="T2" y="T3"/>
                    </a:cxn>
                    <a:cxn ang="T8">
                      <a:pos x="T4" y="T5"/>
                    </a:cxn>
                  </a:cxnLst>
                  <a:rect l="T9" t="T10" r="T11" b="T12"/>
                  <a:pathLst>
                    <a:path w="28" h="153">
                      <a:moveTo>
                        <a:pt x="27" y="152"/>
                      </a:moveTo>
                      <a:lnTo>
                        <a:pt x="27" y="152"/>
                      </a:lnTo>
                      <a:lnTo>
                        <a:pt x="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435" name="Line 283"/>
                <p:cNvSpPr>
                  <a:spLocks noChangeShapeType="1"/>
                </p:cNvSpPr>
                <p:nvPr/>
              </p:nvSpPr>
              <p:spPr bwMode="auto">
                <a:xfrm flipH="1" flipV="1">
                  <a:off x="5044" y="1062"/>
                  <a:ext cx="34" cy="160"/>
                </a:xfrm>
                <a:prstGeom prst="line">
                  <a:avLst/>
                </a:prstGeom>
                <a:noFill/>
                <a:ln w="12700">
                  <a:solidFill>
                    <a:srgbClr val="009900"/>
                  </a:solidFill>
                  <a:round/>
                  <a:headEnd/>
                  <a:tailEnd/>
                </a:ln>
              </p:spPr>
              <p:txBody>
                <a:bodyPr wrap="none" anchor="ctr"/>
                <a:lstStyle/>
                <a:p>
                  <a:endParaRPr lang="en-US"/>
                </a:p>
              </p:txBody>
            </p:sp>
            <p:sp>
              <p:nvSpPr>
                <p:cNvPr id="40436" name="Freeform 284"/>
                <p:cNvSpPr>
                  <a:spLocks/>
                </p:cNvSpPr>
                <p:nvPr/>
              </p:nvSpPr>
              <p:spPr bwMode="auto">
                <a:xfrm>
                  <a:off x="5229" y="1178"/>
                  <a:ext cx="10" cy="49"/>
                </a:xfrm>
                <a:custGeom>
                  <a:avLst/>
                  <a:gdLst>
                    <a:gd name="T0" fmla="*/ 0 w 10"/>
                    <a:gd name="T1" fmla="*/ 48 h 49"/>
                    <a:gd name="T2" fmla="*/ 0 w 10"/>
                    <a:gd name="T3" fmla="*/ 48 h 49"/>
                    <a:gd name="T4" fmla="*/ 9 w 10"/>
                    <a:gd name="T5" fmla="*/ 0 h 49"/>
                    <a:gd name="T6" fmla="*/ 0 60000 65536"/>
                    <a:gd name="T7" fmla="*/ 0 60000 65536"/>
                    <a:gd name="T8" fmla="*/ 0 60000 65536"/>
                    <a:gd name="T9" fmla="*/ 0 w 10"/>
                    <a:gd name="T10" fmla="*/ 0 h 49"/>
                    <a:gd name="T11" fmla="*/ 10 w 10"/>
                    <a:gd name="T12" fmla="*/ 49 h 49"/>
                  </a:gdLst>
                  <a:ahLst/>
                  <a:cxnLst>
                    <a:cxn ang="T6">
                      <a:pos x="T0" y="T1"/>
                    </a:cxn>
                    <a:cxn ang="T7">
                      <a:pos x="T2" y="T3"/>
                    </a:cxn>
                    <a:cxn ang="T8">
                      <a:pos x="T4" y="T5"/>
                    </a:cxn>
                  </a:cxnLst>
                  <a:rect l="T9" t="T10" r="T11" b="T12"/>
                  <a:pathLst>
                    <a:path w="10" h="49">
                      <a:moveTo>
                        <a:pt x="0" y="48"/>
                      </a:moveTo>
                      <a:lnTo>
                        <a:pt x="0" y="48"/>
                      </a:lnTo>
                      <a:lnTo>
                        <a:pt x="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437" name="Line 285"/>
                <p:cNvSpPr>
                  <a:spLocks noChangeShapeType="1"/>
                </p:cNvSpPr>
                <p:nvPr/>
              </p:nvSpPr>
              <p:spPr bwMode="auto">
                <a:xfrm flipV="1">
                  <a:off x="5237" y="1174"/>
                  <a:ext cx="1" cy="56"/>
                </a:xfrm>
                <a:prstGeom prst="line">
                  <a:avLst/>
                </a:prstGeom>
                <a:noFill/>
                <a:ln w="12700">
                  <a:solidFill>
                    <a:srgbClr val="009900"/>
                  </a:solidFill>
                  <a:round/>
                  <a:headEnd/>
                  <a:tailEnd/>
                </a:ln>
              </p:spPr>
              <p:txBody>
                <a:bodyPr wrap="none" anchor="ctr"/>
                <a:lstStyle/>
                <a:p>
                  <a:endParaRPr lang="en-US"/>
                </a:p>
              </p:txBody>
            </p:sp>
            <p:sp>
              <p:nvSpPr>
                <p:cNvPr id="40438" name="Freeform 286"/>
                <p:cNvSpPr>
                  <a:spLocks/>
                </p:cNvSpPr>
                <p:nvPr/>
              </p:nvSpPr>
              <p:spPr bwMode="auto">
                <a:xfrm>
                  <a:off x="5106" y="1122"/>
                  <a:ext cx="19" cy="49"/>
                </a:xfrm>
                <a:custGeom>
                  <a:avLst/>
                  <a:gdLst>
                    <a:gd name="T0" fmla="*/ 0 w 19"/>
                    <a:gd name="T1" fmla="*/ 48 h 49"/>
                    <a:gd name="T2" fmla="*/ 0 w 19"/>
                    <a:gd name="T3" fmla="*/ 48 h 49"/>
                    <a:gd name="T4" fmla="*/ 18 w 19"/>
                    <a:gd name="T5" fmla="*/ 0 h 49"/>
                    <a:gd name="T6" fmla="*/ 0 60000 65536"/>
                    <a:gd name="T7" fmla="*/ 0 60000 65536"/>
                    <a:gd name="T8" fmla="*/ 0 60000 65536"/>
                    <a:gd name="T9" fmla="*/ 0 w 19"/>
                    <a:gd name="T10" fmla="*/ 0 h 49"/>
                    <a:gd name="T11" fmla="*/ 19 w 19"/>
                    <a:gd name="T12" fmla="*/ 49 h 49"/>
                  </a:gdLst>
                  <a:ahLst/>
                  <a:cxnLst>
                    <a:cxn ang="T6">
                      <a:pos x="T0" y="T1"/>
                    </a:cxn>
                    <a:cxn ang="T7">
                      <a:pos x="T2" y="T3"/>
                    </a:cxn>
                    <a:cxn ang="T8">
                      <a:pos x="T4" y="T5"/>
                    </a:cxn>
                  </a:cxnLst>
                  <a:rect l="T9" t="T10" r="T11" b="T12"/>
                  <a:pathLst>
                    <a:path w="19" h="49">
                      <a:moveTo>
                        <a:pt x="0" y="48"/>
                      </a:moveTo>
                      <a:lnTo>
                        <a:pt x="0" y="48"/>
                      </a:lnTo>
                      <a:lnTo>
                        <a:pt x="1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439" name="Line 287"/>
                <p:cNvSpPr>
                  <a:spLocks noChangeShapeType="1"/>
                </p:cNvSpPr>
                <p:nvPr/>
              </p:nvSpPr>
              <p:spPr bwMode="auto">
                <a:xfrm flipV="1">
                  <a:off x="5115" y="1118"/>
                  <a:ext cx="9" cy="56"/>
                </a:xfrm>
                <a:prstGeom prst="line">
                  <a:avLst/>
                </a:prstGeom>
                <a:noFill/>
                <a:ln w="12700">
                  <a:solidFill>
                    <a:srgbClr val="009900"/>
                  </a:solidFill>
                  <a:round/>
                  <a:headEnd/>
                  <a:tailEnd/>
                </a:ln>
              </p:spPr>
              <p:txBody>
                <a:bodyPr wrap="none" anchor="ctr"/>
                <a:lstStyle/>
                <a:p>
                  <a:endParaRPr lang="en-US"/>
                </a:p>
              </p:txBody>
            </p:sp>
            <p:sp>
              <p:nvSpPr>
                <p:cNvPr id="40440" name="Freeform 288"/>
                <p:cNvSpPr>
                  <a:spLocks/>
                </p:cNvSpPr>
                <p:nvPr/>
              </p:nvSpPr>
              <p:spPr bwMode="auto">
                <a:xfrm>
                  <a:off x="5088" y="1104"/>
                  <a:ext cx="96" cy="96"/>
                </a:xfrm>
                <a:custGeom>
                  <a:avLst/>
                  <a:gdLst>
                    <a:gd name="T0" fmla="*/ 2324 w 19"/>
                    <a:gd name="T1" fmla="*/ 38 h 153"/>
                    <a:gd name="T2" fmla="*/ 2324 w 19"/>
                    <a:gd name="T3" fmla="*/ 38 h 153"/>
                    <a:gd name="T4" fmla="*/ 0 w 19"/>
                    <a:gd name="T5" fmla="*/ 0 h 153"/>
                    <a:gd name="T6" fmla="*/ 0 60000 65536"/>
                    <a:gd name="T7" fmla="*/ 0 60000 65536"/>
                    <a:gd name="T8" fmla="*/ 0 60000 65536"/>
                    <a:gd name="T9" fmla="*/ 0 w 19"/>
                    <a:gd name="T10" fmla="*/ 0 h 153"/>
                    <a:gd name="T11" fmla="*/ 19 w 19"/>
                    <a:gd name="T12" fmla="*/ 153 h 153"/>
                  </a:gdLst>
                  <a:ahLst/>
                  <a:cxnLst>
                    <a:cxn ang="T6">
                      <a:pos x="T0" y="T1"/>
                    </a:cxn>
                    <a:cxn ang="T7">
                      <a:pos x="T2" y="T3"/>
                    </a:cxn>
                    <a:cxn ang="T8">
                      <a:pos x="T4" y="T5"/>
                    </a:cxn>
                  </a:cxnLst>
                  <a:rect l="T9" t="T10" r="T11" b="T12"/>
                  <a:pathLst>
                    <a:path w="19" h="153">
                      <a:moveTo>
                        <a:pt x="18" y="152"/>
                      </a:moveTo>
                      <a:lnTo>
                        <a:pt x="18" y="152"/>
                      </a:lnTo>
                      <a:lnTo>
                        <a:pt x="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441" name="Line 289"/>
                <p:cNvSpPr>
                  <a:spLocks noChangeShapeType="1"/>
                </p:cNvSpPr>
                <p:nvPr/>
              </p:nvSpPr>
              <p:spPr bwMode="auto">
                <a:xfrm flipH="1" flipV="1">
                  <a:off x="5184" y="1104"/>
                  <a:ext cx="27" cy="160"/>
                </a:xfrm>
                <a:prstGeom prst="line">
                  <a:avLst/>
                </a:prstGeom>
                <a:noFill/>
                <a:ln w="12700">
                  <a:solidFill>
                    <a:srgbClr val="009900"/>
                  </a:solidFill>
                  <a:round/>
                  <a:headEnd/>
                  <a:tailEnd/>
                </a:ln>
              </p:spPr>
              <p:txBody>
                <a:bodyPr wrap="none" anchor="ctr"/>
                <a:lstStyle/>
                <a:p>
                  <a:endParaRPr lang="en-US"/>
                </a:p>
              </p:txBody>
            </p:sp>
            <p:sp>
              <p:nvSpPr>
                <p:cNvPr id="40442" name="Freeform 290"/>
                <p:cNvSpPr>
                  <a:spLocks/>
                </p:cNvSpPr>
                <p:nvPr/>
              </p:nvSpPr>
              <p:spPr bwMode="auto">
                <a:xfrm>
                  <a:off x="5193" y="1202"/>
                  <a:ext cx="19" cy="41"/>
                </a:xfrm>
                <a:custGeom>
                  <a:avLst/>
                  <a:gdLst>
                    <a:gd name="T0" fmla="*/ 0 w 19"/>
                    <a:gd name="T1" fmla="*/ 40 h 41"/>
                    <a:gd name="T2" fmla="*/ 0 w 19"/>
                    <a:gd name="T3" fmla="*/ 40 h 41"/>
                    <a:gd name="T4" fmla="*/ 18 w 19"/>
                    <a:gd name="T5" fmla="*/ 0 h 41"/>
                    <a:gd name="T6" fmla="*/ 0 60000 65536"/>
                    <a:gd name="T7" fmla="*/ 0 60000 65536"/>
                    <a:gd name="T8" fmla="*/ 0 60000 65536"/>
                    <a:gd name="T9" fmla="*/ 0 w 19"/>
                    <a:gd name="T10" fmla="*/ 0 h 41"/>
                    <a:gd name="T11" fmla="*/ 19 w 19"/>
                    <a:gd name="T12" fmla="*/ 41 h 41"/>
                  </a:gdLst>
                  <a:ahLst/>
                  <a:cxnLst>
                    <a:cxn ang="T6">
                      <a:pos x="T0" y="T1"/>
                    </a:cxn>
                    <a:cxn ang="T7">
                      <a:pos x="T2" y="T3"/>
                    </a:cxn>
                    <a:cxn ang="T8">
                      <a:pos x="T4" y="T5"/>
                    </a:cxn>
                  </a:cxnLst>
                  <a:rect l="T9" t="T10" r="T11" b="T12"/>
                  <a:pathLst>
                    <a:path w="19" h="41">
                      <a:moveTo>
                        <a:pt x="0" y="40"/>
                      </a:moveTo>
                      <a:lnTo>
                        <a:pt x="0" y="40"/>
                      </a:lnTo>
                      <a:lnTo>
                        <a:pt x="1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443" name="Line 291"/>
                <p:cNvSpPr>
                  <a:spLocks noChangeShapeType="1"/>
                </p:cNvSpPr>
                <p:nvPr/>
              </p:nvSpPr>
              <p:spPr bwMode="auto">
                <a:xfrm flipV="1">
                  <a:off x="5197" y="1198"/>
                  <a:ext cx="19" cy="56"/>
                </a:xfrm>
                <a:prstGeom prst="line">
                  <a:avLst/>
                </a:prstGeom>
                <a:noFill/>
                <a:ln w="12700">
                  <a:solidFill>
                    <a:srgbClr val="009900"/>
                  </a:solidFill>
                  <a:round/>
                  <a:headEnd/>
                  <a:tailEnd/>
                </a:ln>
              </p:spPr>
              <p:txBody>
                <a:bodyPr wrap="none" anchor="ctr"/>
                <a:lstStyle/>
                <a:p>
                  <a:endParaRPr lang="en-US"/>
                </a:p>
              </p:txBody>
            </p:sp>
            <p:sp>
              <p:nvSpPr>
                <p:cNvPr id="40444" name="Freeform 292"/>
                <p:cNvSpPr>
                  <a:spLocks/>
                </p:cNvSpPr>
                <p:nvPr/>
              </p:nvSpPr>
              <p:spPr bwMode="auto">
                <a:xfrm>
                  <a:off x="5373" y="1122"/>
                  <a:ext cx="181" cy="49"/>
                </a:xfrm>
                <a:custGeom>
                  <a:avLst/>
                  <a:gdLst>
                    <a:gd name="T0" fmla="*/ 0 w 181"/>
                    <a:gd name="T1" fmla="*/ 48 h 49"/>
                    <a:gd name="T2" fmla="*/ 162 w 181"/>
                    <a:gd name="T3" fmla="*/ 40 h 49"/>
                    <a:gd name="T4" fmla="*/ 180 w 181"/>
                    <a:gd name="T5" fmla="*/ 0 h 49"/>
                    <a:gd name="T6" fmla="*/ 0 60000 65536"/>
                    <a:gd name="T7" fmla="*/ 0 60000 65536"/>
                    <a:gd name="T8" fmla="*/ 0 60000 65536"/>
                    <a:gd name="T9" fmla="*/ 0 w 181"/>
                    <a:gd name="T10" fmla="*/ 0 h 49"/>
                    <a:gd name="T11" fmla="*/ 181 w 181"/>
                    <a:gd name="T12" fmla="*/ 49 h 49"/>
                  </a:gdLst>
                  <a:ahLst/>
                  <a:cxnLst>
                    <a:cxn ang="T6">
                      <a:pos x="T0" y="T1"/>
                    </a:cxn>
                    <a:cxn ang="T7">
                      <a:pos x="T2" y="T3"/>
                    </a:cxn>
                    <a:cxn ang="T8">
                      <a:pos x="T4" y="T5"/>
                    </a:cxn>
                  </a:cxnLst>
                  <a:rect l="T9" t="T10" r="T11" b="T12"/>
                  <a:pathLst>
                    <a:path w="181" h="49">
                      <a:moveTo>
                        <a:pt x="0" y="48"/>
                      </a:moveTo>
                      <a:lnTo>
                        <a:pt x="162" y="40"/>
                      </a:lnTo>
                      <a:lnTo>
                        <a:pt x="18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445" name="Freeform 293"/>
                <p:cNvSpPr>
                  <a:spLocks/>
                </p:cNvSpPr>
                <p:nvPr/>
              </p:nvSpPr>
              <p:spPr bwMode="auto">
                <a:xfrm>
                  <a:off x="5373" y="1122"/>
                  <a:ext cx="181" cy="49"/>
                </a:xfrm>
                <a:custGeom>
                  <a:avLst/>
                  <a:gdLst>
                    <a:gd name="T0" fmla="*/ 0 w 181"/>
                    <a:gd name="T1" fmla="*/ 48 h 49"/>
                    <a:gd name="T2" fmla="*/ 72 w 181"/>
                    <a:gd name="T3" fmla="*/ 40 h 49"/>
                    <a:gd name="T4" fmla="*/ 126 w 181"/>
                    <a:gd name="T5" fmla="*/ 24 h 49"/>
                    <a:gd name="T6" fmla="*/ 162 w 181"/>
                    <a:gd name="T7" fmla="*/ 16 h 49"/>
                    <a:gd name="T8" fmla="*/ 180 w 181"/>
                    <a:gd name="T9" fmla="*/ 0 h 49"/>
                    <a:gd name="T10" fmla="*/ 0 60000 65536"/>
                    <a:gd name="T11" fmla="*/ 0 60000 65536"/>
                    <a:gd name="T12" fmla="*/ 0 60000 65536"/>
                    <a:gd name="T13" fmla="*/ 0 60000 65536"/>
                    <a:gd name="T14" fmla="*/ 0 60000 65536"/>
                    <a:gd name="T15" fmla="*/ 0 w 181"/>
                    <a:gd name="T16" fmla="*/ 0 h 49"/>
                    <a:gd name="T17" fmla="*/ 181 w 181"/>
                    <a:gd name="T18" fmla="*/ 49 h 49"/>
                  </a:gdLst>
                  <a:ahLst/>
                  <a:cxnLst>
                    <a:cxn ang="T10">
                      <a:pos x="T0" y="T1"/>
                    </a:cxn>
                    <a:cxn ang="T11">
                      <a:pos x="T2" y="T3"/>
                    </a:cxn>
                    <a:cxn ang="T12">
                      <a:pos x="T4" y="T5"/>
                    </a:cxn>
                    <a:cxn ang="T13">
                      <a:pos x="T6" y="T7"/>
                    </a:cxn>
                    <a:cxn ang="T14">
                      <a:pos x="T8" y="T9"/>
                    </a:cxn>
                  </a:cxnLst>
                  <a:rect l="T15" t="T16" r="T17" b="T18"/>
                  <a:pathLst>
                    <a:path w="181" h="49">
                      <a:moveTo>
                        <a:pt x="0" y="48"/>
                      </a:moveTo>
                      <a:lnTo>
                        <a:pt x="72" y="40"/>
                      </a:lnTo>
                      <a:lnTo>
                        <a:pt x="126" y="24"/>
                      </a:lnTo>
                      <a:lnTo>
                        <a:pt x="162" y="16"/>
                      </a:lnTo>
                      <a:lnTo>
                        <a:pt x="18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446" name="Arc 294"/>
                <p:cNvSpPr>
                  <a:spLocks/>
                </p:cNvSpPr>
                <p:nvPr/>
              </p:nvSpPr>
              <p:spPr bwMode="auto">
                <a:xfrm>
                  <a:off x="4975" y="1119"/>
                  <a:ext cx="119" cy="104"/>
                </a:xfrm>
                <a:custGeom>
                  <a:avLst/>
                  <a:gdLst>
                    <a:gd name="T0" fmla="*/ 0 w 21784"/>
                    <a:gd name="T1" fmla="*/ 0 h 21600"/>
                    <a:gd name="T2" fmla="*/ 0 w 21784"/>
                    <a:gd name="T3" fmla="*/ 0 h 21600"/>
                    <a:gd name="T4" fmla="*/ 0 w 21784"/>
                    <a:gd name="T5" fmla="*/ 0 h 21600"/>
                    <a:gd name="T6" fmla="*/ 0 60000 65536"/>
                    <a:gd name="T7" fmla="*/ 0 60000 65536"/>
                    <a:gd name="T8" fmla="*/ 0 60000 65536"/>
                    <a:gd name="T9" fmla="*/ 0 w 21784"/>
                    <a:gd name="T10" fmla="*/ 0 h 21600"/>
                    <a:gd name="T11" fmla="*/ 21784 w 21784"/>
                    <a:gd name="T12" fmla="*/ 21600 h 21600"/>
                  </a:gdLst>
                  <a:ahLst/>
                  <a:cxnLst>
                    <a:cxn ang="T6">
                      <a:pos x="T0" y="T1"/>
                    </a:cxn>
                    <a:cxn ang="T7">
                      <a:pos x="T2" y="T3"/>
                    </a:cxn>
                    <a:cxn ang="T8">
                      <a:pos x="T4" y="T5"/>
                    </a:cxn>
                  </a:cxnLst>
                  <a:rect l="T9" t="T10" r="T11" b="T12"/>
                  <a:pathLst>
                    <a:path w="21784" h="21600" fill="none" extrusionOk="0">
                      <a:moveTo>
                        <a:pt x="-1" y="0"/>
                      </a:moveTo>
                      <a:cubicBezTo>
                        <a:pt x="61" y="0"/>
                        <a:pt x="122" y="-1"/>
                        <a:pt x="184" y="0"/>
                      </a:cubicBezTo>
                      <a:cubicBezTo>
                        <a:pt x="12113" y="0"/>
                        <a:pt x="21784" y="9670"/>
                        <a:pt x="21784" y="21600"/>
                      </a:cubicBezTo>
                    </a:path>
                    <a:path w="21784" h="21600" stroke="0" extrusionOk="0">
                      <a:moveTo>
                        <a:pt x="-1" y="0"/>
                      </a:moveTo>
                      <a:cubicBezTo>
                        <a:pt x="61" y="0"/>
                        <a:pt x="122" y="-1"/>
                        <a:pt x="184" y="0"/>
                      </a:cubicBezTo>
                      <a:cubicBezTo>
                        <a:pt x="12113" y="0"/>
                        <a:pt x="21784" y="9670"/>
                        <a:pt x="21784" y="21600"/>
                      </a:cubicBezTo>
                      <a:lnTo>
                        <a:pt x="184" y="21600"/>
                      </a:lnTo>
                      <a:close/>
                    </a:path>
                  </a:pathLst>
                </a:custGeom>
                <a:noFill/>
                <a:ln w="12700" cap="rnd">
                  <a:solidFill>
                    <a:srgbClr val="009900"/>
                  </a:solidFill>
                  <a:round/>
                  <a:headEnd/>
                  <a:tailEnd/>
                </a:ln>
              </p:spPr>
              <p:txBody>
                <a:bodyPr wrap="none" anchor="ctr"/>
                <a:lstStyle/>
                <a:p>
                  <a:endParaRPr lang="en-US"/>
                </a:p>
              </p:txBody>
            </p:sp>
            <p:sp>
              <p:nvSpPr>
                <p:cNvPr id="40447" name="Freeform 295"/>
                <p:cNvSpPr>
                  <a:spLocks/>
                </p:cNvSpPr>
                <p:nvPr/>
              </p:nvSpPr>
              <p:spPr bwMode="auto">
                <a:xfrm>
                  <a:off x="5106" y="1194"/>
                  <a:ext cx="10" cy="41"/>
                </a:xfrm>
                <a:custGeom>
                  <a:avLst/>
                  <a:gdLst>
                    <a:gd name="T0" fmla="*/ 0 w 10"/>
                    <a:gd name="T1" fmla="*/ 40 h 41"/>
                    <a:gd name="T2" fmla="*/ 0 w 10"/>
                    <a:gd name="T3" fmla="*/ 40 h 41"/>
                    <a:gd name="T4" fmla="*/ 9 w 10"/>
                    <a:gd name="T5" fmla="*/ 0 h 41"/>
                    <a:gd name="T6" fmla="*/ 0 60000 65536"/>
                    <a:gd name="T7" fmla="*/ 0 60000 65536"/>
                    <a:gd name="T8" fmla="*/ 0 60000 65536"/>
                    <a:gd name="T9" fmla="*/ 0 w 10"/>
                    <a:gd name="T10" fmla="*/ 0 h 41"/>
                    <a:gd name="T11" fmla="*/ 10 w 10"/>
                    <a:gd name="T12" fmla="*/ 41 h 41"/>
                  </a:gdLst>
                  <a:ahLst/>
                  <a:cxnLst>
                    <a:cxn ang="T6">
                      <a:pos x="T0" y="T1"/>
                    </a:cxn>
                    <a:cxn ang="T7">
                      <a:pos x="T2" y="T3"/>
                    </a:cxn>
                    <a:cxn ang="T8">
                      <a:pos x="T4" y="T5"/>
                    </a:cxn>
                  </a:cxnLst>
                  <a:rect l="T9" t="T10" r="T11" b="T12"/>
                  <a:pathLst>
                    <a:path w="10" h="41">
                      <a:moveTo>
                        <a:pt x="0" y="40"/>
                      </a:moveTo>
                      <a:lnTo>
                        <a:pt x="0" y="40"/>
                      </a:lnTo>
                      <a:lnTo>
                        <a:pt x="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448" name="Line 296"/>
                <p:cNvSpPr>
                  <a:spLocks noChangeShapeType="1"/>
                </p:cNvSpPr>
                <p:nvPr/>
              </p:nvSpPr>
              <p:spPr bwMode="auto">
                <a:xfrm flipV="1">
                  <a:off x="5123" y="1190"/>
                  <a:ext cx="1" cy="48"/>
                </a:xfrm>
                <a:prstGeom prst="line">
                  <a:avLst/>
                </a:prstGeom>
                <a:noFill/>
                <a:ln w="12700">
                  <a:solidFill>
                    <a:srgbClr val="009900"/>
                  </a:solidFill>
                  <a:round/>
                  <a:headEnd/>
                  <a:tailEnd/>
                </a:ln>
              </p:spPr>
              <p:txBody>
                <a:bodyPr wrap="none" anchor="ctr"/>
                <a:lstStyle/>
                <a:p>
                  <a:endParaRPr lang="en-US"/>
                </a:p>
              </p:txBody>
            </p:sp>
            <p:sp>
              <p:nvSpPr>
                <p:cNvPr id="40449" name="Arc 297"/>
                <p:cNvSpPr>
                  <a:spLocks/>
                </p:cNvSpPr>
                <p:nvPr/>
              </p:nvSpPr>
              <p:spPr bwMode="auto">
                <a:xfrm>
                  <a:off x="5568" y="1152"/>
                  <a:ext cx="119" cy="104"/>
                </a:xfrm>
                <a:custGeom>
                  <a:avLst/>
                  <a:gdLst>
                    <a:gd name="T0" fmla="*/ 0 w 21784"/>
                    <a:gd name="T1" fmla="*/ 0 h 21600"/>
                    <a:gd name="T2" fmla="*/ 0 w 21784"/>
                    <a:gd name="T3" fmla="*/ 0 h 21600"/>
                    <a:gd name="T4" fmla="*/ 0 w 21784"/>
                    <a:gd name="T5" fmla="*/ 0 h 21600"/>
                    <a:gd name="T6" fmla="*/ 0 60000 65536"/>
                    <a:gd name="T7" fmla="*/ 0 60000 65536"/>
                    <a:gd name="T8" fmla="*/ 0 60000 65536"/>
                    <a:gd name="T9" fmla="*/ 0 w 21784"/>
                    <a:gd name="T10" fmla="*/ 0 h 21600"/>
                    <a:gd name="T11" fmla="*/ 21784 w 21784"/>
                    <a:gd name="T12" fmla="*/ 21600 h 21600"/>
                  </a:gdLst>
                  <a:ahLst/>
                  <a:cxnLst>
                    <a:cxn ang="T6">
                      <a:pos x="T0" y="T1"/>
                    </a:cxn>
                    <a:cxn ang="T7">
                      <a:pos x="T2" y="T3"/>
                    </a:cxn>
                    <a:cxn ang="T8">
                      <a:pos x="T4" y="T5"/>
                    </a:cxn>
                  </a:cxnLst>
                  <a:rect l="T9" t="T10" r="T11" b="T12"/>
                  <a:pathLst>
                    <a:path w="21784" h="21600" fill="none" extrusionOk="0">
                      <a:moveTo>
                        <a:pt x="-1" y="0"/>
                      </a:moveTo>
                      <a:cubicBezTo>
                        <a:pt x="61" y="0"/>
                        <a:pt x="122" y="-1"/>
                        <a:pt x="184" y="0"/>
                      </a:cubicBezTo>
                      <a:cubicBezTo>
                        <a:pt x="12113" y="0"/>
                        <a:pt x="21784" y="9670"/>
                        <a:pt x="21784" y="21600"/>
                      </a:cubicBezTo>
                    </a:path>
                    <a:path w="21784" h="21600" stroke="0" extrusionOk="0">
                      <a:moveTo>
                        <a:pt x="-1" y="0"/>
                      </a:moveTo>
                      <a:cubicBezTo>
                        <a:pt x="61" y="0"/>
                        <a:pt x="122" y="-1"/>
                        <a:pt x="184" y="0"/>
                      </a:cubicBezTo>
                      <a:cubicBezTo>
                        <a:pt x="12113" y="0"/>
                        <a:pt x="21784" y="9670"/>
                        <a:pt x="21784" y="21600"/>
                      </a:cubicBezTo>
                      <a:lnTo>
                        <a:pt x="184" y="21600"/>
                      </a:lnTo>
                      <a:close/>
                    </a:path>
                  </a:pathLst>
                </a:custGeom>
                <a:noFill/>
                <a:ln w="12700" cap="rnd">
                  <a:solidFill>
                    <a:srgbClr val="009900"/>
                  </a:solidFill>
                  <a:round/>
                  <a:headEnd/>
                  <a:tailEnd/>
                </a:ln>
              </p:spPr>
              <p:txBody>
                <a:bodyPr wrap="none" anchor="ctr"/>
                <a:lstStyle/>
                <a:p>
                  <a:endParaRPr lang="en-US"/>
                </a:p>
              </p:txBody>
            </p:sp>
            <p:sp>
              <p:nvSpPr>
                <p:cNvPr id="40450" name="Freeform 298"/>
                <p:cNvSpPr>
                  <a:spLocks/>
                </p:cNvSpPr>
                <p:nvPr/>
              </p:nvSpPr>
              <p:spPr bwMode="auto">
                <a:xfrm>
                  <a:off x="5627" y="1131"/>
                  <a:ext cx="46" cy="153"/>
                </a:xfrm>
                <a:custGeom>
                  <a:avLst/>
                  <a:gdLst>
                    <a:gd name="T0" fmla="*/ 0 w 46"/>
                    <a:gd name="T1" fmla="*/ 0 h 153"/>
                    <a:gd name="T2" fmla="*/ 9 w 46"/>
                    <a:gd name="T3" fmla="*/ 8 h 153"/>
                    <a:gd name="T4" fmla="*/ 27 w 46"/>
                    <a:gd name="T5" fmla="*/ 32 h 153"/>
                    <a:gd name="T6" fmla="*/ 36 w 46"/>
                    <a:gd name="T7" fmla="*/ 48 h 153"/>
                    <a:gd name="T8" fmla="*/ 45 w 46"/>
                    <a:gd name="T9" fmla="*/ 64 h 153"/>
                    <a:gd name="T10" fmla="*/ 45 w 46"/>
                    <a:gd name="T11" fmla="*/ 72 h 153"/>
                    <a:gd name="T12" fmla="*/ 45 w 46"/>
                    <a:gd name="T13" fmla="*/ 80 h 153"/>
                    <a:gd name="T14" fmla="*/ 45 w 46"/>
                    <a:gd name="T15" fmla="*/ 104 h 153"/>
                    <a:gd name="T16" fmla="*/ 45 w 46"/>
                    <a:gd name="T17" fmla="*/ 120 h 153"/>
                    <a:gd name="T18" fmla="*/ 36 w 46"/>
                    <a:gd name="T19" fmla="*/ 136 h 153"/>
                    <a:gd name="T20" fmla="*/ 27 w 46"/>
                    <a:gd name="T21" fmla="*/ 152 h 15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6"/>
                    <a:gd name="T34" fmla="*/ 0 h 153"/>
                    <a:gd name="T35" fmla="*/ 46 w 46"/>
                    <a:gd name="T36" fmla="*/ 153 h 15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6" h="153">
                      <a:moveTo>
                        <a:pt x="0" y="0"/>
                      </a:moveTo>
                      <a:lnTo>
                        <a:pt x="9" y="8"/>
                      </a:lnTo>
                      <a:lnTo>
                        <a:pt x="27" y="32"/>
                      </a:lnTo>
                      <a:lnTo>
                        <a:pt x="36" y="48"/>
                      </a:lnTo>
                      <a:lnTo>
                        <a:pt x="45" y="64"/>
                      </a:lnTo>
                      <a:lnTo>
                        <a:pt x="45" y="72"/>
                      </a:lnTo>
                      <a:lnTo>
                        <a:pt x="45" y="80"/>
                      </a:lnTo>
                      <a:lnTo>
                        <a:pt x="45" y="104"/>
                      </a:lnTo>
                      <a:lnTo>
                        <a:pt x="45" y="120"/>
                      </a:lnTo>
                      <a:lnTo>
                        <a:pt x="36" y="136"/>
                      </a:lnTo>
                      <a:lnTo>
                        <a:pt x="27" y="152"/>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451" name="Freeform 299"/>
                <p:cNvSpPr>
                  <a:spLocks/>
                </p:cNvSpPr>
                <p:nvPr/>
              </p:nvSpPr>
              <p:spPr bwMode="auto">
                <a:xfrm>
                  <a:off x="5562" y="1170"/>
                  <a:ext cx="109" cy="17"/>
                </a:xfrm>
                <a:custGeom>
                  <a:avLst/>
                  <a:gdLst>
                    <a:gd name="T0" fmla="*/ 0 w 109"/>
                    <a:gd name="T1" fmla="*/ 0 h 17"/>
                    <a:gd name="T2" fmla="*/ 27 w 109"/>
                    <a:gd name="T3" fmla="*/ 16 h 17"/>
                    <a:gd name="T4" fmla="*/ 81 w 109"/>
                    <a:gd name="T5" fmla="*/ 16 h 17"/>
                    <a:gd name="T6" fmla="*/ 108 w 109"/>
                    <a:gd name="T7" fmla="*/ 0 h 17"/>
                    <a:gd name="T8" fmla="*/ 0 60000 65536"/>
                    <a:gd name="T9" fmla="*/ 0 60000 65536"/>
                    <a:gd name="T10" fmla="*/ 0 60000 65536"/>
                    <a:gd name="T11" fmla="*/ 0 60000 65536"/>
                    <a:gd name="T12" fmla="*/ 0 w 109"/>
                    <a:gd name="T13" fmla="*/ 0 h 17"/>
                    <a:gd name="T14" fmla="*/ 109 w 109"/>
                    <a:gd name="T15" fmla="*/ 17 h 17"/>
                  </a:gdLst>
                  <a:ahLst/>
                  <a:cxnLst>
                    <a:cxn ang="T8">
                      <a:pos x="T0" y="T1"/>
                    </a:cxn>
                    <a:cxn ang="T9">
                      <a:pos x="T2" y="T3"/>
                    </a:cxn>
                    <a:cxn ang="T10">
                      <a:pos x="T4" y="T5"/>
                    </a:cxn>
                    <a:cxn ang="T11">
                      <a:pos x="T6" y="T7"/>
                    </a:cxn>
                  </a:cxnLst>
                  <a:rect l="T12" t="T13" r="T14" b="T15"/>
                  <a:pathLst>
                    <a:path w="109" h="17">
                      <a:moveTo>
                        <a:pt x="0" y="0"/>
                      </a:moveTo>
                      <a:lnTo>
                        <a:pt x="27" y="16"/>
                      </a:lnTo>
                      <a:lnTo>
                        <a:pt x="81" y="16"/>
                      </a:lnTo>
                      <a:lnTo>
                        <a:pt x="10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452" name="Freeform 300"/>
                <p:cNvSpPr>
                  <a:spLocks/>
                </p:cNvSpPr>
                <p:nvPr/>
              </p:nvSpPr>
              <p:spPr bwMode="auto">
                <a:xfrm>
                  <a:off x="5562" y="1170"/>
                  <a:ext cx="109" cy="17"/>
                </a:xfrm>
                <a:custGeom>
                  <a:avLst/>
                  <a:gdLst>
                    <a:gd name="T0" fmla="*/ 0 w 109"/>
                    <a:gd name="T1" fmla="*/ 0 h 17"/>
                    <a:gd name="T2" fmla="*/ 54 w 109"/>
                    <a:gd name="T3" fmla="*/ 16 h 17"/>
                    <a:gd name="T4" fmla="*/ 81 w 109"/>
                    <a:gd name="T5" fmla="*/ 8 h 17"/>
                    <a:gd name="T6" fmla="*/ 108 w 109"/>
                    <a:gd name="T7" fmla="*/ 0 h 17"/>
                    <a:gd name="T8" fmla="*/ 0 60000 65536"/>
                    <a:gd name="T9" fmla="*/ 0 60000 65536"/>
                    <a:gd name="T10" fmla="*/ 0 60000 65536"/>
                    <a:gd name="T11" fmla="*/ 0 60000 65536"/>
                    <a:gd name="T12" fmla="*/ 0 w 109"/>
                    <a:gd name="T13" fmla="*/ 0 h 17"/>
                    <a:gd name="T14" fmla="*/ 109 w 109"/>
                    <a:gd name="T15" fmla="*/ 17 h 17"/>
                  </a:gdLst>
                  <a:ahLst/>
                  <a:cxnLst>
                    <a:cxn ang="T8">
                      <a:pos x="T0" y="T1"/>
                    </a:cxn>
                    <a:cxn ang="T9">
                      <a:pos x="T2" y="T3"/>
                    </a:cxn>
                    <a:cxn ang="T10">
                      <a:pos x="T4" y="T5"/>
                    </a:cxn>
                    <a:cxn ang="T11">
                      <a:pos x="T6" y="T7"/>
                    </a:cxn>
                  </a:cxnLst>
                  <a:rect l="T12" t="T13" r="T14" b="T15"/>
                  <a:pathLst>
                    <a:path w="109" h="17">
                      <a:moveTo>
                        <a:pt x="0" y="0"/>
                      </a:moveTo>
                      <a:lnTo>
                        <a:pt x="54" y="16"/>
                      </a:lnTo>
                      <a:lnTo>
                        <a:pt x="81" y="8"/>
                      </a:lnTo>
                      <a:lnTo>
                        <a:pt x="10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453" name="Freeform 301"/>
                <p:cNvSpPr>
                  <a:spLocks/>
                </p:cNvSpPr>
                <p:nvPr/>
              </p:nvSpPr>
              <p:spPr bwMode="auto">
                <a:xfrm>
                  <a:off x="5139" y="1090"/>
                  <a:ext cx="118" cy="57"/>
                </a:xfrm>
                <a:custGeom>
                  <a:avLst/>
                  <a:gdLst>
                    <a:gd name="T0" fmla="*/ 0 w 118"/>
                    <a:gd name="T1" fmla="*/ 0 h 57"/>
                    <a:gd name="T2" fmla="*/ 54 w 118"/>
                    <a:gd name="T3" fmla="*/ 24 h 57"/>
                    <a:gd name="T4" fmla="*/ 117 w 118"/>
                    <a:gd name="T5" fmla="*/ 56 h 57"/>
                    <a:gd name="T6" fmla="*/ 0 60000 65536"/>
                    <a:gd name="T7" fmla="*/ 0 60000 65536"/>
                    <a:gd name="T8" fmla="*/ 0 60000 65536"/>
                    <a:gd name="T9" fmla="*/ 0 w 118"/>
                    <a:gd name="T10" fmla="*/ 0 h 57"/>
                    <a:gd name="T11" fmla="*/ 118 w 118"/>
                    <a:gd name="T12" fmla="*/ 57 h 57"/>
                  </a:gdLst>
                  <a:ahLst/>
                  <a:cxnLst>
                    <a:cxn ang="T6">
                      <a:pos x="T0" y="T1"/>
                    </a:cxn>
                    <a:cxn ang="T7">
                      <a:pos x="T2" y="T3"/>
                    </a:cxn>
                    <a:cxn ang="T8">
                      <a:pos x="T4" y="T5"/>
                    </a:cxn>
                  </a:cxnLst>
                  <a:rect l="T9" t="T10" r="T11" b="T12"/>
                  <a:pathLst>
                    <a:path w="118" h="57">
                      <a:moveTo>
                        <a:pt x="0" y="0"/>
                      </a:moveTo>
                      <a:lnTo>
                        <a:pt x="54" y="24"/>
                      </a:lnTo>
                      <a:lnTo>
                        <a:pt x="117" y="56"/>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454" name="Line 302"/>
                <p:cNvSpPr>
                  <a:spLocks noChangeShapeType="1"/>
                </p:cNvSpPr>
                <p:nvPr/>
              </p:nvSpPr>
              <p:spPr bwMode="auto">
                <a:xfrm>
                  <a:off x="5136" y="1152"/>
                  <a:ext cx="121" cy="0"/>
                </a:xfrm>
                <a:prstGeom prst="line">
                  <a:avLst/>
                </a:prstGeom>
                <a:noFill/>
                <a:ln w="12700">
                  <a:solidFill>
                    <a:srgbClr val="009900"/>
                  </a:solidFill>
                  <a:round/>
                  <a:headEnd/>
                  <a:tailEnd/>
                </a:ln>
              </p:spPr>
              <p:txBody>
                <a:bodyPr wrap="none" anchor="ctr"/>
                <a:lstStyle/>
                <a:p>
                  <a:endParaRPr lang="en-US"/>
                </a:p>
              </p:txBody>
            </p:sp>
            <p:sp>
              <p:nvSpPr>
                <p:cNvPr id="40455" name="Freeform 303"/>
                <p:cNvSpPr>
                  <a:spLocks/>
                </p:cNvSpPr>
                <p:nvPr/>
              </p:nvSpPr>
              <p:spPr bwMode="auto">
                <a:xfrm>
                  <a:off x="5517" y="1210"/>
                  <a:ext cx="19" cy="49"/>
                </a:xfrm>
                <a:custGeom>
                  <a:avLst/>
                  <a:gdLst>
                    <a:gd name="T0" fmla="*/ 0 w 19"/>
                    <a:gd name="T1" fmla="*/ 48 h 49"/>
                    <a:gd name="T2" fmla="*/ 0 w 19"/>
                    <a:gd name="T3" fmla="*/ 48 h 49"/>
                    <a:gd name="T4" fmla="*/ 18 w 19"/>
                    <a:gd name="T5" fmla="*/ 0 h 49"/>
                    <a:gd name="T6" fmla="*/ 0 60000 65536"/>
                    <a:gd name="T7" fmla="*/ 0 60000 65536"/>
                    <a:gd name="T8" fmla="*/ 0 60000 65536"/>
                    <a:gd name="T9" fmla="*/ 0 w 19"/>
                    <a:gd name="T10" fmla="*/ 0 h 49"/>
                    <a:gd name="T11" fmla="*/ 19 w 19"/>
                    <a:gd name="T12" fmla="*/ 49 h 49"/>
                  </a:gdLst>
                  <a:ahLst/>
                  <a:cxnLst>
                    <a:cxn ang="T6">
                      <a:pos x="T0" y="T1"/>
                    </a:cxn>
                    <a:cxn ang="T7">
                      <a:pos x="T2" y="T3"/>
                    </a:cxn>
                    <a:cxn ang="T8">
                      <a:pos x="T4" y="T5"/>
                    </a:cxn>
                  </a:cxnLst>
                  <a:rect l="T9" t="T10" r="T11" b="T12"/>
                  <a:pathLst>
                    <a:path w="19" h="49">
                      <a:moveTo>
                        <a:pt x="0" y="48"/>
                      </a:moveTo>
                      <a:lnTo>
                        <a:pt x="0" y="48"/>
                      </a:lnTo>
                      <a:lnTo>
                        <a:pt x="1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456" name="Line 304"/>
                <p:cNvSpPr>
                  <a:spLocks noChangeShapeType="1"/>
                </p:cNvSpPr>
                <p:nvPr/>
              </p:nvSpPr>
              <p:spPr bwMode="auto">
                <a:xfrm flipV="1">
                  <a:off x="5526" y="1206"/>
                  <a:ext cx="10" cy="56"/>
                </a:xfrm>
                <a:prstGeom prst="line">
                  <a:avLst/>
                </a:prstGeom>
                <a:noFill/>
                <a:ln w="12700">
                  <a:solidFill>
                    <a:srgbClr val="009900"/>
                  </a:solidFill>
                  <a:round/>
                  <a:headEnd/>
                  <a:tailEnd/>
                </a:ln>
              </p:spPr>
              <p:txBody>
                <a:bodyPr wrap="none" anchor="ctr"/>
                <a:lstStyle/>
                <a:p>
                  <a:endParaRPr lang="en-US"/>
                </a:p>
              </p:txBody>
            </p:sp>
            <p:sp>
              <p:nvSpPr>
                <p:cNvPr id="40457" name="Freeform 305"/>
                <p:cNvSpPr>
                  <a:spLocks/>
                </p:cNvSpPr>
                <p:nvPr/>
              </p:nvSpPr>
              <p:spPr bwMode="auto">
                <a:xfrm>
                  <a:off x="5661" y="1154"/>
                  <a:ext cx="10" cy="41"/>
                </a:xfrm>
                <a:custGeom>
                  <a:avLst/>
                  <a:gdLst>
                    <a:gd name="T0" fmla="*/ 0 w 10"/>
                    <a:gd name="T1" fmla="*/ 40 h 41"/>
                    <a:gd name="T2" fmla="*/ 0 w 10"/>
                    <a:gd name="T3" fmla="*/ 40 h 41"/>
                    <a:gd name="T4" fmla="*/ 9 w 10"/>
                    <a:gd name="T5" fmla="*/ 0 h 41"/>
                    <a:gd name="T6" fmla="*/ 0 60000 65536"/>
                    <a:gd name="T7" fmla="*/ 0 60000 65536"/>
                    <a:gd name="T8" fmla="*/ 0 60000 65536"/>
                    <a:gd name="T9" fmla="*/ 0 w 10"/>
                    <a:gd name="T10" fmla="*/ 0 h 41"/>
                    <a:gd name="T11" fmla="*/ 10 w 10"/>
                    <a:gd name="T12" fmla="*/ 41 h 41"/>
                  </a:gdLst>
                  <a:ahLst/>
                  <a:cxnLst>
                    <a:cxn ang="T6">
                      <a:pos x="T0" y="T1"/>
                    </a:cxn>
                    <a:cxn ang="T7">
                      <a:pos x="T2" y="T3"/>
                    </a:cxn>
                    <a:cxn ang="T8">
                      <a:pos x="T4" y="T5"/>
                    </a:cxn>
                  </a:cxnLst>
                  <a:rect l="T9" t="T10" r="T11" b="T12"/>
                  <a:pathLst>
                    <a:path w="10" h="41">
                      <a:moveTo>
                        <a:pt x="0" y="40"/>
                      </a:moveTo>
                      <a:lnTo>
                        <a:pt x="0" y="40"/>
                      </a:lnTo>
                      <a:lnTo>
                        <a:pt x="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458" name="Line 306"/>
                <p:cNvSpPr>
                  <a:spLocks noChangeShapeType="1"/>
                </p:cNvSpPr>
                <p:nvPr/>
              </p:nvSpPr>
              <p:spPr bwMode="auto">
                <a:xfrm flipV="1">
                  <a:off x="5681" y="1150"/>
                  <a:ext cx="1" cy="48"/>
                </a:xfrm>
                <a:prstGeom prst="line">
                  <a:avLst/>
                </a:prstGeom>
                <a:noFill/>
                <a:ln w="12700">
                  <a:solidFill>
                    <a:srgbClr val="009900"/>
                  </a:solidFill>
                  <a:round/>
                  <a:headEnd/>
                  <a:tailEnd/>
                </a:ln>
              </p:spPr>
              <p:txBody>
                <a:bodyPr wrap="none" anchor="ctr"/>
                <a:lstStyle/>
                <a:p>
                  <a:endParaRPr lang="en-US"/>
                </a:p>
              </p:txBody>
            </p:sp>
            <p:sp>
              <p:nvSpPr>
                <p:cNvPr id="40459" name="Freeform 307"/>
                <p:cNvSpPr>
                  <a:spLocks/>
                </p:cNvSpPr>
                <p:nvPr/>
              </p:nvSpPr>
              <p:spPr bwMode="auto">
                <a:xfrm>
                  <a:off x="5517" y="1210"/>
                  <a:ext cx="19" cy="49"/>
                </a:xfrm>
                <a:custGeom>
                  <a:avLst/>
                  <a:gdLst>
                    <a:gd name="T0" fmla="*/ 0 w 19"/>
                    <a:gd name="T1" fmla="*/ 48 h 49"/>
                    <a:gd name="T2" fmla="*/ 0 w 19"/>
                    <a:gd name="T3" fmla="*/ 48 h 49"/>
                    <a:gd name="T4" fmla="*/ 18 w 19"/>
                    <a:gd name="T5" fmla="*/ 0 h 49"/>
                    <a:gd name="T6" fmla="*/ 0 60000 65536"/>
                    <a:gd name="T7" fmla="*/ 0 60000 65536"/>
                    <a:gd name="T8" fmla="*/ 0 60000 65536"/>
                    <a:gd name="T9" fmla="*/ 0 w 19"/>
                    <a:gd name="T10" fmla="*/ 0 h 49"/>
                    <a:gd name="T11" fmla="*/ 19 w 19"/>
                    <a:gd name="T12" fmla="*/ 49 h 49"/>
                  </a:gdLst>
                  <a:ahLst/>
                  <a:cxnLst>
                    <a:cxn ang="T6">
                      <a:pos x="T0" y="T1"/>
                    </a:cxn>
                    <a:cxn ang="T7">
                      <a:pos x="T2" y="T3"/>
                    </a:cxn>
                    <a:cxn ang="T8">
                      <a:pos x="T4" y="T5"/>
                    </a:cxn>
                  </a:cxnLst>
                  <a:rect l="T9" t="T10" r="T11" b="T12"/>
                  <a:pathLst>
                    <a:path w="19" h="49">
                      <a:moveTo>
                        <a:pt x="0" y="48"/>
                      </a:moveTo>
                      <a:lnTo>
                        <a:pt x="0" y="48"/>
                      </a:lnTo>
                      <a:lnTo>
                        <a:pt x="1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460" name="Line 308"/>
                <p:cNvSpPr>
                  <a:spLocks noChangeShapeType="1"/>
                </p:cNvSpPr>
                <p:nvPr/>
              </p:nvSpPr>
              <p:spPr bwMode="auto">
                <a:xfrm flipV="1">
                  <a:off x="5526" y="1206"/>
                  <a:ext cx="10" cy="56"/>
                </a:xfrm>
                <a:prstGeom prst="line">
                  <a:avLst/>
                </a:prstGeom>
                <a:noFill/>
                <a:ln w="12700">
                  <a:solidFill>
                    <a:srgbClr val="009900"/>
                  </a:solidFill>
                  <a:round/>
                  <a:headEnd/>
                  <a:tailEnd/>
                </a:ln>
              </p:spPr>
              <p:txBody>
                <a:bodyPr wrap="none" anchor="ctr"/>
                <a:lstStyle/>
                <a:p>
                  <a:endParaRPr lang="en-US"/>
                </a:p>
              </p:txBody>
            </p:sp>
            <p:sp>
              <p:nvSpPr>
                <p:cNvPr id="40461" name="Freeform 309"/>
                <p:cNvSpPr>
                  <a:spLocks/>
                </p:cNvSpPr>
                <p:nvPr/>
              </p:nvSpPr>
              <p:spPr bwMode="auto">
                <a:xfrm>
                  <a:off x="5571" y="1202"/>
                  <a:ext cx="118" cy="49"/>
                </a:xfrm>
                <a:custGeom>
                  <a:avLst/>
                  <a:gdLst>
                    <a:gd name="T0" fmla="*/ 0 w 118"/>
                    <a:gd name="T1" fmla="*/ 0 h 49"/>
                    <a:gd name="T2" fmla="*/ 54 w 118"/>
                    <a:gd name="T3" fmla="*/ 24 h 49"/>
                    <a:gd name="T4" fmla="*/ 117 w 118"/>
                    <a:gd name="T5" fmla="*/ 48 h 49"/>
                    <a:gd name="T6" fmla="*/ 0 60000 65536"/>
                    <a:gd name="T7" fmla="*/ 0 60000 65536"/>
                    <a:gd name="T8" fmla="*/ 0 60000 65536"/>
                    <a:gd name="T9" fmla="*/ 0 w 118"/>
                    <a:gd name="T10" fmla="*/ 0 h 49"/>
                    <a:gd name="T11" fmla="*/ 118 w 118"/>
                    <a:gd name="T12" fmla="*/ 49 h 49"/>
                  </a:gdLst>
                  <a:ahLst/>
                  <a:cxnLst>
                    <a:cxn ang="T6">
                      <a:pos x="T0" y="T1"/>
                    </a:cxn>
                    <a:cxn ang="T7">
                      <a:pos x="T2" y="T3"/>
                    </a:cxn>
                    <a:cxn ang="T8">
                      <a:pos x="T4" y="T5"/>
                    </a:cxn>
                  </a:cxnLst>
                  <a:rect l="T9" t="T10" r="T11" b="T12"/>
                  <a:pathLst>
                    <a:path w="118" h="49">
                      <a:moveTo>
                        <a:pt x="0" y="0"/>
                      </a:moveTo>
                      <a:lnTo>
                        <a:pt x="54" y="24"/>
                      </a:lnTo>
                      <a:lnTo>
                        <a:pt x="117" y="48"/>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462" name="Line 310"/>
                <p:cNvSpPr>
                  <a:spLocks noChangeShapeType="1"/>
                </p:cNvSpPr>
                <p:nvPr/>
              </p:nvSpPr>
              <p:spPr bwMode="auto">
                <a:xfrm>
                  <a:off x="5568" y="1212"/>
                  <a:ext cx="118" cy="48"/>
                </a:xfrm>
                <a:prstGeom prst="line">
                  <a:avLst/>
                </a:prstGeom>
                <a:noFill/>
                <a:ln w="12700">
                  <a:solidFill>
                    <a:srgbClr val="009900"/>
                  </a:solidFill>
                  <a:round/>
                  <a:headEnd/>
                  <a:tailEnd/>
                </a:ln>
              </p:spPr>
              <p:txBody>
                <a:bodyPr wrap="none" anchor="ctr"/>
                <a:lstStyle/>
                <a:p>
                  <a:endParaRPr lang="en-US"/>
                </a:p>
              </p:txBody>
            </p:sp>
            <p:sp>
              <p:nvSpPr>
                <p:cNvPr id="40463" name="Freeform 311"/>
                <p:cNvSpPr>
                  <a:spLocks/>
                </p:cNvSpPr>
                <p:nvPr/>
              </p:nvSpPr>
              <p:spPr bwMode="auto">
                <a:xfrm>
                  <a:off x="5463" y="1178"/>
                  <a:ext cx="127" cy="81"/>
                </a:xfrm>
                <a:custGeom>
                  <a:avLst/>
                  <a:gdLst>
                    <a:gd name="T0" fmla="*/ 0 w 127"/>
                    <a:gd name="T1" fmla="*/ 80 h 81"/>
                    <a:gd name="T2" fmla="*/ 18 w 127"/>
                    <a:gd name="T3" fmla="*/ 24 h 81"/>
                    <a:gd name="T4" fmla="*/ 126 w 127"/>
                    <a:gd name="T5" fmla="*/ 0 h 81"/>
                    <a:gd name="T6" fmla="*/ 0 60000 65536"/>
                    <a:gd name="T7" fmla="*/ 0 60000 65536"/>
                    <a:gd name="T8" fmla="*/ 0 60000 65536"/>
                    <a:gd name="T9" fmla="*/ 0 w 127"/>
                    <a:gd name="T10" fmla="*/ 0 h 81"/>
                    <a:gd name="T11" fmla="*/ 127 w 127"/>
                    <a:gd name="T12" fmla="*/ 81 h 81"/>
                  </a:gdLst>
                  <a:ahLst/>
                  <a:cxnLst>
                    <a:cxn ang="T6">
                      <a:pos x="T0" y="T1"/>
                    </a:cxn>
                    <a:cxn ang="T7">
                      <a:pos x="T2" y="T3"/>
                    </a:cxn>
                    <a:cxn ang="T8">
                      <a:pos x="T4" y="T5"/>
                    </a:cxn>
                  </a:cxnLst>
                  <a:rect l="T9" t="T10" r="T11" b="T12"/>
                  <a:pathLst>
                    <a:path w="127" h="81">
                      <a:moveTo>
                        <a:pt x="0" y="80"/>
                      </a:moveTo>
                      <a:lnTo>
                        <a:pt x="18" y="24"/>
                      </a:lnTo>
                      <a:lnTo>
                        <a:pt x="126"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464" name="Freeform 312"/>
                <p:cNvSpPr>
                  <a:spLocks/>
                </p:cNvSpPr>
                <p:nvPr/>
              </p:nvSpPr>
              <p:spPr bwMode="auto">
                <a:xfrm>
                  <a:off x="5463" y="1178"/>
                  <a:ext cx="127" cy="81"/>
                </a:xfrm>
                <a:custGeom>
                  <a:avLst/>
                  <a:gdLst>
                    <a:gd name="T0" fmla="*/ 0 w 127"/>
                    <a:gd name="T1" fmla="*/ 80 h 81"/>
                    <a:gd name="T2" fmla="*/ 36 w 127"/>
                    <a:gd name="T3" fmla="*/ 32 h 81"/>
                    <a:gd name="T4" fmla="*/ 126 w 127"/>
                    <a:gd name="T5" fmla="*/ 0 h 81"/>
                    <a:gd name="T6" fmla="*/ 0 60000 65536"/>
                    <a:gd name="T7" fmla="*/ 0 60000 65536"/>
                    <a:gd name="T8" fmla="*/ 0 60000 65536"/>
                    <a:gd name="T9" fmla="*/ 0 w 127"/>
                    <a:gd name="T10" fmla="*/ 0 h 81"/>
                    <a:gd name="T11" fmla="*/ 127 w 127"/>
                    <a:gd name="T12" fmla="*/ 81 h 81"/>
                  </a:gdLst>
                  <a:ahLst/>
                  <a:cxnLst>
                    <a:cxn ang="T6">
                      <a:pos x="T0" y="T1"/>
                    </a:cxn>
                    <a:cxn ang="T7">
                      <a:pos x="T2" y="T3"/>
                    </a:cxn>
                    <a:cxn ang="T8">
                      <a:pos x="T4" y="T5"/>
                    </a:cxn>
                  </a:cxnLst>
                  <a:rect l="T9" t="T10" r="T11" b="T12"/>
                  <a:pathLst>
                    <a:path w="127" h="81">
                      <a:moveTo>
                        <a:pt x="0" y="80"/>
                      </a:moveTo>
                      <a:lnTo>
                        <a:pt x="36" y="32"/>
                      </a:lnTo>
                      <a:lnTo>
                        <a:pt x="126"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465" name="Freeform 313"/>
                <p:cNvSpPr>
                  <a:spLocks/>
                </p:cNvSpPr>
                <p:nvPr/>
              </p:nvSpPr>
              <p:spPr bwMode="auto">
                <a:xfrm>
                  <a:off x="5328" y="1146"/>
                  <a:ext cx="19" cy="49"/>
                </a:xfrm>
                <a:custGeom>
                  <a:avLst/>
                  <a:gdLst>
                    <a:gd name="T0" fmla="*/ 0 w 19"/>
                    <a:gd name="T1" fmla="*/ 48 h 49"/>
                    <a:gd name="T2" fmla="*/ 0 w 19"/>
                    <a:gd name="T3" fmla="*/ 48 h 49"/>
                    <a:gd name="T4" fmla="*/ 18 w 19"/>
                    <a:gd name="T5" fmla="*/ 0 h 49"/>
                    <a:gd name="T6" fmla="*/ 0 60000 65536"/>
                    <a:gd name="T7" fmla="*/ 0 60000 65536"/>
                    <a:gd name="T8" fmla="*/ 0 60000 65536"/>
                    <a:gd name="T9" fmla="*/ 0 w 19"/>
                    <a:gd name="T10" fmla="*/ 0 h 49"/>
                    <a:gd name="T11" fmla="*/ 19 w 19"/>
                    <a:gd name="T12" fmla="*/ 49 h 49"/>
                  </a:gdLst>
                  <a:ahLst/>
                  <a:cxnLst>
                    <a:cxn ang="T6">
                      <a:pos x="T0" y="T1"/>
                    </a:cxn>
                    <a:cxn ang="T7">
                      <a:pos x="T2" y="T3"/>
                    </a:cxn>
                    <a:cxn ang="T8">
                      <a:pos x="T4" y="T5"/>
                    </a:cxn>
                  </a:cxnLst>
                  <a:rect l="T9" t="T10" r="T11" b="T12"/>
                  <a:pathLst>
                    <a:path w="19" h="49">
                      <a:moveTo>
                        <a:pt x="0" y="48"/>
                      </a:moveTo>
                      <a:lnTo>
                        <a:pt x="0" y="48"/>
                      </a:lnTo>
                      <a:lnTo>
                        <a:pt x="1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466" name="Line 314"/>
                <p:cNvSpPr>
                  <a:spLocks noChangeShapeType="1"/>
                </p:cNvSpPr>
                <p:nvPr/>
              </p:nvSpPr>
              <p:spPr bwMode="auto">
                <a:xfrm flipV="1">
                  <a:off x="5336" y="1142"/>
                  <a:ext cx="11" cy="56"/>
                </a:xfrm>
                <a:prstGeom prst="line">
                  <a:avLst/>
                </a:prstGeom>
                <a:noFill/>
                <a:ln w="12700">
                  <a:solidFill>
                    <a:srgbClr val="009900"/>
                  </a:solidFill>
                  <a:round/>
                  <a:headEnd/>
                  <a:tailEnd/>
                </a:ln>
              </p:spPr>
              <p:txBody>
                <a:bodyPr wrap="none" anchor="ctr"/>
                <a:lstStyle/>
                <a:p>
                  <a:endParaRPr lang="en-US"/>
                </a:p>
              </p:txBody>
            </p:sp>
            <p:sp>
              <p:nvSpPr>
                <p:cNvPr id="40467" name="Freeform 315"/>
                <p:cNvSpPr>
                  <a:spLocks/>
                </p:cNvSpPr>
                <p:nvPr/>
              </p:nvSpPr>
              <p:spPr bwMode="auto">
                <a:xfrm>
                  <a:off x="5034" y="1202"/>
                  <a:ext cx="10" cy="41"/>
                </a:xfrm>
                <a:custGeom>
                  <a:avLst/>
                  <a:gdLst>
                    <a:gd name="T0" fmla="*/ 0 w 10"/>
                    <a:gd name="T1" fmla="*/ 40 h 41"/>
                    <a:gd name="T2" fmla="*/ 0 w 10"/>
                    <a:gd name="T3" fmla="*/ 40 h 41"/>
                    <a:gd name="T4" fmla="*/ 9 w 10"/>
                    <a:gd name="T5" fmla="*/ 0 h 41"/>
                    <a:gd name="T6" fmla="*/ 0 60000 65536"/>
                    <a:gd name="T7" fmla="*/ 0 60000 65536"/>
                    <a:gd name="T8" fmla="*/ 0 60000 65536"/>
                    <a:gd name="T9" fmla="*/ 0 w 10"/>
                    <a:gd name="T10" fmla="*/ 0 h 41"/>
                    <a:gd name="T11" fmla="*/ 10 w 10"/>
                    <a:gd name="T12" fmla="*/ 41 h 41"/>
                  </a:gdLst>
                  <a:ahLst/>
                  <a:cxnLst>
                    <a:cxn ang="T6">
                      <a:pos x="T0" y="T1"/>
                    </a:cxn>
                    <a:cxn ang="T7">
                      <a:pos x="T2" y="T3"/>
                    </a:cxn>
                    <a:cxn ang="T8">
                      <a:pos x="T4" y="T5"/>
                    </a:cxn>
                  </a:cxnLst>
                  <a:rect l="T9" t="T10" r="T11" b="T12"/>
                  <a:pathLst>
                    <a:path w="10" h="41">
                      <a:moveTo>
                        <a:pt x="0" y="40"/>
                      </a:moveTo>
                      <a:lnTo>
                        <a:pt x="0" y="40"/>
                      </a:lnTo>
                      <a:lnTo>
                        <a:pt x="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468" name="Line 316"/>
                <p:cNvSpPr>
                  <a:spLocks noChangeShapeType="1"/>
                </p:cNvSpPr>
                <p:nvPr/>
              </p:nvSpPr>
              <p:spPr bwMode="auto">
                <a:xfrm flipV="1">
                  <a:off x="5042" y="1198"/>
                  <a:ext cx="2" cy="48"/>
                </a:xfrm>
                <a:prstGeom prst="line">
                  <a:avLst/>
                </a:prstGeom>
                <a:noFill/>
                <a:ln w="12700">
                  <a:solidFill>
                    <a:srgbClr val="009900"/>
                  </a:solidFill>
                  <a:round/>
                  <a:headEnd/>
                  <a:tailEnd/>
                </a:ln>
              </p:spPr>
              <p:txBody>
                <a:bodyPr wrap="none" anchor="ctr"/>
                <a:lstStyle/>
                <a:p>
                  <a:endParaRPr lang="en-US"/>
                </a:p>
              </p:txBody>
            </p:sp>
            <p:sp>
              <p:nvSpPr>
                <p:cNvPr id="40469" name="Freeform 317"/>
                <p:cNvSpPr>
                  <a:spLocks/>
                </p:cNvSpPr>
                <p:nvPr/>
              </p:nvSpPr>
              <p:spPr bwMode="auto">
                <a:xfrm>
                  <a:off x="5346" y="1138"/>
                  <a:ext cx="118" cy="49"/>
                </a:xfrm>
                <a:custGeom>
                  <a:avLst/>
                  <a:gdLst>
                    <a:gd name="T0" fmla="*/ 0 w 118"/>
                    <a:gd name="T1" fmla="*/ 0 h 49"/>
                    <a:gd name="T2" fmla="*/ 54 w 118"/>
                    <a:gd name="T3" fmla="*/ 24 h 49"/>
                    <a:gd name="T4" fmla="*/ 117 w 118"/>
                    <a:gd name="T5" fmla="*/ 48 h 49"/>
                    <a:gd name="T6" fmla="*/ 0 60000 65536"/>
                    <a:gd name="T7" fmla="*/ 0 60000 65536"/>
                    <a:gd name="T8" fmla="*/ 0 60000 65536"/>
                    <a:gd name="T9" fmla="*/ 0 w 118"/>
                    <a:gd name="T10" fmla="*/ 0 h 49"/>
                    <a:gd name="T11" fmla="*/ 118 w 118"/>
                    <a:gd name="T12" fmla="*/ 49 h 49"/>
                  </a:gdLst>
                  <a:ahLst/>
                  <a:cxnLst>
                    <a:cxn ang="T6">
                      <a:pos x="T0" y="T1"/>
                    </a:cxn>
                    <a:cxn ang="T7">
                      <a:pos x="T2" y="T3"/>
                    </a:cxn>
                    <a:cxn ang="T8">
                      <a:pos x="T4" y="T5"/>
                    </a:cxn>
                  </a:cxnLst>
                  <a:rect l="T9" t="T10" r="T11" b="T12"/>
                  <a:pathLst>
                    <a:path w="118" h="49">
                      <a:moveTo>
                        <a:pt x="0" y="0"/>
                      </a:moveTo>
                      <a:lnTo>
                        <a:pt x="54" y="24"/>
                      </a:lnTo>
                      <a:lnTo>
                        <a:pt x="117" y="48"/>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470" name="Line 318"/>
                <p:cNvSpPr>
                  <a:spLocks noChangeShapeType="1"/>
                </p:cNvSpPr>
                <p:nvPr/>
              </p:nvSpPr>
              <p:spPr bwMode="auto">
                <a:xfrm>
                  <a:off x="5346" y="1150"/>
                  <a:ext cx="117" cy="48"/>
                </a:xfrm>
                <a:prstGeom prst="line">
                  <a:avLst/>
                </a:prstGeom>
                <a:noFill/>
                <a:ln w="12700">
                  <a:solidFill>
                    <a:srgbClr val="009900"/>
                  </a:solidFill>
                  <a:round/>
                  <a:headEnd/>
                  <a:tailEnd/>
                </a:ln>
              </p:spPr>
              <p:txBody>
                <a:bodyPr wrap="none" anchor="ctr"/>
                <a:lstStyle/>
                <a:p>
                  <a:endParaRPr lang="en-US"/>
                </a:p>
              </p:txBody>
            </p:sp>
            <p:sp>
              <p:nvSpPr>
                <p:cNvPr id="40471" name="Freeform 319"/>
                <p:cNvSpPr>
                  <a:spLocks/>
                </p:cNvSpPr>
                <p:nvPr/>
              </p:nvSpPr>
              <p:spPr bwMode="auto">
                <a:xfrm>
                  <a:off x="5481" y="1138"/>
                  <a:ext cx="127" cy="73"/>
                </a:xfrm>
                <a:custGeom>
                  <a:avLst/>
                  <a:gdLst>
                    <a:gd name="T0" fmla="*/ 0 w 127"/>
                    <a:gd name="T1" fmla="*/ 72 h 73"/>
                    <a:gd name="T2" fmla="*/ 18 w 127"/>
                    <a:gd name="T3" fmla="*/ 24 h 73"/>
                    <a:gd name="T4" fmla="*/ 126 w 127"/>
                    <a:gd name="T5" fmla="*/ 0 h 73"/>
                    <a:gd name="T6" fmla="*/ 0 60000 65536"/>
                    <a:gd name="T7" fmla="*/ 0 60000 65536"/>
                    <a:gd name="T8" fmla="*/ 0 60000 65536"/>
                    <a:gd name="T9" fmla="*/ 0 w 127"/>
                    <a:gd name="T10" fmla="*/ 0 h 73"/>
                    <a:gd name="T11" fmla="*/ 127 w 127"/>
                    <a:gd name="T12" fmla="*/ 73 h 73"/>
                  </a:gdLst>
                  <a:ahLst/>
                  <a:cxnLst>
                    <a:cxn ang="T6">
                      <a:pos x="T0" y="T1"/>
                    </a:cxn>
                    <a:cxn ang="T7">
                      <a:pos x="T2" y="T3"/>
                    </a:cxn>
                    <a:cxn ang="T8">
                      <a:pos x="T4" y="T5"/>
                    </a:cxn>
                  </a:cxnLst>
                  <a:rect l="T9" t="T10" r="T11" b="T12"/>
                  <a:pathLst>
                    <a:path w="127" h="73">
                      <a:moveTo>
                        <a:pt x="0" y="72"/>
                      </a:moveTo>
                      <a:lnTo>
                        <a:pt x="18" y="24"/>
                      </a:lnTo>
                      <a:lnTo>
                        <a:pt x="126"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472" name="Freeform 320"/>
                <p:cNvSpPr>
                  <a:spLocks/>
                </p:cNvSpPr>
                <p:nvPr/>
              </p:nvSpPr>
              <p:spPr bwMode="auto">
                <a:xfrm>
                  <a:off x="5495" y="1148"/>
                  <a:ext cx="127" cy="73"/>
                </a:xfrm>
                <a:custGeom>
                  <a:avLst/>
                  <a:gdLst>
                    <a:gd name="T0" fmla="*/ 0 w 127"/>
                    <a:gd name="T1" fmla="*/ 72 h 73"/>
                    <a:gd name="T2" fmla="*/ 36 w 127"/>
                    <a:gd name="T3" fmla="*/ 24 h 73"/>
                    <a:gd name="T4" fmla="*/ 126 w 127"/>
                    <a:gd name="T5" fmla="*/ 0 h 73"/>
                    <a:gd name="T6" fmla="*/ 0 60000 65536"/>
                    <a:gd name="T7" fmla="*/ 0 60000 65536"/>
                    <a:gd name="T8" fmla="*/ 0 60000 65536"/>
                    <a:gd name="T9" fmla="*/ 0 w 127"/>
                    <a:gd name="T10" fmla="*/ 0 h 73"/>
                    <a:gd name="T11" fmla="*/ 127 w 127"/>
                    <a:gd name="T12" fmla="*/ 73 h 73"/>
                  </a:gdLst>
                  <a:ahLst/>
                  <a:cxnLst>
                    <a:cxn ang="T6">
                      <a:pos x="T0" y="T1"/>
                    </a:cxn>
                    <a:cxn ang="T7">
                      <a:pos x="T2" y="T3"/>
                    </a:cxn>
                    <a:cxn ang="T8">
                      <a:pos x="T4" y="T5"/>
                    </a:cxn>
                  </a:cxnLst>
                  <a:rect l="T9" t="T10" r="T11" b="T12"/>
                  <a:pathLst>
                    <a:path w="127" h="73">
                      <a:moveTo>
                        <a:pt x="0" y="72"/>
                      </a:moveTo>
                      <a:lnTo>
                        <a:pt x="36" y="24"/>
                      </a:lnTo>
                      <a:lnTo>
                        <a:pt x="126" y="0"/>
                      </a:lnTo>
                    </a:path>
                  </a:pathLst>
                </a:custGeom>
                <a:noFill/>
                <a:ln w="12700" cap="rnd" cmpd="sng">
                  <a:solidFill>
                    <a:srgbClr val="009900"/>
                  </a:solidFill>
                  <a:prstDash val="solid"/>
                  <a:round/>
                  <a:headEnd type="none" w="med" len="med"/>
                  <a:tailEnd type="none" w="med" len="med"/>
                </a:ln>
              </p:spPr>
              <p:txBody>
                <a:bodyPr/>
                <a:lstStyle/>
                <a:p>
                  <a:endParaRPr lang="en-US"/>
                </a:p>
              </p:txBody>
            </p:sp>
          </p:grpSp>
          <p:grpSp>
            <p:nvGrpSpPr>
              <p:cNvPr id="40322" name="Group 321"/>
              <p:cNvGrpSpPr>
                <a:grpSpLocks/>
              </p:cNvGrpSpPr>
              <p:nvPr/>
            </p:nvGrpSpPr>
            <p:grpSpPr bwMode="auto">
              <a:xfrm>
                <a:off x="5029" y="1336"/>
                <a:ext cx="637" cy="308"/>
                <a:chOff x="5029" y="1336"/>
                <a:chExt cx="637" cy="308"/>
              </a:xfrm>
            </p:grpSpPr>
            <p:sp>
              <p:nvSpPr>
                <p:cNvPr id="40327" name="Oval 322"/>
                <p:cNvSpPr>
                  <a:spLocks noChangeArrowheads="1"/>
                </p:cNvSpPr>
                <p:nvPr/>
              </p:nvSpPr>
              <p:spPr bwMode="auto">
                <a:xfrm>
                  <a:off x="5296" y="1556"/>
                  <a:ext cx="46" cy="64"/>
                </a:xfrm>
                <a:prstGeom prst="ellipse">
                  <a:avLst/>
                </a:prstGeom>
                <a:solidFill>
                  <a:srgbClr val="FFFFFF"/>
                </a:solidFill>
                <a:ln w="12700">
                  <a:solidFill>
                    <a:srgbClr val="000000"/>
                  </a:solidFill>
                  <a:round/>
                  <a:headEnd/>
                  <a:tailEnd/>
                </a:ln>
              </p:spPr>
              <p:txBody>
                <a:bodyPr wrap="none" anchor="ctr"/>
                <a:lstStyle/>
                <a:p>
                  <a:endParaRPr lang="en-NZ">
                    <a:latin typeface="Calibri" pitchFamily="34" charset="0"/>
                  </a:endParaRPr>
                </a:p>
              </p:txBody>
            </p:sp>
            <p:sp>
              <p:nvSpPr>
                <p:cNvPr id="40328" name="Oval 323"/>
                <p:cNvSpPr>
                  <a:spLocks noChangeArrowheads="1"/>
                </p:cNvSpPr>
                <p:nvPr/>
              </p:nvSpPr>
              <p:spPr bwMode="auto">
                <a:xfrm>
                  <a:off x="5386" y="1548"/>
                  <a:ext cx="46" cy="64"/>
                </a:xfrm>
                <a:prstGeom prst="ellipse">
                  <a:avLst/>
                </a:prstGeom>
                <a:solidFill>
                  <a:srgbClr val="FFFFFF"/>
                </a:solidFill>
                <a:ln w="12700">
                  <a:solidFill>
                    <a:srgbClr val="000000"/>
                  </a:solidFill>
                  <a:round/>
                  <a:headEnd/>
                  <a:tailEnd/>
                </a:ln>
              </p:spPr>
              <p:txBody>
                <a:bodyPr wrap="none" anchor="ctr"/>
                <a:lstStyle/>
                <a:p>
                  <a:endParaRPr lang="en-NZ">
                    <a:latin typeface="Calibri" pitchFamily="34" charset="0"/>
                  </a:endParaRPr>
                </a:p>
              </p:txBody>
            </p:sp>
            <p:sp>
              <p:nvSpPr>
                <p:cNvPr id="40329" name="Oval 324"/>
                <p:cNvSpPr>
                  <a:spLocks noChangeArrowheads="1"/>
                </p:cNvSpPr>
                <p:nvPr/>
              </p:nvSpPr>
              <p:spPr bwMode="auto">
                <a:xfrm>
                  <a:off x="5107" y="1548"/>
                  <a:ext cx="100" cy="48"/>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40330" name="Oval 325"/>
                <p:cNvSpPr>
                  <a:spLocks noChangeArrowheads="1"/>
                </p:cNvSpPr>
                <p:nvPr/>
              </p:nvSpPr>
              <p:spPr bwMode="auto">
                <a:xfrm>
                  <a:off x="5224" y="1532"/>
                  <a:ext cx="46" cy="64"/>
                </a:xfrm>
                <a:prstGeom prst="ellipse">
                  <a:avLst/>
                </a:prstGeom>
                <a:solidFill>
                  <a:srgbClr val="FFFFFF"/>
                </a:solidFill>
                <a:ln w="12700">
                  <a:solidFill>
                    <a:srgbClr val="000000"/>
                  </a:solidFill>
                  <a:round/>
                  <a:headEnd/>
                  <a:tailEnd/>
                </a:ln>
              </p:spPr>
              <p:txBody>
                <a:bodyPr wrap="none" anchor="ctr"/>
                <a:lstStyle/>
                <a:p>
                  <a:endParaRPr lang="en-NZ">
                    <a:latin typeface="Calibri" pitchFamily="34" charset="0"/>
                  </a:endParaRPr>
                </a:p>
              </p:txBody>
            </p:sp>
            <p:sp>
              <p:nvSpPr>
                <p:cNvPr id="40331" name="Oval 326"/>
                <p:cNvSpPr>
                  <a:spLocks noChangeArrowheads="1"/>
                </p:cNvSpPr>
                <p:nvPr/>
              </p:nvSpPr>
              <p:spPr bwMode="auto">
                <a:xfrm>
                  <a:off x="5251" y="1572"/>
                  <a:ext cx="82" cy="40"/>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40332" name="Oval 327"/>
                <p:cNvSpPr>
                  <a:spLocks noChangeArrowheads="1"/>
                </p:cNvSpPr>
                <p:nvPr/>
              </p:nvSpPr>
              <p:spPr bwMode="auto">
                <a:xfrm>
                  <a:off x="5386" y="1596"/>
                  <a:ext cx="100" cy="48"/>
                </a:xfrm>
                <a:prstGeom prst="ellipse">
                  <a:avLst/>
                </a:prstGeom>
                <a:solidFill>
                  <a:srgbClr val="FE910B"/>
                </a:solidFill>
                <a:ln w="12700">
                  <a:solidFill>
                    <a:schemeClr val="bg2"/>
                  </a:solidFill>
                  <a:round/>
                  <a:headEnd/>
                  <a:tailEnd/>
                </a:ln>
              </p:spPr>
              <p:txBody>
                <a:bodyPr wrap="none" anchor="ctr"/>
                <a:lstStyle/>
                <a:p>
                  <a:endParaRPr lang="en-NZ">
                    <a:latin typeface="Calibri" pitchFamily="34" charset="0"/>
                  </a:endParaRPr>
                </a:p>
              </p:txBody>
            </p:sp>
            <p:sp>
              <p:nvSpPr>
                <p:cNvPr id="40333" name="Oval 328"/>
                <p:cNvSpPr>
                  <a:spLocks noChangeArrowheads="1"/>
                </p:cNvSpPr>
                <p:nvPr/>
              </p:nvSpPr>
              <p:spPr bwMode="auto">
                <a:xfrm>
                  <a:off x="5476" y="1580"/>
                  <a:ext cx="100" cy="48"/>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40334" name="Oval 329"/>
                <p:cNvSpPr>
                  <a:spLocks noChangeArrowheads="1"/>
                </p:cNvSpPr>
                <p:nvPr/>
              </p:nvSpPr>
              <p:spPr bwMode="auto">
                <a:xfrm>
                  <a:off x="5449" y="1548"/>
                  <a:ext cx="46" cy="64"/>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40335" name="Oval 330"/>
                <p:cNvSpPr>
                  <a:spLocks noChangeArrowheads="1"/>
                </p:cNvSpPr>
                <p:nvPr/>
              </p:nvSpPr>
              <p:spPr bwMode="auto">
                <a:xfrm>
                  <a:off x="5566" y="1516"/>
                  <a:ext cx="46" cy="65"/>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40336" name="Oval 331"/>
                <p:cNvSpPr>
                  <a:spLocks noChangeArrowheads="1"/>
                </p:cNvSpPr>
                <p:nvPr/>
              </p:nvSpPr>
              <p:spPr bwMode="auto">
                <a:xfrm>
                  <a:off x="5152" y="1580"/>
                  <a:ext cx="100" cy="48"/>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40337" name="Oval 332"/>
                <p:cNvSpPr>
                  <a:spLocks noChangeArrowheads="1"/>
                </p:cNvSpPr>
                <p:nvPr/>
              </p:nvSpPr>
              <p:spPr bwMode="auto">
                <a:xfrm>
                  <a:off x="5291" y="1574"/>
                  <a:ext cx="92" cy="39"/>
                </a:xfrm>
                <a:prstGeom prst="ellipse">
                  <a:avLst/>
                </a:prstGeom>
                <a:solidFill>
                  <a:srgbClr val="FE910B"/>
                </a:solidFill>
                <a:ln w="25400">
                  <a:solidFill>
                    <a:srgbClr val="000000"/>
                  </a:solidFill>
                  <a:round/>
                  <a:headEnd/>
                  <a:tailEnd/>
                </a:ln>
              </p:spPr>
              <p:txBody>
                <a:bodyPr wrap="none" anchor="ctr"/>
                <a:lstStyle/>
                <a:p>
                  <a:endParaRPr lang="en-NZ">
                    <a:latin typeface="Calibri" pitchFamily="34" charset="0"/>
                  </a:endParaRPr>
                </a:p>
              </p:txBody>
            </p:sp>
            <p:sp>
              <p:nvSpPr>
                <p:cNvPr id="40338" name="Oval 333"/>
                <p:cNvSpPr>
                  <a:spLocks noChangeArrowheads="1"/>
                </p:cNvSpPr>
                <p:nvPr/>
              </p:nvSpPr>
              <p:spPr bwMode="auto">
                <a:xfrm>
                  <a:off x="5251" y="1524"/>
                  <a:ext cx="46" cy="64"/>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40339" name="Oval 334"/>
                <p:cNvSpPr>
                  <a:spLocks noChangeArrowheads="1"/>
                </p:cNvSpPr>
                <p:nvPr/>
              </p:nvSpPr>
              <p:spPr bwMode="auto">
                <a:xfrm>
                  <a:off x="5341" y="1516"/>
                  <a:ext cx="46" cy="65"/>
                </a:xfrm>
                <a:prstGeom prst="ellipse">
                  <a:avLst/>
                </a:prstGeom>
                <a:solidFill>
                  <a:srgbClr val="666666"/>
                </a:solidFill>
                <a:ln w="12700">
                  <a:solidFill>
                    <a:srgbClr val="000000"/>
                  </a:solidFill>
                  <a:round/>
                  <a:headEnd/>
                  <a:tailEnd/>
                </a:ln>
              </p:spPr>
              <p:txBody>
                <a:bodyPr wrap="none" anchor="ctr"/>
                <a:lstStyle/>
                <a:p>
                  <a:endParaRPr lang="en-NZ">
                    <a:latin typeface="Calibri" pitchFamily="34" charset="0"/>
                  </a:endParaRPr>
                </a:p>
              </p:txBody>
            </p:sp>
            <p:sp>
              <p:nvSpPr>
                <p:cNvPr id="40340" name="Oval 335"/>
                <p:cNvSpPr>
                  <a:spLocks noChangeArrowheads="1"/>
                </p:cNvSpPr>
                <p:nvPr/>
              </p:nvSpPr>
              <p:spPr bwMode="auto">
                <a:xfrm>
                  <a:off x="5368" y="1556"/>
                  <a:ext cx="82" cy="40"/>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40341" name="Oval 336"/>
                <p:cNvSpPr>
                  <a:spLocks noChangeArrowheads="1"/>
                </p:cNvSpPr>
                <p:nvPr/>
              </p:nvSpPr>
              <p:spPr bwMode="auto">
                <a:xfrm>
                  <a:off x="5296" y="1516"/>
                  <a:ext cx="100" cy="48"/>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40342" name="Oval 337"/>
                <p:cNvSpPr>
                  <a:spLocks noChangeArrowheads="1"/>
                </p:cNvSpPr>
                <p:nvPr/>
              </p:nvSpPr>
              <p:spPr bwMode="auto">
                <a:xfrm>
                  <a:off x="5377" y="1508"/>
                  <a:ext cx="100" cy="48"/>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40343" name="Oval 338"/>
                <p:cNvSpPr>
                  <a:spLocks noChangeArrowheads="1"/>
                </p:cNvSpPr>
                <p:nvPr/>
              </p:nvSpPr>
              <p:spPr bwMode="auto">
                <a:xfrm>
                  <a:off x="5359" y="1475"/>
                  <a:ext cx="46" cy="65"/>
                </a:xfrm>
                <a:prstGeom prst="ellipse">
                  <a:avLst/>
                </a:prstGeom>
                <a:solidFill>
                  <a:srgbClr val="FFFFFF"/>
                </a:solidFill>
                <a:ln w="12700">
                  <a:solidFill>
                    <a:srgbClr val="000000"/>
                  </a:solidFill>
                  <a:round/>
                  <a:headEnd/>
                  <a:tailEnd/>
                </a:ln>
              </p:spPr>
              <p:txBody>
                <a:bodyPr wrap="none" anchor="ctr"/>
                <a:lstStyle/>
                <a:p>
                  <a:endParaRPr lang="en-NZ">
                    <a:latin typeface="Calibri" pitchFamily="34" charset="0"/>
                  </a:endParaRPr>
                </a:p>
              </p:txBody>
            </p:sp>
            <p:sp>
              <p:nvSpPr>
                <p:cNvPr id="40344" name="Oval 339"/>
                <p:cNvSpPr>
                  <a:spLocks noChangeArrowheads="1"/>
                </p:cNvSpPr>
                <p:nvPr/>
              </p:nvSpPr>
              <p:spPr bwMode="auto">
                <a:xfrm>
                  <a:off x="5458" y="1475"/>
                  <a:ext cx="46" cy="65"/>
                </a:xfrm>
                <a:prstGeom prst="ellipse">
                  <a:avLst/>
                </a:prstGeom>
                <a:solidFill>
                  <a:srgbClr val="FFFFFF"/>
                </a:solidFill>
                <a:ln w="12700">
                  <a:solidFill>
                    <a:srgbClr val="000000"/>
                  </a:solidFill>
                  <a:round/>
                  <a:headEnd/>
                  <a:tailEnd/>
                </a:ln>
              </p:spPr>
              <p:txBody>
                <a:bodyPr wrap="none" anchor="ctr"/>
                <a:lstStyle/>
                <a:p>
                  <a:endParaRPr lang="en-NZ">
                    <a:latin typeface="Calibri" pitchFamily="34" charset="0"/>
                  </a:endParaRPr>
                </a:p>
              </p:txBody>
            </p:sp>
            <p:sp>
              <p:nvSpPr>
                <p:cNvPr id="40345" name="Oval 340"/>
                <p:cNvSpPr>
                  <a:spLocks noChangeArrowheads="1"/>
                </p:cNvSpPr>
                <p:nvPr/>
              </p:nvSpPr>
              <p:spPr bwMode="auto">
                <a:xfrm>
                  <a:off x="5494" y="1524"/>
                  <a:ext cx="82" cy="40"/>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40346" name="Oval 341"/>
                <p:cNvSpPr>
                  <a:spLocks noChangeArrowheads="1"/>
                </p:cNvSpPr>
                <p:nvPr/>
              </p:nvSpPr>
              <p:spPr bwMode="auto">
                <a:xfrm>
                  <a:off x="5215" y="1580"/>
                  <a:ext cx="46" cy="64"/>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40347" name="Oval 342"/>
                <p:cNvSpPr>
                  <a:spLocks noChangeArrowheads="1"/>
                </p:cNvSpPr>
                <p:nvPr/>
              </p:nvSpPr>
              <p:spPr bwMode="auto">
                <a:xfrm>
                  <a:off x="5152" y="1516"/>
                  <a:ext cx="100" cy="48"/>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40348" name="Oval 343"/>
                <p:cNvSpPr>
                  <a:spLocks noChangeArrowheads="1"/>
                </p:cNvSpPr>
                <p:nvPr/>
              </p:nvSpPr>
              <p:spPr bwMode="auto">
                <a:xfrm>
                  <a:off x="5215" y="1532"/>
                  <a:ext cx="100" cy="49"/>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40349" name="Oval 344"/>
                <p:cNvSpPr>
                  <a:spLocks noChangeArrowheads="1"/>
                </p:cNvSpPr>
                <p:nvPr/>
              </p:nvSpPr>
              <p:spPr bwMode="auto">
                <a:xfrm>
                  <a:off x="5215" y="1475"/>
                  <a:ext cx="46" cy="65"/>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40350" name="Oval 345"/>
                <p:cNvSpPr>
                  <a:spLocks noChangeArrowheads="1"/>
                </p:cNvSpPr>
                <p:nvPr/>
              </p:nvSpPr>
              <p:spPr bwMode="auto">
                <a:xfrm>
                  <a:off x="5305" y="1475"/>
                  <a:ext cx="46" cy="65"/>
                </a:xfrm>
                <a:prstGeom prst="ellipse">
                  <a:avLst/>
                </a:prstGeom>
                <a:solidFill>
                  <a:srgbClr val="FFFFFF"/>
                </a:solidFill>
                <a:ln w="12700">
                  <a:solidFill>
                    <a:srgbClr val="000000"/>
                  </a:solidFill>
                  <a:round/>
                  <a:headEnd/>
                  <a:tailEnd/>
                </a:ln>
              </p:spPr>
              <p:txBody>
                <a:bodyPr wrap="none" anchor="ctr"/>
                <a:lstStyle/>
                <a:p>
                  <a:endParaRPr lang="en-NZ">
                    <a:latin typeface="Calibri" pitchFamily="34" charset="0"/>
                  </a:endParaRPr>
                </a:p>
              </p:txBody>
            </p:sp>
            <p:sp>
              <p:nvSpPr>
                <p:cNvPr id="40351" name="Oval 346"/>
                <p:cNvSpPr>
                  <a:spLocks noChangeArrowheads="1"/>
                </p:cNvSpPr>
                <p:nvPr/>
              </p:nvSpPr>
              <p:spPr bwMode="auto">
                <a:xfrm>
                  <a:off x="5316" y="1504"/>
                  <a:ext cx="82" cy="40"/>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40352" name="Oval 347"/>
                <p:cNvSpPr>
                  <a:spLocks noChangeArrowheads="1"/>
                </p:cNvSpPr>
                <p:nvPr/>
              </p:nvSpPr>
              <p:spPr bwMode="auto">
                <a:xfrm>
                  <a:off x="5377" y="1460"/>
                  <a:ext cx="46" cy="64"/>
                </a:xfrm>
                <a:prstGeom prst="ellipse">
                  <a:avLst/>
                </a:prstGeom>
                <a:solidFill>
                  <a:srgbClr val="FFFFFF"/>
                </a:solidFill>
                <a:ln w="12700">
                  <a:solidFill>
                    <a:srgbClr val="000000"/>
                  </a:solidFill>
                  <a:round/>
                  <a:headEnd/>
                  <a:tailEnd/>
                </a:ln>
              </p:spPr>
              <p:txBody>
                <a:bodyPr wrap="none" anchor="ctr"/>
                <a:lstStyle/>
                <a:p>
                  <a:endParaRPr lang="en-NZ">
                    <a:latin typeface="Calibri" pitchFamily="34" charset="0"/>
                  </a:endParaRPr>
                </a:p>
              </p:txBody>
            </p:sp>
            <p:sp>
              <p:nvSpPr>
                <p:cNvPr id="40353" name="Oval 348"/>
                <p:cNvSpPr>
                  <a:spLocks noChangeArrowheads="1"/>
                </p:cNvSpPr>
                <p:nvPr/>
              </p:nvSpPr>
              <p:spPr bwMode="auto">
                <a:xfrm>
                  <a:off x="5476" y="1460"/>
                  <a:ext cx="46" cy="64"/>
                </a:xfrm>
                <a:prstGeom prst="ellipse">
                  <a:avLst/>
                </a:prstGeom>
                <a:solidFill>
                  <a:srgbClr val="FFFFFF"/>
                </a:solidFill>
                <a:ln w="12700">
                  <a:solidFill>
                    <a:srgbClr val="000000"/>
                  </a:solidFill>
                  <a:round/>
                  <a:headEnd/>
                  <a:tailEnd/>
                </a:ln>
              </p:spPr>
              <p:txBody>
                <a:bodyPr wrap="none" anchor="ctr"/>
                <a:lstStyle/>
                <a:p>
                  <a:endParaRPr lang="en-NZ">
                    <a:latin typeface="Calibri" pitchFamily="34" charset="0"/>
                  </a:endParaRPr>
                </a:p>
              </p:txBody>
            </p:sp>
            <p:sp>
              <p:nvSpPr>
                <p:cNvPr id="40354" name="Oval 349"/>
                <p:cNvSpPr>
                  <a:spLocks noChangeArrowheads="1"/>
                </p:cNvSpPr>
                <p:nvPr/>
              </p:nvSpPr>
              <p:spPr bwMode="auto">
                <a:xfrm>
                  <a:off x="5233" y="1468"/>
                  <a:ext cx="100" cy="48"/>
                </a:xfrm>
                <a:prstGeom prst="ellipse">
                  <a:avLst/>
                </a:prstGeom>
                <a:solidFill>
                  <a:srgbClr val="FFFFFF"/>
                </a:solidFill>
                <a:ln w="12700">
                  <a:solidFill>
                    <a:srgbClr val="000000"/>
                  </a:solidFill>
                  <a:round/>
                  <a:headEnd/>
                  <a:tailEnd/>
                </a:ln>
              </p:spPr>
              <p:txBody>
                <a:bodyPr wrap="none" anchor="ctr"/>
                <a:lstStyle/>
                <a:p>
                  <a:endParaRPr lang="en-NZ">
                    <a:latin typeface="Calibri" pitchFamily="34" charset="0"/>
                  </a:endParaRPr>
                </a:p>
              </p:txBody>
            </p:sp>
            <p:sp>
              <p:nvSpPr>
                <p:cNvPr id="40355" name="Oval 350"/>
                <p:cNvSpPr>
                  <a:spLocks noChangeArrowheads="1"/>
                </p:cNvSpPr>
                <p:nvPr/>
              </p:nvSpPr>
              <p:spPr bwMode="auto">
                <a:xfrm>
                  <a:off x="5305" y="1436"/>
                  <a:ext cx="46" cy="64"/>
                </a:xfrm>
                <a:prstGeom prst="ellipse">
                  <a:avLst/>
                </a:prstGeom>
                <a:solidFill>
                  <a:srgbClr val="FFFFFF"/>
                </a:solidFill>
                <a:ln w="12700">
                  <a:solidFill>
                    <a:srgbClr val="000000"/>
                  </a:solidFill>
                  <a:round/>
                  <a:headEnd/>
                  <a:tailEnd/>
                </a:ln>
              </p:spPr>
              <p:txBody>
                <a:bodyPr wrap="none" anchor="ctr"/>
                <a:lstStyle/>
                <a:p>
                  <a:endParaRPr lang="en-NZ">
                    <a:latin typeface="Calibri" pitchFamily="34" charset="0"/>
                  </a:endParaRPr>
                </a:p>
              </p:txBody>
            </p:sp>
            <p:sp>
              <p:nvSpPr>
                <p:cNvPr id="40356" name="Oval 351"/>
                <p:cNvSpPr>
                  <a:spLocks noChangeArrowheads="1"/>
                </p:cNvSpPr>
                <p:nvPr/>
              </p:nvSpPr>
              <p:spPr bwMode="auto">
                <a:xfrm>
                  <a:off x="5332" y="1475"/>
                  <a:ext cx="82" cy="41"/>
                </a:xfrm>
                <a:prstGeom prst="ellipse">
                  <a:avLst/>
                </a:prstGeom>
                <a:solidFill>
                  <a:srgbClr val="FFFFFF"/>
                </a:solidFill>
                <a:ln w="12700">
                  <a:solidFill>
                    <a:srgbClr val="000000"/>
                  </a:solidFill>
                  <a:round/>
                  <a:headEnd/>
                  <a:tailEnd/>
                </a:ln>
              </p:spPr>
              <p:txBody>
                <a:bodyPr wrap="none" anchor="ctr"/>
                <a:lstStyle/>
                <a:p>
                  <a:endParaRPr lang="en-NZ">
                    <a:latin typeface="Calibri" pitchFamily="34" charset="0"/>
                  </a:endParaRPr>
                </a:p>
              </p:txBody>
            </p:sp>
            <p:sp>
              <p:nvSpPr>
                <p:cNvPr id="40357" name="Oval 352"/>
                <p:cNvSpPr>
                  <a:spLocks noChangeArrowheads="1"/>
                </p:cNvSpPr>
                <p:nvPr/>
              </p:nvSpPr>
              <p:spPr bwMode="auto">
                <a:xfrm>
                  <a:off x="5454" y="1490"/>
                  <a:ext cx="99" cy="48"/>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40358" name="Oval 353"/>
                <p:cNvSpPr>
                  <a:spLocks noChangeArrowheads="1"/>
                </p:cNvSpPr>
                <p:nvPr/>
              </p:nvSpPr>
              <p:spPr bwMode="auto">
                <a:xfrm>
                  <a:off x="5548" y="1484"/>
                  <a:ext cx="100" cy="48"/>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40359" name="Oval 354"/>
                <p:cNvSpPr>
                  <a:spLocks noChangeArrowheads="1"/>
                </p:cNvSpPr>
                <p:nvPr/>
              </p:nvSpPr>
              <p:spPr bwMode="auto">
                <a:xfrm>
                  <a:off x="5530" y="1452"/>
                  <a:ext cx="46" cy="64"/>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40360" name="Oval 355"/>
                <p:cNvSpPr>
                  <a:spLocks noChangeArrowheads="1"/>
                </p:cNvSpPr>
                <p:nvPr/>
              </p:nvSpPr>
              <p:spPr bwMode="auto">
                <a:xfrm>
                  <a:off x="5620" y="1452"/>
                  <a:ext cx="46" cy="64"/>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40361" name="Oval 356"/>
                <p:cNvSpPr>
                  <a:spLocks noChangeArrowheads="1"/>
                </p:cNvSpPr>
                <p:nvPr/>
              </p:nvSpPr>
              <p:spPr bwMode="auto">
                <a:xfrm>
                  <a:off x="5269" y="1460"/>
                  <a:ext cx="100" cy="48"/>
                </a:xfrm>
                <a:prstGeom prst="ellipse">
                  <a:avLst/>
                </a:prstGeom>
                <a:solidFill>
                  <a:srgbClr val="FFFFFF"/>
                </a:solidFill>
                <a:ln w="12700">
                  <a:solidFill>
                    <a:srgbClr val="000000"/>
                  </a:solidFill>
                  <a:round/>
                  <a:headEnd/>
                  <a:tailEnd/>
                </a:ln>
              </p:spPr>
              <p:txBody>
                <a:bodyPr wrap="none" anchor="ctr"/>
                <a:lstStyle/>
                <a:p>
                  <a:endParaRPr lang="en-NZ">
                    <a:latin typeface="Calibri" pitchFamily="34" charset="0"/>
                  </a:endParaRPr>
                </a:p>
              </p:txBody>
            </p:sp>
            <p:sp>
              <p:nvSpPr>
                <p:cNvPr id="40362" name="Oval 357"/>
                <p:cNvSpPr>
                  <a:spLocks noChangeArrowheads="1"/>
                </p:cNvSpPr>
                <p:nvPr/>
              </p:nvSpPr>
              <p:spPr bwMode="auto">
                <a:xfrm>
                  <a:off x="5336" y="1472"/>
                  <a:ext cx="101" cy="48"/>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40363" name="Oval 358"/>
                <p:cNvSpPr>
                  <a:spLocks noChangeArrowheads="1"/>
                </p:cNvSpPr>
                <p:nvPr/>
              </p:nvSpPr>
              <p:spPr bwMode="auto">
                <a:xfrm>
                  <a:off x="5332" y="1428"/>
                  <a:ext cx="46" cy="64"/>
                </a:xfrm>
                <a:prstGeom prst="ellipse">
                  <a:avLst/>
                </a:prstGeom>
                <a:solidFill>
                  <a:srgbClr val="FFFFFF"/>
                </a:solidFill>
                <a:ln w="12700">
                  <a:solidFill>
                    <a:srgbClr val="000000"/>
                  </a:solidFill>
                  <a:round/>
                  <a:headEnd/>
                  <a:tailEnd/>
                </a:ln>
              </p:spPr>
              <p:txBody>
                <a:bodyPr wrap="none" anchor="ctr"/>
                <a:lstStyle/>
                <a:p>
                  <a:endParaRPr lang="en-NZ">
                    <a:latin typeface="Calibri" pitchFamily="34" charset="0"/>
                  </a:endParaRPr>
                </a:p>
              </p:txBody>
            </p:sp>
            <p:sp>
              <p:nvSpPr>
                <p:cNvPr id="40364" name="Oval 359"/>
                <p:cNvSpPr>
                  <a:spLocks noChangeArrowheads="1"/>
                </p:cNvSpPr>
                <p:nvPr/>
              </p:nvSpPr>
              <p:spPr bwMode="auto">
                <a:xfrm>
                  <a:off x="5431" y="1428"/>
                  <a:ext cx="46" cy="64"/>
                </a:xfrm>
                <a:prstGeom prst="ellipse">
                  <a:avLst/>
                </a:prstGeom>
                <a:solidFill>
                  <a:srgbClr val="666666"/>
                </a:solidFill>
                <a:ln w="12700">
                  <a:solidFill>
                    <a:srgbClr val="000000"/>
                  </a:solidFill>
                  <a:round/>
                  <a:headEnd/>
                  <a:tailEnd/>
                </a:ln>
              </p:spPr>
              <p:txBody>
                <a:bodyPr wrap="none" anchor="ctr"/>
                <a:lstStyle/>
                <a:p>
                  <a:endParaRPr lang="en-NZ">
                    <a:latin typeface="Calibri" pitchFamily="34" charset="0"/>
                  </a:endParaRPr>
                </a:p>
              </p:txBody>
            </p:sp>
            <p:sp>
              <p:nvSpPr>
                <p:cNvPr id="40365" name="Oval 360"/>
                <p:cNvSpPr>
                  <a:spLocks noChangeArrowheads="1"/>
                </p:cNvSpPr>
                <p:nvPr/>
              </p:nvSpPr>
              <p:spPr bwMode="auto">
                <a:xfrm>
                  <a:off x="5443" y="1460"/>
                  <a:ext cx="82" cy="40"/>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40366" name="Oval 361"/>
                <p:cNvSpPr>
                  <a:spLocks noChangeArrowheads="1"/>
                </p:cNvSpPr>
                <p:nvPr/>
              </p:nvSpPr>
              <p:spPr bwMode="auto">
                <a:xfrm>
                  <a:off x="5377" y="1420"/>
                  <a:ext cx="100" cy="47"/>
                </a:xfrm>
                <a:prstGeom prst="ellipse">
                  <a:avLst/>
                </a:prstGeom>
                <a:solidFill>
                  <a:srgbClr val="FFFFFF"/>
                </a:solidFill>
                <a:ln w="12700">
                  <a:solidFill>
                    <a:srgbClr val="000000"/>
                  </a:solidFill>
                  <a:round/>
                  <a:headEnd/>
                  <a:tailEnd/>
                </a:ln>
              </p:spPr>
              <p:txBody>
                <a:bodyPr wrap="none" anchor="ctr"/>
                <a:lstStyle/>
                <a:p>
                  <a:endParaRPr lang="en-NZ">
                    <a:latin typeface="Calibri" pitchFamily="34" charset="0"/>
                  </a:endParaRPr>
                </a:p>
              </p:txBody>
            </p:sp>
            <p:sp>
              <p:nvSpPr>
                <p:cNvPr id="40367" name="Oval 362"/>
                <p:cNvSpPr>
                  <a:spLocks noChangeArrowheads="1"/>
                </p:cNvSpPr>
                <p:nvPr/>
              </p:nvSpPr>
              <p:spPr bwMode="auto">
                <a:xfrm>
                  <a:off x="5467" y="1420"/>
                  <a:ext cx="100" cy="47"/>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40368" name="Oval 363"/>
                <p:cNvSpPr>
                  <a:spLocks noChangeArrowheads="1"/>
                </p:cNvSpPr>
                <p:nvPr/>
              </p:nvSpPr>
              <p:spPr bwMode="auto">
                <a:xfrm>
                  <a:off x="5449" y="1388"/>
                  <a:ext cx="46" cy="64"/>
                </a:xfrm>
                <a:prstGeom prst="ellipse">
                  <a:avLst/>
                </a:prstGeom>
                <a:solidFill>
                  <a:srgbClr val="FFFFFF"/>
                </a:solidFill>
                <a:ln w="12700">
                  <a:solidFill>
                    <a:srgbClr val="000000"/>
                  </a:solidFill>
                  <a:round/>
                  <a:headEnd/>
                  <a:tailEnd/>
                </a:ln>
              </p:spPr>
              <p:txBody>
                <a:bodyPr wrap="none" anchor="ctr"/>
                <a:lstStyle/>
                <a:p>
                  <a:endParaRPr lang="en-NZ">
                    <a:latin typeface="Calibri" pitchFamily="34" charset="0"/>
                  </a:endParaRPr>
                </a:p>
              </p:txBody>
            </p:sp>
            <p:sp>
              <p:nvSpPr>
                <p:cNvPr id="40369" name="Oval 364"/>
                <p:cNvSpPr>
                  <a:spLocks noChangeArrowheads="1"/>
                </p:cNvSpPr>
                <p:nvPr/>
              </p:nvSpPr>
              <p:spPr bwMode="auto">
                <a:xfrm>
                  <a:off x="5539" y="1380"/>
                  <a:ext cx="46" cy="64"/>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40370" name="Oval 365"/>
                <p:cNvSpPr>
                  <a:spLocks noChangeArrowheads="1"/>
                </p:cNvSpPr>
                <p:nvPr/>
              </p:nvSpPr>
              <p:spPr bwMode="auto">
                <a:xfrm>
                  <a:off x="5566" y="1420"/>
                  <a:ext cx="82" cy="40"/>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40371" name="Oval 366"/>
                <p:cNvSpPr>
                  <a:spLocks noChangeArrowheads="1"/>
                </p:cNvSpPr>
                <p:nvPr/>
              </p:nvSpPr>
              <p:spPr bwMode="auto">
                <a:xfrm>
                  <a:off x="5263" y="1464"/>
                  <a:ext cx="45" cy="64"/>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40372" name="Oval 367"/>
                <p:cNvSpPr>
                  <a:spLocks noChangeArrowheads="1"/>
                </p:cNvSpPr>
                <p:nvPr/>
              </p:nvSpPr>
              <p:spPr bwMode="auto">
                <a:xfrm>
                  <a:off x="5233" y="1420"/>
                  <a:ext cx="100" cy="47"/>
                </a:xfrm>
                <a:prstGeom prst="ellipse">
                  <a:avLst/>
                </a:prstGeom>
                <a:solidFill>
                  <a:srgbClr val="FFFFFF"/>
                </a:solidFill>
                <a:ln w="12700">
                  <a:solidFill>
                    <a:srgbClr val="000000"/>
                  </a:solidFill>
                  <a:round/>
                  <a:headEnd/>
                  <a:tailEnd/>
                </a:ln>
              </p:spPr>
              <p:txBody>
                <a:bodyPr wrap="none" anchor="ctr"/>
                <a:lstStyle/>
                <a:p>
                  <a:endParaRPr lang="en-NZ">
                    <a:latin typeface="Calibri" pitchFamily="34" charset="0"/>
                  </a:endParaRPr>
                </a:p>
              </p:txBody>
            </p:sp>
            <p:sp>
              <p:nvSpPr>
                <p:cNvPr id="40373" name="Oval 368"/>
                <p:cNvSpPr>
                  <a:spLocks noChangeArrowheads="1"/>
                </p:cNvSpPr>
                <p:nvPr/>
              </p:nvSpPr>
              <p:spPr bwMode="auto">
                <a:xfrm>
                  <a:off x="5314" y="1420"/>
                  <a:ext cx="100" cy="47"/>
                </a:xfrm>
                <a:prstGeom prst="ellipse">
                  <a:avLst/>
                </a:prstGeom>
                <a:solidFill>
                  <a:srgbClr val="FFFFFF"/>
                </a:solidFill>
                <a:ln w="12700">
                  <a:solidFill>
                    <a:srgbClr val="000000"/>
                  </a:solidFill>
                  <a:round/>
                  <a:headEnd/>
                  <a:tailEnd/>
                </a:ln>
              </p:spPr>
              <p:txBody>
                <a:bodyPr wrap="none" anchor="ctr"/>
                <a:lstStyle/>
                <a:p>
                  <a:endParaRPr lang="en-NZ">
                    <a:latin typeface="Calibri" pitchFamily="34" charset="0"/>
                  </a:endParaRPr>
                </a:p>
              </p:txBody>
            </p:sp>
            <p:sp>
              <p:nvSpPr>
                <p:cNvPr id="40374" name="Oval 369"/>
                <p:cNvSpPr>
                  <a:spLocks noChangeArrowheads="1"/>
                </p:cNvSpPr>
                <p:nvPr/>
              </p:nvSpPr>
              <p:spPr bwMode="auto">
                <a:xfrm>
                  <a:off x="5296" y="1388"/>
                  <a:ext cx="46" cy="64"/>
                </a:xfrm>
                <a:prstGeom prst="ellipse">
                  <a:avLst/>
                </a:prstGeom>
                <a:solidFill>
                  <a:srgbClr val="FFFFFF"/>
                </a:solidFill>
                <a:ln w="12700">
                  <a:solidFill>
                    <a:srgbClr val="000000"/>
                  </a:solidFill>
                  <a:round/>
                  <a:headEnd/>
                  <a:tailEnd/>
                </a:ln>
              </p:spPr>
              <p:txBody>
                <a:bodyPr wrap="none" anchor="ctr"/>
                <a:lstStyle/>
                <a:p>
                  <a:endParaRPr lang="en-NZ">
                    <a:latin typeface="Calibri" pitchFamily="34" charset="0"/>
                  </a:endParaRPr>
                </a:p>
              </p:txBody>
            </p:sp>
            <p:sp>
              <p:nvSpPr>
                <p:cNvPr id="40375" name="Oval 370"/>
                <p:cNvSpPr>
                  <a:spLocks noChangeArrowheads="1"/>
                </p:cNvSpPr>
                <p:nvPr/>
              </p:nvSpPr>
              <p:spPr bwMode="auto">
                <a:xfrm>
                  <a:off x="5395" y="1380"/>
                  <a:ext cx="46" cy="64"/>
                </a:xfrm>
                <a:prstGeom prst="ellipse">
                  <a:avLst/>
                </a:prstGeom>
                <a:solidFill>
                  <a:srgbClr val="FFFFFF"/>
                </a:solidFill>
                <a:ln w="12700">
                  <a:solidFill>
                    <a:srgbClr val="000000"/>
                  </a:solidFill>
                  <a:round/>
                  <a:headEnd/>
                  <a:tailEnd/>
                </a:ln>
              </p:spPr>
              <p:txBody>
                <a:bodyPr wrap="none" anchor="ctr"/>
                <a:lstStyle/>
                <a:p>
                  <a:endParaRPr lang="en-NZ">
                    <a:latin typeface="Calibri" pitchFamily="34" charset="0"/>
                  </a:endParaRPr>
                </a:p>
              </p:txBody>
            </p:sp>
            <p:sp>
              <p:nvSpPr>
                <p:cNvPr id="40376" name="Oval 371"/>
                <p:cNvSpPr>
                  <a:spLocks noChangeArrowheads="1"/>
                </p:cNvSpPr>
                <p:nvPr/>
              </p:nvSpPr>
              <p:spPr bwMode="auto">
                <a:xfrm>
                  <a:off x="5422" y="1420"/>
                  <a:ext cx="82" cy="40"/>
                </a:xfrm>
                <a:prstGeom prst="ellipse">
                  <a:avLst/>
                </a:prstGeom>
                <a:solidFill>
                  <a:srgbClr val="FFFFFF"/>
                </a:solidFill>
                <a:ln w="12700">
                  <a:solidFill>
                    <a:srgbClr val="000000"/>
                  </a:solidFill>
                  <a:round/>
                  <a:headEnd/>
                  <a:tailEnd/>
                </a:ln>
              </p:spPr>
              <p:txBody>
                <a:bodyPr wrap="none" anchor="ctr"/>
                <a:lstStyle/>
                <a:p>
                  <a:endParaRPr lang="en-NZ">
                    <a:latin typeface="Calibri" pitchFamily="34" charset="0"/>
                  </a:endParaRPr>
                </a:p>
              </p:txBody>
            </p:sp>
            <p:sp>
              <p:nvSpPr>
                <p:cNvPr id="40377" name="Oval 372"/>
                <p:cNvSpPr>
                  <a:spLocks noChangeArrowheads="1"/>
                </p:cNvSpPr>
                <p:nvPr/>
              </p:nvSpPr>
              <p:spPr bwMode="auto">
                <a:xfrm>
                  <a:off x="5206" y="1436"/>
                  <a:ext cx="46" cy="64"/>
                </a:xfrm>
                <a:prstGeom prst="ellipse">
                  <a:avLst/>
                </a:prstGeom>
                <a:solidFill>
                  <a:srgbClr val="FFFFFF"/>
                </a:solidFill>
                <a:ln w="12700">
                  <a:solidFill>
                    <a:srgbClr val="000000"/>
                  </a:solidFill>
                  <a:round/>
                  <a:headEnd/>
                  <a:tailEnd/>
                </a:ln>
              </p:spPr>
              <p:txBody>
                <a:bodyPr wrap="none" anchor="ctr"/>
                <a:lstStyle/>
                <a:p>
                  <a:endParaRPr lang="en-NZ">
                    <a:latin typeface="Calibri" pitchFamily="34" charset="0"/>
                  </a:endParaRPr>
                </a:p>
              </p:txBody>
            </p:sp>
            <p:sp>
              <p:nvSpPr>
                <p:cNvPr id="40378" name="Freeform 373"/>
                <p:cNvSpPr>
                  <a:spLocks/>
                </p:cNvSpPr>
                <p:nvPr/>
              </p:nvSpPr>
              <p:spPr bwMode="auto">
                <a:xfrm>
                  <a:off x="5211" y="1440"/>
                  <a:ext cx="64" cy="73"/>
                </a:xfrm>
                <a:custGeom>
                  <a:avLst/>
                  <a:gdLst>
                    <a:gd name="T0" fmla="*/ 0 w 64"/>
                    <a:gd name="T1" fmla="*/ 40 h 73"/>
                    <a:gd name="T2" fmla="*/ 0 w 64"/>
                    <a:gd name="T3" fmla="*/ 32 h 73"/>
                    <a:gd name="T4" fmla="*/ 0 w 64"/>
                    <a:gd name="T5" fmla="*/ 24 h 73"/>
                    <a:gd name="T6" fmla="*/ 0 w 64"/>
                    <a:gd name="T7" fmla="*/ 16 h 73"/>
                    <a:gd name="T8" fmla="*/ 9 w 64"/>
                    <a:gd name="T9" fmla="*/ 8 h 73"/>
                    <a:gd name="T10" fmla="*/ 18 w 64"/>
                    <a:gd name="T11" fmla="*/ 0 h 73"/>
                    <a:gd name="T12" fmla="*/ 27 w 64"/>
                    <a:gd name="T13" fmla="*/ 0 h 73"/>
                    <a:gd name="T14" fmla="*/ 36 w 64"/>
                    <a:gd name="T15" fmla="*/ 8 h 73"/>
                    <a:gd name="T16" fmla="*/ 45 w 64"/>
                    <a:gd name="T17" fmla="*/ 8 h 73"/>
                    <a:gd name="T18" fmla="*/ 54 w 64"/>
                    <a:gd name="T19" fmla="*/ 16 h 73"/>
                    <a:gd name="T20" fmla="*/ 54 w 64"/>
                    <a:gd name="T21" fmla="*/ 24 h 73"/>
                    <a:gd name="T22" fmla="*/ 54 w 64"/>
                    <a:gd name="T23" fmla="*/ 32 h 73"/>
                    <a:gd name="T24" fmla="*/ 63 w 64"/>
                    <a:gd name="T25" fmla="*/ 40 h 73"/>
                    <a:gd name="T26" fmla="*/ 63 w 64"/>
                    <a:gd name="T27" fmla="*/ 48 h 73"/>
                    <a:gd name="T28" fmla="*/ 54 w 64"/>
                    <a:gd name="T29" fmla="*/ 56 h 73"/>
                    <a:gd name="T30" fmla="*/ 54 w 64"/>
                    <a:gd name="T31" fmla="*/ 64 h 73"/>
                    <a:gd name="T32" fmla="*/ 45 w 64"/>
                    <a:gd name="T33" fmla="*/ 72 h 73"/>
                    <a:gd name="T34" fmla="*/ 36 w 64"/>
                    <a:gd name="T35" fmla="*/ 72 h 73"/>
                    <a:gd name="T36" fmla="*/ 27 w 64"/>
                    <a:gd name="T37" fmla="*/ 72 h 73"/>
                    <a:gd name="T38" fmla="*/ 18 w 64"/>
                    <a:gd name="T39" fmla="*/ 64 h 73"/>
                    <a:gd name="T40" fmla="*/ 9 w 64"/>
                    <a:gd name="T41" fmla="*/ 64 h 73"/>
                    <a:gd name="T42" fmla="*/ 0 w 64"/>
                    <a:gd name="T43" fmla="*/ 48 h 73"/>
                    <a:gd name="T44" fmla="*/ 0 w 64"/>
                    <a:gd name="T45" fmla="*/ 40 h 7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64"/>
                    <a:gd name="T70" fmla="*/ 0 h 73"/>
                    <a:gd name="T71" fmla="*/ 64 w 64"/>
                    <a:gd name="T72" fmla="*/ 73 h 73"/>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64" h="73">
                      <a:moveTo>
                        <a:pt x="0" y="40"/>
                      </a:moveTo>
                      <a:lnTo>
                        <a:pt x="0" y="32"/>
                      </a:lnTo>
                      <a:lnTo>
                        <a:pt x="0" y="24"/>
                      </a:lnTo>
                      <a:lnTo>
                        <a:pt x="0" y="16"/>
                      </a:lnTo>
                      <a:lnTo>
                        <a:pt x="9" y="8"/>
                      </a:lnTo>
                      <a:lnTo>
                        <a:pt x="18" y="0"/>
                      </a:lnTo>
                      <a:lnTo>
                        <a:pt x="27" y="0"/>
                      </a:lnTo>
                      <a:lnTo>
                        <a:pt x="36" y="8"/>
                      </a:lnTo>
                      <a:lnTo>
                        <a:pt x="45" y="8"/>
                      </a:lnTo>
                      <a:lnTo>
                        <a:pt x="54" y="16"/>
                      </a:lnTo>
                      <a:lnTo>
                        <a:pt x="54" y="24"/>
                      </a:lnTo>
                      <a:lnTo>
                        <a:pt x="54" y="32"/>
                      </a:lnTo>
                      <a:lnTo>
                        <a:pt x="63" y="40"/>
                      </a:lnTo>
                      <a:lnTo>
                        <a:pt x="63" y="48"/>
                      </a:lnTo>
                      <a:lnTo>
                        <a:pt x="54" y="56"/>
                      </a:lnTo>
                      <a:lnTo>
                        <a:pt x="54" y="64"/>
                      </a:lnTo>
                      <a:lnTo>
                        <a:pt x="45" y="72"/>
                      </a:lnTo>
                      <a:lnTo>
                        <a:pt x="36" y="72"/>
                      </a:lnTo>
                      <a:lnTo>
                        <a:pt x="27" y="72"/>
                      </a:lnTo>
                      <a:lnTo>
                        <a:pt x="18" y="64"/>
                      </a:lnTo>
                      <a:lnTo>
                        <a:pt x="9" y="64"/>
                      </a:lnTo>
                      <a:lnTo>
                        <a:pt x="0" y="48"/>
                      </a:lnTo>
                      <a:lnTo>
                        <a:pt x="0" y="40"/>
                      </a:lnTo>
                    </a:path>
                  </a:pathLst>
                </a:custGeom>
                <a:solidFill>
                  <a:srgbClr val="FE910B"/>
                </a:solidFill>
                <a:ln w="12700" cap="rnd" cmpd="sng">
                  <a:solidFill>
                    <a:srgbClr val="000000"/>
                  </a:solidFill>
                  <a:prstDash val="solid"/>
                  <a:round/>
                  <a:headEnd type="none" w="med" len="med"/>
                  <a:tailEnd type="none" w="med" len="med"/>
                </a:ln>
              </p:spPr>
              <p:txBody>
                <a:bodyPr/>
                <a:lstStyle/>
                <a:p>
                  <a:endParaRPr lang="en-US"/>
                </a:p>
              </p:txBody>
            </p:sp>
            <p:sp>
              <p:nvSpPr>
                <p:cNvPr id="40379" name="Oval 374"/>
                <p:cNvSpPr>
                  <a:spLocks noChangeArrowheads="1"/>
                </p:cNvSpPr>
                <p:nvPr/>
              </p:nvSpPr>
              <p:spPr bwMode="auto">
                <a:xfrm>
                  <a:off x="5296" y="1412"/>
                  <a:ext cx="46" cy="64"/>
                </a:xfrm>
                <a:prstGeom prst="ellipse">
                  <a:avLst/>
                </a:prstGeom>
                <a:solidFill>
                  <a:srgbClr val="FFFFFF"/>
                </a:solidFill>
                <a:ln w="12700">
                  <a:solidFill>
                    <a:srgbClr val="000000"/>
                  </a:solidFill>
                  <a:round/>
                  <a:headEnd/>
                  <a:tailEnd/>
                </a:ln>
              </p:spPr>
              <p:txBody>
                <a:bodyPr wrap="none" anchor="ctr"/>
                <a:lstStyle/>
                <a:p>
                  <a:endParaRPr lang="en-NZ">
                    <a:latin typeface="Calibri" pitchFamily="34" charset="0"/>
                  </a:endParaRPr>
                </a:p>
              </p:txBody>
            </p:sp>
            <p:sp>
              <p:nvSpPr>
                <p:cNvPr id="40380" name="Freeform 375"/>
                <p:cNvSpPr>
                  <a:spLocks/>
                </p:cNvSpPr>
                <p:nvPr/>
              </p:nvSpPr>
              <p:spPr bwMode="auto">
                <a:xfrm>
                  <a:off x="5301" y="1416"/>
                  <a:ext cx="55" cy="81"/>
                </a:xfrm>
                <a:custGeom>
                  <a:avLst/>
                  <a:gdLst>
                    <a:gd name="T0" fmla="*/ 0 w 55"/>
                    <a:gd name="T1" fmla="*/ 48 h 81"/>
                    <a:gd name="T2" fmla="*/ 0 w 55"/>
                    <a:gd name="T3" fmla="*/ 40 h 81"/>
                    <a:gd name="T4" fmla="*/ 0 w 55"/>
                    <a:gd name="T5" fmla="*/ 24 h 81"/>
                    <a:gd name="T6" fmla="*/ 0 w 55"/>
                    <a:gd name="T7" fmla="*/ 16 h 81"/>
                    <a:gd name="T8" fmla="*/ 9 w 55"/>
                    <a:gd name="T9" fmla="*/ 8 h 81"/>
                    <a:gd name="T10" fmla="*/ 18 w 55"/>
                    <a:gd name="T11" fmla="*/ 0 h 81"/>
                    <a:gd name="T12" fmla="*/ 27 w 55"/>
                    <a:gd name="T13" fmla="*/ 0 h 81"/>
                    <a:gd name="T14" fmla="*/ 36 w 55"/>
                    <a:gd name="T15" fmla="*/ 8 h 81"/>
                    <a:gd name="T16" fmla="*/ 45 w 55"/>
                    <a:gd name="T17" fmla="*/ 16 h 81"/>
                    <a:gd name="T18" fmla="*/ 54 w 55"/>
                    <a:gd name="T19" fmla="*/ 24 h 81"/>
                    <a:gd name="T20" fmla="*/ 54 w 55"/>
                    <a:gd name="T21" fmla="*/ 32 h 81"/>
                    <a:gd name="T22" fmla="*/ 54 w 55"/>
                    <a:gd name="T23" fmla="*/ 40 h 81"/>
                    <a:gd name="T24" fmla="*/ 54 w 55"/>
                    <a:gd name="T25" fmla="*/ 56 h 81"/>
                    <a:gd name="T26" fmla="*/ 54 w 55"/>
                    <a:gd name="T27" fmla="*/ 64 h 81"/>
                    <a:gd name="T28" fmla="*/ 45 w 55"/>
                    <a:gd name="T29" fmla="*/ 72 h 81"/>
                    <a:gd name="T30" fmla="*/ 36 w 55"/>
                    <a:gd name="T31" fmla="*/ 80 h 81"/>
                    <a:gd name="T32" fmla="*/ 27 w 55"/>
                    <a:gd name="T33" fmla="*/ 80 h 81"/>
                    <a:gd name="T34" fmla="*/ 18 w 55"/>
                    <a:gd name="T35" fmla="*/ 72 h 81"/>
                    <a:gd name="T36" fmla="*/ 9 w 55"/>
                    <a:gd name="T37" fmla="*/ 72 h 81"/>
                    <a:gd name="T38" fmla="*/ 0 w 55"/>
                    <a:gd name="T39" fmla="*/ 56 h 81"/>
                    <a:gd name="T40" fmla="*/ 0 w 55"/>
                    <a:gd name="T41" fmla="*/ 48 h 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5"/>
                    <a:gd name="T64" fmla="*/ 0 h 81"/>
                    <a:gd name="T65" fmla="*/ 55 w 55"/>
                    <a:gd name="T66" fmla="*/ 81 h 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5" h="81">
                      <a:moveTo>
                        <a:pt x="0" y="48"/>
                      </a:moveTo>
                      <a:lnTo>
                        <a:pt x="0" y="40"/>
                      </a:lnTo>
                      <a:lnTo>
                        <a:pt x="0" y="24"/>
                      </a:lnTo>
                      <a:lnTo>
                        <a:pt x="0" y="16"/>
                      </a:lnTo>
                      <a:lnTo>
                        <a:pt x="9" y="8"/>
                      </a:lnTo>
                      <a:lnTo>
                        <a:pt x="18" y="0"/>
                      </a:lnTo>
                      <a:lnTo>
                        <a:pt x="27" y="0"/>
                      </a:lnTo>
                      <a:lnTo>
                        <a:pt x="36" y="8"/>
                      </a:lnTo>
                      <a:lnTo>
                        <a:pt x="45" y="16"/>
                      </a:lnTo>
                      <a:lnTo>
                        <a:pt x="54" y="24"/>
                      </a:lnTo>
                      <a:lnTo>
                        <a:pt x="54" y="32"/>
                      </a:lnTo>
                      <a:lnTo>
                        <a:pt x="54" y="40"/>
                      </a:lnTo>
                      <a:lnTo>
                        <a:pt x="54" y="56"/>
                      </a:lnTo>
                      <a:lnTo>
                        <a:pt x="54" y="64"/>
                      </a:lnTo>
                      <a:lnTo>
                        <a:pt x="45" y="72"/>
                      </a:lnTo>
                      <a:lnTo>
                        <a:pt x="36" y="80"/>
                      </a:lnTo>
                      <a:lnTo>
                        <a:pt x="27" y="80"/>
                      </a:lnTo>
                      <a:lnTo>
                        <a:pt x="18" y="72"/>
                      </a:lnTo>
                      <a:lnTo>
                        <a:pt x="9" y="72"/>
                      </a:lnTo>
                      <a:lnTo>
                        <a:pt x="0" y="56"/>
                      </a:lnTo>
                      <a:lnTo>
                        <a:pt x="0" y="48"/>
                      </a:lnTo>
                    </a:path>
                  </a:pathLst>
                </a:custGeom>
                <a:solidFill>
                  <a:srgbClr val="FFFFFF"/>
                </a:solidFill>
                <a:ln w="12700" cap="rnd" cmpd="sng">
                  <a:solidFill>
                    <a:srgbClr val="000000"/>
                  </a:solidFill>
                  <a:prstDash val="solid"/>
                  <a:round/>
                  <a:headEnd type="none" w="med" len="med"/>
                  <a:tailEnd type="none" w="med" len="med"/>
                </a:ln>
              </p:spPr>
              <p:txBody>
                <a:bodyPr/>
                <a:lstStyle/>
                <a:p>
                  <a:endParaRPr lang="en-US"/>
                </a:p>
              </p:txBody>
            </p:sp>
            <p:sp>
              <p:nvSpPr>
                <p:cNvPr id="40381" name="Oval 376"/>
                <p:cNvSpPr>
                  <a:spLocks noChangeArrowheads="1"/>
                </p:cNvSpPr>
                <p:nvPr/>
              </p:nvSpPr>
              <p:spPr bwMode="auto">
                <a:xfrm>
                  <a:off x="5062" y="1475"/>
                  <a:ext cx="100" cy="49"/>
                </a:xfrm>
                <a:prstGeom prst="ellipse">
                  <a:avLst/>
                </a:prstGeom>
                <a:solidFill>
                  <a:srgbClr val="FFFFFF"/>
                </a:solidFill>
                <a:ln w="12700">
                  <a:solidFill>
                    <a:srgbClr val="000000"/>
                  </a:solidFill>
                  <a:round/>
                  <a:headEnd/>
                  <a:tailEnd/>
                </a:ln>
              </p:spPr>
              <p:txBody>
                <a:bodyPr wrap="none" anchor="ctr"/>
                <a:lstStyle/>
                <a:p>
                  <a:endParaRPr lang="en-NZ">
                    <a:latin typeface="Calibri" pitchFamily="34" charset="0"/>
                  </a:endParaRPr>
                </a:p>
              </p:txBody>
            </p:sp>
            <p:sp>
              <p:nvSpPr>
                <p:cNvPr id="40382" name="Freeform 377"/>
                <p:cNvSpPr>
                  <a:spLocks/>
                </p:cNvSpPr>
                <p:nvPr/>
              </p:nvSpPr>
              <p:spPr bwMode="auto">
                <a:xfrm>
                  <a:off x="5067" y="1480"/>
                  <a:ext cx="109" cy="57"/>
                </a:xfrm>
                <a:custGeom>
                  <a:avLst/>
                  <a:gdLst>
                    <a:gd name="T0" fmla="*/ 0 w 109"/>
                    <a:gd name="T1" fmla="*/ 32 h 57"/>
                    <a:gd name="T2" fmla="*/ 0 w 109"/>
                    <a:gd name="T3" fmla="*/ 32 h 57"/>
                    <a:gd name="T4" fmla="*/ 9 w 109"/>
                    <a:gd name="T5" fmla="*/ 16 h 57"/>
                    <a:gd name="T6" fmla="*/ 18 w 109"/>
                    <a:gd name="T7" fmla="*/ 8 h 57"/>
                    <a:gd name="T8" fmla="*/ 36 w 109"/>
                    <a:gd name="T9" fmla="*/ 0 h 57"/>
                    <a:gd name="T10" fmla="*/ 45 w 109"/>
                    <a:gd name="T11" fmla="*/ 0 h 57"/>
                    <a:gd name="T12" fmla="*/ 54 w 109"/>
                    <a:gd name="T13" fmla="*/ 0 h 57"/>
                    <a:gd name="T14" fmla="*/ 81 w 109"/>
                    <a:gd name="T15" fmla="*/ 0 h 57"/>
                    <a:gd name="T16" fmla="*/ 90 w 109"/>
                    <a:gd name="T17" fmla="*/ 0 h 57"/>
                    <a:gd name="T18" fmla="*/ 99 w 109"/>
                    <a:gd name="T19" fmla="*/ 0 h 57"/>
                    <a:gd name="T20" fmla="*/ 108 w 109"/>
                    <a:gd name="T21" fmla="*/ 8 h 57"/>
                    <a:gd name="T22" fmla="*/ 108 w 109"/>
                    <a:gd name="T23" fmla="*/ 16 h 57"/>
                    <a:gd name="T24" fmla="*/ 108 w 109"/>
                    <a:gd name="T25" fmla="*/ 32 h 57"/>
                    <a:gd name="T26" fmla="*/ 99 w 109"/>
                    <a:gd name="T27" fmla="*/ 32 h 57"/>
                    <a:gd name="T28" fmla="*/ 90 w 109"/>
                    <a:gd name="T29" fmla="*/ 40 h 57"/>
                    <a:gd name="T30" fmla="*/ 72 w 109"/>
                    <a:gd name="T31" fmla="*/ 48 h 57"/>
                    <a:gd name="T32" fmla="*/ 63 w 109"/>
                    <a:gd name="T33" fmla="*/ 48 h 57"/>
                    <a:gd name="T34" fmla="*/ 54 w 109"/>
                    <a:gd name="T35" fmla="*/ 56 h 57"/>
                    <a:gd name="T36" fmla="*/ 36 w 109"/>
                    <a:gd name="T37" fmla="*/ 56 h 57"/>
                    <a:gd name="T38" fmla="*/ 27 w 109"/>
                    <a:gd name="T39" fmla="*/ 48 h 57"/>
                    <a:gd name="T40" fmla="*/ 18 w 109"/>
                    <a:gd name="T41" fmla="*/ 48 h 57"/>
                    <a:gd name="T42" fmla="*/ 9 w 109"/>
                    <a:gd name="T43" fmla="*/ 40 h 57"/>
                    <a:gd name="T44" fmla="*/ 0 w 109"/>
                    <a:gd name="T45" fmla="*/ 32 h 5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09"/>
                    <a:gd name="T70" fmla="*/ 0 h 57"/>
                    <a:gd name="T71" fmla="*/ 109 w 109"/>
                    <a:gd name="T72" fmla="*/ 57 h 57"/>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09" h="57">
                      <a:moveTo>
                        <a:pt x="0" y="32"/>
                      </a:moveTo>
                      <a:lnTo>
                        <a:pt x="0" y="32"/>
                      </a:lnTo>
                      <a:lnTo>
                        <a:pt x="9" y="16"/>
                      </a:lnTo>
                      <a:lnTo>
                        <a:pt x="18" y="8"/>
                      </a:lnTo>
                      <a:lnTo>
                        <a:pt x="36" y="0"/>
                      </a:lnTo>
                      <a:lnTo>
                        <a:pt x="45" y="0"/>
                      </a:lnTo>
                      <a:lnTo>
                        <a:pt x="54" y="0"/>
                      </a:lnTo>
                      <a:lnTo>
                        <a:pt x="81" y="0"/>
                      </a:lnTo>
                      <a:lnTo>
                        <a:pt x="90" y="0"/>
                      </a:lnTo>
                      <a:lnTo>
                        <a:pt x="99" y="0"/>
                      </a:lnTo>
                      <a:lnTo>
                        <a:pt x="108" y="8"/>
                      </a:lnTo>
                      <a:lnTo>
                        <a:pt x="108" y="16"/>
                      </a:lnTo>
                      <a:lnTo>
                        <a:pt x="108" y="32"/>
                      </a:lnTo>
                      <a:lnTo>
                        <a:pt x="99" y="32"/>
                      </a:lnTo>
                      <a:lnTo>
                        <a:pt x="90" y="40"/>
                      </a:lnTo>
                      <a:lnTo>
                        <a:pt x="72" y="48"/>
                      </a:lnTo>
                      <a:lnTo>
                        <a:pt x="63" y="48"/>
                      </a:lnTo>
                      <a:lnTo>
                        <a:pt x="54" y="56"/>
                      </a:lnTo>
                      <a:lnTo>
                        <a:pt x="36" y="56"/>
                      </a:lnTo>
                      <a:lnTo>
                        <a:pt x="27" y="48"/>
                      </a:lnTo>
                      <a:lnTo>
                        <a:pt x="18" y="48"/>
                      </a:lnTo>
                      <a:lnTo>
                        <a:pt x="9" y="40"/>
                      </a:lnTo>
                      <a:lnTo>
                        <a:pt x="0" y="32"/>
                      </a:lnTo>
                    </a:path>
                  </a:pathLst>
                </a:custGeom>
                <a:solidFill>
                  <a:srgbClr val="FE910B"/>
                </a:solidFill>
                <a:ln w="12700" cap="rnd" cmpd="sng">
                  <a:solidFill>
                    <a:srgbClr val="000000"/>
                  </a:solidFill>
                  <a:prstDash val="solid"/>
                  <a:round/>
                  <a:headEnd type="none" w="med" len="med"/>
                  <a:tailEnd type="none" w="med" len="med"/>
                </a:ln>
              </p:spPr>
              <p:txBody>
                <a:bodyPr/>
                <a:lstStyle/>
                <a:p>
                  <a:endParaRPr lang="en-US"/>
                </a:p>
              </p:txBody>
            </p:sp>
            <p:sp>
              <p:nvSpPr>
                <p:cNvPr id="40383" name="Oval 378"/>
                <p:cNvSpPr>
                  <a:spLocks noChangeArrowheads="1"/>
                </p:cNvSpPr>
                <p:nvPr/>
              </p:nvSpPr>
              <p:spPr bwMode="auto">
                <a:xfrm>
                  <a:off x="5134" y="1428"/>
                  <a:ext cx="46" cy="64"/>
                </a:xfrm>
                <a:prstGeom prst="ellipse">
                  <a:avLst/>
                </a:prstGeom>
                <a:solidFill>
                  <a:srgbClr val="FFFFFF"/>
                </a:solidFill>
                <a:ln w="12700">
                  <a:solidFill>
                    <a:srgbClr val="000000"/>
                  </a:solidFill>
                  <a:round/>
                  <a:headEnd/>
                  <a:tailEnd/>
                </a:ln>
              </p:spPr>
              <p:txBody>
                <a:bodyPr wrap="none" anchor="ctr"/>
                <a:lstStyle/>
                <a:p>
                  <a:endParaRPr lang="en-NZ">
                    <a:latin typeface="Calibri" pitchFamily="34" charset="0"/>
                  </a:endParaRPr>
                </a:p>
              </p:txBody>
            </p:sp>
            <p:sp>
              <p:nvSpPr>
                <p:cNvPr id="40384" name="Freeform 379"/>
                <p:cNvSpPr>
                  <a:spLocks/>
                </p:cNvSpPr>
                <p:nvPr/>
              </p:nvSpPr>
              <p:spPr bwMode="auto">
                <a:xfrm>
                  <a:off x="5139" y="1432"/>
                  <a:ext cx="55" cy="73"/>
                </a:xfrm>
                <a:custGeom>
                  <a:avLst/>
                  <a:gdLst>
                    <a:gd name="T0" fmla="*/ 0 w 55"/>
                    <a:gd name="T1" fmla="*/ 40 h 73"/>
                    <a:gd name="T2" fmla="*/ 0 w 55"/>
                    <a:gd name="T3" fmla="*/ 32 h 73"/>
                    <a:gd name="T4" fmla="*/ 0 w 55"/>
                    <a:gd name="T5" fmla="*/ 24 h 73"/>
                    <a:gd name="T6" fmla="*/ 0 w 55"/>
                    <a:gd name="T7" fmla="*/ 16 h 73"/>
                    <a:gd name="T8" fmla="*/ 0 w 55"/>
                    <a:gd name="T9" fmla="*/ 8 h 73"/>
                    <a:gd name="T10" fmla="*/ 9 w 55"/>
                    <a:gd name="T11" fmla="*/ 0 h 73"/>
                    <a:gd name="T12" fmla="*/ 18 w 55"/>
                    <a:gd name="T13" fmla="*/ 0 h 73"/>
                    <a:gd name="T14" fmla="*/ 36 w 55"/>
                    <a:gd name="T15" fmla="*/ 8 h 73"/>
                    <a:gd name="T16" fmla="*/ 45 w 55"/>
                    <a:gd name="T17" fmla="*/ 16 h 73"/>
                    <a:gd name="T18" fmla="*/ 45 w 55"/>
                    <a:gd name="T19" fmla="*/ 24 h 73"/>
                    <a:gd name="T20" fmla="*/ 45 w 55"/>
                    <a:gd name="T21" fmla="*/ 32 h 73"/>
                    <a:gd name="T22" fmla="*/ 54 w 55"/>
                    <a:gd name="T23" fmla="*/ 40 h 73"/>
                    <a:gd name="T24" fmla="*/ 54 w 55"/>
                    <a:gd name="T25" fmla="*/ 56 h 73"/>
                    <a:gd name="T26" fmla="*/ 45 w 55"/>
                    <a:gd name="T27" fmla="*/ 64 h 73"/>
                    <a:gd name="T28" fmla="*/ 45 w 55"/>
                    <a:gd name="T29" fmla="*/ 72 h 73"/>
                    <a:gd name="T30" fmla="*/ 36 w 55"/>
                    <a:gd name="T31" fmla="*/ 72 h 73"/>
                    <a:gd name="T32" fmla="*/ 27 w 55"/>
                    <a:gd name="T33" fmla="*/ 72 h 73"/>
                    <a:gd name="T34" fmla="*/ 9 w 55"/>
                    <a:gd name="T35" fmla="*/ 72 h 73"/>
                    <a:gd name="T36" fmla="*/ 18 w 55"/>
                    <a:gd name="T37" fmla="*/ 72 h 73"/>
                    <a:gd name="T38" fmla="*/ 9 w 55"/>
                    <a:gd name="T39" fmla="*/ 64 h 73"/>
                    <a:gd name="T40" fmla="*/ 0 w 55"/>
                    <a:gd name="T41" fmla="*/ 48 h 73"/>
                    <a:gd name="T42" fmla="*/ 0 w 55"/>
                    <a:gd name="T43" fmla="*/ 40 h 73"/>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55"/>
                    <a:gd name="T67" fmla="*/ 0 h 73"/>
                    <a:gd name="T68" fmla="*/ 55 w 55"/>
                    <a:gd name="T69" fmla="*/ 73 h 73"/>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55" h="73">
                      <a:moveTo>
                        <a:pt x="0" y="40"/>
                      </a:moveTo>
                      <a:lnTo>
                        <a:pt x="0" y="32"/>
                      </a:lnTo>
                      <a:lnTo>
                        <a:pt x="0" y="24"/>
                      </a:lnTo>
                      <a:lnTo>
                        <a:pt x="0" y="16"/>
                      </a:lnTo>
                      <a:lnTo>
                        <a:pt x="0" y="8"/>
                      </a:lnTo>
                      <a:lnTo>
                        <a:pt x="9" y="0"/>
                      </a:lnTo>
                      <a:lnTo>
                        <a:pt x="18" y="0"/>
                      </a:lnTo>
                      <a:lnTo>
                        <a:pt x="36" y="8"/>
                      </a:lnTo>
                      <a:lnTo>
                        <a:pt x="45" y="16"/>
                      </a:lnTo>
                      <a:lnTo>
                        <a:pt x="45" y="24"/>
                      </a:lnTo>
                      <a:lnTo>
                        <a:pt x="45" y="32"/>
                      </a:lnTo>
                      <a:lnTo>
                        <a:pt x="54" y="40"/>
                      </a:lnTo>
                      <a:lnTo>
                        <a:pt x="54" y="56"/>
                      </a:lnTo>
                      <a:lnTo>
                        <a:pt x="45" y="64"/>
                      </a:lnTo>
                      <a:lnTo>
                        <a:pt x="45" y="72"/>
                      </a:lnTo>
                      <a:lnTo>
                        <a:pt x="36" y="72"/>
                      </a:lnTo>
                      <a:lnTo>
                        <a:pt x="27" y="72"/>
                      </a:lnTo>
                      <a:lnTo>
                        <a:pt x="9" y="72"/>
                      </a:lnTo>
                      <a:lnTo>
                        <a:pt x="18" y="72"/>
                      </a:lnTo>
                      <a:lnTo>
                        <a:pt x="9" y="64"/>
                      </a:lnTo>
                      <a:lnTo>
                        <a:pt x="0" y="48"/>
                      </a:lnTo>
                      <a:lnTo>
                        <a:pt x="0" y="40"/>
                      </a:lnTo>
                    </a:path>
                  </a:pathLst>
                </a:custGeom>
                <a:solidFill>
                  <a:srgbClr val="FFFFFF"/>
                </a:solidFill>
                <a:ln w="12700" cap="rnd" cmpd="sng">
                  <a:solidFill>
                    <a:srgbClr val="000000"/>
                  </a:solidFill>
                  <a:prstDash val="solid"/>
                  <a:round/>
                  <a:headEnd type="none" w="med" len="med"/>
                  <a:tailEnd type="none" w="med" len="med"/>
                </a:ln>
              </p:spPr>
              <p:txBody>
                <a:bodyPr/>
                <a:lstStyle/>
                <a:p>
                  <a:endParaRPr lang="en-US"/>
                </a:p>
              </p:txBody>
            </p:sp>
            <p:sp>
              <p:nvSpPr>
                <p:cNvPr id="40385" name="Oval 380"/>
                <p:cNvSpPr>
                  <a:spLocks noChangeArrowheads="1"/>
                </p:cNvSpPr>
                <p:nvPr/>
              </p:nvSpPr>
              <p:spPr bwMode="auto">
                <a:xfrm>
                  <a:off x="5161" y="1460"/>
                  <a:ext cx="82" cy="40"/>
                </a:xfrm>
                <a:prstGeom prst="ellipse">
                  <a:avLst/>
                </a:prstGeom>
                <a:solidFill>
                  <a:srgbClr val="FFFFFF"/>
                </a:solidFill>
                <a:ln w="12700">
                  <a:solidFill>
                    <a:srgbClr val="000000"/>
                  </a:solidFill>
                  <a:round/>
                  <a:headEnd/>
                  <a:tailEnd/>
                </a:ln>
              </p:spPr>
              <p:txBody>
                <a:bodyPr wrap="none" anchor="ctr"/>
                <a:lstStyle/>
                <a:p>
                  <a:endParaRPr lang="en-NZ">
                    <a:latin typeface="Calibri" pitchFamily="34" charset="0"/>
                  </a:endParaRPr>
                </a:p>
              </p:txBody>
            </p:sp>
            <p:sp>
              <p:nvSpPr>
                <p:cNvPr id="40386" name="Freeform 381"/>
                <p:cNvSpPr>
                  <a:spLocks/>
                </p:cNvSpPr>
                <p:nvPr/>
              </p:nvSpPr>
              <p:spPr bwMode="auto">
                <a:xfrm>
                  <a:off x="5166" y="1464"/>
                  <a:ext cx="91" cy="57"/>
                </a:xfrm>
                <a:custGeom>
                  <a:avLst/>
                  <a:gdLst>
                    <a:gd name="T0" fmla="*/ 0 w 91"/>
                    <a:gd name="T1" fmla="*/ 32 h 57"/>
                    <a:gd name="T2" fmla="*/ 0 w 91"/>
                    <a:gd name="T3" fmla="*/ 32 h 57"/>
                    <a:gd name="T4" fmla="*/ 9 w 91"/>
                    <a:gd name="T5" fmla="*/ 16 h 57"/>
                    <a:gd name="T6" fmla="*/ 18 w 91"/>
                    <a:gd name="T7" fmla="*/ 8 h 57"/>
                    <a:gd name="T8" fmla="*/ 27 w 91"/>
                    <a:gd name="T9" fmla="*/ 0 h 57"/>
                    <a:gd name="T10" fmla="*/ 36 w 91"/>
                    <a:gd name="T11" fmla="*/ 0 h 57"/>
                    <a:gd name="T12" fmla="*/ 45 w 91"/>
                    <a:gd name="T13" fmla="*/ 0 h 57"/>
                    <a:gd name="T14" fmla="*/ 63 w 91"/>
                    <a:gd name="T15" fmla="*/ 0 h 57"/>
                    <a:gd name="T16" fmla="*/ 72 w 91"/>
                    <a:gd name="T17" fmla="*/ 0 h 57"/>
                    <a:gd name="T18" fmla="*/ 81 w 91"/>
                    <a:gd name="T19" fmla="*/ 8 h 57"/>
                    <a:gd name="T20" fmla="*/ 90 w 91"/>
                    <a:gd name="T21" fmla="*/ 16 h 57"/>
                    <a:gd name="T22" fmla="*/ 90 w 91"/>
                    <a:gd name="T23" fmla="*/ 24 h 57"/>
                    <a:gd name="T24" fmla="*/ 81 w 91"/>
                    <a:gd name="T25" fmla="*/ 32 h 57"/>
                    <a:gd name="T26" fmla="*/ 81 w 91"/>
                    <a:gd name="T27" fmla="*/ 40 h 57"/>
                    <a:gd name="T28" fmla="*/ 63 w 91"/>
                    <a:gd name="T29" fmla="*/ 48 h 57"/>
                    <a:gd name="T30" fmla="*/ 54 w 91"/>
                    <a:gd name="T31" fmla="*/ 48 h 57"/>
                    <a:gd name="T32" fmla="*/ 45 w 91"/>
                    <a:gd name="T33" fmla="*/ 56 h 57"/>
                    <a:gd name="T34" fmla="*/ 27 w 91"/>
                    <a:gd name="T35" fmla="*/ 56 h 57"/>
                    <a:gd name="T36" fmla="*/ 18 w 91"/>
                    <a:gd name="T37" fmla="*/ 48 h 57"/>
                    <a:gd name="T38" fmla="*/ 9 w 91"/>
                    <a:gd name="T39" fmla="*/ 40 h 57"/>
                    <a:gd name="T40" fmla="*/ 0 w 91"/>
                    <a:gd name="T41" fmla="*/ 32 h 5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1"/>
                    <a:gd name="T64" fmla="*/ 0 h 57"/>
                    <a:gd name="T65" fmla="*/ 91 w 91"/>
                    <a:gd name="T66" fmla="*/ 57 h 5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1" h="57">
                      <a:moveTo>
                        <a:pt x="0" y="32"/>
                      </a:moveTo>
                      <a:lnTo>
                        <a:pt x="0" y="32"/>
                      </a:lnTo>
                      <a:lnTo>
                        <a:pt x="9" y="16"/>
                      </a:lnTo>
                      <a:lnTo>
                        <a:pt x="18" y="8"/>
                      </a:lnTo>
                      <a:lnTo>
                        <a:pt x="27" y="0"/>
                      </a:lnTo>
                      <a:lnTo>
                        <a:pt x="36" y="0"/>
                      </a:lnTo>
                      <a:lnTo>
                        <a:pt x="45" y="0"/>
                      </a:lnTo>
                      <a:lnTo>
                        <a:pt x="63" y="0"/>
                      </a:lnTo>
                      <a:lnTo>
                        <a:pt x="72" y="0"/>
                      </a:lnTo>
                      <a:lnTo>
                        <a:pt x="81" y="8"/>
                      </a:lnTo>
                      <a:lnTo>
                        <a:pt x="90" y="16"/>
                      </a:lnTo>
                      <a:lnTo>
                        <a:pt x="90" y="24"/>
                      </a:lnTo>
                      <a:lnTo>
                        <a:pt x="81" y="32"/>
                      </a:lnTo>
                      <a:lnTo>
                        <a:pt x="81" y="40"/>
                      </a:lnTo>
                      <a:lnTo>
                        <a:pt x="63" y="48"/>
                      </a:lnTo>
                      <a:lnTo>
                        <a:pt x="54" y="48"/>
                      </a:lnTo>
                      <a:lnTo>
                        <a:pt x="45" y="56"/>
                      </a:lnTo>
                      <a:lnTo>
                        <a:pt x="27" y="56"/>
                      </a:lnTo>
                      <a:lnTo>
                        <a:pt x="18" y="48"/>
                      </a:lnTo>
                      <a:lnTo>
                        <a:pt x="9" y="40"/>
                      </a:lnTo>
                      <a:lnTo>
                        <a:pt x="0" y="32"/>
                      </a:lnTo>
                    </a:path>
                  </a:pathLst>
                </a:custGeom>
                <a:solidFill>
                  <a:srgbClr val="FFFFFF"/>
                </a:solidFill>
                <a:ln w="12700" cap="rnd" cmpd="sng">
                  <a:solidFill>
                    <a:srgbClr val="000000"/>
                  </a:solidFill>
                  <a:prstDash val="solid"/>
                  <a:round/>
                  <a:headEnd type="none" w="med" len="med"/>
                  <a:tailEnd type="none" w="med" len="med"/>
                </a:ln>
              </p:spPr>
              <p:txBody>
                <a:bodyPr/>
                <a:lstStyle/>
                <a:p>
                  <a:endParaRPr lang="en-US"/>
                </a:p>
              </p:txBody>
            </p:sp>
            <p:sp>
              <p:nvSpPr>
                <p:cNvPr id="40387" name="Oval 382"/>
                <p:cNvSpPr>
                  <a:spLocks noChangeArrowheads="1"/>
                </p:cNvSpPr>
                <p:nvPr/>
              </p:nvSpPr>
              <p:spPr bwMode="auto">
                <a:xfrm>
                  <a:off x="5287" y="1444"/>
                  <a:ext cx="100" cy="48"/>
                </a:xfrm>
                <a:prstGeom prst="ellipse">
                  <a:avLst/>
                </a:prstGeom>
                <a:solidFill>
                  <a:srgbClr val="FFFFFF"/>
                </a:solidFill>
                <a:ln w="12700">
                  <a:solidFill>
                    <a:srgbClr val="000000"/>
                  </a:solidFill>
                  <a:round/>
                  <a:headEnd/>
                  <a:tailEnd/>
                </a:ln>
              </p:spPr>
              <p:txBody>
                <a:bodyPr wrap="none" anchor="ctr"/>
                <a:lstStyle/>
                <a:p>
                  <a:endParaRPr lang="en-NZ">
                    <a:latin typeface="Calibri" pitchFamily="34" charset="0"/>
                  </a:endParaRPr>
                </a:p>
              </p:txBody>
            </p:sp>
            <p:sp>
              <p:nvSpPr>
                <p:cNvPr id="40388" name="Freeform 383"/>
                <p:cNvSpPr>
                  <a:spLocks/>
                </p:cNvSpPr>
                <p:nvPr/>
              </p:nvSpPr>
              <p:spPr bwMode="auto">
                <a:xfrm>
                  <a:off x="5301" y="1448"/>
                  <a:ext cx="100" cy="57"/>
                </a:xfrm>
                <a:custGeom>
                  <a:avLst/>
                  <a:gdLst>
                    <a:gd name="T0" fmla="*/ 0 w 100"/>
                    <a:gd name="T1" fmla="*/ 40 h 57"/>
                    <a:gd name="T2" fmla="*/ 0 w 100"/>
                    <a:gd name="T3" fmla="*/ 40 h 57"/>
                    <a:gd name="T4" fmla="*/ 0 w 100"/>
                    <a:gd name="T5" fmla="*/ 32 h 57"/>
                    <a:gd name="T6" fmla="*/ 0 w 100"/>
                    <a:gd name="T7" fmla="*/ 16 h 57"/>
                    <a:gd name="T8" fmla="*/ 9 w 100"/>
                    <a:gd name="T9" fmla="*/ 16 h 57"/>
                    <a:gd name="T10" fmla="*/ 18 w 100"/>
                    <a:gd name="T11" fmla="*/ 8 h 57"/>
                    <a:gd name="T12" fmla="*/ 36 w 100"/>
                    <a:gd name="T13" fmla="*/ 0 h 57"/>
                    <a:gd name="T14" fmla="*/ 45 w 100"/>
                    <a:gd name="T15" fmla="*/ 0 h 57"/>
                    <a:gd name="T16" fmla="*/ 54 w 100"/>
                    <a:gd name="T17" fmla="*/ 0 h 57"/>
                    <a:gd name="T18" fmla="*/ 72 w 100"/>
                    <a:gd name="T19" fmla="*/ 0 h 57"/>
                    <a:gd name="T20" fmla="*/ 81 w 100"/>
                    <a:gd name="T21" fmla="*/ 0 h 57"/>
                    <a:gd name="T22" fmla="*/ 90 w 100"/>
                    <a:gd name="T23" fmla="*/ 8 h 57"/>
                    <a:gd name="T24" fmla="*/ 99 w 100"/>
                    <a:gd name="T25" fmla="*/ 16 h 57"/>
                    <a:gd name="T26" fmla="*/ 99 w 100"/>
                    <a:gd name="T27" fmla="*/ 24 h 57"/>
                    <a:gd name="T28" fmla="*/ 99 w 100"/>
                    <a:gd name="T29" fmla="*/ 32 h 57"/>
                    <a:gd name="T30" fmla="*/ 90 w 100"/>
                    <a:gd name="T31" fmla="*/ 40 h 57"/>
                    <a:gd name="T32" fmla="*/ 81 w 100"/>
                    <a:gd name="T33" fmla="*/ 48 h 57"/>
                    <a:gd name="T34" fmla="*/ 63 w 100"/>
                    <a:gd name="T35" fmla="*/ 56 h 57"/>
                    <a:gd name="T36" fmla="*/ 54 w 100"/>
                    <a:gd name="T37" fmla="*/ 56 h 57"/>
                    <a:gd name="T38" fmla="*/ 45 w 100"/>
                    <a:gd name="T39" fmla="*/ 56 h 57"/>
                    <a:gd name="T40" fmla="*/ 27 w 100"/>
                    <a:gd name="T41" fmla="*/ 56 h 57"/>
                    <a:gd name="T42" fmla="*/ 18 w 100"/>
                    <a:gd name="T43" fmla="*/ 56 h 57"/>
                    <a:gd name="T44" fmla="*/ 9 w 100"/>
                    <a:gd name="T45" fmla="*/ 56 h 57"/>
                    <a:gd name="T46" fmla="*/ 0 w 100"/>
                    <a:gd name="T47" fmla="*/ 48 h 57"/>
                    <a:gd name="T48" fmla="*/ 0 w 100"/>
                    <a:gd name="T49" fmla="*/ 40 h 5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00"/>
                    <a:gd name="T76" fmla="*/ 0 h 57"/>
                    <a:gd name="T77" fmla="*/ 100 w 100"/>
                    <a:gd name="T78" fmla="*/ 57 h 5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00" h="57">
                      <a:moveTo>
                        <a:pt x="0" y="40"/>
                      </a:moveTo>
                      <a:lnTo>
                        <a:pt x="0" y="40"/>
                      </a:lnTo>
                      <a:lnTo>
                        <a:pt x="0" y="32"/>
                      </a:lnTo>
                      <a:lnTo>
                        <a:pt x="0" y="16"/>
                      </a:lnTo>
                      <a:lnTo>
                        <a:pt x="9" y="16"/>
                      </a:lnTo>
                      <a:lnTo>
                        <a:pt x="18" y="8"/>
                      </a:lnTo>
                      <a:lnTo>
                        <a:pt x="36" y="0"/>
                      </a:lnTo>
                      <a:lnTo>
                        <a:pt x="45" y="0"/>
                      </a:lnTo>
                      <a:lnTo>
                        <a:pt x="54" y="0"/>
                      </a:lnTo>
                      <a:lnTo>
                        <a:pt x="72" y="0"/>
                      </a:lnTo>
                      <a:lnTo>
                        <a:pt x="81" y="0"/>
                      </a:lnTo>
                      <a:lnTo>
                        <a:pt x="90" y="8"/>
                      </a:lnTo>
                      <a:lnTo>
                        <a:pt x="99" y="16"/>
                      </a:lnTo>
                      <a:lnTo>
                        <a:pt x="99" y="24"/>
                      </a:lnTo>
                      <a:lnTo>
                        <a:pt x="99" y="32"/>
                      </a:lnTo>
                      <a:lnTo>
                        <a:pt x="90" y="40"/>
                      </a:lnTo>
                      <a:lnTo>
                        <a:pt x="81" y="48"/>
                      </a:lnTo>
                      <a:lnTo>
                        <a:pt x="63" y="56"/>
                      </a:lnTo>
                      <a:lnTo>
                        <a:pt x="54" y="56"/>
                      </a:lnTo>
                      <a:lnTo>
                        <a:pt x="45" y="56"/>
                      </a:lnTo>
                      <a:lnTo>
                        <a:pt x="27" y="56"/>
                      </a:lnTo>
                      <a:lnTo>
                        <a:pt x="18" y="56"/>
                      </a:lnTo>
                      <a:lnTo>
                        <a:pt x="9" y="56"/>
                      </a:lnTo>
                      <a:lnTo>
                        <a:pt x="0" y="48"/>
                      </a:lnTo>
                      <a:lnTo>
                        <a:pt x="0" y="40"/>
                      </a:lnTo>
                    </a:path>
                  </a:pathLst>
                </a:custGeom>
                <a:solidFill>
                  <a:srgbClr val="FE910B"/>
                </a:solidFill>
                <a:ln w="12700" cap="rnd" cmpd="sng">
                  <a:solidFill>
                    <a:srgbClr val="000000"/>
                  </a:solidFill>
                  <a:prstDash val="solid"/>
                  <a:round/>
                  <a:headEnd type="none" w="med" len="med"/>
                  <a:tailEnd type="none" w="med" len="med"/>
                </a:ln>
              </p:spPr>
              <p:txBody>
                <a:bodyPr/>
                <a:lstStyle/>
                <a:p>
                  <a:endParaRPr lang="en-US"/>
                </a:p>
              </p:txBody>
            </p:sp>
            <p:sp>
              <p:nvSpPr>
                <p:cNvPr id="40389" name="Oval 384"/>
                <p:cNvSpPr>
                  <a:spLocks noChangeArrowheads="1"/>
                </p:cNvSpPr>
                <p:nvPr/>
              </p:nvSpPr>
              <p:spPr bwMode="auto">
                <a:xfrm>
                  <a:off x="5377" y="1420"/>
                  <a:ext cx="100" cy="47"/>
                </a:xfrm>
                <a:prstGeom prst="ellipse">
                  <a:avLst/>
                </a:prstGeom>
                <a:solidFill>
                  <a:srgbClr val="FFFFFF"/>
                </a:solidFill>
                <a:ln w="12700">
                  <a:solidFill>
                    <a:srgbClr val="000000"/>
                  </a:solidFill>
                  <a:round/>
                  <a:headEnd/>
                  <a:tailEnd/>
                </a:ln>
              </p:spPr>
              <p:txBody>
                <a:bodyPr wrap="none" anchor="ctr"/>
                <a:lstStyle/>
                <a:p>
                  <a:endParaRPr lang="en-NZ">
                    <a:latin typeface="Calibri" pitchFamily="34" charset="0"/>
                  </a:endParaRPr>
                </a:p>
              </p:txBody>
            </p:sp>
            <p:sp>
              <p:nvSpPr>
                <p:cNvPr id="40390" name="Freeform 385"/>
                <p:cNvSpPr>
                  <a:spLocks/>
                </p:cNvSpPr>
                <p:nvPr/>
              </p:nvSpPr>
              <p:spPr bwMode="auto">
                <a:xfrm>
                  <a:off x="5382" y="1424"/>
                  <a:ext cx="109" cy="65"/>
                </a:xfrm>
                <a:custGeom>
                  <a:avLst/>
                  <a:gdLst>
                    <a:gd name="T0" fmla="*/ 0 w 109"/>
                    <a:gd name="T1" fmla="*/ 40 h 65"/>
                    <a:gd name="T2" fmla="*/ 0 w 109"/>
                    <a:gd name="T3" fmla="*/ 40 h 65"/>
                    <a:gd name="T4" fmla="*/ 0 w 109"/>
                    <a:gd name="T5" fmla="*/ 24 h 65"/>
                    <a:gd name="T6" fmla="*/ 9 w 109"/>
                    <a:gd name="T7" fmla="*/ 16 h 65"/>
                    <a:gd name="T8" fmla="*/ 27 w 109"/>
                    <a:gd name="T9" fmla="*/ 8 h 65"/>
                    <a:gd name="T10" fmla="*/ 45 w 109"/>
                    <a:gd name="T11" fmla="*/ 0 h 65"/>
                    <a:gd name="T12" fmla="*/ 54 w 109"/>
                    <a:gd name="T13" fmla="*/ 0 h 65"/>
                    <a:gd name="T14" fmla="*/ 72 w 109"/>
                    <a:gd name="T15" fmla="*/ 0 h 65"/>
                    <a:gd name="T16" fmla="*/ 81 w 109"/>
                    <a:gd name="T17" fmla="*/ 0 h 65"/>
                    <a:gd name="T18" fmla="*/ 90 w 109"/>
                    <a:gd name="T19" fmla="*/ 8 h 65"/>
                    <a:gd name="T20" fmla="*/ 108 w 109"/>
                    <a:gd name="T21" fmla="*/ 16 h 65"/>
                    <a:gd name="T22" fmla="*/ 108 w 109"/>
                    <a:gd name="T23" fmla="*/ 24 h 65"/>
                    <a:gd name="T24" fmla="*/ 99 w 109"/>
                    <a:gd name="T25" fmla="*/ 40 h 65"/>
                    <a:gd name="T26" fmla="*/ 90 w 109"/>
                    <a:gd name="T27" fmla="*/ 40 h 65"/>
                    <a:gd name="T28" fmla="*/ 81 w 109"/>
                    <a:gd name="T29" fmla="*/ 48 h 65"/>
                    <a:gd name="T30" fmla="*/ 63 w 109"/>
                    <a:gd name="T31" fmla="*/ 56 h 65"/>
                    <a:gd name="T32" fmla="*/ 54 w 109"/>
                    <a:gd name="T33" fmla="*/ 56 h 65"/>
                    <a:gd name="T34" fmla="*/ 45 w 109"/>
                    <a:gd name="T35" fmla="*/ 64 h 65"/>
                    <a:gd name="T36" fmla="*/ 27 w 109"/>
                    <a:gd name="T37" fmla="*/ 64 h 65"/>
                    <a:gd name="T38" fmla="*/ 18 w 109"/>
                    <a:gd name="T39" fmla="*/ 56 h 65"/>
                    <a:gd name="T40" fmla="*/ 9 w 109"/>
                    <a:gd name="T41" fmla="*/ 56 h 65"/>
                    <a:gd name="T42" fmla="*/ 0 w 109"/>
                    <a:gd name="T43" fmla="*/ 48 h 65"/>
                    <a:gd name="T44" fmla="*/ 0 w 109"/>
                    <a:gd name="T45" fmla="*/ 40 h 6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09"/>
                    <a:gd name="T70" fmla="*/ 0 h 65"/>
                    <a:gd name="T71" fmla="*/ 109 w 109"/>
                    <a:gd name="T72" fmla="*/ 65 h 6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09" h="65">
                      <a:moveTo>
                        <a:pt x="0" y="40"/>
                      </a:moveTo>
                      <a:lnTo>
                        <a:pt x="0" y="40"/>
                      </a:lnTo>
                      <a:lnTo>
                        <a:pt x="0" y="24"/>
                      </a:lnTo>
                      <a:lnTo>
                        <a:pt x="9" y="16"/>
                      </a:lnTo>
                      <a:lnTo>
                        <a:pt x="27" y="8"/>
                      </a:lnTo>
                      <a:lnTo>
                        <a:pt x="45" y="0"/>
                      </a:lnTo>
                      <a:lnTo>
                        <a:pt x="54" y="0"/>
                      </a:lnTo>
                      <a:lnTo>
                        <a:pt x="72" y="0"/>
                      </a:lnTo>
                      <a:lnTo>
                        <a:pt x="81" y="0"/>
                      </a:lnTo>
                      <a:lnTo>
                        <a:pt x="90" y="8"/>
                      </a:lnTo>
                      <a:lnTo>
                        <a:pt x="108" y="16"/>
                      </a:lnTo>
                      <a:lnTo>
                        <a:pt x="108" y="24"/>
                      </a:lnTo>
                      <a:lnTo>
                        <a:pt x="99" y="40"/>
                      </a:lnTo>
                      <a:lnTo>
                        <a:pt x="90" y="40"/>
                      </a:lnTo>
                      <a:lnTo>
                        <a:pt x="81" y="48"/>
                      </a:lnTo>
                      <a:lnTo>
                        <a:pt x="63" y="56"/>
                      </a:lnTo>
                      <a:lnTo>
                        <a:pt x="54" y="56"/>
                      </a:lnTo>
                      <a:lnTo>
                        <a:pt x="45" y="64"/>
                      </a:lnTo>
                      <a:lnTo>
                        <a:pt x="27" y="64"/>
                      </a:lnTo>
                      <a:lnTo>
                        <a:pt x="18" y="56"/>
                      </a:lnTo>
                      <a:lnTo>
                        <a:pt x="9" y="56"/>
                      </a:lnTo>
                      <a:lnTo>
                        <a:pt x="0" y="48"/>
                      </a:lnTo>
                      <a:lnTo>
                        <a:pt x="0" y="40"/>
                      </a:lnTo>
                    </a:path>
                  </a:pathLst>
                </a:custGeom>
                <a:solidFill>
                  <a:srgbClr val="FE910B"/>
                </a:solidFill>
                <a:ln w="12700" cap="rnd" cmpd="sng">
                  <a:solidFill>
                    <a:srgbClr val="000000"/>
                  </a:solidFill>
                  <a:prstDash val="solid"/>
                  <a:round/>
                  <a:headEnd type="none" w="med" len="med"/>
                  <a:tailEnd type="none" w="med" len="med"/>
                </a:ln>
              </p:spPr>
              <p:txBody>
                <a:bodyPr/>
                <a:lstStyle/>
                <a:p>
                  <a:endParaRPr lang="en-US"/>
                </a:p>
              </p:txBody>
            </p:sp>
            <p:sp>
              <p:nvSpPr>
                <p:cNvPr id="40391" name="Oval 386"/>
                <p:cNvSpPr>
                  <a:spLocks noChangeArrowheads="1"/>
                </p:cNvSpPr>
                <p:nvPr/>
              </p:nvSpPr>
              <p:spPr bwMode="auto">
                <a:xfrm>
                  <a:off x="5350" y="1396"/>
                  <a:ext cx="46" cy="64"/>
                </a:xfrm>
                <a:prstGeom prst="ellipse">
                  <a:avLst/>
                </a:prstGeom>
                <a:solidFill>
                  <a:srgbClr val="FFFFFF"/>
                </a:solidFill>
                <a:ln w="12700">
                  <a:solidFill>
                    <a:srgbClr val="000000"/>
                  </a:solidFill>
                  <a:round/>
                  <a:headEnd/>
                  <a:tailEnd/>
                </a:ln>
              </p:spPr>
              <p:txBody>
                <a:bodyPr wrap="none" anchor="ctr"/>
                <a:lstStyle/>
                <a:p>
                  <a:endParaRPr lang="en-NZ">
                    <a:latin typeface="Calibri" pitchFamily="34" charset="0"/>
                  </a:endParaRPr>
                </a:p>
              </p:txBody>
            </p:sp>
            <p:sp>
              <p:nvSpPr>
                <p:cNvPr id="40392" name="Freeform 387"/>
                <p:cNvSpPr>
                  <a:spLocks/>
                </p:cNvSpPr>
                <p:nvPr/>
              </p:nvSpPr>
              <p:spPr bwMode="auto">
                <a:xfrm>
                  <a:off x="5355" y="1400"/>
                  <a:ext cx="64" cy="72"/>
                </a:xfrm>
                <a:custGeom>
                  <a:avLst/>
                  <a:gdLst>
                    <a:gd name="T0" fmla="*/ 0 w 64"/>
                    <a:gd name="T1" fmla="*/ 47 h 72"/>
                    <a:gd name="T2" fmla="*/ 0 w 64"/>
                    <a:gd name="T3" fmla="*/ 39 h 72"/>
                    <a:gd name="T4" fmla="*/ 0 w 64"/>
                    <a:gd name="T5" fmla="*/ 24 h 72"/>
                    <a:gd name="T6" fmla="*/ 0 w 64"/>
                    <a:gd name="T7" fmla="*/ 16 h 72"/>
                    <a:gd name="T8" fmla="*/ 9 w 64"/>
                    <a:gd name="T9" fmla="*/ 8 h 72"/>
                    <a:gd name="T10" fmla="*/ 18 w 64"/>
                    <a:gd name="T11" fmla="*/ 0 h 72"/>
                    <a:gd name="T12" fmla="*/ 27 w 64"/>
                    <a:gd name="T13" fmla="*/ 0 h 72"/>
                    <a:gd name="T14" fmla="*/ 36 w 64"/>
                    <a:gd name="T15" fmla="*/ 8 h 72"/>
                    <a:gd name="T16" fmla="*/ 45 w 64"/>
                    <a:gd name="T17" fmla="*/ 8 h 72"/>
                    <a:gd name="T18" fmla="*/ 54 w 64"/>
                    <a:gd name="T19" fmla="*/ 16 h 72"/>
                    <a:gd name="T20" fmla="*/ 54 w 64"/>
                    <a:gd name="T21" fmla="*/ 24 h 72"/>
                    <a:gd name="T22" fmla="*/ 54 w 64"/>
                    <a:gd name="T23" fmla="*/ 32 h 72"/>
                    <a:gd name="T24" fmla="*/ 63 w 64"/>
                    <a:gd name="T25" fmla="*/ 39 h 72"/>
                    <a:gd name="T26" fmla="*/ 63 w 64"/>
                    <a:gd name="T27" fmla="*/ 47 h 72"/>
                    <a:gd name="T28" fmla="*/ 54 w 64"/>
                    <a:gd name="T29" fmla="*/ 55 h 72"/>
                    <a:gd name="T30" fmla="*/ 54 w 64"/>
                    <a:gd name="T31" fmla="*/ 63 h 72"/>
                    <a:gd name="T32" fmla="*/ 45 w 64"/>
                    <a:gd name="T33" fmla="*/ 71 h 72"/>
                    <a:gd name="T34" fmla="*/ 36 w 64"/>
                    <a:gd name="T35" fmla="*/ 71 h 72"/>
                    <a:gd name="T36" fmla="*/ 27 w 64"/>
                    <a:gd name="T37" fmla="*/ 71 h 72"/>
                    <a:gd name="T38" fmla="*/ 18 w 64"/>
                    <a:gd name="T39" fmla="*/ 63 h 72"/>
                    <a:gd name="T40" fmla="*/ 9 w 64"/>
                    <a:gd name="T41" fmla="*/ 63 h 72"/>
                    <a:gd name="T42" fmla="*/ 0 w 64"/>
                    <a:gd name="T43" fmla="*/ 55 h 72"/>
                    <a:gd name="T44" fmla="*/ 0 w 64"/>
                    <a:gd name="T45" fmla="*/ 47 h 7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64"/>
                    <a:gd name="T70" fmla="*/ 0 h 72"/>
                    <a:gd name="T71" fmla="*/ 64 w 64"/>
                    <a:gd name="T72" fmla="*/ 72 h 7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64" h="72">
                      <a:moveTo>
                        <a:pt x="0" y="47"/>
                      </a:moveTo>
                      <a:lnTo>
                        <a:pt x="0" y="39"/>
                      </a:lnTo>
                      <a:lnTo>
                        <a:pt x="0" y="24"/>
                      </a:lnTo>
                      <a:lnTo>
                        <a:pt x="0" y="16"/>
                      </a:lnTo>
                      <a:lnTo>
                        <a:pt x="9" y="8"/>
                      </a:lnTo>
                      <a:lnTo>
                        <a:pt x="18" y="0"/>
                      </a:lnTo>
                      <a:lnTo>
                        <a:pt x="27" y="0"/>
                      </a:lnTo>
                      <a:lnTo>
                        <a:pt x="36" y="8"/>
                      </a:lnTo>
                      <a:lnTo>
                        <a:pt x="45" y="8"/>
                      </a:lnTo>
                      <a:lnTo>
                        <a:pt x="54" y="16"/>
                      </a:lnTo>
                      <a:lnTo>
                        <a:pt x="54" y="24"/>
                      </a:lnTo>
                      <a:lnTo>
                        <a:pt x="54" y="32"/>
                      </a:lnTo>
                      <a:lnTo>
                        <a:pt x="63" y="39"/>
                      </a:lnTo>
                      <a:lnTo>
                        <a:pt x="63" y="47"/>
                      </a:lnTo>
                      <a:lnTo>
                        <a:pt x="54" y="55"/>
                      </a:lnTo>
                      <a:lnTo>
                        <a:pt x="54" y="63"/>
                      </a:lnTo>
                      <a:lnTo>
                        <a:pt x="45" y="71"/>
                      </a:lnTo>
                      <a:lnTo>
                        <a:pt x="36" y="71"/>
                      </a:lnTo>
                      <a:lnTo>
                        <a:pt x="27" y="71"/>
                      </a:lnTo>
                      <a:lnTo>
                        <a:pt x="18" y="63"/>
                      </a:lnTo>
                      <a:lnTo>
                        <a:pt x="9" y="63"/>
                      </a:lnTo>
                      <a:lnTo>
                        <a:pt x="0" y="55"/>
                      </a:lnTo>
                      <a:lnTo>
                        <a:pt x="0" y="47"/>
                      </a:lnTo>
                    </a:path>
                  </a:pathLst>
                </a:custGeom>
                <a:solidFill>
                  <a:srgbClr val="FE910B"/>
                </a:solidFill>
                <a:ln w="12700" cap="rnd" cmpd="sng">
                  <a:solidFill>
                    <a:srgbClr val="000000"/>
                  </a:solidFill>
                  <a:prstDash val="solid"/>
                  <a:round/>
                  <a:headEnd type="none" w="med" len="med"/>
                  <a:tailEnd type="none" w="med" len="med"/>
                </a:ln>
              </p:spPr>
              <p:txBody>
                <a:bodyPr/>
                <a:lstStyle/>
                <a:p>
                  <a:endParaRPr lang="en-US"/>
                </a:p>
              </p:txBody>
            </p:sp>
            <p:sp>
              <p:nvSpPr>
                <p:cNvPr id="40393" name="Oval 388"/>
                <p:cNvSpPr>
                  <a:spLocks noChangeArrowheads="1"/>
                </p:cNvSpPr>
                <p:nvPr/>
              </p:nvSpPr>
              <p:spPr bwMode="auto">
                <a:xfrm>
                  <a:off x="5440" y="1380"/>
                  <a:ext cx="46" cy="64"/>
                </a:xfrm>
                <a:prstGeom prst="ellipse">
                  <a:avLst/>
                </a:prstGeom>
                <a:solidFill>
                  <a:srgbClr val="FFFFFF"/>
                </a:solidFill>
                <a:ln w="12700">
                  <a:solidFill>
                    <a:srgbClr val="000000"/>
                  </a:solidFill>
                  <a:round/>
                  <a:headEnd/>
                  <a:tailEnd/>
                </a:ln>
              </p:spPr>
              <p:txBody>
                <a:bodyPr wrap="none" anchor="ctr"/>
                <a:lstStyle/>
                <a:p>
                  <a:endParaRPr lang="en-NZ">
                    <a:latin typeface="Calibri" pitchFamily="34" charset="0"/>
                  </a:endParaRPr>
                </a:p>
              </p:txBody>
            </p:sp>
            <p:sp>
              <p:nvSpPr>
                <p:cNvPr id="40394" name="Freeform 389"/>
                <p:cNvSpPr>
                  <a:spLocks/>
                </p:cNvSpPr>
                <p:nvPr/>
              </p:nvSpPr>
              <p:spPr bwMode="auto">
                <a:xfrm>
                  <a:off x="5445" y="1384"/>
                  <a:ext cx="55" cy="73"/>
                </a:xfrm>
                <a:custGeom>
                  <a:avLst/>
                  <a:gdLst>
                    <a:gd name="T0" fmla="*/ 0 w 55"/>
                    <a:gd name="T1" fmla="*/ 40 h 73"/>
                    <a:gd name="T2" fmla="*/ 0 w 55"/>
                    <a:gd name="T3" fmla="*/ 32 h 73"/>
                    <a:gd name="T4" fmla="*/ 0 w 55"/>
                    <a:gd name="T5" fmla="*/ 24 h 73"/>
                    <a:gd name="T6" fmla="*/ 0 w 55"/>
                    <a:gd name="T7" fmla="*/ 16 h 73"/>
                    <a:gd name="T8" fmla="*/ 9 w 55"/>
                    <a:gd name="T9" fmla="*/ 8 h 73"/>
                    <a:gd name="T10" fmla="*/ 18 w 55"/>
                    <a:gd name="T11" fmla="*/ 0 h 73"/>
                    <a:gd name="T12" fmla="*/ 36 w 55"/>
                    <a:gd name="T13" fmla="*/ 0 h 73"/>
                    <a:gd name="T14" fmla="*/ 36 w 55"/>
                    <a:gd name="T15" fmla="*/ 8 h 73"/>
                    <a:gd name="T16" fmla="*/ 45 w 55"/>
                    <a:gd name="T17" fmla="*/ 16 h 73"/>
                    <a:gd name="T18" fmla="*/ 54 w 55"/>
                    <a:gd name="T19" fmla="*/ 24 h 73"/>
                    <a:gd name="T20" fmla="*/ 54 w 55"/>
                    <a:gd name="T21" fmla="*/ 32 h 73"/>
                    <a:gd name="T22" fmla="*/ 54 w 55"/>
                    <a:gd name="T23" fmla="*/ 40 h 73"/>
                    <a:gd name="T24" fmla="*/ 54 w 55"/>
                    <a:gd name="T25" fmla="*/ 56 h 73"/>
                    <a:gd name="T26" fmla="*/ 54 w 55"/>
                    <a:gd name="T27" fmla="*/ 64 h 73"/>
                    <a:gd name="T28" fmla="*/ 45 w 55"/>
                    <a:gd name="T29" fmla="*/ 72 h 73"/>
                    <a:gd name="T30" fmla="*/ 36 w 55"/>
                    <a:gd name="T31" fmla="*/ 72 h 73"/>
                    <a:gd name="T32" fmla="*/ 27 w 55"/>
                    <a:gd name="T33" fmla="*/ 72 h 73"/>
                    <a:gd name="T34" fmla="*/ 18 w 55"/>
                    <a:gd name="T35" fmla="*/ 64 h 73"/>
                    <a:gd name="T36" fmla="*/ 9 w 55"/>
                    <a:gd name="T37" fmla="*/ 48 h 73"/>
                    <a:gd name="T38" fmla="*/ 0 w 55"/>
                    <a:gd name="T39" fmla="*/ 40 h 7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5"/>
                    <a:gd name="T61" fmla="*/ 0 h 73"/>
                    <a:gd name="T62" fmla="*/ 55 w 55"/>
                    <a:gd name="T63" fmla="*/ 73 h 7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5" h="73">
                      <a:moveTo>
                        <a:pt x="0" y="40"/>
                      </a:moveTo>
                      <a:lnTo>
                        <a:pt x="0" y="32"/>
                      </a:lnTo>
                      <a:lnTo>
                        <a:pt x="0" y="24"/>
                      </a:lnTo>
                      <a:lnTo>
                        <a:pt x="0" y="16"/>
                      </a:lnTo>
                      <a:lnTo>
                        <a:pt x="9" y="8"/>
                      </a:lnTo>
                      <a:lnTo>
                        <a:pt x="18" y="0"/>
                      </a:lnTo>
                      <a:lnTo>
                        <a:pt x="36" y="0"/>
                      </a:lnTo>
                      <a:lnTo>
                        <a:pt x="36" y="8"/>
                      </a:lnTo>
                      <a:lnTo>
                        <a:pt x="45" y="16"/>
                      </a:lnTo>
                      <a:lnTo>
                        <a:pt x="54" y="24"/>
                      </a:lnTo>
                      <a:lnTo>
                        <a:pt x="54" y="32"/>
                      </a:lnTo>
                      <a:lnTo>
                        <a:pt x="54" y="40"/>
                      </a:lnTo>
                      <a:lnTo>
                        <a:pt x="54" y="56"/>
                      </a:lnTo>
                      <a:lnTo>
                        <a:pt x="54" y="64"/>
                      </a:lnTo>
                      <a:lnTo>
                        <a:pt x="45" y="72"/>
                      </a:lnTo>
                      <a:lnTo>
                        <a:pt x="36" y="72"/>
                      </a:lnTo>
                      <a:lnTo>
                        <a:pt x="27" y="72"/>
                      </a:lnTo>
                      <a:lnTo>
                        <a:pt x="18" y="64"/>
                      </a:lnTo>
                      <a:lnTo>
                        <a:pt x="9" y="48"/>
                      </a:lnTo>
                      <a:lnTo>
                        <a:pt x="0" y="40"/>
                      </a:lnTo>
                    </a:path>
                  </a:pathLst>
                </a:custGeom>
                <a:solidFill>
                  <a:srgbClr val="FE910B"/>
                </a:solidFill>
                <a:ln w="12700" cap="rnd" cmpd="sng">
                  <a:solidFill>
                    <a:srgbClr val="000000"/>
                  </a:solidFill>
                  <a:prstDash val="solid"/>
                  <a:round/>
                  <a:headEnd type="none" w="med" len="med"/>
                  <a:tailEnd type="none" w="med" len="med"/>
                </a:ln>
              </p:spPr>
              <p:txBody>
                <a:bodyPr/>
                <a:lstStyle/>
                <a:p>
                  <a:endParaRPr lang="en-US"/>
                </a:p>
              </p:txBody>
            </p:sp>
            <p:sp>
              <p:nvSpPr>
                <p:cNvPr id="40395" name="Oval 390"/>
                <p:cNvSpPr>
                  <a:spLocks noChangeArrowheads="1"/>
                </p:cNvSpPr>
                <p:nvPr/>
              </p:nvSpPr>
              <p:spPr bwMode="auto">
                <a:xfrm>
                  <a:off x="5098" y="1460"/>
                  <a:ext cx="100" cy="48"/>
                </a:xfrm>
                <a:prstGeom prst="ellipse">
                  <a:avLst/>
                </a:prstGeom>
                <a:solidFill>
                  <a:srgbClr val="FFFFFF"/>
                </a:solidFill>
                <a:ln w="12700">
                  <a:solidFill>
                    <a:srgbClr val="000000"/>
                  </a:solidFill>
                  <a:round/>
                  <a:headEnd/>
                  <a:tailEnd/>
                </a:ln>
              </p:spPr>
              <p:txBody>
                <a:bodyPr wrap="none" anchor="ctr"/>
                <a:lstStyle/>
                <a:p>
                  <a:endParaRPr lang="en-NZ">
                    <a:latin typeface="Calibri" pitchFamily="34" charset="0"/>
                  </a:endParaRPr>
                </a:p>
              </p:txBody>
            </p:sp>
            <p:sp>
              <p:nvSpPr>
                <p:cNvPr id="40396" name="Freeform 391"/>
                <p:cNvSpPr>
                  <a:spLocks/>
                </p:cNvSpPr>
                <p:nvPr/>
              </p:nvSpPr>
              <p:spPr bwMode="auto">
                <a:xfrm>
                  <a:off x="5103" y="1464"/>
                  <a:ext cx="100" cy="57"/>
                </a:xfrm>
                <a:custGeom>
                  <a:avLst/>
                  <a:gdLst>
                    <a:gd name="T0" fmla="*/ 0 w 100"/>
                    <a:gd name="T1" fmla="*/ 40 h 57"/>
                    <a:gd name="T2" fmla="*/ 0 w 100"/>
                    <a:gd name="T3" fmla="*/ 32 h 57"/>
                    <a:gd name="T4" fmla="*/ 9 w 100"/>
                    <a:gd name="T5" fmla="*/ 16 h 57"/>
                    <a:gd name="T6" fmla="*/ 18 w 100"/>
                    <a:gd name="T7" fmla="*/ 8 h 57"/>
                    <a:gd name="T8" fmla="*/ 36 w 100"/>
                    <a:gd name="T9" fmla="*/ 0 h 57"/>
                    <a:gd name="T10" fmla="*/ 45 w 100"/>
                    <a:gd name="T11" fmla="*/ 0 h 57"/>
                    <a:gd name="T12" fmla="*/ 54 w 100"/>
                    <a:gd name="T13" fmla="*/ 0 h 57"/>
                    <a:gd name="T14" fmla="*/ 72 w 100"/>
                    <a:gd name="T15" fmla="*/ 0 h 57"/>
                    <a:gd name="T16" fmla="*/ 81 w 100"/>
                    <a:gd name="T17" fmla="*/ 0 h 57"/>
                    <a:gd name="T18" fmla="*/ 90 w 100"/>
                    <a:gd name="T19" fmla="*/ 8 h 57"/>
                    <a:gd name="T20" fmla="*/ 99 w 100"/>
                    <a:gd name="T21" fmla="*/ 16 h 57"/>
                    <a:gd name="T22" fmla="*/ 99 w 100"/>
                    <a:gd name="T23" fmla="*/ 32 h 57"/>
                    <a:gd name="T24" fmla="*/ 90 w 100"/>
                    <a:gd name="T25" fmla="*/ 40 h 57"/>
                    <a:gd name="T26" fmla="*/ 81 w 100"/>
                    <a:gd name="T27" fmla="*/ 48 h 57"/>
                    <a:gd name="T28" fmla="*/ 63 w 100"/>
                    <a:gd name="T29" fmla="*/ 56 h 57"/>
                    <a:gd name="T30" fmla="*/ 54 w 100"/>
                    <a:gd name="T31" fmla="*/ 56 h 57"/>
                    <a:gd name="T32" fmla="*/ 45 w 100"/>
                    <a:gd name="T33" fmla="*/ 56 h 57"/>
                    <a:gd name="T34" fmla="*/ 27 w 100"/>
                    <a:gd name="T35" fmla="*/ 56 h 57"/>
                    <a:gd name="T36" fmla="*/ 18 w 100"/>
                    <a:gd name="T37" fmla="*/ 56 h 57"/>
                    <a:gd name="T38" fmla="*/ 9 w 100"/>
                    <a:gd name="T39" fmla="*/ 56 h 57"/>
                    <a:gd name="T40" fmla="*/ 0 w 100"/>
                    <a:gd name="T41" fmla="*/ 48 h 57"/>
                    <a:gd name="T42" fmla="*/ 0 w 100"/>
                    <a:gd name="T43" fmla="*/ 40 h 5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0"/>
                    <a:gd name="T67" fmla="*/ 0 h 57"/>
                    <a:gd name="T68" fmla="*/ 100 w 100"/>
                    <a:gd name="T69" fmla="*/ 57 h 5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0" h="57">
                      <a:moveTo>
                        <a:pt x="0" y="40"/>
                      </a:moveTo>
                      <a:lnTo>
                        <a:pt x="0" y="32"/>
                      </a:lnTo>
                      <a:lnTo>
                        <a:pt x="9" y="16"/>
                      </a:lnTo>
                      <a:lnTo>
                        <a:pt x="18" y="8"/>
                      </a:lnTo>
                      <a:lnTo>
                        <a:pt x="36" y="0"/>
                      </a:lnTo>
                      <a:lnTo>
                        <a:pt x="45" y="0"/>
                      </a:lnTo>
                      <a:lnTo>
                        <a:pt x="54" y="0"/>
                      </a:lnTo>
                      <a:lnTo>
                        <a:pt x="72" y="0"/>
                      </a:lnTo>
                      <a:lnTo>
                        <a:pt x="81" y="0"/>
                      </a:lnTo>
                      <a:lnTo>
                        <a:pt x="90" y="8"/>
                      </a:lnTo>
                      <a:lnTo>
                        <a:pt x="99" y="16"/>
                      </a:lnTo>
                      <a:lnTo>
                        <a:pt x="99" y="32"/>
                      </a:lnTo>
                      <a:lnTo>
                        <a:pt x="90" y="40"/>
                      </a:lnTo>
                      <a:lnTo>
                        <a:pt x="81" y="48"/>
                      </a:lnTo>
                      <a:lnTo>
                        <a:pt x="63" y="56"/>
                      </a:lnTo>
                      <a:lnTo>
                        <a:pt x="54" y="56"/>
                      </a:lnTo>
                      <a:lnTo>
                        <a:pt x="45" y="56"/>
                      </a:lnTo>
                      <a:lnTo>
                        <a:pt x="27" y="56"/>
                      </a:lnTo>
                      <a:lnTo>
                        <a:pt x="18" y="56"/>
                      </a:lnTo>
                      <a:lnTo>
                        <a:pt x="9" y="56"/>
                      </a:lnTo>
                      <a:lnTo>
                        <a:pt x="0" y="48"/>
                      </a:lnTo>
                      <a:lnTo>
                        <a:pt x="0" y="40"/>
                      </a:lnTo>
                    </a:path>
                  </a:pathLst>
                </a:custGeom>
                <a:solidFill>
                  <a:schemeClr val="accent1"/>
                </a:solidFill>
                <a:ln w="12700" cap="rnd" cmpd="sng">
                  <a:solidFill>
                    <a:srgbClr val="000000"/>
                  </a:solidFill>
                  <a:prstDash val="solid"/>
                  <a:round/>
                  <a:headEnd type="none" w="med" len="med"/>
                  <a:tailEnd type="none" w="med" len="med"/>
                </a:ln>
              </p:spPr>
              <p:txBody>
                <a:bodyPr/>
                <a:lstStyle/>
                <a:p>
                  <a:endParaRPr lang="en-US"/>
                </a:p>
              </p:txBody>
            </p:sp>
            <p:sp>
              <p:nvSpPr>
                <p:cNvPr id="40397" name="Oval 392"/>
                <p:cNvSpPr>
                  <a:spLocks noChangeArrowheads="1"/>
                </p:cNvSpPr>
                <p:nvPr/>
              </p:nvSpPr>
              <p:spPr bwMode="auto">
                <a:xfrm>
                  <a:off x="5179" y="1436"/>
                  <a:ext cx="100" cy="48"/>
                </a:xfrm>
                <a:prstGeom prst="ellipse">
                  <a:avLst/>
                </a:prstGeom>
                <a:solidFill>
                  <a:srgbClr val="FFFFFF"/>
                </a:solidFill>
                <a:ln w="12700">
                  <a:solidFill>
                    <a:srgbClr val="000000"/>
                  </a:solidFill>
                  <a:round/>
                  <a:headEnd/>
                  <a:tailEnd/>
                </a:ln>
              </p:spPr>
              <p:txBody>
                <a:bodyPr wrap="none" anchor="ctr"/>
                <a:lstStyle/>
                <a:p>
                  <a:endParaRPr lang="en-NZ">
                    <a:latin typeface="Calibri" pitchFamily="34" charset="0"/>
                  </a:endParaRPr>
                </a:p>
              </p:txBody>
            </p:sp>
            <p:sp>
              <p:nvSpPr>
                <p:cNvPr id="40398" name="Freeform 393"/>
                <p:cNvSpPr>
                  <a:spLocks/>
                </p:cNvSpPr>
                <p:nvPr/>
              </p:nvSpPr>
              <p:spPr bwMode="auto">
                <a:xfrm>
                  <a:off x="5169" y="1460"/>
                  <a:ext cx="108" cy="65"/>
                </a:xfrm>
                <a:custGeom>
                  <a:avLst/>
                  <a:gdLst>
                    <a:gd name="T0" fmla="*/ 0 w 108"/>
                    <a:gd name="T1" fmla="*/ 40 h 65"/>
                    <a:gd name="T2" fmla="*/ 0 w 108"/>
                    <a:gd name="T3" fmla="*/ 40 h 65"/>
                    <a:gd name="T4" fmla="*/ 9 w 108"/>
                    <a:gd name="T5" fmla="*/ 24 h 65"/>
                    <a:gd name="T6" fmla="*/ 9 w 108"/>
                    <a:gd name="T7" fmla="*/ 16 h 65"/>
                    <a:gd name="T8" fmla="*/ 18 w 108"/>
                    <a:gd name="T9" fmla="*/ 16 h 65"/>
                    <a:gd name="T10" fmla="*/ 36 w 108"/>
                    <a:gd name="T11" fmla="*/ 8 h 65"/>
                    <a:gd name="T12" fmla="*/ 45 w 108"/>
                    <a:gd name="T13" fmla="*/ 0 h 65"/>
                    <a:gd name="T14" fmla="*/ 62 w 108"/>
                    <a:gd name="T15" fmla="*/ 0 h 65"/>
                    <a:gd name="T16" fmla="*/ 80 w 108"/>
                    <a:gd name="T17" fmla="*/ 0 h 65"/>
                    <a:gd name="T18" fmla="*/ 89 w 108"/>
                    <a:gd name="T19" fmla="*/ 0 h 65"/>
                    <a:gd name="T20" fmla="*/ 98 w 108"/>
                    <a:gd name="T21" fmla="*/ 8 h 65"/>
                    <a:gd name="T22" fmla="*/ 107 w 108"/>
                    <a:gd name="T23" fmla="*/ 16 h 65"/>
                    <a:gd name="T24" fmla="*/ 107 w 108"/>
                    <a:gd name="T25" fmla="*/ 24 h 65"/>
                    <a:gd name="T26" fmla="*/ 107 w 108"/>
                    <a:gd name="T27" fmla="*/ 32 h 65"/>
                    <a:gd name="T28" fmla="*/ 98 w 108"/>
                    <a:gd name="T29" fmla="*/ 40 h 65"/>
                    <a:gd name="T30" fmla="*/ 89 w 108"/>
                    <a:gd name="T31" fmla="*/ 48 h 65"/>
                    <a:gd name="T32" fmla="*/ 71 w 108"/>
                    <a:gd name="T33" fmla="*/ 56 h 65"/>
                    <a:gd name="T34" fmla="*/ 62 w 108"/>
                    <a:gd name="T35" fmla="*/ 56 h 65"/>
                    <a:gd name="T36" fmla="*/ 45 w 108"/>
                    <a:gd name="T37" fmla="*/ 64 h 65"/>
                    <a:gd name="T38" fmla="*/ 27 w 108"/>
                    <a:gd name="T39" fmla="*/ 64 h 65"/>
                    <a:gd name="T40" fmla="*/ 18 w 108"/>
                    <a:gd name="T41" fmla="*/ 56 h 65"/>
                    <a:gd name="T42" fmla="*/ 9 w 108"/>
                    <a:gd name="T43" fmla="*/ 56 h 65"/>
                    <a:gd name="T44" fmla="*/ 0 w 108"/>
                    <a:gd name="T45" fmla="*/ 48 h 65"/>
                    <a:gd name="T46" fmla="*/ 0 w 108"/>
                    <a:gd name="T47" fmla="*/ 40 h 6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08"/>
                    <a:gd name="T73" fmla="*/ 0 h 65"/>
                    <a:gd name="T74" fmla="*/ 108 w 108"/>
                    <a:gd name="T75" fmla="*/ 65 h 65"/>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08" h="65">
                      <a:moveTo>
                        <a:pt x="0" y="40"/>
                      </a:moveTo>
                      <a:lnTo>
                        <a:pt x="0" y="40"/>
                      </a:lnTo>
                      <a:lnTo>
                        <a:pt x="9" y="24"/>
                      </a:lnTo>
                      <a:lnTo>
                        <a:pt x="9" y="16"/>
                      </a:lnTo>
                      <a:lnTo>
                        <a:pt x="18" y="16"/>
                      </a:lnTo>
                      <a:lnTo>
                        <a:pt x="36" y="8"/>
                      </a:lnTo>
                      <a:lnTo>
                        <a:pt x="45" y="0"/>
                      </a:lnTo>
                      <a:lnTo>
                        <a:pt x="62" y="0"/>
                      </a:lnTo>
                      <a:lnTo>
                        <a:pt x="80" y="0"/>
                      </a:lnTo>
                      <a:lnTo>
                        <a:pt x="89" y="0"/>
                      </a:lnTo>
                      <a:lnTo>
                        <a:pt x="98" y="8"/>
                      </a:lnTo>
                      <a:lnTo>
                        <a:pt x="107" y="16"/>
                      </a:lnTo>
                      <a:lnTo>
                        <a:pt x="107" y="24"/>
                      </a:lnTo>
                      <a:lnTo>
                        <a:pt x="107" y="32"/>
                      </a:lnTo>
                      <a:lnTo>
                        <a:pt x="98" y="40"/>
                      </a:lnTo>
                      <a:lnTo>
                        <a:pt x="89" y="48"/>
                      </a:lnTo>
                      <a:lnTo>
                        <a:pt x="71" y="56"/>
                      </a:lnTo>
                      <a:lnTo>
                        <a:pt x="62" y="56"/>
                      </a:lnTo>
                      <a:lnTo>
                        <a:pt x="45" y="64"/>
                      </a:lnTo>
                      <a:lnTo>
                        <a:pt x="27" y="64"/>
                      </a:lnTo>
                      <a:lnTo>
                        <a:pt x="18" y="56"/>
                      </a:lnTo>
                      <a:lnTo>
                        <a:pt x="9" y="56"/>
                      </a:lnTo>
                      <a:lnTo>
                        <a:pt x="0" y="48"/>
                      </a:lnTo>
                      <a:lnTo>
                        <a:pt x="0" y="40"/>
                      </a:lnTo>
                    </a:path>
                  </a:pathLst>
                </a:custGeom>
                <a:solidFill>
                  <a:srgbClr val="FE910B"/>
                </a:solidFill>
                <a:ln w="12700" cap="rnd" cmpd="sng">
                  <a:solidFill>
                    <a:srgbClr val="000000"/>
                  </a:solidFill>
                  <a:prstDash val="solid"/>
                  <a:round/>
                  <a:headEnd type="none" w="med" len="med"/>
                  <a:tailEnd type="none" w="med" len="med"/>
                </a:ln>
              </p:spPr>
              <p:txBody>
                <a:bodyPr/>
                <a:lstStyle/>
                <a:p>
                  <a:endParaRPr lang="en-US"/>
                </a:p>
              </p:txBody>
            </p:sp>
            <p:sp>
              <p:nvSpPr>
                <p:cNvPr id="40399" name="Oval 394"/>
                <p:cNvSpPr>
                  <a:spLocks noChangeArrowheads="1"/>
                </p:cNvSpPr>
                <p:nvPr/>
              </p:nvSpPr>
              <p:spPr bwMode="auto">
                <a:xfrm>
                  <a:off x="5152" y="1412"/>
                  <a:ext cx="46" cy="64"/>
                </a:xfrm>
                <a:prstGeom prst="ellipse">
                  <a:avLst/>
                </a:prstGeom>
                <a:solidFill>
                  <a:srgbClr val="FFFFFF"/>
                </a:solidFill>
                <a:ln w="12700">
                  <a:solidFill>
                    <a:srgbClr val="000000"/>
                  </a:solidFill>
                  <a:round/>
                  <a:headEnd/>
                  <a:tailEnd/>
                </a:ln>
              </p:spPr>
              <p:txBody>
                <a:bodyPr wrap="none" anchor="ctr"/>
                <a:lstStyle/>
                <a:p>
                  <a:endParaRPr lang="en-NZ">
                    <a:latin typeface="Calibri" pitchFamily="34" charset="0"/>
                  </a:endParaRPr>
                </a:p>
              </p:txBody>
            </p:sp>
            <p:sp>
              <p:nvSpPr>
                <p:cNvPr id="40400" name="Freeform 395"/>
                <p:cNvSpPr>
                  <a:spLocks/>
                </p:cNvSpPr>
                <p:nvPr/>
              </p:nvSpPr>
              <p:spPr bwMode="auto">
                <a:xfrm>
                  <a:off x="5157" y="1416"/>
                  <a:ext cx="64" cy="73"/>
                </a:xfrm>
                <a:custGeom>
                  <a:avLst/>
                  <a:gdLst>
                    <a:gd name="T0" fmla="*/ 0 w 64"/>
                    <a:gd name="T1" fmla="*/ 48 h 73"/>
                    <a:gd name="T2" fmla="*/ 0 w 64"/>
                    <a:gd name="T3" fmla="*/ 40 h 73"/>
                    <a:gd name="T4" fmla="*/ 0 w 64"/>
                    <a:gd name="T5" fmla="*/ 24 h 73"/>
                    <a:gd name="T6" fmla="*/ 0 w 64"/>
                    <a:gd name="T7" fmla="*/ 16 h 73"/>
                    <a:gd name="T8" fmla="*/ 9 w 64"/>
                    <a:gd name="T9" fmla="*/ 8 h 73"/>
                    <a:gd name="T10" fmla="*/ 18 w 64"/>
                    <a:gd name="T11" fmla="*/ 0 h 73"/>
                    <a:gd name="T12" fmla="*/ 27 w 64"/>
                    <a:gd name="T13" fmla="*/ 0 h 73"/>
                    <a:gd name="T14" fmla="*/ 45 w 64"/>
                    <a:gd name="T15" fmla="*/ 8 h 73"/>
                    <a:gd name="T16" fmla="*/ 54 w 64"/>
                    <a:gd name="T17" fmla="*/ 16 h 73"/>
                    <a:gd name="T18" fmla="*/ 54 w 64"/>
                    <a:gd name="T19" fmla="*/ 24 h 73"/>
                    <a:gd name="T20" fmla="*/ 54 w 64"/>
                    <a:gd name="T21" fmla="*/ 32 h 73"/>
                    <a:gd name="T22" fmla="*/ 63 w 64"/>
                    <a:gd name="T23" fmla="*/ 40 h 73"/>
                    <a:gd name="T24" fmla="*/ 63 w 64"/>
                    <a:gd name="T25" fmla="*/ 48 h 73"/>
                    <a:gd name="T26" fmla="*/ 54 w 64"/>
                    <a:gd name="T27" fmla="*/ 56 h 73"/>
                    <a:gd name="T28" fmla="*/ 54 w 64"/>
                    <a:gd name="T29" fmla="*/ 64 h 73"/>
                    <a:gd name="T30" fmla="*/ 45 w 64"/>
                    <a:gd name="T31" fmla="*/ 72 h 73"/>
                    <a:gd name="T32" fmla="*/ 36 w 64"/>
                    <a:gd name="T33" fmla="*/ 72 h 73"/>
                    <a:gd name="T34" fmla="*/ 27 w 64"/>
                    <a:gd name="T35" fmla="*/ 72 h 73"/>
                    <a:gd name="T36" fmla="*/ 18 w 64"/>
                    <a:gd name="T37" fmla="*/ 64 h 73"/>
                    <a:gd name="T38" fmla="*/ 9 w 64"/>
                    <a:gd name="T39" fmla="*/ 56 h 73"/>
                    <a:gd name="T40" fmla="*/ 0 w 64"/>
                    <a:gd name="T41" fmla="*/ 48 h 7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4"/>
                    <a:gd name="T64" fmla="*/ 0 h 73"/>
                    <a:gd name="T65" fmla="*/ 64 w 64"/>
                    <a:gd name="T66" fmla="*/ 73 h 7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4" h="73">
                      <a:moveTo>
                        <a:pt x="0" y="48"/>
                      </a:moveTo>
                      <a:lnTo>
                        <a:pt x="0" y="40"/>
                      </a:lnTo>
                      <a:lnTo>
                        <a:pt x="0" y="24"/>
                      </a:lnTo>
                      <a:lnTo>
                        <a:pt x="0" y="16"/>
                      </a:lnTo>
                      <a:lnTo>
                        <a:pt x="9" y="8"/>
                      </a:lnTo>
                      <a:lnTo>
                        <a:pt x="18" y="0"/>
                      </a:lnTo>
                      <a:lnTo>
                        <a:pt x="27" y="0"/>
                      </a:lnTo>
                      <a:lnTo>
                        <a:pt x="45" y="8"/>
                      </a:lnTo>
                      <a:lnTo>
                        <a:pt x="54" y="16"/>
                      </a:lnTo>
                      <a:lnTo>
                        <a:pt x="54" y="24"/>
                      </a:lnTo>
                      <a:lnTo>
                        <a:pt x="54" y="32"/>
                      </a:lnTo>
                      <a:lnTo>
                        <a:pt x="63" y="40"/>
                      </a:lnTo>
                      <a:lnTo>
                        <a:pt x="63" y="48"/>
                      </a:lnTo>
                      <a:lnTo>
                        <a:pt x="54" y="56"/>
                      </a:lnTo>
                      <a:lnTo>
                        <a:pt x="54" y="64"/>
                      </a:lnTo>
                      <a:lnTo>
                        <a:pt x="45" y="72"/>
                      </a:lnTo>
                      <a:lnTo>
                        <a:pt x="36" y="72"/>
                      </a:lnTo>
                      <a:lnTo>
                        <a:pt x="27" y="72"/>
                      </a:lnTo>
                      <a:lnTo>
                        <a:pt x="18" y="64"/>
                      </a:lnTo>
                      <a:lnTo>
                        <a:pt x="9" y="56"/>
                      </a:lnTo>
                      <a:lnTo>
                        <a:pt x="0" y="48"/>
                      </a:lnTo>
                    </a:path>
                  </a:pathLst>
                </a:custGeom>
                <a:solidFill>
                  <a:srgbClr val="FE910B"/>
                </a:solidFill>
                <a:ln w="12700" cap="rnd" cmpd="sng">
                  <a:solidFill>
                    <a:srgbClr val="000000"/>
                  </a:solidFill>
                  <a:prstDash val="solid"/>
                  <a:round/>
                  <a:headEnd type="none" w="med" len="med"/>
                  <a:tailEnd type="none" w="med" len="med"/>
                </a:ln>
              </p:spPr>
              <p:txBody>
                <a:bodyPr/>
                <a:lstStyle/>
                <a:p>
                  <a:endParaRPr lang="en-US"/>
                </a:p>
              </p:txBody>
            </p:sp>
            <p:sp>
              <p:nvSpPr>
                <p:cNvPr id="40401" name="Oval 396"/>
                <p:cNvSpPr>
                  <a:spLocks noChangeArrowheads="1"/>
                </p:cNvSpPr>
                <p:nvPr/>
              </p:nvSpPr>
              <p:spPr bwMode="auto">
                <a:xfrm>
                  <a:off x="5242" y="1396"/>
                  <a:ext cx="46" cy="64"/>
                </a:xfrm>
                <a:prstGeom prst="ellipse">
                  <a:avLst/>
                </a:prstGeom>
                <a:solidFill>
                  <a:srgbClr val="666666"/>
                </a:solidFill>
                <a:ln w="12700">
                  <a:solidFill>
                    <a:srgbClr val="000000"/>
                  </a:solidFill>
                  <a:round/>
                  <a:headEnd/>
                  <a:tailEnd/>
                </a:ln>
              </p:spPr>
              <p:txBody>
                <a:bodyPr wrap="none" anchor="ctr"/>
                <a:lstStyle/>
                <a:p>
                  <a:endParaRPr lang="en-NZ">
                    <a:latin typeface="Calibri" pitchFamily="34" charset="0"/>
                  </a:endParaRPr>
                </a:p>
              </p:txBody>
            </p:sp>
            <p:sp>
              <p:nvSpPr>
                <p:cNvPr id="40402" name="Freeform 397"/>
                <p:cNvSpPr>
                  <a:spLocks/>
                </p:cNvSpPr>
                <p:nvPr/>
              </p:nvSpPr>
              <p:spPr bwMode="auto">
                <a:xfrm>
                  <a:off x="5247" y="1400"/>
                  <a:ext cx="55" cy="72"/>
                </a:xfrm>
                <a:custGeom>
                  <a:avLst/>
                  <a:gdLst>
                    <a:gd name="T0" fmla="*/ 0 w 55"/>
                    <a:gd name="T1" fmla="*/ 39 h 72"/>
                    <a:gd name="T2" fmla="*/ 0 w 55"/>
                    <a:gd name="T3" fmla="*/ 32 h 72"/>
                    <a:gd name="T4" fmla="*/ 0 w 55"/>
                    <a:gd name="T5" fmla="*/ 24 h 72"/>
                    <a:gd name="T6" fmla="*/ 0 w 55"/>
                    <a:gd name="T7" fmla="*/ 16 h 72"/>
                    <a:gd name="T8" fmla="*/ 9 w 55"/>
                    <a:gd name="T9" fmla="*/ 8 h 72"/>
                    <a:gd name="T10" fmla="*/ 18 w 55"/>
                    <a:gd name="T11" fmla="*/ 0 h 72"/>
                    <a:gd name="T12" fmla="*/ 36 w 55"/>
                    <a:gd name="T13" fmla="*/ 0 h 72"/>
                    <a:gd name="T14" fmla="*/ 36 w 55"/>
                    <a:gd name="T15" fmla="*/ 8 h 72"/>
                    <a:gd name="T16" fmla="*/ 45 w 55"/>
                    <a:gd name="T17" fmla="*/ 16 h 72"/>
                    <a:gd name="T18" fmla="*/ 54 w 55"/>
                    <a:gd name="T19" fmla="*/ 24 h 72"/>
                    <a:gd name="T20" fmla="*/ 54 w 55"/>
                    <a:gd name="T21" fmla="*/ 32 h 72"/>
                    <a:gd name="T22" fmla="*/ 54 w 55"/>
                    <a:gd name="T23" fmla="*/ 39 h 72"/>
                    <a:gd name="T24" fmla="*/ 54 w 55"/>
                    <a:gd name="T25" fmla="*/ 55 h 72"/>
                    <a:gd name="T26" fmla="*/ 54 w 55"/>
                    <a:gd name="T27" fmla="*/ 63 h 72"/>
                    <a:gd name="T28" fmla="*/ 45 w 55"/>
                    <a:gd name="T29" fmla="*/ 71 h 72"/>
                    <a:gd name="T30" fmla="*/ 36 w 55"/>
                    <a:gd name="T31" fmla="*/ 71 h 72"/>
                    <a:gd name="T32" fmla="*/ 27 w 55"/>
                    <a:gd name="T33" fmla="*/ 71 h 72"/>
                    <a:gd name="T34" fmla="*/ 18 w 55"/>
                    <a:gd name="T35" fmla="*/ 63 h 72"/>
                    <a:gd name="T36" fmla="*/ 9 w 55"/>
                    <a:gd name="T37" fmla="*/ 47 h 72"/>
                    <a:gd name="T38" fmla="*/ 0 w 55"/>
                    <a:gd name="T39" fmla="*/ 39 h 7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5"/>
                    <a:gd name="T61" fmla="*/ 0 h 72"/>
                    <a:gd name="T62" fmla="*/ 55 w 55"/>
                    <a:gd name="T63" fmla="*/ 72 h 72"/>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5" h="72">
                      <a:moveTo>
                        <a:pt x="0" y="39"/>
                      </a:moveTo>
                      <a:lnTo>
                        <a:pt x="0" y="32"/>
                      </a:lnTo>
                      <a:lnTo>
                        <a:pt x="0" y="24"/>
                      </a:lnTo>
                      <a:lnTo>
                        <a:pt x="0" y="16"/>
                      </a:lnTo>
                      <a:lnTo>
                        <a:pt x="9" y="8"/>
                      </a:lnTo>
                      <a:lnTo>
                        <a:pt x="18" y="0"/>
                      </a:lnTo>
                      <a:lnTo>
                        <a:pt x="36" y="0"/>
                      </a:lnTo>
                      <a:lnTo>
                        <a:pt x="36" y="8"/>
                      </a:lnTo>
                      <a:lnTo>
                        <a:pt x="45" y="16"/>
                      </a:lnTo>
                      <a:lnTo>
                        <a:pt x="54" y="24"/>
                      </a:lnTo>
                      <a:lnTo>
                        <a:pt x="54" y="32"/>
                      </a:lnTo>
                      <a:lnTo>
                        <a:pt x="54" y="39"/>
                      </a:lnTo>
                      <a:lnTo>
                        <a:pt x="54" y="55"/>
                      </a:lnTo>
                      <a:lnTo>
                        <a:pt x="54" y="63"/>
                      </a:lnTo>
                      <a:lnTo>
                        <a:pt x="45" y="71"/>
                      </a:lnTo>
                      <a:lnTo>
                        <a:pt x="36" y="71"/>
                      </a:lnTo>
                      <a:lnTo>
                        <a:pt x="27" y="71"/>
                      </a:lnTo>
                      <a:lnTo>
                        <a:pt x="18" y="63"/>
                      </a:lnTo>
                      <a:lnTo>
                        <a:pt x="9" y="47"/>
                      </a:lnTo>
                      <a:lnTo>
                        <a:pt x="0" y="39"/>
                      </a:lnTo>
                    </a:path>
                  </a:pathLst>
                </a:custGeom>
                <a:solidFill>
                  <a:srgbClr val="666666"/>
                </a:solidFill>
                <a:ln w="12700" cap="rnd" cmpd="sng">
                  <a:solidFill>
                    <a:srgbClr val="000000"/>
                  </a:solidFill>
                  <a:prstDash val="solid"/>
                  <a:round/>
                  <a:headEnd type="none" w="med" len="med"/>
                  <a:tailEnd type="none" w="med" len="med"/>
                </a:ln>
              </p:spPr>
              <p:txBody>
                <a:bodyPr/>
                <a:lstStyle/>
                <a:p>
                  <a:endParaRPr lang="en-US"/>
                </a:p>
              </p:txBody>
            </p:sp>
            <p:sp>
              <p:nvSpPr>
                <p:cNvPr id="40403" name="Oval 398"/>
                <p:cNvSpPr>
                  <a:spLocks noChangeArrowheads="1"/>
                </p:cNvSpPr>
                <p:nvPr/>
              </p:nvSpPr>
              <p:spPr bwMode="auto">
                <a:xfrm>
                  <a:off x="5278" y="1420"/>
                  <a:ext cx="82" cy="40"/>
                </a:xfrm>
                <a:prstGeom prst="ellipse">
                  <a:avLst/>
                </a:prstGeom>
                <a:solidFill>
                  <a:srgbClr val="FFFFFF"/>
                </a:solidFill>
                <a:ln w="12700">
                  <a:solidFill>
                    <a:srgbClr val="000000"/>
                  </a:solidFill>
                  <a:round/>
                  <a:headEnd/>
                  <a:tailEnd/>
                </a:ln>
              </p:spPr>
              <p:txBody>
                <a:bodyPr wrap="none" anchor="ctr"/>
                <a:lstStyle/>
                <a:p>
                  <a:endParaRPr lang="en-NZ">
                    <a:latin typeface="Calibri" pitchFamily="34" charset="0"/>
                  </a:endParaRPr>
                </a:p>
              </p:txBody>
            </p:sp>
            <p:sp>
              <p:nvSpPr>
                <p:cNvPr id="40404" name="Freeform 399"/>
                <p:cNvSpPr>
                  <a:spLocks/>
                </p:cNvSpPr>
                <p:nvPr/>
              </p:nvSpPr>
              <p:spPr bwMode="auto">
                <a:xfrm>
                  <a:off x="5283" y="1424"/>
                  <a:ext cx="91" cy="57"/>
                </a:xfrm>
                <a:custGeom>
                  <a:avLst/>
                  <a:gdLst>
                    <a:gd name="T0" fmla="*/ 0 w 91"/>
                    <a:gd name="T1" fmla="*/ 40 h 57"/>
                    <a:gd name="T2" fmla="*/ 0 w 91"/>
                    <a:gd name="T3" fmla="*/ 32 h 57"/>
                    <a:gd name="T4" fmla="*/ 9 w 91"/>
                    <a:gd name="T5" fmla="*/ 16 h 57"/>
                    <a:gd name="T6" fmla="*/ 27 w 91"/>
                    <a:gd name="T7" fmla="*/ 8 h 57"/>
                    <a:gd name="T8" fmla="*/ 36 w 91"/>
                    <a:gd name="T9" fmla="*/ 0 h 57"/>
                    <a:gd name="T10" fmla="*/ 45 w 91"/>
                    <a:gd name="T11" fmla="*/ 0 h 57"/>
                    <a:gd name="T12" fmla="*/ 63 w 91"/>
                    <a:gd name="T13" fmla="*/ 8 h 57"/>
                    <a:gd name="T14" fmla="*/ 72 w 91"/>
                    <a:gd name="T15" fmla="*/ 8 h 57"/>
                    <a:gd name="T16" fmla="*/ 81 w 91"/>
                    <a:gd name="T17" fmla="*/ 8 h 57"/>
                    <a:gd name="T18" fmla="*/ 90 w 91"/>
                    <a:gd name="T19" fmla="*/ 16 h 57"/>
                    <a:gd name="T20" fmla="*/ 90 w 91"/>
                    <a:gd name="T21" fmla="*/ 24 h 57"/>
                    <a:gd name="T22" fmla="*/ 90 w 91"/>
                    <a:gd name="T23" fmla="*/ 32 h 57"/>
                    <a:gd name="T24" fmla="*/ 81 w 91"/>
                    <a:gd name="T25" fmla="*/ 40 h 57"/>
                    <a:gd name="T26" fmla="*/ 72 w 91"/>
                    <a:gd name="T27" fmla="*/ 48 h 57"/>
                    <a:gd name="T28" fmla="*/ 54 w 91"/>
                    <a:gd name="T29" fmla="*/ 56 h 57"/>
                    <a:gd name="T30" fmla="*/ 45 w 91"/>
                    <a:gd name="T31" fmla="*/ 56 h 57"/>
                    <a:gd name="T32" fmla="*/ 36 w 91"/>
                    <a:gd name="T33" fmla="*/ 56 h 57"/>
                    <a:gd name="T34" fmla="*/ 27 w 91"/>
                    <a:gd name="T35" fmla="*/ 56 h 57"/>
                    <a:gd name="T36" fmla="*/ 18 w 91"/>
                    <a:gd name="T37" fmla="*/ 56 h 57"/>
                    <a:gd name="T38" fmla="*/ 9 w 91"/>
                    <a:gd name="T39" fmla="*/ 56 h 57"/>
                    <a:gd name="T40" fmla="*/ 0 w 91"/>
                    <a:gd name="T41" fmla="*/ 48 h 57"/>
                    <a:gd name="T42" fmla="*/ 0 w 91"/>
                    <a:gd name="T43" fmla="*/ 40 h 5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91"/>
                    <a:gd name="T67" fmla="*/ 0 h 57"/>
                    <a:gd name="T68" fmla="*/ 91 w 91"/>
                    <a:gd name="T69" fmla="*/ 57 h 5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91" h="57">
                      <a:moveTo>
                        <a:pt x="0" y="40"/>
                      </a:moveTo>
                      <a:lnTo>
                        <a:pt x="0" y="32"/>
                      </a:lnTo>
                      <a:lnTo>
                        <a:pt x="9" y="16"/>
                      </a:lnTo>
                      <a:lnTo>
                        <a:pt x="27" y="8"/>
                      </a:lnTo>
                      <a:lnTo>
                        <a:pt x="36" y="0"/>
                      </a:lnTo>
                      <a:lnTo>
                        <a:pt x="45" y="0"/>
                      </a:lnTo>
                      <a:lnTo>
                        <a:pt x="63" y="8"/>
                      </a:lnTo>
                      <a:lnTo>
                        <a:pt x="72" y="8"/>
                      </a:lnTo>
                      <a:lnTo>
                        <a:pt x="81" y="8"/>
                      </a:lnTo>
                      <a:lnTo>
                        <a:pt x="90" y="16"/>
                      </a:lnTo>
                      <a:lnTo>
                        <a:pt x="90" y="24"/>
                      </a:lnTo>
                      <a:lnTo>
                        <a:pt x="90" y="32"/>
                      </a:lnTo>
                      <a:lnTo>
                        <a:pt x="81" y="40"/>
                      </a:lnTo>
                      <a:lnTo>
                        <a:pt x="72" y="48"/>
                      </a:lnTo>
                      <a:lnTo>
                        <a:pt x="54" y="56"/>
                      </a:lnTo>
                      <a:lnTo>
                        <a:pt x="45" y="56"/>
                      </a:lnTo>
                      <a:lnTo>
                        <a:pt x="36" y="56"/>
                      </a:lnTo>
                      <a:lnTo>
                        <a:pt x="27" y="56"/>
                      </a:lnTo>
                      <a:lnTo>
                        <a:pt x="18" y="56"/>
                      </a:lnTo>
                      <a:lnTo>
                        <a:pt x="9" y="56"/>
                      </a:lnTo>
                      <a:lnTo>
                        <a:pt x="0" y="48"/>
                      </a:lnTo>
                      <a:lnTo>
                        <a:pt x="0" y="40"/>
                      </a:lnTo>
                    </a:path>
                  </a:pathLst>
                </a:custGeom>
                <a:solidFill>
                  <a:srgbClr val="FE910B"/>
                </a:solidFill>
                <a:ln w="12700" cap="rnd" cmpd="sng">
                  <a:solidFill>
                    <a:srgbClr val="000000"/>
                  </a:solidFill>
                  <a:prstDash val="solid"/>
                  <a:round/>
                  <a:headEnd type="none" w="med" len="med"/>
                  <a:tailEnd type="none" w="med" len="med"/>
                </a:ln>
              </p:spPr>
              <p:txBody>
                <a:bodyPr/>
                <a:lstStyle/>
                <a:p>
                  <a:endParaRPr lang="en-US"/>
                </a:p>
              </p:txBody>
            </p:sp>
            <p:sp>
              <p:nvSpPr>
                <p:cNvPr id="40405" name="Oval 400"/>
                <p:cNvSpPr>
                  <a:spLocks noChangeArrowheads="1"/>
                </p:cNvSpPr>
                <p:nvPr/>
              </p:nvSpPr>
              <p:spPr bwMode="auto">
                <a:xfrm>
                  <a:off x="5188" y="1396"/>
                  <a:ext cx="100" cy="48"/>
                </a:xfrm>
                <a:prstGeom prst="ellipse">
                  <a:avLst/>
                </a:prstGeom>
                <a:solidFill>
                  <a:srgbClr val="FFFFFF"/>
                </a:solidFill>
                <a:ln w="12700">
                  <a:solidFill>
                    <a:srgbClr val="000000"/>
                  </a:solidFill>
                  <a:round/>
                  <a:headEnd/>
                  <a:tailEnd/>
                </a:ln>
              </p:spPr>
              <p:txBody>
                <a:bodyPr wrap="none" anchor="ctr"/>
                <a:lstStyle/>
                <a:p>
                  <a:endParaRPr lang="en-NZ">
                    <a:latin typeface="Calibri" pitchFamily="34" charset="0"/>
                  </a:endParaRPr>
                </a:p>
              </p:txBody>
            </p:sp>
            <p:sp>
              <p:nvSpPr>
                <p:cNvPr id="40406" name="Freeform 401"/>
                <p:cNvSpPr>
                  <a:spLocks/>
                </p:cNvSpPr>
                <p:nvPr/>
              </p:nvSpPr>
              <p:spPr bwMode="auto">
                <a:xfrm>
                  <a:off x="5202" y="1400"/>
                  <a:ext cx="100" cy="57"/>
                </a:xfrm>
                <a:custGeom>
                  <a:avLst/>
                  <a:gdLst>
                    <a:gd name="T0" fmla="*/ 0 w 100"/>
                    <a:gd name="T1" fmla="*/ 32 h 57"/>
                    <a:gd name="T2" fmla="*/ 0 w 100"/>
                    <a:gd name="T3" fmla="*/ 32 h 57"/>
                    <a:gd name="T4" fmla="*/ 0 w 100"/>
                    <a:gd name="T5" fmla="*/ 16 h 57"/>
                    <a:gd name="T6" fmla="*/ 9 w 100"/>
                    <a:gd name="T7" fmla="*/ 16 h 57"/>
                    <a:gd name="T8" fmla="*/ 18 w 100"/>
                    <a:gd name="T9" fmla="*/ 8 h 57"/>
                    <a:gd name="T10" fmla="*/ 36 w 100"/>
                    <a:gd name="T11" fmla="*/ 0 h 57"/>
                    <a:gd name="T12" fmla="*/ 45 w 100"/>
                    <a:gd name="T13" fmla="*/ 0 h 57"/>
                    <a:gd name="T14" fmla="*/ 54 w 100"/>
                    <a:gd name="T15" fmla="*/ 0 h 57"/>
                    <a:gd name="T16" fmla="*/ 72 w 100"/>
                    <a:gd name="T17" fmla="*/ 0 h 57"/>
                    <a:gd name="T18" fmla="*/ 81 w 100"/>
                    <a:gd name="T19" fmla="*/ 0 h 57"/>
                    <a:gd name="T20" fmla="*/ 90 w 100"/>
                    <a:gd name="T21" fmla="*/ 0 h 57"/>
                    <a:gd name="T22" fmla="*/ 99 w 100"/>
                    <a:gd name="T23" fmla="*/ 8 h 57"/>
                    <a:gd name="T24" fmla="*/ 99 w 100"/>
                    <a:gd name="T25" fmla="*/ 16 h 57"/>
                    <a:gd name="T26" fmla="*/ 99 w 100"/>
                    <a:gd name="T27" fmla="*/ 24 h 57"/>
                    <a:gd name="T28" fmla="*/ 99 w 100"/>
                    <a:gd name="T29" fmla="*/ 32 h 57"/>
                    <a:gd name="T30" fmla="*/ 90 w 100"/>
                    <a:gd name="T31" fmla="*/ 40 h 57"/>
                    <a:gd name="T32" fmla="*/ 81 w 100"/>
                    <a:gd name="T33" fmla="*/ 48 h 57"/>
                    <a:gd name="T34" fmla="*/ 63 w 100"/>
                    <a:gd name="T35" fmla="*/ 56 h 57"/>
                    <a:gd name="T36" fmla="*/ 54 w 100"/>
                    <a:gd name="T37" fmla="*/ 56 h 57"/>
                    <a:gd name="T38" fmla="*/ 45 w 100"/>
                    <a:gd name="T39" fmla="*/ 56 h 57"/>
                    <a:gd name="T40" fmla="*/ 27 w 100"/>
                    <a:gd name="T41" fmla="*/ 56 h 57"/>
                    <a:gd name="T42" fmla="*/ 18 w 100"/>
                    <a:gd name="T43" fmla="*/ 48 h 57"/>
                    <a:gd name="T44" fmla="*/ 9 w 100"/>
                    <a:gd name="T45" fmla="*/ 48 h 57"/>
                    <a:gd name="T46" fmla="*/ 0 w 100"/>
                    <a:gd name="T47" fmla="*/ 40 h 57"/>
                    <a:gd name="T48" fmla="*/ 0 w 100"/>
                    <a:gd name="T49" fmla="*/ 32 h 5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00"/>
                    <a:gd name="T76" fmla="*/ 0 h 57"/>
                    <a:gd name="T77" fmla="*/ 100 w 100"/>
                    <a:gd name="T78" fmla="*/ 57 h 5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00" h="57">
                      <a:moveTo>
                        <a:pt x="0" y="32"/>
                      </a:moveTo>
                      <a:lnTo>
                        <a:pt x="0" y="32"/>
                      </a:lnTo>
                      <a:lnTo>
                        <a:pt x="0" y="16"/>
                      </a:lnTo>
                      <a:lnTo>
                        <a:pt x="9" y="16"/>
                      </a:lnTo>
                      <a:lnTo>
                        <a:pt x="18" y="8"/>
                      </a:lnTo>
                      <a:lnTo>
                        <a:pt x="36" y="0"/>
                      </a:lnTo>
                      <a:lnTo>
                        <a:pt x="45" y="0"/>
                      </a:lnTo>
                      <a:lnTo>
                        <a:pt x="54" y="0"/>
                      </a:lnTo>
                      <a:lnTo>
                        <a:pt x="72" y="0"/>
                      </a:lnTo>
                      <a:lnTo>
                        <a:pt x="81" y="0"/>
                      </a:lnTo>
                      <a:lnTo>
                        <a:pt x="90" y="0"/>
                      </a:lnTo>
                      <a:lnTo>
                        <a:pt x="99" y="8"/>
                      </a:lnTo>
                      <a:lnTo>
                        <a:pt x="99" y="16"/>
                      </a:lnTo>
                      <a:lnTo>
                        <a:pt x="99" y="24"/>
                      </a:lnTo>
                      <a:lnTo>
                        <a:pt x="99" y="32"/>
                      </a:lnTo>
                      <a:lnTo>
                        <a:pt x="90" y="40"/>
                      </a:lnTo>
                      <a:lnTo>
                        <a:pt x="81" y="48"/>
                      </a:lnTo>
                      <a:lnTo>
                        <a:pt x="63" y="56"/>
                      </a:lnTo>
                      <a:lnTo>
                        <a:pt x="54" y="56"/>
                      </a:lnTo>
                      <a:lnTo>
                        <a:pt x="45" y="56"/>
                      </a:lnTo>
                      <a:lnTo>
                        <a:pt x="27" y="56"/>
                      </a:lnTo>
                      <a:lnTo>
                        <a:pt x="18" y="48"/>
                      </a:lnTo>
                      <a:lnTo>
                        <a:pt x="9" y="48"/>
                      </a:lnTo>
                      <a:lnTo>
                        <a:pt x="0" y="40"/>
                      </a:lnTo>
                      <a:lnTo>
                        <a:pt x="0" y="32"/>
                      </a:lnTo>
                    </a:path>
                  </a:pathLst>
                </a:custGeom>
                <a:solidFill>
                  <a:srgbClr val="FFFFFF"/>
                </a:solidFill>
                <a:ln w="12700" cap="rnd" cmpd="sng">
                  <a:solidFill>
                    <a:srgbClr val="000000"/>
                  </a:solidFill>
                  <a:prstDash val="solid"/>
                  <a:round/>
                  <a:headEnd type="none" w="med" len="med"/>
                  <a:tailEnd type="none" w="med" len="med"/>
                </a:ln>
              </p:spPr>
              <p:txBody>
                <a:bodyPr/>
                <a:lstStyle/>
                <a:p>
                  <a:endParaRPr lang="en-US"/>
                </a:p>
              </p:txBody>
            </p:sp>
            <p:sp>
              <p:nvSpPr>
                <p:cNvPr id="40407" name="Oval 402"/>
                <p:cNvSpPr>
                  <a:spLocks noChangeArrowheads="1"/>
                </p:cNvSpPr>
                <p:nvPr/>
              </p:nvSpPr>
              <p:spPr bwMode="auto">
                <a:xfrm>
                  <a:off x="5269" y="1372"/>
                  <a:ext cx="100" cy="48"/>
                </a:xfrm>
                <a:prstGeom prst="ellipse">
                  <a:avLst/>
                </a:prstGeom>
                <a:solidFill>
                  <a:srgbClr val="FFFFFF"/>
                </a:solidFill>
                <a:ln w="12700">
                  <a:solidFill>
                    <a:srgbClr val="000000"/>
                  </a:solidFill>
                  <a:round/>
                  <a:headEnd/>
                  <a:tailEnd/>
                </a:ln>
              </p:spPr>
              <p:txBody>
                <a:bodyPr wrap="none" anchor="ctr"/>
                <a:lstStyle/>
                <a:p>
                  <a:endParaRPr lang="en-NZ">
                    <a:latin typeface="Calibri" pitchFamily="34" charset="0"/>
                  </a:endParaRPr>
                </a:p>
              </p:txBody>
            </p:sp>
            <p:sp>
              <p:nvSpPr>
                <p:cNvPr id="40408" name="Freeform 403"/>
                <p:cNvSpPr>
                  <a:spLocks/>
                </p:cNvSpPr>
                <p:nvPr/>
              </p:nvSpPr>
              <p:spPr bwMode="auto">
                <a:xfrm>
                  <a:off x="5283" y="1376"/>
                  <a:ext cx="109" cy="57"/>
                </a:xfrm>
                <a:custGeom>
                  <a:avLst/>
                  <a:gdLst>
                    <a:gd name="T0" fmla="*/ 0 w 109"/>
                    <a:gd name="T1" fmla="*/ 40 h 57"/>
                    <a:gd name="T2" fmla="*/ 0 w 109"/>
                    <a:gd name="T3" fmla="*/ 40 h 57"/>
                    <a:gd name="T4" fmla="*/ 0 w 109"/>
                    <a:gd name="T5" fmla="*/ 32 h 57"/>
                    <a:gd name="T6" fmla="*/ 0 w 109"/>
                    <a:gd name="T7" fmla="*/ 16 h 57"/>
                    <a:gd name="T8" fmla="*/ 9 w 109"/>
                    <a:gd name="T9" fmla="*/ 16 h 57"/>
                    <a:gd name="T10" fmla="*/ 27 w 109"/>
                    <a:gd name="T11" fmla="*/ 8 h 57"/>
                    <a:gd name="T12" fmla="*/ 45 w 109"/>
                    <a:gd name="T13" fmla="*/ 0 h 57"/>
                    <a:gd name="T14" fmla="*/ 54 w 109"/>
                    <a:gd name="T15" fmla="*/ 0 h 57"/>
                    <a:gd name="T16" fmla="*/ 72 w 109"/>
                    <a:gd name="T17" fmla="*/ 0 h 57"/>
                    <a:gd name="T18" fmla="*/ 81 w 109"/>
                    <a:gd name="T19" fmla="*/ 0 h 57"/>
                    <a:gd name="T20" fmla="*/ 90 w 109"/>
                    <a:gd name="T21" fmla="*/ 8 h 57"/>
                    <a:gd name="T22" fmla="*/ 108 w 109"/>
                    <a:gd name="T23" fmla="*/ 16 h 57"/>
                    <a:gd name="T24" fmla="*/ 108 w 109"/>
                    <a:gd name="T25" fmla="*/ 24 h 57"/>
                    <a:gd name="T26" fmla="*/ 99 w 109"/>
                    <a:gd name="T27" fmla="*/ 40 h 57"/>
                    <a:gd name="T28" fmla="*/ 90 w 109"/>
                    <a:gd name="T29" fmla="*/ 40 h 57"/>
                    <a:gd name="T30" fmla="*/ 81 w 109"/>
                    <a:gd name="T31" fmla="*/ 48 h 57"/>
                    <a:gd name="T32" fmla="*/ 63 w 109"/>
                    <a:gd name="T33" fmla="*/ 56 h 57"/>
                    <a:gd name="T34" fmla="*/ 54 w 109"/>
                    <a:gd name="T35" fmla="*/ 56 h 57"/>
                    <a:gd name="T36" fmla="*/ 45 w 109"/>
                    <a:gd name="T37" fmla="*/ 56 h 57"/>
                    <a:gd name="T38" fmla="*/ 27 w 109"/>
                    <a:gd name="T39" fmla="*/ 56 h 57"/>
                    <a:gd name="T40" fmla="*/ 18 w 109"/>
                    <a:gd name="T41" fmla="*/ 56 h 57"/>
                    <a:gd name="T42" fmla="*/ 9 w 109"/>
                    <a:gd name="T43" fmla="*/ 56 h 57"/>
                    <a:gd name="T44" fmla="*/ 0 w 109"/>
                    <a:gd name="T45" fmla="*/ 48 h 57"/>
                    <a:gd name="T46" fmla="*/ 0 w 109"/>
                    <a:gd name="T47" fmla="*/ 40 h 5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09"/>
                    <a:gd name="T73" fmla="*/ 0 h 57"/>
                    <a:gd name="T74" fmla="*/ 109 w 109"/>
                    <a:gd name="T75" fmla="*/ 57 h 5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09" h="57">
                      <a:moveTo>
                        <a:pt x="0" y="40"/>
                      </a:moveTo>
                      <a:lnTo>
                        <a:pt x="0" y="40"/>
                      </a:lnTo>
                      <a:lnTo>
                        <a:pt x="0" y="32"/>
                      </a:lnTo>
                      <a:lnTo>
                        <a:pt x="0" y="16"/>
                      </a:lnTo>
                      <a:lnTo>
                        <a:pt x="9" y="16"/>
                      </a:lnTo>
                      <a:lnTo>
                        <a:pt x="27" y="8"/>
                      </a:lnTo>
                      <a:lnTo>
                        <a:pt x="45" y="0"/>
                      </a:lnTo>
                      <a:lnTo>
                        <a:pt x="54" y="0"/>
                      </a:lnTo>
                      <a:lnTo>
                        <a:pt x="72" y="0"/>
                      </a:lnTo>
                      <a:lnTo>
                        <a:pt x="81" y="0"/>
                      </a:lnTo>
                      <a:lnTo>
                        <a:pt x="90" y="8"/>
                      </a:lnTo>
                      <a:lnTo>
                        <a:pt x="108" y="16"/>
                      </a:lnTo>
                      <a:lnTo>
                        <a:pt x="108" y="24"/>
                      </a:lnTo>
                      <a:lnTo>
                        <a:pt x="99" y="40"/>
                      </a:lnTo>
                      <a:lnTo>
                        <a:pt x="90" y="40"/>
                      </a:lnTo>
                      <a:lnTo>
                        <a:pt x="81" y="48"/>
                      </a:lnTo>
                      <a:lnTo>
                        <a:pt x="63" y="56"/>
                      </a:lnTo>
                      <a:lnTo>
                        <a:pt x="54" y="56"/>
                      </a:lnTo>
                      <a:lnTo>
                        <a:pt x="45" y="56"/>
                      </a:lnTo>
                      <a:lnTo>
                        <a:pt x="27" y="56"/>
                      </a:lnTo>
                      <a:lnTo>
                        <a:pt x="18" y="56"/>
                      </a:lnTo>
                      <a:lnTo>
                        <a:pt x="9" y="56"/>
                      </a:lnTo>
                      <a:lnTo>
                        <a:pt x="0" y="48"/>
                      </a:lnTo>
                      <a:lnTo>
                        <a:pt x="0" y="40"/>
                      </a:lnTo>
                    </a:path>
                  </a:pathLst>
                </a:custGeom>
                <a:solidFill>
                  <a:srgbClr val="FE910B"/>
                </a:solidFill>
                <a:ln w="12700" cap="rnd" cmpd="sng">
                  <a:solidFill>
                    <a:srgbClr val="000000"/>
                  </a:solidFill>
                  <a:prstDash val="solid"/>
                  <a:round/>
                  <a:headEnd type="none" w="med" len="med"/>
                  <a:tailEnd type="none" w="med" len="med"/>
                </a:ln>
              </p:spPr>
              <p:txBody>
                <a:bodyPr/>
                <a:lstStyle/>
                <a:p>
                  <a:endParaRPr lang="en-US"/>
                </a:p>
              </p:txBody>
            </p:sp>
            <p:sp>
              <p:nvSpPr>
                <p:cNvPr id="40409" name="Oval 404"/>
                <p:cNvSpPr>
                  <a:spLocks noChangeArrowheads="1"/>
                </p:cNvSpPr>
                <p:nvPr/>
              </p:nvSpPr>
              <p:spPr bwMode="auto">
                <a:xfrm>
                  <a:off x="5251" y="1348"/>
                  <a:ext cx="46" cy="64"/>
                </a:xfrm>
                <a:prstGeom prst="ellipse">
                  <a:avLst/>
                </a:prstGeom>
                <a:solidFill>
                  <a:srgbClr val="FFFFFF"/>
                </a:solidFill>
                <a:ln w="12700">
                  <a:solidFill>
                    <a:srgbClr val="000000"/>
                  </a:solidFill>
                  <a:round/>
                  <a:headEnd/>
                  <a:tailEnd/>
                </a:ln>
              </p:spPr>
              <p:txBody>
                <a:bodyPr wrap="none" anchor="ctr"/>
                <a:lstStyle/>
                <a:p>
                  <a:endParaRPr lang="en-NZ">
                    <a:latin typeface="Calibri" pitchFamily="34" charset="0"/>
                  </a:endParaRPr>
                </a:p>
              </p:txBody>
            </p:sp>
            <p:sp>
              <p:nvSpPr>
                <p:cNvPr id="40410" name="Freeform 405"/>
                <p:cNvSpPr>
                  <a:spLocks/>
                </p:cNvSpPr>
                <p:nvPr/>
              </p:nvSpPr>
              <p:spPr bwMode="auto">
                <a:xfrm>
                  <a:off x="5256" y="1352"/>
                  <a:ext cx="64" cy="73"/>
                </a:xfrm>
                <a:custGeom>
                  <a:avLst/>
                  <a:gdLst>
                    <a:gd name="T0" fmla="*/ 0 w 64"/>
                    <a:gd name="T1" fmla="*/ 40 h 73"/>
                    <a:gd name="T2" fmla="*/ 0 w 64"/>
                    <a:gd name="T3" fmla="*/ 40 h 73"/>
                    <a:gd name="T4" fmla="*/ 0 w 64"/>
                    <a:gd name="T5" fmla="*/ 24 h 73"/>
                    <a:gd name="T6" fmla="*/ 0 w 64"/>
                    <a:gd name="T7" fmla="*/ 16 h 73"/>
                    <a:gd name="T8" fmla="*/ 9 w 64"/>
                    <a:gd name="T9" fmla="*/ 8 h 73"/>
                    <a:gd name="T10" fmla="*/ 18 w 64"/>
                    <a:gd name="T11" fmla="*/ 0 h 73"/>
                    <a:gd name="T12" fmla="*/ 27 w 64"/>
                    <a:gd name="T13" fmla="*/ 0 h 73"/>
                    <a:gd name="T14" fmla="*/ 36 w 64"/>
                    <a:gd name="T15" fmla="*/ 8 h 73"/>
                    <a:gd name="T16" fmla="*/ 45 w 64"/>
                    <a:gd name="T17" fmla="*/ 8 h 73"/>
                    <a:gd name="T18" fmla="*/ 54 w 64"/>
                    <a:gd name="T19" fmla="*/ 16 h 73"/>
                    <a:gd name="T20" fmla="*/ 54 w 64"/>
                    <a:gd name="T21" fmla="*/ 24 h 73"/>
                    <a:gd name="T22" fmla="*/ 54 w 64"/>
                    <a:gd name="T23" fmla="*/ 32 h 73"/>
                    <a:gd name="T24" fmla="*/ 63 w 64"/>
                    <a:gd name="T25" fmla="*/ 40 h 73"/>
                    <a:gd name="T26" fmla="*/ 63 w 64"/>
                    <a:gd name="T27" fmla="*/ 48 h 73"/>
                    <a:gd name="T28" fmla="*/ 54 w 64"/>
                    <a:gd name="T29" fmla="*/ 56 h 73"/>
                    <a:gd name="T30" fmla="*/ 54 w 64"/>
                    <a:gd name="T31" fmla="*/ 64 h 73"/>
                    <a:gd name="T32" fmla="*/ 45 w 64"/>
                    <a:gd name="T33" fmla="*/ 72 h 73"/>
                    <a:gd name="T34" fmla="*/ 36 w 64"/>
                    <a:gd name="T35" fmla="*/ 72 h 73"/>
                    <a:gd name="T36" fmla="*/ 27 w 64"/>
                    <a:gd name="T37" fmla="*/ 72 h 73"/>
                    <a:gd name="T38" fmla="*/ 18 w 64"/>
                    <a:gd name="T39" fmla="*/ 64 h 73"/>
                    <a:gd name="T40" fmla="*/ 9 w 64"/>
                    <a:gd name="T41" fmla="*/ 64 h 73"/>
                    <a:gd name="T42" fmla="*/ 0 w 64"/>
                    <a:gd name="T43" fmla="*/ 48 h 73"/>
                    <a:gd name="T44" fmla="*/ 0 w 64"/>
                    <a:gd name="T45" fmla="*/ 40 h 7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64"/>
                    <a:gd name="T70" fmla="*/ 0 h 73"/>
                    <a:gd name="T71" fmla="*/ 64 w 64"/>
                    <a:gd name="T72" fmla="*/ 73 h 73"/>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64" h="73">
                      <a:moveTo>
                        <a:pt x="0" y="40"/>
                      </a:moveTo>
                      <a:lnTo>
                        <a:pt x="0" y="40"/>
                      </a:lnTo>
                      <a:lnTo>
                        <a:pt x="0" y="24"/>
                      </a:lnTo>
                      <a:lnTo>
                        <a:pt x="0" y="16"/>
                      </a:lnTo>
                      <a:lnTo>
                        <a:pt x="9" y="8"/>
                      </a:lnTo>
                      <a:lnTo>
                        <a:pt x="18" y="0"/>
                      </a:lnTo>
                      <a:lnTo>
                        <a:pt x="27" y="0"/>
                      </a:lnTo>
                      <a:lnTo>
                        <a:pt x="36" y="8"/>
                      </a:lnTo>
                      <a:lnTo>
                        <a:pt x="45" y="8"/>
                      </a:lnTo>
                      <a:lnTo>
                        <a:pt x="54" y="16"/>
                      </a:lnTo>
                      <a:lnTo>
                        <a:pt x="54" y="24"/>
                      </a:lnTo>
                      <a:lnTo>
                        <a:pt x="54" y="32"/>
                      </a:lnTo>
                      <a:lnTo>
                        <a:pt x="63" y="40"/>
                      </a:lnTo>
                      <a:lnTo>
                        <a:pt x="63" y="48"/>
                      </a:lnTo>
                      <a:lnTo>
                        <a:pt x="54" y="56"/>
                      </a:lnTo>
                      <a:lnTo>
                        <a:pt x="54" y="64"/>
                      </a:lnTo>
                      <a:lnTo>
                        <a:pt x="45" y="72"/>
                      </a:lnTo>
                      <a:lnTo>
                        <a:pt x="36" y="72"/>
                      </a:lnTo>
                      <a:lnTo>
                        <a:pt x="27" y="72"/>
                      </a:lnTo>
                      <a:lnTo>
                        <a:pt x="18" y="64"/>
                      </a:lnTo>
                      <a:lnTo>
                        <a:pt x="9" y="64"/>
                      </a:lnTo>
                      <a:lnTo>
                        <a:pt x="0" y="48"/>
                      </a:lnTo>
                      <a:lnTo>
                        <a:pt x="0" y="40"/>
                      </a:lnTo>
                    </a:path>
                  </a:pathLst>
                </a:custGeom>
                <a:solidFill>
                  <a:srgbClr val="FE910B"/>
                </a:solidFill>
                <a:ln w="12700" cap="rnd" cmpd="sng">
                  <a:solidFill>
                    <a:srgbClr val="000000"/>
                  </a:solidFill>
                  <a:prstDash val="solid"/>
                  <a:round/>
                  <a:headEnd type="none" w="med" len="med"/>
                  <a:tailEnd type="none" w="med" len="med"/>
                </a:ln>
              </p:spPr>
              <p:txBody>
                <a:bodyPr/>
                <a:lstStyle/>
                <a:p>
                  <a:endParaRPr lang="en-US"/>
                </a:p>
              </p:txBody>
            </p:sp>
            <p:sp>
              <p:nvSpPr>
                <p:cNvPr id="40411" name="Freeform 406"/>
                <p:cNvSpPr>
                  <a:spLocks/>
                </p:cNvSpPr>
                <p:nvPr/>
              </p:nvSpPr>
              <p:spPr bwMode="auto">
                <a:xfrm>
                  <a:off x="5346" y="1336"/>
                  <a:ext cx="55" cy="73"/>
                </a:xfrm>
                <a:custGeom>
                  <a:avLst/>
                  <a:gdLst>
                    <a:gd name="T0" fmla="*/ 0 w 55"/>
                    <a:gd name="T1" fmla="*/ 40 h 73"/>
                    <a:gd name="T2" fmla="*/ 0 w 55"/>
                    <a:gd name="T3" fmla="*/ 32 h 73"/>
                    <a:gd name="T4" fmla="*/ 0 w 55"/>
                    <a:gd name="T5" fmla="*/ 16 h 73"/>
                    <a:gd name="T6" fmla="*/ 0 w 55"/>
                    <a:gd name="T7" fmla="*/ 8 h 73"/>
                    <a:gd name="T8" fmla="*/ 18 w 55"/>
                    <a:gd name="T9" fmla="*/ 0 h 73"/>
                    <a:gd name="T10" fmla="*/ 27 w 55"/>
                    <a:gd name="T11" fmla="*/ 0 h 73"/>
                    <a:gd name="T12" fmla="*/ 36 w 55"/>
                    <a:gd name="T13" fmla="*/ 0 h 73"/>
                    <a:gd name="T14" fmla="*/ 45 w 55"/>
                    <a:gd name="T15" fmla="*/ 8 h 73"/>
                    <a:gd name="T16" fmla="*/ 54 w 55"/>
                    <a:gd name="T17" fmla="*/ 24 h 73"/>
                    <a:gd name="T18" fmla="*/ 54 w 55"/>
                    <a:gd name="T19" fmla="*/ 32 h 73"/>
                    <a:gd name="T20" fmla="*/ 54 w 55"/>
                    <a:gd name="T21" fmla="*/ 40 h 73"/>
                    <a:gd name="T22" fmla="*/ 54 w 55"/>
                    <a:gd name="T23" fmla="*/ 48 h 73"/>
                    <a:gd name="T24" fmla="*/ 54 w 55"/>
                    <a:gd name="T25" fmla="*/ 56 h 73"/>
                    <a:gd name="T26" fmla="*/ 54 w 55"/>
                    <a:gd name="T27" fmla="*/ 64 h 73"/>
                    <a:gd name="T28" fmla="*/ 45 w 55"/>
                    <a:gd name="T29" fmla="*/ 72 h 73"/>
                    <a:gd name="T30" fmla="*/ 36 w 55"/>
                    <a:gd name="T31" fmla="*/ 72 h 73"/>
                    <a:gd name="T32" fmla="*/ 27 w 55"/>
                    <a:gd name="T33" fmla="*/ 72 h 73"/>
                    <a:gd name="T34" fmla="*/ 18 w 55"/>
                    <a:gd name="T35" fmla="*/ 64 h 73"/>
                    <a:gd name="T36" fmla="*/ 9 w 55"/>
                    <a:gd name="T37" fmla="*/ 48 h 73"/>
                    <a:gd name="T38" fmla="*/ 0 w 55"/>
                    <a:gd name="T39" fmla="*/ 40 h 7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5"/>
                    <a:gd name="T61" fmla="*/ 0 h 73"/>
                    <a:gd name="T62" fmla="*/ 55 w 55"/>
                    <a:gd name="T63" fmla="*/ 73 h 7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5" h="73">
                      <a:moveTo>
                        <a:pt x="0" y="40"/>
                      </a:moveTo>
                      <a:lnTo>
                        <a:pt x="0" y="32"/>
                      </a:lnTo>
                      <a:lnTo>
                        <a:pt x="0" y="16"/>
                      </a:lnTo>
                      <a:lnTo>
                        <a:pt x="0" y="8"/>
                      </a:lnTo>
                      <a:lnTo>
                        <a:pt x="18" y="0"/>
                      </a:lnTo>
                      <a:lnTo>
                        <a:pt x="27" y="0"/>
                      </a:lnTo>
                      <a:lnTo>
                        <a:pt x="36" y="0"/>
                      </a:lnTo>
                      <a:lnTo>
                        <a:pt x="45" y="8"/>
                      </a:lnTo>
                      <a:lnTo>
                        <a:pt x="54" y="24"/>
                      </a:lnTo>
                      <a:lnTo>
                        <a:pt x="54" y="32"/>
                      </a:lnTo>
                      <a:lnTo>
                        <a:pt x="54" y="40"/>
                      </a:lnTo>
                      <a:lnTo>
                        <a:pt x="54" y="48"/>
                      </a:lnTo>
                      <a:lnTo>
                        <a:pt x="54" y="56"/>
                      </a:lnTo>
                      <a:lnTo>
                        <a:pt x="54" y="64"/>
                      </a:lnTo>
                      <a:lnTo>
                        <a:pt x="45" y="72"/>
                      </a:lnTo>
                      <a:lnTo>
                        <a:pt x="36" y="72"/>
                      </a:lnTo>
                      <a:lnTo>
                        <a:pt x="27" y="72"/>
                      </a:lnTo>
                      <a:lnTo>
                        <a:pt x="18" y="64"/>
                      </a:lnTo>
                      <a:lnTo>
                        <a:pt x="9" y="48"/>
                      </a:lnTo>
                      <a:lnTo>
                        <a:pt x="0" y="40"/>
                      </a:lnTo>
                    </a:path>
                  </a:pathLst>
                </a:custGeom>
                <a:solidFill>
                  <a:srgbClr val="FE910B"/>
                </a:solidFill>
                <a:ln w="12700" cap="rnd" cmpd="sng">
                  <a:solidFill>
                    <a:srgbClr val="000000"/>
                  </a:solidFill>
                  <a:prstDash val="solid"/>
                  <a:round/>
                  <a:headEnd type="none" w="med" len="med"/>
                  <a:tailEnd type="none" w="med" len="med"/>
                </a:ln>
              </p:spPr>
              <p:txBody>
                <a:bodyPr/>
                <a:lstStyle/>
                <a:p>
                  <a:endParaRPr lang="en-US"/>
                </a:p>
              </p:txBody>
            </p:sp>
            <p:sp>
              <p:nvSpPr>
                <p:cNvPr id="40412" name="Oval 407"/>
                <p:cNvSpPr>
                  <a:spLocks noChangeArrowheads="1"/>
                </p:cNvSpPr>
                <p:nvPr/>
              </p:nvSpPr>
              <p:spPr bwMode="auto">
                <a:xfrm>
                  <a:off x="5377" y="1356"/>
                  <a:ext cx="82" cy="40"/>
                </a:xfrm>
                <a:prstGeom prst="ellipse">
                  <a:avLst/>
                </a:prstGeom>
                <a:solidFill>
                  <a:srgbClr val="999999"/>
                </a:solidFill>
                <a:ln w="12700">
                  <a:solidFill>
                    <a:srgbClr val="000000"/>
                  </a:solidFill>
                  <a:round/>
                  <a:headEnd/>
                  <a:tailEnd/>
                </a:ln>
              </p:spPr>
              <p:txBody>
                <a:bodyPr wrap="none" anchor="ctr"/>
                <a:lstStyle/>
                <a:p>
                  <a:endParaRPr lang="en-NZ">
                    <a:latin typeface="Calibri" pitchFamily="34" charset="0"/>
                  </a:endParaRPr>
                </a:p>
              </p:txBody>
            </p:sp>
            <p:sp>
              <p:nvSpPr>
                <p:cNvPr id="40413" name="Freeform 408"/>
                <p:cNvSpPr>
                  <a:spLocks/>
                </p:cNvSpPr>
                <p:nvPr/>
              </p:nvSpPr>
              <p:spPr bwMode="auto">
                <a:xfrm>
                  <a:off x="5377" y="1354"/>
                  <a:ext cx="82" cy="57"/>
                </a:xfrm>
                <a:custGeom>
                  <a:avLst/>
                  <a:gdLst>
                    <a:gd name="T0" fmla="*/ 0 w 82"/>
                    <a:gd name="T1" fmla="*/ 40 h 57"/>
                    <a:gd name="T2" fmla="*/ 0 w 82"/>
                    <a:gd name="T3" fmla="*/ 40 h 57"/>
                    <a:gd name="T4" fmla="*/ 0 w 82"/>
                    <a:gd name="T5" fmla="*/ 32 h 57"/>
                    <a:gd name="T6" fmla="*/ 0 w 82"/>
                    <a:gd name="T7" fmla="*/ 16 h 57"/>
                    <a:gd name="T8" fmla="*/ 9 w 82"/>
                    <a:gd name="T9" fmla="*/ 16 h 57"/>
                    <a:gd name="T10" fmla="*/ 27 w 82"/>
                    <a:gd name="T11" fmla="*/ 8 h 57"/>
                    <a:gd name="T12" fmla="*/ 36 w 82"/>
                    <a:gd name="T13" fmla="*/ 0 h 57"/>
                    <a:gd name="T14" fmla="*/ 45 w 82"/>
                    <a:gd name="T15" fmla="*/ 0 h 57"/>
                    <a:gd name="T16" fmla="*/ 63 w 82"/>
                    <a:gd name="T17" fmla="*/ 0 h 57"/>
                    <a:gd name="T18" fmla="*/ 72 w 82"/>
                    <a:gd name="T19" fmla="*/ 8 h 57"/>
                    <a:gd name="T20" fmla="*/ 81 w 82"/>
                    <a:gd name="T21" fmla="*/ 16 h 57"/>
                    <a:gd name="T22" fmla="*/ 81 w 82"/>
                    <a:gd name="T23" fmla="*/ 24 h 57"/>
                    <a:gd name="T24" fmla="*/ 81 w 82"/>
                    <a:gd name="T25" fmla="*/ 40 h 57"/>
                    <a:gd name="T26" fmla="*/ 72 w 82"/>
                    <a:gd name="T27" fmla="*/ 40 h 57"/>
                    <a:gd name="T28" fmla="*/ 63 w 82"/>
                    <a:gd name="T29" fmla="*/ 48 h 57"/>
                    <a:gd name="T30" fmla="*/ 54 w 82"/>
                    <a:gd name="T31" fmla="*/ 56 h 57"/>
                    <a:gd name="T32" fmla="*/ 45 w 82"/>
                    <a:gd name="T33" fmla="*/ 56 h 57"/>
                    <a:gd name="T34" fmla="*/ 36 w 82"/>
                    <a:gd name="T35" fmla="*/ 56 h 57"/>
                    <a:gd name="T36" fmla="*/ 27 w 82"/>
                    <a:gd name="T37" fmla="*/ 56 h 57"/>
                    <a:gd name="T38" fmla="*/ 18 w 82"/>
                    <a:gd name="T39" fmla="*/ 48 h 57"/>
                    <a:gd name="T40" fmla="*/ 9 w 82"/>
                    <a:gd name="T41" fmla="*/ 48 h 57"/>
                    <a:gd name="T42" fmla="*/ 0 w 82"/>
                    <a:gd name="T43" fmla="*/ 48 h 57"/>
                    <a:gd name="T44" fmla="*/ 0 w 82"/>
                    <a:gd name="T45" fmla="*/ 40 h 5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2"/>
                    <a:gd name="T70" fmla="*/ 0 h 57"/>
                    <a:gd name="T71" fmla="*/ 82 w 82"/>
                    <a:gd name="T72" fmla="*/ 57 h 57"/>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2" h="57">
                      <a:moveTo>
                        <a:pt x="0" y="40"/>
                      </a:moveTo>
                      <a:lnTo>
                        <a:pt x="0" y="40"/>
                      </a:lnTo>
                      <a:lnTo>
                        <a:pt x="0" y="32"/>
                      </a:lnTo>
                      <a:lnTo>
                        <a:pt x="0" y="16"/>
                      </a:lnTo>
                      <a:lnTo>
                        <a:pt x="9" y="16"/>
                      </a:lnTo>
                      <a:lnTo>
                        <a:pt x="27" y="8"/>
                      </a:lnTo>
                      <a:lnTo>
                        <a:pt x="36" y="0"/>
                      </a:lnTo>
                      <a:lnTo>
                        <a:pt x="45" y="0"/>
                      </a:lnTo>
                      <a:lnTo>
                        <a:pt x="63" y="0"/>
                      </a:lnTo>
                      <a:lnTo>
                        <a:pt x="72" y="8"/>
                      </a:lnTo>
                      <a:lnTo>
                        <a:pt x="81" y="16"/>
                      </a:lnTo>
                      <a:lnTo>
                        <a:pt x="81" y="24"/>
                      </a:lnTo>
                      <a:lnTo>
                        <a:pt x="81" y="40"/>
                      </a:lnTo>
                      <a:lnTo>
                        <a:pt x="72" y="40"/>
                      </a:lnTo>
                      <a:lnTo>
                        <a:pt x="63" y="48"/>
                      </a:lnTo>
                      <a:lnTo>
                        <a:pt x="54" y="56"/>
                      </a:lnTo>
                      <a:lnTo>
                        <a:pt x="45" y="56"/>
                      </a:lnTo>
                      <a:lnTo>
                        <a:pt x="36" y="56"/>
                      </a:lnTo>
                      <a:lnTo>
                        <a:pt x="27" y="56"/>
                      </a:lnTo>
                      <a:lnTo>
                        <a:pt x="18" y="48"/>
                      </a:lnTo>
                      <a:lnTo>
                        <a:pt x="9" y="48"/>
                      </a:lnTo>
                      <a:lnTo>
                        <a:pt x="0" y="48"/>
                      </a:lnTo>
                      <a:lnTo>
                        <a:pt x="0" y="40"/>
                      </a:lnTo>
                    </a:path>
                  </a:pathLst>
                </a:custGeom>
                <a:solidFill>
                  <a:srgbClr val="FE910B"/>
                </a:solidFill>
                <a:ln w="12700" cap="rnd" cmpd="sng">
                  <a:solidFill>
                    <a:srgbClr val="000000"/>
                  </a:solidFill>
                  <a:prstDash val="solid"/>
                  <a:round/>
                  <a:headEnd type="none" w="med" len="med"/>
                  <a:tailEnd type="none" w="med" len="med"/>
                </a:ln>
              </p:spPr>
              <p:txBody>
                <a:bodyPr/>
                <a:lstStyle/>
                <a:p>
                  <a:endParaRPr lang="en-US"/>
                </a:p>
              </p:txBody>
            </p:sp>
            <p:sp>
              <p:nvSpPr>
                <p:cNvPr id="40414" name="Oval 409"/>
                <p:cNvSpPr>
                  <a:spLocks noChangeArrowheads="1"/>
                </p:cNvSpPr>
                <p:nvPr/>
              </p:nvSpPr>
              <p:spPr bwMode="auto">
                <a:xfrm>
                  <a:off x="5085" y="1420"/>
                  <a:ext cx="46" cy="64"/>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40415" name="Freeform 410"/>
                <p:cNvSpPr>
                  <a:spLocks/>
                </p:cNvSpPr>
                <p:nvPr/>
              </p:nvSpPr>
              <p:spPr bwMode="auto">
                <a:xfrm>
                  <a:off x="5130" y="1464"/>
                  <a:ext cx="55" cy="73"/>
                </a:xfrm>
                <a:custGeom>
                  <a:avLst/>
                  <a:gdLst>
                    <a:gd name="T0" fmla="*/ 0 w 55"/>
                    <a:gd name="T1" fmla="*/ 40 h 73"/>
                    <a:gd name="T2" fmla="*/ 0 w 55"/>
                    <a:gd name="T3" fmla="*/ 32 h 73"/>
                    <a:gd name="T4" fmla="*/ 0 w 55"/>
                    <a:gd name="T5" fmla="*/ 24 h 73"/>
                    <a:gd name="T6" fmla="*/ 0 w 55"/>
                    <a:gd name="T7" fmla="*/ 16 h 73"/>
                    <a:gd name="T8" fmla="*/ 0 w 55"/>
                    <a:gd name="T9" fmla="*/ 8 h 73"/>
                    <a:gd name="T10" fmla="*/ 9 w 55"/>
                    <a:gd name="T11" fmla="*/ 0 h 73"/>
                    <a:gd name="T12" fmla="*/ 18 w 55"/>
                    <a:gd name="T13" fmla="*/ 0 h 73"/>
                    <a:gd name="T14" fmla="*/ 36 w 55"/>
                    <a:gd name="T15" fmla="*/ 8 h 73"/>
                    <a:gd name="T16" fmla="*/ 45 w 55"/>
                    <a:gd name="T17" fmla="*/ 16 h 73"/>
                    <a:gd name="T18" fmla="*/ 45 w 55"/>
                    <a:gd name="T19" fmla="*/ 24 h 73"/>
                    <a:gd name="T20" fmla="*/ 45 w 55"/>
                    <a:gd name="T21" fmla="*/ 32 h 73"/>
                    <a:gd name="T22" fmla="*/ 54 w 55"/>
                    <a:gd name="T23" fmla="*/ 40 h 73"/>
                    <a:gd name="T24" fmla="*/ 54 w 55"/>
                    <a:gd name="T25" fmla="*/ 48 h 73"/>
                    <a:gd name="T26" fmla="*/ 45 w 55"/>
                    <a:gd name="T27" fmla="*/ 56 h 73"/>
                    <a:gd name="T28" fmla="*/ 45 w 55"/>
                    <a:gd name="T29" fmla="*/ 64 h 73"/>
                    <a:gd name="T30" fmla="*/ 36 w 55"/>
                    <a:gd name="T31" fmla="*/ 72 h 73"/>
                    <a:gd name="T32" fmla="*/ 27 w 55"/>
                    <a:gd name="T33" fmla="*/ 72 h 73"/>
                    <a:gd name="T34" fmla="*/ 18 w 55"/>
                    <a:gd name="T35" fmla="*/ 72 h 73"/>
                    <a:gd name="T36" fmla="*/ 9 w 55"/>
                    <a:gd name="T37" fmla="*/ 64 h 73"/>
                    <a:gd name="T38" fmla="*/ 0 w 55"/>
                    <a:gd name="T39" fmla="*/ 48 h 73"/>
                    <a:gd name="T40" fmla="*/ 0 w 55"/>
                    <a:gd name="T41" fmla="*/ 40 h 7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5"/>
                    <a:gd name="T64" fmla="*/ 0 h 73"/>
                    <a:gd name="T65" fmla="*/ 55 w 55"/>
                    <a:gd name="T66" fmla="*/ 73 h 7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5" h="73">
                      <a:moveTo>
                        <a:pt x="0" y="40"/>
                      </a:moveTo>
                      <a:lnTo>
                        <a:pt x="0" y="32"/>
                      </a:lnTo>
                      <a:lnTo>
                        <a:pt x="0" y="24"/>
                      </a:lnTo>
                      <a:lnTo>
                        <a:pt x="0" y="16"/>
                      </a:lnTo>
                      <a:lnTo>
                        <a:pt x="0" y="8"/>
                      </a:lnTo>
                      <a:lnTo>
                        <a:pt x="9" y="0"/>
                      </a:lnTo>
                      <a:lnTo>
                        <a:pt x="18" y="0"/>
                      </a:lnTo>
                      <a:lnTo>
                        <a:pt x="36" y="8"/>
                      </a:lnTo>
                      <a:lnTo>
                        <a:pt x="45" y="16"/>
                      </a:lnTo>
                      <a:lnTo>
                        <a:pt x="45" y="24"/>
                      </a:lnTo>
                      <a:lnTo>
                        <a:pt x="45" y="32"/>
                      </a:lnTo>
                      <a:lnTo>
                        <a:pt x="54" y="40"/>
                      </a:lnTo>
                      <a:lnTo>
                        <a:pt x="54" y="48"/>
                      </a:lnTo>
                      <a:lnTo>
                        <a:pt x="45" y="56"/>
                      </a:lnTo>
                      <a:lnTo>
                        <a:pt x="45" y="64"/>
                      </a:lnTo>
                      <a:lnTo>
                        <a:pt x="36" y="72"/>
                      </a:lnTo>
                      <a:lnTo>
                        <a:pt x="27" y="72"/>
                      </a:lnTo>
                      <a:lnTo>
                        <a:pt x="18" y="72"/>
                      </a:lnTo>
                      <a:lnTo>
                        <a:pt x="9" y="64"/>
                      </a:lnTo>
                      <a:lnTo>
                        <a:pt x="0" y="48"/>
                      </a:lnTo>
                      <a:lnTo>
                        <a:pt x="0" y="40"/>
                      </a:lnTo>
                    </a:path>
                  </a:pathLst>
                </a:custGeom>
                <a:solidFill>
                  <a:srgbClr val="FE910B"/>
                </a:solidFill>
                <a:ln w="12700" cap="rnd" cmpd="sng">
                  <a:solidFill>
                    <a:srgbClr val="000000"/>
                  </a:solidFill>
                  <a:prstDash val="solid"/>
                  <a:round/>
                  <a:headEnd type="none" w="med" len="med"/>
                  <a:tailEnd type="none" w="med" len="med"/>
                </a:ln>
              </p:spPr>
              <p:txBody>
                <a:bodyPr/>
                <a:lstStyle/>
                <a:p>
                  <a:endParaRPr lang="en-US"/>
                </a:p>
              </p:txBody>
            </p:sp>
            <p:sp>
              <p:nvSpPr>
                <p:cNvPr id="40416" name="Oval 411" descr="25%"/>
                <p:cNvSpPr>
                  <a:spLocks noChangeArrowheads="1"/>
                </p:cNvSpPr>
                <p:nvPr/>
              </p:nvSpPr>
              <p:spPr bwMode="auto">
                <a:xfrm>
                  <a:off x="5029" y="1380"/>
                  <a:ext cx="100" cy="47"/>
                </a:xfrm>
                <a:prstGeom prst="ellipse">
                  <a:avLst/>
                </a:prstGeom>
                <a:pattFill prst="pct25">
                  <a:fgClr>
                    <a:srgbClr val="000000"/>
                  </a:fgClr>
                  <a:bgClr>
                    <a:srgbClr val="FFFFFF"/>
                  </a:bgClr>
                </a:pattFill>
                <a:ln w="12700">
                  <a:solidFill>
                    <a:srgbClr val="000000"/>
                  </a:solidFill>
                  <a:round/>
                  <a:headEnd/>
                  <a:tailEnd/>
                </a:ln>
              </p:spPr>
              <p:txBody>
                <a:bodyPr wrap="none" anchor="ctr"/>
                <a:lstStyle/>
                <a:p>
                  <a:endParaRPr lang="en-NZ">
                    <a:latin typeface="Calibri" pitchFamily="34" charset="0"/>
                  </a:endParaRPr>
                </a:p>
              </p:txBody>
            </p:sp>
            <p:sp>
              <p:nvSpPr>
                <p:cNvPr id="40417" name="Freeform 412"/>
                <p:cNvSpPr>
                  <a:spLocks/>
                </p:cNvSpPr>
                <p:nvPr/>
              </p:nvSpPr>
              <p:spPr bwMode="auto">
                <a:xfrm>
                  <a:off x="5034" y="1384"/>
                  <a:ext cx="100" cy="65"/>
                </a:xfrm>
                <a:custGeom>
                  <a:avLst/>
                  <a:gdLst>
                    <a:gd name="T0" fmla="*/ 0 w 100"/>
                    <a:gd name="T1" fmla="*/ 40 h 65"/>
                    <a:gd name="T2" fmla="*/ 0 w 100"/>
                    <a:gd name="T3" fmla="*/ 40 h 65"/>
                    <a:gd name="T4" fmla="*/ 0 w 100"/>
                    <a:gd name="T5" fmla="*/ 24 h 65"/>
                    <a:gd name="T6" fmla="*/ 9 w 100"/>
                    <a:gd name="T7" fmla="*/ 16 h 65"/>
                    <a:gd name="T8" fmla="*/ 27 w 100"/>
                    <a:gd name="T9" fmla="*/ 8 h 65"/>
                    <a:gd name="T10" fmla="*/ 45 w 100"/>
                    <a:gd name="T11" fmla="*/ 0 h 65"/>
                    <a:gd name="T12" fmla="*/ 54 w 100"/>
                    <a:gd name="T13" fmla="*/ 0 h 65"/>
                    <a:gd name="T14" fmla="*/ 72 w 100"/>
                    <a:gd name="T15" fmla="*/ 0 h 65"/>
                    <a:gd name="T16" fmla="*/ 81 w 100"/>
                    <a:gd name="T17" fmla="*/ 0 h 65"/>
                    <a:gd name="T18" fmla="*/ 90 w 100"/>
                    <a:gd name="T19" fmla="*/ 8 h 65"/>
                    <a:gd name="T20" fmla="*/ 99 w 100"/>
                    <a:gd name="T21" fmla="*/ 16 h 65"/>
                    <a:gd name="T22" fmla="*/ 99 w 100"/>
                    <a:gd name="T23" fmla="*/ 24 h 65"/>
                    <a:gd name="T24" fmla="*/ 99 w 100"/>
                    <a:gd name="T25" fmla="*/ 40 h 65"/>
                    <a:gd name="T26" fmla="*/ 90 w 100"/>
                    <a:gd name="T27" fmla="*/ 40 h 65"/>
                    <a:gd name="T28" fmla="*/ 90 w 100"/>
                    <a:gd name="T29" fmla="*/ 48 h 65"/>
                    <a:gd name="T30" fmla="*/ 72 w 100"/>
                    <a:gd name="T31" fmla="*/ 56 h 65"/>
                    <a:gd name="T32" fmla="*/ 54 w 100"/>
                    <a:gd name="T33" fmla="*/ 56 h 65"/>
                    <a:gd name="T34" fmla="*/ 45 w 100"/>
                    <a:gd name="T35" fmla="*/ 64 h 65"/>
                    <a:gd name="T36" fmla="*/ 27 w 100"/>
                    <a:gd name="T37" fmla="*/ 64 h 65"/>
                    <a:gd name="T38" fmla="*/ 18 w 100"/>
                    <a:gd name="T39" fmla="*/ 56 h 65"/>
                    <a:gd name="T40" fmla="*/ 9 w 100"/>
                    <a:gd name="T41" fmla="*/ 56 h 65"/>
                    <a:gd name="T42" fmla="*/ 0 w 100"/>
                    <a:gd name="T43" fmla="*/ 48 h 65"/>
                    <a:gd name="T44" fmla="*/ 0 w 100"/>
                    <a:gd name="T45" fmla="*/ 40 h 6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00"/>
                    <a:gd name="T70" fmla="*/ 0 h 65"/>
                    <a:gd name="T71" fmla="*/ 100 w 100"/>
                    <a:gd name="T72" fmla="*/ 65 h 6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00" h="65">
                      <a:moveTo>
                        <a:pt x="0" y="40"/>
                      </a:moveTo>
                      <a:lnTo>
                        <a:pt x="0" y="40"/>
                      </a:lnTo>
                      <a:lnTo>
                        <a:pt x="0" y="24"/>
                      </a:lnTo>
                      <a:lnTo>
                        <a:pt x="9" y="16"/>
                      </a:lnTo>
                      <a:lnTo>
                        <a:pt x="27" y="8"/>
                      </a:lnTo>
                      <a:lnTo>
                        <a:pt x="45" y="0"/>
                      </a:lnTo>
                      <a:lnTo>
                        <a:pt x="54" y="0"/>
                      </a:lnTo>
                      <a:lnTo>
                        <a:pt x="72" y="0"/>
                      </a:lnTo>
                      <a:lnTo>
                        <a:pt x="81" y="0"/>
                      </a:lnTo>
                      <a:lnTo>
                        <a:pt x="90" y="8"/>
                      </a:lnTo>
                      <a:lnTo>
                        <a:pt x="99" y="16"/>
                      </a:lnTo>
                      <a:lnTo>
                        <a:pt x="99" y="24"/>
                      </a:lnTo>
                      <a:lnTo>
                        <a:pt x="99" y="40"/>
                      </a:lnTo>
                      <a:lnTo>
                        <a:pt x="90" y="40"/>
                      </a:lnTo>
                      <a:lnTo>
                        <a:pt x="90" y="48"/>
                      </a:lnTo>
                      <a:lnTo>
                        <a:pt x="72" y="56"/>
                      </a:lnTo>
                      <a:lnTo>
                        <a:pt x="54" y="56"/>
                      </a:lnTo>
                      <a:lnTo>
                        <a:pt x="45" y="64"/>
                      </a:lnTo>
                      <a:lnTo>
                        <a:pt x="27" y="64"/>
                      </a:lnTo>
                      <a:lnTo>
                        <a:pt x="18" y="56"/>
                      </a:lnTo>
                      <a:lnTo>
                        <a:pt x="9" y="56"/>
                      </a:lnTo>
                      <a:lnTo>
                        <a:pt x="0" y="48"/>
                      </a:lnTo>
                      <a:lnTo>
                        <a:pt x="0" y="40"/>
                      </a:lnTo>
                    </a:path>
                  </a:pathLst>
                </a:custGeom>
                <a:solidFill>
                  <a:srgbClr val="FE910B"/>
                </a:solidFill>
                <a:ln w="12700" cap="rnd" cmpd="sng">
                  <a:solidFill>
                    <a:srgbClr val="000000"/>
                  </a:solidFill>
                  <a:prstDash val="solid"/>
                  <a:round/>
                  <a:headEnd type="none" w="med" len="med"/>
                  <a:tailEnd type="none" w="med" len="med"/>
                </a:ln>
              </p:spPr>
              <p:txBody>
                <a:bodyPr/>
                <a:lstStyle/>
                <a:p>
                  <a:endParaRPr lang="en-US"/>
                </a:p>
              </p:txBody>
            </p:sp>
            <p:sp>
              <p:nvSpPr>
                <p:cNvPr id="40418" name="Oval 413"/>
                <p:cNvSpPr>
                  <a:spLocks noChangeArrowheads="1"/>
                </p:cNvSpPr>
                <p:nvPr/>
              </p:nvSpPr>
              <p:spPr bwMode="auto">
                <a:xfrm>
                  <a:off x="5134" y="1404"/>
                  <a:ext cx="100" cy="48"/>
                </a:xfrm>
                <a:prstGeom prst="ellipse">
                  <a:avLst/>
                </a:prstGeom>
                <a:solidFill>
                  <a:srgbClr val="FFFFFF"/>
                </a:solidFill>
                <a:ln w="12700">
                  <a:solidFill>
                    <a:srgbClr val="000000"/>
                  </a:solidFill>
                  <a:round/>
                  <a:headEnd/>
                  <a:tailEnd/>
                </a:ln>
              </p:spPr>
              <p:txBody>
                <a:bodyPr wrap="none" anchor="ctr"/>
                <a:lstStyle/>
                <a:p>
                  <a:endParaRPr lang="en-NZ">
                    <a:latin typeface="Calibri" pitchFamily="34" charset="0"/>
                  </a:endParaRPr>
                </a:p>
              </p:txBody>
            </p:sp>
            <p:sp>
              <p:nvSpPr>
                <p:cNvPr id="40419" name="Freeform 414"/>
                <p:cNvSpPr>
                  <a:spLocks/>
                </p:cNvSpPr>
                <p:nvPr/>
              </p:nvSpPr>
              <p:spPr bwMode="auto">
                <a:xfrm>
                  <a:off x="5139" y="1408"/>
                  <a:ext cx="109" cy="57"/>
                </a:xfrm>
                <a:custGeom>
                  <a:avLst/>
                  <a:gdLst>
                    <a:gd name="T0" fmla="*/ 0 w 109"/>
                    <a:gd name="T1" fmla="*/ 40 h 57"/>
                    <a:gd name="T2" fmla="*/ 0 w 109"/>
                    <a:gd name="T3" fmla="*/ 40 h 57"/>
                    <a:gd name="T4" fmla="*/ 0 w 109"/>
                    <a:gd name="T5" fmla="*/ 32 h 57"/>
                    <a:gd name="T6" fmla="*/ 0 w 109"/>
                    <a:gd name="T7" fmla="*/ 16 h 57"/>
                    <a:gd name="T8" fmla="*/ 9 w 109"/>
                    <a:gd name="T9" fmla="*/ 16 h 57"/>
                    <a:gd name="T10" fmla="*/ 18 w 109"/>
                    <a:gd name="T11" fmla="*/ 8 h 57"/>
                    <a:gd name="T12" fmla="*/ 36 w 109"/>
                    <a:gd name="T13" fmla="*/ 0 h 57"/>
                    <a:gd name="T14" fmla="*/ 45 w 109"/>
                    <a:gd name="T15" fmla="*/ 0 h 57"/>
                    <a:gd name="T16" fmla="*/ 54 w 109"/>
                    <a:gd name="T17" fmla="*/ 0 h 57"/>
                    <a:gd name="T18" fmla="*/ 72 w 109"/>
                    <a:gd name="T19" fmla="*/ 0 h 57"/>
                    <a:gd name="T20" fmla="*/ 81 w 109"/>
                    <a:gd name="T21" fmla="*/ 0 h 57"/>
                    <a:gd name="T22" fmla="*/ 90 w 109"/>
                    <a:gd name="T23" fmla="*/ 0 h 57"/>
                    <a:gd name="T24" fmla="*/ 108 w 109"/>
                    <a:gd name="T25" fmla="*/ 8 h 57"/>
                    <a:gd name="T26" fmla="*/ 108 w 109"/>
                    <a:gd name="T27" fmla="*/ 16 h 57"/>
                    <a:gd name="T28" fmla="*/ 108 w 109"/>
                    <a:gd name="T29" fmla="*/ 24 h 57"/>
                    <a:gd name="T30" fmla="*/ 108 w 109"/>
                    <a:gd name="T31" fmla="*/ 32 h 57"/>
                    <a:gd name="T32" fmla="*/ 99 w 109"/>
                    <a:gd name="T33" fmla="*/ 40 h 57"/>
                    <a:gd name="T34" fmla="*/ 90 w 109"/>
                    <a:gd name="T35" fmla="*/ 48 h 57"/>
                    <a:gd name="T36" fmla="*/ 72 w 109"/>
                    <a:gd name="T37" fmla="*/ 56 h 57"/>
                    <a:gd name="T38" fmla="*/ 63 w 109"/>
                    <a:gd name="T39" fmla="*/ 56 h 57"/>
                    <a:gd name="T40" fmla="*/ 54 w 109"/>
                    <a:gd name="T41" fmla="*/ 56 h 57"/>
                    <a:gd name="T42" fmla="*/ 27 w 109"/>
                    <a:gd name="T43" fmla="*/ 56 h 57"/>
                    <a:gd name="T44" fmla="*/ 18 w 109"/>
                    <a:gd name="T45" fmla="*/ 56 h 57"/>
                    <a:gd name="T46" fmla="*/ 9 w 109"/>
                    <a:gd name="T47" fmla="*/ 56 h 57"/>
                    <a:gd name="T48" fmla="*/ 0 w 109"/>
                    <a:gd name="T49" fmla="*/ 48 h 57"/>
                    <a:gd name="T50" fmla="*/ 0 w 109"/>
                    <a:gd name="T51" fmla="*/ 40 h 57"/>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09"/>
                    <a:gd name="T79" fmla="*/ 0 h 57"/>
                    <a:gd name="T80" fmla="*/ 109 w 109"/>
                    <a:gd name="T81" fmla="*/ 57 h 57"/>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09" h="57">
                      <a:moveTo>
                        <a:pt x="0" y="40"/>
                      </a:moveTo>
                      <a:lnTo>
                        <a:pt x="0" y="40"/>
                      </a:lnTo>
                      <a:lnTo>
                        <a:pt x="0" y="32"/>
                      </a:lnTo>
                      <a:lnTo>
                        <a:pt x="0" y="16"/>
                      </a:lnTo>
                      <a:lnTo>
                        <a:pt x="9" y="16"/>
                      </a:lnTo>
                      <a:lnTo>
                        <a:pt x="18" y="8"/>
                      </a:lnTo>
                      <a:lnTo>
                        <a:pt x="36" y="0"/>
                      </a:lnTo>
                      <a:lnTo>
                        <a:pt x="45" y="0"/>
                      </a:lnTo>
                      <a:lnTo>
                        <a:pt x="54" y="0"/>
                      </a:lnTo>
                      <a:lnTo>
                        <a:pt x="72" y="0"/>
                      </a:lnTo>
                      <a:lnTo>
                        <a:pt x="81" y="0"/>
                      </a:lnTo>
                      <a:lnTo>
                        <a:pt x="90" y="0"/>
                      </a:lnTo>
                      <a:lnTo>
                        <a:pt x="108" y="8"/>
                      </a:lnTo>
                      <a:lnTo>
                        <a:pt x="108" y="16"/>
                      </a:lnTo>
                      <a:lnTo>
                        <a:pt x="108" y="24"/>
                      </a:lnTo>
                      <a:lnTo>
                        <a:pt x="108" y="32"/>
                      </a:lnTo>
                      <a:lnTo>
                        <a:pt x="99" y="40"/>
                      </a:lnTo>
                      <a:lnTo>
                        <a:pt x="90" y="48"/>
                      </a:lnTo>
                      <a:lnTo>
                        <a:pt x="72" y="56"/>
                      </a:lnTo>
                      <a:lnTo>
                        <a:pt x="63" y="56"/>
                      </a:lnTo>
                      <a:lnTo>
                        <a:pt x="54" y="56"/>
                      </a:lnTo>
                      <a:lnTo>
                        <a:pt x="27" y="56"/>
                      </a:lnTo>
                      <a:lnTo>
                        <a:pt x="18" y="56"/>
                      </a:lnTo>
                      <a:lnTo>
                        <a:pt x="9" y="56"/>
                      </a:lnTo>
                      <a:lnTo>
                        <a:pt x="0" y="48"/>
                      </a:lnTo>
                      <a:lnTo>
                        <a:pt x="0" y="40"/>
                      </a:lnTo>
                    </a:path>
                  </a:pathLst>
                </a:custGeom>
                <a:solidFill>
                  <a:srgbClr val="FE910B"/>
                </a:solidFill>
                <a:ln w="12700" cap="rnd" cmpd="sng">
                  <a:solidFill>
                    <a:srgbClr val="000000"/>
                  </a:solidFill>
                  <a:prstDash val="solid"/>
                  <a:round/>
                  <a:headEnd type="none" w="med" len="med"/>
                  <a:tailEnd type="none" w="med" len="med"/>
                </a:ln>
              </p:spPr>
              <p:txBody>
                <a:bodyPr/>
                <a:lstStyle/>
                <a:p>
                  <a:endParaRPr lang="en-US"/>
                </a:p>
              </p:txBody>
            </p:sp>
            <p:sp>
              <p:nvSpPr>
                <p:cNvPr id="40420" name="Oval 415"/>
                <p:cNvSpPr>
                  <a:spLocks noChangeArrowheads="1"/>
                </p:cNvSpPr>
                <p:nvPr/>
              </p:nvSpPr>
              <p:spPr bwMode="auto">
                <a:xfrm>
                  <a:off x="5083" y="1340"/>
                  <a:ext cx="46" cy="64"/>
                </a:xfrm>
                <a:prstGeom prst="ellipse">
                  <a:avLst/>
                </a:prstGeom>
                <a:solidFill>
                  <a:schemeClr val="accent1"/>
                </a:solidFill>
                <a:ln w="12700">
                  <a:solidFill>
                    <a:srgbClr val="000000"/>
                  </a:solidFill>
                  <a:round/>
                  <a:headEnd/>
                  <a:tailEnd/>
                </a:ln>
              </p:spPr>
              <p:txBody>
                <a:bodyPr wrap="none" anchor="ctr"/>
                <a:lstStyle/>
                <a:p>
                  <a:endParaRPr lang="en-NZ">
                    <a:latin typeface="Calibri" pitchFamily="34" charset="0"/>
                  </a:endParaRPr>
                </a:p>
              </p:txBody>
            </p:sp>
            <p:sp>
              <p:nvSpPr>
                <p:cNvPr id="40421" name="Freeform 416"/>
                <p:cNvSpPr>
                  <a:spLocks/>
                </p:cNvSpPr>
                <p:nvPr/>
              </p:nvSpPr>
              <p:spPr bwMode="auto">
                <a:xfrm>
                  <a:off x="5112" y="1384"/>
                  <a:ext cx="64" cy="73"/>
                </a:xfrm>
                <a:custGeom>
                  <a:avLst/>
                  <a:gdLst>
                    <a:gd name="T0" fmla="*/ 0 w 64"/>
                    <a:gd name="T1" fmla="*/ 40 h 73"/>
                    <a:gd name="T2" fmla="*/ 0 w 64"/>
                    <a:gd name="T3" fmla="*/ 32 h 73"/>
                    <a:gd name="T4" fmla="*/ 0 w 64"/>
                    <a:gd name="T5" fmla="*/ 24 h 73"/>
                    <a:gd name="T6" fmla="*/ 0 w 64"/>
                    <a:gd name="T7" fmla="*/ 16 h 73"/>
                    <a:gd name="T8" fmla="*/ 9 w 64"/>
                    <a:gd name="T9" fmla="*/ 8 h 73"/>
                    <a:gd name="T10" fmla="*/ 18 w 64"/>
                    <a:gd name="T11" fmla="*/ 0 h 73"/>
                    <a:gd name="T12" fmla="*/ 27 w 64"/>
                    <a:gd name="T13" fmla="*/ 0 h 73"/>
                    <a:gd name="T14" fmla="*/ 45 w 64"/>
                    <a:gd name="T15" fmla="*/ 8 h 73"/>
                    <a:gd name="T16" fmla="*/ 54 w 64"/>
                    <a:gd name="T17" fmla="*/ 16 h 73"/>
                    <a:gd name="T18" fmla="*/ 54 w 64"/>
                    <a:gd name="T19" fmla="*/ 24 h 73"/>
                    <a:gd name="T20" fmla="*/ 54 w 64"/>
                    <a:gd name="T21" fmla="*/ 32 h 73"/>
                    <a:gd name="T22" fmla="*/ 63 w 64"/>
                    <a:gd name="T23" fmla="*/ 40 h 73"/>
                    <a:gd name="T24" fmla="*/ 63 w 64"/>
                    <a:gd name="T25" fmla="*/ 48 h 73"/>
                    <a:gd name="T26" fmla="*/ 54 w 64"/>
                    <a:gd name="T27" fmla="*/ 56 h 73"/>
                    <a:gd name="T28" fmla="*/ 54 w 64"/>
                    <a:gd name="T29" fmla="*/ 64 h 73"/>
                    <a:gd name="T30" fmla="*/ 45 w 64"/>
                    <a:gd name="T31" fmla="*/ 72 h 73"/>
                    <a:gd name="T32" fmla="*/ 36 w 64"/>
                    <a:gd name="T33" fmla="*/ 72 h 73"/>
                    <a:gd name="T34" fmla="*/ 27 w 64"/>
                    <a:gd name="T35" fmla="*/ 72 h 73"/>
                    <a:gd name="T36" fmla="*/ 18 w 64"/>
                    <a:gd name="T37" fmla="*/ 64 h 73"/>
                    <a:gd name="T38" fmla="*/ 9 w 64"/>
                    <a:gd name="T39" fmla="*/ 48 h 73"/>
                    <a:gd name="T40" fmla="*/ 0 w 64"/>
                    <a:gd name="T41" fmla="*/ 40 h 7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4"/>
                    <a:gd name="T64" fmla="*/ 0 h 73"/>
                    <a:gd name="T65" fmla="*/ 64 w 64"/>
                    <a:gd name="T66" fmla="*/ 73 h 7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4" h="73">
                      <a:moveTo>
                        <a:pt x="0" y="40"/>
                      </a:moveTo>
                      <a:lnTo>
                        <a:pt x="0" y="32"/>
                      </a:lnTo>
                      <a:lnTo>
                        <a:pt x="0" y="24"/>
                      </a:lnTo>
                      <a:lnTo>
                        <a:pt x="0" y="16"/>
                      </a:lnTo>
                      <a:lnTo>
                        <a:pt x="9" y="8"/>
                      </a:lnTo>
                      <a:lnTo>
                        <a:pt x="18" y="0"/>
                      </a:lnTo>
                      <a:lnTo>
                        <a:pt x="27" y="0"/>
                      </a:lnTo>
                      <a:lnTo>
                        <a:pt x="45" y="8"/>
                      </a:lnTo>
                      <a:lnTo>
                        <a:pt x="54" y="16"/>
                      </a:lnTo>
                      <a:lnTo>
                        <a:pt x="54" y="24"/>
                      </a:lnTo>
                      <a:lnTo>
                        <a:pt x="54" y="32"/>
                      </a:lnTo>
                      <a:lnTo>
                        <a:pt x="63" y="40"/>
                      </a:lnTo>
                      <a:lnTo>
                        <a:pt x="63" y="48"/>
                      </a:lnTo>
                      <a:lnTo>
                        <a:pt x="54" y="56"/>
                      </a:lnTo>
                      <a:lnTo>
                        <a:pt x="54" y="64"/>
                      </a:lnTo>
                      <a:lnTo>
                        <a:pt x="45" y="72"/>
                      </a:lnTo>
                      <a:lnTo>
                        <a:pt x="36" y="72"/>
                      </a:lnTo>
                      <a:lnTo>
                        <a:pt x="27" y="72"/>
                      </a:lnTo>
                      <a:lnTo>
                        <a:pt x="18" y="64"/>
                      </a:lnTo>
                      <a:lnTo>
                        <a:pt x="9" y="48"/>
                      </a:lnTo>
                      <a:lnTo>
                        <a:pt x="0" y="40"/>
                      </a:lnTo>
                    </a:path>
                  </a:pathLst>
                </a:custGeom>
                <a:solidFill>
                  <a:srgbClr val="FE910B"/>
                </a:solidFill>
                <a:ln w="12700" cap="rnd" cmpd="sng">
                  <a:solidFill>
                    <a:srgbClr val="000000"/>
                  </a:solidFill>
                  <a:prstDash val="solid"/>
                  <a:round/>
                  <a:headEnd type="none" w="med" len="med"/>
                  <a:tailEnd type="none" w="med" len="med"/>
                </a:ln>
              </p:spPr>
              <p:txBody>
                <a:bodyPr/>
                <a:lstStyle/>
                <a:p>
                  <a:endParaRPr lang="en-US"/>
                </a:p>
              </p:txBody>
            </p:sp>
            <p:sp>
              <p:nvSpPr>
                <p:cNvPr id="40422" name="Oval 417" descr="25%"/>
                <p:cNvSpPr>
                  <a:spLocks noChangeArrowheads="1"/>
                </p:cNvSpPr>
                <p:nvPr/>
              </p:nvSpPr>
              <p:spPr bwMode="auto">
                <a:xfrm>
                  <a:off x="5197" y="1356"/>
                  <a:ext cx="46" cy="64"/>
                </a:xfrm>
                <a:prstGeom prst="ellipse">
                  <a:avLst/>
                </a:prstGeom>
                <a:pattFill prst="pct25">
                  <a:fgClr>
                    <a:srgbClr val="000000"/>
                  </a:fgClr>
                  <a:bgClr>
                    <a:srgbClr val="FFFFFF"/>
                  </a:bgClr>
                </a:pattFill>
                <a:ln w="12700">
                  <a:solidFill>
                    <a:srgbClr val="000000"/>
                  </a:solidFill>
                  <a:round/>
                  <a:headEnd/>
                  <a:tailEnd/>
                </a:ln>
              </p:spPr>
              <p:txBody>
                <a:bodyPr wrap="none" anchor="ctr"/>
                <a:lstStyle/>
                <a:p>
                  <a:endParaRPr lang="en-NZ">
                    <a:latin typeface="Calibri" pitchFamily="34" charset="0"/>
                  </a:endParaRPr>
                </a:p>
              </p:txBody>
            </p:sp>
            <p:sp>
              <p:nvSpPr>
                <p:cNvPr id="40423" name="Freeform 418"/>
                <p:cNvSpPr>
                  <a:spLocks/>
                </p:cNvSpPr>
                <p:nvPr/>
              </p:nvSpPr>
              <p:spPr bwMode="auto">
                <a:xfrm>
                  <a:off x="5202" y="1360"/>
                  <a:ext cx="55" cy="81"/>
                </a:xfrm>
                <a:custGeom>
                  <a:avLst/>
                  <a:gdLst>
                    <a:gd name="T0" fmla="*/ 0 w 55"/>
                    <a:gd name="T1" fmla="*/ 48 h 81"/>
                    <a:gd name="T2" fmla="*/ 0 w 55"/>
                    <a:gd name="T3" fmla="*/ 40 h 81"/>
                    <a:gd name="T4" fmla="*/ 0 w 55"/>
                    <a:gd name="T5" fmla="*/ 24 h 81"/>
                    <a:gd name="T6" fmla="*/ 0 w 55"/>
                    <a:gd name="T7" fmla="*/ 16 h 81"/>
                    <a:gd name="T8" fmla="*/ 9 w 55"/>
                    <a:gd name="T9" fmla="*/ 8 h 81"/>
                    <a:gd name="T10" fmla="*/ 18 w 55"/>
                    <a:gd name="T11" fmla="*/ 0 h 81"/>
                    <a:gd name="T12" fmla="*/ 27 w 55"/>
                    <a:gd name="T13" fmla="*/ 0 h 81"/>
                    <a:gd name="T14" fmla="*/ 36 w 55"/>
                    <a:gd name="T15" fmla="*/ 8 h 81"/>
                    <a:gd name="T16" fmla="*/ 45 w 55"/>
                    <a:gd name="T17" fmla="*/ 16 h 81"/>
                    <a:gd name="T18" fmla="*/ 54 w 55"/>
                    <a:gd name="T19" fmla="*/ 24 h 81"/>
                    <a:gd name="T20" fmla="*/ 54 w 55"/>
                    <a:gd name="T21" fmla="*/ 32 h 81"/>
                    <a:gd name="T22" fmla="*/ 54 w 55"/>
                    <a:gd name="T23" fmla="*/ 40 h 81"/>
                    <a:gd name="T24" fmla="*/ 54 w 55"/>
                    <a:gd name="T25" fmla="*/ 56 h 81"/>
                    <a:gd name="T26" fmla="*/ 54 w 55"/>
                    <a:gd name="T27" fmla="*/ 64 h 81"/>
                    <a:gd name="T28" fmla="*/ 45 w 55"/>
                    <a:gd name="T29" fmla="*/ 72 h 81"/>
                    <a:gd name="T30" fmla="*/ 36 w 55"/>
                    <a:gd name="T31" fmla="*/ 72 h 81"/>
                    <a:gd name="T32" fmla="*/ 27 w 55"/>
                    <a:gd name="T33" fmla="*/ 80 h 81"/>
                    <a:gd name="T34" fmla="*/ 18 w 55"/>
                    <a:gd name="T35" fmla="*/ 72 h 81"/>
                    <a:gd name="T36" fmla="*/ 18 w 55"/>
                    <a:gd name="T37" fmla="*/ 64 h 81"/>
                    <a:gd name="T38" fmla="*/ 9 w 55"/>
                    <a:gd name="T39" fmla="*/ 56 h 81"/>
                    <a:gd name="T40" fmla="*/ 0 w 55"/>
                    <a:gd name="T41" fmla="*/ 48 h 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5"/>
                    <a:gd name="T64" fmla="*/ 0 h 81"/>
                    <a:gd name="T65" fmla="*/ 55 w 55"/>
                    <a:gd name="T66" fmla="*/ 81 h 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5" h="81">
                      <a:moveTo>
                        <a:pt x="0" y="48"/>
                      </a:moveTo>
                      <a:lnTo>
                        <a:pt x="0" y="40"/>
                      </a:lnTo>
                      <a:lnTo>
                        <a:pt x="0" y="24"/>
                      </a:lnTo>
                      <a:lnTo>
                        <a:pt x="0" y="16"/>
                      </a:lnTo>
                      <a:lnTo>
                        <a:pt x="9" y="8"/>
                      </a:lnTo>
                      <a:lnTo>
                        <a:pt x="18" y="0"/>
                      </a:lnTo>
                      <a:lnTo>
                        <a:pt x="27" y="0"/>
                      </a:lnTo>
                      <a:lnTo>
                        <a:pt x="36" y="8"/>
                      </a:lnTo>
                      <a:lnTo>
                        <a:pt x="45" y="16"/>
                      </a:lnTo>
                      <a:lnTo>
                        <a:pt x="54" y="24"/>
                      </a:lnTo>
                      <a:lnTo>
                        <a:pt x="54" y="32"/>
                      </a:lnTo>
                      <a:lnTo>
                        <a:pt x="54" y="40"/>
                      </a:lnTo>
                      <a:lnTo>
                        <a:pt x="54" y="56"/>
                      </a:lnTo>
                      <a:lnTo>
                        <a:pt x="54" y="64"/>
                      </a:lnTo>
                      <a:lnTo>
                        <a:pt x="45" y="72"/>
                      </a:lnTo>
                      <a:lnTo>
                        <a:pt x="36" y="72"/>
                      </a:lnTo>
                      <a:lnTo>
                        <a:pt x="27" y="80"/>
                      </a:lnTo>
                      <a:lnTo>
                        <a:pt x="18" y="72"/>
                      </a:lnTo>
                      <a:lnTo>
                        <a:pt x="18" y="64"/>
                      </a:lnTo>
                      <a:lnTo>
                        <a:pt x="9" y="56"/>
                      </a:lnTo>
                      <a:lnTo>
                        <a:pt x="0" y="48"/>
                      </a:lnTo>
                    </a:path>
                  </a:pathLst>
                </a:custGeom>
                <a:solidFill>
                  <a:srgbClr val="FE910B"/>
                </a:solidFill>
                <a:ln w="12700" cap="rnd" cmpd="sng">
                  <a:solidFill>
                    <a:srgbClr val="000000"/>
                  </a:solidFill>
                  <a:prstDash val="solid"/>
                  <a:round/>
                  <a:headEnd type="none" w="med" len="med"/>
                  <a:tailEnd type="none" w="med" len="med"/>
                </a:ln>
              </p:spPr>
              <p:txBody>
                <a:bodyPr/>
                <a:lstStyle/>
                <a:p>
                  <a:endParaRPr lang="en-US"/>
                </a:p>
              </p:txBody>
            </p:sp>
            <p:sp>
              <p:nvSpPr>
                <p:cNvPr id="40424" name="Oval 419"/>
                <p:cNvSpPr>
                  <a:spLocks noChangeArrowheads="1"/>
                </p:cNvSpPr>
                <p:nvPr/>
              </p:nvSpPr>
              <p:spPr bwMode="auto">
                <a:xfrm>
                  <a:off x="5233" y="1388"/>
                  <a:ext cx="82" cy="40"/>
                </a:xfrm>
                <a:prstGeom prst="ellipse">
                  <a:avLst/>
                </a:prstGeom>
                <a:solidFill>
                  <a:srgbClr val="FE910B"/>
                </a:solidFill>
                <a:ln w="12700">
                  <a:solidFill>
                    <a:srgbClr val="000000"/>
                  </a:solidFill>
                  <a:round/>
                  <a:headEnd/>
                  <a:tailEnd/>
                </a:ln>
              </p:spPr>
              <p:txBody>
                <a:bodyPr wrap="none" anchor="ctr"/>
                <a:lstStyle/>
                <a:p>
                  <a:endParaRPr lang="en-NZ">
                    <a:latin typeface="Calibri" pitchFamily="34" charset="0"/>
                  </a:endParaRPr>
                </a:p>
              </p:txBody>
            </p:sp>
            <p:sp>
              <p:nvSpPr>
                <p:cNvPr id="40425" name="Freeform 420"/>
                <p:cNvSpPr>
                  <a:spLocks/>
                </p:cNvSpPr>
                <p:nvPr/>
              </p:nvSpPr>
              <p:spPr bwMode="auto">
                <a:xfrm>
                  <a:off x="5225" y="1402"/>
                  <a:ext cx="91" cy="57"/>
                </a:xfrm>
                <a:custGeom>
                  <a:avLst/>
                  <a:gdLst>
                    <a:gd name="T0" fmla="*/ 0 w 91"/>
                    <a:gd name="T1" fmla="*/ 32 h 57"/>
                    <a:gd name="T2" fmla="*/ 0 w 91"/>
                    <a:gd name="T3" fmla="*/ 32 h 57"/>
                    <a:gd name="T4" fmla="*/ 9 w 91"/>
                    <a:gd name="T5" fmla="*/ 16 h 57"/>
                    <a:gd name="T6" fmla="*/ 18 w 91"/>
                    <a:gd name="T7" fmla="*/ 8 h 57"/>
                    <a:gd name="T8" fmla="*/ 27 w 91"/>
                    <a:gd name="T9" fmla="*/ 0 h 57"/>
                    <a:gd name="T10" fmla="*/ 36 w 91"/>
                    <a:gd name="T11" fmla="*/ 0 h 57"/>
                    <a:gd name="T12" fmla="*/ 45 w 91"/>
                    <a:gd name="T13" fmla="*/ 0 h 57"/>
                    <a:gd name="T14" fmla="*/ 63 w 91"/>
                    <a:gd name="T15" fmla="*/ 0 h 57"/>
                    <a:gd name="T16" fmla="*/ 72 w 91"/>
                    <a:gd name="T17" fmla="*/ 0 h 57"/>
                    <a:gd name="T18" fmla="*/ 81 w 91"/>
                    <a:gd name="T19" fmla="*/ 8 h 57"/>
                    <a:gd name="T20" fmla="*/ 81 w 91"/>
                    <a:gd name="T21" fmla="*/ 16 h 57"/>
                    <a:gd name="T22" fmla="*/ 90 w 91"/>
                    <a:gd name="T23" fmla="*/ 24 h 57"/>
                    <a:gd name="T24" fmla="*/ 90 w 91"/>
                    <a:gd name="T25" fmla="*/ 32 h 57"/>
                    <a:gd name="T26" fmla="*/ 81 w 91"/>
                    <a:gd name="T27" fmla="*/ 40 h 57"/>
                    <a:gd name="T28" fmla="*/ 72 w 91"/>
                    <a:gd name="T29" fmla="*/ 48 h 57"/>
                    <a:gd name="T30" fmla="*/ 54 w 91"/>
                    <a:gd name="T31" fmla="*/ 48 h 57"/>
                    <a:gd name="T32" fmla="*/ 45 w 91"/>
                    <a:gd name="T33" fmla="*/ 48 h 57"/>
                    <a:gd name="T34" fmla="*/ 36 w 91"/>
                    <a:gd name="T35" fmla="*/ 56 h 57"/>
                    <a:gd name="T36" fmla="*/ 27 w 91"/>
                    <a:gd name="T37" fmla="*/ 56 h 57"/>
                    <a:gd name="T38" fmla="*/ 18 w 91"/>
                    <a:gd name="T39" fmla="*/ 48 h 57"/>
                    <a:gd name="T40" fmla="*/ 9 w 91"/>
                    <a:gd name="T41" fmla="*/ 48 h 57"/>
                    <a:gd name="T42" fmla="*/ 0 w 91"/>
                    <a:gd name="T43" fmla="*/ 40 h 57"/>
                    <a:gd name="T44" fmla="*/ 0 w 91"/>
                    <a:gd name="T45" fmla="*/ 32 h 5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91"/>
                    <a:gd name="T70" fmla="*/ 0 h 57"/>
                    <a:gd name="T71" fmla="*/ 91 w 91"/>
                    <a:gd name="T72" fmla="*/ 57 h 57"/>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91" h="57">
                      <a:moveTo>
                        <a:pt x="0" y="32"/>
                      </a:moveTo>
                      <a:lnTo>
                        <a:pt x="0" y="32"/>
                      </a:lnTo>
                      <a:lnTo>
                        <a:pt x="9" y="16"/>
                      </a:lnTo>
                      <a:lnTo>
                        <a:pt x="18" y="8"/>
                      </a:lnTo>
                      <a:lnTo>
                        <a:pt x="27" y="0"/>
                      </a:lnTo>
                      <a:lnTo>
                        <a:pt x="36" y="0"/>
                      </a:lnTo>
                      <a:lnTo>
                        <a:pt x="45" y="0"/>
                      </a:lnTo>
                      <a:lnTo>
                        <a:pt x="63" y="0"/>
                      </a:lnTo>
                      <a:lnTo>
                        <a:pt x="72" y="0"/>
                      </a:lnTo>
                      <a:lnTo>
                        <a:pt x="81" y="8"/>
                      </a:lnTo>
                      <a:lnTo>
                        <a:pt x="81" y="16"/>
                      </a:lnTo>
                      <a:lnTo>
                        <a:pt x="90" y="24"/>
                      </a:lnTo>
                      <a:lnTo>
                        <a:pt x="90" y="32"/>
                      </a:lnTo>
                      <a:lnTo>
                        <a:pt x="81" y="40"/>
                      </a:lnTo>
                      <a:lnTo>
                        <a:pt x="72" y="48"/>
                      </a:lnTo>
                      <a:lnTo>
                        <a:pt x="54" y="48"/>
                      </a:lnTo>
                      <a:lnTo>
                        <a:pt x="45" y="48"/>
                      </a:lnTo>
                      <a:lnTo>
                        <a:pt x="36" y="56"/>
                      </a:lnTo>
                      <a:lnTo>
                        <a:pt x="27" y="56"/>
                      </a:lnTo>
                      <a:lnTo>
                        <a:pt x="18" y="48"/>
                      </a:lnTo>
                      <a:lnTo>
                        <a:pt x="9" y="48"/>
                      </a:lnTo>
                      <a:lnTo>
                        <a:pt x="0" y="40"/>
                      </a:lnTo>
                      <a:lnTo>
                        <a:pt x="0" y="32"/>
                      </a:lnTo>
                    </a:path>
                  </a:pathLst>
                </a:custGeom>
                <a:solidFill>
                  <a:srgbClr val="FE910B"/>
                </a:solidFill>
                <a:ln w="12700" cap="rnd" cmpd="sng">
                  <a:solidFill>
                    <a:srgbClr val="000000"/>
                  </a:solidFill>
                  <a:prstDash val="solid"/>
                  <a:round/>
                  <a:headEnd type="none" w="med" len="med"/>
                  <a:tailEnd type="none" w="med" len="med"/>
                </a:ln>
              </p:spPr>
              <p:txBody>
                <a:bodyPr/>
                <a:lstStyle/>
                <a:p>
                  <a:endParaRPr lang="en-US"/>
                </a:p>
              </p:txBody>
            </p:sp>
            <p:sp>
              <p:nvSpPr>
                <p:cNvPr id="40426" name="Oval 421"/>
                <p:cNvSpPr>
                  <a:spLocks noChangeArrowheads="1"/>
                </p:cNvSpPr>
                <p:nvPr/>
              </p:nvSpPr>
              <p:spPr bwMode="auto">
                <a:xfrm rot="-1378829">
                  <a:off x="5328" y="1596"/>
                  <a:ext cx="100" cy="48"/>
                </a:xfrm>
                <a:prstGeom prst="ellipse">
                  <a:avLst/>
                </a:prstGeom>
                <a:solidFill>
                  <a:srgbClr val="FE910B"/>
                </a:solidFill>
                <a:ln w="12700">
                  <a:solidFill>
                    <a:schemeClr val="bg2"/>
                  </a:solidFill>
                  <a:round/>
                  <a:headEnd/>
                  <a:tailEnd/>
                </a:ln>
              </p:spPr>
              <p:txBody>
                <a:bodyPr wrap="none" anchor="ctr"/>
                <a:lstStyle/>
                <a:p>
                  <a:endParaRPr lang="en-NZ">
                    <a:latin typeface="Calibri" pitchFamily="34" charset="0"/>
                  </a:endParaRPr>
                </a:p>
              </p:txBody>
            </p:sp>
            <p:sp>
              <p:nvSpPr>
                <p:cNvPr id="40427" name="Oval 422"/>
                <p:cNvSpPr>
                  <a:spLocks noChangeArrowheads="1"/>
                </p:cNvSpPr>
                <p:nvPr/>
              </p:nvSpPr>
              <p:spPr bwMode="auto">
                <a:xfrm>
                  <a:off x="5232" y="1596"/>
                  <a:ext cx="100" cy="48"/>
                </a:xfrm>
                <a:prstGeom prst="ellipse">
                  <a:avLst/>
                </a:prstGeom>
                <a:solidFill>
                  <a:srgbClr val="FE910B"/>
                </a:solidFill>
                <a:ln w="12700">
                  <a:solidFill>
                    <a:schemeClr val="bg2"/>
                  </a:solidFill>
                  <a:round/>
                  <a:headEnd/>
                  <a:tailEnd/>
                </a:ln>
              </p:spPr>
              <p:txBody>
                <a:bodyPr wrap="none" anchor="ctr"/>
                <a:lstStyle/>
                <a:p>
                  <a:endParaRPr lang="en-NZ">
                    <a:latin typeface="Calibri" pitchFamily="34" charset="0"/>
                  </a:endParaRPr>
                </a:p>
              </p:txBody>
            </p:sp>
          </p:grpSp>
          <p:grpSp>
            <p:nvGrpSpPr>
              <p:cNvPr id="40323" name="Group 423"/>
              <p:cNvGrpSpPr>
                <a:grpSpLocks/>
              </p:cNvGrpSpPr>
              <p:nvPr/>
            </p:nvGrpSpPr>
            <p:grpSpPr bwMode="auto">
              <a:xfrm>
                <a:off x="4944" y="1008"/>
                <a:ext cx="828" cy="652"/>
                <a:chOff x="4725" y="2936"/>
                <a:chExt cx="828" cy="652"/>
              </a:xfrm>
            </p:grpSpPr>
            <p:sp>
              <p:nvSpPr>
                <p:cNvPr id="40324" name="Arc 424"/>
                <p:cNvSpPr>
                  <a:spLocks/>
                </p:cNvSpPr>
                <p:nvPr/>
              </p:nvSpPr>
              <p:spPr bwMode="auto">
                <a:xfrm>
                  <a:off x="4725" y="2936"/>
                  <a:ext cx="289" cy="640"/>
                </a:xfrm>
                <a:custGeom>
                  <a:avLst/>
                  <a:gdLst>
                    <a:gd name="T0" fmla="*/ 0 w 21600"/>
                    <a:gd name="T1" fmla="*/ 1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28575" cap="rnd">
                  <a:solidFill>
                    <a:schemeClr val="tx1"/>
                  </a:solidFill>
                  <a:round/>
                  <a:headEnd/>
                  <a:tailEnd/>
                </a:ln>
              </p:spPr>
              <p:txBody>
                <a:bodyPr wrap="none" anchor="ctr"/>
                <a:lstStyle/>
                <a:p>
                  <a:endParaRPr lang="en-US"/>
                </a:p>
              </p:txBody>
            </p:sp>
            <p:sp>
              <p:nvSpPr>
                <p:cNvPr id="40325" name="Line 425"/>
                <p:cNvSpPr>
                  <a:spLocks noChangeShapeType="1"/>
                </p:cNvSpPr>
                <p:nvPr/>
              </p:nvSpPr>
              <p:spPr bwMode="auto">
                <a:xfrm flipH="1">
                  <a:off x="4991" y="3588"/>
                  <a:ext cx="269" cy="0"/>
                </a:xfrm>
                <a:prstGeom prst="line">
                  <a:avLst/>
                </a:prstGeom>
                <a:noFill/>
                <a:ln w="28575">
                  <a:solidFill>
                    <a:schemeClr val="tx1"/>
                  </a:solidFill>
                  <a:round/>
                  <a:headEnd/>
                  <a:tailEnd/>
                </a:ln>
              </p:spPr>
              <p:txBody>
                <a:bodyPr wrap="none" anchor="ctr"/>
                <a:lstStyle/>
                <a:p>
                  <a:endParaRPr lang="en-US"/>
                </a:p>
              </p:txBody>
            </p:sp>
            <p:sp>
              <p:nvSpPr>
                <p:cNvPr id="40326" name="Arc 426"/>
                <p:cNvSpPr>
                  <a:spLocks/>
                </p:cNvSpPr>
                <p:nvPr/>
              </p:nvSpPr>
              <p:spPr bwMode="auto">
                <a:xfrm>
                  <a:off x="5264" y="2944"/>
                  <a:ext cx="289" cy="640"/>
                </a:xfrm>
                <a:custGeom>
                  <a:avLst/>
                  <a:gdLst>
                    <a:gd name="T0" fmla="*/ 0 w 21600"/>
                    <a:gd name="T1" fmla="*/ 0 h 21600"/>
                    <a:gd name="T2" fmla="*/ 0 w 21600"/>
                    <a:gd name="T3" fmla="*/ 1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28575" cap="rnd">
                  <a:solidFill>
                    <a:schemeClr val="tx1"/>
                  </a:solidFill>
                  <a:round/>
                  <a:headEnd/>
                  <a:tailEnd/>
                </a:ln>
              </p:spPr>
              <p:txBody>
                <a:bodyPr wrap="none" anchor="ctr"/>
                <a:lstStyle/>
                <a:p>
                  <a:endParaRPr lang="en-US"/>
                </a:p>
              </p:txBody>
            </p:sp>
          </p:grpSp>
        </p:grpSp>
      </p:grpSp>
      <p:sp>
        <p:nvSpPr>
          <p:cNvPr id="39941" name="Rectangle 690"/>
          <p:cNvSpPr>
            <a:spLocks noChangeArrowheads="1"/>
          </p:cNvSpPr>
          <p:nvPr/>
        </p:nvSpPr>
        <p:spPr bwMode="auto">
          <a:xfrm>
            <a:off x="2549525" y="1236663"/>
            <a:ext cx="1868488" cy="927100"/>
          </a:xfrm>
          <a:prstGeom prst="rect">
            <a:avLst/>
          </a:prstGeom>
          <a:noFill/>
          <a:ln w="9525">
            <a:noFill/>
            <a:miter lim="800000"/>
            <a:headEnd/>
            <a:tailEnd/>
          </a:ln>
        </p:spPr>
        <p:txBody>
          <a:bodyPr wrap="none" lIns="93662" tIns="47625" rIns="93662" bIns="47625">
            <a:spAutoFit/>
          </a:bodyPr>
          <a:lstStyle/>
          <a:p>
            <a:pPr algn="ctr" defTabSz="933450"/>
            <a:r>
              <a:rPr lang="en-US">
                <a:solidFill>
                  <a:srgbClr val="009900"/>
                </a:solidFill>
                <a:latin typeface="Calibri" pitchFamily="34" charset="0"/>
              </a:rPr>
              <a:t>Forages:</a:t>
            </a:r>
            <a:endParaRPr lang="en-US">
              <a:solidFill>
                <a:schemeClr val="accent2"/>
              </a:solidFill>
              <a:latin typeface="Calibri" pitchFamily="34" charset="0"/>
            </a:endParaRPr>
          </a:p>
          <a:p>
            <a:pPr algn="ctr" defTabSz="933450"/>
            <a:r>
              <a:rPr lang="en-US">
                <a:latin typeface="Calibri" pitchFamily="34" charset="0"/>
              </a:rPr>
              <a:t>Large volume</a:t>
            </a:r>
          </a:p>
          <a:p>
            <a:pPr algn="ctr" defTabSz="933450"/>
            <a:r>
              <a:rPr lang="en-US">
                <a:latin typeface="Calibri" pitchFamily="34" charset="0"/>
              </a:rPr>
              <a:t>per unit of weight</a:t>
            </a:r>
          </a:p>
        </p:txBody>
      </p:sp>
      <p:sp>
        <p:nvSpPr>
          <p:cNvPr id="39942" name="Rectangle 706"/>
          <p:cNvSpPr>
            <a:spLocks noChangeArrowheads="1"/>
          </p:cNvSpPr>
          <p:nvPr/>
        </p:nvSpPr>
        <p:spPr bwMode="auto">
          <a:xfrm>
            <a:off x="5064125" y="1219200"/>
            <a:ext cx="1868488" cy="927100"/>
          </a:xfrm>
          <a:prstGeom prst="rect">
            <a:avLst/>
          </a:prstGeom>
          <a:noFill/>
          <a:ln w="9525">
            <a:noFill/>
            <a:miter lim="800000"/>
            <a:headEnd/>
            <a:tailEnd/>
          </a:ln>
        </p:spPr>
        <p:txBody>
          <a:bodyPr wrap="none" lIns="93662" tIns="47625" rIns="93662" bIns="47625">
            <a:spAutoFit/>
          </a:bodyPr>
          <a:lstStyle/>
          <a:p>
            <a:pPr algn="ctr" defTabSz="933450"/>
            <a:r>
              <a:rPr lang="en-US">
                <a:solidFill>
                  <a:srgbClr val="FE9B03"/>
                </a:solidFill>
                <a:latin typeface="Calibri" pitchFamily="34" charset="0"/>
              </a:rPr>
              <a:t>Concentrates:</a:t>
            </a:r>
            <a:endParaRPr lang="en-US">
              <a:latin typeface="Calibri" pitchFamily="34" charset="0"/>
            </a:endParaRPr>
          </a:p>
          <a:p>
            <a:pPr algn="ctr" defTabSz="933450"/>
            <a:r>
              <a:rPr lang="en-US">
                <a:latin typeface="Calibri" pitchFamily="34" charset="0"/>
              </a:rPr>
              <a:t>Small volume </a:t>
            </a:r>
          </a:p>
          <a:p>
            <a:pPr algn="ctr" defTabSz="933450"/>
            <a:r>
              <a:rPr lang="en-US">
                <a:latin typeface="Calibri" pitchFamily="34" charset="0"/>
              </a:rPr>
              <a:t>per unit of weight</a:t>
            </a:r>
          </a:p>
        </p:txBody>
      </p:sp>
      <p:grpSp>
        <p:nvGrpSpPr>
          <p:cNvPr id="39943" name="Group 807"/>
          <p:cNvGrpSpPr>
            <a:grpSpLocks/>
          </p:cNvGrpSpPr>
          <p:nvPr/>
        </p:nvGrpSpPr>
        <p:grpSpPr bwMode="auto">
          <a:xfrm>
            <a:off x="2446338" y="2419350"/>
            <a:ext cx="4559300" cy="2619375"/>
            <a:chOff x="1734" y="1524"/>
            <a:chExt cx="3231" cy="1650"/>
          </a:xfrm>
        </p:grpSpPr>
        <p:sp>
          <p:nvSpPr>
            <p:cNvPr id="39944" name="Line 428"/>
            <p:cNvSpPr>
              <a:spLocks noChangeShapeType="1"/>
            </p:cNvSpPr>
            <p:nvPr/>
          </p:nvSpPr>
          <p:spPr bwMode="auto">
            <a:xfrm>
              <a:off x="2232" y="2496"/>
              <a:ext cx="2280" cy="0"/>
            </a:xfrm>
            <a:prstGeom prst="line">
              <a:avLst/>
            </a:prstGeom>
            <a:noFill/>
            <a:ln w="50800">
              <a:solidFill>
                <a:schemeClr val="folHlink"/>
              </a:solidFill>
              <a:round/>
              <a:headEnd/>
              <a:tailEnd/>
            </a:ln>
          </p:spPr>
          <p:txBody>
            <a:bodyPr wrap="none" anchor="ctr"/>
            <a:lstStyle/>
            <a:p>
              <a:endParaRPr lang="en-US"/>
            </a:p>
          </p:txBody>
        </p:sp>
        <p:sp>
          <p:nvSpPr>
            <p:cNvPr id="39945" name="Freeform 430"/>
            <p:cNvSpPr>
              <a:spLocks/>
            </p:cNvSpPr>
            <p:nvPr/>
          </p:nvSpPr>
          <p:spPr bwMode="auto">
            <a:xfrm>
              <a:off x="2259" y="1971"/>
              <a:ext cx="289" cy="145"/>
            </a:xfrm>
            <a:custGeom>
              <a:avLst/>
              <a:gdLst>
                <a:gd name="T0" fmla="*/ 0 w 352"/>
                <a:gd name="T1" fmla="*/ 97 h 177"/>
                <a:gd name="T2" fmla="*/ 39 w 352"/>
                <a:gd name="T3" fmla="*/ 35 h 177"/>
                <a:gd name="T4" fmla="*/ 140 w 352"/>
                <a:gd name="T5" fmla="*/ 0 h 177"/>
                <a:gd name="T6" fmla="*/ 194 w 352"/>
                <a:gd name="T7" fmla="*/ 17 h 177"/>
                <a:gd name="T8" fmla="*/ 0 60000 65536"/>
                <a:gd name="T9" fmla="*/ 0 60000 65536"/>
                <a:gd name="T10" fmla="*/ 0 60000 65536"/>
                <a:gd name="T11" fmla="*/ 0 60000 65536"/>
                <a:gd name="T12" fmla="*/ 0 w 352"/>
                <a:gd name="T13" fmla="*/ 0 h 177"/>
                <a:gd name="T14" fmla="*/ 352 w 352"/>
                <a:gd name="T15" fmla="*/ 177 h 177"/>
              </a:gdLst>
              <a:ahLst/>
              <a:cxnLst>
                <a:cxn ang="T8">
                  <a:pos x="T0" y="T1"/>
                </a:cxn>
                <a:cxn ang="T9">
                  <a:pos x="T2" y="T3"/>
                </a:cxn>
                <a:cxn ang="T10">
                  <a:pos x="T4" y="T5"/>
                </a:cxn>
                <a:cxn ang="T11">
                  <a:pos x="T6" y="T7"/>
                </a:cxn>
              </a:cxnLst>
              <a:rect l="T12" t="T13" r="T14" b="T15"/>
              <a:pathLst>
                <a:path w="352" h="177">
                  <a:moveTo>
                    <a:pt x="0" y="176"/>
                  </a:moveTo>
                  <a:lnTo>
                    <a:pt x="72" y="64"/>
                  </a:lnTo>
                  <a:lnTo>
                    <a:pt x="252" y="0"/>
                  </a:lnTo>
                  <a:lnTo>
                    <a:pt x="351" y="32"/>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946" name="Freeform 431"/>
            <p:cNvSpPr>
              <a:spLocks/>
            </p:cNvSpPr>
            <p:nvPr/>
          </p:nvSpPr>
          <p:spPr bwMode="auto">
            <a:xfrm>
              <a:off x="2259" y="1984"/>
              <a:ext cx="289" cy="132"/>
            </a:xfrm>
            <a:custGeom>
              <a:avLst/>
              <a:gdLst>
                <a:gd name="T0" fmla="*/ 0 w 352"/>
                <a:gd name="T1" fmla="*/ 88 h 161"/>
                <a:gd name="T2" fmla="*/ 5 w 352"/>
                <a:gd name="T3" fmla="*/ 80 h 161"/>
                <a:gd name="T4" fmla="*/ 15 w 352"/>
                <a:gd name="T5" fmla="*/ 71 h 161"/>
                <a:gd name="T6" fmla="*/ 25 w 352"/>
                <a:gd name="T7" fmla="*/ 57 h 161"/>
                <a:gd name="T8" fmla="*/ 35 w 352"/>
                <a:gd name="T9" fmla="*/ 44 h 161"/>
                <a:gd name="T10" fmla="*/ 50 w 352"/>
                <a:gd name="T11" fmla="*/ 31 h 161"/>
                <a:gd name="T12" fmla="*/ 60 w 352"/>
                <a:gd name="T13" fmla="*/ 22 h 161"/>
                <a:gd name="T14" fmla="*/ 70 w 352"/>
                <a:gd name="T15" fmla="*/ 17 h 161"/>
                <a:gd name="T16" fmla="*/ 80 w 352"/>
                <a:gd name="T17" fmla="*/ 13 h 161"/>
                <a:gd name="T18" fmla="*/ 89 w 352"/>
                <a:gd name="T19" fmla="*/ 9 h 161"/>
                <a:gd name="T20" fmla="*/ 104 w 352"/>
                <a:gd name="T21" fmla="*/ 5 h 161"/>
                <a:gd name="T22" fmla="*/ 130 w 352"/>
                <a:gd name="T23" fmla="*/ 0 h 161"/>
                <a:gd name="T24" fmla="*/ 154 w 352"/>
                <a:gd name="T25" fmla="*/ 0 h 161"/>
                <a:gd name="T26" fmla="*/ 179 w 352"/>
                <a:gd name="T27" fmla="*/ 5 h 161"/>
                <a:gd name="T28" fmla="*/ 194 w 352"/>
                <a:gd name="T29" fmla="*/ 9 h 16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52"/>
                <a:gd name="T46" fmla="*/ 0 h 161"/>
                <a:gd name="T47" fmla="*/ 352 w 352"/>
                <a:gd name="T48" fmla="*/ 161 h 16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52" h="161">
                  <a:moveTo>
                    <a:pt x="0" y="160"/>
                  </a:moveTo>
                  <a:lnTo>
                    <a:pt x="9" y="144"/>
                  </a:lnTo>
                  <a:lnTo>
                    <a:pt x="27" y="128"/>
                  </a:lnTo>
                  <a:lnTo>
                    <a:pt x="45" y="104"/>
                  </a:lnTo>
                  <a:lnTo>
                    <a:pt x="63" y="80"/>
                  </a:lnTo>
                  <a:lnTo>
                    <a:pt x="90" y="56"/>
                  </a:lnTo>
                  <a:lnTo>
                    <a:pt x="108" y="40"/>
                  </a:lnTo>
                  <a:lnTo>
                    <a:pt x="126" y="32"/>
                  </a:lnTo>
                  <a:lnTo>
                    <a:pt x="144" y="24"/>
                  </a:lnTo>
                  <a:lnTo>
                    <a:pt x="162" y="16"/>
                  </a:lnTo>
                  <a:lnTo>
                    <a:pt x="189" y="8"/>
                  </a:lnTo>
                  <a:lnTo>
                    <a:pt x="234" y="0"/>
                  </a:lnTo>
                  <a:lnTo>
                    <a:pt x="279" y="0"/>
                  </a:lnTo>
                  <a:lnTo>
                    <a:pt x="324" y="8"/>
                  </a:lnTo>
                  <a:lnTo>
                    <a:pt x="351" y="16"/>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947" name="Arc 432"/>
            <p:cNvSpPr>
              <a:spLocks/>
            </p:cNvSpPr>
            <p:nvPr/>
          </p:nvSpPr>
          <p:spPr bwMode="auto">
            <a:xfrm>
              <a:off x="2340" y="1962"/>
              <a:ext cx="197" cy="259"/>
            </a:xfrm>
            <a:custGeom>
              <a:avLst/>
              <a:gdLst>
                <a:gd name="T0" fmla="*/ 0 w 21690"/>
                <a:gd name="T1" fmla="*/ 0 h 21600"/>
                <a:gd name="T2" fmla="*/ 0 w 21690"/>
                <a:gd name="T3" fmla="*/ 0 h 21600"/>
                <a:gd name="T4" fmla="*/ 0 w 21690"/>
                <a:gd name="T5" fmla="*/ 0 h 21600"/>
                <a:gd name="T6" fmla="*/ 0 60000 65536"/>
                <a:gd name="T7" fmla="*/ 0 60000 65536"/>
                <a:gd name="T8" fmla="*/ 0 60000 65536"/>
                <a:gd name="T9" fmla="*/ 0 w 21690"/>
                <a:gd name="T10" fmla="*/ 0 h 21600"/>
                <a:gd name="T11" fmla="*/ 21690 w 21690"/>
                <a:gd name="T12" fmla="*/ 21600 h 21600"/>
              </a:gdLst>
              <a:ahLst/>
              <a:cxnLst>
                <a:cxn ang="T6">
                  <a:pos x="T0" y="T1"/>
                </a:cxn>
                <a:cxn ang="T7">
                  <a:pos x="T2" y="T3"/>
                </a:cxn>
                <a:cxn ang="T8">
                  <a:pos x="T4" y="T5"/>
                </a:cxn>
              </a:cxnLst>
              <a:rect l="T9" t="T10" r="T11" b="T12"/>
              <a:pathLst>
                <a:path w="21690" h="21600" fill="none" extrusionOk="0">
                  <a:moveTo>
                    <a:pt x="-1" y="0"/>
                  </a:moveTo>
                  <a:cubicBezTo>
                    <a:pt x="29" y="0"/>
                    <a:pt x="59" y="-1"/>
                    <a:pt x="90" y="0"/>
                  </a:cubicBezTo>
                  <a:cubicBezTo>
                    <a:pt x="12019" y="0"/>
                    <a:pt x="21690" y="9670"/>
                    <a:pt x="21690" y="21600"/>
                  </a:cubicBezTo>
                </a:path>
                <a:path w="21690" h="21600" stroke="0" extrusionOk="0">
                  <a:moveTo>
                    <a:pt x="-1" y="0"/>
                  </a:moveTo>
                  <a:cubicBezTo>
                    <a:pt x="29" y="0"/>
                    <a:pt x="59" y="-1"/>
                    <a:pt x="90" y="0"/>
                  </a:cubicBezTo>
                  <a:cubicBezTo>
                    <a:pt x="12019" y="0"/>
                    <a:pt x="21690" y="9670"/>
                    <a:pt x="21690" y="21600"/>
                  </a:cubicBezTo>
                  <a:lnTo>
                    <a:pt x="90" y="21600"/>
                  </a:lnTo>
                  <a:close/>
                </a:path>
              </a:pathLst>
            </a:custGeom>
            <a:noFill/>
            <a:ln w="12700" cap="rnd">
              <a:solidFill>
                <a:srgbClr val="009900"/>
              </a:solidFill>
              <a:round/>
              <a:headEnd/>
              <a:tailEnd/>
            </a:ln>
          </p:spPr>
          <p:txBody>
            <a:bodyPr wrap="none" anchor="ctr"/>
            <a:lstStyle/>
            <a:p>
              <a:endParaRPr lang="en-US"/>
            </a:p>
          </p:txBody>
        </p:sp>
        <p:sp>
          <p:nvSpPr>
            <p:cNvPr id="39948" name="Freeform 433"/>
            <p:cNvSpPr>
              <a:spLocks/>
            </p:cNvSpPr>
            <p:nvPr/>
          </p:nvSpPr>
          <p:spPr bwMode="auto">
            <a:xfrm>
              <a:off x="2310" y="1938"/>
              <a:ext cx="156" cy="40"/>
            </a:xfrm>
            <a:custGeom>
              <a:avLst/>
              <a:gdLst>
                <a:gd name="T0" fmla="*/ 0 w 190"/>
                <a:gd name="T1" fmla="*/ 26 h 49"/>
                <a:gd name="T2" fmla="*/ 94 w 190"/>
                <a:gd name="T3" fmla="*/ 13 h 49"/>
                <a:gd name="T4" fmla="*/ 104 w 190"/>
                <a:gd name="T5" fmla="*/ 0 h 49"/>
                <a:gd name="T6" fmla="*/ 0 60000 65536"/>
                <a:gd name="T7" fmla="*/ 0 60000 65536"/>
                <a:gd name="T8" fmla="*/ 0 60000 65536"/>
                <a:gd name="T9" fmla="*/ 0 w 190"/>
                <a:gd name="T10" fmla="*/ 0 h 49"/>
                <a:gd name="T11" fmla="*/ 190 w 190"/>
                <a:gd name="T12" fmla="*/ 49 h 49"/>
              </a:gdLst>
              <a:ahLst/>
              <a:cxnLst>
                <a:cxn ang="T6">
                  <a:pos x="T0" y="T1"/>
                </a:cxn>
                <a:cxn ang="T7">
                  <a:pos x="T2" y="T3"/>
                </a:cxn>
                <a:cxn ang="T8">
                  <a:pos x="T4" y="T5"/>
                </a:cxn>
              </a:cxnLst>
              <a:rect l="T9" t="T10" r="T11" b="T12"/>
              <a:pathLst>
                <a:path w="190" h="49">
                  <a:moveTo>
                    <a:pt x="0" y="48"/>
                  </a:moveTo>
                  <a:lnTo>
                    <a:pt x="171" y="24"/>
                  </a:lnTo>
                  <a:lnTo>
                    <a:pt x="18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949" name="Freeform 434"/>
            <p:cNvSpPr>
              <a:spLocks/>
            </p:cNvSpPr>
            <p:nvPr/>
          </p:nvSpPr>
          <p:spPr bwMode="auto">
            <a:xfrm>
              <a:off x="2310" y="1938"/>
              <a:ext cx="156" cy="40"/>
            </a:xfrm>
            <a:custGeom>
              <a:avLst/>
              <a:gdLst>
                <a:gd name="T0" fmla="*/ 0 w 190"/>
                <a:gd name="T1" fmla="*/ 26 h 49"/>
                <a:gd name="T2" fmla="*/ 10 w 190"/>
                <a:gd name="T3" fmla="*/ 26 h 49"/>
                <a:gd name="T4" fmla="*/ 30 w 190"/>
                <a:gd name="T5" fmla="*/ 22 h 49"/>
                <a:gd name="T6" fmla="*/ 55 w 190"/>
                <a:gd name="T7" fmla="*/ 17 h 49"/>
                <a:gd name="T8" fmla="*/ 70 w 190"/>
                <a:gd name="T9" fmla="*/ 13 h 49"/>
                <a:gd name="T10" fmla="*/ 80 w 190"/>
                <a:gd name="T11" fmla="*/ 13 h 49"/>
                <a:gd name="T12" fmla="*/ 89 w 190"/>
                <a:gd name="T13" fmla="*/ 9 h 49"/>
                <a:gd name="T14" fmla="*/ 100 w 190"/>
                <a:gd name="T15" fmla="*/ 5 h 49"/>
                <a:gd name="T16" fmla="*/ 104 w 19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0"/>
                <a:gd name="T28" fmla="*/ 0 h 49"/>
                <a:gd name="T29" fmla="*/ 190 w 190"/>
                <a:gd name="T30" fmla="*/ 49 h 4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0" h="49">
                  <a:moveTo>
                    <a:pt x="0" y="48"/>
                  </a:moveTo>
                  <a:lnTo>
                    <a:pt x="18" y="48"/>
                  </a:lnTo>
                  <a:lnTo>
                    <a:pt x="54" y="40"/>
                  </a:lnTo>
                  <a:lnTo>
                    <a:pt x="99" y="32"/>
                  </a:lnTo>
                  <a:lnTo>
                    <a:pt x="126" y="24"/>
                  </a:lnTo>
                  <a:lnTo>
                    <a:pt x="144" y="24"/>
                  </a:lnTo>
                  <a:lnTo>
                    <a:pt x="162" y="16"/>
                  </a:lnTo>
                  <a:lnTo>
                    <a:pt x="180" y="8"/>
                  </a:lnTo>
                  <a:lnTo>
                    <a:pt x="18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950" name="Arc 435"/>
            <p:cNvSpPr>
              <a:spLocks/>
            </p:cNvSpPr>
            <p:nvPr/>
          </p:nvSpPr>
          <p:spPr bwMode="auto">
            <a:xfrm>
              <a:off x="2218" y="1883"/>
              <a:ext cx="97" cy="263"/>
            </a:xfrm>
            <a:custGeom>
              <a:avLst/>
              <a:gdLst>
                <a:gd name="T0" fmla="*/ 0 w 21783"/>
                <a:gd name="T1" fmla="*/ 0 h 21600"/>
                <a:gd name="T2" fmla="*/ 0 w 21783"/>
                <a:gd name="T3" fmla="*/ 0 h 21600"/>
                <a:gd name="T4" fmla="*/ 0 w 21783"/>
                <a:gd name="T5" fmla="*/ 0 h 21600"/>
                <a:gd name="T6" fmla="*/ 0 60000 65536"/>
                <a:gd name="T7" fmla="*/ 0 60000 65536"/>
                <a:gd name="T8" fmla="*/ 0 60000 65536"/>
                <a:gd name="T9" fmla="*/ 0 w 21783"/>
                <a:gd name="T10" fmla="*/ 0 h 21600"/>
                <a:gd name="T11" fmla="*/ 21783 w 21783"/>
                <a:gd name="T12" fmla="*/ 21600 h 21600"/>
              </a:gdLst>
              <a:ahLst/>
              <a:cxnLst>
                <a:cxn ang="T6">
                  <a:pos x="T0" y="T1"/>
                </a:cxn>
                <a:cxn ang="T7">
                  <a:pos x="T2" y="T3"/>
                </a:cxn>
                <a:cxn ang="T8">
                  <a:pos x="T4" y="T5"/>
                </a:cxn>
              </a:cxnLst>
              <a:rect l="T9" t="T10" r="T11" b="T12"/>
              <a:pathLst>
                <a:path w="21783" h="21600" fill="none" extrusionOk="0">
                  <a:moveTo>
                    <a:pt x="-1" y="0"/>
                  </a:moveTo>
                  <a:cubicBezTo>
                    <a:pt x="60" y="0"/>
                    <a:pt x="121" y="-1"/>
                    <a:pt x="183" y="0"/>
                  </a:cubicBezTo>
                  <a:cubicBezTo>
                    <a:pt x="12112" y="0"/>
                    <a:pt x="21783" y="9670"/>
                    <a:pt x="21783" y="21600"/>
                  </a:cubicBezTo>
                </a:path>
                <a:path w="21783" h="21600" stroke="0" extrusionOk="0">
                  <a:moveTo>
                    <a:pt x="-1" y="0"/>
                  </a:moveTo>
                  <a:cubicBezTo>
                    <a:pt x="60" y="0"/>
                    <a:pt x="121" y="-1"/>
                    <a:pt x="183" y="0"/>
                  </a:cubicBezTo>
                  <a:cubicBezTo>
                    <a:pt x="12112" y="0"/>
                    <a:pt x="21783" y="9670"/>
                    <a:pt x="21783" y="21600"/>
                  </a:cubicBezTo>
                  <a:lnTo>
                    <a:pt x="183" y="21600"/>
                  </a:lnTo>
                  <a:close/>
                </a:path>
              </a:pathLst>
            </a:custGeom>
            <a:noFill/>
            <a:ln w="12700" cap="rnd">
              <a:solidFill>
                <a:srgbClr val="009900"/>
              </a:solidFill>
              <a:round/>
              <a:headEnd/>
              <a:tailEnd/>
            </a:ln>
          </p:spPr>
          <p:txBody>
            <a:bodyPr wrap="none" anchor="ctr"/>
            <a:lstStyle/>
            <a:p>
              <a:endParaRPr lang="en-US"/>
            </a:p>
          </p:txBody>
        </p:sp>
        <p:sp>
          <p:nvSpPr>
            <p:cNvPr id="39951" name="Freeform 436"/>
            <p:cNvSpPr>
              <a:spLocks/>
            </p:cNvSpPr>
            <p:nvPr/>
          </p:nvSpPr>
          <p:spPr bwMode="auto">
            <a:xfrm>
              <a:off x="2362" y="1846"/>
              <a:ext cx="371" cy="27"/>
            </a:xfrm>
            <a:custGeom>
              <a:avLst/>
              <a:gdLst>
                <a:gd name="T0" fmla="*/ 0 w 451"/>
                <a:gd name="T1" fmla="*/ 13 h 33"/>
                <a:gd name="T2" fmla="*/ 30 w 451"/>
                <a:gd name="T3" fmla="*/ 17 h 33"/>
                <a:gd name="T4" fmla="*/ 110 w 451"/>
                <a:gd name="T5" fmla="*/ 0 h 33"/>
                <a:gd name="T6" fmla="*/ 250 w 451"/>
                <a:gd name="T7" fmla="*/ 0 h 33"/>
                <a:gd name="T8" fmla="*/ 0 60000 65536"/>
                <a:gd name="T9" fmla="*/ 0 60000 65536"/>
                <a:gd name="T10" fmla="*/ 0 60000 65536"/>
                <a:gd name="T11" fmla="*/ 0 60000 65536"/>
                <a:gd name="T12" fmla="*/ 0 w 451"/>
                <a:gd name="T13" fmla="*/ 0 h 33"/>
                <a:gd name="T14" fmla="*/ 451 w 451"/>
                <a:gd name="T15" fmla="*/ 33 h 33"/>
              </a:gdLst>
              <a:ahLst/>
              <a:cxnLst>
                <a:cxn ang="T8">
                  <a:pos x="T0" y="T1"/>
                </a:cxn>
                <a:cxn ang="T9">
                  <a:pos x="T2" y="T3"/>
                </a:cxn>
                <a:cxn ang="T10">
                  <a:pos x="T4" y="T5"/>
                </a:cxn>
                <a:cxn ang="T11">
                  <a:pos x="T6" y="T7"/>
                </a:cxn>
              </a:cxnLst>
              <a:rect l="T12" t="T13" r="T14" b="T15"/>
              <a:pathLst>
                <a:path w="451" h="33">
                  <a:moveTo>
                    <a:pt x="0" y="24"/>
                  </a:moveTo>
                  <a:lnTo>
                    <a:pt x="54" y="32"/>
                  </a:lnTo>
                  <a:lnTo>
                    <a:pt x="198" y="0"/>
                  </a:lnTo>
                  <a:lnTo>
                    <a:pt x="45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952" name="Freeform 437"/>
            <p:cNvSpPr>
              <a:spLocks/>
            </p:cNvSpPr>
            <p:nvPr/>
          </p:nvSpPr>
          <p:spPr bwMode="auto">
            <a:xfrm>
              <a:off x="2362" y="1846"/>
              <a:ext cx="371" cy="20"/>
            </a:xfrm>
            <a:custGeom>
              <a:avLst/>
              <a:gdLst>
                <a:gd name="T0" fmla="*/ 0 w 451"/>
                <a:gd name="T1" fmla="*/ 12 h 25"/>
                <a:gd name="T2" fmla="*/ 5 w 451"/>
                <a:gd name="T3" fmla="*/ 12 h 25"/>
                <a:gd name="T4" fmla="*/ 21 w 451"/>
                <a:gd name="T5" fmla="*/ 12 h 25"/>
                <a:gd name="T6" fmla="*/ 45 w 451"/>
                <a:gd name="T7" fmla="*/ 12 h 25"/>
                <a:gd name="T8" fmla="*/ 60 w 451"/>
                <a:gd name="T9" fmla="*/ 12 h 25"/>
                <a:gd name="T10" fmla="*/ 71 w 451"/>
                <a:gd name="T11" fmla="*/ 8 h 25"/>
                <a:gd name="T12" fmla="*/ 75 w 451"/>
                <a:gd name="T13" fmla="*/ 8 h 25"/>
                <a:gd name="T14" fmla="*/ 90 w 451"/>
                <a:gd name="T15" fmla="*/ 4 h 25"/>
                <a:gd name="T16" fmla="*/ 100 w 451"/>
                <a:gd name="T17" fmla="*/ 4 h 25"/>
                <a:gd name="T18" fmla="*/ 120 w 451"/>
                <a:gd name="T19" fmla="*/ 4 h 25"/>
                <a:gd name="T20" fmla="*/ 151 w 451"/>
                <a:gd name="T21" fmla="*/ 0 h 25"/>
                <a:gd name="T22" fmla="*/ 175 w 451"/>
                <a:gd name="T23" fmla="*/ 0 h 25"/>
                <a:gd name="T24" fmla="*/ 206 w 451"/>
                <a:gd name="T25" fmla="*/ 0 h 25"/>
                <a:gd name="T26" fmla="*/ 235 w 451"/>
                <a:gd name="T27" fmla="*/ 0 h 25"/>
                <a:gd name="T28" fmla="*/ 250 w 451"/>
                <a:gd name="T29" fmla="*/ 0 h 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51"/>
                <a:gd name="T46" fmla="*/ 0 h 25"/>
                <a:gd name="T47" fmla="*/ 451 w 451"/>
                <a:gd name="T48" fmla="*/ 25 h 2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51" h="25">
                  <a:moveTo>
                    <a:pt x="0" y="24"/>
                  </a:moveTo>
                  <a:lnTo>
                    <a:pt x="9" y="24"/>
                  </a:lnTo>
                  <a:lnTo>
                    <a:pt x="36" y="24"/>
                  </a:lnTo>
                  <a:lnTo>
                    <a:pt x="81" y="24"/>
                  </a:lnTo>
                  <a:lnTo>
                    <a:pt x="108" y="24"/>
                  </a:lnTo>
                  <a:lnTo>
                    <a:pt x="126" y="16"/>
                  </a:lnTo>
                  <a:lnTo>
                    <a:pt x="135" y="16"/>
                  </a:lnTo>
                  <a:lnTo>
                    <a:pt x="162" y="8"/>
                  </a:lnTo>
                  <a:lnTo>
                    <a:pt x="180" y="8"/>
                  </a:lnTo>
                  <a:lnTo>
                    <a:pt x="216" y="8"/>
                  </a:lnTo>
                  <a:lnTo>
                    <a:pt x="270" y="0"/>
                  </a:lnTo>
                  <a:lnTo>
                    <a:pt x="315" y="0"/>
                  </a:lnTo>
                  <a:lnTo>
                    <a:pt x="369" y="0"/>
                  </a:lnTo>
                  <a:lnTo>
                    <a:pt x="423" y="0"/>
                  </a:lnTo>
                  <a:lnTo>
                    <a:pt x="45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953" name="Freeform 438"/>
            <p:cNvSpPr>
              <a:spLocks/>
            </p:cNvSpPr>
            <p:nvPr/>
          </p:nvSpPr>
          <p:spPr bwMode="auto">
            <a:xfrm>
              <a:off x="2495" y="1931"/>
              <a:ext cx="82" cy="165"/>
            </a:xfrm>
            <a:custGeom>
              <a:avLst/>
              <a:gdLst>
                <a:gd name="T0" fmla="*/ 54 w 100"/>
                <a:gd name="T1" fmla="*/ 111 h 201"/>
                <a:gd name="T2" fmla="*/ 39 w 100"/>
                <a:gd name="T3" fmla="*/ 97 h 201"/>
                <a:gd name="T4" fmla="*/ 0 w 100"/>
                <a:gd name="T5" fmla="*/ 9 h 201"/>
                <a:gd name="T6" fmla="*/ 0 w 100"/>
                <a:gd name="T7" fmla="*/ 0 h 201"/>
                <a:gd name="T8" fmla="*/ 0 60000 65536"/>
                <a:gd name="T9" fmla="*/ 0 60000 65536"/>
                <a:gd name="T10" fmla="*/ 0 60000 65536"/>
                <a:gd name="T11" fmla="*/ 0 60000 65536"/>
                <a:gd name="T12" fmla="*/ 0 w 100"/>
                <a:gd name="T13" fmla="*/ 0 h 201"/>
                <a:gd name="T14" fmla="*/ 100 w 100"/>
                <a:gd name="T15" fmla="*/ 201 h 201"/>
              </a:gdLst>
              <a:ahLst/>
              <a:cxnLst>
                <a:cxn ang="T8">
                  <a:pos x="T0" y="T1"/>
                </a:cxn>
                <a:cxn ang="T9">
                  <a:pos x="T2" y="T3"/>
                </a:cxn>
                <a:cxn ang="T10">
                  <a:pos x="T4" y="T5"/>
                </a:cxn>
                <a:cxn ang="T11">
                  <a:pos x="T6" y="T7"/>
                </a:cxn>
              </a:cxnLst>
              <a:rect l="T12" t="T13" r="T14" b="T15"/>
              <a:pathLst>
                <a:path w="100" h="201">
                  <a:moveTo>
                    <a:pt x="99" y="200"/>
                  </a:moveTo>
                  <a:lnTo>
                    <a:pt x="72" y="176"/>
                  </a:lnTo>
                  <a:lnTo>
                    <a:pt x="0" y="16"/>
                  </a:lnTo>
                  <a:lnTo>
                    <a:pt x="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954" name="Freeform 439"/>
            <p:cNvSpPr>
              <a:spLocks/>
            </p:cNvSpPr>
            <p:nvPr/>
          </p:nvSpPr>
          <p:spPr bwMode="auto">
            <a:xfrm>
              <a:off x="2495" y="1931"/>
              <a:ext cx="82" cy="165"/>
            </a:xfrm>
            <a:custGeom>
              <a:avLst/>
              <a:gdLst>
                <a:gd name="T0" fmla="*/ 54 w 100"/>
                <a:gd name="T1" fmla="*/ 111 h 201"/>
                <a:gd name="T2" fmla="*/ 50 w 100"/>
                <a:gd name="T3" fmla="*/ 107 h 201"/>
                <a:gd name="T4" fmla="*/ 44 w 100"/>
                <a:gd name="T5" fmla="*/ 97 h 201"/>
                <a:gd name="T6" fmla="*/ 35 w 100"/>
                <a:gd name="T7" fmla="*/ 85 h 201"/>
                <a:gd name="T8" fmla="*/ 25 w 100"/>
                <a:gd name="T9" fmla="*/ 66 h 201"/>
                <a:gd name="T10" fmla="*/ 21 w 100"/>
                <a:gd name="T11" fmla="*/ 53 h 201"/>
                <a:gd name="T12" fmla="*/ 15 w 100"/>
                <a:gd name="T13" fmla="*/ 44 h 201"/>
                <a:gd name="T14" fmla="*/ 10 w 100"/>
                <a:gd name="T15" fmla="*/ 26 h 201"/>
                <a:gd name="T16" fmla="*/ 5 w 100"/>
                <a:gd name="T17" fmla="*/ 13 h 201"/>
                <a:gd name="T18" fmla="*/ 0 w 100"/>
                <a:gd name="T19" fmla="*/ 5 h 201"/>
                <a:gd name="T20" fmla="*/ 0 w 100"/>
                <a:gd name="T21" fmla="*/ 0 h 20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0"/>
                <a:gd name="T34" fmla="*/ 0 h 201"/>
                <a:gd name="T35" fmla="*/ 100 w 100"/>
                <a:gd name="T36" fmla="*/ 201 h 20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0" h="201">
                  <a:moveTo>
                    <a:pt x="99" y="200"/>
                  </a:moveTo>
                  <a:lnTo>
                    <a:pt x="90" y="192"/>
                  </a:lnTo>
                  <a:lnTo>
                    <a:pt x="81" y="176"/>
                  </a:lnTo>
                  <a:lnTo>
                    <a:pt x="63" y="152"/>
                  </a:lnTo>
                  <a:lnTo>
                    <a:pt x="45" y="120"/>
                  </a:lnTo>
                  <a:lnTo>
                    <a:pt x="36" y="96"/>
                  </a:lnTo>
                  <a:lnTo>
                    <a:pt x="27" y="80"/>
                  </a:lnTo>
                  <a:lnTo>
                    <a:pt x="18" y="48"/>
                  </a:lnTo>
                  <a:lnTo>
                    <a:pt x="9" y="24"/>
                  </a:lnTo>
                  <a:lnTo>
                    <a:pt x="0" y="8"/>
                  </a:lnTo>
                  <a:lnTo>
                    <a:pt x="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955" name="Freeform 440"/>
            <p:cNvSpPr>
              <a:spLocks/>
            </p:cNvSpPr>
            <p:nvPr/>
          </p:nvSpPr>
          <p:spPr bwMode="auto">
            <a:xfrm>
              <a:off x="1978" y="1761"/>
              <a:ext cx="178" cy="40"/>
            </a:xfrm>
            <a:custGeom>
              <a:avLst/>
              <a:gdLst>
                <a:gd name="T0" fmla="*/ 0 w 217"/>
                <a:gd name="T1" fmla="*/ 26 h 49"/>
                <a:gd name="T2" fmla="*/ 84 w 217"/>
                <a:gd name="T3" fmla="*/ 0 h 49"/>
                <a:gd name="T4" fmla="*/ 119 w 217"/>
                <a:gd name="T5" fmla="*/ 5 h 49"/>
                <a:gd name="T6" fmla="*/ 0 60000 65536"/>
                <a:gd name="T7" fmla="*/ 0 60000 65536"/>
                <a:gd name="T8" fmla="*/ 0 60000 65536"/>
                <a:gd name="T9" fmla="*/ 0 w 217"/>
                <a:gd name="T10" fmla="*/ 0 h 49"/>
                <a:gd name="T11" fmla="*/ 217 w 217"/>
                <a:gd name="T12" fmla="*/ 49 h 49"/>
              </a:gdLst>
              <a:ahLst/>
              <a:cxnLst>
                <a:cxn ang="T6">
                  <a:pos x="T0" y="T1"/>
                </a:cxn>
                <a:cxn ang="T7">
                  <a:pos x="T2" y="T3"/>
                </a:cxn>
                <a:cxn ang="T8">
                  <a:pos x="T4" y="T5"/>
                </a:cxn>
              </a:cxnLst>
              <a:rect l="T9" t="T10" r="T11" b="T12"/>
              <a:pathLst>
                <a:path w="217" h="49">
                  <a:moveTo>
                    <a:pt x="0" y="48"/>
                  </a:moveTo>
                  <a:lnTo>
                    <a:pt x="153" y="0"/>
                  </a:lnTo>
                  <a:lnTo>
                    <a:pt x="216" y="8"/>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956" name="Freeform 441"/>
            <p:cNvSpPr>
              <a:spLocks/>
            </p:cNvSpPr>
            <p:nvPr/>
          </p:nvSpPr>
          <p:spPr bwMode="auto">
            <a:xfrm>
              <a:off x="1978" y="1767"/>
              <a:ext cx="178" cy="34"/>
            </a:xfrm>
            <a:custGeom>
              <a:avLst/>
              <a:gdLst>
                <a:gd name="T0" fmla="*/ 0 w 217"/>
                <a:gd name="T1" fmla="*/ 22 h 41"/>
                <a:gd name="T2" fmla="*/ 15 w 217"/>
                <a:gd name="T3" fmla="*/ 18 h 41"/>
                <a:gd name="T4" fmla="*/ 30 w 217"/>
                <a:gd name="T5" fmla="*/ 14 h 41"/>
                <a:gd name="T6" fmla="*/ 44 w 217"/>
                <a:gd name="T7" fmla="*/ 9 h 41"/>
                <a:gd name="T8" fmla="*/ 65 w 217"/>
                <a:gd name="T9" fmla="*/ 5 h 41"/>
                <a:gd name="T10" fmla="*/ 80 w 217"/>
                <a:gd name="T11" fmla="*/ 0 h 41"/>
                <a:gd name="T12" fmla="*/ 94 w 217"/>
                <a:gd name="T13" fmla="*/ 0 h 41"/>
                <a:gd name="T14" fmla="*/ 104 w 217"/>
                <a:gd name="T15" fmla="*/ 0 h 41"/>
                <a:gd name="T16" fmla="*/ 119 w 217"/>
                <a:gd name="T17" fmla="*/ 0 h 4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17"/>
                <a:gd name="T28" fmla="*/ 0 h 41"/>
                <a:gd name="T29" fmla="*/ 217 w 217"/>
                <a:gd name="T30" fmla="*/ 41 h 4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17" h="41">
                  <a:moveTo>
                    <a:pt x="0" y="40"/>
                  </a:moveTo>
                  <a:lnTo>
                    <a:pt x="27" y="32"/>
                  </a:lnTo>
                  <a:lnTo>
                    <a:pt x="54" y="24"/>
                  </a:lnTo>
                  <a:lnTo>
                    <a:pt x="81" y="16"/>
                  </a:lnTo>
                  <a:lnTo>
                    <a:pt x="117" y="8"/>
                  </a:lnTo>
                  <a:lnTo>
                    <a:pt x="144" y="0"/>
                  </a:lnTo>
                  <a:lnTo>
                    <a:pt x="171" y="0"/>
                  </a:lnTo>
                  <a:lnTo>
                    <a:pt x="189" y="0"/>
                  </a:lnTo>
                  <a:lnTo>
                    <a:pt x="216"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957" name="Freeform 442"/>
            <p:cNvSpPr>
              <a:spLocks/>
            </p:cNvSpPr>
            <p:nvPr/>
          </p:nvSpPr>
          <p:spPr bwMode="auto">
            <a:xfrm>
              <a:off x="2089" y="1669"/>
              <a:ext cx="281" cy="237"/>
            </a:xfrm>
            <a:custGeom>
              <a:avLst/>
              <a:gdLst>
                <a:gd name="T0" fmla="*/ 0 w 343"/>
                <a:gd name="T1" fmla="*/ 0 h 289"/>
                <a:gd name="T2" fmla="*/ 50 w 343"/>
                <a:gd name="T3" fmla="*/ 53 h 289"/>
                <a:gd name="T4" fmla="*/ 94 w 343"/>
                <a:gd name="T5" fmla="*/ 106 h 289"/>
                <a:gd name="T6" fmla="*/ 178 w 343"/>
                <a:gd name="T7" fmla="*/ 155 h 289"/>
                <a:gd name="T8" fmla="*/ 188 w 343"/>
                <a:gd name="T9" fmla="*/ 159 h 289"/>
                <a:gd name="T10" fmla="*/ 0 60000 65536"/>
                <a:gd name="T11" fmla="*/ 0 60000 65536"/>
                <a:gd name="T12" fmla="*/ 0 60000 65536"/>
                <a:gd name="T13" fmla="*/ 0 60000 65536"/>
                <a:gd name="T14" fmla="*/ 0 60000 65536"/>
                <a:gd name="T15" fmla="*/ 0 w 343"/>
                <a:gd name="T16" fmla="*/ 0 h 289"/>
                <a:gd name="T17" fmla="*/ 343 w 343"/>
                <a:gd name="T18" fmla="*/ 289 h 289"/>
              </a:gdLst>
              <a:ahLst/>
              <a:cxnLst>
                <a:cxn ang="T10">
                  <a:pos x="T0" y="T1"/>
                </a:cxn>
                <a:cxn ang="T11">
                  <a:pos x="T2" y="T3"/>
                </a:cxn>
                <a:cxn ang="T12">
                  <a:pos x="T4" y="T5"/>
                </a:cxn>
                <a:cxn ang="T13">
                  <a:pos x="T6" y="T7"/>
                </a:cxn>
                <a:cxn ang="T14">
                  <a:pos x="T8" y="T9"/>
                </a:cxn>
              </a:cxnLst>
              <a:rect l="T15" t="T16" r="T17" b="T18"/>
              <a:pathLst>
                <a:path w="343" h="289">
                  <a:moveTo>
                    <a:pt x="0" y="0"/>
                  </a:moveTo>
                  <a:lnTo>
                    <a:pt x="90" y="96"/>
                  </a:lnTo>
                  <a:lnTo>
                    <a:pt x="171" y="192"/>
                  </a:lnTo>
                  <a:lnTo>
                    <a:pt x="324" y="280"/>
                  </a:lnTo>
                  <a:lnTo>
                    <a:pt x="342" y="288"/>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958" name="Freeform 443"/>
            <p:cNvSpPr>
              <a:spLocks/>
            </p:cNvSpPr>
            <p:nvPr/>
          </p:nvSpPr>
          <p:spPr bwMode="auto">
            <a:xfrm>
              <a:off x="2089" y="1669"/>
              <a:ext cx="281" cy="237"/>
            </a:xfrm>
            <a:custGeom>
              <a:avLst/>
              <a:gdLst>
                <a:gd name="T0" fmla="*/ 0 w 343"/>
                <a:gd name="T1" fmla="*/ 0 h 289"/>
                <a:gd name="T2" fmla="*/ 50 w 343"/>
                <a:gd name="T3" fmla="*/ 53 h 289"/>
                <a:gd name="T4" fmla="*/ 94 w 343"/>
                <a:gd name="T5" fmla="*/ 106 h 289"/>
                <a:gd name="T6" fmla="*/ 178 w 343"/>
                <a:gd name="T7" fmla="*/ 155 h 289"/>
                <a:gd name="T8" fmla="*/ 188 w 343"/>
                <a:gd name="T9" fmla="*/ 159 h 289"/>
                <a:gd name="T10" fmla="*/ 0 60000 65536"/>
                <a:gd name="T11" fmla="*/ 0 60000 65536"/>
                <a:gd name="T12" fmla="*/ 0 60000 65536"/>
                <a:gd name="T13" fmla="*/ 0 60000 65536"/>
                <a:gd name="T14" fmla="*/ 0 60000 65536"/>
                <a:gd name="T15" fmla="*/ 0 w 343"/>
                <a:gd name="T16" fmla="*/ 0 h 289"/>
                <a:gd name="T17" fmla="*/ 343 w 343"/>
                <a:gd name="T18" fmla="*/ 289 h 289"/>
              </a:gdLst>
              <a:ahLst/>
              <a:cxnLst>
                <a:cxn ang="T10">
                  <a:pos x="T0" y="T1"/>
                </a:cxn>
                <a:cxn ang="T11">
                  <a:pos x="T2" y="T3"/>
                </a:cxn>
                <a:cxn ang="T12">
                  <a:pos x="T4" y="T5"/>
                </a:cxn>
                <a:cxn ang="T13">
                  <a:pos x="T6" y="T7"/>
                </a:cxn>
                <a:cxn ang="T14">
                  <a:pos x="T8" y="T9"/>
                </a:cxn>
              </a:cxnLst>
              <a:rect l="T15" t="T16" r="T17" b="T18"/>
              <a:pathLst>
                <a:path w="343" h="289">
                  <a:moveTo>
                    <a:pt x="0" y="0"/>
                  </a:moveTo>
                  <a:lnTo>
                    <a:pt x="90" y="96"/>
                  </a:lnTo>
                  <a:lnTo>
                    <a:pt x="171" y="192"/>
                  </a:lnTo>
                  <a:lnTo>
                    <a:pt x="324" y="280"/>
                  </a:lnTo>
                  <a:lnTo>
                    <a:pt x="342" y="288"/>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959" name="Freeform 444"/>
            <p:cNvSpPr>
              <a:spLocks/>
            </p:cNvSpPr>
            <p:nvPr/>
          </p:nvSpPr>
          <p:spPr bwMode="auto">
            <a:xfrm>
              <a:off x="2244" y="1774"/>
              <a:ext cx="119" cy="224"/>
            </a:xfrm>
            <a:custGeom>
              <a:avLst/>
              <a:gdLst>
                <a:gd name="T0" fmla="*/ 0 w 145"/>
                <a:gd name="T1" fmla="*/ 150 h 273"/>
                <a:gd name="T2" fmla="*/ 60 w 145"/>
                <a:gd name="T3" fmla="*/ 71 h 273"/>
                <a:gd name="T4" fmla="*/ 75 w 145"/>
                <a:gd name="T5" fmla="*/ 13 h 273"/>
                <a:gd name="T6" fmla="*/ 80 w 145"/>
                <a:gd name="T7" fmla="*/ 0 h 273"/>
                <a:gd name="T8" fmla="*/ 0 60000 65536"/>
                <a:gd name="T9" fmla="*/ 0 60000 65536"/>
                <a:gd name="T10" fmla="*/ 0 60000 65536"/>
                <a:gd name="T11" fmla="*/ 0 60000 65536"/>
                <a:gd name="T12" fmla="*/ 0 w 145"/>
                <a:gd name="T13" fmla="*/ 0 h 273"/>
                <a:gd name="T14" fmla="*/ 145 w 145"/>
                <a:gd name="T15" fmla="*/ 273 h 273"/>
              </a:gdLst>
              <a:ahLst/>
              <a:cxnLst>
                <a:cxn ang="T8">
                  <a:pos x="T0" y="T1"/>
                </a:cxn>
                <a:cxn ang="T9">
                  <a:pos x="T2" y="T3"/>
                </a:cxn>
                <a:cxn ang="T10">
                  <a:pos x="T4" y="T5"/>
                </a:cxn>
                <a:cxn ang="T11">
                  <a:pos x="T6" y="T7"/>
                </a:cxn>
              </a:cxnLst>
              <a:rect l="T12" t="T13" r="T14" b="T15"/>
              <a:pathLst>
                <a:path w="145" h="273">
                  <a:moveTo>
                    <a:pt x="0" y="272"/>
                  </a:moveTo>
                  <a:lnTo>
                    <a:pt x="108" y="128"/>
                  </a:lnTo>
                  <a:lnTo>
                    <a:pt x="135" y="24"/>
                  </a:lnTo>
                  <a:lnTo>
                    <a:pt x="144"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960" name="Freeform 445"/>
            <p:cNvSpPr>
              <a:spLocks/>
            </p:cNvSpPr>
            <p:nvPr/>
          </p:nvSpPr>
          <p:spPr bwMode="auto">
            <a:xfrm>
              <a:off x="2244" y="1774"/>
              <a:ext cx="119" cy="224"/>
            </a:xfrm>
            <a:custGeom>
              <a:avLst/>
              <a:gdLst>
                <a:gd name="T0" fmla="*/ 0 w 145"/>
                <a:gd name="T1" fmla="*/ 150 h 273"/>
                <a:gd name="T2" fmla="*/ 10 w 145"/>
                <a:gd name="T3" fmla="*/ 137 h 273"/>
                <a:gd name="T4" fmla="*/ 21 w 145"/>
                <a:gd name="T5" fmla="*/ 124 h 273"/>
                <a:gd name="T6" fmla="*/ 35 w 145"/>
                <a:gd name="T7" fmla="*/ 102 h 273"/>
                <a:gd name="T8" fmla="*/ 44 w 145"/>
                <a:gd name="T9" fmla="*/ 88 h 273"/>
                <a:gd name="T10" fmla="*/ 50 w 145"/>
                <a:gd name="T11" fmla="*/ 80 h 273"/>
                <a:gd name="T12" fmla="*/ 60 w 145"/>
                <a:gd name="T13" fmla="*/ 62 h 273"/>
                <a:gd name="T14" fmla="*/ 65 w 145"/>
                <a:gd name="T15" fmla="*/ 53 h 273"/>
                <a:gd name="T16" fmla="*/ 70 w 145"/>
                <a:gd name="T17" fmla="*/ 44 h 273"/>
                <a:gd name="T18" fmla="*/ 70 w 145"/>
                <a:gd name="T19" fmla="*/ 39 h 273"/>
                <a:gd name="T20" fmla="*/ 75 w 145"/>
                <a:gd name="T21" fmla="*/ 22 h 273"/>
                <a:gd name="T22" fmla="*/ 75 w 145"/>
                <a:gd name="T23" fmla="*/ 13 h 273"/>
                <a:gd name="T24" fmla="*/ 80 w 145"/>
                <a:gd name="T25" fmla="*/ 0 h 2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5"/>
                <a:gd name="T40" fmla="*/ 0 h 273"/>
                <a:gd name="T41" fmla="*/ 145 w 145"/>
                <a:gd name="T42" fmla="*/ 273 h 27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5" h="273">
                  <a:moveTo>
                    <a:pt x="0" y="272"/>
                  </a:moveTo>
                  <a:lnTo>
                    <a:pt x="18" y="248"/>
                  </a:lnTo>
                  <a:lnTo>
                    <a:pt x="36" y="224"/>
                  </a:lnTo>
                  <a:lnTo>
                    <a:pt x="63" y="184"/>
                  </a:lnTo>
                  <a:lnTo>
                    <a:pt x="81" y="160"/>
                  </a:lnTo>
                  <a:lnTo>
                    <a:pt x="90" y="144"/>
                  </a:lnTo>
                  <a:lnTo>
                    <a:pt x="108" y="112"/>
                  </a:lnTo>
                  <a:lnTo>
                    <a:pt x="117" y="96"/>
                  </a:lnTo>
                  <a:lnTo>
                    <a:pt x="126" y="80"/>
                  </a:lnTo>
                  <a:lnTo>
                    <a:pt x="126" y="72"/>
                  </a:lnTo>
                  <a:lnTo>
                    <a:pt x="135" y="40"/>
                  </a:lnTo>
                  <a:lnTo>
                    <a:pt x="135" y="24"/>
                  </a:lnTo>
                  <a:lnTo>
                    <a:pt x="144"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961" name="Freeform 446"/>
            <p:cNvSpPr>
              <a:spLocks/>
            </p:cNvSpPr>
            <p:nvPr/>
          </p:nvSpPr>
          <p:spPr bwMode="auto">
            <a:xfrm>
              <a:off x="2577" y="2069"/>
              <a:ext cx="237" cy="119"/>
            </a:xfrm>
            <a:custGeom>
              <a:avLst/>
              <a:gdLst>
                <a:gd name="T0" fmla="*/ 0 w 289"/>
                <a:gd name="T1" fmla="*/ 80 h 145"/>
                <a:gd name="T2" fmla="*/ 35 w 289"/>
                <a:gd name="T3" fmla="*/ 48 h 145"/>
                <a:gd name="T4" fmla="*/ 159 w 289"/>
                <a:gd name="T5" fmla="*/ 0 h 145"/>
                <a:gd name="T6" fmla="*/ 0 60000 65536"/>
                <a:gd name="T7" fmla="*/ 0 60000 65536"/>
                <a:gd name="T8" fmla="*/ 0 60000 65536"/>
                <a:gd name="T9" fmla="*/ 0 w 289"/>
                <a:gd name="T10" fmla="*/ 0 h 145"/>
                <a:gd name="T11" fmla="*/ 289 w 289"/>
                <a:gd name="T12" fmla="*/ 145 h 145"/>
              </a:gdLst>
              <a:ahLst/>
              <a:cxnLst>
                <a:cxn ang="T6">
                  <a:pos x="T0" y="T1"/>
                </a:cxn>
                <a:cxn ang="T7">
                  <a:pos x="T2" y="T3"/>
                </a:cxn>
                <a:cxn ang="T8">
                  <a:pos x="T4" y="T5"/>
                </a:cxn>
              </a:cxnLst>
              <a:rect l="T9" t="T10" r="T11" b="T12"/>
              <a:pathLst>
                <a:path w="289" h="145">
                  <a:moveTo>
                    <a:pt x="0" y="144"/>
                  </a:moveTo>
                  <a:lnTo>
                    <a:pt x="63" y="88"/>
                  </a:lnTo>
                  <a:lnTo>
                    <a:pt x="28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962" name="Freeform 447"/>
            <p:cNvSpPr>
              <a:spLocks/>
            </p:cNvSpPr>
            <p:nvPr/>
          </p:nvSpPr>
          <p:spPr bwMode="auto">
            <a:xfrm>
              <a:off x="2577" y="2069"/>
              <a:ext cx="237" cy="119"/>
            </a:xfrm>
            <a:custGeom>
              <a:avLst/>
              <a:gdLst>
                <a:gd name="T0" fmla="*/ 0 w 289"/>
                <a:gd name="T1" fmla="*/ 80 h 145"/>
                <a:gd name="T2" fmla="*/ 5 w 289"/>
                <a:gd name="T3" fmla="*/ 76 h 145"/>
                <a:gd name="T4" fmla="*/ 21 w 289"/>
                <a:gd name="T5" fmla="*/ 66 h 145"/>
                <a:gd name="T6" fmla="*/ 35 w 289"/>
                <a:gd name="T7" fmla="*/ 57 h 145"/>
                <a:gd name="T8" fmla="*/ 50 w 289"/>
                <a:gd name="T9" fmla="*/ 48 h 145"/>
                <a:gd name="T10" fmla="*/ 65 w 289"/>
                <a:gd name="T11" fmla="*/ 39 h 145"/>
                <a:gd name="T12" fmla="*/ 89 w 289"/>
                <a:gd name="T13" fmla="*/ 31 h 145"/>
                <a:gd name="T14" fmla="*/ 114 w 289"/>
                <a:gd name="T15" fmla="*/ 17 h 145"/>
                <a:gd name="T16" fmla="*/ 144 w 289"/>
                <a:gd name="T17" fmla="*/ 5 h 145"/>
                <a:gd name="T18" fmla="*/ 159 w 289"/>
                <a:gd name="T19" fmla="*/ 0 h 14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89"/>
                <a:gd name="T31" fmla="*/ 0 h 145"/>
                <a:gd name="T32" fmla="*/ 289 w 289"/>
                <a:gd name="T33" fmla="*/ 145 h 14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89" h="145">
                  <a:moveTo>
                    <a:pt x="0" y="144"/>
                  </a:moveTo>
                  <a:lnTo>
                    <a:pt x="9" y="136"/>
                  </a:lnTo>
                  <a:lnTo>
                    <a:pt x="36" y="120"/>
                  </a:lnTo>
                  <a:lnTo>
                    <a:pt x="63" y="104"/>
                  </a:lnTo>
                  <a:lnTo>
                    <a:pt x="90" y="88"/>
                  </a:lnTo>
                  <a:lnTo>
                    <a:pt x="117" y="72"/>
                  </a:lnTo>
                  <a:lnTo>
                    <a:pt x="162" y="56"/>
                  </a:lnTo>
                  <a:lnTo>
                    <a:pt x="207" y="32"/>
                  </a:lnTo>
                  <a:lnTo>
                    <a:pt x="261" y="8"/>
                  </a:lnTo>
                  <a:lnTo>
                    <a:pt x="28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963" name="Freeform 448"/>
            <p:cNvSpPr>
              <a:spLocks/>
            </p:cNvSpPr>
            <p:nvPr/>
          </p:nvSpPr>
          <p:spPr bwMode="auto">
            <a:xfrm>
              <a:off x="2229" y="2253"/>
              <a:ext cx="311" cy="113"/>
            </a:xfrm>
            <a:custGeom>
              <a:avLst/>
              <a:gdLst>
                <a:gd name="T0" fmla="*/ 0 w 379"/>
                <a:gd name="T1" fmla="*/ 0 h 137"/>
                <a:gd name="T2" fmla="*/ 134 w 379"/>
                <a:gd name="T3" fmla="*/ 76 h 137"/>
                <a:gd name="T4" fmla="*/ 208 w 379"/>
                <a:gd name="T5" fmla="*/ 76 h 137"/>
                <a:gd name="T6" fmla="*/ 0 60000 65536"/>
                <a:gd name="T7" fmla="*/ 0 60000 65536"/>
                <a:gd name="T8" fmla="*/ 0 60000 65536"/>
                <a:gd name="T9" fmla="*/ 0 w 379"/>
                <a:gd name="T10" fmla="*/ 0 h 137"/>
                <a:gd name="T11" fmla="*/ 379 w 379"/>
                <a:gd name="T12" fmla="*/ 137 h 137"/>
              </a:gdLst>
              <a:ahLst/>
              <a:cxnLst>
                <a:cxn ang="T6">
                  <a:pos x="T0" y="T1"/>
                </a:cxn>
                <a:cxn ang="T7">
                  <a:pos x="T2" y="T3"/>
                </a:cxn>
                <a:cxn ang="T8">
                  <a:pos x="T4" y="T5"/>
                </a:cxn>
              </a:cxnLst>
              <a:rect l="T9" t="T10" r="T11" b="T12"/>
              <a:pathLst>
                <a:path w="379" h="137">
                  <a:moveTo>
                    <a:pt x="0" y="0"/>
                  </a:moveTo>
                  <a:lnTo>
                    <a:pt x="243" y="136"/>
                  </a:lnTo>
                  <a:lnTo>
                    <a:pt x="378" y="136"/>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964" name="Freeform 449"/>
            <p:cNvSpPr>
              <a:spLocks/>
            </p:cNvSpPr>
            <p:nvPr/>
          </p:nvSpPr>
          <p:spPr bwMode="auto">
            <a:xfrm>
              <a:off x="2229" y="2253"/>
              <a:ext cx="311" cy="113"/>
            </a:xfrm>
            <a:custGeom>
              <a:avLst/>
              <a:gdLst>
                <a:gd name="T0" fmla="*/ 0 w 379"/>
                <a:gd name="T1" fmla="*/ 0 h 137"/>
                <a:gd name="T2" fmla="*/ 15 w 379"/>
                <a:gd name="T3" fmla="*/ 9 h 137"/>
                <a:gd name="T4" fmla="*/ 50 w 379"/>
                <a:gd name="T5" fmla="*/ 27 h 137"/>
                <a:gd name="T6" fmla="*/ 75 w 379"/>
                <a:gd name="T7" fmla="*/ 40 h 137"/>
                <a:gd name="T8" fmla="*/ 109 w 379"/>
                <a:gd name="T9" fmla="*/ 54 h 137"/>
                <a:gd name="T10" fmla="*/ 134 w 379"/>
                <a:gd name="T11" fmla="*/ 63 h 137"/>
                <a:gd name="T12" fmla="*/ 154 w 379"/>
                <a:gd name="T13" fmla="*/ 68 h 137"/>
                <a:gd name="T14" fmla="*/ 179 w 379"/>
                <a:gd name="T15" fmla="*/ 72 h 137"/>
                <a:gd name="T16" fmla="*/ 199 w 379"/>
                <a:gd name="T17" fmla="*/ 76 h 137"/>
                <a:gd name="T18" fmla="*/ 208 w 379"/>
                <a:gd name="T19" fmla="*/ 76 h 13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79"/>
                <a:gd name="T31" fmla="*/ 0 h 137"/>
                <a:gd name="T32" fmla="*/ 379 w 379"/>
                <a:gd name="T33" fmla="*/ 137 h 13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79" h="137">
                  <a:moveTo>
                    <a:pt x="0" y="0"/>
                  </a:moveTo>
                  <a:lnTo>
                    <a:pt x="27" y="16"/>
                  </a:lnTo>
                  <a:lnTo>
                    <a:pt x="90" y="48"/>
                  </a:lnTo>
                  <a:lnTo>
                    <a:pt x="135" y="72"/>
                  </a:lnTo>
                  <a:lnTo>
                    <a:pt x="198" y="96"/>
                  </a:lnTo>
                  <a:lnTo>
                    <a:pt x="243" y="112"/>
                  </a:lnTo>
                  <a:lnTo>
                    <a:pt x="279" y="120"/>
                  </a:lnTo>
                  <a:lnTo>
                    <a:pt x="324" y="128"/>
                  </a:lnTo>
                  <a:lnTo>
                    <a:pt x="360" y="136"/>
                  </a:lnTo>
                  <a:lnTo>
                    <a:pt x="378" y="136"/>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965" name="Freeform 450"/>
            <p:cNvSpPr>
              <a:spLocks/>
            </p:cNvSpPr>
            <p:nvPr/>
          </p:nvSpPr>
          <p:spPr bwMode="auto">
            <a:xfrm>
              <a:off x="2377" y="2339"/>
              <a:ext cx="237" cy="119"/>
            </a:xfrm>
            <a:custGeom>
              <a:avLst/>
              <a:gdLst>
                <a:gd name="T0" fmla="*/ 0 w 289"/>
                <a:gd name="T1" fmla="*/ 80 h 145"/>
                <a:gd name="T2" fmla="*/ 89 w 289"/>
                <a:gd name="T3" fmla="*/ 22 h 145"/>
                <a:gd name="T4" fmla="*/ 159 w 289"/>
                <a:gd name="T5" fmla="*/ 0 h 145"/>
                <a:gd name="T6" fmla="*/ 0 60000 65536"/>
                <a:gd name="T7" fmla="*/ 0 60000 65536"/>
                <a:gd name="T8" fmla="*/ 0 60000 65536"/>
                <a:gd name="T9" fmla="*/ 0 w 289"/>
                <a:gd name="T10" fmla="*/ 0 h 145"/>
                <a:gd name="T11" fmla="*/ 289 w 289"/>
                <a:gd name="T12" fmla="*/ 145 h 145"/>
              </a:gdLst>
              <a:ahLst/>
              <a:cxnLst>
                <a:cxn ang="T6">
                  <a:pos x="T0" y="T1"/>
                </a:cxn>
                <a:cxn ang="T7">
                  <a:pos x="T2" y="T3"/>
                </a:cxn>
                <a:cxn ang="T8">
                  <a:pos x="T4" y="T5"/>
                </a:cxn>
              </a:cxnLst>
              <a:rect l="T9" t="T10" r="T11" b="T12"/>
              <a:pathLst>
                <a:path w="289" h="145">
                  <a:moveTo>
                    <a:pt x="0" y="144"/>
                  </a:moveTo>
                  <a:lnTo>
                    <a:pt x="162" y="40"/>
                  </a:lnTo>
                  <a:lnTo>
                    <a:pt x="28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966" name="Freeform 451"/>
            <p:cNvSpPr>
              <a:spLocks/>
            </p:cNvSpPr>
            <p:nvPr/>
          </p:nvSpPr>
          <p:spPr bwMode="auto">
            <a:xfrm>
              <a:off x="2377" y="2339"/>
              <a:ext cx="237" cy="119"/>
            </a:xfrm>
            <a:custGeom>
              <a:avLst/>
              <a:gdLst>
                <a:gd name="T0" fmla="*/ 0 w 289"/>
                <a:gd name="T1" fmla="*/ 80 h 145"/>
                <a:gd name="T2" fmla="*/ 21 w 289"/>
                <a:gd name="T3" fmla="*/ 66 h 145"/>
                <a:gd name="T4" fmla="*/ 65 w 289"/>
                <a:gd name="T5" fmla="*/ 39 h 145"/>
                <a:gd name="T6" fmla="*/ 104 w 289"/>
                <a:gd name="T7" fmla="*/ 22 h 145"/>
                <a:gd name="T8" fmla="*/ 144 w 289"/>
                <a:gd name="T9" fmla="*/ 5 h 145"/>
                <a:gd name="T10" fmla="*/ 159 w 289"/>
                <a:gd name="T11" fmla="*/ 0 h 145"/>
                <a:gd name="T12" fmla="*/ 0 60000 65536"/>
                <a:gd name="T13" fmla="*/ 0 60000 65536"/>
                <a:gd name="T14" fmla="*/ 0 60000 65536"/>
                <a:gd name="T15" fmla="*/ 0 60000 65536"/>
                <a:gd name="T16" fmla="*/ 0 60000 65536"/>
                <a:gd name="T17" fmla="*/ 0 60000 65536"/>
                <a:gd name="T18" fmla="*/ 0 w 289"/>
                <a:gd name="T19" fmla="*/ 0 h 145"/>
                <a:gd name="T20" fmla="*/ 289 w 289"/>
                <a:gd name="T21" fmla="*/ 145 h 145"/>
              </a:gdLst>
              <a:ahLst/>
              <a:cxnLst>
                <a:cxn ang="T12">
                  <a:pos x="T0" y="T1"/>
                </a:cxn>
                <a:cxn ang="T13">
                  <a:pos x="T2" y="T3"/>
                </a:cxn>
                <a:cxn ang="T14">
                  <a:pos x="T4" y="T5"/>
                </a:cxn>
                <a:cxn ang="T15">
                  <a:pos x="T6" y="T7"/>
                </a:cxn>
                <a:cxn ang="T16">
                  <a:pos x="T8" y="T9"/>
                </a:cxn>
                <a:cxn ang="T17">
                  <a:pos x="T10" y="T11"/>
                </a:cxn>
              </a:cxnLst>
              <a:rect l="T18" t="T19" r="T20" b="T21"/>
              <a:pathLst>
                <a:path w="289" h="145">
                  <a:moveTo>
                    <a:pt x="0" y="144"/>
                  </a:moveTo>
                  <a:lnTo>
                    <a:pt x="36" y="120"/>
                  </a:lnTo>
                  <a:lnTo>
                    <a:pt x="117" y="72"/>
                  </a:lnTo>
                  <a:lnTo>
                    <a:pt x="189" y="40"/>
                  </a:lnTo>
                  <a:lnTo>
                    <a:pt x="261" y="8"/>
                  </a:lnTo>
                  <a:lnTo>
                    <a:pt x="28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967" name="Freeform 452"/>
            <p:cNvSpPr>
              <a:spLocks/>
            </p:cNvSpPr>
            <p:nvPr/>
          </p:nvSpPr>
          <p:spPr bwMode="auto">
            <a:xfrm>
              <a:off x="2554" y="2286"/>
              <a:ext cx="112" cy="172"/>
            </a:xfrm>
            <a:custGeom>
              <a:avLst/>
              <a:gdLst>
                <a:gd name="T0" fmla="*/ 0 w 136"/>
                <a:gd name="T1" fmla="*/ 0 h 209"/>
                <a:gd name="T2" fmla="*/ 65 w 136"/>
                <a:gd name="T3" fmla="*/ 76 h 209"/>
                <a:gd name="T4" fmla="*/ 75 w 136"/>
                <a:gd name="T5" fmla="*/ 116 h 209"/>
                <a:gd name="T6" fmla="*/ 0 60000 65536"/>
                <a:gd name="T7" fmla="*/ 0 60000 65536"/>
                <a:gd name="T8" fmla="*/ 0 60000 65536"/>
                <a:gd name="T9" fmla="*/ 0 w 136"/>
                <a:gd name="T10" fmla="*/ 0 h 209"/>
                <a:gd name="T11" fmla="*/ 136 w 136"/>
                <a:gd name="T12" fmla="*/ 209 h 209"/>
              </a:gdLst>
              <a:ahLst/>
              <a:cxnLst>
                <a:cxn ang="T6">
                  <a:pos x="T0" y="T1"/>
                </a:cxn>
                <a:cxn ang="T7">
                  <a:pos x="T2" y="T3"/>
                </a:cxn>
                <a:cxn ang="T8">
                  <a:pos x="T4" y="T5"/>
                </a:cxn>
              </a:cxnLst>
              <a:rect l="T9" t="T10" r="T11" b="T12"/>
              <a:pathLst>
                <a:path w="136" h="209">
                  <a:moveTo>
                    <a:pt x="0" y="0"/>
                  </a:moveTo>
                  <a:lnTo>
                    <a:pt x="117" y="136"/>
                  </a:lnTo>
                  <a:lnTo>
                    <a:pt x="135" y="208"/>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968" name="Freeform 453"/>
            <p:cNvSpPr>
              <a:spLocks/>
            </p:cNvSpPr>
            <p:nvPr/>
          </p:nvSpPr>
          <p:spPr bwMode="auto">
            <a:xfrm>
              <a:off x="2554" y="2286"/>
              <a:ext cx="112" cy="172"/>
            </a:xfrm>
            <a:custGeom>
              <a:avLst/>
              <a:gdLst>
                <a:gd name="T0" fmla="*/ 0 w 136"/>
                <a:gd name="T1" fmla="*/ 0 h 209"/>
                <a:gd name="T2" fmla="*/ 10 w 136"/>
                <a:gd name="T3" fmla="*/ 13 h 209"/>
                <a:gd name="T4" fmla="*/ 25 w 136"/>
                <a:gd name="T5" fmla="*/ 31 h 209"/>
                <a:gd name="T6" fmla="*/ 35 w 136"/>
                <a:gd name="T7" fmla="*/ 40 h 209"/>
                <a:gd name="T8" fmla="*/ 45 w 136"/>
                <a:gd name="T9" fmla="*/ 58 h 209"/>
                <a:gd name="T10" fmla="*/ 56 w 136"/>
                <a:gd name="T11" fmla="*/ 71 h 209"/>
                <a:gd name="T12" fmla="*/ 65 w 136"/>
                <a:gd name="T13" fmla="*/ 90 h 209"/>
                <a:gd name="T14" fmla="*/ 71 w 136"/>
                <a:gd name="T15" fmla="*/ 102 h 209"/>
                <a:gd name="T16" fmla="*/ 75 w 136"/>
                <a:gd name="T17" fmla="*/ 112 h 209"/>
                <a:gd name="T18" fmla="*/ 75 w 136"/>
                <a:gd name="T19" fmla="*/ 116 h 20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36"/>
                <a:gd name="T31" fmla="*/ 0 h 209"/>
                <a:gd name="T32" fmla="*/ 136 w 136"/>
                <a:gd name="T33" fmla="*/ 209 h 20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36" h="209">
                  <a:moveTo>
                    <a:pt x="0" y="0"/>
                  </a:moveTo>
                  <a:lnTo>
                    <a:pt x="18" y="24"/>
                  </a:lnTo>
                  <a:lnTo>
                    <a:pt x="45" y="56"/>
                  </a:lnTo>
                  <a:lnTo>
                    <a:pt x="63" y="72"/>
                  </a:lnTo>
                  <a:lnTo>
                    <a:pt x="81" y="104"/>
                  </a:lnTo>
                  <a:lnTo>
                    <a:pt x="99" y="128"/>
                  </a:lnTo>
                  <a:lnTo>
                    <a:pt x="117" y="160"/>
                  </a:lnTo>
                  <a:lnTo>
                    <a:pt x="126" y="184"/>
                  </a:lnTo>
                  <a:lnTo>
                    <a:pt x="135" y="200"/>
                  </a:lnTo>
                  <a:lnTo>
                    <a:pt x="135" y="208"/>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969" name="Freeform 454"/>
            <p:cNvSpPr>
              <a:spLocks/>
            </p:cNvSpPr>
            <p:nvPr/>
          </p:nvSpPr>
          <p:spPr bwMode="auto">
            <a:xfrm>
              <a:off x="2650" y="2168"/>
              <a:ext cx="120" cy="106"/>
            </a:xfrm>
            <a:custGeom>
              <a:avLst/>
              <a:gdLst>
                <a:gd name="T0" fmla="*/ 0 w 145"/>
                <a:gd name="T1" fmla="*/ 0 h 129"/>
                <a:gd name="T2" fmla="*/ 31 w 145"/>
                <a:gd name="T3" fmla="*/ 53 h 129"/>
                <a:gd name="T4" fmla="*/ 81 w 145"/>
                <a:gd name="T5" fmla="*/ 71 h 129"/>
                <a:gd name="T6" fmla="*/ 0 60000 65536"/>
                <a:gd name="T7" fmla="*/ 0 60000 65536"/>
                <a:gd name="T8" fmla="*/ 0 60000 65536"/>
                <a:gd name="T9" fmla="*/ 0 w 145"/>
                <a:gd name="T10" fmla="*/ 0 h 129"/>
                <a:gd name="T11" fmla="*/ 145 w 145"/>
                <a:gd name="T12" fmla="*/ 129 h 129"/>
              </a:gdLst>
              <a:ahLst/>
              <a:cxnLst>
                <a:cxn ang="T6">
                  <a:pos x="T0" y="T1"/>
                </a:cxn>
                <a:cxn ang="T7">
                  <a:pos x="T2" y="T3"/>
                </a:cxn>
                <a:cxn ang="T8">
                  <a:pos x="T4" y="T5"/>
                </a:cxn>
              </a:cxnLst>
              <a:rect l="T9" t="T10" r="T11" b="T12"/>
              <a:pathLst>
                <a:path w="145" h="129">
                  <a:moveTo>
                    <a:pt x="0" y="0"/>
                  </a:moveTo>
                  <a:lnTo>
                    <a:pt x="54" y="96"/>
                  </a:lnTo>
                  <a:lnTo>
                    <a:pt x="144" y="128"/>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970" name="Freeform 455"/>
            <p:cNvSpPr>
              <a:spLocks/>
            </p:cNvSpPr>
            <p:nvPr/>
          </p:nvSpPr>
          <p:spPr bwMode="auto">
            <a:xfrm>
              <a:off x="2650" y="2168"/>
              <a:ext cx="120" cy="106"/>
            </a:xfrm>
            <a:custGeom>
              <a:avLst/>
              <a:gdLst>
                <a:gd name="T0" fmla="*/ 0 w 145"/>
                <a:gd name="T1" fmla="*/ 0 h 129"/>
                <a:gd name="T2" fmla="*/ 10 w 145"/>
                <a:gd name="T3" fmla="*/ 13 h 129"/>
                <a:gd name="T4" fmla="*/ 26 w 145"/>
                <a:gd name="T5" fmla="*/ 36 h 129"/>
                <a:gd name="T6" fmla="*/ 46 w 145"/>
                <a:gd name="T7" fmla="*/ 53 h 129"/>
                <a:gd name="T8" fmla="*/ 71 w 145"/>
                <a:gd name="T9" fmla="*/ 67 h 129"/>
                <a:gd name="T10" fmla="*/ 81 w 145"/>
                <a:gd name="T11" fmla="*/ 71 h 129"/>
                <a:gd name="T12" fmla="*/ 0 60000 65536"/>
                <a:gd name="T13" fmla="*/ 0 60000 65536"/>
                <a:gd name="T14" fmla="*/ 0 60000 65536"/>
                <a:gd name="T15" fmla="*/ 0 60000 65536"/>
                <a:gd name="T16" fmla="*/ 0 60000 65536"/>
                <a:gd name="T17" fmla="*/ 0 60000 65536"/>
                <a:gd name="T18" fmla="*/ 0 w 145"/>
                <a:gd name="T19" fmla="*/ 0 h 129"/>
                <a:gd name="T20" fmla="*/ 145 w 145"/>
                <a:gd name="T21" fmla="*/ 129 h 129"/>
              </a:gdLst>
              <a:ahLst/>
              <a:cxnLst>
                <a:cxn ang="T12">
                  <a:pos x="T0" y="T1"/>
                </a:cxn>
                <a:cxn ang="T13">
                  <a:pos x="T2" y="T3"/>
                </a:cxn>
                <a:cxn ang="T14">
                  <a:pos x="T4" y="T5"/>
                </a:cxn>
                <a:cxn ang="T15">
                  <a:pos x="T6" y="T7"/>
                </a:cxn>
                <a:cxn ang="T16">
                  <a:pos x="T8" y="T9"/>
                </a:cxn>
                <a:cxn ang="T17">
                  <a:pos x="T10" y="T11"/>
                </a:cxn>
              </a:cxnLst>
              <a:rect l="T18" t="T19" r="T20" b="T21"/>
              <a:pathLst>
                <a:path w="145" h="129">
                  <a:moveTo>
                    <a:pt x="0" y="0"/>
                  </a:moveTo>
                  <a:lnTo>
                    <a:pt x="18" y="24"/>
                  </a:lnTo>
                  <a:lnTo>
                    <a:pt x="45" y="64"/>
                  </a:lnTo>
                  <a:lnTo>
                    <a:pt x="81" y="96"/>
                  </a:lnTo>
                  <a:lnTo>
                    <a:pt x="126" y="120"/>
                  </a:lnTo>
                  <a:lnTo>
                    <a:pt x="144" y="128"/>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971" name="Freeform 456"/>
            <p:cNvSpPr>
              <a:spLocks/>
            </p:cNvSpPr>
            <p:nvPr/>
          </p:nvSpPr>
          <p:spPr bwMode="auto">
            <a:xfrm>
              <a:off x="2318" y="2227"/>
              <a:ext cx="119" cy="139"/>
            </a:xfrm>
            <a:custGeom>
              <a:avLst/>
              <a:gdLst>
                <a:gd name="T0" fmla="*/ 80 w 145"/>
                <a:gd name="T1" fmla="*/ 0 h 169"/>
                <a:gd name="T2" fmla="*/ 35 w 145"/>
                <a:gd name="T3" fmla="*/ 58 h 169"/>
                <a:gd name="T4" fmla="*/ 0 w 145"/>
                <a:gd name="T5" fmla="*/ 80 h 169"/>
                <a:gd name="T6" fmla="*/ 15 w 145"/>
                <a:gd name="T7" fmla="*/ 94 h 169"/>
                <a:gd name="T8" fmla="*/ 0 60000 65536"/>
                <a:gd name="T9" fmla="*/ 0 60000 65536"/>
                <a:gd name="T10" fmla="*/ 0 60000 65536"/>
                <a:gd name="T11" fmla="*/ 0 60000 65536"/>
                <a:gd name="T12" fmla="*/ 0 w 145"/>
                <a:gd name="T13" fmla="*/ 0 h 169"/>
                <a:gd name="T14" fmla="*/ 145 w 145"/>
                <a:gd name="T15" fmla="*/ 169 h 169"/>
              </a:gdLst>
              <a:ahLst/>
              <a:cxnLst>
                <a:cxn ang="T8">
                  <a:pos x="T0" y="T1"/>
                </a:cxn>
                <a:cxn ang="T9">
                  <a:pos x="T2" y="T3"/>
                </a:cxn>
                <a:cxn ang="T10">
                  <a:pos x="T4" y="T5"/>
                </a:cxn>
                <a:cxn ang="T11">
                  <a:pos x="T6" y="T7"/>
                </a:cxn>
              </a:cxnLst>
              <a:rect l="T12" t="T13" r="T14" b="T15"/>
              <a:pathLst>
                <a:path w="145" h="169">
                  <a:moveTo>
                    <a:pt x="144" y="0"/>
                  </a:moveTo>
                  <a:lnTo>
                    <a:pt x="63" y="104"/>
                  </a:lnTo>
                  <a:lnTo>
                    <a:pt x="0" y="144"/>
                  </a:lnTo>
                  <a:lnTo>
                    <a:pt x="27" y="168"/>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972" name="Freeform 457"/>
            <p:cNvSpPr>
              <a:spLocks/>
            </p:cNvSpPr>
            <p:nvPr/>
          </p:nvSpPr>
          <p:spPr bwMode="auto">
            <a:xfrm>
              <a:off x="2333" y="2227"/>
              <a:ext cx="104" cy="139"/>
            </a:xfrm>
            <a:custGeom>
              <a:avLst/>
              <a:gdLst>
                <a:gd name="T0" fmla="*/ 69 w 127"/>
                <a:gd name="T1" fmla="*/ 0 h 169"/>
                <a:gd name="T2" fmla="*/ 65 w 127"/>
                <a:gd name="T3" fmla="*/ 5 h 169"/>
                <a:gd name="T4" fmla="*/ 54 w 127"/>
                <a:gd name="T5" fmla="*/ 17 h 169"/>
                <a:gd name="T6" fmla="*/ 44 w 127"/>
                <a:gd name="T7" fmla="*/ 31 h 169"/>
                <a:gd name="T8" fmla="*/ 35 w 127"/>
                <a:gd name="T9" fmla="*/ 44 h 169"/>
                <a:gd name="T10" fmla="*/ 25 w 127"/>
                <a:gd name="T11" fmla="*/ 53 h 169"/>
                <a:gd name="T12" fmla="*/ 20 w 127"/>
                <a:gd name="T13" fmla="*/ 53 h 169"/>
                <a:gd name="T14" fmla="*/ 10 w 127"/>
                <a:gd name="T15" fmla="*/ 63 h 169"/>
                <a:gd name="T16" fmla="*/ 5 w 127"/>
                <a:gd name="T17" fmla="*/ 67 h 169"/>
                <a:gd name="T18" fmla="*/ 0 w 127"/>
                <a:gd name="T19" fmla="*/ 71 h 169"/>
                <a:gd name="T20" fmla="*/ 0 w 127"/>
                <a:gd name="T21" fmla="*/ 76 h 169"/>
                <a:gd name="T22" fmla="*/ 0 w 127"/>
                <a:gd name="T23" fmla="*/ 80 h 169"/>
                <a:gd name="T24" fmla="*/ 0 w 127"/>
                <a:gd name="T25" fmla="*/ 90 h 169"/>
                <a:gd name="T26" fmla="*/ 5 w 127"/>
                <a:gd name="T27" fmla="*/ 94 h 16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7"/>
                <a:gd name="T43" fmla="*/ 0 h 169"/>
                <a:gd name="T44" fmla="*/ 127 w 127"/>
                <a:gd name="T45" fmla="*/ 169 h 16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7" h="169">
                  <a:moveTo>
                    <a:pt x="126" y="0"/>
                  </a:moveTo>
                  <a:lnTo>
                    <a:pt x="117" y="8"/>
                  </a:lnTo>
                  <a:lnTo>
                    <a:pt x="99" y="32"/>
                  </a:lnTo>
                  <a:lnTo>
                    <a:pt x="81" y="56"/>
                  </a:lnTo>
                  <a:lnTo>
                    <a:pt x="63" y="80"/>
                  </a:lnTo>
                  <a:lnTo>
                    <a:pt x="45" y="96"/>
                  </a:lnTo>
                  <a:lnTo>
                    <a:pt x="36" y="96"/>
                  </a:lnTo>
                  <a:lnTo>
                    <a:pt x="18" y="112"/>
                  </a:lnTo>
                  <a:lnTo>
                    <a:pt x="9" y="120"/>
                  </a:lnTo>
                  <a:lnTo>
                    <a:pt x="0" y="128"/>
                  </a:lnTo>
                  <a:lnTo>
                    <a:pt x="0" y="136"/>
                  </a:lnTo>
                  <a:lnTo>
                    <a:pt x="0" y="144"/>
                  </a:lnTo>
                  <a:lnTo>
                    <a:pt x="0" y="160"/>
                  </a:lnTo>
                  <a:lnTo>
                    <a:pt x="9" y="168"/>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973" name="Freeform 458"/>
            <p:cNvSpPr>
              <a:spLocks/>
            </p:cNvSpPr>
            <p:nvPr/>
          </p:nvSpPr>
          <p:spPr bwMode="auto">
            <a:xfrm>
              <a:off x="2340" y="2181"/>
              <a:ext cx="193" cy="145"/>
            </a:xfrm>
            <a:custGeom>
              <a:avLst/>
              <a:gdLst>
                <a:gd name="T0" fmla="*/ 0 w 235"/>
                <a:gd name="T1" fmla="*/ 0 h 177"/>
                <a:gd name="T2" fmla="*/ 80 w 235"/>
                <a:gd name="T3" fmla="*/ 57 h 177"/>
                <a:gd name="T4" fmla="*/ 130 w 235"/>
                <a:gd name="T5" fmla="*/ 97 h 177"/>
                <a:gd name="T6" fmla="*/ 0 60000 65536"/>
                <a:gd name="T7" fmla="*/ 0 60000 65536"/>
                <a:gd name="T8" fmla="*/ 0 60000 65536"/>
                <a:gd name="T9" fmla="*/ 0 w 235"/>
                <a:gd name="T10" fmla="*/ 0 h 177"/>
                <a:gd name="T11" fmla="*/ 235 w 235"/>
                <a:gd name="T12" fmla="*/ 177 h 177"/>
              </a:gdLst>
              <a:ahLst/>
              <a:cxnLst>
                <a:cxn ang="T6">
                  <a:pos x="T0" y="T1"/>
                </a:cxn>
                <a:cxn ang="T7">
                  <a:pos x="T2" y="T3"/>
                </a:cxn>
                <a:cxn ang="T8">
                  <a:pos x="T4" y="T5"/>
                </a:cxn>
              </a:cxnLst>
              <a:rect l="T9" t="T10" r="T11" b="T12"/>
              <a:pathLst>
                <a:path w="235" h="177">
                  <a:moveTo>
                    <a:pt x="0" y="0"/>
                  </a:moveTo>
                  <a:lnTo>
                    <a:pt x="144" y="104"/>
                  </a:lnTo>
                  <a:lnTo>
                    <a:pt x="234" y="176"/>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974" name="Freeform 459"/>
            <p:cNvSpPr>
              <a:spLocks/>
            </p:cNvSpPr>
            <p:nvPr/>
          </p:nvSpPr>
          <p:spPr bwMode="auto">
            <a:xfrm>
              <a:off x="2340" y="2181"/>
              <a:ext cx="193" cy="145"/>
            </a:xfrm>
            <a:custGeom>
              <a:avLst/>
              <a:gdLst>
                <a:gd name="T0" fmla="*/ 0 w 235"/>
                <a:gd name="T1" fmla="*/ 0 h 177"/>
                <a:gd name="T2" fmla="*/ 21 w 235"/>
                <a:gd name="T3" fmla="*/ 13 h 177"/>
                <a:gd name="T4" fmla="*/ 55 w 235"/>
                <a:gd name="T5" fmla="*/ 39 h 177"/>
                <a:gd name="T6" fmla="*/ 90 w 235"/>
                <a:gd name="T7" fmla="*/ 66 h 177"/>
                <a:gd name="T8" fmla="*/ 119 w 235"/>
                <a:gd name="T9" fmla="*/ 88 h 177"/>
                <a:gd name="T10" fmla="*/ 130 w 235"/>
                <a:gd name="T11" fmla="*/ 97 h 177"/>
                <a:gd name="T12" fmla="*/ 0 60000 65536"/>
                <a:gd name="T13" fmla="*/ 0 60000 65536"/>
                <a:gd name="T14" fmla="*/ 0 60000 65536"/>
                <a:gd name="T15" fmla="*/ 0 60000 65536"/>
                <a:gd name="T16" fmla="*/ 0 60000 65536"/>
                <a:gd name="T17" fmla="*/ 0 60000 65536"/>
                <a:gd name="T18" fmla="*/ 0 w 235"/>
                <a:gd name="T19" fmla="*/ 0 h 177"/>
                <a:gd name="T20" fmla="*/ 235 w 235"/>
                <a:gd name="T21" fmla="*/ 177 h 177"/>
              </a:gdLst>
              <a:ahLst/>
              <a:cxnLst>
                <a:cxn ang="T12">
                  <a:pos x="T0" y="T1"/>
                </a:cxn>
                <a:cxn ang="T13">
                  <a:pos x="T2" y="T3"/>
                </a:cxn>
                <a:cxn ang="T14">
                  <a:pos x="T4" y="T5"/>
                </a:cxn>
                <a:cxn ang="T15">
                  <a:pos x="T6" y="T7"/>
                </a:cxn>
                <a:cxn ang="T16">
                  <a:pos x="T8" y="T9"/>
                </a:cxn>
                <a:cxn ang="T17">
                  <a:pos x="T10" y="T11"/>
                </a:cxn>
              </a:cxnLst>
              <a:rect l="T18" t="T19" r="T20" b="T21"/>
              <a:pathLst>
                <a:path w="235" h="177">
                  <a:moveTo>
                    <a:pt x="0" y="0"/>
                  </a:moveTo>
                  <a:lnTo>
                    <a:pt x="36" y="24"/>
                  </a:lnTo>
                  <a:lnTo>
                    <a:pt x="99" y="72"/>
                  </a:lnTo>
                  <a:lnTo>
                    <a:pt x="162" y="120"/>
                  </a:lnTo>
                  <a:lnTo>
                    <a:pt x="216" y="160"/>
                  </a:lnTo>
                  <a:lnTo>
                    <a:pt x="234" y="176"/>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975" name="Line 460"/>
            <p:cNvSpPr>
              <a:spLocks noChangeShapeType="1"/>
            </p:cNvSpPr>
            <p:nvPr/>
          </p:nvSpPr>
          <p:spPr bwMode="auto">
            <a:xfrm flipV="1">
              <a:off x="2306" y="2188"/>
              <a:ext cx="16" cy="39"/>
            </a:xfrm>
            <a:prstGeom prst="line">
              <a:avLst/>
            </a:prstGeom>
            <a:noFill/>
            <a:ln w="12700">
              <a:solidFill>
                <a:srgbClr val="009900"/>
              </a:solidFill>
              <a:round/>
              <a:headEnd/>
              <a:tailEnd/>
            </a:ln>
          </p:spPr>
          <p:txBody>
            <a:bodyPr wrap="none" anchor="ctr"/>
            <a:lstStyle/>
            <a:p>
              <a:endParaRPr lang="en-US"/>
            </a:p>
          </p:txBody>
        </p:sp>
        <p:sp>
          <p:nvSpPr>
            <p:cNvPr id="39976" name="Line 461"/>
            <p:cNvSpPr>
              <a:spLocks noChangeShapeType="1"/>
            </p:cNvSpPr>
            <p:nvPr/>
          </p:nvSpPr>
          <p:spPr bwMode="auto">
            <a:xfrm flipV="1">
              <a:off x="2306" y="2188"/>
              <a:ext cx="16" cy="39"/>
            </a:xfrm>
            <a:prstGeom prst="line">
              <a:avLst/>
            </a:prstGeom>
            <a:noFill/>
            <a:ln w="12700">
              <a:solidFill>
                <a:srgbClr val="009900"/>
              </a:solidFill>
              <a:round/>
              <a:headEnd/>
              <a:tailEnd/>
            </a:ln>
          </p:spPr>
          <p:txBody>
            <a:bodyPr wrap="none" anchor="ctr"/>
            <a:lstStyle/>
            <a:p>
              <a:endParaRPr lang="en-US"/>
            </a:p>
          </p:txBody>
        </p:sp>
        <p:sp>
          <p:nvSpPr>
            <p:cNvPr id="39977" name="Arc 462"/>
            <p:cNvSpPr>
              <a:spLocks/>
            </p:cNvSpPr>
            <p:nvPr/>
          </p:nvSpPr>
          <p:spPr bwMode="auto">
            <a:xfrm>
              <a:off x="2122" y="1883"/>
              <a:ext cx="97" cy="85"/>
            </a:xfrm>
            <a:custGeom>
              <a:avLst/>
              <a:gdLst>
                <a:gd name="T0" fmla="*/ 0 w 21783"/>
                <a:gd name="T1" fmla="*/ 0 h 21600"/>
                <a:gd name="T2" fmla="*/ 0 w 21783"/>
                <a:gd name="T3" fmla="*/ 0 h 21600"/>
                <a:gd name="T4" fmla="*/ 0 w 21783"/>
                <a:gd name="T5" fmla="*/ 0 h 21600"/>
                <a:gd name="T6" fmla="*/ 0 60000 65536"/>
                <a:gd name="T7" fmla="*/ 0 60000 65536"/>
                <a:gd name="T8" fmla="*/ 0 60000 65536"/>
                <a:gd name="T9" fmla="*/ 0 w 21783"/>
                <a:gd name="T10" fmla="*/ 0 h 21600"/>
                <a:gd name="T11" fmla="*/ 21783 w 21783"/>
                <a:gd name="T12" fmla="*/ 21600 h 21600"/>
              </a:gdLst>
              <a:ahLst/>
              <a:cxnLst>
                <a:cxn ang="T6">
                  <a:pos x="T0" y="T1"/>
                </a:cxn>
                <a:cxn ang="T7">
                  <a:pos x="T2" y="T3"/>
                </a:cxn>
                <a:cxn ang="T8">
                  <a:pos x="T4" y="T5"/>
                </a:cxn>
              </a:cxnLst>
              <a:rect l="T9" t="T10" r="T11" b="T12"/>
              <a:pathLst>
                <a:path w="21783" h="21600" fill="none" extrusionOk="0">
                  <a:moveTo>
                    <a:pt x="-1" y="0"/>
                  </a:moveTo>
                  <a:cubicBezTo>
                    <a:pt x="60" y="0"/>
                    <a:pt x="121" y="-1"/>
                    <a:pt x="183" y="0"/>
                  </a:cubicBezTo>
                  <a:cubicBezTo>
                    <a:pt x="12112" y="0"/>
                    <a:pt x="21783" y="9670"/>
                    <a:pt x="21783" y="21600"/>
                  </a:cubicBezTo>
                </a:path>
                <a:path w="21783" h="21600" stroke="0" extrusionOk="0">
                  <a:moveTo>
                    <a:pt x="-1" y="0"/>
                  </a:moveTo>
                  <a:cubicBezTo>
                    <a:pt x="60" y="0"/>
                    <a:pt x="121" y="-1"/>
                    <a:pt x="183" y="0"/>
                  </a:cubicBezTo>
                  <a:cubicBezTo>
                    <a:pt x="12112" y="0"/>
                    <a:pt x="21783" y="9670"/>
                    <a:pt x="21783" y="21600"/>
                  </a:cubicBezTo>
                  <a:lnTo>
                    <a:pt x="183" y="21600"/>
                  </a:lnTo>
                  <a:close/>
                </a:path>
              </a:pathLst>
            </a:custGeom>
            <a:noFill/>
            <a:ln w="12700" cap="rnd">
              <a:solidFill>
                <a:srgbClr val="009900"/>
              </a:solidFill>
              <a:round/>
              <a:headEnd/>
              <a:tailEnd/>
            </a:ln>
          </p:spPr>
          <p:txBody>
            <a:bodyPr wrap="none" anchor="ctr"/>
            <a:lstStyle/>
            <a:p>
              <a:endParaRPr lang="en-US"/>
            </a:p>
          </p:txBody>
        </p:sp>
        <p:sp>
          <p:nvSpPr>
            <p:cNvPr id="39978" name="Freeform 463"/>
            <p:cNvSpPr>
              <a:spLocks/>
            </p:cNvSpPr>
            <p:nvPr/>
          </p:nvSpPr>
          <p:spPr bwMode="auto">
            <a:xfrm>
              <a:off x="2303" y="1675"/>
              <a:ext cx="215" cy="73"/>
            </a:xfrm>
            <a:custGeom>
              <a:avLst/>
              <a:gdLst>
                <a:gd name="T0" fmla="*/ 0 w 262"/>
                <a:gd name="T1" fmla="*/ 0 h 89"/>
                <a:gd name="T2" fmla="*/ 85 w 262"/>
                <a:gd name="T3" fmla="*/ 48 h 89"/>
                <a:gd name="T4" fmla="*/ 144 w 262"/>
                <a:gd name="T5" fmla="*/ 9 h 89"/>
                <a:gd name="T6" fmla="*/ 94 w 262"/>
                <a:gd name="T7" fmla="*/ 9 h 89"/>
                <a:gd name="T8" fmla="*/ 70 w 262"/>
                <a:gd name="T9" fmla="*/ 35 h 89"/>
                <a:gd name="T10" fmla="*/ 0 60000 65536"/>
                <a:gd name="T11" fmla="*/ 0 60000 65536"/>
                <a:gd name="T12" fmla="*/ 0 60000 65536"/>
                <a:gd name="T13" fmla="*/ 0 60000 65536"/>
                <a:gd name="T14" fmla="*/ 0 60000 65536"/>
                <a:gd name="T15" fmla="*/ 0 w 262"/>
                <a:gd name="T16" fmla="*/ 0 h 89"/>
                <a:gd name="T17" fmla="*/ 262 w 262"/>
                <a:gd name="T18" fmla="*/ 89 h 89"/>
              </a:gdLst>
              <a:ahLst/>
              <a:cxnLst>
                <a:cxn ang="T10">
                  <a:pos x="T0" y="T1"/>
                </a:cxn>
                <a:cxn ang="T11">
                  <a:pos x="T2" y="T3"/>
                </a:cxn>
                <a:cxn ang="T12">
                  <a:pos x="T4" y="T5"/>
                </a:cxn>
                <a:cxn ang="T13">
                  <a:pos x="T6" y="T7"/>
                </a:cxn>
                <a:cxn ang="T14">
                  <a:pos x="T8" y="T9"/>
                </a:cxn>
              </a:cxnLst>
              <a:rect l="T15" t="T16" r="T17" b="T18"/>
              <a:pathLst>
                <a:path w="262" h="89">
                  <a:moveTo>
                    <a:pt x="0" y="0"/>
                  </a:moveTo>
                  <a:lnTo>
                    <a:pt x="153" y="88"/>
                  </a:lnTo>
                  <a:lnTo>
                    <a:pt x="261" y="16"/>
                  </a:lnTo>
                  <a:lnTo>
                    <a:pt x="171" y="16"/>
                  </a:lnTo>
                  <a:lnTo>
                    <a:pt x="126" y="64"/>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979" name="Freeform 464"/>
            <p:cNvSpPr>
              <a:spLocks/>
            </p:cNvSpPr>
            <p:nvPr/>
          </p:nvSpPr>
          <p:spPr bwMode="auto">
            <a:xfrm>
              <a:off x="2303" y="1675"/>
              <a:ext cx="193" cy="53"/>
            </a:xfrm>
            <a:custGeom>
              <a:avLst/>
              <a:gdLst>
                <a:gd name="T0" fmla="*/ 0 w 235"/>
                <a:gd name="T1" fmla="*/ 0 h 65"/>
                <a:gd name="T2" fmla="*/ 10 w 235"/>
                <a:gd name="T3" fmla="*/ 5 h 65"/>
                <a:gd name="T4" fmla="*/ 35 w 235"/>
                <a:gd name="T5" fmla="*/ 17 h 65"/>
                <a:gd name="T6" fmla="*/ 45 w 235"/>
                <a:gd name="T7" fmla="*/ 22 h 65"/>
                <a:gd name="T8" fmla="*/ 65 w 235"/>
                <a:gd name="T9" fmla="*/ 31 h 65"/>
                <a:gd name="T10" fmla="*/ 75 w 235"/>
                <a:gd name="T11" fmla="*/ 31 h 65"/>
                <a:gd name="T12" fmla="*/ 94 w 235"/>
                <a:gd name="T13" fmla="*/ 34 h 65"/>
                <a:gd name="T14" fmla="*/ 104 w 235"/>
                <a:gd name="T15" fmla="*/ 31 h 65"/>
                <a:gd name="T16" fmla="*/ 110 w 235"/>
                <a:gd name="T17" fmla="*/ 31 h 65"/>
                <a:gd name="T18" fmla="*/ 115 w 235"/>
                <a:gd name="T19" fmla="*/ 26 h 65"/>
                <a:gd name="T20" fmla="*/ 119 w 235"/>
                <a:gd name="T21" fmla="*/ 22 h 65"/>
                <a:gd name="T22" fmla="*/ 125 w 235"/>
                <a:gd name="T23" fmla="*/ 17 h 65"/>
                <a:gd name="T24" fmla="*/ 130 w 235"/>
                <a:gd name="T25" fmla="*/ 17 h 65"/>
                <a:gd name="T26" fmla="*/ 130 w 235"/>
                <a:gd name="T27" fmla="*/ 13 h 65"/>
                <a:gd name="T28" fmla="*/ 130 w 235"/>
                <a:gd name="T29" fmla="*/ 9 h 65"/>
                <a:gd name="T30" fmla="*/ 125 w 235"/>
                <a:gd name="T31" fmla="*/ 9 h 65"/>
                <a:gd name="T32" fmla="*/ 119 w 235"/>
                <a:gd name="T33" fmla="*/ 9 h 65"/>
                <a:gd name="T34" fmla="*/ 115 w 235"/>
                <a:gd name="T35" fmla="*/ 9 h 65"/>
                <a:gd name="T36" fmla="*/ 100 w 235"/>
                <a:gd name="T37" fmla="*/ 13 h 65"/>
                <a:gd name="T38" fmla="*/ 90 w 235"/>
                <a:gd name="T39" fmla="*/ 17 h 65"/>
                <a:gd name="T40" fmla="*/ 75 w 235"/>
                <a:gd name="T41" fmla="*/ 31 h 65"/>
                <a:gd name="T42" fmla="*/ 70 w 235"/>
                <a:gd name="T43" fmla="*/ 34 h 65"/>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35"/>
                <a:gd name="T67" fmla="*/ 0 h 65"/>
                <a:gd name="T68" fmla="*/ 235 w 235"/>
                <a:gd name="T69" fmla="*/ 65 h 65"/>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35" h="65">
                  <a:moveTo>
                    <a:pt x="0" y="0"/>
                  </a:moveTo>
                  <a:lnTo>
                    <a:pt x="18" y="8"/>
                  </a:lnTo>
                  <a:lnTo>
                    <a:pt x="63" y="32"/>
                  </a:lnTo>
                  <a:lnTo>
                    <a:pt x="81" y="40"/>
                  </a:lnTo>
                  <a:lnTo>
                    <a:pt x="117" y="56"/>
                  </a:lnTo>
                  <a:lnTo>
                    <a:pt x="135" y="56"/>
                  </a:lnTo>
                  <a:lnTo>
                    <a:pt x="171" y="64"/>
                  </a:lnTo>
                  <a:lnTo>
                    <a:pt x="189" y="56"/>
                  </a:lnTo>
                  <a:lnTo>
                    <a:pt x="198" y="56"/>
                  </a:lnTo>
                  <a:lnTo>
                    <a:pt x="207" y="48"/>
                  </a:lnTo>
                  <a:lnTo>
                    <a:pt x="216" y="40"/>
                  </a:lnTo>
                  <a:lnTo>
                    <a:pt x="225" y="32"/>
                  </a:lnTo>
                  <a:lnTo>
                    <a:pt x="234" y="32"/>
                  </a:lnTo>
                  <a:lnTo>
                    <a:pt x="234" y="24"/>
                  </a:lnTo>
                  <a:lnTo>
                    <a:pt x="234" y="16"/>
                  </a:lnTo>
                  <a:lnTo>
                    <a:pt x="225" y="16"/>
                  </a:lnTo>
                  <a:lnTo>
                    <a:pt x="216" y="16"/>
                  </a:lnTo>
                  <a:lnTo>
                    <a:pt x="207" y="16"/>
                  </a:lnTo>
                  <a:lnTo>
                    <a:pt x="180" y="24"/>
                  </a:lnTo>
                  <a:lnTo>
                    <a:pt x="162" y="32"/>
                  </a:lnTo>
                  <a:lnTo>
                    <a:pt x="135" y="56"/>
                  </a:lnTo>
                  <a:lnTo>
                    <a:pt x="126" y="64"/>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980" name="Freeform 465"/>
            <p:cNvSpPr>
              <a:spLocks/>
            </p:cNvSpPr>
            <p:nvPr/>
          </p:nvSpPr>
          <p:spPr bwMode="auto">
            <a:xfrm>
              <a:off x="2429" y="1755"/>
              <a:ext cx="200" cy="138"/>
            </a:xfrm>
            <a:custGeom>
              <a:avLst/>
              <a:gdLst>
                <a:gd name="T0" fmla="*/ 0 w 244"/>
                <a:gd name="T1" fmla="*/ 93 h 168"/>
                <a:gd name="T2" fmla="*/ 84 w 244"/>
                <a:gd name="T3" fmla="*/ 58 h 168"/>
                <a:gd name="T4" fmla="*/ 119 w 244"/>
                <a:gd name="T5" fmla="*/ 44 h 168"/>
                <a:gd name="T6" fmla="*/ 134 w 244"/>
                <a:gd name="T7" fmla="*/ 0 h 168"/>
                <a:gd name="T8" fmla="*/ 0 60000 65536"/>
                <a:gd name="T9" fmla="*/ 0 60000 65536"/>
                <a:gd name="T10" fmla="*/ 0 60000 65536"/>
                <a:gd name="T11" fmla="*/ 0 60000 65536"/>
                <a:gd name="T12" fmla="*/ 0 w 244"/>
                <a:gd name="T13" fmla="*/ 0 h 168"/>
                <a:gd name="T14" fmla="*/ 244 w 244"/>
                <a:gd name="T15" fmla="*/ 168 h 168"/>
              </a:gdLst>
              <a:ahLst/>
              <a:cxnLst>
                <a:cxn ang="T8">
                  <a:pos x="T0" y="T1"/>
                </a:cxn>
                <a:cxn ang="T9">
                  <a:pos x="T2" y="T3"/>
                </a:cxn>
                <a:cxn ang="T10">
                  <a:pos x="T4" y="T5"/>
                </a:cxn>
                <a:cxn ang="T11">
                  <a:pos x="T6" y="T7"/>
                </a:cxn>
              </a:cxnLst>
              <a:rect l="T12" t="T13" r="T14" b="T15"/>
              <a:pathLst>
                <a:path w="244" h="168">
                  <a:moveTo>
                    <a:pt x="0" y="167"/>
                  </a:moveTo>
                  <a:lnTo>
                    <a:pt x="153" y="103"/>
                  </a:lnTo>
                  <a:lnTo>
                    <a:pt x="216" y="80"/>
                  </a:lnTo>
                  <a:lnTo>
                    <a:pt x="243"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981" name="Freeform 466"/>
            <p:cNvSpPr>
              <a:spLocks/>
            </p:cNvSpPr>
            <p:nvPr/>
          </p:nvSpPr>
          <p:spPr bwMode="auto">
            <a:xfrm>
              <a:off x="2429" y="1755"/>
              <a:ext cx="200" cy="138"/>
            </a:xfrm>
            <a:custGeom>
              <a:avLst/>
              <a:gdLst>
                <a:gd name="T0" fmla="*/ 0 w 244"/>
                <a:gd name="T1" fmla="*/ 93 h 168"/>
                <a:gd name="T2" fmla="*/ 10 w 244"/>
                <a:gd name="T3" fmla="*/ 89 h 168"/>
                <a:gd name="T4" fmla="*/ 30 w 244"/>
                <a:gd name="T5" fmla="*/ 79 h 168"/>
                <a:gd name="T6" fmla="*/ 44 w 244"/>
                <a:gd name="T7" fmla="*/ 75 h 168"/>
                <a:gd name="T8" fmla="*/ 65 w 244"/>
                <a:gd name="T9" fmla="*/ 66 h 168"/>
                <a:gd name="T10" fmla="*/ 69 w 244"/>
                <a:gd name="T11" fmla="*/ 62 h 168"/>
                <a:gd name="T12" fmla="*/ 80 w 244"/>
                <a:gd name="T13" fmla="*/ 58 h 168"/>
                <a:gd name="T14" fmla="*/ 89 w 244"/>
                <a:gd name="T15" fmla="*/ 53 h 168"/>
                <a:gd name="T16" fmla="*/ 99 w 244"/>
                <a:gd name="T17" fmla="*/ 48 h 168"/>
                <a:gd name="T18" fmla="*/ 109 w 244"/>
                <a:gd name="T19" fmla="*/ 44 h 168"/>
                <a:gd name="T20" fmla="*/ 114 w 244"/>
                <a:gd name="T21" fmla="*/ 39 h 168"/>
                <a:gd name="T22" fmla="*/ 119 w 244"/>
                <a:gd name="T23" fmla="*/ 36 h 168"/>
                <a:gd name="T24" fmla="*/ 124 w 244"/>
                <a:gd name="T25" fmla="*/ 26 h 168"/>
                <a:gd name="T26" fmla="*/ 129 w 244"/>
                <a:gd name="T27" fmla="*/ 13 h 168"/>
                <a:gd name="T28" fmla="*/ 134 w 244"/>
                <a:gd name="T29" fmla="*/ 5 h 168"/>
                <a:gd name="T30" fmla="*/ 134 w 244"/>
                <a:gd name="T31" fmla="*/ 0 h 16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44"/>
                <a:gd name="T49" fmla="*/ 0 h 168"/>
                <a:gd name="T50" fmla="*/ 244 w 244"/>
                <a:gd name="T51" fmla="*/ 168 h 16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44" h="168">
                  <a:moveTo>
                    <a:pt x="0" y="167"/>
                  </a:moveTo>
                  <a:lnTo>
                    <a:pt x="18" y="159"/>
                  </a:lnTo>
                  <a:lnTo>
                    <a:pt x="54" y="143"/>
                  </a:lnTo>
                  <a:lnTo>
                    <a:pt x="81" y="135"/>
                  </a:lnTo>
                  <a:lnTo>
                    <a:pt x="117" y="119"/>
                  </a:lnTo>
                  <a:lnTo>
                    <a:pt x="126" y="111"/>
                  </a:lnTo>
                  <a:lnTo>
                    <a:pt x="144" y="103"/>
                  </a:lnTo>
                  <a:lnTo>
                    <a:pt x="162" y="95"/>
                  </a:lnTo>
                  <a:lnTo>
                    <a:pt x="180" y="87"/>
                  </a:lnTo>
                  <a:lnTo>
                    <a:pt x="198" y="80"/>
                  </a:lnTo>
                  <a:lnTo>
                    <a:pt x="207" y="72"/>
                  </a:lnTo>
                  <a:lnTo>
                    <a:pt x="216" y="64"/>
                  </a:lnTo>
                  <a:lnTo>
                    <a:pt x="225" y="48"/>
                  </a:lnTo>
                  <a:lnTo>
                    <a:pt x="234" y="24"/>
                  </a:lnTo>
                  <a:lnTo>
                    <a:pt x="243" y="8"/>
                  </a:lnTo>
                  <a:lnTo>
                    <a:pt x="243"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982" name="Freeform 467"/>
            <p:cNvSpPr>
              <a:spLocks/>
            </p:cNvSpPr>
            <p:nvPr/>
          </p:nvSpPr>
          <p:spPr bwMode="auto">
            <a:xfrm>
              <a:off x="2451" y="2056"/>
              <a:ext cx="296" cy="152"/>
            </a:xfrm>
            <a:custGeom>
              <a:avLst/>
              <a:gdLst>
                <a:gd name="T0" fmla="*/ 0 w 361"/>
                <a:gd name="T1" fmla="*/ 102 h 185"/>
                <a:gd name="T2" fmla="*/ 44 w 361"/>
                <a:gd name="T3" fmla="*/ 39 h 185"/>
                <a:gd name="T4" fmla="*/ 143 w 361"/>
                <a:gd name="T5" fmla="*/ 0 h 185"/>
                <a:gd name="T6" fmla="*/ 198 w 361"/>
                <a:gd name="T7" fmla="*/ 22 h 185"/>
                <a:gd name="T8" fmla="*/ 0 60000 65536"/>
                <a:gd name="T9" fmla="*/ 0 60000 65536"/>
                <a:gd name="T10" fmla="*/ 0 60000 65536"/>
                <a:gd name="T11" fmla="*/ 0 60000 65536"/>
                <a:gd name="T12" fmla="*/ 0 w 361"/>
                <a:gd name="T13" fmla="*/ 0 h 185"/>
                <a:gd name="T14" fmla="*/ 361 w 361"/>
                <a:gd name="T15" fmla="*/ 185 h 185"/>
              </a:gdLst>
              <a:ahLst/>
              <a:cxnLst>
                <a:cxn ang="T8">
                  <a:pos x="T0" y="T1"/>
                </a:cxn>
                <a:cxn ang="T9">
                  <a:pos x="T2" y="T3"/>
                </a:cxn>
                <a:cxn ang="T10">
                  <a:pos x="T4" y="T5"/>
                </a:cxn>
                <a:cxn ang="T11">
                  <a:pos x="T6" y="T7"/>
                </a:cxn>
              </a:cxnLst>
              <a:rect l="T12" t="T13" r="T14" b="T15"/>
              <a:pathLst>
                <a:path w="361" h="185">
                  <a:moveTo>
                    <a:pt x="0" y="184"/>
                  </a:moveTo>
                  <a:lnTo>
                    <a:pt x="81" y="72"/>
                  </a:lnTo>
                  <a:lnTo>
                    <a:pt x="261" y="0"/>
                  </a:lnTo>
                  <a:lnTo>
                    <a:pt x="360" y="4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983" name="Freeform 468"/>
            <p:cNvSpPr>
              <a:spLocks/>
            </p:cNvSpPr>
            <p:nvPr/>
          </p:nvSpPr>
          <p:spPr bwMode="auto">
            <a:xfrm>
              <a:off x="2451" y="2069"/>
              <a:ext cx="296" cy="139"/>
            </a:xfrm>
            <a:custGeom>
              <a:avLst/>
              <a:gdLst>
                <a:gd name="T0" fmla="*/ 0 w 361"/>
                <a:gd name="T1" fmla="*/ 94 h 169"/>
                <a:gd name="T2" fmla="*/ 5 w 361"/>
                <a:gd name="T3" fmla="*/ 90 h 169"/>
                <a:gd name="T4" fmla="*/ 15 w 361"/>
                <a:gd name="T5" fmla="*/ 76 h 169"/>
                <a:gd name="T6" fmla="*/ 30 w 361"/>
                <a:gd name="T7" fmla="*/ 58 h 169"/>
                <a:gd name="T8" fmla="*/ 39 w 361"/>
                <a:gd name="T9" fmla="*/ 49 h 169"/>
                <a:gd name="T10" fmla="*/ 54 w 361"/>
                <a:gd name="T11" fmla="*/ 36 h 169"/>
                <a:gd name="T12" fmla="*/ 60 w 361"/>
                <a:gd name="T13" fmla="*/ 26 h 169"/>
                <a:gd name="T14" fmla="*/ 80 w 361"/>
                <a:gd name="T15" fmla="*/ 17 h 169"/>
                <a:gd name="T16" fmla="*/ 84 w 361"/>
                <a:gd name="T17" fmla="*/ 13 h 169"/>
                <a:gd name="T18" fmla="*/ 94 w 361"/>
                <a:gd name="T19" fmla="*/ 9 h 169"/>
                <a:gd name="T20" fmla="*/ 99 w 361"/>
                <a:gd name="T21" fmla="*/ 9 h 169"/>
                <a:gd name="T22" fmla="*/ 109 w 361"/>
                <a:gd name="T23" fmla="*/ 5 h 169"/>
                <a:gd name="T24" fmla="*/ 129 w 361"/>
                <a:gd name="T25" fmla="*/ 0 h 169"/>
                <a:gd name="T26" fmla="*/ 139 w 361"/>
                <a:gd name="T27" fmla="*/ 0 h 169"/>
                <a:gd name="T28" fmla="*/ 148 w 361"/>
                <a:gd name="T29" fmla="*/ 0 h 169"/>
                <a:gd name="T30" fmla="*/ 169 w 361"/>
                <a:gd name="T31" fmla="*/ 5 h 169"/>
                <a:gd name="T32" fmla="*/ 174 w 361"/>
                <a:gd name="T33" fmla="*/ 5 h 169"/>
                <a:gd name="T34" fmla="*/ 189 w 361"/>
                <a:gd name="T35" fmla="*/ 9 h 169"/>
                <a:gd name="T36" fmla="*/ 198 w 361"/>
                <a:gd name="T37" fmla="*/ 13 h 16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61"/>
                <a:gd name="T58" fmla="*/ 0 h 169"/>
                <a:gd name="T59" fmla="*/ 361 w 361"/>
                <a:gd name="T60" fmla="*/ 169 h 16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61" h="169">
                  <a:moveTo>
                    <a:pt x="0" y="168"/>
                  </a:moveTo>
                  <a:lnTo>
                    <a:pt x="9" y="160"/>
                  </a:lnTo>
                  <a:lnTo>
                    <a:pt x="27" y="136"/>
                  </a:lnTo>
                  <a:lnTo>
                    <a:pt x="54" y="104"/>
                  </a:lnTo>
                  <a:lnTo>
                    <a:pt x="72" y="88"/>
                  </a:lnTo>
                  <a:lnTo>
                    <a:pt x="99" y="64"/>
                  </a:lnTo>
                  <a:lnTo>
                    <a:pt x="108" y="48"/>
                  </a:lnTo>
                  <a:lnTo>
                    <a:pt x="144" y="32"/>
                  </a:lnTo>
                  <a:lnTo>
                    <a:pt x="153" y="24"/>
                  </a:lnTo>
                  <a:lnTo>
                    <a:pt x="171" y="16"/>
                  </a:lnTo>
                  <a:lnTo>
                    <a:pt x="180" y="16"/>
                  </a:lnTo>
                  <a:lnTo>
                    <a:pt x="198" y="8"/>
                  </a:lnTo>
                  <a:lnTo>
                    <a:pt x="234" y="0"/>
                  </a:lnTo>
                  <a:lnTo>
                    <a:pt x="252" y="0"/>
                  </a:lnTo>
                  <a:lnTo>
                    <a:pt x="270" y="0"/>
                  </a:lnTo>
                  <a:lnTo>
                    <a:pt x="306" y="8"/>
                  </a:lnTo>
                  <a:lnTo>
                    <a:pt x="315" y="8"/>
                  </a:lnTo>
                  <a:lnTo>
                    <a:pt x="342" y="16"/>
                  </a:lnTo>
                  <a:lnTo>
                    <a:pt x="360" y="24"/>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984" name="Freeform 469"/>
            <p:cNvSpPr>
              <a:spLocks/>
            </p:cNvSpPr>
            <p:nvPr/>
          </p:nvSpPr>
          <p:spPr bwMode="auto">
            <a:xfrm>
              <a:off x="2510" y="2023"/>
              <a:ext cx="156" cy="41"/>
            </a:xfrm>
            <a:custGeom>
              <a:avLst/>
              <a:gdLst>
                <a:gd name="T0" fmla="*/ 0 w 190"/>
                <a:gd name="T1" fmla="*/ 27 h 50"/>
                <a:gd name="T2" fmla="*/ 94 w 190"/>
                <a:gd name="T3" fmla="*/ 18 h 50"/>
                <a:gd name="T4" fmla="*/ 104 w 190"/>
                <a:gd name="T5" fmla="*/ 0 h 50"/>
                <a:gd name="T6" fmla="*/ 0 60000 65536"/>
                <a:gd name="T7" fmla="*/ 0 60000 65536"/>
                <a:gd name="T8" fmla="*/ 0 60000 65536"/>
                <a:gd name="T9" fmla="*/ 0 w 190"/>
                <a:gd name="T10" fmla="*/ 0 h 50"/>
                <a:gd name="T11" fmla="*/ 190 w 190"/>
                <a:gd name="T12" fmla="*/ 50 h 50"/>
              </a:gdLst>
              <a:ahLst/>
              <a:cxnLst>
                <a:cxn ang="T6">
                  <a:pos x="T0" y="T1"/>
                </a:cxn>
                <a:cxn ang="T7">
                  <a:pos x="T2" y="T3"/>
                </a:cxn>
                <a:cxn ang="T8">
                  <a:pos x="T4" y="T5"/>
                </a:cxn>
              </a:cxnLst>
              <a:rect l="T9" t="T10" r="T11" b="T12"/>
              <a:pathLst>
                <a:path w="190" h="50">
                  <a:moveTo>
                    <a:pt x="0" y="49"/>
                  </a:moveTo>
                  <a:lnTo>
                    <a:pt x="171" y="33"/>
                  </a:lnTo>
                  <a:lnTo>
                    <a:pt x="18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985" name="Freeform 470"/>
            <p:cNvSpPr>
              <a:spLocks/>
            </p:cNvSpPr>
            <p:nvPr/>
          </p:nvSpPr>
          <p:spPr bwMode="auto">
            <a:xfrm>
              <a:off x="2510" y="2023"/>
              <a:ext cx="156" cy="41"/>
            </a:xfrm>
            <a:custGeom>
              <a:avLst/>
              <a:gdLst>
                <a:gd name="T0" fmla="*/ 0 w 190"/>
                <a:gd name="T1" fmla="*/ 27 h 50"/>
                <a:gd name="T2" fmla="*/ 10 w 190"/>
                <a:gd name="T3" fmla="*/ 27 h 50"/>
                <a:gd name="T4" fmla="*/ 35 w 190"/>
                <a:gd name="T5" fmla="*/ 23 h 50"/>
                <a:gd name="T6" fmla="*/ 50 w 190"/>
                <a:gd name="T7" fmla="*/ 23 h 50"/>
                <a:gd name="T8" fmla="*/ 65 w 190"/>
                <a:gd name="T9" fmla="*/ 18 h 50"/>
                <a:gd name="T10" fmla="*/ 85 w 190"/>
                <a:gd name="T11" fmla="*/ 14 h 50"/>
                <a:gd name="T12" fmla="*/ 94 w 190"/>
                <a:gd name="T13" fmla="*/ 9 h 50"/>
                <a:gd name="T14" fmla="*/ 100 w 190"/>
                <a:gd name="T15" fmla="*/ 5 h 50"/>
                <a:gd name="T16" fmla="*/ 104 w 190"/>
                <a:gd name="T17" fmla="*/ 0 h 5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0"/>
                <a:gd name="T28" fmla="*/ 0 h 50"/>
                <a:gd name="T29" fmla="*/ 190 w 190"/>
                <a:gd name="T30" fmla="*/ 50 h 5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0" h="50">
                  <a:moveTo>
                    <a:pt x="0" y="49"/>
                  </a:moveTo>
                  <a:lnTo>
                    <a:pt x="18" y="49"/>
                  </a:lnTo>
                  <a:lnTo>
                    <a:pt x="63" y="41"/>
                  </a:lnTo>
                  <a:lnTo>
                    <a:pt x="90" y="41"/>
                  </a:lnTo>
                  <a:lnTo>
                    <a:pt x="117" y="33"/>
                  </a:lnTo>
                  <a:lnTo>
                    <a:pt x="153" y="25"/>
                  </a:lnTo>
                  <a:lnTo>
                    <a:pt x="171" y="16"/>
                  </a:lnTo>
                  <a:lnTo>
                    <a:pt x="180" y="8"/>
                  </a:lnTo>
                  <a:lnTo>
                    <a:pt x="18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986" name="Freeform 471"/>
            <p:cNvSpPr>
              <a:spLocks/>
            </p:cNvSpPr>
            <p:nvPr/>
          </p:nvSpPr>
          <p:spPr bwMode="auto">
            <a:xfrm>
              <a:off x="2687" y="2017"/>
              <a:ext cx="90" cy="171"/>
            </a:xfrm>
            <a:custGeom>
              <a:avLst/>
              <a:gdLst>
                <a:gd name="T0" fmla="*/ 60 w 109"/>
                <a:gd name="T1" fmla="*/ 114 h 209"/>
                <a:gd name="T2" fmla="*/ 45 w 109"/>
                <a:gd name="T3" fmla="*/ 101 h 209"/>
                <a:gd name="T4" fmla="*/ 0 w 109"/>
                <a:gd name="T5" fmla="*/ 13 h 209"/>
                <a:gd name="T6" fmla="*/ 0 w 109"/>
                <a:gd name="T7" fmla="*/ 0 h 209"/>
                <a:gd name="T8" fmla="*/ 0 60000 65536"/>
                <a:gd name="T9" fmla="*/ 0 60000 65536"/>
                <a:gd name="T10" fmla="*/ 0 60000 65536"/>
                <a:gd name="T11" fmla="*/ 0 60000 65536"/>
                <a:gd name="T12" fmla="*/ 0 w 109"/>
                <a:gd name="T13" fmla="*/ 0 h 209"/>
                <a:gd name="T14" fmla="*/ 109 w 109"/>
                <a:gd name="T15" fmla="*/ 209 h 209"/>
              </a:gdLst>
              <a:ahLst/>
              <a:cxnLst>
                <a:cxn ang="T8">
                  <a:pos x="T0" y="T1"/>
                </a:cxn>
                <a:cxn ang="T9">
                  <a:pos x="T2" y="T3"/>
                </a:cxn>
                <a:cxn ang="T10">
                  <a:pos x="T4" y="T5"/>
                </a:cxn>
                <a:cxn ang="T11">
                  <a:pos x="T6" y="T7"/>
                </a:cxn>
              </a:cxnLst>
              <a:rect l="T12" t="T13" r="T14" b="T15"/>
              <a:pathLst>
                <a:path w="109" h="209">
                  <a:moveTo>
                    <a:pt x="108" y="208"/>
                  </a:moveTo>
                  <a:lnTo>
                    <a:pt x="81" y="184"/>
                  </a:lnTo>
                  <a:lnTo>
                    <a:pt x="0" y="24"/>
                  </a:lnTo>
                  <a:lnTo>
                    <a:pt x="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987" name="Freeform 472"/>
            <p:cNvSpPr>
              <a:spLocks/>
            </p:cNvSpPr>
            <p:nvPr/>
          </p:nvSpPr>
          <p:spPr bwMode="auto">
            <a:xfrm>
              <a:off x="2687" y="2017"/>
              <a:ext cx="90" cy="171"/>
            </a:xfrm>
            <a:custGeom>
              <a:avLst/>
              <a:gdLst>
                <a:gd name="T0" fmla="*/ 60 w 109"/>
                <a:gd name="T1" fmla="*/ 114 h 209"/>
                <a:gd name="T2" fmla="*/ 56 w 109"/>
                <a:gd name="T3" fmla="*/ 110 h 209"/>
                <a:gd name="T4" fmla="*/ 50 w 109"/>
                <a:gd name="T5" fmla="*/ 101 h 209"/>
                <a:gd name="T6" fmla="*/ 40 w 109"/>
                <a:gd name="T7" fmla="*/ 88 h 209"/>
                <a:gd name="T8" fmla="*/ 31 w 109"/>
                <a:gd name="T9" fmla="*/ 70 h 209"/>
                <a:gd name="T10" fmla="*/ 26 w 109"/>
                <a:gd name="T11" fmla="*/ 57 h 209"/>
                <a:gd name="T12" fmla="*/ 21 w 109"/>
                <a:gd name="T13" fmla="*/ 48 h 209"/>
                <a:gd name="T14" fmla="*/ 10 w 109"/>
                <a:gd name="T15" fmla="*/ 31 h 209"/>
                <a:gd name="T16" fmla="*/ 5 w 109"/>
                <a:gd name="T17" fmla="*/ 17 h 209"/>
                <a:gd name="T18" fmla="*/ 0 w 109"/>
                <a:gd name="T19" fmla="*/ 5 h 209"/>
                <a:gd name="T20" fmla="*/ 0 w 109"/>
                <a:gd name="T21" fmla="*/ 0 h 20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9"/>
                <a:gd name="T34" fmla="*/ 0 h 209"/>
                <a:gd name="T35" fmla="*/ 109 w 109"/>
                <a:gd name="T36" fmla="*/ 209 h 20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9" h="209">
                  <a:moveTo>
                    <a:pt x="108" y="208"/>
                  </a:moveTo>
                  <a:lnTo>
                    <a:pt x="99" y="200"/>
                  </a:lnTo>
                  <a:lnTo>
                    <a:pt x="90" y="184"/>
                  </a:lnTo>
                  <a:lnTo>
                    <a:pt x="72" y="160"/>
                  </a:lnTo>
                  <a:lnTo>
                    <a:pt x="54" y="128"/>
                  </a:lnTo>
                  <a:lnTo>
                    <a:pt x="45" y="104"/>
                  </a:lnTo>
                  <a:lnTo>
                    <a:pt x="36" y="88"/>
                  </a:lnTo>
                  <a:lnTo>
                    <a:pt x="18" y="56"/>
                  </a:lnTo>
                  <a:lnTo>
                    <a:pt x="9" y="32"/>
                  </a:lnTo>
                  <a:lnTo>
                    <a:pt x="0" y="8"/>
                  </a:lnTo>
                  <a:lnTo>
                    <a:pt x="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988" name="Freeform 473"/>
            <p:cNvSpPr>
              <a:spLocks/>
            </p:cNvSpPr>
            <p:nvPr/>
          </p:nvSpPr>
          <p:spPr bwMode="auto">
            <a:xfrm>
              <a:off x="2443" y="1866"/>
              <a:ext cx="112" cy="217"/>
            </a:xfrm>
            <a:custGeom>
              <a:avLst/>
              <a:gdLst>
                <a:gd name="T0" fmla="*/ 0 w 136"/>
                <a:gd name="T1" fmla="*/ 145 h 265"/>
                <a:gd name="T2" fmla="*/ 60 w 136"/>
                <a:gd name="T3" fmla="*/ 70 h 265"/>
                <a:gd name="T4" fmla="*/ 75 w 136"/>
                <a:gd name="T5" fmla="*/ 9 h 265"/>
                <a:gd name="T6" fmla="*/ 75 w 136"/>
                <a:gd name="T7" fmla="*/ 0 h 265"/>
                <a:gd name="T8" fmla="*/ 0 60000 65536"/>
                <a:gd name="T9" fmla="*/ 0 60000 65536"/>
                <a:gd name="T10" fmla="*/ 0 60000 65536"/>
                <a:gd name="T11" fmla="*/ 0 60000 65536"/>
                <a:gd name="T12" fmla="*/ 0 w 136"/>
                <a:gd name="T13" fmla="*/ 0 h 265"/>
                <a:gd name="T14" fmla="*/ 136 w 136"/>
                <a:gd name="T15" fmla="*/ 265 h 265"/>
              </a:gdLst>
              <a:ahLst/>
              <a:cxnLst>
                <a:cxn ang="T8">
                  <a:pos x="T0" y="T1"/>
                </a:cxn>
                <a:cxn ang="T9">
                  <a:pos x="T2" y="T3"/>
                </a:cxn>
                <a:cxn ang="T10">
                  <a:pos x="T4" y="T5"/>
                </a:cxn>
                <a:cxn ang="T11">
                  <a:pos x="T6" y="T7"/>
                </a:cxn>
              </a:cxnLst>
              <a:rect l="T12" t="T13" r="T14" b="T15"/>
              <a:pathLst>
                <a:path w="136" h="265">
                  <a:moveTo>
                    <a:pt x="0" y="264"/>
                  </a:moveTo>
                  <a:lnTo>
                    <a:pt x="108" y="128"/>
                  </a:lnTo>
                  <a:lnTo>
                    <a:pt x="135" y="16"/>
                  </a:lnTo>
                  <a:lnTo>
                    <a:pt x="135"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989" name="Freeform 474"/>
            <p:cNvSpPr>
              <a:spLocks/>
            </p:cNvSpPr>
            <p:nvPr/>
          </p:nvSpPr>
          <p:spPr bwMode="auto">
            <a:xfrm>
              <a:off x="2443" y="1866"/>
              <a:ext cx="112" cy="217"/>
            </a:xfrm>
            <a:custGeom>
              <a:avLst/>
              <a:gdLst>
                <a:gd name="T0" fmla="*/ 0 w 136"/>
                <a:gd name="T1" fmla="*/ 145 h 265"/>
                <a:gd name="T2" fmla="*/ 10 w 136"/>
                <a:gd name="T3" fmla="*/ 132 h 265"/>
                <a:gd name="T4" fmla="*/ 21 w 136"/>
                <a:gd name="T5" fmla="*/ 119 h 265"/>
                <a:gd name="T6" fmla="*/ 30 w 136"/>
                <a:gd name="T7" fmla="*/ 106 h 265"/>
                <a:gd name="T8" fmla="*/ 40 w 136"/>
                <a:gd name="T9" fmla="*/ 88 h 265"/>
                <a:gd name="T10" fmla="*/ 50 w 136"/>
                <a:gd name="T11" fmla="*/ 75 h 265"/>
                <a:gd name="T12" fmla="*/ 56 w 136"/>
                <a:gd name="T13" fmla="*/ 66 h 265"/>
                <a:gd name="T14" fmla="*/ 60 w 136"/>
                <a:gd name="T15" fmla="*/ 53 h 265"/>
                <a:gd name="T16" fmla="*/ 65 w 136"/>
                <a:gd name="T17" fmla="*/ 39 h 265"/>
                <a:gd name="T18" fmla="*/ 71 w 136"/>
                <a:gd name="T19" fmla="*/ 31 h 265"/>
                <a:gd name="T20" fmla="*/ 71 w 136"/>
                <a:gd name="T21" fmla="*/ 22 h 265"/>
                <a:gd name="T22" fmla="*/ 75 w 136"/>
                <a:gd name="T23" fmla="*/ 9 h 265"/>
                <a:gd name="T24" fmla="*/ 75 w 136"/>
                <a:gd name="T25" fmla="*/ 5 h 265"/>
                <a:gd name="T26" fmla="*/ 75 w 136"/>
                <a:gd name="T27" fmla="*/ 0 h 26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6"/>
                <a:gd name="T43" fmla="*/ 0 h 265"/>
                <a:gd name="T44" fmla="*/ 136 w 136"/>
                <a:gd name="T45" fmla="*/ 265 h 26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6" h="265">
                  <a:moveTo>
                    <a:pt x="0" y="264"/>
                  </a:moveTo>
                  <a:lnTo>
                    <a:pt x="18" y="240"/>
                  </a:lnTo>
                  <a:lnTo>
                    <a:pt x="36" y="216"/>
                  </a:lnTo>
                  <a:lnTo>
                    <a:pt x="54" y="192"/>
                  </a:lnTo>
                  <a:lnTo>
                    <a:pt x="72" y="160"/>
                  </a:lnTo>
                  <a:lnTo>
                    <a:pt x="90" y="136"/>
                  </a:lnTo>
                  <a:lnTo>
                    <a:pt x="99" y="120"/>
                  </a:lnTo>
                  <a:lnTo>
                    <a:pt x="108" y="96"/>
                  </a:lnTo>
                  <a:lnTo>
                    <a:pt x="117" y="72"/>
                  </a:lnTo>
                  <a:lnTo>
                    <a:pt x="126" y="56"/>
                  </a:lnTo>
                  <a:lnTo>
                    <a:pt x="126" y="40"/>
                  </a:lnTo>
                  <a:lnTo>
                    <a:pt x="135" y="16"/>
                  </a:lnTo>
                  <a:lnTo>
                    <a:pt x="135" y="8"/>
                  </a:lnTo>
                  <a:lnTo>
                    <a:pt x="135"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990" name="Arc 475"/>
            <p:cNvSpPr>
              <a:spLocks/>
            </p:cNvSpPr>
            <p:nvPr/>
          </p:nvSpPr>
          <p:spPr bwMode="auto">
            <a:xfrm>
              <a:off x="2318" y="1975"/>
              <a:ext cx="93" cy="85"/>
            </a:xfrm>
            <a:custGeom>
              <a:avLst/>
              <a:gdLst>
                <a:gd name="T0" fmla="*/ 0 w 21791"/>
                <a:gd name="T1" fmla="*/ 0 h 21600"/>
                <a:gd name="T2" fmla="*/ 0 w 21791"/>
                <a:gd name="T3" fmla="*/ 0 h 21600"/>
                <a:gd name="T4" fmla="*/ 0 w 21791"/>
                <a:gd name="T5" fmla="*/ 0 h 21600"/>
                <a:gd name="T6" fmla="*/ 0 60000 65536"/>
                <a:gd name="T7" fmla="*/ 0 60000 65536"/>
                <a:gd name="T8" fmla="*/ 0 60000 65536"/>
                <a:gd name="T9" fmla="*/ 0 w 21791"/>
                <a:gd name="T10" fmla="*/ 0 h 21600"/>
                <a:gd name="T11" fmla="*/ 21791 w 21791"/>
                <a:gd name="T12" fmla="*/ 21600 h 21600"/>
              </a:gdLst>
              <a:ahLst/>
              <a:cxnLst>
                <a:cxn ang="T6">
                  <a:pos x="T0" y="T1"/>
                </a:cxn>
                <a:cxn ang="T7">
                  <a:pos x="T2" y="T3"/>
                </a:cxn>
                <a:cxn ang="T8">
                  <a:pos x="T4" y="T5"/>
                </a:cxn>
              </a:cxnLst>
              <a:rect l="T9" t="T10" r="T11" b="T12"/>
              <a:pathLst>
                <a:path w="21791" h="21600" fill="none" extrusionOk="0">
                  <a:moveTo>
                    <a:pt x="-1" y="0"/>
                  </a:moveTo>
                  <a:cubicBezTo>
                    <a:pt x="63" y="0"/>
                    <a:pt x="127" y="-1"/>
                    <a:pt x="191" y="0"/>
                  </a:cubicBezTo>
                  <a:cubicBezTo>
                    <a:pt x="12120" y="0"/>
                    <a:pt x="21791" y="9670"/>
                    <a:pt x="21791" y="21600"/>
                  </a:cubicBezTo>
                </a:path>
                <a:path w="21791" h="21600" stroke="0" extrusionOk="0">
                  <a:moveTo>
                    <a:pt x="-1" y="0"/>
                  </a:moveTo>
                  <a:cubicBezTo>
                    <a:pt x="63" y="0"/>
                    <a:pt x="127" y="-1"/>
                    <a:pt x="191" y="0"/>
                  </a:cubicBezTo>
                  <a:cubicBezTo>
                    <a:pt x="12120" y="0"/>
                    <a:pt x="21791" y="9670"/>
                    <a:pt x="21791" y="21600"/>
                  </a:cubicBezTo>
                  <a:lnTo>
                    <a:pt x="191" y="21600"/>
                  </a:lnTo>
                  <a:close/>
                </a:path>
              </a:pathLst>
            </a:custGeom>
            <a:noFill/>
            <a:ln w="12700" cap="rnd">
              <a:solidFill>
                <a:srgbClr val="009900"/>
              </a:solidFill>
              <a:round/>
              <a:headEnd/>
              <a:tailEnd/>
            </a:ln>
          </p:spPr>
          <p:txBody>
            <a:bodyPr wrap="none" anchor="ctr"/>
            <a:lstStyle/>
            <a:p>
              <a:endParaRPr lang="en-US"/>
            </a:p>
          </p:txBody>
        </p:sp>
        <p:sp>
          <p:nvSpPr>
            <p:cNvPr id="39991" name="Freeform 476"/>
            <p:cNvSpPr>
              <a:spLocks/>
            </p:cNvSpPr>
            <p:nvPr/>
          </p:nvSpPr>
          <p:spPr bwMode="auto">
            <a:xfrm>
              <a:off x="2495" y="1767"/>
              <a:ext cx="223" cy="67"/>
            </a:xfrm>
            <a:custGeom>
              <a:avLst/>
              <a:gdLst>
                <a:gd name="T0" fmla="*/ 0 w 271"/>
                <a:gd name="T1" fmla="*/ 0 h 81"/>
                <a:gd name="T2" fmla="*/ 90 w 271"/>
                <a:gd name="T3" fmla="*/ 45 h 81"/>
                <a:gd name="T4" fmla="*/ 151 w 271"/>
                <a:gd name="T5" fmla="*/ 5 h 81"/>
                <a:gd name="T6" fmla="*/ 100 w 271"/>
                <a:gd name="T7" fmla="*/ 5 h 81"/>
                <a:gd name="T8" fmla="*/ 75 w 271"/>
                <a:gd name="T9" fmla="*/ 36 h 81"/>
                <a:gd name="T10" fmla="*/ 0 60000 65536"/>
                <a:gd name="T11" fmla="*/ 0 60000 65536"/>
                <a:gd name="T12" fmla="*/ 0 60000 65536"/>
                <a:gd name="T13" fmla="*/ 0 60000 65536"/>
                <a:gd name="T14" fmla="*/ 0 60000 65536"/>
                <a:gd name="T15" fmla="*/ 0 w 271"/>
                <a:gd name="T16" fmla="*/ 0 h 81"/>
                <a:gd name="T17" fmla="*/ 271 w 271"/>
                <a:gd name="T18" fmla="*/ 81 h 81"/>
              </a:gdLst>
              <a:ahLst/>
              <a:cxnLst>
                <a:cxn ang="T10">
                  <a:pos x="T0" y="T1"/>
                </a:cxn>
                <a:cxn ang="T11">
                  <a:pos x="T2" y="T3"/>
                </a:cxn>
                <a:cxn ang="T12">
                  <a:pos x="T4" y="T5"/>
                </a:cxn>
                <a:cxn ang="T13">
                  <a:pos x="T6" y="T7"/>
                </a:cxn>
                <a:cxn ang="T14">
                  <a:pos x="T8" y="T9"/>
                </a:cxn>
              </a:cxnLst>
              <a:rect l="T15" t="T16" r="T17" b="T18"/>
              <a:pathLst>
                <a:path w="271" h="81">
                  <a:moveTo>
                    <a:pt x="0" y="0"/>
                  </a:moveTo>
                  <a:lnTo>
                    <a:pt x="162" y="80"/>
                  </a:lnTo>
                  <a:lnTo>
                    <a:pt x="270" y="8"/>
                  </a:lnTo>
                  <a:lnTo>
                    <a:pt x="180" y="8"/>
                  </a:lnTo>
                  <a:lnTo>
                    <a:pt x="135" y="64"/>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992" name="Freeform 477"/>
            <p:cNvSpPr>
              <a:spLocks/>
            </p:cNvSpPr>
            <p:nvPr/>
          </p:nvSpPr>
          <p:spPr bwMode="auto">
            <a:xfrm>
              <a:off x="2495" y="1767"/>
              <a:ext cx="201" cy="53"/>
            </a:xfrm>
            <a:custGeom>
              <a:avLst/>
              <a:gdLst>
                <a:gd name="T0" fmla="*/ 0 w 244"/>
                <a:gd name="T1" fmla="*/ 0 h 65"/>
                <a:gd name="T2" fmla="*/ 10 w 244"/>
                <a:gd name="T3" fmla="*/ 5 h 65"/>
                <a:gd name="T4" fmla="*/ 30 w 244"/>
                <a:gd name="T5" fmla="*/ 13 h 65"/>
                <a:gd name="T6" fmla="*/ 56 w 244"/>
                <a:gd name="T7" fmla="*/ 22 h 65"/>
                <a:gd name="T8" fmla="*/ 65 w 244"/>
                <a:gd name="T9" fmla="*/ 26 h 65"/>
                <a:gd name="T10" fmla="*/ 86 w 244"/>
                <a:gd name="T11" fmla="*/ 31 h 65"/>
                <a:gd name="T12" fmla="*/ 96 w 244"/>
                <a:gd name="T13" fmla="*/ 31 h 65"/>
                <a:gd name="T14" fmla="*/ 110 w 244"/>
                <a:gd name="T15" fmla="*/ 31 h 65"/>
                <a:gd name="T16" fmla="*/ 116 w 244"/>
                <a:gd name="T17" fmla="*/ 31 h 65"/>
                <a:gd name="T18" fmla="*/ 121 w 244"/>
                <a:gd name="T19" fmla="*/ 26 h 65"/>
                <a:gd name="T20" fmla="*/ 125 w 244"/>
                <a:gd name="T21" fmla="*/ 22 h 65"/>
                <a:gd name="T22" fmla="*/ 131 w 244"/>
                <a:gd name="T23" fmla="*/ 17 h 65"/>
                <a:gd name="T24" fmla="*/ 136 w 244"/>
                <a:gd name="T25" fmla="*/ 13 h 65"/>
                <a:gd name="T26" fmla="*/ 136 w 244"/>
                <a:gd name="T27" fmla="*/ 9 h 65"/>
                <a:gd name="T28" fmla="*/ 136 w 244"/>
                <a:gd name="T29" fmla="*/ 5 h 65"/>
                <a:gd name="T30" fmla="*/ 131 w 244"/>
                <a:gd name="T31" fmla="*/ 5 h 65"/>
                <a:gd name="T32" fmla="*/ 125 w 244"/>
                <a:gd name="T33" fmla="*/ 5 h 65"/>
                <a:gd name="T34" fmla="*/ 121 w 244"/>
                <a:gd name="T35" fmla="*/ 5 h 65"/>
                <a:gd name="T36" fmla="*/ 106 w 244"/>
                <a:gd name="T37" fmla="*/ 9 h 65"/>
                <a:gd name="T38" fmla="*/ 91 w 244"/>
                <a:gd name="T39" fmla="*/ 17 h 65"/>
                <a:gd name="T40" fmla="*/ 81 w 244"/>
                <a:gd name="T41" fmla="*/ 31 h 65"/>
                <a:gd name="T42" fmla="*/ 75 w 244"/>
                <a:gd name="T43" fmla="*/ 34 h 65"/>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44"/>
                <a:gd name="T67" fmla="*/ 0 h 65"/>
                <a:gd name="T68" fmla="*/ 244 w 244"/>
                <a:gd name="T69" fmla="*/ 65 h 65"/>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44" h="65">
                  <a:moveTo>
                    <a:pt x="0" y="0"/>
                  </a:moveTo>
                  <a:lnTo>
                    <a:pt x="18" y="8"/>
                  </a:lnTo>
                  <a:lnTo>
                    <a:pt x="54" y="24"/>
                  </a:lnTo>
                  <a:lnTo>
                    <a:pt x="99" y="40"/>
                  </a:lnTo>
                  <a:lnTo>
                    <a:pt x="117" y="48"/>
                  </a:lnTo>
                  <a:lnTo>
                    <a:pt x="153" y="56"/>
                  </a:lnTo>
                  <a:lnTo>
                    <a:pt x="171" y="56"/>
                  </a:lnTo>
                  <a:lnTo>
                    <a:pt x="198" y="56"/>
                  </a:lnTo>
                  <a:lnTo>
                    <a:pt x="207" y="56"/>
                  </a:lnTo>
                  <a:lnTo>
                    <a:pt x="216" y="48"/>
                  </a:lnTo>
                  <a:lnTo>
                    <a:pt x="225" y="40"/>
                  </a:lnTo>
                  <a:lnTo>
                    <a:pt x="234" y="32"/>
                  </a:lnTo>
                  <a:lnTo>
                    <a:pt x="243" y="24"/>
                  </a:lnTo>
                  <a:lnTo>
                    <a:pt x="243" y="16"/>
                  </a:lnTo>
                  <a:lnTo>
                    <a:pt x="243" y="8"/>
                  </a:lnTo>
                  <a:lnTo>
                    <a:pt x="234" y="8"/>
                  </a:lnTo>
                  <a:lnTo>
                    <a:pt x="225" y="8"/>
                  </a:lnTo>
                  <a:lnTo>
                    <a:pt x="216" y="8"/>
                  </a:lnTo>
                  <a:lnTo>
                    <a:pt x="189" y="16"/>
                  </a:lnTo>
                  <a:lnTo>
                    <a:pt x="162" y="32"/>
                  </a:lnTo>
                  <a:lnTo>
                    <a:pt x="144" y="56"/>
                  </a:lnTo>
                  <a:lnTo>
                    <a:pt x="135" y="64"/>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993" name="Freeform 478"/>
            <p:cNvSpPr>
              <a:spLocks/>
            </p:cNvSpPr>
            <p:nvPr/>
          </p:nvSpPr>
          <p:spPr bwMode="auto">
            <a:xfrm>
              <a:off x="2628" y="1846"/>
              <a:ext cx="201" cy="132"/>
            </a:xfrm>
            <a:custGeom>
              <a:avLst/>
              <a:gdLst>
                <a:gd name="T0" fmla="*/ 0 w 244"/>
                <a:gd name="T1" fmla="*/ 88 h 161"/>
                <a:gd name="T2" fmla="*/ 81 w 244"/>
                <a:gd name="T3" fmla="*/ 53 h 161"/>
                <a:gd name="T4" fmla="*/ 121 w 244"/>
                <a:gd name="T5" fmla="*/ 39 h 161"/>
                <a:gd name="T6" fmla="*/ 136 w 244"/>
                <a:gd name="T7" fmla="*/ 0 h 161"/>
                <a:gd name="T8" fmla="*/ 0 60000 65536"/>
                <a:gd name="T9" fmla="*/ 0 60000 65536"/>
                <a:gd name="T10" fmla="*/ 0 60000 65536"/>
                <a:gd name="T11" fmla="*/ 0 60000 65536"/>
                <a:gd name="T12" fmla="*/ 0 w 244"/>
                <a:gd name="T13" fmla="*/ 0 h 161"/>
                <a:gd name="T14" fmla="*/ 244 w 244"/>
                <a:gd name="T15" fmla="*/ 161 h 161"/>
              </a:gdLst>
              <a:ahLst/>
              <a:cxnLst>
                <a:cxn ang="T8">
                  <a:pos x="T0" y="T1"/>
                </a:cxn>
                <a:cxn ang="T9">
                  <a:pos x="T2" y="T3"/>
                </a:cxn>
                <a:cxn ang="T10">
                  <a:pos x="T4" y="T5"/>
                </a:cxn>
                <a:cxn ang="T11">
                  <a:pos x="T6" y="T7"/>
                </a:cxn>
              </a:cxnLst>
              <a:rect l="T12" t="T13" r="T14" b="T15"/>
              <a:pathLst>
                <a:path w="244" h="161">
                  <a:moveTo>
                    <a:pt x="0" y="160"/>
                  </a:moveTo>
                  <a:lnTo>
                    <a:pt x="144" y="96"/>
                  </a:lnTo>
                  <a:lnTo>
                    <a:pt x="216" y="72"/>
                  </a:lnTo>
                  <a:lnTo>
                    <a:pt x="243"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994" name="Freeform 479"/>
            <p:cNvSpPr>
              <a:spLocks/>
            </p:cNvSpPr>
            <p:nvPr/>
          </p:nvSpPr>
          <p:spPr bwMode="auto">
            <a:xfrm>
              <a:off x="2628" y="1846"/>
              <a:ext cx="201" cy="132"/>
            </a:xfrm>
            <a:custGeom>
              <a:avLst/>
              <a:gdLst>
                <a:gd name="T0" fmla="*/ 0 w 244"/>
                <a:gd name="T1" fmla="*/ 88 h 161"/>
                <a:gd name="T2" fmla="*/ 10 w 244"/>
                <a:gd name="T3" fmla="*/ 84 h 161"/>
                <a:gd name="T4" fmla="*/ 30 w 244"/>
                <a:gd name="T5" fmla="*/ 75 h 161"/>
                <a:gd name="T6" fmla="*/ 40 w 244"/>
                <a:gd name="T7" fmla="*/ 71 h 161"/>
                <a:gd name="T8" fmla="*/ 60 w 244"/>
                <a:gd name="T9" fmla="*/ 61 h 161"/>
                <a:gd name="T10" fmla="*/ 75 w 244"/>
                <a:gd name="T11" fmla="*/ 57 h 161"/>
                <a:gd name="T12" fmla="*/ 86 w 244"/>
                <a:gd name="T13" fmla="*/ 53 h 161"/>
                <a:gd name="T14" fmla="*/ 91 w 244"/>
                <a:gd name="T15" fmla="*/ 53 h 161"/>
                <a:gd name="T16" fmla="*/ 101 w 244"/>
                <a:gd name="T17" fmla="*/ 48 h 161"/>
                <a:gd name="T18" fmla="*/ 106 w 244"/>
                <a:gd name="T19" fmla="*/ 48 h 161"/>
                <a:gd name="T20" fmla="*/ 110 w 244"/>
                <a:gd name="T21" fmla="*/ 39 h 161"/>
                <a:gd name="T22" fmla="*/ 125 w 244"/>
                <a:gd name="T23" fmla="*/ 22 h 161"/>
                <a:gd name="T24" fmla="*/ 131 w 244"/>
                <a:gd name="T25" fmla="*/ 13 h 161"/>
                <a:gd name="T26" fmla="*/ 136 w 244"/>
                <a:gd name="T27" fmla="*/ 0 h 16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44"/>
                <a:gd name="T43" fmla="*/ 0 h 161"/>
                <a:gd name="T44" fmla="*/ 244 w 244"/>
                <a:gd name="T45" fmla="*/ 161 h 16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44" h="161">
                  <a:moveTo>
                    <a:pt x="0" y="160"/>
                  </a:moveTo>
                  <a:lnTo>
                    <a:pt x="18" y="152"/>
                  </a:lnTo>
                  <a:lnTo>
                    <a:pt x="54" y="136"/>
                  </a:lnTo>
                  <a:lnTo>
                    <a:pt x="72" y="128"/>
                  </a:lnTo>
                  <a:lnTo>
                    <a:pt x="108" y="112"/>
                  </a:lnTo>
                  <a:lnTo>
                    <a:pt x="135" y="104"/>
                  </a:lnTo>
                  <a:lnTo>
                    <a:pt x="153" y="96"/>
                  </a:lnTo>
                  <a:lnTo>
                    <a:pt x="162" y="96"/>
                  </a:lnTo>
                  <a:lnTo>
                    <a:pt x="180" y="88"/>
                  </a:lnTo>
                  <a:lnTo>
                    <a:pt x="189" y="88"/>
                  </a:lnTo>
                  <a:lnTo>
                    <a:pt x="198" y="72"/>
                  </a:lnTo>
                  <a:lnTo>
                    <a:pt x="225" y="40"/>
                  </a:lnTo>
                  <a:lnTo>
                    <a:pt x="234" y="24"/>
                  </a:lnTo>
                  <a:lnTo>
                    <a:pt x="243"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995" name="Freeform 480"/>
            <p:cNvSpPr>
              <a:spLocks/>
            </p:cNvSpPr>
            <p:nvPr/>
          </p:nvSpPr>
          <p:spPr bwMode="auto">
            <a:xfrm>
              <a:off x="2554" y="1879"/>
              <a:ext cx="289" cy="152"/>
            </a:xfrm>
            <a:custGeom>
              <a:avLst/>
              <a:gdLst>
                <a:gd name="T0" fmla="*/ 0 w 352"/>
                <a:gd name="T1" fmla="*/ 102 h 185"/>
                <a:gd name="T2" fmla="*/ 39 w 352"/>
                <a:gd name="T3" fmla="*/ 39 h 185"/>
                <a:gd name="T4" fmla="*/ 140 w 352"/>
                <a:gd name="T5" fmla="*/ 0 h 185"/>
                <a:gd name="T6" fmla="*/ 194 w 352"/>
                <a:gd name="T7" fmla="*/ 22 h 185"/>
                <a:gd name="T8" fmla="*/ 0 60000 65536"/>
                <a:gd name="T9" fmla="*/ 0 60000 65536"/>
                <a:gd name="T10" fmla="*/ 0 60000 65536"/>
                <a:gd name="T11" fmla="*/ 0 60000 65536"/>
                <a:gd name="T12" fmla="*/ 0 w 352"/>
                <a:gd name="T13" fmla="*/ 0 h 185"/>
                <a:gd name="T14" fmla="*/ 352 w 352"/>
                <a:gd name="T15" fmla="*/ 185 h 185"/>
              </a:gdLst>
              <a:ahLst/>
              <a:cxnLst>
                <a:cxn ang="T8">
                  <a:pos x="T0" y="T1"/>
                </a:cxn>
                <a:cxn ang="T9">
                  <a:pos x="T2" y="T3"/>
                </a:cxn>
                <a:cxn ang="T10">
                  <a:pos x="T4" y="T5"/>
                </a:cxn>
                <a:cxn ang="T11">
                  <a:pos x="T6" y="T7"/>
                </a:cxn>
              </a:cxnLst>
              <a:rect l="T12" t="T13" r="T14" b="T15"/>
              <a:pathLst>
                <a:path w="352" h="185">
                  <a:moveTo>
                    <a:pt x="0" y="184"/>
                  </a:moveTo>
                  <a:lnTo>
                    <a:pt x="72" y="72"/>
                  </a:lnTo>
                  <a:lnTo>
                    <a:pt x="252" y="0"/>
                  </a:lnTo>
                  <a:lnTo>
                    <a:pt x="351" y="4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996" name="Freeform 481"/>
            <p:cNvSpPr>
              <a:spLocks/>
            </p:cNvSpPr>
            <p:nvPr/>
          </p:nvSpPr>
          <p:spPr bwMode="auto">
            <a:xfrm>
              <a:off x="2554" y="1898"/>
              <a:ext cx="289" cy="133"/>
            </a:xfrm>
            <a:custGeom>
              <a:avLst/>
              <a:gdLst>
                <a:gd name="T0" fmla="*/ 0 w 352"/>
                <a:gd name="T1" fmla="*/ 90 h 161"/>
                <a:gd name="T2" fmla="*/ 5 w 352"/>
                <a:gd name="T3" fmla="*/ 81 h 161"/>
                <a:gd name="T4" fmla="*/ 15 w 352"/>
                <a:gd name="T5" fmla="*/ 73 h 161"/>
                <a:gd name="T6" fmla="*/ 25 w 352"/>
                <a:gd name="T7" fmla="*/ 59 h 161"/>
                <a:gd name="T8" fmla="*/ 35 w 352"/>
                <a:gd name="T9" fmla="*/ 45 h 161"/>
                <a:gd name="T10" fmla="*/ 50 w 352"/>
                <a:gd name="T11" fmla="*/ 31 h 161"/>
                <a:gd name="T12" fmla="*/ 60 w 352"/>
                <a:gd name="T13" fmla="*/ 22 h 161"/>
                <a:gd name="T14" fmla="*/ 70 w 352"/>
                <a:gd name="T15" fmla="*/ 17 h 161"/>
                <a:gd name="T16" fmla="*/ 80 w 352"/>
                <a:gd name="T17" fmla="*/ 14 h 161"/>
                <a:gd name="T18" fmla="*/ 89 w 352"/>
                <a:gd name="T19" fmla="*/ 9 h 161"/>
                <a:gd name="T20" fmla="*/ 100 w 352"/>
                <a:gd name="T21" fmla="*/ 5 h 161"/>
                <a:gd name="T22" fmla="*/ 110 w 352"/>
                <a:gd name="T23" fmla="*/ 0 h 161"/>
                <a:gd name="T24" fmla="*/ 119 w 352"/>
                <a:gd name="T25" fmla="*/ 0 h 161"/>
                <a:gd name="T26" fmla="*/ 130 w 352"/>
                <a:gd name="T27" fmla="*/ 0 h 161"/>
                <a:gd name="T28" fmla="*/ 145 w 352"/>
                <a:gd name="T29" fmla="*/ 0 h 161"/>
                <a:gd name="T30" fmla="*/ 164 w 352"/>
                <a:gd name="T31" fmla="*/ 0 h 161"/>
                <a:gd name="T32" fmla="*/ 169 w 352"/>
                <a:gd name="T33" fmla="*/ 0 h 161"/>
                <a:gd name="T34" fmla="*/ 184 w 352"/>
                <a:gd name="T35" fmla="*/ 5 h 161"/>
                <a:gd name="T36" fmla="*/ 194 w 352"/>
                <a:gd name="T37" fmla="*/ 9 h 16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52"/>
                <a:gd name="T58" fmla="*/ 0 h 161"/>
                <a:gd name="T59" fmla="*/ 352 w 352"/>
                <a:gd name="T60" fmla="*/ 161 h 16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52" h="161">
                  <a:moveTo>
                    <a:pt x="0" y="160"/>
                  </a:moveTo>
                  <a:lnTo>
                    <a:pt x="9" y="144"/>
                  </a:lnTo>
                  <a:lnTo>
                    <a:pt x="27" y="128"/>
                  </a:lnTo>
                  <a:lnTo>
                    <a:pt x="45" y="104"/>
                  </a:lnTo>
                  <a:lnTo>
                    <a:pt x="63" y="80"/>
                  </a:lnTo>
                  <a:lnTo>
                    <a:pt x="90" y="56"/>
                  </a:lnTo>
                  <a:lnTo>
                    <a:pt x="108" y="40"/>
                  </a:lnTo>
                  <a:lnTo>
                    <a:pt x="126" y="32"/>
                  </a:lnTo>
                  <a:lnTo>
                    <a:pt x="144" y="24"/>
                  </a:lnTo>
                  <a:lnTo>
                    <a:pt x="162" y="16"/>
                  </a:lnTo>
                  <a:lnTo>
                    <a:pt x="180" y="8"/>
                  </a:lnTo>
                  <a:lnTo>
                    <a:pt x="198" y="0"/>
                  </a:lnTo>
                  <a:lnTo>
                    <a:pt x="216" y="0"/>
                  </a:lnTo>
                  <a:lnTo>
                    <a:pt x="234" y="0"/>
                  </a:lnTo>
                  <a:lnTo>
                    <a:pt x="261" y="0"/>
                  </a:lnTo>
                  <a:lnTo>
                    <a:pt x="297" y="0"/>
                  </a:lnTo>
                  <a:lnTo>
                    <a:pt x="306" y="0"/>
                  </a:lnTo>
                  <a:lnTo>
                    <a:pt x="333" y="8"/>
                  </a:lnTo>
                  <a:lnTo>
                    <a:pt x="351" y="16"/>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997" name="Freeform 482"/>
            <p:cNvSpPr>
              <a:spLocks/>
            </p:cNvSpPr>
            <p:nvPr/>
          </p:nvSpPr>
          <p:spPr bwMode="auto">
            <a:xfrm>
              <a:off x="2606" y="1846"/>
              <a:ext cx="156" cy="40"/>
            </a:xfrm>
            <a:custGeom>
              <a:avLst/>
              <a:gdLst>
                <a:gd name="T0" fmla="*/ 0 w 190"/>
                <a:gd name="T1" fmla="*/ 26 h 49"/>
                <a:gd name="T2" fmla="*/ 94 w 190"/>
                <a:gd name="T3" fmla="*/ 17 h 49"/>
                <a:gd name="T4" fmla="*/ 104 w 190"/>
                <a:gd name="T5" fmla="*/ 0 h 49"/>
                <a:gd name="T6" fmla="*/ 0 60000 65536"/>
                <a:gd name="T7" fmla="*/ 0 60000 65536"/>
                <a:gd name="T8" fmla="*/ 0 60000 65536"/>
                <a:gd name="T9" fmla="*/ 0 w 190"/>
                <a:gd name="T10" fmla="*/ 0 h 49"/>
                <a:gd name="T11" fmla="*/ 190 w 190"/>
                <a:gd name="T12" fmla="*/ 49 h 49"/>
              </a:gdLst>
              <a:ahLst/>
              <a:cxnLst>
                <a:cxn ang="T6">
                  <a:pos x="T0" y="T1"/>
                </a:cxn>
                <a:cxn ang="T7">
                  <a:pos x="T2" y="T3"/>
                </a:cxn>
                <a:cxn ang="T8">
                  <a:pos x="T4" y="T5"/>
                </a:cxn>
              </a:cxnLst>
              <a:rect l="T9" t="T10" r="T11" b="T12"/>
              <a:pathLst>
                <a:path w="190" h="49">
                  <a:moveTo>
                    <a:pt x="0" y="48"/>
                  </a:moveTo>
                  <a:lnTo>
                    <a:pt x="171" y="32"/>
                  </a:lnTo>
                  <a:lnTo>
                    <a:pt x="18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998" name="Freeform 483"/>
            <p:cNvSpPr>
              <a:spLocks/>
            </p:cNvSpPr>
            <p:nvPr/>
          </p:nvSpPr>
          <p:spPr bwMode="auto">
            <a:xfrm>
              <a:off x="2606" y="1846"/>
              <a:ext cx="156" cy="40"/>
            </a:xfrm>
            <a:custGeom>
              <a:avLst/>
              <a:gdLst>
                <a:gd name="T0" fmla="*/ 0 w 190"/>
                <a:gd name="T1" fmla="*/ 26 h 49"/>
                <a:gd name="T2" fmla="*/ 10 w 190"/>
                <a:gd name="T3" fmla="*/ 26 h 49"/>
                <a:gd name="T4" fmla="*/ 35 w 190"/>
                <a:gd name="T5" fmla="*/ 22 h 49"/>
                <a:gd name="T6" fmla="*/ 50 w 190"/>
                <a:gd name="T7" fmla="*/ 22 h 49"/>
                <a:gd name="T8" fmla="*/ 65 w 190"/>
                <a:gd name="T9" fmla="*/ 17 h 49"/>
                <a:gd name="T10" fmla="*/ 85 w 190"/>
                <a:gd name="T11" fmla="*/ 13 h 49"/>
                <a:gd name="T12" fmla="*/ 94 w 190"/>
                <a:gd name="T13" fmla="*/ 9 h 49"/>
                <a:gd name="T14" fmla="*/ 100 w 190"/>
                <a:gd name="T15" fmla="*/ 5 h 49"/>
                <a:gd name="T16" fmla="*/ 104 w 19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0"/>
                <a:gd name="T28" fmla="*/ 0 h 49"/>
                <a:gd name="T29" fmla="*/ 190 w 190"/>
                <a:gd name="T30" fmla="*/ 49 h 4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0" h="49">
                  <a:moveTo>
                    <a:pt x="0" y="48"/>
                  </a:moveTo>
                  <a:lnTo>
                    <a:pt x="18" y="48"/>
                  </a:lnTo>
                  <a:lnTo>
                    <a:pt x="63" y="40"/>
                  </a:lnTo>
                  <a:lnTo>
                    <a:pt x="90" y="40"/>
                  </a:lnTo>
                  <a:lnTo>
                    <a:pt x="117" y="32"/>
                  </a:lnTo>
                  <a:lnTo>
                    <a:pt x="153" y="24"/>
                  </a:lnTo>
                  <a:lnTo>
                    <a:pt x="171" y="16"/>
                  </a:lnTo>
                  <a:lnTo>
                    <a:pt x="180" y="8"/>
                  </a:lnTo>
                  <a:lnTo>
                    <a:pt x="18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39999" name="Freeform 484"/>
            <p:cNvSpPr>
              <a:spLocks/>
            </p:cNvSpPr>
            <p:nvPr/>
          </p:nvSpPr>
          <p:spPr bwMode="auto">
            <a:xfrm>
              <a:off x="2791" y="1846"/>
              <a:ext cx="82" cy="165"/>
            </a:xfrm>
            <a:custGeom>
              <a:avLst/>
              <a:gdLst>
                <a:gd name="T0" fmla="*/ 54 w 100"/>
                <a:gd name="T1" fmla="*/ 111 h 201"/>
                <a:gd name="T2" fmla="*/ 39 w 100"/>
                <a:gd name="T3" fmla="*/ 97 h 201"/>
                <a:gd name="T4" fmla="*/ 0 w 100"/>
                <a:gd name="T5" fmla="*/ 9 h 201"/>
                <a:gd name="T6" fmla="*/ 0 w 100"/>
                <a:gd name="T7" fmla="*/ 0 h 201"/>
                <a:gd name="T8" fmla="*/ 0 60000 65536"/>
                <a:gd name="T9" fmla="*/ 0 60000 65536"/>
                <a:gd name="T10" fmla="*/ 0 60000 65536"/>
                <a:gd name="T11" fmla="*/ 0 60000 65536"/>
                <a:gd name="T12" fmla="*/ 0 w 100"/>
                <a:gd name="T13" fmla="*/ 0 h 201"/>
                <a:gd name="T14" fmla="*/ 100 w 100"/>
                <a:gd name="T15" fmla="*/ 201 h 201"/>
              </a:gdLst>
              <a:ahLst/>
              <a:cxnLst>
                <a:cxn ang="T8">
                  <a:pos x="T0" y="T1"/>
                </a:cxn>
                <a:cxn ang="T9">
                  <a:pos x="T2" y="T3"/>
                </a:cxn>
                <a:cxn ang="T10">
                  <a:pos x="T4" y="T5"/>
                </a:cxn>
                <a:cxn ang="T11">
                  <a:pos x="T6" y="T7"/>
                </a:cxn>
              </a:cxnLst>
              <a:rect l="T12" t="T13" r="T14" b="T15"/>
              <a:pathLst>
                <a:path w="100" h="201">
                  <a:moveTo>
                    <a:pt x="99" y="200"/>
                  </a:moveTo>
                  <a:lnTo>
                    <a:pt x="72" y="176"/>
                  </a:lnTo>
                  <a:lnTo>
                    <a:pt x="0" y="16"/>
                  </a:lnTo>
                  <a:lnTo>
                    <a:pt x="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000" name="Freeform 485"/>
            <p:cNvSpPr>
              <a:spLocks/>
            </p:cNvSpPr>
            <p:nvPr/>
          </p:nvSpPr>
          <p:spPr bwMode="auto">
            <a:xfrm>
              <a:off x="2791" y="1846"/>
              <a:ext cx="82" cy="165"/>
            </a:xfrm>
            <a:custGeom>
              <a:avLst/>
              <a:gdLst>
                <a:gd name="T0" fmla="*/ 54 w 100"/>
                <a:gd name="T1" fmla="*/ 111 h 201"/>
                <a:gd name="T2" fmla="*/ 50 w 100"/>
                <a:gd name="T3" fmla="*/ 107 h 201"/>
                <a:gd name="T4" fmla="*/ 44 w 100"/>
                <a:gd name="T5" fmla="*/ 97 h 201"/>
                <a:gd name="T6" fmla="*/ 35 w 100"/>
                <a:gd name="T7" fmla="*/ 85 h 201"/>
                <a:gd name="T8" fmla="*/ 25 w 100"/>
                <a:gd name="T9" fmla="*/ 66 h 201"/>
                <a:gd name="T10" fmla="*/ 21 w 100"/>
                <a:gd name="T11" fmla="*/ 53 h 201"/>
                <a:gd name="T12" fmla="*/ 15 w 100"/>
                <a:gd name="T13" fmla="*/ 44 h 201"/>
                <a:gd name="T14" fmla="*/ 10 w 100"/>
                <a:gd name="T15" fmla="*/ 26 h 201"/>
                <a:gd name="T16" fmla="*/ 5 w 100"/>
                <a:gd name="T17" fmla="*/ 13 h 201"/>
                <a:gd name="T18" fmla="*/ 0 w 100"/>
                <a:gd name="T19" fmla="*/ 5 h 201"/>
                <a:gd name="T20" fmla="*/ 0 w 100"/>
                <a:gd name="T21" fmla="*/ 0 h 20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0"/>
                <a:gd name="T34" fmla="*/ 0 h 201"/>
                <a:gd name="T35" fmla="*/ 100 w 100"/>
                <a:gd name="T36" fmla="*/ 201 h 20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0" h="201">
                  <a:moveTo>
                    <a:pt x="99" y="200"/>
                  </a:moveTo>
                  <a:lnTo>
                    <a:pt x="90" y="192"/>
                  </a:lnTo>
                  <a:lnTo>
                    <a:pt x="81" y="176"/>
                  </a:lnTo>
                  <a:lnTo>
                    <a:pt x="63" y="152"/>
                  </a:lnTo>
                  <a:lnTo>
                    <a:pt x="45" y="120"/>
                  </a:lnTo>
                  <a:lnTo>
                    <a:pt x="36" y="96"/>
                  </a:lnTo>
                  <a:lnTo>
                    <a:pt x="27" y="80"/>
                  </a:lnTo>
                  <a:lnTo>
                    <a:pt x="18" y="48"/>
                  </a:lnTo>
                  <a:lnTo>
                    <a:pt x="9" y="24"/>
                  </a:lnTo>
                  <a:lnTo>
                    <a:pt x="0" y="8"/>
                  </a:lnTo>
                  <a:lnTo>
                    <a:pt x="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001" name="Freeform 486"/>
            <p:cNvSpPr>
              <a:spLocks/>
            </p:cNvSpPr>
            <p:nvPr/>
          </p:nvSpPr>
          <p:spPr bwMode="auto">
            <a:xfrm>
              <a:off x="2540" y="1688"/>
              <a:ext cx="119" cy="218"/>
            </a:xfrm>
            <a:custGeom>
              <a:avLst/>
              <a:gdLst>
                <a:gd name="T0" fmla="*/ 0 w 145"/>
                <a:gd name="T1" fmla="*/ 147 h 265"/>
                <a:gd name="T2" fmla="*/ 60 w 145"/>
                <a:gd name="T3" fmla="*/ 71 h 265"/>
                <a:gd name="T4" fmla="*/ 75 w 145"/>
                <a:gd name="T5" fmla="*/ 13 h 265"/>
                <a:gd name="T6" fmla="*/ 80 w 145"/>
                <a:gd name="T7" fmla="*/ 0 h 265"/>
                <a:gd name="T8" fmla="*/ 0 60000 65536"/>
                <a:gd name="T9" fmla="*/ 0 60000 65536"/>
                <a:gd name="T10" fmla="*/ 0 60000 65536"/>
                <a:gd name="T11" fmla="*/ 0 60000 65536"/>
                <a:gd name="T12" fmla="*/ 0 w 145"/>
                <a:gd name="T13" fmla="*/ 0 h 265"/>
                <a:gd name="T14" fmla="*/ 145 w 145"/>
                <a:gd name="T15" fmla="*/ 265 h 265"/>
              </a:gdLst>
              <a:ahLst/>
              <a:cxnLst>
                <a:cxn ang="T8">
                  <a:pos x="T0" y="T1"/>
                </a:cxn>
                <a:cxn ang="T9">
                  <a:pos x="T2" y="T3"/>
                </a:cxn>
                <a:cxn ang="T10">
                  <a:pos x="T4" y="T5"/>
                </a:cxn>
                <a:cxn ang="T11">
                  <a:pos x="T6" y="T7"/>
                </a:cxn>
              </a:cxnLst>
              <a:rect l="T12" t="T13" r="T14" b="T15"/>
              <a:pathLst>
                <a:path w="145" h="265">
                  <a:moveTo>
                    <a:pt x="0" y="264"/>
                  </a:moveTo>
                  <a:lnTo>
                    <a:pt x="108" y="128"/>
                  </a:lnTo>
                  <a:lnTo>
                    <a:pt x="135" y="24"/>
                  </a:lnTo>
                  <a:lnTo>
                    <a:pt x="144"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002" name="Freeform 487"/>
            <p:cNvSpPr>
              <a:spLocks/>
            </p:cNvSpPr>
            <p:nvPr/>
          </p:nvSpPr>
          <p:spPr bwMode="auto">
            <a:xfrm>
              <a:off x="2540" y="1688"/>
              <a:ext cx="119" cy="218"/>
            </a:xfrm>
            <a:custGeom>
              <a:avLst/>
              <a:gdLst>
                <a:gd name="T0" fmla="*/ 0 w 145"/>
                <a:gd name="T1" fmla="*/ 147 h 265"/>
                <a:gd name="T2" fmla="*/ 10 w 145"/>
                <a:gd name="T3" fmla="*/ 133 h 265"/>
                <a:gd name="T4" fmla="*/ 21 w 145"/>
                <a:gd name="T5" fmla="*/ 120 h 265"/>
                <a:gd name="T6" fmla="*/ 35 w 145"/>
                <a:gd name="T7" fmla="*/ 102 h 265"/>
                <a:gd name="T8" fmla="*/ 44 w 145"/>
                <a:gd name="T9" fmla="*/ 90 h 265"/>
                <a:gd name="T10" fmla="*/ 50 w 145"/>
                <a:gd name="T11" fmla="*/ 76 h 265"/>
                <a:gd name="T12" fmla="*/ 60 w 145"/>
                <a:gd name="T13" fmla="*/ 63 h 265"/>
                <a:gd name="T14" fmla="*/ 65 w 145"/>
                <a:gd name="T15" fmla="*/ 49 h 265"/>
                <a:gd name="T16" fmla="*/ 70 w 145"/>
                <a:gd name="T17" fmla="*/ 40 h 265"/>
                <a:gd name="T18" fmla="*/ 70 w 145"/>
                <a:gd name="T19" fmla="*/ 36 h 265"/>
                <a:gd name="T20" fmla="*/ 75 w 145"/>
                <a:gd name="T21" fmla="*/ 17 h 265"/>
                <a:gd name="T22" fmla="*/ 75 w 145"/>
                <a:gd name="T23" fmla="*/ 13 h 265"/>
                <a:gd name="T24" fmla="*/ 80 w 145"/>
                <a:gd name="T25" fmla="*/ 0 h 26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5"/>
                <a:gd name="T40" fmla="*/ 0 h 265"/>
                <a:gd name="T41" fmla="*/ 145 w 145"/>
                <a:gd name="T42" fmla="*/ 265 h 26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5" h="265">
                  <a:moveTo>
                    <a:pt x="0" y="264"/>
                  </a:moveTo>
                  <a:lnTo>
                    <a:pt x="18" y="240"/>
                  </a:lnTo>
                  <a:lnTo>
                    <a:pt x="36" y="216"/>
                  </a:lnTo>
                  <a:lnTo>
                    <a:pt x="63" y="184"/>
                  </a:lnTo>
                  <a:lnTo>
                    <a:pt x="81" y="160"/>
                  </a:lnTo>
                  <a:lnTo>
                    <a:pt x="90" y="136"/>
                  </a:lnTo>
                  <a:lnTo>
                    <a:pt x="108" y="112"/>
                  </a:lnTo>
                  <a:lnTo>
                    <a:pt x="117" y="88"/>
                  </a:lnTo>
                  <a:lnTo>
                    <a:pt x="126" y="72"/>
                  </a:lnTo>
                  <a:lnTo>
                    <a:pt x="126" y="64"/>
                  </a:lnTo>
                  <a:lnTo>
                    <a:pt x="135" y="32"/>
                  </a:lnTo>
                  <a:lnTo>
                    <a:pt x="135" y="24"/>
                  </a:lnTo>
                  <a:lnTo>
                    <a:pt x="144"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003" name="Arc 488"/>
            <p:cNvSpPr>
              <a:spLocks/>
            </p:cNvSpPr>
            <p:nvPr/>
          </p:nvSpPr>
          <p:spPr bwMode="auto">
            <a:xfrm>
              <a:off x="2418" y="1797"/>
              <a:ext cx="97" cy="86"/>
            </a:xfrm>
            <a:custGeom>
              <a:avLst/>
              <a:gdLst>
                <a:gd name="T0" fmla="*/ 0 w 21783"/>
                <a:gd name="T1" fmla="*/ 0 h 21600"/>
                <a:gd name="T2" fmla="*/ 0 w 21783"/>
                <a:gd name="T3" fmla="*/ 0 h 21600"/>
                <a:gd name="T4" fmla="*/ 0 w 21783"/>
                <a:gd name="T5" fmla="*/ 0 h 21600"/>
                <a:gd name="T6" fmla="*/ 0 60000 65536"/>
                <a:gd name="T7" fmla="*/ 0 60000 65536"/>
                <a:gd name="T8" fmla="*/ 0 60000 65536"/>
                <a:gd name="T9" fmla="*/ 0 w 21783"/>
                <a:gd name="T10" fmla="*/ 0 h 21600"/>
                <a:gd name="T11" fmla="*/ 21783 w 21783"/>
                <a:gd name="T12" fmla="*/ 21600 h 21600"/>
              </a:gdLst>
              <a:ahLst/>
              <a:cxnLst>
                <a:cxn ang="T6">
                  <a:pos x="T0" y="T1"/>
                </a:cxn>
                <a:cxn ang="T7">
                  <a:pos x="T2" y="T3"/>
                </a:cxn>
                <a:cxn ang="T8">
                  <a:pos x="T4" y="T5"/>
                </a:cxn>
              </a:cxnLst>
              <a:rect l="T9" t="T10" r="T11" b="T12"/>
              <a:pathLst>
                <a:path w="21783" h="21600" fill="none" extrusionOk="0">
                  <a:moveTo>
                    <a:pt x="-1" y="0"/>
                  </a:moveTo>
                  <a:cubicBezTo>
                    <a:pt x="60" y="0"/>
                    <a:pt x="121" y="-1"/>
                    <a:pt x="183" y="0"/>
                  </a:cubicBezTo>
                  <a:cubicBezTo>
                    <a:pt x="12112" y="0"/>
                    <a:pt x="21783" y="9670"/>
                    <a:pt x="21783" y="21600"/>
                  </a:cubicBezTo>
                </a:path>
                <a:path w="21783" h="21600" stroke="0" extrusionOk="0">
                  <a:moveTo>
                    <a:pt x="-1" y="0"/>
                  </a:moveTo>
                  <a:cubicBezTo>
                    <a:pt x="60" y="0"/>
                    <a:pt x="121" y="-1"/>
                    <a:pt x="183" y="0"/>
                  </a:cubicBezTo>
                  <a:cubicBezTo>
                    <a:pt x="12112" y="0"/>
                    <a:pt x="21783" y="9670"/>
                    <a:pt x="21783" y="21600"/>
                  </a:cubicBezTo>
                  <a:lnTo>
                    <a:pt x="183" y="21600"/>
                  </a:lnTo>
                  <a:close/>
                </a:path>
              </a:pathLst>
            </a:custGeom>
            <a:noFill/>
            <a:ln w="12700" cap="rnd">
              <a:solidFill>
                <a:srgbClr val="009900"/>
              </a:solidFill>
              <a:round/>
              <a:headEnd/>
              <a:tailEnd/>
            </a:ln>
          </p:spPr>
          <p:txBody>
            <a:bodyPr wrap="none" anchor="ctr"/>
            <a:lstStyle/>
            <a:p>
              <a:endParaRPr lang="en-US"/>
            </a:p>
          </p:txBody>
        </p:sp>
        <p:sp>
          <p:nvSpPr>
            <p:cNvPr id="40004" name="Freeform 489"/>
            <p:cNvSpPr>
              <a:spLocks/>
            </p:cNvSpPr>
            <p:nvPr/>
          </p:nvSpPr>
          <p:spPr bwMode="auto">
            <a:xfrm>
              <a:off x="2007" y="2030"/>
              <a:ext cx="216" cy="66"/>
            </a:xfrm>
            <a:custGeom>
              <a:avLst/>
              <a:gdLst>
                <a:gd name="T0" fmla="*/ 0 w 262"/>
                <a:gd name="T1" fmla="*/ 0 h 81"/>
                <a:gd name="T2" fmla="*/ 86 w 262"/>
                <a:gd name="T3" fmla="*/ 43 h 81"/>
                <a:gd name="T4" fmla="*/ 146 w 262"/>
                <a:gd name="T5" fmla="*/ 5 h 81"/>
                <a:gd name="T6" fmla="*/ 96 w 262"/>
                <a:gd name="T7" fmla="*/ 5 h 81"/>
                <a:gd name="T8" fmla="*/ 76 w 262"/>
                <a:gd name="T9" fmla="*/ 34 h 81"/>
                <a:gd name="T10" fmla="*/ 0 60000 65536"/>
                <a:gd name="T11" fmla="*/ 0 60000 65536"/>
                <a:gd name="T12" fmla="*/ 0 60000 65536"/>
                <a:gd name="T13" fmla="*/ 0 60000 65536"/>
                <a:gd name="T14" fmla="*/ 0 60000 65536"/>
                <a:gd name="T15" fmla="*/ 0 w 262"/>
                <a:gd name="T16" fmla="*/ 0 h 81"/>
                <a:gd name="T17" fmla="*/ 262 w 262"/>
                <a:gd name="T18" fmla="*/ 81 h 81"/>
              </a:gdLst>
              <a:ahLst/>
              <a:cxnLst>
                <a:cxn ang="T10">
                  <a:pos x="T0" y="T1"/>
                </a:cxn>
                <a:cxn ang="T11">
                  <a:pos x="T2" y="T3"/>
                </a:cxn>
                <a:cxn ang="T12">
                  <a:pos x="T4" y="T5"/>
                </a:cxn>
                <a:cxn ang="T13">
                  <a:pos x="T6" y="T7"/>
                </a:cxn>
                <a:cxn ang="T14">
                  <a:pos x="T8" y="T9"/>
                </a:cxn>
              </a:cxnLst>
              <a:rect l="T15" t="T16" r="T17" b="T18"/>
              <a:pathLst>
                <a:path w="262" h="81">
                  <a:moveTo>
                    <a:pt x="0" y="0"/>
                  </a:moveTo>
                  <a:lnTo>
                    <a:pt x="153" y="80"/>
                  </a:lnTo>
                  <a:lnTo>
                    <a:pt x="261" y="8"/>
                  </a:lnTo>
                  <a:lnTo>
                    <a:pt x="171" y="8"/>
                  </a:lnTo>
                  <a:lnTo>
                    <a:pt x="135" y="64"/>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005" name="Freeform 490"/>
            <p:cNvSpPr>
              <a:spLocks/>
            </p:cNvSpPr>
            <p:nvPr/>
          </p:nvSpPr>
          <p:spPr bwMode="auto">
            <a:xfrm>
              <a:off x="2007" y="2030"/>
              <a:ext cx="193" cy="53"/>
            </a:xfrm>
            <a:custGeom>
              <a:avLst/>
              <a:gdLst>
                <a:gd name="T0" fmla="*/ 0 w 235"/>
                <a:gd name="T1" fmla="*/ 0 h 65"/>
                <a:gd name="T2" fmla="*/ 10 w 235"/>
                <a:gd name="T3" fmla="*/ 5 h 65"/>
                <a:gd name="T4" fmla="*/ 30 w 235"/>
                <a:gd name="T5" fmla="*/ 13 h 65"/>
                <a:gd name="T6" fmla="*/ 50 w 235"/>
                <a:gd name="T7" fmla="*/ 22 h 65"/>
                <a:gd name="T8" fmla="*/ 60 w 235"/>
                <a:gd name="T9" fmla="*/ 26 h 65"/>
                <a:gd name="T10" fmla="*/ 80 w 235"/>
                <a:gd name="T11" fmla="*/ 31 h 65"/>
                <a:gd name="T12" fmla="*/ 90 w 235"/>
                <a:gd name="T13" fmla="*/ 31 h 65"/>
                <a:gd name="T14" fmla="*/ 104 w 235"/>
                <a:gd name="T15" fmla="*/ 31 h 65"/>
                <a:gd name="T16" fmla="*/ 110 w 235"/>
                <a:gd name="T17" fmla="*/ 31 h 65"/>
                <a:gd name="T18" fmla="*/ 115 w 235"/>
                <a:gd name="T19" fmla="*/ 26 h 65"/>
                <a:gd name="T20" fmla="*/ 119 w 235"/>
                <a:gd name="T21" fmla="*/ 22 h 65"/>
                <a:gd name="T22" fmla="*/ 125 w 235"/>
                <a:gd name="T23" fmla="*/ 17 h 65"/>
                <a:gd name="T24" fmla="*/ 130 w 235"/>
                <a:gd name="T25" fmla="*/ 13 h 65"/>
                <a:gd name="T26" fmla="*/ 130 w 235"/>
                <a:gd name="T27" fmla="*/ 9 h 65"/>
                <a:gd name="T28" fmla="*/ 130 w 235"/>
                <a:gd name="T29" fmla="*/ 5 h 65"/>
                <a:gd name="T30" fmla="*/ 125 w 235"/>
                <a:gd name="T31" fmla="*/ 5 h 65"/>
                <a:gd name="T32" fmla="*/ 119 w 235"/>
                <a:gd name="T33" fmla="*/ 5 h 65"/>
                <a:gd name="T34" fmla="*/ 115 w 235"/>
                <a:gd name="T35" fmla="*/ 5 h 65"/>
                <a:gd name="T36" fmla="*/ 100 w 235"/>
                <a:gd name="T37" fmla="*/ 9 h 65"/>
                <a:gd name="T38" fmla="*/ 90 w 235"/>
                <a:gd name="T39" fmla="*/ 17 h 65"/>
                <a:gd name="T40" fmla="*/ 80 w 235"/>
                <a:gd name="T41" fmla="*/ 26 h 65"/>
                <a:gd name="T42" fmla="*/ 75 w 235"/>
                <a:gd name="T43" fmla="*/ 34 h 65"/>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35"/>
                <a:gd name="T67" fmla="*/ 0 h 65"/>
                <a:gd name="T68" fmla="*/ 235 w 235"/>
                <a:gd name="T69" fmla="*/ 65 h 65"/>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35" h="65">
                  <a:moveTo>
                    <a:pt x="0" y="0"/>
                  </a:moveTo>
                  <a:lnTo>
                    <a:pt x="18" y="8"/>
                  </a:lnTo>
                  <a:lnTo>
                    <a:pt x="54" y="24"/>
                  </a:lnTo>
                  <a:lnTo>
                    <a:pt x="90" y="40"/>
                  </a:lnTo>
                  <a:lnTo>
                    <a:pt x="108" y="48"/>
                  </a:lnTo>
                  <a:lnTo>
                    <a:pt x="144" y="56"/>
                  </a:lnTo>
                  <a:lnTo>
                    <a:pt x="162" y="56"/>
                  </a:lnTo>
                  <a:lnTo>
                    <a:pt x="189" y="56"/>
                  </a:lnTo>
                  <a:lnTo>
                    <a:pt x="198" y="56"/>
                  </a:lnTo>
                  <a:lnTo>
                    <a:pt x="207" y="48"/>
                  </a:lnTo>
                  <a:lnTo>
                    <a:pt x="216" y="40"/>
                  </a:lnTo>
                  <a:lnTo>
                    <a:pt x="225" y="32"/>
                  </a:lnTo>
                  <a:lnTo>
                    <a:pt x="234" y="24"/>
                  </a:lnTo>
                  <a:lnTo>
                    <a:pt x="234" y="16"/>
                  </a:lnTo>
                  <a:lnTo>
                    <a:pt x="234" y="8"/>
                  </a:lnTo>
                  <a:lnTo>
                    <a:pt x="225" y="8"/>
                  </a:lnTo>
                  <a:lnTo>
                    <a:pt x="216" y="8"/>
                  </a:lnTo>
                  <a:lnTo>
                    <a:pt x="207" y="8"/>
                  </a:lnTo>
                  <a:lnTo>
                    <a:pt x="180" y="16"/>
                  </a:lnTo>
                  <a:lnTo>
                    <a:pt x="162" y="32"/>
                  </a:lnTo>
                  <a:lnTo>
                    <a:pt x="144" y="48"/>
                  </a:lnTo>
                  <a:lnTo>
                    <a:pt x="135" y="64"/>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006" name="Freeform 491"/>
            <p:cNvSpPr>
              <a:spLocks/>
            </p:cNvSpPr>
            <p:nvPr/>
          </p:nvSpPr>
          <p:spPr bwMode="auto">
            <a:xfrm>
              <a:off x="2724" y="1669"/>
              <a:ext cx="201" cy="138"/>
            </a:xfrm>
            <a:custGeom>
              <a:avLst/>
              <a:gdLst>
                <a:gd name="T0" fmla="*/ 0 w 244"/>
                <a:gd name="T1" fmla="*/ 91 h 169"/>
                <a:gd name="T2" fmla="*/ 86 w 244"/>
                <a:gd name="T3" fmla="*/ 52 h 169"/>
                <a:gd name="T4" fmla="*/ 121 w 244"/>
                <a:gd name="T5" fmla="*/ 39 h 169"/>
                <a:gd name="T6" fmla="*/ 136 w 244"/>
                <a:gd name="T7" fmla="*/ 0 h 169"/>
                <a:gd name="T8" fmla="*/ 0 60000 65536"/>
                <a:gd name="T9" fmla="*/ 0 60000 65536"/>
                <a:gd name="T10" fmla="*/ 0 60000 65536"/>
                <a:gd name="T11" fmla="*/ 0 60000 65536"/>
                <a:gd name="T12" fmla="*/ 0 w 244"/>
                <a:gd name="T13" fmla="*/ 0 h 169"/>
                <a:gd name="T14" fmla="*/ 244 w 244"/>
                <a:gd name="T15" fmla="*/ 169 h 169"/>
              </a:gdLst>
              <a:ahLst/>
              <a:cxnLst>
                <a:cxn ang="T8">
                  <a:pos x="T0" y="T1"/>
                </a:cxn>
                <a:cxn ang="T9">
                  <a:pos x="T2" y="T3"/>
                </a:cxn>
                <a:cxn ang="T10">
                  <a:pos x="T4" y="T5"/>
                </a:cxn>
                <a:cxn ang="T11">
                  <a:pos x="T6" y="T7"/>
                </a:cxn>
              </a:cxnLst>
              <a:rect l="T12" t="T13" r="T14" b="T15"/>
              <a:pathLst>
                <a:path w="244" h="169">
                  <a:moveTo>
                    <a:pt x="0" y="168"/>
                  </a:moveTo>
                  <a:lnTo>
                    <a:pt x="153" y="96"/>
                  </a:lnTo>
                  <a:lnTo>
                    <a:pt x="216" y="72"/>
                  </a:lnTo>
                  <a:lnTo>
                    <a:pt x="243"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007" name="Freeform 492"/>
            <p:cNvSpPr>
              <a:spLocks/>
            </p:cNvSpPr>
            <p:nvPr/>
          </p:nvSpPr>
          <p:spPr bwMode="auto">
            <a:xfrm>
              <a:off x="2724" y="1669"/>
              <a:ext cx="201" cy="138"/>
            </a:xfrm>
            <a:custGeom>
              <a:avLst/>
              <a:gdLst>
                <a:gd name="T0" fmla="*/ 0 w 244"/>
                <a:gd name="T1" fmla="*/ 91 h 169"/>
                <a:gd name="T2" fmla="*/ 10 w 244"/>
                <a:gd name="T3" fmla="*/ 87 h 169"/>
                <a:gd name="T4" fmla="*/ 25 w 244"/>
                <a:gd name="T5" fmla="*/ 78 h 169"/>
                <a:gd name="T6" fmla="*/ 50 w 244"/>
                <a:gd name="T7" fmla="*/ 70 h 169"/>
                <a:gd name="T8" fmla="*/ 60 w 244"/>
                <a:gd name="T9" fmla="*/ 65 h 169"/>
                <a:gd name="T10" fmla="*/ 75 w 244"/>
                <a:gd name="T11" fmla="*/ 56 h 169"/>
                <a:gd name="T12" fmla="*/ 86 w 244"/>
                <a:gd name="T13" fmla="*/ 52 h 169"/>
                <a:gd name="T14" fmla="*/ 91 w 244"/>
                <a:gd name="T15" fmla="*/ 52 h 169"/>
                <a:gd name="T16" fmla="*/ 101 w 244"/>
                <a:gd name="T17" fmla="*/ 48 h 169"/>
                <a:gd name="T18" fmla="*/ 106 w 244"/>
                <a:gd name="T19" fmla="*/ 48 h 169"/>
                <a:gd name="T20" fmla="*/ 110 w 244"/>
                <a:gd name="T21" fmla="*/ 39 h 169"/>
                <a:gd name="T22" fmla="*/ 125 w 244"/>
                <a:gd name="T23" fmla="*/ 22 h 169"/>
                <a:gd name="T24" fmla="*/ 131 w 244"/>
                <a:gd name="T25" fmla="*/ 13 h 169"/>
                <a:gd name="T26" fmla="*/ 136 w 244"/>
                <a:gd name="T27" fmla="*/ 0 h 16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44"/>
                <a:gd name="T43" fmla="*/ 0 h 169"/>
                <a:gd name="T44" fmla="*/ 244 w 244"/>
                <a:gd name="T45" fmla="*/ 169 h 16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44" h="169">
                  <a:moveTo>
                    <a:pt x="0" y="168"/>
                  </a:moveTo>
                  <a:lnTo>
                    <a:pt x="18" y="160"/>
                  </a:lnTo>
                  <a:lnTo>
                    <a:pt x="45" y="144"/>
                  </a:lnTo>
                  <a:lnTo>
                    <a:pt x="90" y="128"/>
                  </a:lnTo>
                  <a:lnTo>
                    <a:pt x="108" y="120"/>
                  </a:lnTo>
                  <a:lnTo>
                    <a:pt x="135" y="104"/>
                  </a:lnTo>
                  <a:lnTo>
                    <a:pt x="153" y="96"/>
                  </a:lnTo>
                  <a:lnTo>
                    <a:pt x="162" y="96"/>
                  </a:lnTo>
                  <a:lnTo>
                    <a:pt x="180" y="88"/>
                  </a:lnTo>
                  <a:lnTo>
                    <a:pt x="189" y="88"/>
                  </a:lnTo>
                  <a:lnTo>
                    <a:pt x="198" y="72"/>
                  </a:lnTo>
                  <a:lnTo>
                    <a:pt x="225" y="40"/>
                  </a:lnTo>
                  <a:lnTo>
                    <a:pt x="234" y="24"/>
                  </a:lnTo>
                  <a:lnTo>
                    <a:pt x="243"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008" name="Freeform 493"/>
            <p:cNvSpPr>
              <a:spLocks/>
            </p:cNvSpPr>
            <p:nvPr/>
          </p:nvSpPr>
          <p:spPr bwMode="auto">
            <a:xfrm>
              <a:off x="2451" y="2234"/>
              <a:ext cx="296" cy="145"/>
            </a:xfrm>
            <a:custGeom>
              <a:avLst/>
              <a:gdLst>
                <a:gd name="T0" fmla="*/ 0 w 361"/>
                <a:gd name="T1" fmla="*/ 97 h 177"/>
                <a:gd name="T2" fmla="*/ 44 w 361"/>
                <a:gd name="T3" fmla="*/ 35 h 177"/>
                <a:gd name="T4" fmla="*/ 143 w 361"/>
                <a:gd name="T5" fmla="*/ 0 h 177"/>
                <a:gd name="T6" fmla="*/ 198 w 361"/>
                <a:gd name="T7" fmla="*/ 22 h 177"/>
                <a:gd name="T8" fmla="*/ 0 60000 65536"/>
                <a:gd name="T9" fmla="*/ 0 60000 65536"/>
                <a:gd name="T10" fmla="*/ 0 60000 65536"/>
                <a:gd name="T11" fmla="*/ 0 60000 65536"/>
                <a:gd name="T12" fmla="*/ 0 w 361"/>
                <a:gd name="T13" fmla="*/ 0 h 177"/>
                <a:gd name="T14" fmla="*/ 361 w 361"/>
                <a:gd name="T15" fmla="*/ 177 h 177"/>
              </a:gdLst>
              <a:ahLst/>
              <a:cxnLst>
                <a:cxn ang="T8">
                  <a:pos x="T0" y="T1"/>
                </a:cxn>
                <a:cxn ang="T9">
                  <a:pos x="T2" y="T3"/>
                </a:cxn>
                <a:cxn ang="T10">
                  <a:pos x="T4" y="T5"/>
                </a:cxn>
                <a:cxn ang="T11">
                  <a:pos x="T6" y="T7"/>
                </a:cxn>
              </a:cxnLst>
              <a:rect l="T12" t="T13" r="T14" b="T15"/>
              <a:pathLst>
                <a:path w="361" h="177">
                  <a:moveTo>
                    <a:pt x="0" y="176"/>
                  </a:moveTo>
                  <a:lnTo>
                    <a:pt x="81" y="64"/>
                  </a:lnTo>
                  <a:lnTo>
                    <a:pt x="261" y="0"/>
                  </a:lnTo>
                  <a:lnTo>
                    <a:pt x="360" y="4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009" name="Freeform 494"/>
            <p:cNvSpPr>
              <a:spLocks/>
            </p:cNvSpPr>
            <p:nvPr/>
          </p:nvSpPr>
          <p:spPr bwMode="auto">
            <a:xfrm>
              <a:off x="2451" y="2247"/>
              <a:ext cx="296" cy="132"/>
            </a:xfrm>
            <a:custGeom>
              <a:avLst/>
              <a:gdLst>
                <a:gd name="T0" fmla="*/ 0 w 361"/>
                <a:gd name="T1" fmla="*/ 88 h 161"/>
                <a:gd name="T2" fmla="*/ 5 w 361"/>
                <a:gd name="T3" fmla="*/ 84 h 161"/>
                <a:gd name="T4" fmla="*/ 15 w 361"/>
                <a:gd name="T5" fmla="*/ 71 h 161"/>
                <a:gd name="T6" fmla="*/ 30 w 361"/>
                <a:gd name="T7" fmla="*/ 53 h 161"/>
                <a:gd name="T8" fmla="*/ 39 w 361"/>
                <a:gd name="T9" fmla="*/ 44 h 161"/>
                <a:gd name="T10" fmla="*/ 54 w 361"/>
                <a:gd name="T11" fmla="*/ 31 h 161"/>
                <a:gd name="T12" fmla="*/ 65 w 361"/>
                <a:gd name="T13" fmla="*/ 22 h 161"/>
                <a:gd name="T14" fmla="*/ 75 w 361"/>
                <a:gd name="T15" fmla="*/ 17 h 161"/>
                <a:gd name="T16" fmla="*/ 84 w 361"/>
                <a:gd name="T17" fmla="*/ 13 h 161"/>
                <a:gd name="T18" fmla="*/ 94 w 361"/>
                <a:gd name="T19" fmla="*/ 9 h 161"/>
                <a:gd name="T20" fmla="*/ 99 w 361"/>
                <a:gd name="T21" fmla="*/ 9 h 161"/>
                <a:gd name="T22" fmla="*/ 109 w 361"/>
                <a:gd name="T23" fmla="*/ 5 h 161"/>
                <a:gd name="T24" fmla="*/ 129 w 361"/>
                <a:gd name="T25" fmla="*/ 0 h 161"/>
                <a:gd name="T26" fmla="*/ 139 w 361"/>
                <a:gd name="T27" fmla="*/ 0 h 161"/>
                <a:gd name="T28" fmla="*/ 148 w 361"/>
                <a:gd name="T29" fmla="*/ 0 h 161"/>
                <a:gd name="T30" fmla="*/ 169 w 361"/>
                <a:gd name="T31" fmla="*/ 5 h 161"/>
                <a:gd name="T32" fmla="*/ 174 w 361"/>
                <a:gd name="T33" fmla="*/ 5 h 161"/>
                <a:gd name="T34" fmla="*/ 189 w 361"/>
                <a:gd name="T35" fmla="*/ 9 h 161"/>
                <a:gd name="T36" fmla="*/ 198 w 361"/>
                <a:gd name="T37" fmla="*/ 13 h 16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61"/>
                <a:gd name="T58" fmla="*/ 0 h 161"/>
                <a:gd name="T59" fmla="*/ 361 w 361"/>
                <a:gd name="T60" fmla="*/ 161 h 16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61" h="161">
                  <a:moveTo>
                    <a:pt x="0" y="160"/>
                  </a:moveTo>
                  <a:lnTo>
                    <a:pt x="9" y="152"/>
                  </a:lnTo>
                  <a:lnTo>
                    <a:pt x="27" y="128"/>
                  </a:lnTo>
                  <a:lnTo>
                    <a:pt x="54" y="96"/>
                  </a:lnTo>
                  <a:lnTo>
                    <a:pt x="72" y="80"/>
                  </a:lnTo>
                  <a:lnTo>
                    <a:pt x="99" y="56"/>
                  </a:lnTo>
                  <a:lnTo>
                    <a:pt x="117" y="40"/>
                  </a:lnTo>
                  <a:lnTo>
                    <a:pt x="135" y="32"/>
                  </a:lnTo>
                  <a:lnTo>
                    <a:pt x="153" y="24"/>
                  </a:lnTo>
                  <a:lnTo>
                    <a:pt x="171" y="16"/>
                  </a:lnTo>
                  <a:lnTo>
                    <a:pt x="180" y="16"/>
                  </a:lnTo>
                  <a:lnTo>
                    <a:pt x="198" y="8"/>
                  </a:lnTo>
                  <a:lnTo>
                    <a:pt x="234" y="0"/>
                  </a:lnTo>
                  <a:lnTo>
                    <a:pt x="252" y="0"/>
                  </a:lnTo>
                  <a:lnTo>
                    <a:pt x="270" y="0"/>
                  </a:lnTo>
                  <a:lnTo>
                    <a:pt x="306" y="8"/>
                  </a:lnTo>
                  <a:lnTo>
                    <a:pt x="315" y="8"/>
                  </a:lnTo>
                  <a:lnTo>
                    <a:pt x="342" y="16"/>
                  </a:lnTo>
                  <a:lnTo>
                    <a:pt x="360" y="24"/>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010" name="Freeform 495"/>
            <p:cNvSpPr>
              <a:spLocks/>
            </p:cNvSpPr>
            <p:nvPr/>
          </p:nvSpPr>
          <p:spPr bwMode="auto">
            <a:xfrm>
              <a:off x="2510" y="2201"/>
              <a:ext cx="156" cy="40"/>
            </a:xfrm>
            <a:custGeom>
              <a:avLst/>
              <a:gdLst>
                <a:gd name="T0" fmla="*/ 0 w 190"/>
                <a:gd name="T1" fmla="*/ 26 h 49"/>
                <a:gd name="T2" fmla="*/ 94 w 190"/>
                <a:gd name="T3" fmla="*/ 17 h 49"/>
                <a:gd name="T4" fmla="*/ 104 w 190"/>
                <a:gd name="T5" fmla="*/ 0 h 49"/>
                <a:gd name="T6" fmla="*/ 0 60000 65536"/>
                <a:gd name="T7" fmla="*/ 0 60000 65536"/>
                <a:gd name="T8" fmla="*/ 0 60000 65536"/>
                <a:gd name="T9" fmla="*/ 0 w 190"/>
                <a:gd name="T10" fmla="*/ 0 h 49"/>
                <a:gd name="T11" fmla="*/ 190 w 190"/>
                <a:gd name="T12" fmla="*/ 49 h 49"/>
              </a:gdLst>
              <a:ahLst/>
              <a:cxnLst>
                <a:cxn ang="T6">
                  <a:pos x="T0" y="T1"/>
                </a:cxn>
                <a:cxn ang="T7">
                  <a:pos x="T2" y="T3"/>
                </a:cxn>
                <a:cxn ang="T8">
                  <a:pos x="T4" y="T5"/>
                </a:cxn>
              </a:cxnLst>
              <a:rect l="T9" t="T10" r="T11" b="T12"/>
              <a:pathLst>
                <a:path w="190" h="49">
                  <a:moveTo>
                    <a:pt x="0" y="48"/>
                  </a:moveTo>
                  <a:lnTo>
                    <a:pt x="171" y="32"/>
                  </a:lnTo>
                  <a:lnTo>
                    <a:pt x="18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011" name="Freeform 496"/>
            <p:cNvSpPr>
              <a:spLocks/>
            </p:cNvSpPr>
            <p:nvPr/>
          </p:nvSpPr>
          <p:spPr bwMode="auto">
            <a:xfrm>
              <a:off x="2510" y="2201"/>
              <a:ext cx="156" cy="40"/>
            </a:xfrm>
            <a:custGeom>
              <a:avLst/>
              <a:gdLst>
                <a:gd name="T0" fmla="*/ 0 w 190"/>
                <a:gd name="T1" fmla="*/ 26 h 49"/>
                <a:gd name="T2" fmla="*/ 10 w 190"/>
                <a:gd name="T3" fmla="*/ 26 h 49"/>
                <a:gd name="T4" fmla="*/ 35 w 190"/>
                <a:gd name="T5" fmla="*/ 22 h 49"/>
                <a:gd name="T6" fmla="*/ 50 w 190"/>
                <a:gd name="T7" fmla="*/ 22 h 49"/>
                <a:gd name="T8" fmla="*/ 65 w 190"/>
                <a:gd name="T9" fmla="*/ 17 h 49"/>
                <a:gd name="T10" fmla="*/ 85 w 190"/>
                <a:gd name="T11" fmla="*/ 13 h 49"/>
                <a:gd name="T12" fmla="*/ 94 w 190"/>
                <a:gd name="T13" fmla="*/ 9 h 49"/>
                <a:gd name="T14" fmla="*/ 100 w 190"/>
                <a:gd name="T15" fmla="*/ 5 h 49"/>
                <a:gd name="T16" fmla="*/ 104 w 19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0"/>
                <a:gd name="T28" fmla="*/ 0 h 49"/>
                <a:gd name="T29" fmla="*/ 190 w 190"/>
                <a:gd name="T30" fmla="*/ 49 h 4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0" h="49">
                  <a:moveTo>
                    <a:pt x="0" y="48"/>
                  </a:moveTo>
                  <a:lnTo>
                    <a:pt x="18" y="48"/>
                  </a:lnTo>
                  <a:lnTo>
                    <a:pt x="63" y="40"/>
                  </a:lnTo>
                  <a:lnTo>
                    <a:pt x="90" y="40"/>
                  </a:lnTo>
                  <a:lnTo>
                    <a:pt x="117" y="32"/>
                  </a:lnTo>
                  <a:lnTo>
                    <a:pt x="153" y="24"/>
                  </a:lnTo>
                  <a:lnTo>
                    <a:pt x="171" y="16"/>
                  </a:lnTo>
                  <a:lnTo>
                    <a:pt x="180" y="8"/>
                  </a:lnTo>
                  <a:lnTo>
                    <a:pt x="18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012" name="Freeform 497"/>
            <p:cNvSpPr>
              <a:spLocks/>
            </p:cNvSpPr>
            <p:nvPr/>
          </p:nvSpPr>
          <p:spPr bwMode="auto">
            <a:xfrm>
              <a:off x="2687" y="2194"/>
              <a:ext cx="90" cy="165"/>
            </a:xfrm>
            <a:custGeom>
              <a:avLst/>
              <a:gdLst>
                <a:gd name="T0" fmla="*/ 60 w 109"/>
                <a:gd name="T1" fmla="*/ 111 h 201"/>
                <a:gd name="T2" fmla="*/ 45 w 109"/>
                <a:gd name="T3" fmla="*/ 102 h 201"/>
                <a:gd name="T4" fmla="*/ 0 w 109"/>
                <a:gd name="T5" fmla="*/ 9 h 201"/>
                <a:gd name="T6" fmla="*/ 0 w 109"/>
                <a:gd name="T7" fmla="*/ 0 h 201"/>
                <a:gd name="T8" fmla="*/ 0 60000 65536"/>
                <a:gd name="T9" fmla="*/ 0 60000 65536"/>
                <a:gd name="T10" fmla="*/ 0 60000 65536"/>
                <a:gd name="T11" fmla="*/ 0 60000 65536"/>
                <a:gd name="T12" fmla="*/ 0 w 109"/>
                <a:gd name="T13" fmla="*/ 0 h 201"/>
                <a:gd name="T14" fmla="*/ 109 w 109"/>
                <a:gd name="T15" fmla="*/ 201 h 201"/>
              </a:gdLst>
              <a:ahLst/>
              <a:cxnLst>
                <a:cxn ang="T8">
                  <a:pos x="T0" y="T1"/>
                </a:cxn>
                <a:cxn ang="T9">
                  <a:pos x="T2" y="T3"/>
                </a:cxn>
                <a:cxn ang="T10">
                  <a:pos x="T4" y="T5"/>
                </a:cxn>
                <a:cxn ang="T11">
                  <a:pos x="T6" y="T7"/>
                </a:cxn>
              </a:cxnLst>
              <a:rect l="T12" t="T13" r="T14" b="T15"/>
              <a:pathLst>
                <a:path w="109" h="201">
                  <a:moveTo>
                    <a:pt x="108" y="200"/>
                  </a:moveTo>
                  <a:lnTo>
                    <a:pt x="81" y="184"/>
                  </a:lnTo>
                  <a:lnTo>
                    <a:pt x="0" y="16"/>
                  </a:lnTo>
                  <a:lnTo>
                    <a:pt x="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013" name="Freeform 498"/>
            <p:cNvSpPr>
              <a:spLocks/>
            </p:cNvSpPr>
            <p:nvPr/>
          </p:nvSpPr>
          <p:spPr bwMode="auto">
            <a:xfrm>
              <a:off x="2687" y="2194"/>
              <a:ext cx="90" cy="165"/>
            </a:xfrm>
            <a:custGeom>
              <a:avLst/>
              <a:gdLst>
                <a:gd name="T0" fmla="*/ 60 w 109"/>
                <a:gd name="T1" fmla="*/ 111 h 201"/>
                <a:gd name="T2" fmla="*/ 60 w 109"/>
                <a:gd name="T3" fmla="*/ 111 h 201"/>
                <a:gd name="T4" fmla="*/ 56 w 109"/>
                <a:gd name="T5" fmla="*/ 107 h 201"/>
                <a:gd name="T6" fmla="*/ 50 w 109"/>
                <a:gd name="T7" fmla="*/ 97 h 201"/>
                <a:gd name="T8" fmla="*/ 45 w 109"/>
                <a:gd name="T9" fmla="*/ 93 h 201"/>
                <a:gd name="T10" fmla="*/ 40 w 109"/>
                <a:gd name="T11" fmla="*/ 85 h 201"/>
                <a:gd name="T12" fmla="*/ 36 w 109"/>
                <a:gd name="T13" fmla="*/ 80 h 201"/>
                <a:gd name="T14" fmla="*/ 31 w 109"/>
                <a:gd name="T15" fmla="*/ 66 h 201"/>
                <a:gd name="T16" fmla="*/ 31 w 109"/>
                <a:gd name="T17" fmla="*/ 62 h 201"/>
                <a:gd name="T18" fmla="*/ 26 w 109"/>
                <a:gd name="T19" fmla="*/ 53 h 201"/>
                <a:gd name="T20" fmla="*/ 21 w 109"/>
                <a:gd name="T21" fmla="*/ 44 h 201"/>
                <a:gd name="T22" fmla="*/ 10 w 109"/>
                <a:gd name="T23" fmla="*/ 26 h 201"/>
                <a:gd name="T24" fmla="*/ 5 w 109"/>
                <a:gd name="T25" fmla="*/ 13 h 201"/>
                <a:gd name="T26" fmla="*/ 0 w 109"/>
                <a:gd name="T27" fmla="*/ 5 h 201"/>
                <a:gd name="T28" fmla="*/ 0 w 109"/>
                <a:gd name="T29" fmla="*/ 0 h 20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9"/>
                <a:gd name="T46" fmla="*/ 0 h 201"/>
                <a:gd name="T47" fmla="*/ 109 w 109"/>
                <a:gd name="T48" fmla="*/ 201 h 20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9" h="201">
                  <a:moveTo>
                    <a:pt x="108" y="200"/>
                  </a:moveTo>
                  <a:lnTo>
                    <a:pt x="108" y="200"/>
                  </a:lnTo>
                  <a:lnTo>
                    <a:pt x="99" y="192"/>
                  </a:lnTo>
                  <a:lnTo>
                    <a:pt x="90" y="176"/>
                  </a:lnTo>
                  <a:lnTo>
                    <a:pt x="81" y="168"/>
                  </a:lnTo>
                  <a:lnTo>
                    <a:pt x="72" y="152"/>
                  </a:lnTo>
                  <a:lnTo>
                    <a:pt x="63" y="144"/>
                  </a:lnTo>
                  <a:lnTo>
                    <a:pt x="54" y="120"/>
                  </a:lnTo>
                  <a:lnTo>
                    <a:pt x="54" y="112"/>
                  </a:lnTo>
                  <a:lnTo>
                    <a:pt x="45" y="96"/>
                  </a:lnTo>
                  <a:lnTo>
                    <a:pt x="36" y="80"/>
                  </a:lnTo>
                  <a:lnTo>
                    <a:pt x="18" y="48"/>
                  </a:lnTo>
                  <a:lnTo>
                    <a:pt x="9" y="24"/>
                  </a:lnTo>
                  <a:lnTo>
                    <a:pt x="0" y="8"/>
                  </a:lnTo>
                  <a:lnTo>
                    <a:pt x="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014" name="Freeform 499"/>
            <p:cNvSpPr>
              <a:spLocks/>
            </p:cNvSpPr>
            <p:nvPr/>
          </p:nvSpPr>
          <p:spPr bwMode="auto">
            <a:xfrm>
              <a:off x="2443" y="2036"/>
              <a:ext cx="112" cy="225"/>
            </a:xfrm>
            <a:custGeom>
              <a:avLst/>
              <a:gdLst>
                <a:gd name="T0" fmla="*/ 0 w 136"/>
                <a:gd name="T1" fmla="*/ 152 h 273"/>
                <a:gd name="T2" fmla="*/ 60 w 136"/>
                <a:gd name="T3" fmla="*/ 76 h 273"/>
                <a:gd name="T4" fmla="*/ 75 w 136"/>
                <a:gd name="T5" fmla="*/ 13 h 273"/>
                <a:gd name="T6" fmla="*/ 75 w 136"/>
                <a:gd name="T7" fmla="*/ 0 h 273"/>
                <a:gd name="T8" fmla="*/ 0 60000 65536"/>
                <a:gd name="T9" fmla="*/ 0 60000 65536"/>
                <a:gd name="T10" fmla="*/ 0 60000 65536"/>
                <a:gd name="T11" fmla="*/ 0 60000 65536"/>
                <a:gd name="T12" fmla="*/ 0 w 136"/>
                <a:gd name="T13" fmla="*/ 0 h 273"/>
                <a:gd name="T14" fmla="*/ 136 w 136"/>
                <a:gd name="T15" fmla="*/ 273 h 273"/>
              </a:gdLst>
              <a:ahLst/>
              <a:cxnLst>
                <a:cxn ang="T8">
                  <a:pos x="T0" y="T1"/>
                </a:cxn>
                <a:cxn ang="T9">
                  <a:pos x="T2" y="T3"/>
                </a:cxn>
                <a:cxn ang="T10">
                  <a:pos x="T4" y="T5"/>
                </a:cxn>
                <a:cxn ang="T11">
                  <a:pos x="T6" y="T7"/>
                </a:cxn>
              </a:cxnLst>
              <a:rect l="T12" t="T13" r="T14" b="T15"/>
              <a:pathLst>
                <a:path w="136" h="273">
                  <a:moveTo>
                    <a:pt x="0" y="272"/>
                  </a:moveTo>
                  <a:lnTo>
                    <a:pt x="108" y="136"/>
                  </a:lnTo>
                  <a:lnTo>
                    <a:pt x="135" y="24"/>
                  </a:lnTo>
                  <a:lnTo>
                    <a:pt x="135"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015" name="Freeform 500"/>
            <p:cNvSpPr>
              <a:spLocks/>
            </p:cNvSpPr>
            <p:nvPr/>
          </p:nvSpPr>
          <p:spPr bwMode="auto">
            <a:xfrm>
              <a:off x="2443" y="2036"/>
              <a:ext cx="112" cy="225"/>
            </a:xfrm>
            <a:custGeom>
              <a:avLst/>
              <a:gdLst>
                <a:gd name="T0" fmla="*/ 0 w 136"/>
                <a:gd name="T1" fmla="*/ 152 h 273"/>
                <a:gd name="T2" fmla="*/ 10 w 136"/>
                <a:gd name="T3" fmla="*/ 138 h 273"/>
                <a:gd name="T4" fmla="*/ 21 w 136"/>
                <a:gd name="T5" fmla="*/ 125 h 273"/>
                <a:gd name="T6" fmla="*/ 30 w 136"/>
                <a:gd name="T7" fmla="*/ 112 h 273"/>
                <a:gd name="T8" fmla="*/ 40 w 136"/>
                <a:gd name="T9" fmla="*/ 94 h 273"/>
                <a:gd name="T10" fmla="*/ 50 w 136"/>
                <a:gd name="T11" fmla="*/ 81 h 273"/>
                <a:gd name="T12" fmla="*/ 56 w 136"/>
                <a:gd name="T13" fmla="*/ 72 h 273"/>
                <a:gd name="T14" fmla="*/ 60 w 136"/>
                <a:gd name="T15" fmla="*/ 59 h 273"/>
                <a:gd name="T16" fmla="*/ 65 w 136"/>
                <a:gd name="T17" fmla="*/ 45 h 273"/>
                <a:gd name="T18" fmla="*/ 71 w 136"/>
                <a:gd name="T19" fmla="*/ 36 h 273"/>
                <a:gd name="T20" fmla="*/ 71 w 136"/>
                <a:gd name="T21" fmla="*/ 27 h 273"/>
                <a:gd name="T22" fmla="*/ 75 w 136"/>
                <a:gd name="T23" fmla="*/ 9 h 273"/>
                <a:gd name="T24" fmla="*/ 75 w 136"/>
                <a:gd name="T25" fmla="*/ 5 h 273"/>
                <a:gd name="T26" fmla="*/ 75 w 136"/>
                <a:gd name="T27" fmla="*/ 0 h 27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6"/>
                <a:gd name="T43" fmla="*/ 0 h 273"/>
                <a:gd name="T44" fmla="*/ 136 w 136"/>
                <a:gd name="T45" fmla="*/ 273 h 27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6" h="273">
                  <a:moveTo>
                    <a:pt x="0" y="272"/>
                  </a:moveTo>
                  <a:lnTo>
                    <a:pt x="18" y="248"/>
                  </a:lnTo>
                  <a:lnTo>
                    <a:pt x="36" y="224"/>
                  </a:lnTo>
                  <a:lnTo>
                    <a:pt x="54" y="200"/>
                  </a:lnTo>
                  <a:lnTo>
                    <a:pt x="72" y="168"/>
                  </a:lnTo>
                  <a:lnTo>
                    <a:pt x="90" y="144"/>
                  </a:lnTo>
                  <a:lnTo>
                    <a:pt x="99" y="128"/>
                  </a:lnTo>
                  <a:lnTo>
                    <a:pt x="108" y="104"/>
                  </a:lnTo>
                  <a:lnTo>
                    <a:pt x="117" y="80"/>
                  </a:lnTo>
                  <a:lnTo>
                    <a:pt x="126" y="64"/>
                  </a:lnTo>
                  <a:lnTo>
                    <a:pt x="126" y="48"/>
                  </a:lnTo>
                  <a:lnTo>
                    <a:pt x="135" y="16"/>
                  </a:lnTo>
                  <a:lnTo>
                    <a:pt x="135" y="8"/>
                  </a:lnTo>
                  <a:lnTo>
                    <a:pt x="135"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016" name="Arc 501"/>
            <p:cNvSpPr>
              <a:spLocks/>
            </p:cNvSpPr>
            <p:nvPr/>
          </p:nvSpPr>
          <p:spPr bwMode="auto">
            <a:xfrm>
              <a:off x="2318" y="2152"/>
              <a:ext cx="93" cy="86"/>
            </a:xfrm>
            <a:custGeom>
              <a:avLst/>
              <a:gdLst>
                <a:gd name="T0" fmla="*/ 0 w 21791"/>
                <a:gd name="T1" fmla="*/ 0 h 21600"/>
                <a:gd name="T2" fmla="*/ 0 w 21791"/>
                <a:gd name="T3" fmla="*/ 0 h 21600"/>
                <a:gd name="T4" fmla="*/ 0 w 21791"/>
                <a:gd name="T5" fmla="*/ 0 h 21600"/>
                <a:gd name="T6" fmla="*/ 0 60000 65536"/>
                <a:gd name="T7" fmla="*/ 0 60000 65536"/>
                <a:gd name="T8" fmla="*/ 0 60000 65536"/>
                <a:gd name="T9" fmla="*/ 0 w 21791"/>
                <a:gd name="T10" fmla="*/ 0 h 21600"/>
                <a:gd name="T11" fmla="*/ 21791 w 21791"/>
                <a:gd name="T12" fmla="*/ 21600 h 21600"/>
              </a:gdLst>
              <a:ahLst/>
              <a:cxnLst>
                <a:cxn ang="T6">
                  <a:pos x="T0" y="T1"/>
                </a:cxn>
                <a:cxn ang="T7">
                  <a:pos x="T2" y="T3"/>
                </a:cxn>
                <a:cxn ang="T8">
                  <a:pos x="T4" y="T5"/>
                </a:cxn>
              </a:cxnLst>
              <a:rect l="T9" t="T10" r="T11" b="T12"/>
              <a:pathLst>
                <a:path w="21791" h="21600" fill="none" extrusionOk="0">
                  <a:moveTo>
                    <a:pt x="-1" y="0"/>
                  </a:moveTo>
                  <a:cubicBezTo>
                    <a:pt x="63" y="0"/>
                    <a:pt x="127" y="-1"/>
                    <a:pt x="191" y="0"/>
                  </a:cubicBezTo>
                  <a:cubicBezTo>
                    <a:pt x="12120" y="0"/>
                    <a:pt x="21791" y="9670"/>
                    <a:pt x="21791" y="21600"/>
                  </a:cubicBezTo>
                </a:path>
                <a:path w="21791" h="21600" stroke="0" extrusionOk="0">
                  <a:moveTo>
                    <a:pt x="-1" y="0"/>
                  </a:moveTo>
                  <a:cubicBezTo>
                    <a:pt x="63" y="0"/>
                    <a:pt x="127" y="-1"/>
                    <a:pt x="191" y="0"/>
                  </a:cubicBezTo>
                  <a:cubicBezTo>
                    <a:pt x="12120" y="0"/>
                    <a:pt x="21791" y="9670"/>
                    <a:pt x="21791" y="21600"/>
                  </a:cubicBezTo>
                  <a:lnTo>
                    <a:pt x="191" y="21600"/>
                  </a:lnTo>
                  <a:close/>
                </a:path>
              </a:pathLst>
            </a:custGeom>
            <a:noFill/>
            <a:ln w="12700" cap="rnd">
              <a:solidFill>
                <a:srgbClr val="009900"/>
              </a:solidFill>
              <a:round/>
              <a:headEnd/>
              <a:tailEnd/>
            </a:ln>
          </p:spPr>
          <p:txBody>
            <a:bodyPr wrap="none" anchor="ctr"/>
            <a:lstStyle/>
            <a:p>
              <a:endParaRPr lang="en-US"/>
            </a:p>
          </p:txBody>
        </p:sp>
        <p:sp>
          <p:nvSpPr>
            <p:cNvPr id="40017" name="Freeform 502"/>
            <p:cNvSpPr>
              <a:spLocks/>
            </p:cNvSpPr>
            <p:nvPr/>
          </p:nvSpPr>
          <p:spPr bwMode="auto">
            <a:xfrm>
              <a:off x="2495" y="1938"/>
              <a:ext cx="223" cy="73"/>
            </a:xfrm>
            <a:custGeom>
              <a:avLst/>
              <a:gdLst>
                <a:gd name="T0" fmla="*/ 0 w 271"/>
                <a:gd name="T1" fmla="*/ 0 h 89"/>
                <a:gd name="T2" fmla="*/ 90 w 271"/>
                <a:gd name="T3" fmla="*/ 48 h 89"/>
                <a:gd name="T4" fmla="*/ 151 w 271"/>
                <a:gd name="T5" fmla="*/ 9 h 89"/>
                <a:gd name="T6" fmla="*/ 100 w 271"/>
                <a:gd name="T7" fmla="*/ 9 h 89"/>
                <a:gd name="T8" fmla="*/ 75 w 271"/>
                <a:gd name="T9" fmla="*/ 39 h 89"/>
                <a:gd name="T10" fmla="*/ 0 60000 65536"/>
                <a:gd name="T11" fmla="*/ 0 60000 65536"/>
                <a:gd name="T12" fmla="*/ 0 60000 65536"/>
                <a:gd name="T13" fmla="*/ 0 60000 65536"/>
                <a:gd name="T14" fmla="*/ 0 60000 65536"/>
                <a:gd name="T15" fmla="*/ 0 w 271"/>
                <a:gd name="T16" fmla="*/ 0 h 89"/>
                <a:gd name="T17" fmla="*/ 271 w 271"/>
                <a:gd name="T18" fmla="*/ 89 h 89"/>
              </a:gdLst>
              <a:ahLst/>
              <a:cxnLst>
                <a:cxn ang="T10">
                  <a:pos x="T0" y="T1"/>
                </a:cxn>
                <a:cxn ang="T11">
                  <a:pos x="T2" y="T3"/>
                </a:cxn>
                <a:cxn ang="T12">
                  <a:pos x="T4" y="T5"/>
                </a:cxn>
                <a:cxn ang="T13">
                  <a:pos x="T6" y="T7"/>
                </a:cxn>
                <a:cxn ang="T14">
                  <a:pos x="T8" y="T9"/>
                </a:cxn>
              </a:cxnLst>
              <a:rect l="T15" t="T16" r="T17" b="T18"/>
              <a:pathLst>
                <a:path w="271" h="89">
                  <a:moveTo>
                    <a:pt x="0" y="0"/>
                  </a:moveTo>
                  <a:lnTo>
                    <a:pt x="162" y="88"/>
                  </a:lnTo>
                  <a:lnTo>
                    <a:pt x="270" y="16"/>
                  </a:lnTo>
                  <a:lnTo>
                    <a:pt x="180" y="16"/>
                  </a:lnTo>
                  <a:lnTo>
                    <a:pt x="135" y="72"/>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018" name="Freeform 503"/>
            <p:cNvSpPr>
              <a:spLocks/>
            </p:cNvSpPr>
            <p:nvPr/>
          </p:nvSpPr>
          <p:spPr bwMode="auto">
            <a:xfrm>
              <a:off x="2495" y="1938"/>
              <a:ext cx="201" cy="60"/>
            </a:xfrm>
            <a:custGeom>
              <a:avLst/>
              <a:gdLst>
                <a:gd name="T0" fmla="*/ 0 w 244"/>
                <a:gd name="T1" fmla="*/ 0 h 73"/>
                <a:gd name="T2" fmla="*/ 10 w 244"/>
                <a:gd name="T3" fmla="*/ 5 h 73"/>
                <a:gd name="T4" fmla="*/ 35 w 244"/>
                <a:gd name="T5" fmla="*/ 17 h 73"/>
                <a:gd name="T6" fmla="*/ 50 w 244"/>
                <a:gd name="T7" fmla="*/ 22 h 73"/>
                <a:gd name="T8" fmla="*/ 71 w 244"/>
                <a:gd name="T9" fmla="*/ 31 h 73"/>
                <a:gd name="T10" fmla="*/ 81 w 244"/>
                <a:gd name="T11" fmla="*/ 31 h 73"/>
                <a:gd name="T12" fmla="*/ 101 w 244"/>
                <a:gd name="T13" fmla="*/ 36 h 73"/>
                <a:gd name="T14" fmla="*/ 110 w 244"/>
                <a:gd name="T15" fmla="*/ 31 h 73"/>
                <a:gd name="T16" fmla="*/ 116 w 244"/>
                <a:gd name="T17" fmla="*/ 31 h 73"/>
                <a:gd name="T18" fmla="*/ 121 w 244"/>
                <a:gd name="T19" fmla="*/ 26 h 73"/>
                <a:gd name="T20" fmla="*/ 125 w 244"/>
                <a:gd name="T21" fmla="*/ 22 h 73"/>
                <a:gd name="T22" fmla="*/ 131 w 244"/>
                <a:gd name="T23" fmla="*/ 17 h 73"/>
                <a:gd name="T24" fmla="*/ 136 w 244"/>
                <a:gd name="T25" fmla="*/ 17 h 73"/>
                <a:gd name="T26" fmla="*/ 136 w 244"/>
                <a:gd name="T27" fmla="*/ 13 h 73"/>
                <a:gd name="T28" fmla="*/ 136 w 244"/>
                <a:gd name="T29" fmla="*/ 9 h 73"/>
                <a:gd name="T30" fmla="*/ 131 w 244"/>
                <a:gd name="T31" fmla="*/ 9 h 73"/>
                <a:gd name="T32" fmla="*/ 125 w 244"/>
                <a:gd name="T33" fmla="*/ 9 h 73"/>
                <a:gd name="T34" fmla="*/ 121 w 244"/>
                <a:gd name="T35" fmla="*/ 9 h 73"/>
                <a:gd name="T36" fmla="*/ 106 w 244"/>
                <a:gd name="T37" fmla="*/ 13 h 73"/>
                <a:gd name="T38" fmla="*/ 91 w 244"/>
                <a:gd name="T39" fmla="*/ 22 h 73"/>
                <a:gd name="T40" fmla="*/ 81 w 244"/>
                <a:gd name="T41" fmla="*/ 36 h 73"/>
                <a:gd name="T42" fmla="*/ 75 w 244"/>
                <a:gd name="T43" fmla="*/ 39 h 73"/>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44"/>
                <a:gd name="T67" fmla="*/ 0 h 73"/>
                <a:gd name="T68" fmla="*/ 244 w 244"/>
                <a:gd name="T69" fmla="*/ 73 h 73"/>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44" h="73">
                  <a:moveTo>
                    <a:pt x="0" y="0"/>
                  </a:moveTo>
                  <a:lnTo>
                    <a:pt x="18" y="8"/>
                  </a:lnTo>
                  <a:lnTo>
                    <a:pt x="63" y="32"/>
                  </a:lnTo>
                  <a:lnTo>
                    <a:pt x="90" y="40"/>
                  </a:lnTo>
                  <a:lnTo>
                    <a:pt x="126" y="56"/>
                  </a:lnTo>
                  <a:lnTo>
                    <a:pt x="144" y="56"/>
                  </a:lnTo>
                  <a:lnTo>
                    <a:pt x="180" y="64"/>
                  </a:lnTo>
                  <a:lnTo>
                    <a:pt x="198" y="56"/>
                  </a:lnTo>
                  <a:lnTo>
                    <a:pt x="207" y="56"/>
                  </a:lnTo>
                  <a:lnTo>
                    <a:pt x="216" y="48"/>
                  </a:lnTo>
                  <a:lnTo>
                    <a:pt x="225" y="40"/>
                  </a:lnTo>
                  <a:lnTo>
                    <a:pt x="234" y="32"/>
                  </a:lnTo>
                  <a:lnTo>
                    <a:pt x="243" y="32"/>
                  </a:lnTo>
                  <a:lnTo>
                    <a:pt x="243" y="24"/>
                  </a:lnTo>
                  <a:lnTo>
                    <a:pt x="243" y="16"/>
                  </a:lnTo>
                  <a:lnTo>
                    <a:pt x="234" y="16"/>
                  </a:lnTo>
                  <a:lnTo>
                    <a:pt x="225" y="16"/>
                  </a:lnTo>
                  <a:lnTo>
                    <a:pt x="216" y="16"/>
                  </a:lnTo>
                  <a:lnTo>
                    <a:pt x="189" y="24"/>
                  </a:lnTo>
                  <a:lnTo>
                    <a:pt x="162" y="40"/>
                  </a:lnTo>
                  <a:lnTo>
                    <a:pt x="144" y="64"/>
                  </a:lnTo>
                  <a:lnTo>
                    <a:pt x="135" y="72"/>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019" name="Freeform 504"/>
            <p:cNvSpPr>
              <a:spLocks/>
            </p:cNvSpPr>
            <p:nvPr/>
          </p:nvSpPr>
          <p:spPr bwMode="auto">
            <a:xfrm>
              <a:off x="2628" y="2017"/>
              <a:ext cx="201" cy="139"/>
            </a:xfrm>
            <a:custGeom>
              <a:avLst/>
              <a:gdLst>
                <a:gd name="T0" fmla="*/ 0 w 244"/>
                <a:gd name="T1" fmla="*/ 94 h 169"/>
                <a:gd name="T2" fmla="*/ 81 w 244"/>
                <a:gd name="T3" fmla="*/ 58 h 169"/>
                <a:gd name="T4" fmla="*/ 121 w 244"/>
                <a:gd name="T5" fmla="*/ 44 h 169"/>
                <a:gd name="T6" fmla="*/ 136 w 244"/>
                <a:gd name="T7" fmla="*/ 0 h 169"/>
                <a:gd name="T8" fmla="*/ 0 60000 65536"/>
                <a:gd name="T9" fmla="*/ 0 60000 65536"/>
                <a:gd name="T10" fmla="*/ 0 60000 65536"/>
                <a:gd name="T11" fmla="*/ 0 60000 65536"/>
                <a:gd name="T12" fmla="*/ 0 w 244"/>
                <a:gd name="T13" fmla="*/ 0 h 169"/>
                <a:gd name="T14" fmla="*/ 244 w 244"/>
                <a:gd name="T15" fmla="*/ 169 h 169"/>
              </a:gdLst>
              <a:ahLst/>
              <a:cxnLst>
                <a:cxn ang="T8">
                  <a:pos x="T0" y="T1"/>
                </a:cxn>
                <a:cxn ang="T9">
                  <a:pos x="T2" y="T3"/>
                </a:cxn>
                <a:cxn ang="T10">
                  <a:pos x="T4" y="T5"/>
                </a:cxn>
                <a:cxn ang="T11">
                  <a:pos x="T6" y="T7"/>
                </a:cxn>
              </a:cxnLst>
              <a:rect l="T12" t="T13" r="T14" b="T15"/>
              <a:pathLst>
                <a:path w="244" h="169">
                  <a:moveTo>
                    <a:pt x="0" y="168"/>
                  </a:moveTo>
                  <a:lnTo>
                    <a:pt x="144" y="104"/>
                  </a:lnTo>
                  <a:lnTo>
                    <a:pt x="216" y="80"/>
                  </a:lnTo>
                  <a:lnTo>
                    <a:pt x="243"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020" name="Freeform 505"/>
            <p:cNvSpPr>
              <a:spLocks/>
            </p:cNvSpPr>
            <p:nvPr/>
          </p:nvSpPr>
          <p:spPr bwMode="auto">
            <a:xfrm>
              <a:off x="2628" y="2017"/>
              <a:ext cx="201" cy="139"/>
            </a:xfrm>
            <a:custGeom>
              <a:avLst/>
              <a:gdLst>
                <a:gd name="T0" fmla="*/ 0 w 244"/>
                <a:gd name="T1" fmla="*/ 94 h 169"/>
                <a:gd name="T2" fmla="*/ 10 w 244"/>
                <a:gd name="T3" fmla="*/ 90 h 169"/>
                <a:gd name="T4" fmla="*/ 30 w 244"/>
                <a:gd name="T5" fmla="*/ 80 h 169"/>
                <a:gd name="T6" fmla="*/ 40 w 244"/>
                <a:gd name="T7" fmla="*/ 76 h 169"/>
                <a:gd name="T8" fmla="*/ 60 w 244"/>
                <a:gd name="T9" fmla="*/ 67 h 169"/>
                <a:gd name="T10" fmla="*/ 75 w 244"/>
                <a:gd name="T11" fmla="*/ 63 h 169"/>
                <a:gd name="T12" fmla="*/ 86 w 244"/>
                <a:gd name="T13" fmla="*/ 58 h 169"/>
                <a:gd name="T14" fmla="*/ 91 w 244"/>
                <a:gd name="T15" fmla="*/ 58 h 169"/>
                <a:gd name="T16" fmla="*/ 101 w 244"/>
                <a:gd name="T17" fmla="*/ 53 h 169"/>
                <a:gd name="T18" fmla="*/ 106 w 244"/>
                <a:gd name="T19" fmla="*/ 53 h 169"/>
                <a:gd name="T20" fmla="*/ 116 w 244"/>
                <a:gd name="T21" fmla="*/ 40 h 169"/>
                <a:gd name="T22" fmla="*/ 125 w 244"/>
                <a:gd name="T23" fmla="*/ 26 h 169"/>
                <a:gd name="T24" fmla="*/ 131 w 244"/>
                <a:gd name="T25" fmla="*/ 13 h 169"/>
                <a:gd name="T26" fmla="*/ 136 w 244"/>
                <a:gd name="T27" fmla="*/ 0 h 16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44"/>
                <a:gd name="T43" fmla="*/ 0 h 169"/>
                <a:gd name="T44" fmla="*/ 244 w 244"/>
                <a:gd name="T45" fmla="*/ 169 h 16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44" h="169">
                  <a:moveTo>
                    <a:pt x="0" y="168"/>
                  </a:moveTo>
                  <a:lnTo>
                    <a:pt x="18" y="160"/>
                  </a:lnTo>
                  <a:lnTo>
                    <a:pt x="54" y="144"/>
                  </a:lnTo>
                  <a:lnTo>
                    <a:pt x="72" y="136"/>
                  </a:lnTo>
                  <a:lnTo>
                    <a:pt x="108" y="120"/>
                  </a:lnTo>
                  <a:lnTo>
                    <a:pt x="135" y="112"/>
                  </a:lnTo>
                  <a:lnTo>
                    <a:pt x="153" y="104"/>
                  </a:lnTo>
                  <a:lnTo>
                    <a:pt x="162" y="104"/>
                  </a:lnTo>
                  <a:lnTo>
                    <a:pt x="180" y="96"/>
                  </a:lnTo>
                  <a:lnTo>
                    <a:pt x="189" y="96"/>
                  </a:lnTo>
                  <a:lnTo>
                    <a:pt x="207" y="72"/>
                  </a:lnTo>
                  <a:lnTo>
                    <a:pt x="225" y="48"/>
                  </a:lnTo>
                  <a:lnTo>
                    <a:pt x="234" y="24"/>
                  </a:lnTo>
                  <a:lnTo>
                    <a:pt x="243"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021" name="Line 506"/>
            <p:cNvSpPr>
              <a:spLocks noChangeShapeType="1"/>
            </p:cNvSpPr>
            <p:nvPr/>
          </p:nvSpPr>
          <p:spPr bwMode="auto">
            <a:xfrm>
              <a:off x="2080" y="1921"/>
              <a:ext cx="9" cy="165"/>
            </a:xfrm>
            <a:prstGeom prst="line">
              <a:avLst/>
            </a:prstGeom>
            <a:noFill/>
            <a:ln w="12700">
              <a:solidFill>
                <a:srgbClr val="009900"/>
              </a:solidFill>
              <a:round/>
              <a:headEnd/>
              <a:tailEnd/>
            </a:ln>
          </p:spPr>
          <p:txBody>
            <a:bodyPr wrap="none" anchor="ctr"/>
            <a:lstStyle/>
            <a:p>
              <a:endParaRPr lang="en-US"/>
            </a:p>
          </p:txBody>
        </p:sp>
        <p:sp>
          <p:nvSpPr>
            <p:cNvPr id="40022" name="Line 507"/>
            <p:cNvSpPr>
              <a:spLocks noChangeShapeType="1"/>
            </p:cNvSpPr>
            <p:nvPr/>
          </p:nvSpPr>
          <p:spPr bwMode="auto">
            <a:xfrm>
              <a:off x="2080" y="1921"/>
              <a:ext cx="9" cy="165"/>
            </a:xfrm>
            <a:prstGeom prst="line">
              <a:avLst/>
            </a:prstGeom>
            <a:noFill/>
            <a:ln w="12700">
              <a:solidFill>
                <a:srgbClr val="009900"/>
              </a:solidFill>
              <a:round/>
              <a:headEnd/>
              <a:tailEnd/>
            </a:ln>
          </p:spPr>
          <p:txBody>
            <a:bodyPr wrap="none" anchor="ctr"/>
            <a:lstStyle/>
            <a:p>
              <a:endParaRPr lang="en-US"/>
            </a:p>
          </p:txBody>
        </p:sp>
        <p:sp>
          <p:nvSpPr>
            <p:cNvPr id="40023" name="Freeform 508"/>
            <p:cNvSpPr>
              <a:spLocks/>
            </p:cNvSpPr>
            <p:nvPr/>
          </p:nvSpPr>
          <p:spPr bwMode="auto">
            <a:xfrm>
              <a:off x="2155" y="2168"/>
              <a:ext cx="104" cy="60"/>
            </a:xfrm>
            <a:custGeom>
              <a:avLst/>
              <a:gdLst>
                <a:gd name="T0" fmla="*/ 0 w 127"/>
                <a:gd name="T1" fmla="*/ 39 h 73"/>
                <a:gd name="T2" fmla="*/ 10 w 127"/>
                <a:gd name="T3" fmla="*/ 13 h 73"/>
                <a:gd name="T4" fmla="*/ 69 w 127"/>
                <a:gd name="T5" fmla="*/ 0 h 73"/>
                <a:gd name="T6" fmla="*/ 0 60000 65536"/>
                <a:gd name="T7" fmla="*/ 0 60000 65536"/>
                <a:gd name="T8" fmla="*/ 0 60000 65536"/>
                <a:gd name="T9" fmla="*/ 0 w 127"/>
                <a:gd name="T10" fmla="*/ 0 h 73"/>
                <a:gd name="T11" fmla="*/ 127 w 127"/>
                <a:gd name="T12" fmla="*/ 73 h 73"/>
              </a:gdLst>
              <a:ahLst/>
              <a:cxnLst>
                <a:cxn ang="T6">
                  <a:pos x="T0" y="T1"/>
                </a:cxn>
                <a:cxn ang="T7">
                  <a:pos x="T2" y="T3"/>
                </a:cxn>
                <a:cxn ang="T8">
                  <a:pos x="T4" y="T5"/>
                </a:cxn>
              </a:cxnLst>
              <a:rect l="T9" t="T10" r="T11" b="T12"/>
              <a:pathLst>
                <a:path w="127" h="73">
                  <a:moveTo>
                    <a:pt x="0" y="72"/>
                  </a:moveTo>
                  <a:lnTo>
                    <a:pt x="18" y="24"/>
                  </a:lnTo>
                  <a:lnTo>
                    <a:pt x="126"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024" name="Freeform 509"/>
            <p:cNvSpPr>
              <a:spLocks/>
            </p:cNvSpPr>
            <p:nvPr/>
          </p:nvSpPr>
          <p:spPr bwMode="auto">
            <a:xfrm>
              <a:off x="2155" y="2168"/>
              <a:ext cx="104" cy="60"/>
            </a:xfrm>
            <a:custGeom>
              <a:avLst/>
              <a:gdLst>
                <a:gd name="T0" fmla="*/ 0 w 127"/>
                <a:gd name="T1" fmla="*/ 39 h 73"/>
                <a:gd name="T2" fmla="*/ 0 w 127"/>
                <a:gd name="T3" fmla="*/ 39 h 73"/>
                <a:gd name="T4" fmla="*/ 5 w 127"/>
                <a:gd name="T5" fmla="*/ 31 h 73"/>
                <a:gd name="T6" fmla="*/ 10 w 127"/>
                <a:gd name="T7" fmla="*/ 26 h 73"/>
                <a:gd name="T8" fmla="*/ 20 w 127"/>
                <a:gd name="T9" fmla="*/ 17 h 73"/>
                <a:gd name="T10" fmla="*/ 29 w 127"/>
                <a:gd name="T11" fmla="*/ 13 h 73"/>
                <a:gd name="T12" fmla="*/ 39 w 127"/>
                <a:gd name="T13" fmla="*/ 9 h 73"/>
                <a:gd name="T14" fmla="*/ 50 w 127"/>
                <a:gd name="T15" fmla="*/ 5 h 73"/>
                <a:gd name="T16" fmla="*/ 65 w 127"/>
                <a:gd name="T17" fmla="*/ 0 h 73"/>
                <a:gd name="T18" fmla="*/ 69 w 127"/>
                <a:gd name="T19" fmla="*/ 0 h 7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7"/>
                <a:gd name="T31" fmla="*/ 0 h 73"/>
                <a:gd name="T32" fmla="*/ 127 w 127"/>
                <a:gd name="T33" fmla="*/ 73 h 7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7" h="73">
                  <a:moveTo>
                    <a:pt x="0" y="72"/>
                  </a:moveTo>
                  <a:lnTo>
                    <a:pt x="0" y="72"/>
                  </a:lnTo>
                  <a:lnTo>
                    <a:pt x="9" y="56"/>
                  </a:lnTo>
                  <a:lnTo>
                    <a:pt x="18" y="48"/>
                  </a:lnTo>
                  <a:lnTo>
                    <a:pt x="36" y="32"/>
                  </a:lnTo>
                  <a:lnTo>
                    <a:pt x="54" y="24"/>
                  </a:lnTo>
                  <a:lnTo>
                    <a:pt x="72" y="16"/>
                  </a:lnTo>
                  <a:lnTo>
                    <a:pt x="90" y="8"/>
                  </a:lnTo>
                  <a:lnTo>
                    <a:pt x="117" y="0"/>
                  </a:lnTo>
                  <a:lnTo>
                    <a:pt x="126"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025" name="Freeform 510"/>
            <p:cNvSpPr>
              <a:spLocks/>
            </p:cNvSpPr>
            <p:nvPr/>
          </p:nvSpPr>
          <p:spPr bwMode="auto">
            <a:xfrm>
              <a:off x="2177" y="2253"/>
              <a:ext cx="97" cy="106"/>
            </a:xfrm>
            <a:custGeom>
              <a:avLst/>
              <a:gdLst>
                <a:gd name="T0" fmla="*/ 65 w 118"/>
                <a:gd name="T1" fmla="*/ 71 h 129"/>
                <a:gd name="T2" fmla="*/ 0 w 118"/>
                <a:gd name="T3" fmla="*/ 39 h 129"/>
                <a:gd name="T4" fmla="*/ 10 w 118"/>
                <a:gd name="T5" fmla="*/ 0 h 129"/>
                <a:gd name="T6" fmla="*/ 0 60000 65536"/>
                <a:gd name="T7" fmla="*/ 0 60000 65536"/>
                <a:gd name="T8" fmla="*/ 0 60000 65536"/>
                <a:gd name="T9" fmla="*/ 0 w 118"/>
                <a:gd name="T10" fmla="*/ 0 h 129"/>
                <a:gd name="T11" fmla="*/ 118 w 118"/>
                <a:gd name="T12" fmla="*/ 129 h 129"/>
              </a:gdLst>
              <a:ahLst/>
              <a:cxnLst>
                <a:cxn ang="T6">
                  <a:pos x="T0" y="T1"/>
                </a:cxn>
                <a:cxn ang="T7">
                  <a:pos x="T2" y="T3"/>
                </a:cxn>
                <a:cxn ang="T8">
                  <a:pos x="T4" y="T5"/>
                </a:cxn>
              </a:cxnLst>
              <a:rect l="T9" t="T10" r="T11" b="T12"/>
              <a:pathLst>
                <a:path w="118" h="129">
                  <a:moveTo>
                    <a:pt x="117" y="128"/>
                  </a:moveTo>
                  <a:lnTo>
                    <a:pt x="0" y="72"/>
                  </a:lnTo>
                  <a:lnTo>
                    <a:pt x="1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026" name="Freeform 511"/>
            <p:cNvSpPr>
              <a:spLocks/>
            </p:cNvSpPr>
            <p:nvPr/>
          </p:nvSpPr>
          <p:spPr bwMode="auto">
            <a:xfrm>
              <a:off x="2192" y="2253"/>
              <a:ext cx="82" cy="106"/>
            </a:xfrm>
            <a:custGeom>
              <a:avLst/>
              <a:gdLst>
                <a:gd name="T0" fmla="*/ 54 w 100"/>
                <a:gd name="T1" fmla="*/ 71 h 129"/>
                <a:gd name="T2" fmla="*/ 44 w 100"/>
                <a:gd name="T3" fmla="*/ 67 h 129"/>
                <a:gd name="T4" fmla="*/ 30 w 100"/>
                <a:gd name="T5" fmla="*/ 58 h 129"/>
                <a:gd name="T6" fmla="*/ 21 w 100"/>
                <a:gd name="T7" fmla="*/ 48 h 129"/>
                <a:gd name="T8" fmla="*/ 10 w 100"/>
                <a:gd name="T9" fmla="*/ 39 h 129"/>
                <a:gd name="T10" fmla="*/ 5 w 100"/>
                <a:gd name="T11" fmla="*/ 31 h 129"/>
                <a:gd name="T12" fmla="*/ 0 w 100"/>
                <a:gd name="T13" fmla="*/ 22 h 129"/>
                <a:gd name="T14" fmla="*/ 0 w 100"/>
                <a:gd name="T15" fmla="*/ 17 h 129"/>
                <a:gd name="T16" fmla="*/ 0 w 100"/>
                <a:gd name="T17" fmla="*/ 5 h 129"/>
                <a:gd name="T18" fmla="*/ 0 w 100"/>
                <a:gd name="T19" fmla="*/ 0 h 12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0"/>
                <a:gd name="T31" fmla="*/ 0 h 129"/>
                <a:gd name="T32" fmla="*/ 100 w 100"/>
                <a:gd name="T33" fmla="*/ 129 h 12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0" h="129">
                  <a:moveTo>
                    <a:pt x="99" y="128"/>
                  </a:moveTo>
                  <a:lnTo>
                    <a:pt x="81" y="120"/>
                  </a:lnTo>
                  <a:lnTo>
                    <a:pt x="54" y="104"/>
                  </a:lnTo>
                  <a:lnTo>
                    <a:pt x="36" y="88"/>
                  </a:lnTo>
                  <a:lnTo>
                    <a:pt x="18" y="72"/>
                  </a:lnTo>
                  <a:lnTo>
                    <a:pt x="9" y="56"/>
                  </a:lnTo>
                  <a:lnTo>
                    <a:pt x="0" y="40"/>
                  </a:lnTo>
                  <a:lnTo>
                    <a:pt x="0" y="32"/>
                  </a:lnTo>
                  <a:lnTo>
                    <a:pt x="0" y="8"/>
                  </a:lnTo>
                  <a:lnTo>
                    <a:pt x="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027" name="Freeform 512"/>
            <p:cNvSpPr>
              <a:spLocks/>
            </p:cNvSpPr>
            <p:nvPr/>
          </p:nvSpPr>
          <p:spPr bwMode="auto">
            <a:xfrm>
              <a:off x="1933" y="1747"/>
              <a:ext cx="60" cy="106"/>
            </a:xfrm>
            <a:custGeom>
              <a:avLst/>
              <a:gdLst>
                <a:gd name="T0" fmla="*/ 0 w 73"/>
                <a:gd name="T1" fmla="*/ 0 h 129"/>
                <a:gd name="T2" fmla="*/ 15 w 73"/>
                <a:gd name="T3" fmla="*/ 62 h 129"/>
                <a:gd name="T4" fmla="*/ 39 w 73"/>
                <a:gd name="T5" fmla="*/ 71 h 129"/>
                <a:gd name="T6" fmla="*/ 0 60000 65536"/>
                <a:gd name="T7" fmla="*/ 0 60000 65536"/>
                <a:gd name="T8" fmla="*/ 0 60000 65536"/>
                <a:gd name="T9" fmla="*/ 0 w 73"/>
                <a:gd name="T10" fmla="*/ 0 h 129"/>
                <a:gd name="T11" fmla="*/ 73 w 73"/>
                <a:gd name="T12" fmla="*/ 129 h 129"/>
              </a:gdLst>
              <a:ahLst/>
              <a:cxnLst>
                <a:cxn ang="T6">
                  <a:pos x="T0" y="T1"/>
                </a:cxn>
                <a:cxn ang="T7">
                  <a:pos x="T2" y="T3"/>
                </a:cxn>
                <a:cxn ang="T8">
                  <a:pos x="T4" y="T5"/>
                </a:cxn>
              </a:cxnLst>
              <a:rect l="T9" t="T10" r="T11" b="T12"/>
              <a:pathLst>
                <a:path w="73" h="129">
                  <a:moveTo>
                    <a:pt x="0" y="0"/>
                  </a:moveTo>
                  <a:lnTo>
                    <a:pt x="27" y="112"/>
                  </a:lnTo>
                  <a:lnTo>
                    <a:pt x="72" y="128"/>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028" name="Freeform 513"/>
            <p:cNvSpPr>
              <a:spLocks/>
            </p:cNvSpPr>
            <p:nvPr/>
          </p:nvSpPr>
          <p:spPr bwMode="auto">
            <a:xfrm>
              <a:off x="1933" y="1747"/>
              <a:ext cx="60" cy="106"/>
            </a:xfrm>
            <a:custGeom>
              <a:avLst/>
              <a:gdLst>
                <a:gd name="T0" fmla="*/ 0 w 73"/>
                <a:gd name="T1" fmla="*/ 0 h 129"/>
                <a:gd name="T2" fmla="*/ 0 w 73"/>
                <a:gd name="T3" fmla="*/ 5 h 129"/>
                <a:gd name="T4" fmla="*/ 5 w 73"/>
                <a:gd name="T5" fmla="*/ 17 h 129"/>
                <a:gd name="T6" fmla="*/ 10 w 73"/>
                <a:gd name="T7" fmla="*/ 31 h 129"/>
                <a:gd name="T8" fmla="*/ 15 w 73"/>
                <a:gd name="T9" fmla="*/ 44 h 129"/>
                <a:gd name="T10" fmla="*/ 21 w 73"/>
                <a:gd name="T11" fmla="*/ 53 h 129"/>
                <a:gd name="T12" fmla="*/ 25 w 73"/>
                <a:gd name="T13" fmla="*/ 58 h 129"/>
                <a:gd name="T14" fmla="*/ 30 w 73"/>
                <a:gd name="T15" fmla="*/ 62 h 129"/>
                <a:gd name="T16" fmla="*/ 39 w 73"/>
                <a:gd name="T17" fmla="*/ 71 h 1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3"/>
                <a:gd name="T28" fmla="*/ 0 h 129"/>
                <a:gd name="T29" fmla="*/ 73 w 73"/>
                <a:gd name="T30" fmla="*/ 129 h 1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3" h="129">
                  <a:moveTo>
                    <a:pt x="0" y="0"/>
                  </a:moveTo>
                  <a:lnTo>
                    <a:pt x="0" y="8"/>
                  </a:lnTo>
                  <a:lnTo>
                    <a:pt x="9" y="32"/>
                  </a:lnTo>
                  <a:lnTo>
                    <a:pt x="18" y="56"/>
                  </a:lnTo>
                  <a:lnTo>
                    <a:pt x="27" y="80"/>
                  </a:lnTo>
                  <a:lnTo>
                    <a:pt x="36" y="96"/>
                  </a:lnTo>
                  <a:lnTo>
                    <a:pt x="45" y="104"/>
                  </a:lnTo>
                  <a:lnTo>
                    <a:pt x="54" y="112"/>
                  </a:lnTo>
                  <a:lnTo>
                    <a:pt x="72" y="128"/>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029" name="Line 514"/>
            <p:cNvSpPr>
              <a:spLocks noChangeShapeType="1"/>
            </p:cNvSpPr>
            <p:nvPr/>
          </p:nvSpPr>
          <p:spPr bwMode="auto">
            <a:xfrm flipV="1">
              <a:off x="2025" y="1866"/>
              <a:ext cx="16" cy="19"/>
            </a:xfrm>
            <a:prstGeom prst="line">
              <a:avLst/>
            </a:prstGeom>
            <a:noFill/>
            <a:ln w="12700">
              <a:solidFill>
                <a:srgbClr val="009900"/>
              </a:solidFill>
              <a:round/>
              <a:headEnd/>
              <a:tailEnd/>
            </a:ln>
          </p:spPr>
          <p:txBody>
            <a:bodyPr wrap="none" anchor="ctr"/>
            <a:lstStyle/>
            <a:p>
              <a:endParaRPr lang="en-US"/>
            </a:p>
          </p:txBody>
        </p:sp>
        <p:sp>
          <p:nvSpPr>
            <p:cNvPr id="40030" name="Line 515"/>
            <p:cNvSpPr>
              <a:spLocks noChangeShapeType="1"/>
            </p:cNvSpPr>
            <p:nvPr/>
          </p:nvSpPr>
          <p:spPr bwMode="auto">
            <a:xfrm flipV="1">
              <a:off x="2025" y="1866"/>
              <a:ext cx="16" cy="19"/>
            </a:xfrm>
            <a:prstGeom prst="line">
              <a:avLst/>
            </a:prstGeom>
            <a:noFill/>
            <a:ln w="12700">
              <a:solidFill>
                <a:srgbClr val="009900"/>
              </a:solidFill>
              <a:round/>
              <a:headEnd/>
              <a:tailEnd/>
            </a:ln>
          </p:spPr>
          <p:txBody>
            <a:bodyPr wrap="none" anchor="ctr"/>
            <a:lstStyle/>
            <a:p>
              <a:endParaRPr lang="en-US"/>
            </a:p>
          </p:txBody>
        </p:sp>
        <p:sp>
          <p:nvSpPr>
            <p:cNvPr id="40031" name="Line 516"/>
            <p:cNvSpPr>
              <a:spLocks noChangeShapeType="1"/>
            </p:cNvSpPr>
            <p:nvPr/>
          </p:nvSpPr>
          <p:spPr bwMode="auto">
            <a:xfrm flipV="1">
              <a:off x="2912" y="1797"/>
              <a:ext cx="105" cy="32"/>
            </a:xfrm>
            <a:prstGeom prst="line">
              <a:avLst/>
            </a:prstGeom>
            <a:noFill/>
            <a:ln w="12700">
              <a:solidFill>
                <a:srgbClr val="009900"/>
              </a:solidFill>
              <a:round/>
              <a:headEnd/>
              <a:tailEnd/>
            </a:ln>
          </p:spPr>
          <p:txBody>
            <a:bodyPr wrap="none" anchor="ctr"/>
            <a:lstStyle/>
            <a:p>
              <a:endParaRPr lang="en-US"/>
            </a:p>
          </p:txBody>
        </p:sp>
        <p:sp>
          <p:nvSpPr>
            <p:cNvPr id="40032" name="Line 517"/>
            <p:cNvSpPr>
              <a:spLocks noChangeShapeType="1"/>
            </p:cNvSpPr>
            <p:nvPr/>
          </p:nvSpPr>
          <p:spPr bwMode="auto">
            <a:xfrm flipV="1">
              <a:off x="2912" y="1797"/>
              <a:ext cx="105" cy="32"/>
            </a:xfrm>
            <a:prstGeom prst="line">
              <a:avLst/>
            </a:prstGeom>
            <a:noFill/>
            <a:ln w="12700">
              <a:solidFill>
                <a:srgbClr val="009900"/>
              </a:solidFill>
              <a:round/>
              <a:headEnd/>
              <a:tailEnd/>
            </a:ln>
          </p:spPr>
          <p:txBody>
            <a:bodyPr wrap="none" anchor="ctr"/>
            <a:lstStyle/>
            <a:p>
              <a:endParaRPr lang="en-US"/>
            </a:p>
          </p:txBody>
        </p:sp>
        <p:sp>
          <p:nvSpPr>
            <p:cNvPr id="40033" name="Freeform 518"/>
            <p:cNvSpPr>
              <a:spLocks/>
            </p:cNvSpPr>
            <p:nvPr/>
          </p:nvSpPr>
          <p:spPr bwMode="auto">
            <a:xfrm>
              <a:off x="2747" y="1944"/>
              <a:ext cx="178" cy="54"/>
            </a:xfrm>
            <a:custGeom>
              <a:avLst/>
              <a:gdLst>
                <a:gd name="T0" fmla="*/ 0 w 217"/>
                <a:gd name="T1" fmla="*/ 37 h 65"/>
                <a:gd name="T2" fmla="*/ 94 w 217"/>
                <a:gd name="T3" fmla="*/ 27 h 65"/>
                <a:gd name="T4" fmla="*/ 119 w 217"/>
                <a:gd name="T5" fmla="*/ 0 h 65"/>
                <a:gd name="T6" fmla="*/ 0 60000 65536"/>
                <a:gd name="T7" fmla="*/ 0 60000 65536"/>
                <a:gd name="T8" fmla="*/ 0 60000 65536"/>
                <a:gd name="T9" fmla="*/ 0 w 217"/>
                <a:gd name="T10" fmla="*/ 0 h 65"/>
                <a:gd name="T11" fmla="*/ 217 w 217"/>
                <a:gd name="T12" fmla="*/ 65 h 65"/>
              </a:gdLst>
              <a:ahLst/>
              <a:cxnLst>
                <a:cxn ang="T6">
                  <a:pos x="T0" y="T1"/>
                </a:cxn>
                <a:cxn ang="T7">
                  <a:pos x="T2" y="T3"/>
                </a:cxn>
                <a:cxn ang="T8">
                  <a:pos x="T4" y="T5"/>
                </a:cxn>
              </a:cxnLst>
              <a:rect l="T9" t="T10" r="T11" b="T12"/>
              <a:pathLst>
                <a:path w="217" h="65">
                  <a:moveTo>
                    <a:pt x="0" y="64"/>
                  </a:moveTo>
                  <a:lnTo>
                    <a:pt x="171" y="48"/>
                  </a:lnTo>
                  <a:lnTo>
                    <a:pt x="216"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034" name="Freeform 519"/>
            <p:cNvSpPr>
              <a:spLocks/>
            </p:cNvSpPr>
            <p:nvPr/>
          </p:nvSpPr>
          <p:spPr bwMode="auto">
            <a:xfrm>
              <a:off x="2747" y="1944"/>
              <a:ext cx="178" cy="54"/>
            </a:xfrm>
            <a:custGeom>
              <a:avLst/>
              <a:gdLst>
                <a:gd name="T0" fmla="*/ 0 w 217"/>
                <a:gd name="T1" fmla="*/ 37 h 65"/>
                <a:gd name="T2" fmla="*/ 10 w 217"/>
                <a:gd name="T3" fmla="*/ 37 h 65"/>
                <a:gd name="T4" fmla="*/ 35 w 217"/>
                <a:gd name="T5" fmla="*/ 32 h 65"/>
                <a:gd name="T6" fmla="*/ 54 w 217"/>
                <a:gd name="T7" fmla="*/ 27 h 65"/>
                <a:gd name="T8" fmla="*/ 69 w 217"/>
                <a:gd name="T9" fmla="*/ 27 h 65"/>
                <a:gd name="T10" fmla="*/ 84 w 217"/>
                <a:gd name="T11" fmla="*/ 22 h 65"/>
                <a:gd name="T12" fmla="*/ 99 w 217"/>
                <a:gd name="T13" fmla="*/ 14 h 65"/>
                <a:gd name="T14" fmla="*/ 109 w 217"/>
                <a:gd name="T15" fmla="*/ 9 h 65"/>
                <a:gd name="T16" fmla="*/ 114 w 217"/>
                <a:gd name="T17" fmla="*/ 5 h 65"/>
                <a:gd name="T18" fmla="*/ 119 w 217"/>
                <a:gd name="T19" fmla="*/ 0 h 6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17"/>
                <a:gd name="T31" fmla="*/ 0 h 65"/>
                <a:gd name="T32" fmla="*/ 217 w 217"/>
                <a:gd name="T33" fmla="*/ 65 h 6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7" h="65">
                  <a:moveTo>
                    <a:pt x="0" y="64"/>
                  </a:moveTo>
                  <a:lnTo>
                    <a:pt x="18" y="64"/>
                  </a:lnTo>
                  <a:lnTo>
                    <a:pt x="63" y="56"/>
                  </a:lnTo>
                  <a:lnTo>
                    <a:pt x="99" y="48"/>
                  </a:lnTo>
                  <a:lnTo>
                    <a:pt x="126" y="48"/>
                  </a:lnTo>
                  <a:lnTo>
                    <a:pt x="153" y="40"/>
                  </a:lnTo>
                  <a:lnTo>
                    <a:pt x="180" y="24"/>
                  </a:lnTo>
                  <a:lnTo>
                    <a:pt x="198" y="16"/>
                  </a:lnTo>
                  <a:lnTo>
                    <a:pt x="207" y="8"/>
                  </a:lnTo>
                  <a:lnTo>
                    <a:pt x="216"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035" name="Line 520"/>
            <p:cNvSpPr>
              <a:spLocks noChangeShapeType="1"/>
            </p:cNvSpPr>
            <p:nvPr/>
          </p:nvSpPr>
          <p:spPr bwMode="auto">
            <a:xfrm flipV="1">
              <a:off x="2232" y="2408"/>
              <a:ext cx="105" cy="26"/>
            </a:xfrm>
            <a:prstGeom prst="line">
              <a:avLst/>
            </a:prstGeom>
            <a:noFill/>
            <a:ln w="12700">
              <a:solidFill>
                <a:srgbClr val="009900"/>
              </a:solidFill>
              <a:round/>
              <a:headEnd/>
              <a:tailEnd/>
            </a:ln>
          </p:spPr>
          <p:txBody>
            <a:bodyPr wrap="none" anchor="ctr"/>
            <a:lstStyle/>
            <a:p>
              <a:endParaRPr lang="en-US"/>
            </a:p>
          </p:txBody>
        </p:sp>
        <p:sp>
          <p:nvSpPr>
            <p:cNvPr id="40036" name="Line 521"/>
            <p:cNvSpPr>
              <a:spLocks noChangeShapeType="1"/>
            </p:cNvSpPr>
            <p:nvPr/>
          </p:nvSpPr>
          <p:spPr bwMode="auto">
            <a:xfrm flipV="1">
              <a:off x="2232" y="2408"/>
              <a:ext cx="105" cy="26"/>
            </a:xfrm>
            <a:prstGeom prst="line">
              <a:avLst/>
            </a:prstGeom>
            <a:noFill/>
            <a:ln w="12700">
              <a:solidFill>
                <a:srgbClr val="009900"/>
              </a:solidFill>
              <a:round/>
              <a:headEnd/>
              <a:tailEnd/>
            </a:ln>
          </p:spPr>
          <p:txBody>
            <a:bodyPr wrap="none" anchor="ctr"/>
            <a:lstStyle/>
            <a:p>
              <a:endParaRPr lang="en-US"/>
            </a:p>
          </p:txBody>
        </p:sp>
        <p:sp>
          <p:nvSpPr>
            <p:cNvPr id="40037" name="Line 522"/>
            <p:cNvSpPr>
              <a:spLocks noChangeShapeType="1"/>
            </p:cNvSpPr>
            <p:nvPr/>
          </p:nvSpPr>
          <p:spPr bwMode="auto">
            <a:xfrm flipH="1" flipV="1">
              <a:off x="2103" y="2188"/>
              <a:ext cx="89" cy="98"/>
            </a:xfrm>
            <a:prstGeom prst="line">
              <a:avLst/>
            </a:prstGeom>
            <a:noFill/>
            <a:ln w="12700">
              <a:solidFill>
                <a:srgbClr val="009900"/>
              </a:solidFill>
              <a:round/>
              <a:headEnd/>
              <a:tailEnd/>
            </a:ln>
          </p:spPr>
          <p:txBody>
            <a:bodyPr wrap="none" anchor="ctr"/>
            <a:lstStyle/>
            <a:p>
              <a:endParaRPr lang="en-US"/>
            </a:p>
          </p:txBody>
        </p:sp>
        <p:sp>
          <p:nvSpPr>
            <p:cNvPr id="40038" name="Line 523"/>
            <p:cNvSpPr>
              <a:spLocks noChangeShapeType="1"/>
            </p:cNvSpPr>
            <p:nvPr/>
          </p:nvSpPr>
          <p:spPr bwMode="auto">
            <a:xfrm flipH="1" flipV="1">
              <a:off x="2103" y="2188"/>
              <a:ext cx="89" cy="98"/>
            </a:xfrm>
            <a:prstGeom prst="line">
              <a:avLst/>
            </a:prstGeom>
            <a:noFill/>
            <a:ln w="12700">
              <a:solidFill>
                <a:srgbClr val="009900"/>
              </a:solidFill>
              <a:round/>
              <a:headEnd/>
              <a:tailEnd/>
            </a:ln>
          </p:spPr>
          <p:txBody>
            <a:bodyPr wrap="none" anchor="ctr"/>
            <a:lstStyle/>
            <a:p>
              <a:endParaRPr lang="en-US"/>
            </a:p>
          </p:txBody>
        </p:sp>
        <p:sp>
          <p:nvSpPr>
            <p:cNvPr id="40039" name="Freeform 524"/>
            <p:cNvSpPr>
              <a:spLocks/>
            </p:cNvSpPr>
            <p:nvPr/>
          </p:nvSpPr>
          <p:spPr bwMode="auto">
            <a:xfrm>
              <a:off x="2547" y="2411"/>
              <a:ext cx="163" cy="34"/>
            </a:xfrm>
            <a:custGeom>
              <a:avLst/>
              <a:gdLst>
                <a:gd name="T0" fmla="*/ 0 w 199"/>
                <a:gd name="T1" fmla="*/ 22 h 41"/>
                <a:gd name="T2" fmla="*/ 79 w 199"/>
                <a:gd name="T3" fmla="*/ 18 h 41"/>
                <a:gd name="T4" fmla="*/ 109 w 199"/>
                <a:gd name="T5" fmla="*/ 0 h 41"/>
                <a:gd name="T6" fmla="*/ 0 60000 65536"/>
                <a:gd name="T7" fmla="*/ 0 60000 65536"/>
                <a:gd name="T8" fmla="*/ 0 60000 65536"/>
                <a:gd name="T9" fmla="*/ 0 w 199"/>
                <a:gd name="T10" fmla="*/ 0 h 41"/>
                <a:gd name="T11" fmla="*/ 199 w 199"/>
                <a:gd name="T12" fmla="*/ 41 h 41"/>
              </a:gdLst>
              <a:ahLst/>
              <a:cxnLst>
                <a:cxn ang="T6">
                  <a:pos x="T0" y="T1"/>
                </a:cxn>
                <a:cxn ang="T7">
                  <a:pos x="T2" y="T3"/>
                </a:cxn>
                <a:cxn ang="T8">
                  <a:pos x="T4" y="T5"/>
                </a:cxn>
              </a:cxnLst>
              <a:rect l="T9" t="T10" r="T11" b="T12"/>
              <a:pathLst>
                <a:path w="199" h="41">
                  <a:moveTo>
                    <a:pt x="0" y="40"/>
                  </a:moveTo>
                  <a:lnTo>
                    <a:pt x="144" y="32"/>
                  </a:lnTo>
                  <a:lnTo>
                    <a:pt x="19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040" name="Freeform 525"/>
            <p:cNvSpPr>
              <a:spLocks/>
            </p:cNvSpPr>
            <p:nvPr/>
          </p:nvSpPr>
          <p:spPr bwMode="auto">
            <a:xfrm>
              <a:off x="2547" y="2411"/>
              <a:ext cx="163" cy="34"/>
            </a:xfrm>
            <a:custGeom>
              <a:avLst/>
              <a:gdLst>
                <a:gd name="T0" fmla="*/ 0 w 199"/>
                <a:gd name="T1" fmla="*/ 22 h 41"/>
                <a:gd name="T2" fmla="*/ 10 w 199"/>
                <a:gd name="T3" fmla="*/ 22 h 41"/>
                <a:gd name="T4" fmla="*/ 25 w 199"/>
                <a:gd name="T5" fmla="*/ 22 h 41"/>
                <a:gd name="T6" fmla="*/ 50 w 199"/>
                <a:gd name="T7" fmla="*/ 18 h 41"/>
                <a:gd name="T8" fmla="*/ 59 w 199"/>
                <a:gd name="T9" fmla="*/ 18 h 41"/>
                <a:gd name="T10" fmla="*/ 69 w 199"/>
                <a:gd name="T11" fmla="*/ 14 h 41"/>
                <a:gd name="T12" fmla="*/ 89 w 199"/>
                <a:gd name="T13" fmla="*/ 9 h 41"/>
                <a:gd name="T14" fmla="*/ 98 w 199"/>
                <a:gd name="T15" fmla="*/ 5 h 41"/>
                <a:gd name="T16" fmla="*/ 104 w 199"/>
                <a:gd name="T17" fmla="*/ 5 h 41"/>
                <a:gd name="T18" fmla="*/ 109 w 199"/>
                <a:gd name="T19" fmla="*/ 0 h 4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9"/>
                <a:gd name="T31" fmla="*/ 0 h 41"/>
                <a:gd name="T32" fmla="*/ 199 w 199"/>
                <a:gd name="T33" fmla="*/ 41 h 4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9" h="41">
                  <a:moveTo>
                    <a:pt x="0" y="40"/>
                  </a:moveTo>
                  <a:lnTo>
                    <a:pt x="18" y="40"/>
                  </a:lnTo>
                  <a:lnTo>
                    <a:pt x="45" y="40"/>
                  </a:lnTo>
                  <a:lnTo>
                    <a:pt x="90" y="32"/>
                  </a:lnTo>
                  <a:lnTo>
                    <a:pt x="108" y="32"/>
                  </a:lnTo>
                  <a:lnTo>
                    <a:pt x="126" y="24"/>
                  </a:lnTo>
                  <a:lnTo>
                    <a:pt x="162" y="16"/>
                  </a:lnTo>
                  <a:lnTo>
                    <a:pt x="180" y="8"/>
                  </a:lnTo>
                  <a:lnTo>
                    <a:pt x="189" y="8"/>
                  </a:lnTo>
                  <a:lnTo>
                    <a:pt x="19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041" name="Freeform 526"/>
            <p:cNvSpPr>
              <a:spLocks/>
            </p:cNvSpPr>
            <p:nvPr/>
          </p:nvSpPr>
          <p:spPr bwMode="auto">
            <a:xfrm>
              <a:off x="2584" y="2260"/>
              <a:ext cx="89" cy="53"/>
            </a:xfrm>
            <a:custGeom>
              <a:avLst/>
              <a:gdLst>
                <a:gd name="T0" fmla="*/ 59 w 109"/>
                <a:gd name="T1" fmla="*/ 34 h 65"/>
                <a:gd name="T2" fmla="*/ 10 w 109"/>
                <a:gd name="T3" fmla="*/ 26 h 65"/>
                <a:gd name="T4" fmla="*/ 0 w 109"/>
                <a:gd name="T5" fmla="*/ 0 h 65"/>
                <a:gd name="T6" fmla="*/ 0 60000 65536"/>
                <a:gd name="T7" fmla="*/ 0 60000 65536"/>
                <a:gd name="T8" fmla="*/ 0 60000 65536"/>
                <a:gd name="T9" fmla="*/ 0 w 109"/>
                <a:gd name="T10" fmla="*/ 0 h 65"/>
                <a:gd name="T11" fmla="*/ 109 w 109"/>
                <a:gd name="T12" fmla="*/ 65 h 65"/>
              </a:gdLst>
              <a:ahLst/>
              <a:cxnLst>
                <a:cxn ang="T6">
                  <a:pos x="T0" y="T1"/>
                </a:cxn>
                <a:cxn ang="T7">
                  <a:pos x="T2" y="T3"/>
                </a:cxn>
                <a:cxn ang="T8">
                  <a:pos x="T4" y="T5"/>
                </a:cxn>
              </a:cxnLst>
              <a:rect l="T9" t="T10" r="T11" b="T12"/>
              <a:pathLst>
                <a:path w="109" h="65">
                  <a:moveTo>
                    <a:pt x="108" y="64"/>
                  </a:moveTo>
                  <a:lnTo>
                    <a:pt x="18" y="48"/>
                  </a:lnTo>
                  <a:lnTo>
                    <a:pt x="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042" name="Freeform 527"/>
            <p:cNvSpPr>
              <a:spLocks/>
            </p:cNvSpPr>
            <p:nvPr/>
          </p:nvSpPr>
          <p:spPr bwMode="auto">
            <a:xfrm>
              <a:off x="2584" y="2260"/>
              <a:ext cx="89" cy="53"/>
            </a:xfrm>
            <a:custGeom>
              <a:avLst/>
              <a:gdLst>
                <a:gd name="T0" fmla="*/ 59 w 109"/>
                <a:gd name="T1" fmla="*/ 34 h 65"/>
                <a:gd name="T2" fmla="*/ 49 w 109"/>
                <a:gd name="T3" fmla="*/ 34 h 65"/>
                <a:gd name="T4" fmla="*/ 29 w 109"/>
                <a:gd name="T5" fmla="*/ 26 h 65"/>
                <a:gd name="T6" fmla="*/ 15 w 109"/>
                <a:gd name="T7" fmla="*/ 17 h 65"/>
                <a:gd name="T8" fmla="*/ 5 w 109"/>
                <a:gd name="T9" fmla="*/ 9 h 65"/>
                <a:gd name="T10" fmla="*/ 0 w 109"/>
                <a:gd name="T11" fmla="*/ 0 h 65"/>
                <a:gd name="T12" fmla="*/ 0 60000 65536"/>
                <a:gd name="T13" fmla="*/ 0 60000 65536"/>
                <a:gd name="T14" fmla="*/ 0 60000 65536"/>
                <a:gd name="T15" fmla="*/ 0 60000 65536"/>
                <a:gd name="T16" fmla="*/ 0 60000 65536"/>
                <a:gd name="T17" fmla="*/ 0 60000 65536"/>
                <a:gd name="T18" fmla="*/ 0 w 109"/>
                <a:gd name="T19" fmla="*/ 0 h 65"/>
                <a:gd name="T20" fmla="*/ 109 w 109"/>
                <a:gd name="T21" fmla="*/ 65 h 65"/>
              </a:gdLst>
              <a:ahLst/>
              <a:cxnLst>
                <a:cxn ang="T12">
                  <a:pos x="T0" y="T1"/>
                </a:cxn>
                <a:cxn ang="T13">
                  <a:pos x="T2" y="T3"/>
                </a:cxn>
                <a:cxn ang="T14">
                  <a:pos x="T4" y="T5"/>
                </a:cxn>
                <a:cxn ang="T15">
                  <a:pos x="T6" y="T7"/>
                </a:cxn>
                <a:cxn ang="T16">
                  <a:pos x="T8" y="T9"/>
                </a:cxn>
                <a:cxn ang="T17">
                  <a:pos x="T10" y="T11"/>
                </a:cxn>
              </a:cxnLst>
              <a:rect l="T18" t="T19" r="T20" b="T21"/>
              <a:pathLst>
                <a:path w="109" h="65">
                  <a:moveTo>
                    <a:pt x="108" y="64"/>
                  </a:moveTo>
                  <a:lnTo>
                    <a:pt x="90" y="64"/>
                  </a:lnTo>
                  <a:lnTo>
                    <a:pt x="54" y="48"/>
                  </a:lnTo>
                  <a:lnTo>
                    <a:pt x="27" y="32"/>
                  </a:lnTo>
                  <a:lnTo>
                    <a:pt x="9" y="16"/>
                  </a:lnTo>
                  <a:lnTo>
                    <a:pt x="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043" name="Freeform 528"/>
            <p:cNvSpPr>
              <a:spLocks/>
            </p:cNvSpPr>
            <p:nvPr/>
          </p:nvSpPr>
          <p:spPr bwMode="auto">
            <a:xfrm>
              <a:off x="2089" y="1755"/>
              <a:ext cx="141" cy="92"/>
            </a:xfrm>
            <a:custGeom>
              <a:avLst/>
              <a:gdLst>
                <a:gd name="T0" fmla="*/ 0 w 172"/>
                <a:gd name="T1" fmla="*/ 62 h 112"/>
                <a:gd name="T2" fmla="*/ 54 w 172"/>
                <a:gd name="T3" fmla="*/ 5 h 112"/>
                <a:gd name="T4" fmla="*/ 94 w 172"/>
                <a:gd name="T5" fmla="*/ 0 h 112"/>
                <a:gd name="T6" fmla="*/ 0 60000 65536"/>
                <a:gd name="T7" fmla="*/ 0 60000 65536"/>
                <a:gd name="T8" fmla="*/ 0 60000 65536"/>
                <a:gd name="T9" fmla="*/ 0 w 172"/>
                <a:gd name="T10" fmla="*/ 0 h 112"/>
                <a:gd name="T11" fmla="*/ 172 w 172"/>
                <a:gd name="T12" fmla="*/ 112 h 112"/>
              </a:gdLst>
              <a:ahLst/>
              <a:cxnLst>
                <a:cxn ang="T6">
                  <a:pos x="T0" y="T1"/>
                </a:cxn>
                <a:cxn ang="T7">
                  <a:pos x="T2" y="T3"/>
                </a:cxn>
                <a:cxn ang="T8">
                  <a:pos x="T4" y="T5"/>
                </a:cxn>
              </a:cxnLst>
              <a:rect l="T9" t="T10" r="T11" b="T12"/>
              <a:pathLst>
                <a:path w="172" h="112">
                  <a:moveTo>
                    <a:pt x="0" y="111"/>
                  </a:moveTo>
                  <a:lnTo>
                    <a:pt x="99" y="8"/>
                  </a:lnTo>
                  <a:lnTo>
                    <a:pt x="171"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044" name="Freeform 529"/>
            <p:cNvSpPr>
              <a:spLocks/>
            </p:cNvSpPr>
            <p:nvPr/>
          </p:nvSpPr>
          <p:spPr bwMode="auto">
            <a:xfrm>
              <a:off x="2089" y="1755"/>
              <a:ext cx="141" cy="92"/>
            </a:xfrm>
            <a:custGeom>
              <a:avLst/>
              <a:gdLst>
                <a:gd name="T0" fmla="*/ 0 w 172"/>
                <a:gd name="T1" fmla="*/ 62 h 112"/>
                <a:gd name="T2" fmla="*/ 5 w 172"/>
                <a:gd name="T3" fmla="*/ 58 h 112"/>
                <a:gd name="T4" fmla="*/ 20 w 172"/>
                <a:gd name="T5" fmla="*/ 44 h 112"/>
                <a:gd name="T6" fmla="*/ 35 w 172"/>
                <a:gd name="T7" fmla="*/ 31 h 112"/>
                <a:gd name="T8" fmla="*/ 44 w 172"/>
                <a:gd name="T9" fmla="*/ 22 h 112"/>
                <a:gd name="T10" fmla="*/ 60 w 172"/>
                <a:gd name="T11" fmla="*/ 13 h 112"/>
                <a:gd name="T12" fmla="*/ 65 w 172"/>
                <a:gd name="T13" fmla="*/ 9 h 112"/>
                <a:gd name="T14" fmla="*/ 75 w 172"/>
                <a:gd name="T15" fmla="*/ 5 h 112"/>
                <a:gd name="T16" fmla="*/ 89 w 172"/>
                <a:gd name="T17" fmla="*/ 0 h 112"/>
                <a:gd name="T18" fmla="*/ 94 w 172"/>
                <a:gd name="T19" fmla="*/ 0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2"/>
                <a:gd name="T31" fmla="*/ 0 h 112"/>
                <a:gd name="T32" fmla="*/ 172 w 172"/>
                <a:gd name="T33" fmla="*/ 112 h 11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2" h="112">
                  <a:moveTo>
                    <a:pt x="0" y="111"/>
                  </a:moveTo>
                  <a:lnTo>
                    <a:pt x="9" y="103"/>
                  </a:lnTo>
                  <a:lnTo>
                    <a:pt x="36" y="79"/>
                  </a:lnTo>
                  <a:lnTo>
                    <a:pt x="63" y="56"/>
                  </a:lnTo>
                  <a:lnTo>
                    <a:pt x="81" y="40"/>
                  </a:lnTo>
                  <a:lnTo>
                    <a:pt x="108" y="24"/>
                  </a:lnTo>
                  <a:lnTo>
                    <a:pt x="117" y="16"/>
                  </a:lnTo>
                  <a:lnTo>
                    <a:pt x="135" y="8"/>
                  </a:lnTo>
                  <a:lnTo>
                    <a:pt x="162" y="0"/>
                  </a:lnTo>
                  <a:lnTo>
                    <a:pt x="171"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045" name="Line 530"/>
            <p:cNvSpPr>
              <a:spLocks noChangeShapeType="1"/>
            </p:cNvSpPr>
            <p:nvPr/>
          </p:nvSpPr>
          <p:spPr bwMode="auto">
            <a:xfrm flipV="1">
              <a:off x="2225" y="2017"/>
              <a:ext cx="53" cy="79"/>
            </a:xfrm>
            <a:prstGeom prst="line">
              <a:avLst/>
            </a:prstGeom>
            <a:noFill/>
            <a:ln w="12700">
              <a:solidFill>
                <a:srgbClr val="009900"/>
              </a:solidFill>
              <a:round/>
              <a:headEnd/>
              <a:tailEnd/>
            </a:ln>
          </p:spPr>
          <p:txBody>
            <a:bodyPr wrap="none" anchor="ctr"/>
            <a:lstStyle/>
            <a:p>
              <a:endParaRPr lang="en-US"/>
            </a:p>
          </p:txBody>
        </p:sp>
        <p:sp>
          <p:nvSpPr>
            <p:cNvPr id="40046" name="Line 531"/>
            <p:cNvSpPr>
              <a:spLocks noChangeShapeType="1"/>
            </p:cNvSpPr>
            <p:nvPr/>
          </p:nvSpPr>
          <p:spPr bwMode="auto">
            <a:xfrm flipV="1">
              <a:off x="2225" y="2017"/>
              <a:ext cx="53" cy="79"/>
            </a:xfrm>
            <a:prstGeom prst="line">
              <a:avLst/>
            </a:prstGeom>
            <a:noFill/>
            <a:ln w="12700">
              <a:solidFill>
                <a:srgbClr val="009900"/>
              </a:solidFill>
              <a:round/>
              <a:headEnd/>
              <a:tailEnd/>
            </a:ln>
          </p:spPr>
          <p:txBody>
            <a:bodyPr wrap="none" anchor="ctr"/>
            <a:lstStyle/>
            <a:p>
              <a:endParaRPr lang="en-US"/>
            </a:p>
          </p:txBody>
        </p:sp>
        <p:sp>
          <p:nvSpPr>
            <p:cNvPr id="40047" name="Freeform 532"/>
            <p:cNvSpPr>
              <a:spLocks/>
            </p:cNvSpPr>
            <p:nvPr/>
          </p:nvSpPr>
          <p:spPr bwMode="auto">
            <a:xfrm>
              <a:off x="2769" y="2043"/>
              <a:ext cx="74" cy="93"/>
            </a:xfrm>
            <a:custGeom>
              <a:avLst/>
              <a:gdLst>
                <a:gd name="T0" fmla="*/ 44 w 91"/>
                <a:gd name="T1" fmla="*/ 63 h 113"/>
                <a:gd name="T2" fmla="*/ 48 w 91"/>
                <a:gd name="T3" fmla="*/ 22 h 113"/>
                <a:gd name="T4" fmla="*/ 0 w 91"/>
                <a:gd name="T5" fmla="*/ 0 h 113"/>
                <a:gd name="T6" fmla="*/ 0 60000 65536"/>
                <a:gd name="T7" fmla="*/ 0 60000 65536"/>
                <a:gd name="T8" fmla="*/ 0 60000 65536"/>
                <a:gd name="T9" fmla="*/ 0 w 91"/>
                <a:gd name="T10" fmla="*/ 0 h 113"/>
                <a:gd name="T11" fmla="*/ 91 w 91"/>
                <a:gd name="T12" fmla="*/ 113 h 113"/>
              </a:gdLst>
              <a:ahLst/>
              <a:cxnLst>
                <a:cxn ang="T6">
                  <a:pos x="T0" y="T1"/>
                </a:cxn>
                <a:cxn ang="T7">
                  <a:pos x="T2" y="T3"/>
                </a:cxn>
                <a:cxn ang="T8">
                  <a:pos x="T4" y="T5"/>
                </a:cxn>
              </a:cxnLst>
              <a:rect l="T9" t="T10" r="T11" b="T12"/>
              <a:pathLst>
                <a:path w="91" h="113">
                  <a:moveTo>
                    <a:pt x="81" y="112"/>
                  </a:moveTo>
                  <a:lnTo>
                    <a:pt x="90" y="40"/>
                  </a:lnTo>
                  <a:lnTo>
                    <a:pt x="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048" name="Freeform 533"/>
            <p:cNvSpPr>
              <a:spLocks/>
            </p:cNvSpPr>
            <p:nvPr/>
          </p:nvSpPr>
          <p:spPr bwMode="auto">
            <a:xfrm>
              <a:off x="2769" y="2043"/>
              <a:ext cx="67" cy="93"/>
            </a:xfrm>
            <a:custGeom>
              <a:avLst/>
              <a:gdLst>
                <a:gd name="T0" fmla="*/ 44 w 82"/>
                <a:gd name="T1" fmla="*/ 63 h 113"/>
                <a:gd name="T2" fmla="*/ 44 w 82"/>
                <a:gd name="T3" fmla="*/ 58 h 113"/>
                <a:gd name="T4" fmla="*/ 44 w 82"/>
                <a:gd name="T5" fmla="*/ 44 h 113"/>
                <a:gd name="T6" fmla="*/ 44 w 82"/>
                <a:gd name="T7" fmla="*/ 40 h 113"/>
                <a:gd name="T8" fmla="*/ 39 w 82"/>
                <a:gd name="T9" fmla="*/ 31 h 113"/>
                <a:gd name="T10" fmla="*/ 34 w 82"/>
                <a:gd name="T11" fmla="*/ 27 h 113"/>
                <a:gd name="T12" fmla="*/ 25 w 82"/>
                <a:gd name="T13" fmla="*/ 13 h 113"/>
                <a:gd name="T14" fmla="*/ 15 w 82"/>
                <a:gd name="T15" fmla="*/ 9 h 113"/>
                <a:gd name="T16" fmla="*/ 10 w 82"/>
                <a:gd name="T17" fmla="*/ 5 h 113"/>
                <a:gd name="T18" fmla="*/ 0 w 82"/>
                <a:gd name="T19" fmla="*/ 0 h 11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2"/>
                <a:gd name="T31" fmla="*/ 0 h 113"/>
                <a:gd name="T32" fmla="*/ 82 w 82"/>
                <a:gd name="T33" fmla="*/ 113 h 11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2" h="113">
                  <a:moveTo>
                    <a:pt x="81" y="112"/>
                  </a:moveTo>
                  <a:lnTo>
                    <a:pt x="81" y="104"/>
                  </a:lnTo>
                  <a:lnTo>
                    <a:pt x="81" y="80"/>
                  </a:lnTo>
                  <a:lnTo>
                    <a:pt x="81" y="72"/>
                  </a:lnTo>
                  <a:lnTo>
                    <a:pt x="72" y="56"/>
                  </a:lnTo>
                  <a:lnTo>
                    <a:pt x="63" y="48"/>
                  </a:lnTo>
                  <a:lnTo>
                    <a:pt x="45" y="24"/>
                  </a:lnTo>
                  <a:lnTo>
                    <a:pt x="27" y="16"/>
                  </a:lnTo>
                  <a:lnTo>
                    <a:pt x="18" y="8"/>
                  </a:lnTo>
                  <a:lnTo>
                    <a:pt x="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049" name="Line 534"/>
            <p:cNvSpPr>
              <a:spLocks noChangeShapeType="1"/>
            </p:cNvSpPr>
            <p:nvPr/>
          </p:nvSpPr>
          <p:spPr bwMode="auto">
            <a:xfrm flipH="1" flipV="1">
              <a:off x="2241" y="2096"/>
              <a:ext cx="21" cy="124"/>
            </a:xfrm>
            <a:prstGeom prst="line">
              <a:avLst/>
            </a:prstGeom>
            <a:noFill/>
            <a:ln w="12700">
              <a:solidFill>
                <a:srgbClr val="009900"/>
              </a:solidFill>
              <a:round/>
              <a:headEnd/>
              <a:tailEnd/>
            </a:ln>
          </p:spPr>
          <p:txBody>
            <a:bodyPr wrap="none" anchor="ctr"/>
            <a:lstStyle/>
            <a:p>
              <a:endParaRPr lang="en-US"/>
            </a:p>
          </p:txBody>
        </p:sp>
        <p:sp>
          <p:nvSpPr>
            <p:cNvPr id="40050" name="Line 535"/>
            <p:cNvSpPr>
              <a:spLocks noChangeShapeType="1"/>
            </p:cNvSpPr>
            <p:nvPr/>
          </p:nvSpPr>
          <p:spPr bwMode="auto">
            <a:xfrm flipH="1" flipV="1">
              <a:off x="2241" y="2096"/>
              <a:ext cx="21" cy="124"/>
            </a:xfrm>
            <a:prstGeom prst="line">
              <a:avLst/>
            </a:prstGeom>
            <a:noFill/>
            <a:ln w="12700">
              <a:solidFill>
                <a:srgbClr val="009900"/>
              </a:solidFill>
              <a:round/>
              <a:headEnd/>
              <a:tailEnd/>
            </a:ln>
          </p:spPr>
          <p:txBody>
            <a:bodyPr wrap="none" anchor="ctr"/>
            <a:lstStyle/>
            <a:p>
              <a:endParaRPr lang="en-US"/>
            </a:p>
          </p:txBody>
        </p:sp>
        <p:sp>
          <p:nvSpPr>
            <p:cNvPr id="40051" name="Line 536"/>
            <p:cNvSpPr>
              <a:spLocks noChangeShapeType="1"/>
            </p:cNvSpPr>
            <p:nvPr/>
          </p:nvSpPr>
          <p:spPr bwMode="auto">
            <a:xfrm flipV="1">
              <a:off x="1981" y="1875"/>
              <a:ext cx="178" cy="40"/>
            </a:xfrm>
            <a:prstGeom prst="line">
              <a:avLst/>
            </a:prstGeom>
            <a:noFill/>
            <a:ln w="12700">
              <a:solidFill>
                <a:srgbClr val="009900"/>
              </a:solidFill>
              <a:round/>
              <a:headEnd/>
              <a:tailEnd/>
            </a:ln>
          </p:spPr>
          <p:txBody>
            <a:bodyPr wrap="none" anchor="ctr"/>
            <a:lstStyle/>
            <a:p>
              <a:endParaRPr lang="en-US"/>
            </a:p>
          </p:txBody>
        </p:sp>
        <p:sp>
          <p:nvSpPr>
            <p:cNvPr id="40052" name="Line 537"/>
            <p:cNvSpPr>
              <a:spLocks noChangeShapeType="1"/>
            </p:cNvSpPr>
            <p:nvPr/>
          </p:nvSpPr>
          <p:spPr bwMode="auto">
            <a:xfrm flipV="1">
              <a:off x="1981" y="1875"/>
              <a:ext cx="178" cy="40"/>
            </a:xfrm>
            <a:prstGeom prst="line">
              <a:avLst/>
            </a:prstGeom>
            <a:noFill/>
            <a:ln w="12700">
              <a:solidFill>
                <a:srgbClr val="009900"/>
              </a:solidFill>
              <a:round/>
              <a:headEnd/>
              <a:tailEnd/>
            </a:ln>
          </p:spPr>
          <p:txBody>
            <a:bodyPr wrap="none" anchor="ctr"/>
            <a:lstStyle/>
            <a:p>
              <a:endParaRPr lang="en-US"/>
            </a:p>
          </p:txBody>
        </p:sp>
        <p:sp>
          <p:nvSpPr>
            <p:cNvPr id="40053" name="Freeform 538"/>
            <p:cNvSpPr>
              <a:spLocks/>
            </p:cNvSpPr>
            <p:nvPr/>
          </p:nvSpPr>
          <p:spPr bwMode="auto">
            <a:xfrm>
              <a:off x="2835" y="1701"/>
              <a:ext cx="156" cy="41"/>
            </a:xfrm>
            <a:custGeom>
              <a:avLst/>
              <a:gdLst>
                <a:gd name="T0" fmla="*/ 0 w 190"/>
                <a:gd name="T1" fmla="*/ 28 h 49"/>
                <a:gd name="T2" fmla="*/ 94 w 190"/>
                <a:gd name="T3" fmla="*/ 19 h 49"/>
                <a:gd name="T4" fmla="*/ 104 w 190"/>
                <a:gd name="T5" fmla="*/ 0 h 49"/>
                <a:gd name="T6" fmla="*/ 0 60000 65536"/>
                <a:gd name="T7" fmla="*/ 0 60000 65536"/>
                <a:gd name="T8" fmla="*/ 0 60000 65536"/>
                <a:gd name="T9" fmla="*/ 0 w 190"/>
                <a:gd name="T10" fmla="*/ 0 h 49"/>
                <a:gd name="T11" fmla="*/ 190 w 190"/>
                <a:gd name="T12" fmla="*/ 49 h 49"/>
              </a:gdLst>
              <a:ahLst/>
              <a:cxnLst>
                <a:cxn ang="T6">
                  <a:pos x="T0" y="T1"/>
                </a:cxn>
                <a:cxn ang="T7">
                  <a:pos x="T2" y="T3"/>
                </a:cxn>
                <a:cxn ang="T8">
                  <a:pos x="T4" y="T5"/>
                </a:cxn>
              </a:cxnLst>
              <a:rect l="T9" t="T10" r="T11" b="T12"/>
              <a:pathLst>
                <a:path w="190" h="49">
                  <a:moveTo>
                    <a:pt x="0" y="48"/>
                  </a:moveTo>
                  <a:lnTo>
                    <a:pt x="171" y="32"/>
                  </a:lnTo>
                  <a:lnTo>
                    <a:pt x="18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054" name="Freeform 539"/>
            <p:cNvSpPr>
              <a:spLocks/>
            </p:cNvSpPr>
            <p:nvPr/>
          </p:nvSpPr>
          <p:spPr bwMode="auto">
            <a:xfrm>
              <a:off x="2835" y="1701"/>
              <a:ext cx="156" cy="41"/>
            </a:xfrm>
            <a:custGeom>
              <a:avLst/>
              <a:gdLst>
                <a:gd name="T0" fmla="*/ 0 w 190"/>
                <a:gd name="T1" fmla="*/ 28 h 49"/>
                <a:gd name="T2" fmla="*/ 10 w 190"/>
                <a:gd name="T3" fmla="*/ 28 h 49"/>
                <a:gd name="T4" fmla="*/ 35 w 190"/>
                <a:gd name="T5" fmla="*/ 23 h 49"/>
                <a:gd name="T6" fmla="*/ 50 w 190"/>
                <a:gd name="T7" fmla="*/ 23 h 49"/>
                <a:gd name="T8" fmla="*/ 65 w 190"/>
                <a:gd name="T9" fmla="*/ 19 h 49"/>
                <a:gd name="T10" fmla="*/ 85 w 190"/>
                <a:gd name="T11" fmla="*/ 14 h 49"/>
                <a:gd name="T12" fmla="*/ 94 w 190"/>
                <a:gd name="T13" fmla="*/ 9 h 49"/>
                <a:gd name="T14" fmla="*/ 100 w 190"/>
                <a:gd name="T15" fmla="*/ 5 h 49"/>
                <a:gd name="T16" fmla="*/ 104 w 19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0"/>
                <a:gd name="T28" fmla="*/ 0 h 49"/>
                <a:gd name="T29" fmla="*/ 190 w 190"/>
                <a:gd name="T30" fmla="*/ 49 h 4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0" h="49">
                  <a:moveTo>
                    <a:pt x="0" y="48"/>
                  </a:moveTo>
                  <a:lnTo>
                    <a:pt x="18" y="48"/>
                  </a:lnTo>
                  <a:lnTo>
                    <a:pt x="63" y="40"/>
                  </a:lnTo>
                  <a:lnTo>
                    <a:pt x="90" y="40"/>
                  </a:lnTo>
                  <a:lnTo>
                    <a:pt x="117" y="32"/>
                  </a:lnTo>
                  <a:lnTo>
                    <a:pt x="153" y="24"/>
                  </a:lnTo>
                  <a:lnTo>
                    <a:pt x="171" y="16"/>
                  </a:lnTo>
                  <a:lnTo>
                    <a:pt x="180" y="8"/>
                  </a:lnTo>
                  <a:lnTo>
                    <a:pt x="18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055" name="Arc 540"/>
            <p:cNvSpPr>
              <a:spLocks/>
            </p:cNvSpPr>
            <p:nvPr/>
          </p:nvSpPr>
          <p:spPr bwMode="auto">
            <a:xfrm>
              <a:off x="2843" y="1738"/>
              <a:ext cx="93" cy="86"/>
            </a:xfrm>
            <a:custGeom>
              <a:avLst/>
              <a:gdLst>
                <a:gd name="T0" fmla="*/ 0 w 21791"/>
                <a:gd name="T1" fmla="*/ 0 h 21600"/>
                <a:gd name="T2" fmla="*/ 0 w 21791"/>
                <a:gd name="T3" fmla="*/ 0 h 21600"/>
                <a:gd name="T4" fmla="*/ 0 w 21791"/>
                <a:gd name="T5" fmla="*/ 0 h 21600"/>
                <a:gd name="T6" fmla="*/ 0 60000 65536"/>
                <a:gd name="T7" fmla="*/ 0 60000 65536"/>
                <a:gd name="T8" fmla="*/ 0 60000 65536"/>
                <a:gd name="T9" fmla="*/ 0 w 21791"/>
                <a:gd name="T10" fmla="*/ 0 h 21600"/>
                <a:gd name="T11" fmla="*/ 21791 w 21791"/>
                <a:gd name="T12" fmla="*/ 21600 h 21600"/>
              </a:gdLst>
              <a:ahLst/>
              <a:cxnLst>
                <a:cxn ang="T6">
                  <a:pos x="T0" y="T1"/>
                </a:cxn>
                <a:cxn ang="T7">
                  <a:pos x="T2" y="T3"/>
                </a:cxn>
                <a:cxn ang="T8">
                  <a:pos x="T4" y="T5"/>
                </a:cxn>
              </a:cxnLst>
              <a:rect l="T9" t="T10" r="T11" b="T12"/>
              <a:pathLst>
                <a:path w="21791" h="21600" fill="none" extrusionOk="0">
                  <a:moveTo>
                    <a:pt x="-1" y="0"/>
                  </a:moveTo>
                  <a:cubicBezTo>
                    <a:pt x="63" y="0"/>
                    <a:pt x="127" y="-1"/>
                    <a:pt x="191" y="0"/>
                  </a:cubicBezTo>
                  <a:cubicBezTo>
                    <a:pt x="12120" y="0"/>
                    <a:pt x="21791" y="9670"/>
                    <a:pt x="21791" y="21600"/>
                  </a:cubicBezTo>
                </a:path>
                <a:path w="21791" h="21600" stroke="0" extrusionOk="0">
                  <a:moveTo>
                    <a:pt x="-1" y="0"/>
                  </a:moveTo>
                  <a:cubicBezTo>
                    <a:pt x="63" y="0"/>
                    <a:pt x="127" y="-1"/>
                    <a:pt x="191" y="0"/>
                  </a:cubicBezTo>
                  <a:cubicBezTo>
                    <a:pt x="12120" y="0"/>
                    <a:pt x="21791" y="9670"/>
                    <a:pt x="21791" y="21600"/>
                  </a:cubicBezTo>
                  <a:lnTo>
                    <a:pt x="191" y="21600"/>
                  </a:lnTo>
                  <a:close/>
                </a:path>
              </a:pathLst>
            </a:custGeom>
            <a:noFill/>
            <a:ln w="12700" cap="rnd">
              <a:solidFill>
                <a:srgbClr val="009900"/>
              </a:solidFill>
              <a:round/>
              <a:headEnd/>
              <a:tailEnd/>
            </a:ln>
          </p:spPr>
          <p:txBody>
            <a:bodyPr wrap="none" anchor="ctr"/>
            <a:lstStyle/>
            <a:p>
              <a:endParaRPr lang="en-US"/>
            </a:p>
          </p:txBody>
        </p:sp>
        <p:sp>
          <p:nvSpPr>
            <p:cNvPr id="40056" name="Arc 541"/>
            <p:cNvSpPr>
              <a:spLocks/>
            </p:cNvSpPr>
            <p:nvPr/>
          </p:nvSpPr>
          <p:spPr bwMode="auto">
            <a:xfrm>
              <a:off x="2655" y="1699"/>
              <a:ext cx="96" cy="85"/>
            </a:xfrm>
            <a:custGeom>
              <a:avLst/>
              <a:gdLst>
                <a:gd name="T0" fmla="*/ 0 w 21783"/>
                <a:gd name="T1" fmla="*/ 0 h 21600"/>
                <a:gd name="T2" fmla="*/ 0 w 21783"/>
                <a:gd name="T3" fmla="*/ 0 h 21600"/>
                <a:gd name="T4" fmla="*/ 0 w 21783"/>
                <a:gd name="T5" fmla="*/ 0 h 21600"/>
                <a:gd name="T6" fmla="*/ 0 60000 65536"/>
                <a:gd name="T7" fmla="*/ 0 60000 65536"/>
                <a:gd name="T8" fmla="*/ 0 60000 65536"/>
                <a:gd name="T9" fmla="*/ 0 w 21783"/>
                <a:gd name="T10" fmla="*/ 0 h 21600"/>
                <a:gd name="T11" fmla="*/ 21783 w 21783"/>
                <a:gd name="T12" fmla="*/ 21600 h 21600"/>
              </a:gdLst>
              <a:ahLst/>
              <a:cxnLst>
                <a:cxn ang="T6">
                  <a:pos x="T0" y="T1"/>
                </a:cxn>
                <a:cxn ang="T7">
                  <a:pos x="T2" y="T3"/>
                </a:cxn>
                <a:cxn ang="T8">
                  <a:pos x="T4" y="T5"/>
                </a:cxn>
              </a:cxnLst>
              <a:rect l="T9" t="T10" r="T11" b="T12"/>
              <a:pathLst>
                <a:path w="21783" h="21600" fill="none" extrusionOk="0">
                  <a:moveTo>
                    <a:pt x="-1" y="0"/>
                  </a:moveTo>
                  <a:cubicBezTo>
                    <a:pt x="60" y="0"/>
                    <a:pt x="121" y="-1"/>
                    <a:pt x="183" y="0"/>
                  </a:cubicBezTo>
                  <a:cubicBezTo>
                    <a:pt x="12112" y="0"/>
                    <a:pt x="21783" y="9670"/>
                    <a:pt x="21783" y="21600"/>
                  </a:cubicBezTo>
                </a:path>
                <a:path w="21783" h="21600" stroke="0" extrusionOk="0">
                  <a:moveTo>
                    <a:pt x="-1" y="0"/>
                  </a:moveTo>
                  <a:cubicBezTo>
                    <a:pt x="60" y="0"/>
                    <a:pt x="121" y="-1"/>
                    <a:pt x="183" y="0"/>
                  </a:cubicBezTo>
                  <a:cubicBezTo>
                    <a:pt x="12112" y="0"/>
                    <a:pt x="21783" y="9670"/>
                    <a:pt x="21783" y="21600"/>
                  </a:cubicBezTo>
                  <a:lnTo>
                    <a:pt x="183" y="21600"/>
                  </a:lnTo>
                  <a:close/>
                </a:path>
              </a:pathLst>
            </a:custGeom>
            <a:noFill/>
            <a:ln w="12700" cap="rnd">
              <a:solidFill>
                <a:srgbClr val="009900"/>
              </a:solidFill>
              <a:round/>
              <a:headEnd/>
              <a:tailEnd/>
            </a:ln>
          </p:spPr>
          <p:txBody>
            <a:bodyPr wrap="none" anchor="ctr"/>
            <a:lstStyle/>
            <a:p>
              <a:endParaRPr lang="en-US"/>
            </a:p>
          </p:txBody>
        </p:sp>
        <p:sp>
          <p:nvSpPr>
            <p:cNvPr id="40057" name="Freeform 542"/>
            <p:cNvSpPr>
              <a:spLocks/>
            </p:cNvSpPr>
            <p:nvPr/>
          </p:nvSpPr>
          <p:spPr bwMode="auto">
            <a:xfrm>
              <a:off x="2310" y="2404"/>
              <a:ext cx="156" cy="41"/>
            </a:xfrm>
            <a:custGeom>
              <a:avLst/>
              <a:gdLst>
                <a:gd name="T0" fmla="*/ 0 w 190"/>
                <a:gd name="T1" fmla="*/ 28 h 49"/>
                <a:gd name="T2" fmla="*/ 94 w 190"/>
                <a:gd name="T3" fmla="*/ 19 h 49"/>
                <a:gd name="T4" fmla="*/ 104 w 190"/>
                <a:gd name="T5" fmla="*/ 0 h 49"/>
                <a:gd name="T6" fmla="*/ 0 60000 65536"/>
                <a:gd name="T7" fmla="*/ 0 60000 65536"/>
                <a:gd name="T8" fmla="*/ 0 60000 65536"/>
                <a:gd name="T9" fmla="*/ 0 w 190"/>
                <a:gd name="T10" fmla="*/ 0 h 49"/>
                <a:gd name="T11" fmla="*/ 190 w 190"/>
                <a:gd name="T12" fmla="*/ 49 h 49"/>
              </a:gdLst>
              <a:ahLst/>
              <a:cxnLst>
                <a:cxn ang="T6">
                  <a:pos x="T0" y="T1"/>
                </a:cxn>
                <a:cxn ang="T7">
                  <a:pos x="T2" y="T3"/>
                </a:cxn>
                <a:cxn ang="T8">
                  <a:pos x="T4" y="T5"/>
                </a:cxn>
              </a:cxnLst>
              <a:rect l="T9" t="T10" r="T11" b="T12"/>
              <a:pathLst>
                <a:path w="190" h="49">
                  <a:moveTo>
                    <a:pt x="0" y="48"/>
                  </a:moveTo>
                  <a:lnTo>
                    <a:pt x="171" y="32"/>
                  </a:lnTo>
                  <a:lnTo>
                    <a:pt x="18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058" name="Freeform 543"/>
            <p:cNvSpPr>
              <a:spLocks/>
            </p:cNvSpPr>
            <p:nvPr/>
          </p:nvSpPr>
          <p:spPr bwMode="auto">
            <a:xfrm>
              <a:off x="2310" y="2404"/>
              <a:ext cx="156" cy="41"/>
            </a:xfrm>
            <a:custGeom>
              <a:avLst/>
              <a:gdLst>
                <a:gd name="T0" fmla="*/ 0 w 190"/>
                <a:gd name="T1" fmla="*/ 28 h 49"/>
                <a:gd name="T2" fmla="*/ 10 w 190"/>
                <a:gd name="T3" fmla="*/ 28 h 49"/>
                <a:gd name="T4" fmla="*/ 35 w 190"/>
                <a:gd name="T5" fmla="*/ 23 h 49"/>
                <a:gd name="T6" fmla="*/ 50 w 190"/>
                <a:gd name="T7" fmla="*/ 23 h 49"/>
                <a:gd name="T8" fmla="*/ 65 w 190"/>
                <a:gd name="T9" fmla="*/ 19 h 49"/>
                <a:gd name="T10" fmla="*/ 85 w 190"/>
                <a:gd name="T11" fmla="*/ 14 h 49"/>
                <a:gd name="T12" fmla="*/ 94 w 190"/>
                <a:gd name="T13" fmla="*/ 9 h 49"/>
                <a:gd name="T14" fmla="*/ 100 w 190"/>
                <a:gd name="T15" fmla="*/ 5 h 49"/>
                <a:gd name="T16" fmla="*/ 104 w 19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0"/>
                <a:gd name="T28" fmla="*/ 0 h 49"/>
                <a:gd name="T29" fmla="*/ 190 w 190"/>
                <a:gd name="T30" fmla="*/ 49 h 4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0" h="49">
                  <a:moveTo>
                    <a:pt x="0" y="48"/>
                  </a:moveTo>
                  <a:lnTo>
                    <a:pt x="18" y="48"/>
                  </a:lnTo>
                  <a:lnTo>
                    <a:pt x="63" y="40"/>
                  </a:lnTo>
                  <a:lnTo>
                    <a:pt x="90" y="40"/>
                  </a:lnTo>
                  <a:lnTo>
                    <a:pt x="117" y="32"/>
                  </a:lnTo>
                  <a:lnTo>
                    <a:pt x="153" y="24"/>
                  </a:lnTo>
                  <a:lnTo>
                    <a:pt x="171" y="16"/>
                  </a:lnTo>
                  <a:lnTo>
                    <a:pt x="180" y="8"/>
                  </a:lnTo>
                  <a:lnTo>
                    <a:pt x="18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059" name="Arc 544"/>
            <p:cNvSpPr>
              <a:spLocks/>
            </p:cNvSpPr>
            <p:nvPr/>
          </p:nvSpPr>
          <p:spPr bwMode="auto">
            <a:xfrm>
              <a:off x="2318" y="2330"/>
              <a:ext cx="93" cy="82"/>
            </a:xfrm>
            <a:custGeom>
              <a:avLst/>
              <a:gdLst>
                <a:gd name="T0" fmla="*/ 0 w 21791"/>
                <a:gd name="T1" fmla="*/ 0 h 21600"/>
                <a:gd name="T2" fmla="*/ 0 w 21791"/>
                <a:gd name="T3" fmla="*/ 0 h 21600"/>
                <a:gd name="T4" fmla="*/ 0 w 21791"/>
                <a:gd name="T5" fmla="*/ 0 h 21600"/>
                <a:gd name="T6" fmla="*/ 0 60000 65536"/>
                <a:gd name="T7" fmla="*/ 0 60000 65536"/>
                <a:gd name="T8" fmla="*/ 0 60000 65536"/>
                <a:gd name="T9" fmla="*/ 0 w 21791"/>
                <a:gd name="T10" fmla="*/ 0 h 21600"/>
                <a:gd name="T11" fmla="*/ 21791 w 21791"/>
                <a:gd name="T12" fmla="*/ 21600 h 21600"/>
              </a:gdLst>
              <a:ahLst/>
              <a:cxnLst>
                <a:cxn ang="T6">
                  <a:pos x="T0" y="T1"/>
                </a:cxn>
                <a:cxn ang="T7">
                  <a:pos x="T2" y="T3"/>
                </a:cxn>
                <a:cxn ang="T8">
                  <a:pos x="T4" y="T5"/>
                </a:cxn>
              </a:cxnLst>
              <a:rect l="T9" t="T10" r="T11" b="T12"/>
              <a:pathLst>
                <a:path w="21791" h="21600" fill="none" extrusionOk="0">
                  <a:moveTo>
                    <a:pt x="-1" y="0"/>
                  </a:moveTo>
                  <a:cubicBezTo>
                    <a:pt x="63" y="0"/>
                    <a:pt x="127" y="-1"/>
                    <a:pt x="191" y="0"/>
                  </a:cubicBezTo>
                  <a:cubicBezTo>
                    <a:pt x="12120" y="0"/>
                    <a:pt x="21791" y="9670"/>
                    <a:pt x="21791" y="21600"/>
                  </a:cubicBezTo>
                </a:path>
                <a:path w="21791" h="21600" stroke="0" extrusionOk="0">
                  <a:moveTo>
                    <a:pt x="-1" y="0"/>
                  </a:moveTo>
                  <a:cubicBezTo>
                    <a:pt x="63" y="0"/>
                    <a:pt x="127" y="-1"/>
                    <a:pt x="191" y="0"/>
                  </a:cubicBezTo>
                  <a:cubicBezTo>
                    <a:pt x="12120" y="0"/>
                    <a:pt x="21791" y="9670"/>
                    <a:pt x="21791" y="21600"/>
                  </a:cubicBezTo>
                  <a:lnTo>
                    <a:pt x="191" y="21600"/>
                  </a:lnTo>
                  <a:close/>
                </a:path>
              </a:pathLst>
            </a:custGeom>
            <a:noFill/>
            <a:ln w="12700" cap="rnd">
              <a:solidFill>
                <a:srgbClr val="009900"/>
              </a:solidFill>
              <a:round/>
              <a:headEnd/>
              <a:tailEnd/>
            </a:ln>
          </p:spPr>
          <p:txBody>
            <a:bodyPr wrap="none" anchor="ctr"/>
            <a:lstStyle/>
            <a:p>
              <a:endParaRPr lang="en-US"/>
            </a:p>
          </p:txBody>
        </p:sp>
        <p:sp>
          <p:nvSpPr>
            <p:cNvPr id="40060" name="Arc 545"/>
            <p:cNvSpPr>
              <a:spLocks/>
            </p:cNvSpPr>
            <p:nvPr/>
          </p:nvSpPr>
          <p:spPr bwMode="auto">
            <a:xfrm>
              <a:off x="2418" y="2270"/>
              <a:ext cx="97" cy="83"/>
            </a:xfrm>
            <a:custGeom>
              <a:avLst/>
              <a:gdLst>
                <a:gd name="T0" fmla="*/ 0 w 21783"/>
                <a:gd name="T1" fmla="*/ 0 h 21600"/>
                <a:gd name="T2" fmla="*/ 0 w 21783"/>
                <a:gd name="T3" fmla="*/ 0 h 21600"/>
                <a:gd name="T4" fmla="*/ 0 w 21783"/>
                <a:gd name="T5" fmla="*/ 0 h 21600"/>
                <a:gd name="T6" fmla="*/ 0 60000 65536"/>
                <a:gd name="T7" fmla="*/ 0 60000 65536"/>
                <a:gd name="T8" fmla="*/ 0 60000 65536"/>
                <a:gd name="T9" fmla="*/ 0 w 21783"/>
                <a:gd name="T10" fmla="*/ 0 h 21600"/>
                <a:gd name="T11" fmla="*/ 21783 w 21783"/>
                <a:gd name="T12" fmla="*/ 21600 h 21600"/>
              </a:gdLst>
              <a:ahLst/>
              <a:cxnLst>
                <a:cxn ang="T6">
                  <a:pos x="T0" y="T1"/>
                </a:cxn>
                <a:cxn ang="T7">
                  <a:pos x="T2" y="T3"/>
                </a:cxn>
                <a:cxn ang="T8">
                  <a:pos x="T4" y="T5"/>
                </a:cxn>
              </a:cxnLst>
              <a:rect l="T9" t="T10" r="T11" b="T12"/>
              <a:pathLst>
                <a:path w="21783" h="21600" fill="none" extrusionOk="0">
                  <a:moveTo>
                    <a:pt x="-1" y="0"/>
                  </a:moveTo>
                  <a:cubicBezTo>
                    <a:pt x="60" y="0"/>
                    <a:pt x="121" y="-1"/>
                    <a:pt x="183" y="0"/>
                  </a:cubicBezTo>
                  <a:cubicBezTo>
                    <a:pt x="12112" y="0"/>
                    <a:pt x="21783" y="9670"/>
                    <a:pt x="21783" y="21600"/>
                  </a:cubicBezTo>
                </a:path>
                <a:path w="21783" h="21600" stroke="0" extrusionOk="0">
                  <a:moveTo>
                    <a:pt x="-1" y="0"/>
                  </a:moveTo>
                  <a:cubicBezTo>
                    <a:pt x="60" y="0"/>
                    <a:pt x="121" y="-1"/>
                    <a:pt x="183" y="0"/>
                  </a:cubicBezTo>
                  <a:cubicBezTo>
                    <a:pt x="12112" y="0"/>
                    <a:pt x="21783" y="9670"/>
                    <a:pt x="21783" y="21600"/>
                  </a:cubicBezTo>
                  <a:lnTo>
                    <a:pt x="183" y="21600"/>
                  </a:lnTo>
                  <a:close/>
                </a:path>
              </a:pathLst>
            </a:custGeom>
            <a:noFill/>
            <a:ln w="12700" cap="rnd">
              <a:solidFill>
                <a:srgbClr val="009900"/>
              </a:solidFill>
              <a:round/>
              <a:headEnd/>
              <a:tailEnd/>
            </a:ln>
          </p:spPr>
          <p:txBody>
            <a:bodyPr wrap="none" anchor="ctr"/>
            <a:lstStyle/>
            <a:p>
              <a:endParaRPr lang="en-US"/>
            </a:p>
          </p:txBody>
        </p:sp>
        <p:sp>
          <p:nvSpPr>
            <p:cNvPr id="40061" name="Arc 546"/>
            <p:cNvSpPr>
              <a:spLocks/>
            </p:cNvSpPr>
            <p:nvPr/>
          </p:nvSpPr>
          <p:spPr bwMode="auto">
            <a:xfrm>
              <a:off x="2318" y="2330"/>
              <a:ext cx="93" cy="82"/>
            </a:xfrm>
            <a:custGeom>
              <a:avLst/>
              <a:gdLst>
                <a:gd name="T0" fmla="*/ 0 w 21791"/>
                <a:gd name="T1" fmla="*/ 0 h 21600"/>
                <a:gd name="T2" fmla="*/ 0 w 21791"/>
                <a:gd name="T3" fmla="*/ 0 h 21600"/>
                <a:gd name="T4" fmla="*/ 0 w 21791"/>
                <a:gd name="T5" fmla="*/ 0 h 21600"/>
                <a:gd name="T6" fmla="*/ 0 60000 65536"/>
                <a:gd name="T7" fmla="*/ 0 60000 65536"/>
                <a:gd name="T8" fmla="*/ 0 60000 65536"/>
                <a:gd name="T9" fmla="*/ 0 w 21791"/>
                <a:gd name="T10" fmla="*/ 0 h 21600"/>
                <a:gd name="T11" fmla="*/ 21791 w 21791"/>
                <a:gd name="T12" fmla="*/ 21600 h 21600"/>
              </a:gdLst>
              <a:ahLst/>
              <a:cxnLst>
                <a:cxn ang="T6">
                  <a:pos x="T0" y="T1"/>
                </a:cxn>
                <a:cxn ang="T7">
                  <a:pos x="T2" y="T3"/>
                </a:cxn>
                <a:cxn ang="T8">
                  <a:pos x="T4" y="T5"/>
                </a:cxn>
              </a:cxnLst>
              <a:rect l="T9" t="T10" r="T11" b="T12"/>
              <a:pathLst>
                <a:path w="21791" h="21600" fill="none" extrusionOk="0">
                  <a:moveTo>
                    <a:pt x="-1" y="0"/>
                  </a:moveTo>
                  <a:cubicBezTo>
                    <a:pt x="63" y="0"/>
                    <a:pt x="127" y="-1"/>
                    <a:pt x="191" y="0"/>
                  </a:cubicBezTo>
                  <a:cubicBezTo>
                    <a:pt x="12120" y="0"/>
                    <a:pt x="21791" y="9670"/>
                    <a:pt x="21791" y="21600"/>
                  </a:cubicBezTo>
                </a:path>
                <a:path w="21791" h="21600" stroke="0" extrusionOk="0">
                  <a:moveTo>
                    <a:pt x="-1" y="0"/>
                  </a:moveTo>
                  <a:cubicBezTo>
                    <a:pt x="63" y="0"/>
                    <a:pt x="127" y="-1"/>
                    <a:pt x="191" y="0"/>
                  </a:cubicBezTo>
                  <a:cubicBezTo>
                    <a:pt x="12120" y="0"/>
                    <a:pt x="21791" y="9670"/>
                    <a:pt x="21791" y="21600"/>
                  </a:cubicBezTo>
                  <a:lnTo>
                    <a:pt x="191" y="21600"/>
                  </a:lnTo>
                  <a:close/>
                </a:path>
              </a:pathLst>
            </a:custGeom>
            <a:noFill/>
            <a:ln w="12700" cap="rnd">
              <a:solidFill>
                <a:srgbClr val="009900"/>
              </a:solidFill>
              <a:round/>
              <a:headEnd/>
              <a:tailEnd/>
            </a:ln>
          </p:spPr>
          <p:txBody>
            <a:bodyPr wrap="none" anchor="ctr"/>
            <a:lstStyle/>
            <a:p>
              <a:endParaRPr lang="en-US"/>
            </a:p>
          </p:txBody>
        </p:sp>
        <p:sp>
          <p:nvSpPr>
            <p:cNvPr id="40062" name="Line 547"/>
            <p:cNvSpPr>
              <a:spLocks noChangeShapeType="1"/>
            </p:cNvSpPr>
            <p:nvPr/>
          </p:nvSpPr>
          <p:spPr bwMode="auto">
            <a:xfrm flipV="1">
              <a:off x="2173" y="2102"/>
              <a:ext cx="16" cy="40"/>
            </a:xfrm>
            <a:prstGeom prst="line">
              <a:avLst/>
            </a:prstGeom>
            <a:noFill/>
            <a:ln w="12700">
              <a:solidFill>
                <a:srgbClr val="009900"/>
              </a:solidFill>
              <a:round/>
              <a:headEnd/>
              <a:tailEnd/>
            </a:ln>
          </p:spPr>
          <p:txBody>
            <a:bodyPr wrap="none" anchor="ctr"/>
            <a:lstStyle/>
            <a:p>
              <a:endParaRPr lang="en-US"/>
            </a:p>
          </p:txBody>
        </p:sp>
        <p:sp>
          <p:nvSpPr>
            <p:cNvPr id="40063" name="Line 548"/>
            <p:cNvSpPr>
              <a:spLocks noChangeShapeType="1"/>
            </p:cNvSpPr>
            <p:nvPr/>
          </p:nvSpPr>
          <p:spPr bwMode="auto">
            <a:xfrm flipV="1">
              <a:off x="2173" y="2102"/>
              <a:ext cx="16" cy="40"/>
            </a:xfrm>
            <a:prstGeom prst="line">
              <a:avLst/>
            </a:prstGeom>
            <a:noFill/>
            <a:ln w="12700">
              <a:solidFill>
                <a:srgbClr val="009900"/>
              </a:solidFill>
              <a:round/>
              <a:headEnd/>
              <a:tailEnd/>
            </a:ln>
          </p:spPr>
          <p:txBody>
            <a:bodyPr wrap="none" anchor="ctr"/>
            <a:lstStyle/>
            <a:p>
              <a:endParaRPr lang="en-US"/>
            </a:p>
          </p:txBody>
        </p:sp>
        <p:sp>
          <p:nvSpPr>
            <p:cNvPr id="40064" name="Freeform 549"/>
            <p:cNvSpPr>
              <a:spLocks/>
            </p:cNvSpPr>
            <p:nvPr/>
          </p:nvSpPr>
          <p:spPr bwMode="auto">
            <a:xfrm>
              <a:off x="2820" y="1813"/>
              <a:ext cx="120" cy="224"/>
            </a:xfrm>
            <a:custGeom>
              <a:avLst/>
              <a:gdLst>
                <a:gd name="T0" fmla="*/ 0 w 145"/>
                <a:gd name="T1" fmla="*/ 150 h 273"/>
                <a:gd name="T2" fmla="*/ 61 w 145"/>
                <a:gd name="T3" fmla="*/ 75 h 273"/>
                <a:gd name="T4" fmla="*/ 77 w 145"/>
                <a:gd name="T5" fmla="*/ 13 h 273"/>
                <a:gd name="T6" fmla="*/ 81 w 145"/>
                <a:gd name="T7" fmla="*/ 0 h 273"/>
                <a:gd name="T8" fmla="*/ 0 60000 65536"/>
                <a:gd name="T9" fmla="*/ 0 60000 65536"/>
                <a:gd name="T10" fmla="*/ 0 60000 65536"/>
                <a:gd name="T11" fmla="*/ 0 60000 65536"/>
                <a:gd name="T12" fmla="*/ 0 w 145"/>
                <a:gd name="T13" fmla="*/ 0 h 273"/>
                <a:gd name="T14" fmla="*/ 145 w 145"/>
                <a:gd name="T15" fmla="*/ 273 h 273"/>
              </a:gdLst>
              <a:ahLst/>
              <a:cxnLst>
                <a:cxn ang="T8">
                  <a:pos x="T0" y="T1"/>
                </a:cxn>
                <a:cxn ang="T9">
                  <a:pos x="T2" y="T3"/>
                </a:cxn>
                <a:cxn ang="T10">
                  <a:pos x="T4" y="T5"/>
                </a:cxn>
                <a:cxn ang="T11">
                  <a:pos x="T6" y="T7"/>
                </a:cxn>
              </a:cxnLst>
              <a:rect l="T12" t="T13" r="T14" b="T15"/>
              <a:pathLst>
                <a:path w="145" h="273">
                  <a:moveTo>
                    <a:pt x="0" y="272"/>
                  </a:moveTo>
                  <a:lnTo>
                    <a:pt x="108" y="136"/>
                  </a:lnTo>
                  <a:lnTo>
                    <a:pt x="135" y="24"/>
                  </a:lnTo>
                  <a:lnTo>
                    <a:pt x="144"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065" name="Freeform 550"/>
            <p:cNvSpPr>
              <a:spLocks/>
            </p:cNvSpPr>
            <p:nvPr/>
          </p:nvSpPr>
          <p:spPr bwMode="auto">
            <a:xfrm>
              <a:off x="2820" y="1813"/>
              <a:ext cx="120" cy="224"/>
            </a:xfrm>
            <a:custGeom>
              <a:avLst/>
              <a:gdLst>
                <a:gd name="T0" fmla="*/ 0 w 145"/>
                <a:gd name="T1" fmla="*/ 150 h 273"/>
                <a:gd name="T2" fmla="*/ 10 w 145"/>
                <a:gd name="T3" fmla="*/ 137 h 273"/>
                <a:gd name="T4" fmla="*/ 21 w 145"/>
                <a:gd name="T5" fmla="*/ 124 h 273"/>
                <a:gd name="T6" fmla="*/ 36 w 145"/>
                <a:gd name="T7" fmla="*/ 107 h 273"/>
                <a:gd name="T8" fmla="*/ 46 w 145"/>
                <a:gd name="T9" fmla="*/ 93 h 273"/>
                <a:gd name="T10" fmla="*/ 50 w 145"/>
                <a:gd name="T11" fmla="*/ 80 h 273"/>
                <a:gd name="T12" fmla="*/ 61 w 145"/>
                <a:gd name="T13" fmla="*/ 66 h 273"/>
                <a:gd name="T14" fmla="*/ 66 w 145"/>
                <a:gd name="T15" fmla="*/ 53 h 273"/>
                <a:gd name="T16" fmla="*/ 71 w 145"/>
                <a:gd name="T17" fmla="*/ 44 h 273"/>
                <a:gd name="T18" fmla="*/ 71 w 145"/>
                <a:gd name="T19" fmla="*/ 39 h 273"/>
                <a:gd name="T20" fmla="*/ 77 w 145"/>
                <a:gd name="T21" fmla="*/ 22 h 273"/>
                <a:gd name="T22" fmla="*/ 77 w 145"/>
                <a:gd name="T23" fmla="*/ 13 h 273"/>
                <a:gd name="T24" fmla="*/ 81 w 145"/>
                <a:gd name="T25" fmla="*/ 0 h 2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5"/>
                <a:gd name="T40" fmla="*/ 0 h 273"/>
                <a:gd name="T41" fmla="*/ 145 w 145"/>
                <a:gd name="T42" fmla="*/ 273 h 27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5" h="273">
                  <a:moveTo>
                    <a:pt x="0" y="272"/>
                  </a:moveTo>
                  <a:lnTo>
                    <a:pt x="18" y="248"/>
                  </a:lnTo>
                  <a:lnTo>
                    <a:pt x="36" y="224"/>
                  </a:lnTo>
                  <a:lnTo>
                    <a:pt x="63" y="192"/>
                  </a:lnTo>
                  <a:lnTo>
                    <a:pt x="81" y="168"/>
                  </a:lnTo>
                  <a:lnTo>
                    <a:pt x="90" y="144"/>
                  </a:lnTo>
                  <a:lnTo>
                    <a:pt x="108" y="120"/>
                  </a:lnTo>
                  <a:lnTo>
                    <a:pt x="117" y="96"/>
                  </a:lnTo>
                  <a:lnTo>
                    <a:pt x="126" y="80"/>
                  </a:lnTo>
                  <a:lnTo>
                    <a:pt x="126" y="72"/>
                  </a:lnTo>
                  <a:lnTo>
                    <a:pt x="135" y="40"/>
                  </a:lnTo>
                  <a:lnTo>
                    <a:pt x="135" y="24"/>
                  </a:lnTo>
                  <a:lnTo>
                    <a:pt x="144"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066" name="Arc 551"/>
            <p:cNvSpPr>
              <a:spLocks/>
            </p:cNvSpPr>
            <p:nvPr/>
          </p:nvSpPr>
          <p:spPr bwMode="auto">
            <a:xfrm>
              <a:off x="2181" y="2068"/>
              <a:ext cx="97" cy="85"/>
            </a:xfrm>
            <a:custGeom>
              <a:avLst/>
              <a:gdLst>
                <a:gd name="T0" fmla="*/ 0 w 21780"/>
                <a:gd name="T1" fmla="*/ 0 h 21600"/>
                <a:gd name="T2" fmla="*/ 0 w 21780"/>
                <a:gd name="T3" fmla="*/ 0 h 21600"/>
                <a:gd name="T4" fmla="*/ 0 w 21780"/>
                <a:gd name="T5" fmla="*/ 0 h 21600"/>
                <a:gd name="T6" fmla="*/ 0 60000 65536"/>
                <a:gd name="T7" fmla="*/ 0 60000 65536"/>
                <a:gd name="T8" fmla="*/ 0 60000 65536"/>
                <a:gd name="T9" fmla="*/ 0 w 21780"/>
                <a:gd name="T10" fmla="*/ 0 h 21600"/>
                <a:gd name="T11" fmla="*/ 21780 w 21780"/>
                <a:gd name="T12" fmla="*/ 21600 h 21600"/>
              </a:gdLst>
              <a:ahLst/>
              <a:cxnLst>
                <a:cxn ang="T6">
                  <a:pos x="T0" y="T1"/>
                </a:cxn>
                <a:cxn ang="T7">
                  <a:pos x="T2" y="T3"/>
                </a:cxn>
                <a:cxn ang="T8">
                  <a:pos x="T4" y="T5"/>
                </a:cxn>
              </a:cxnLst>
              <a:rect l="T9" t="T10" r="T11" b="T12"/>
              <a:pathLst>
                <a:path w="21780" h="21600" fill="none" extrusionOk="0">
                  <a:moveTo>
                    <a:pt x="-1" y="0"/>
                  </a:moveTo>
                  <a:cubicBezTo>
                    <a:pt x="60" y="0"/>
                    <a:pt x="121" y="-1"/>
                    <a:pt x="182" y="0"/>
                  </a:cubicBezTo>
                  <a:cubicBezTo>
                    <a:pt x="12029" y="0"/>
                    <a:pt x="21666" y="9543"/>
                    <a:pt x="21780" y="21390"/>
                  </a:cubicBezTo>
                </a:path>
                <a:path w="21780" h="21600" stroke="0" extrusionOk="0">
                  <a:moveTo>
                    <a:pt x="-1" y="0"/>
                  </a:moveTo>
                  <a:cubicBezTo>
                    <a:pt x="60" y="0"/>
                    <a:pt x="121" y="-1"/>
                    <a:pt x="182" y="0"/>
                  </a:cubicBezTo>
                  <a:cubicBezTo>
                    <a:pt x="12029" y="0"/>
                    <a:pt x="21666" y="9543"/>
                    <a:pt x="21780" y="21390"/>
                  </a:cubicBezTo>
                  <a:lnTo>
                    <a:pt x="182" y="21600"/>
                  </a:lnTo>
                  <a:close/>
                </a:path>
              </a:pathLst>
            </a:custGeom>
            <a:noFill/>
            <a:ln w="12700" cap="rnd">
              <a:solidFill>
                <a:srgbClr val="009900"/>
              </a:solidFill>
              <a:round/>
              <a:headEnd/>
              <a:tailEnd/>
            </a:ln>
          </p:spPr>
          <p:txBody>
            <a:bodyPr wrap="none" anchor="ctr"/>
            <a:lstStyle/>
            <a:p>
              <a:endParaRPr lang="en-US"/>
            </a:p>
          </p:txBody>
        </p:sp>
        <p:sp>
          <p:nvSpPr>
            <p:cNvPr id="40067" name="Line 552"/>
            <p:cNvSpPr>
              <a:spLocks noChangeShapeType="1"/>
            </p:cNvSpPr>
            <p:nvPr/>
          </p:nvSpPr>
          <p:spPr bwMode="auto">
            <a:xfrm flipV="1">
              <a:off x="2092" y="1938"/>
              <a:ext cx="52" cy="79"/>
            </a:xfrm>
            <a:prstGeom prst="line">
              <a:avLst/>
            </a:prstGeom>
            <a:noFill/>
            <a:ln w="12700">
              <a:solidFill>
                <a:srgbClr val="009900"/>
              </a:solidFill>
              <a:round/>
              <a:headEnd/>
              <a:tailEnd/>
            </a:ln>
          </p:spPr>
          <p:txBody>
            <a:bodyPr wrap="none" anchor="ctr"/>
            <a:lstStyle/>
            <a:p>
              <a:endParaRPr lang="en-US"/>
            </a:p>
          </p:txBody>
        </p:sp>
        <p:sp>
          <p:nvSpPr>
            <p:cNvPr id="40068" name="Line 553"/>
            <p:cNvSpPr>
              <a:spLocks noChangeShapeType="1"/>
            </p:cNvSpPr>
            <p:nvPr/>
          </p:nvSpPr>
          <p:spPr bwMode="auto">
            <a:xfrm flipV="1">
              <a:off x="2092" y="1938"/>
              <a:ext cx="52" cy="79"/>
            </a:xfrm>
            <a:prstGeom prst="line">
              <a:avLst/>
            </a:prstGeom>
            <a:noFill/>
            <a:ln w="12700">
              <a:solidFill>
                <a:srgbClr val="009900"/>
              </a:solidFill>
              <a:round/>
              <a:headEnd/>
              <a:tailEnd/>
            </a:ln>
          </p:spPr>
          <p:txBody>
            <a:bodyPr wrap="none" anchor="ctr"/>
            <a:lstStyle/>
            <a:p>
              <a:endParaRPr lang="en-US"/>
            </a:p>
          </p:txBody>
        </p:sp>
        <p:sp>
          <p:nvSpPr>
            <p:cNvPr id="40069" name="Line 554"/>
            <p:cNvSpPr>
              <a:spLocks noChangeShapeType="1"/>
            </p:cNvSpPr>
            <p:nvPr/>
          </p:nvSpPr>
          <p:spPr bwMode="auto">
            <a:xfrm flipH="1" flipV="1">
              <a:off x="2107" y="2017"/>
              <a:ext cx="23" cy="125"/>
            </a:xfrm>
            <a:prstGeom prst="line">
              <a:avLst/>
            </a:prstGeom>
            <a:noFill/>
            <a:ln w="12700">
              <a:solidFill>
                <a:srgbClr val="009900"/>
              </a:solidFill>
              <a:round/>
              <a:headEnd/>
              <a:tailEnd/>
            </a:ln>
          </p:spPr>
          <p:txBody>
            <a:bodyPr wrap="none" anchor="ctr"/>
            <a:lstStyle/>
            <a:p>
              <a:endParaRPr lang="en-US"/>
            </a:p>
          </p:txBody>
        </p:sp>
        <p:sp>
          <p:nvSpPr>
            <p:cNvPr id="40070" name="Line 555"/>
            <p:cNvSpPr>
              <a:spLocks noChangeShapeType="1"/>
            </p:cNvSpPr>
            <p:nvPr/>
          </p:nvSpPr>
          <p:spPr bwMode="auto">
            <a:xfrm flipH="1" flipV="1">
              <a:off x="2107" y="2017"/>
              <a:ext cx="23" cy="125"/>
            </a:xfrm>
            <a:prstGeom prst="line">
              <a:avLst/>
            </a:prstGeom>
            <a:noFill/>
            <a:ln w="12700">
              <a:solidFill>
                <a:srgbClr val="009900"/>
              </a:solidFill>
              <a:round/>
              <a:headEnd/>
              <a:tailEnd/>
            </a:ln>
          </p:spPr>
          <p:txBody>
            <a:bodyPr wrap="none" anchor="ctr"/>
            <a:lstStyle/>
            <a:p>
              <a:endParaRPr lang="en-US"/>
            </a:p>
          </p:txBody>
        </p:sp>
        <p:sp>
          <p:nvSpPr>
            <p:cNvPr id="40071" name="Line 556"/>
            <p:cNvSpPr>
              <a:spLocks noChangeShapeType="1"/>
            </p:cNvSpPr>
            <p:nvPr/>
          </p:nvSpPr>
          <p:spPr bwMode="auto">
            <a:xfrm flipV="1">
              <a:off x="2269" y="1872"/>
              <a:ext cx="16" cy="40"/>
            </a:xfrm>
            <a:prstGeom prst="line">
              <a:avLst/>
            </a:prstGeom>
            <a:noFill/>
            <a:ln w="12700">
              <a:solidFill>
                <a:srgbClr val="009900"/>
              </a:solidFill>
              <a:round/>
              <a:headEnd/>
              <a:tailEnd/>
            </a:ln>
          </p:spPr>
          <p:txBody>
            <a:bodyPr wrap="none" anchor="ctr"/>
            <a:lstStyle/>
            <a:p>
              <a:endParaRPr lang="en-US"/>
            </a:p>
          </p:txBody>
        </p:sp>
        <p:sp>
          <p:nvSpPr>
            <p:cNvPr id="40072" name="Line 557"/>
            <p:cNvSpPr>
              <a:spLocks noChangeShapeType="1"/>
            </p:cNvSpPr>
            <p:nvPr/>
          </p:nvSpPr>
          <p:spPr bwMode="auto">
            <a:xfrm flipV="1">
              <a:off x="2269" y="1872"/>
              <a:ext cx="16" cy="40"/>
            </a:xfrm>
            <a:prstGeom prst="line">
              <a:avLst/>
            </a:prstGeom>
            <a:noFill/>
            <a:ln w="12700">
              <a:solidFill>
                <a:srgbClr val="009900"/>
              </a:solidFill>
              <a:round/>
              <a:headEnd/>
              <a:tailEnd/>
            </a:ln>
          </p:spPr>
          <p:txBody>
            <a:bodyPr wrap="none" anchor="ctr"/>
            <a:lstStyle/>
            <a:p>
              <a:endParaRPr lang="en-US"/>
            </a:p>
          </p:txBody>
        </p:sp>
        <p:sp>
          <p:nvSpPr>
            <p:cNvPr id="40073" name="Freeform 558"/>
            <p:cNvSpPr>
              <a:spLocks/>
            </p:cNvSpPr>
            <p:nvPr/>
          </p:nvSpPr>
          <p:spPr bwMode="auto">
            <a:xfrm>
              <a:off x="2406" y="1728"/>
              <a:ext cx="112" cy="217"/>
            </a:xfrm>
            <a:custGeom>
              <a:avLst/>
              <a:gdLst>
                <a:gd name="T0" fmla="*/ 0 w 136"/>
                <a:gd name="T1" fmla="*/ 145 h 265"/>
                <a:gd name="T2" fmla="*/ 60 w 136"/>
                <a:gd name="T3" fmla="*/ 70 h 265"/>
                <a:gd name="T4" fmla="*/ 75 w 136"/>
                <a:gd name="T5" fmla="*/ 13 h 265"/>
                <a:gd name="T6" fmla="*/ 75 w 136"/>
                <a:gd name="T7" fmla="*/ 0 h 265"/>
                <a:gd name="T8" fmla="*/ 0 60000 65536"/>
                <a:gd name="T9" fmla="*/ 0 60000 65536"/>
                <a:gd name="T10" fmla="*/ 0 60000 65536"/>
                <a:gd name="T11" fmla="*/ 0 60000 65536"/>
                <a:gd name="T12" fmla="*/ 0 w 136"/>
                <a:gd name="T13" fmla="*/ 0 h 265"/>
                <a:gd name="T14" fmla="*/ 136 w 136"/>
                <a:gd name="T15" fmla="*/ 265 h 265"/>
              </a:gdLst>
              <a:ahLst/>
              <a:cxnLst>
                <a:cxn ang="T8">
                  <a:pos x="T0" y="T1"/>
                </a:cxn>
                <a:cxn ang="T9">
                  <a:pos x="T2" y="T3"/>
                </a:cxn>
                <a:cxn ang="T10">
                  <a:pos x="T4" y="T5"/>
                </a:cxn>
                <a:cxn ang="T11">
                  <a:pos x="T6" y="T7"/>
                </a:cxn>
              </a:cxnLst>
              <a:rect l="T12" t="T13" r="T14" b="T15"/>
              <a:pathLst>
                <a:path w="136" h="265">
                  <a:moveTo>
                    <a:pt x="0" y="264"/>
                  </a:moveTo>
                  <a:lnTo>
                    <a:pt x="108" y="128"/>
                  </a:lnTo>
                  <a:lnTo>
                    <a:pt x="135" y="24"/>
                  </a:lnTo>
                  <a:lnTo>
                    <a:pt x="135"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074" name="Freeform 559"/>
            <p:cNvSpPr>
              <a:spLocks/>
            </p:cNvSpPr>
            <p:nvPr/>
          </p:nvSpPr>
          <p:spPr bwMode="auto">
            <a:xfrm>
              <a:off x="2406" y="1728"/>
              <a:ext cx="112" cy="217"/>
            </a:xfrm>
            <a:custGeom>
              <a:avLst/>
              <a:gdLst>
                <a:gd name="T0" fmla="*/ 0 w 136"/>
                <a:gd name="T1" fmla="*/ 145 h 265"/>
                <a:gd name="T2" fmla="*/ 10 w 136"/>
                <a:gd name="T3" fmla="*/ 132 h 265"/>
                <a:gd name="T4" fmla="*/ 21 w 136"/>
                <a:gd name="T5" fmla="*/ 119 h 265"/>
                <a:gd name="T6" fmla="*/ 30 w 136"/>
                <a:gd name="T7" fmla="*/ 106 h 265"/>
                <a:gd name="T8" fmla="*/ 40 w 136"/>
                <a:gd name="T9" fmla="*/ 88 h 265"/>
                <a:gd name="T10" fmla="*/ 50 w 136"/>
                <a:gd name="T11" fmla="*/ 75 h 265"/>
                <a:gd name="T12" fmla="*/ 56 w 136"/>
                <a:gd name="T13" fmla="*/ 66 h 265"/>
                <a:gd name="T14" fmla="*/ 60 w 136"/>
                <a:gd name="T15" fmla="*/ 53 h 265"/>
                <a:gd name="T16" fmla="*/ 65 w 136"/>
                <a:gd name="T17" fmla="*/ 39 h 265"/>
                <a:gd name="T18" fmla="*/ 71 w 136"/>
                <a:gd name="T19" fmla="*/ 31 h 265"/>
                <a:gd name="T20" fmla="*/ 71 w 136"/>
                <a:gd name="T21" fmla="*/ 22 h 265"/>
                <a:gd name="T22" fmla="*/ 75 w 136"/>
                <a:gd name="T23" fmla="*/ 9 h 265"/>
                <a:gd name="T24" fmla="*/ 75 w 136"/>
                <a:gd name="T25" fmla="*/ 5 h 265"/>
                <a:gd name="T26" fmla="*/ 75 w 136"/>
                <a:gd name="T27" fmla="*/ 0 h 26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6"/>
                <a:gd name="T43" fmla="*/ 0 h 265"/>
                <a:gd name="T44" fmla="*/ 136 w 136"/>
                <a:gd name="T45" fmla="*/ 265 h 26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6" h="265">
                  <a:moveTo>
                    <a:pt x="0" y="264"/>
                  </a:moveTo>
                  <a:lnTo>
                    <a:pt x="18" y="240"/>
                  </a:lnTo>
                  <a:lnTo>
                    <a:pt x="36" y="216"/>
                  </a:lnTo>
                  <a:lnTo>
                    <a:pt x="54" y="192"/>
                  </a:lnTo>
                  <a:lnTo>
                    <a:pt x="72" y="160"/>
                  </a:lnTo>
                  <a:lnTo>
                    <a:pt x="90" y="136"/>
                  </a:lnTo>
                  <a:lnTo>
                    <a:pt x="99" y="120"/>
                  </a:lnTo>
                  <a:lnTo>
                    <a:pt x="108" y="96"/>
                  </a:lnTo>
                  <a:lnTo>
                    <a:pt x="117" y="72"/>
                  </a:lnTo>
                  <a:lnTo>
                    <a:pt x="126" y="56"/>
                  </a:lnTo>
                  <a:lnTo>
                    <a:pt x="126" y="40"/>
                  </a:lnTo>
                  <a:lnTo>
                    <a:pt x="135" y="16"/>
                  </a:lnTo>
                  <a:lnTo>
                    <a:pt x="135" y="8"/>
                  </a:lnTo>
                  <a:lnTo>
                    <a:pt x="135"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075" name="Arc 560"/>
            <p:cNvSpPr>
              <a:spLocks/>
            </p:cNvSpPr>
            <p:nvPr/>
          </p:nvSpPr>
          <p:spPr bwMode="auto">
            <a:xfrm>
              <a:off x="2278" y="1837"/>
              <a:ext cx="96" cy="85"/>
            </a:xfrm>
            <a:custGeom>
              <a:avLst/>
              <a:gdLst>
                <a:gd name="T0" fmla="*/ 0 w 21783"/>
                <a:gd name="T1" fmla="*/ 0 h 21600"/>
                <a:gd name="T2" fmla="*/ 0 w 21783"/>
                <a:gd name="T3" fmla="*/ 0 h 21600"/>
                <a:gd name="T4" fmla="*/ 0 w 21783"/>
                <a:gd name="T5" fmla="*/ 0 h 21600"/>
                <a:gd name="T6" fmla="*/ 0 60000 65536"/>
                <a:gd name="T7" fmla="*/ 0 60000 65536"/>
                <a:gd name="T8" fmla="*/ 0 60000 65536"/>
                <a:gd name="T9" fmla="*/ 0 w 21783"/>
                <a:gd name="T10" fmla="*/ 0 h 21600"/>
                <a:gd name="T11" fmla="*/ 21783 w 21783"/>
                <a:gd name="T12" fmla="*/ 21600 h 21600"/>
              </a:gdLst>
              <a:ahLst/>
              <a:cxnLst>
                <a:cxn ang="T6">
                  <a:pos x="T0" y="T1"/>
                </a:cxn>
                <a:cxn ang="T7">
                  <a:pos x="T2" y="T3"/>
                </a:cxn>
                <a:cxn ang="T8">
                  <a:pos x="T4" y="T5"/>
                </a:cxn>
              </a:cxnLst>
              <a:rect l="T9" t="T10" r="T11" b="T12"/>
              <a:pathLst>
                <a:path w="21783" h="21600" fill="none" extrusionOk="0">
                  <a:moveTo>
                    <a:pt x="-1" y="0"/>
                  </a:moveTo>
                  <a:cubicBezTo>
                    <a:pt x="60" y="0"/>
                    <a:pt x="121" y="-1"/>
                    <a:pt x="183" y="0"/>
                  </a:cubicBezTo>
                  <a:cubicBezTo>
                    <a:pt x="12112" y="0"/>
                    <a:pt x="21783" y="9670"/>
                    <a:pt x="21783" y="21600"/>
                  </a:cubicBezTo>
                </a:path>
                <a:path w="21783" h="21600" stroke="0" extrusionOk="0">
                  <a:moveTo>
                    <a:pt x="-1" y="0"/>
                  </a:moveTo>
                  <a:cubicBezTo>
                    <a:pt x="60" y="0"/>
                    <a:pt x="121" y="-1"/>
                    <a:pt x="183" y="0"/>
                  </a:cubicBezTo>
                  <a:cubicBezTo>
                    <a:pt x="12112" y="0"/>
                    <a:pt x="21783" y="9670"/>
                    <a:pt x="21783" y="21600"/>
                  </a:cubicBezTo>
                  <a:lnTo>
                    <a:pt x="183" y="21600"/>
                  </a:lnTo>
                  <a:close/>
                </a:path>
              </a:pathLst>
            </a:custGeom>
            <a:noFill/>
            <a:ln w="12700" cap="rnd">
              <a:solidFill>
                <a:srgbClr val="009900"/>
              </a:solidFill>
              <a:round/>
              <a:headEnd/>
              <a:tailEnd/>
            </a:ln>
          </p:spPr>
          <p:txBody>
            <a:bodyPr wrap="none" anchor="ctr"/>
            <a:lstStyle/>
            <a:p>
              <a:endParaRPr lang="en-US"/>
            </a:p>
          </p:txBody>
        </p:sp>
        <p:sp>
          <p:nvSpPr>
            <p:cNvPr id="40076" name="Line 561"/>
            <p:cNvSpPr>
              <a:spLocks noChangeShapeType="1"/>
            </p:cNvSpPr>
            <p:nvPr/>
          </p:nvSpPr>
          <p:spPr bwMode="auto">
            <a:xfrm flipV="1">
              <a:off x="2188" y="1708"/>
              <a:ext cx="53" cy="79"/>
            </a:xfrm>
            <a:prstGeom prst="line">
              <a:avLst/>
            </a:prstGeom>
            <a:noFill/>
            <a:ln w="12700">
              <a:solidFill>
                <a:srgbClr val="009900"/>
              </a:solidFill>
              <a:round/>
              <a:headEnd/>
              <a:tailEnd/>
            </a:ln>
          </p:spPr>
          <p:txBody>
            <a:bodyPr wrap="none" anchor="ctr"/>
            <a:lstStyle/>
            <a:p>
              <a:endParaRPr lang="en-US"/>
            </a:p>
          </p:txBody>
        </p:sp>
        <p:sp>
          <p:nvSpPr>
            <p:cNvPr id="40077" name="Line 562"/>
            <p:cNvSpPr>
              <a:spLocks noChangeShapeType="1"/>
            </p:cNvSpPr>
            <p:nvPr/>
          </p:nvSpPr>
          <p:spPr bwMode="auto">
            <a:xfrm flipV="1">
              <a:off x="2188" y="1708"/>
              <a:ext cx="53" cy="79"/>
            </a:xfrm>
            <a:prstGeom prst="line">
              <a:avLst/>
            </a:prstGeom>
            <a:noFill/>
            <a:ln w="12700">
              <a:solidFill>
                <a:srgbClr val="009900"/>
              </a:solidFill>
              <a:round/>
              <a:headEnd/>
              <a:tailEnd/>
            </a:ln>
          </p:spPr>
          <p:txBody>
            <a:bodyPr wrap="none" anchor="ctr"/>
            <a:lstStyle/>
            <a:p>
              <a:endParaRPr lang="en-US"/>
            </a:p>
          </p:txBody>
        </p:sp>
        <p:sp>
          <p:nvSpPr>
            <p:cNvPr id="40078" name="Line 563"/>
            <p:cNvSpPr>
              <a:spLocks noChangeShapeType="1"/>
            </p:cNvSpPr>
            <p:nvPr/>
          </p:nvSpPr>
          <p:spPr bwMode="auto">
            <a:xfrm flipH="1" flipV="1">
              <a:off x="2204" y="1787"/>
              <a:ext cx="21" cy="118"/>
            </a:xfrm>
            <a:prstGeom prst="line">
              <a:avLst/>
            </a:prstGeom>
            <a:noFill/>
            <a:ln w="12700">
              <a:solidFill>
                <a:srgbClr val="009900"/>
              </a:solidFill>
              <a:round/>
              <a:headEnd/>
              <a:tailEnd/>
            </a:ln>
          </p:spPr>
          <p:txBody>
            <a:bodyPr wrap="none" anchor="ctr"/>
            <a:lstStyle/>
            <a:p>
              <a:endParaRPr lang="en-US"/>
            </a:p>
          </p:txBody>
        </p:sp>
        <p:sp>
          <p:nvSpPr>
            <p:cNvPr id="40079" name="Line 564"/>
            <p:cNvSpPr>
              <a:spLocks noChangeShapeType="1"/>
            </p:cNvSpPr>
            <p:nvPr/>
          </p:nvSpPr>
          <p:spPr bwMode="auto">
            <a:xfrm flipH="1" flipV="1">
              <a:off x="2204" y="1787"/>
              <a:ext cx="21" cy="118"/>
            </a:xfrm>
            <a:prstGeom prst="line">
              <a:avLst/>
            </a:prstGeom>
            <a:noFill/>
            <a:ln w="12700">
              <a:solidFill>
                <a:srgbClr val="009900"/>
              </a:solidFill>
              <a:round/>
              <a:headEnd/>
              <a:tailEnd/>
            </a:ln>
          </p:spPr>
          <p:txBody>
            <a:bodyPr wrap="none" anchor="ctr"/>
            <a:lstStyle/>
            <a:p>
              <a:endParaRPr lang="en-US"/>
            </a:p>
          </p:txBody>
        </p:sp>
        <p:sp>
          <p:nvSpPr>
            <p:cNvPr id="40080" name="Line 565"/>
            <p:cNvSpPr>
              <a:spLocks noChangeShapeType="1"/>
            </p:cNvSpPr>
            <p:nvPr/>
          </p:nvSpPr>
          <p:spPr bwMode="auto">
            <a:xfrm flipV="1">
              <a:off x="2429" y="2411"/>
              <a:ext cx="0" cy="33"/>
            </a:xfrm>
            <a:prstGeom prst="line">
              <a:avLst/>
            </a:prstGeom>
            <a:noFill/>
            <a:ln w="12700">
              <a:solidFill>
                <a:srgbClr val="009900"/>
              </a:solidFill>
              <a:round/>
              <a:headEnd/>
              <a:tailEnd/>
            </a:ln>
          </p:spPr>
          <p:txBody>
            <a:bodyPr wrap="none" anchor="ctr"/>
            <a:lstStyle/>
            <a:p>
              <a:endParaRPr lang="en-US"/>
            </a:p>
          </p:txBody>
        </p:sp>
        <p:sp>
          <p:nvSpPr>
            <p:cNvPr id="40081" name="Line 566"/>
            <p:cNvSpPr>
              <a:spLocks noChangeShapeType="1"/>
            </p:cNvSpPr>
            <p:nvPr/>
          </p:nvSpPr>
          <p:spPr bwMode="auto">
            <a:xfrm flipV="1">
              <a:off x="2429" y="2411"/>
              <a:ext cx="0" cy="33"/>
            </a:xfrm>
            <a:prstGeom prst="line">
              <a:avLst/>
            </a:prstGeom>
            <a:noFill/>
            <a:ln w="12700">
              <a:solidFill>
                <a:srgbClr val="009900"/>
              </a:solidFill>
              <a:round/>
              <a:headEnd/>
              <a:tailEnd/>
            </a:ln>
          </p:spPr>
          <p:txBody>
            <a:bodyPr wrap="none" anchor="ctr"/>
            <a:lstStyle/>
            <a:p>
              <a:endParaRPr lang="en-US"/>
            </a:p>
          </p:txBody>
        </p:sp>
        <p:sp>
          <p:nvSpPr>
            <p:cNvPr id="40082" name="Freeform 567"/>
            <p:cNvSpPr>
              <a:spLocks/>
            </p:cNvSpPr>
            <p:nvPr/>
          </p:nvSpPr>
          <p:spPr bwMode="auto">
            <a:xfrm>
              <a:off x="2554" y="2266"/>
              <a:ext cx="119" cy="218"/>
            </a:xfrm>
            <a:custGeom>
              <a:avLst/>
              <a:gdLst>
                <a:gd name="T0" fmla="*/ 0 w 145"/>
                <a:gd name="T1" fmla="*/ 147 h 265"/>
                <a:gd name="T2" fmla="*/ 60 w 145"/>
                <a:gd name="T3" fmla="*/ 71 h 265"/>
                <a:gd name="T4" fmla="*/ 75 w 145"/>
                <a:gd name="T5" fmla="*/ 13 h 265"/>
                <a:gd name="T6" fmla="*/ 80 w 145"/>
                <a:gd name="T7" fmla="*/ 0 h 265"/>
                <a:gd name="T8" fmla="*/ 0 60000 65536"/>
                <a:gd name="T9" fmla="*/ 0 60000 65536"/>
                <a:gd name="T10" fmla="*/ 0 60000 65536"/>
                <a:gd name="T11" fmla="*/ 0 60000 65536"/>
                <a:gd name="T12" fmla="*/ 0 w 145"/>
                <a:gd name="T13" fmla="*/ 0 h 265"/>
                <a:gd name="T14" fmla="*/ 145 w 145"/>
                <a:gd name="T15" fmla="*/ 265 h 265"/>
              </a:gdLst>
              <a:ahLst/>
              <a:cxnLst>
                <a:cxn ang="T8">
                  <a:pos x="T0" y="T1"/>
                </a:cxn>
                <a:cxn ang="T9">
                  <a:pos x="T2" y="T3"/>
                </a:cxn>
                <a:cxn ang="T10">
                  <a:pos x="T4" y="T5"/>
                </a:cxn>
                <a:cxn ang="T11">
                  <a:pos x="T6" y="T7"/>
                </a:cxn>
              </a:cxnLst>
              <a:rect l="T12" t="T13" r="T14" b="T15"/>
              <a:pathLst>
                <a:path w="145" h="265">
                  <a:moveTo>
                    <a:pt x="0" y="264"/>
                  </a:moveTo>
                  <a:lnTo>
                    <a:pt x="108" y="128"/>
                  </a:lnTo>
                  <a:lnTo>
                    <a:pt x="135" y="24"/>
                  </a:lnTo>
                  <a:lnTo>
                    <a:pt x="144"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083" name="Freeform 568"/>
            <p:cNvSpPr>
              <a:spLocks/>
            </p:cNvSpPr>
            <p:nvPr/>
          </p:nvSpPr>
          <p:spPr bwMode="auto">
            <a:xfrm>
              <a:off x="2554" y="2266"/>
              <a:ext cx="119" cy="218"/>
            </a:xfrm>
            <a:custGeom>
              <a:avLst/>
              <a:gdLst>
                <a:gd name="T0" fmla="*/ 0 w 145"/>
                <a:gd name="T1" fmla="*/ 147 h 265"/>
                <a:gd name="T2" fmla="*/ 10 w 145"/>
                <a:gd name="T3" fmla="*/ 133 h 265"/>
                <a:gd name="T4" fmla="*/ 21 w 145"/>
                <a:gd name="T5" fmla="*/ 120 h 265"/>
                <a:gd name="T6" fmla="*/ 35 w 145"/>
                <a:gd name="T7" fmla="*/ 102 h 265"/>
                <a:gd name="T8" fmla="*/ 44 w 145"/>
                <a:gd name="T9" fmla="*/ 90 h 265"/>
                <a:gd name="T10" fmla="*/ 50 w 145"/>
                <a:gd name="T11" fmla="*/ 76 h 265"/>
                <a:gd name="T12" fmla="*/ 60 w 145"/>
                <a:gd name="T13" fmla="*/ 63 h 265"/>
                <a:gd name="T14" fmla="*/ 65 w 145"/>
                <a:gd name="T15" fmla="*/ 49 h 265"/>
                <a:gd name="T16" fmla="*/ 70 w 145"/>
                <a:gd name="T17" fmla="*/ 40 h 265"/>
                <a:gd name="T18" fmla="*/ 70 w 145"/>
                <a:gd name="T19" fmla="*/ 36 h 265"/>
                <a:gd name="T20" fmla="*/ 75 w 145"/>
                <a:gd name="T21" fmla="*/ 17 h 265"/>
                <a:gd name="T22" fmla="*/ 75 w 145"/>
                <a:gd name="T23" fmla="*/ 13 h 265"/>
                <a:gd name="T24" fmla="*/ 80 w 145"/>
                <a:gd name="T25" fmla="*/ 0 h 26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5"/>
                <a:gd name="T40" fmla="*/ 0 h 265"/>
                <a:gd name="T41" fmla="*/ 145 w 145"/>
                <a:gd name="T42" fmla="*/ 265 h 26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5" h="265">
                  <a:moveTo>
                    <a:pt x="0" y="264"/>
                  </a:moveTo>
                  <a:lnTo>
                    <a:pt x="18" y="240"/>
                  </a:lnTo>
                  <a:lnTo>
                    <a:pt x="36" y="216"/>
                  </a:lnTo>
                  <a:lnTo>
                    <a:pt x="63" y="184"/>
                  </a:lnTo>
                  <a:lnTo>
                    <a:pt x="81" y="160"/>
                  </a:lnTo>
                  <a:lnTo>
                    <a:pt x="90" y="136"/>
                  </a:lnTo>
                  <a:lnTo>
                    <a:pt x="108" y="112"/>
                  </a:lnTo>
                  <a:lnTo>
                    <a:pt x="117" y="88"/>
                  </a:lnTo>
                  <a:lnTo>
                    <a:pt x="126" y="72"/>
                  </a:lnTo>
                  <a:lnTo>
                    <a:pt x="126" y="64"/>
                  </a:lnTo>
                  <a:lnTo>
                    <a:pt x="135" y="32"/>
                  </a:lnTo>
                  <a:lnTo>
                    <a:pt x="135" y="24"/>
                  </a:lnTo>
                  <a:lnTo>
                    <a:pt x="144"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084" name="Arc 569"/>
            <p:cNvSpPr>
              <a:spLocks/>
            </p:cNvSpPr>
            <p:nvPr/>
          </p:nvSpPr>
          <p:spPr bwMode="auto">
            <a:xfrm>
              <a:off x="2433" y="2375"/>
              <a:ext cx="97" cy="86"/>
            </a:xfrm>
            <a:custGeom>
              <a:avLst/>
              <a:gdLst>
                <a:gd name="T0" fmla="*/ 0 w 21781"/>
                <a:gd name="T1" fmla="*/ 0 h 21600"/>
                <a:gd name="T2" fmla="*/ 0 w 21781"/>
                <a:gd name="T3" fmla="*/ 0 h 21600"/>
                <a:gd name="T4" fmla="*/ 0 w 21781"/>
                <a:gd name="T5" fmla="*/ 0 h 21600"/>
                <a:gd name="T6" fmla="*/ 0 60000 65536"/>
                <a:gd name="T7" fmla="*/ 0 60000 65536"/>
                <a:gd name="T8" fmla="*/ 0 60000 65536"/>
                <a:gd name="T9" fmla="*/ 0 w 21781"/>
                <a:gd name="T10" fmla="*/ 0 h 21600"/>
                <a:gd name="T11" fmla="*/ 21781 w 21781"/>
                <a:gd name="T12" fmla="*/ 21600 h 21600"/>
              </a:gdLst>
              <a:ahLst/>
              <a:cxnLst>
                <a:cxn ang="T6">
                  <a:pos x="T0" y="T1"/>
                </a:cxn>
                <a:cxn ang="T7">
                  <a:pos x="T2" y="T3"/>
                </a:cxn>
                <a:cxn ang="T8">
                  <a:pos x="T4" y="T5"/>
                </a:cxn>
              </a:cxnLst>
              <a:rect l="T9" t="T10" r="T11" b="T12"/>
              <a:pathLst>
                <a:path w="21781" h="21600" fill="none" extrusionOk="0">
                  <a:moveTo>
                    <a:pt x="-1" y="0"/>
                  </a:moveTo>
                  <a:cubicBezTo>
                    <a:pt x="60" y="0"/>
                    <a:pt x="121" y="-1"/>
                    <a:pt x="182" y="0"/>
                  </a:cubicBezTo>
                  <a:cubicBezTo>
                    <a:pt x="12030" y="0"/>
                    <a:pt x="21667" y="9544"/>
                    <a:pt x="21781" y="21392"/>
                  </a:cubicBezTo>
                </a:path>
                <a:path w="21781" h="21600" stroke="0" extrusionOk="0">
                  <a:moveTo>
                    <a:pt x="-1" y="0"/>
                  </a:moveTo>
                  <a:cubicBezTo>
                    <a:pt x="60" y="0"/>
                    <a:pt x="121" y="-1"/>
                    <a:pt x="182" y="0"/>
                  </a:cubicBezTo>
                  <a:cubicBezTo>
                    <a:pt x="12030" y="0"/>
                    <a:pt x="21667" y="9544"/>
                    <a:pt x="21781" y="21392"/>
                  </a:cubicBezTo>
                  <a:lnTo>
                    <a:pt x="182" y="21600"/>
                  </a:lnTo>
                  <a:close/>
                </a:path>
              </a:pathLst>
            </a:custGeom>
            <a:noFill/>
            <a:ln w="12700" cap="rnd">
              <a:solidFill>
                <a:srgbClr val="009900"/>
              </a:solidFill>
              <a:round/>
              <a:headEnd/>
              <a:tailEnd/>
            </a:ln>
          </p:spPr>
          <p:txBody>
            <a:bodyPr wrap="none" anchor="ctr"/>
            <a:lstStyle/>
            <a:p>
              <a:endParaRPr lang="en-US"/>
            </a:p>
          </p:txBody>
        </p:sp>
        <p:sp>
          <p:nvSpPr>
            <p:cNvPr id="40085" name="Line 570"/>
            <p:cNvSpPr>
              <a:spLocks noChangeShapeType="1"/>
            </p:cNvSpPr>
            <p:nvPr/>
          </p:nvSpPr>
          <p:spPr bwMode="auto">
            <a:xfrm flipV="1">
              <a:off x="2343" y="2247"/>
              <a:ext cx="53" cy="78"/>
            </a:xfrm>
            <a:prstGeom prst="line">
              <a:avLst/>
            </a:prstGeom>
            <a:noFill/>
            <a:ln w="12700">
              <a:solidFill>
                <a:srgbClr val="009900"/>
              </a:solidFill>
              <a:round/>
              <a:headEnd/>
              <a:tailEnd/>
            </a:ln>
          </p:spPr>
          <p:txBody>
            <a:bodyPr wrap="none" anchor="ctr"/>
            <a:lstStyle/>
            <a:p>
              <a:endParaRPr lang="en-US"/>
            </a:p>
          </p:txBody>
        </p:sp>
        <p:sp>
          <p:nvSpPr>
            <p:cNvPr id="40086" name="Line 571"/>
            <p:cNvSpPr>
              <a:spLocks noChangeShapeType="1"/>
            </p:cNvSpPr>
            <p:nvPr/>
          </p:nvSpPr>
          <p:spPr bwMode="auto">
            <a:xfrm flipV="1">
              <a:off x="2343" y="2247"/>
              <a:ext cx="53" cy="78"/>
            </a:xfrm>
            <a:prstGeom prst="line">
              <a:avLst/>
            </a:prstGeom>
            <a:noFill/>
            <a:ln w="12700">
              <a:solidFill>
                <a:srgbClr val="009900"/>
              </a:solidFill>
              <a:round/>
              <a:headEnd/>
              <a:tailEnd/>
            </a:ln>
          </p:spPr>
          <p:txBody>
            <a:bodyPr wrap="none" anchor="ctr"/>
            <a:lstStyle/>
            <a:p>
              <a:endParaRPr lang="en-US"/>
            </a:p>
          </p:txBody>
        </p:sp>
        <p:sp>
          <p:nvSpPr>
            <p:cNvPr id="40087" name="Line 572"/>
            <p:cNvSpPr>
              <a:spLocks noChangeShapeType="1"/>
            </p:cNvSpPr>
            <p:nvPr/>
          </p:nvSpPr>
          <p:spPr bwMode="auto">
            <a:xfrm flipH="1" flipV="1">
              <a:off x="2359" y="2325"/>
              <a:ext cx="22" cy="119"/>
            </a:xfrm>
            <a:prstGeom prst="line">
              <a:avLst/>
            </a:prstGeom>
            <a:noFill/>
            <a:ln w="12700">
              <a:solidFill>
                <a:srgbClr val="009900"/>
              </a:solidFill>
              <a:round/>
              <a:headEnd/>
              <a:tailEnd/>
            </a:ln>
          </p:spPr>
          <p:txBody>
            <a:bodyPr wrap="none" anchor="ctr"/>
            <a:lstStyle/>
            <a:p>
              <a:endParaRPr lang="en-US"/>
            </a:p>
          </p:txBody>
        </p:sp>
        <p:sp>
          <p:nvSpPr>
            <p:cNvPr id="40088" name="Line 573"/>
            <p:cNvSpPr>
              <a:spLocks noChangeShapeType="1"/>
            </p:cNvSpPr>
            <p:nvPr/>
          </p:nvSpPr>
          <p:spPr bwMode="auto">
            <a:xfrm flipH="1" flipV="1">
              <a:off x="2359" y="2325"/>
              <a:ext cx="22" cy="119"/>
            </a:xfrm>
            <a:prstGeom prst="line">
              <a:avLst/>
            </a:prstGeom>
            <a:noFill/>
            <a:ln w="12700">
              <a:solidFill>
                <a:srgbClr val="009900"/>
              </a:solidFill>
              <a:round/>
              <a:headEnd/>
              <a:tailEnd/>
            </a:ln>
          </p:spPr>
          <p:txBody>
            <a:bodyPr wrap="none" anchor="ctr"/>
            <a:lstStyle/>
            <a:p>
              <a:endParaRPr lang="en-US"/>
            </a:p>
          </p:txBody>
        </p:sp>
        <p:sp>
          <p:nvSpPr>
            <p:cNvPr id="40089" name="Line 574"/>
            <p:cNvSpPr>
              <a:spLocks noChangeShapeType="1"/>
            </p:cNvSpPr>
            <p:nvPr/>
          </p:nvSpPr>
          <p:spPr bwMode="auto">
            <a:xfrm flipV="1">
              <a:off x="2358" y="2467"/>
              <a:ext cx="104" cy="26"/>
            </a:xfrm>
            <a:prstGeom prst="line">
              <a:avLst/>
            </a:prstGeom>
            <a:noFill/>
            <a:ln w="12700">
              <a:solidFill>
                <a:srgbClr val="009900"/>
              </a:solidFill>
              <a:round/>
              <a:headEnd/>
              <a:tailEnd/>
            </a:ln>
          </p:spPr>
          <p:txBody>
            <a:bodyPr wrap="none" anchor="ctr"/>
            <a:lstStyle/>
            <a:p>
              <a:endParaRPr lang="en-US"/>
            </a:p>
          </p:txBody>
        </p:sp>
        <p:sp>
          <p:nvSpPr>
            <p:cNvPr id="40090" name="Line 575"/>
            <p:cNvSpPr>
              <a:spLocks noChangeShapeType="1"/>
            </p:cNvSpPr>
            <p:nvPr/>
          </p:nvSpPr>
          <p:spPr bwMode="auto">
            <a:xfrm flipV="1">
              <a:off x="2358" y="2467"/>
              <a:ext cx="104" cy="26"/>
            </a:xfrm>
            <a:prstGeom prst="line">
              <a:avLst/>
            </a:prstGeom>
            <a:noFill/>
            <a:ln w="12700">
              <a:solidFill>
                <a:srgbClr val="009900"/>
              </a:solidFill>
              <a:round/>
              <a:headEnd/>
              <a:tailEnd/>
            </a:ln>
          </p:spPr>
          <p:txBody>
            <a:bodyPr wrap="none" anchor="ctr"/>
            <a:lstStyle/>
            <a:p>
              <a:endParaRPr lang="en-US"/>
            </a:p>
          </p:txBody>
        </p:sp>
        <p:sp>
          <p:nvSpPr>
            <p:cNvPr id="40091" name="Line 576"/>
            <p:cNvSpPr>
              <a:spLocks noChangeShapeType="1"/>
            </p:cNvSpPr>
            <p:nvPr/>
          </p:nvSpPr>
          <p:spPr bwMode="auto">
            <a:xfrm flipV="1">
              <a:off x="2306" y="2188"/>
              <a:ext cx="16" cy="39"/>
            </a:xfrm>
            <a:prstGeom prst="line">
              <a:avLst/>
            </a:prstGeom>
            <a:noFill/>
            <a:ln w="12700">
              <a:solidFill>
                <a:srgbClr val="009900"/>
              </a:solidFill>
              <a:round/>
              <a:headEnd/>
              <a:tailEnd/>
            </a:ln>
          </p:spPr>
          <p:txBody>
            <a:bodyPr wrap="none" anchor="ctr"/>
            <a:lstStyle/>
            <a:p>
              <a:endParaRPr lang="en-US"/>
            </a:p>
          </p:txBody>
        </p:sp>
        <p:sp>
          <p:nvSpPr>
            <p:cNvPr id="40092" name="Line 577"/>
            <p:cNvSpPr>
              <a:spLocks noChangeShapeType="1"/>
            </p:cNvSpPr>
            <p:nvPr/>
          </p:nvSpPr>
          <p:spPr bwMode="auto">
            <a:xfrm flipV="1">
              <a:off x="2306" y="2188"/>
              <a:ext cx="16" cy="39"/>
            </a:xfrm>
            <a:prstGeom prst="line">
              <a:avLst/>
            </a:prstGeom>
            <a:noFill/>
            <a:ln w="12700">
              <a:solidFill>
                <a:srgbClr val="009900"/>
              </a:solidFill>
              <a:round/>
              <a:headEnd/>
              <a:tailEnd/>
            </a:ln>
          </p:spPr>
          <p:txBody>
            <a:bodyPr wrap="none" anchor="ctr"/>
            <a:lstStyle/>
            <a:p>
              <a:endParaRPr lang="en-US"/>
            </a:p>
          </p:txBody>
        </p:sp>
        <p:sp>
          <p:nvSpPr>
            <p:cNvPr id="40093" name="Freeform 578"/>
            <p:cNvSpPr>
              <a:spLocks/>
            </p:cNvSpPr>
            <p:nvPr/>
          </p:nvSpPr>
          <p:spPr bwMode="auto">
            <a:xfrm>
              <a:off x="2510" y="2023"/>
              <a:ext cx="156" cy="41"/>
            </a:xfrm>
            <a:custGeom>
              <a:avLst/>
              <a:gdLst>
                <a:gd name="T0" fmla="*/ 0 w 190"/>
                <a:gd name="T1" fmla="*/ 27 h 50"/>
                <a:gd name="T2" fmla="*/ 94 w 190"/>
                <a:gd name="T3" fmla="*/ 18 h 50"/>
                <a:gd name="T4" fmla="*/ 104 w 190"/>
                <a:gd name="T5" fmla="*/ 0 h 50"/>
                <a:gd name="T6" fmla="*/ 0 60000 65536"/>
                <a:gd name="T7" fmla="*/ 0 60000 65536"/>
                <a:gd name="T8" fmla="*/ 0 60000 65536"/>
                <a:gd name="T9" fmla="*/ 0 w 190"/>
                <a:gd name="T10" fmla="*/ 0 h 50"/>
                <a:gd name="T11" fmla="*/ 190 w 190"/>
                <a:gd name="T12" fmla="*/ 50 h 50"/>
              </a:gdLst>
              <a:ahLst/>
              <a:cxnLst>
                <a:cxn ang="T6">
                  <a:pos x="T0" y="T1"/>
                </a:cxn>
                <a:cxn ang="T7">
                  <a:pos x="T2" y="T3"/>
                </a:cxn>
                <a:cxn ang="T8">
                  <a:pos x="T4" y="T5"/>
                </a:cxn>
              </a:cxnLst>
              <a:rect l="T9" t="T10" r="T11" b="T12"/>
              <a:pathLst>
                <a:path w="190" h="50">
                  <a:moveTo>
                    <a:pt x="0" y="49"/>
                  </a:moveTo>
                  <a:lnTo>
                    <a:pt x="171" y="33"/>
                  </a:lnTo>
                  <a:lnTo>
                    <a:pt x="18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094" name="Freeform 579"/>
            <p:cNvSpPr>
              <a:spLocks/>
            </p:cNvSpPr>
            <p:nvPr/>
          </p:nvSpPr>
          <p:spPr bwMode="auto">
            <a:xfrm>
              <a:off x="2510" y="2023"/>
              <a:ext cx="156" cy="41"/>
            </a:xfrm>
            <a:custGeom>
              <a:avLst/>
              <a:gdLst>
                <a:gd name="T0" fmla="*/ 0 w 190"/>
                <a:gd name="T1" fmla="*/ 27 h 50"/>
                <a:gd name="T2" fmla="*/ 10 w 190"/>
                <a:gd name="T3" fmla="*/ 27 h 50"/>
                <a:gd name="T4" fmla="*/ 35 w 190"/>
                <a:gd name="T5" fmla="*/ 23 h 50"/>
                <a:gd name="T6" fmla="*/ 50 w 190"/>
                <a:gd name="T7" fmla="*/ 23 h 50"/>
                <a:gd name="T8" fmla="*/ 65 w 190"/>
                <a:gd name="T9" fmla="*/ 18 h 50"/>
                <a:gd name="T10" fmla="*/ 85 w 190"/>
                <a:gd name="T11" fmla="*/ 14 h 50"/>
                <a:gd name="T12" fmla="*/ 94 w 190"/>
                <a:gd name="T13" fmla="*/ 9 h 50"/>
                <a:gd name="T14" fmla="*/ 100 w 190"/>
                <a:gd name="T15" fmla="*/ 5 h 50"/>
                <a:gd name="T16" fmla="*/ 104 w 190"/>
                <a:gd name="T17" fmla="*/ 0 h 5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0"/>
                <a:gd name="T28" fmla="*/ 0 h 50"/>
                <a:gd name="T29" fmla="*/ 190 w 190"/>
                <a:gd name="T30" fmla="*/ 50 h 5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0" h="50">
                  <a:moveTo>
                    <a:pt x="0" y="49"/>
                  </a:moveTo>
                  <a:lnTo>
                    <a:pt x="18" y="49"/>
                  </a:lnTo>
                  <a:lnTo>
                    <a:pt x="63" y="41"/>
                  </a:lnTo>
                  <a:lnTo>
                    <a:pt x="90" y="41"/>
                  </a:lnTo>
                  <a:lnTo>
                    <a:pt x="117" y="33"/>
                  </a:lnTo>
                  <a:lnTo>
                    <a:pt x="153" y="25"/>
                  </a:lnTo>
                  <a:lnTo>
                    <a:pt x="171" y="16"/>
                  </a:lnTo>
                  <a:lnTo>
                    <a:pt x="180" y="8"/>
                  </a:lnTo>
                  <a:lnTo>
                    <a:pt x="18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095" name="Arc 580"/>
            <p:cNvSpPr>
              <a:spLocks/>
            </p:cNvSpPr>
            <p:nvPr/>
          </p:nvSpPr>
          <p:spPr bwMode="auto">
            <a:xfrm>
              <a:off x="2318" y="2152"/>
              <a:ext cx="93" cy="86"/>
            </a:xfrm>
            <a:custGeom>
              <a:avLst/>
              <a:gdLst>
                <a:gd name="T0" fmla="*/ 0 w 21791"/>
                <a:gd name="T1" fmla="*/ 0 h 21600"/>
                <a:gd name="T2" fmla="*/ 0 w 21791"/>
                <a:gd name="T3" fmla="*/ 0 h 21600"/>
                <a:gd name="T4" fmla="*/ 0 w 21791"/>
                <a:gd name="T5" fmla="*/ 0 h 21600"/>
                <a:gd name="T6" fmla="*/ 0 60000 65536"/>
                <a:gd name="T7" fmla="*/ 0 60000 65536"/>
                <a:gd name="T8" fmla="*/ 0 60000 65536"/>
                <a:gd name="T9" fmla="*/ 0 w 21791"/>
                <a:gd name="T10" fmla="*/ 0 h 21600"/>
                <a:gd name="T11" fmla="*/ 21791 w 21791"/>
                <a:gd name="T12" fmla="*/ 21600 h 21600"/>
              </a:gdLst>
              <a:ahLst/>
              <a:cxnLst>
                <a:cxn ang="T6">
                  <a:pos x="T0" y="T1"/>
                </a:cxn>
                <a:cxn ang="T7">
                  <a:pos x="T2" y="T3"/>
                </a:cxn>
                <a:cxn ang="T8">
                  <a:pos x="T4" y="T5"/>
                </a:cxn>
              </a:cxnLst>
              <a:rect l="T9" t="T10" r="T11" b="T12"/>
              <a:pathLst>
                <a:path w="21791" h="21600" fill="none" extrusionOk="0">
                  <a:moveTo>
                    <a:pt x="-1" y="0"/>
                  </a:moveTo>
                  <a:cubicBezTo>
                    <a:pt x="63" y="0"/>
                    <a:pt x="127" y="-1"/>
                    <a:pt x="191" y="0"/>
                  </a:cubicBezTo>
                  <a:cubicBezTo>
                    <a:pt x="12120" y="0"/>
                    <a:pt x="21791" y="9670"/>
                    <a:pt x="21791" y="21600"/>
                  </a:cubicBezTo>
                </a:path>
                <a:path w="21791" h="21600" stroke="0" extrusionOk="0">
                  <a:moveTo>
                    <a:pt x="-1" y="0"/>
                  </a:moveTo>
                  <a:cubicBezTo>
                    <a:pt x="63" y="0"/>
                    <a:pt x="127" y="-1"/>
                    <a:pt x="191" y="0"/>
                  </a:cubicBezTo>
                  <a:cubicBezTo>
                    <a:pt x="12120" y="0"/>
                    <a:pt x="21791" y="9670"/>
                    <a:pt x="21791" y="21600"/>
                  </a:cubicBezTo>
                  <a:lnTo>
                    <a:pt x="191" y="21600"/>
                  </a:lnTo>
                  <a:close/>
                </a:path>
              </a:pathLst>
            </a:custGeom>
            <a:noFill/>
            <a:ln w="12700" cap="rnd">
              <a:solidFill>
                <a:srgbClr val="009900"/>
              </a:solidFill>
              <a:round/>
              <a:headEnd/>
              <a:tailEnd/>
            </a:ln>
          </p:spPr>
          <p:txBody>
            <a:bodyPr wrap="none" anchor="ctr"/>
            <a:lstStyle/>
            <a:p>
              <a:endParaRPr lang="en-US"/>
            </a:p>
          </p:txBody>
        </p:sp>
        <p:sp>
          <p:nvSpPr>
            <p:cNvPr id="40096" name="Line 581"/>
            <p:cNvSpPr>
              <a:spLocks noChangeShapeType="1"/>
            </p:cNvSpPr>
            <p:nvPr/>
          </p:nvSpPr>
          <p:spPr bwMode="auto">
            <a:xfrm flipV="1">
              <a:off x="2225" y="2017"/>
              <a:ext cx="53" cy="79"/>
            </a:xfrm>
            <a:prstGeom prst="line">
              <a:avLst/>
            </a:prstGeom>
            <a:noFill/>
            <a:ln w="12700">
              <a:solidFill>
                <a:srgbClr val="009900"/>
              </a:solidFill>
              <a:round/>
              <a:headEnd/>
              <a:tailEnd/>
            </a:ln>
          </p:spPr>
          <p:txBody>
            <a:bodyPr wrap="none" anchor="ctr"/>
            <a:lstStyle/>
            <a:p>
              <a:endParaRPr lang="en-US"/>
            </a:p>
          </p:txBody>
        </p:sp>
        <p:sp>
          <p:nvSpPr>
            <p:cNvPr id="40097" name="Line 582"/>
            <p:cNvSpPr>
              <a:spLocks noChangeShapeType="1"/>
            </p:cNvSpPr>
            <p:nvPr/>
          </p:nvSpPr>
          <p:spPr bwMode="auto">
            <a:xfrm flipV="1">
              <a:off x="2225" y="2017"/>
              <a:ext cx="53" cy="79"/>
            </a:xfrm>
            <a:prstGeom prst="line">
              <a:avLst/>
            </a:prstGeom>
            <a:noFill/>
            <a:ln w="12700">
              <a:solidFill>
                <a:srgbClr val="009900"/>
              </a:solidFill>
              <a:round/>
              <a:headEnd/>
              <a:tailEnd/>
            </a:ln>
          </p:spPr>
          <p:txBody>
            <a:bodyPr wrap="none" anchor="ctr"/>
            <a:lstStyle/>
            <a:p>
              <a:endParaRPr lang="en-US"/>
            </a:p>
          </p:txBody>
        </p:sp>
        <p:sp>
          <p:nvSpPr>
            <p:cNvPr id="40098" name="Line 583"/>
            <p:cNvSpPr>
              <a:spLocks noChangeShapeType="1"/>
            </p:cNvSpPr>
            <p:nvPr/>
          </p:nvSpPr>
          <p:spPr bwMode="auto">
            <a:xfrm flipH="1" flipV="1">
              <a:off x="2241" y="2096"/>
              <a:ext cx="21" cy="124"/>
            </a:xfrm>
            <a:prstGeom prst="line">
              <a:avLst/>
            </a:prstGeom>
            <a:noFill/>
            <a:ln w="12700">
              <a:solidFill>
                <a:srgbClr val="009900"/>
              </a:solidFill>
              <a:round/>
              <a:headEnd/>
              <a:tailEnd/>
            </a:ln>
          </p:spPr>
          <p:txBody>
            <a:bodyPr wrap="none" anchor="ctr"/>
            <a:lstStyle/>
            <a:p>
              <a:endParaRPr lang="en-US"/>
            </a:p>
          </p:txBody>
        </p:sp>
        <p:sp>
          <p:nvSpPr>
            <p:cNvPr id="40099" name="Line 584"/>
            <p:cNvSpPr>
              <a:spLocks noChangeShapeType="1"/>
            </p:cNvSpPr>
            <p:nvPr/>
          </p:nvSpPr>
          <p:spPr bwMode="auto">
            <a:xfrm flipH="1" flipV="1">
              <a:off x="2241" y="2096"/>
              <a:ext cx="21" cy="124"/>
            </a:xfrm>
            <a:prstGeom prst="line">
              <a:avLst/>
            </a:prstGeom>
            <a:noFill/>
            <a:ln w="12700">
              <a:solidFill>
                <a:srgbClr val="009900"/>
              </a:solidFill>
              <a:round/>
              <a:headEnd/>
              <a:tailEnd/>
            </a:ln>
          </p:spPr>
          <p:txBody>
            <a:bodyPr wrap="none" anchor="ctr"/>
            <a:lstStyle/>
            <a:p>
              <a:endParaRPr lang="en-US"/>
            </a:p>
          </p:txBody>
        </p:sp>
        <p:sp>
          <p:nvSpPr>
            <p:cNvPr id="40100" name="Line 585"/>
            <p:cNvSpPr>
              <a:spLocks noChangeShapeType="1"/>
            </p:cNvSpPr>
            <p:nvPr/>
          </p:nvSpPr>
          <p:spPr bwMode="auto">
            <a:xfrm flipV="1">
              <a:off x="2369" y="2424"/>
              <a:ext cx="1" cy="33"/>
            </a:xfrm>
            <a:prstGeom prst="line">
              <a:avLst/>
            </a:prstGeom>
            <a:noFill/>
            <a:ln w="12700">
              <a:solidFill>
                <a:srgbClr val="009900"/>
              </a:solidFill>
              <a:round/>
              <a:headEnd/>
              <a:tailEnd/>
            </a:ln>
          </p:spPr>
          <p:txBody>
            <a:bodyPr wrap="none" anchor="ctr"/>
            <a:lstStyle/>
            <a:p>
              <a:endParaRPr lang="en-US"/>
            </a:p>
          </p:txBody>
        </p:sp>
        <p:sp>
          <p:nvSpPr>
            <p:cNvPr id="40101" name="Line 586"/>
            <p:cNvSpPr>
              <a:spLocks noChangeShapeType="1"/>
            </p:cNvSpPr>
            <p:nvPr/>
          </p:nvSpPr>
          <p:spPr bwMode="auto">
            <a:xfrm flipV="1">
              <a:off x="2369" y="2424"/>
              <a:ext cx="1" cy="33"/>
            </a:xfrm>
            <a:prstGeom prst="line">
              <a:avLst/>
            </a:prstGeom>
            <a:noFill/>
            <a:ln w="12700">
              <a:solidFill>
                <a:srgbClr val="009900"/>
              </a:solidFill>
              <a:round/>
              <a:headEnd/>
              <a:tailEnd/>
            </a:ln>
          </p:spPr>
          <p:txBody>
            <a:bodyPr wrap="none" anchor="ctr"/>
            <a:lstStyle/>
            <a:p>
              <a:endParaRPr lang="en-US"/>
            </a:p>
          </p:txBody>
        </p:sp>
        <p:sp>
          <p:nvSpPr>
            <p:cNvPr id="40102" name="Freeform 587"/>
            <p:cNvSpPr>
              <a:spLocks/>
            </p:cNvSpPr>
            <p:nvPr/>
          </p:nvSpPr>
          <p:spPr bwMode="auto">
            <a:xfrm>
              <a:off x="2562" y="2260"/>
              <a:ext cx="156" cy="40"/>
            </a:xfrm>
            <a:custGeom>
              <a:avLst/>
              <a:gdLst>
                <a:gd name="T0" fmla="*/ 0 w 190"/>
                <a:gd name="T1" fmla="*/ 26 h 49"/>
                <a:gd name="T2" fmla="*/ 94 w 190"/>
                <a:gd name="T3" fmla="*/ 17 h 49"/>
                <a:gd name="T4" fmla="*/ 104 w 190"/>
                <a:gd name="T5" fmla="*/ 0 h 49"/>
                <a:gd name="T6" fmla="*/ 0 60000 65536"/>
                <a:gd name="T7" fmla="*/ 0 60000 65536"/>
                <a:gd name="T8" fmla="*/ 0 60000 65536"/>
                <a:gd name="T9" fmla="*/ 0 w 190"/>
                <a:gd name="T10" fmla="*/ 0 h 49"/>
                <a:gd name="T11" fmla="*/ 190 w 190"/>
                <a:gd name="T12" fmla="*/ 49 h 49"/>
              </a:gdLst>
              <a:ahLst/>
              <a:cxnLst>
                <a:cxn ang="T6">
                  <a:pos x="T0" y="T1"/>
                </a:cxn>
                <a:cxn ang="T7">
                  <a:pos x="T2" y="T3"/>
                </a:cxn>
                <a:cxn ang="T8">
                  <a:pos x="T4" y="T5"/>
                </a:cxn>
              </a:cxnLst>
              <a:rect l="T9" t="T10" r="T11" b="T12"/>
              <a:pathLst>
                <a:path w="190" h="49">
                  <a:moveTo>
                    <a:pt x="0" y="48"/>
                  </a:moveTo>
                  <a:lnTo>
                    <a:pt x="171" y="32"/>
                  </a:lnTo>
                  <a:lnTo>
                    <a:pt x="18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103" name="Freeform 588"/>
            <p:cNvSpPr>
              <a:spLocks/>
            </p:cNvSpPr>
            <p:nvPr/>
          </p:nvSpPr>
          <p:spPr bwMode="auto">
            <a:xfrm>
              <a:off x="2562" y="2260"/>
              <a:ext cx="156" cy="40"/>
            </a:xfrm>
            <a:custGeom>
              <a:avLst/>
              <a:gdLst>
                <a:gd name="T0" fmla="*/ 0 w 190"/>
                <a:gd name="T1" fmla="*/ 26 h 49"/>
                <a:gd name="T2" fmla="*/ 10 w 190"/>
                <a:gd name="T3" fmla="*/ 26 h 49"/>
                <a:gd name="T4" fmla="*/ 35 w 190"/>
                <a:gd name="T5" fmla="*/ 22 h 49"/>
                <a:gd name="T6" fmla="*/ 50 w 190"/>
                <a:gd name="T7" fmla="*/ 22 h 49"/>
                <a:gd name="T8" fmla="*/ 65 w 190"/>
                <a:gd name="T9" fmla="*/ 17 h 49"/>
                <a:gd name="T10" fmla="*/ 85 w 190"/>
                <a:gd name="T11" fmla="*/ 13 h 49"/>
                <a:gd name="T12" fmla="*/ 94 w 190"/>
                <a:gd name="T13" fmla="*/ 9 h 49"/>
                <a:gd name="T14" fmla="*/ 100 w 190"/>
                <a:gd name="T15" fmla="*/ 5 h 49"/>
                <a:gd name="T16" fmla="*/ 104 w 19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0"/>
                <a:gd name="T28" fmla="*/ 0 h 49"/>
                <a:gd name="T29" fmla="*/ 190 w 190"/>
                <a:gd name="T30" fmla="*/ 49 h 4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0" h="49">
                  <a:moveTo>
                    <a:pt x="0" y="48"/>
                  </a:moveTo>
                  <a:lnTo>
                    <a:pt x="18" y="48"/>
                  </a:lnTo>
                  <a:lnTo>
                    <a:pt x="63" y="40"/>
                  </a:lnTo>
                  <a:lnTo>
                    <a:pt x="90" y="40"/>
                  </a:lnTo>
                  <a:lnTo>
                    <a:pt x="117" y="32"/>
                  </a:lnTo>
                  <a:lnTo>
                    <a:pt x="153" y="24"/>
                  </a:lnTo>
                  <a:lnTo>
                    <a:pt x="171" y="16"/>
                  </a:lnTo>
                  <a:lnTo>
                    <a:pt x="180" y="8"/>
                  </a:lnTo>
                  <a:lnTo>
                    <a:pt x="18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104" name="Freeform 589"/>
            <p:cNvSpPr>
              <a:spLocks/>
            </p:cNvSpPr>
            <p:nvPr/>
          </p:nvSpPr>
          <p:spPr bwMode="auto">
            <a:xfrm>
              <a:off x="2562" y="2437"/>
              <a:ext cx="156" cy="40"/>
            </a:xfrm>
            <a:custGeom>
              <a:avLst/>
              <a:gdLst>
                <a:gd name="T0" fmla="*/ 0 w 190"/>
                <a:gd name="T1" fmla="*/ 26 h 49"/>
                <a:gd name="T2" fmla="*/ 94 w 190"/>
                <a:gd name="T3" fmla="*/ 17 h 49"/>
                <a:gd name="T4" fmla="*/ 104 w 190"/>
                <a:gd name="T5" fmla="*/ 0 h 49"/>
                <a:gd name="T6" fmla="*/ 0 60000 65536"/>
                <a:gd name="T7" fmla="*/ 0 60000 65536"/>
                <a:gd name="T8" fmla="*/ 0 60000 65536"/>
                <a:gd name="T9" fmla="*/ 0 w 190"/>
                <a:gd name="T10" fmla="*/ 0 h 49"/>
                <a:gd name="T11" fmla="*/ 190 w 190"/>
                <a:gd name="T12" fmla="*/ 49 h 49"/>
              </a:gdLst>
              <a:ahLst/>
              <a:cxnLst>
                <a:cxn ang="T6">
                  <a:pos x="T0" y="T1"/>
                </a:cxn>
                <a:cxn ang="T7">
                  <a:pos x="T2" y="T3"/>
                </a:cxn>
                <a:cxn ang="T8">
                  <a:pos x="T4" y="T5"/>
                </a:cxn>
              </a:cxnLst>
              <a:rect l="T9" t="T10" r="T11" b="T12"/>
              <a:pathLst>
                <a:path w="190" h="49">
                  <a:moveTo>
                    <a:pt x="0" y="48"/>
                  </a:moveTo>
                  <a:lnTo>
                    <a:pt x="171" y="32"/>
                  </a:lnTo>
                  <a:lnTo>
                    <a:pt x="18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105" name="Freeform 590"/>
            <p:cNvSpPr>
              <a:spLocks/>
            </p:cNvSpPr>
            <p:nvPr/>
          </p:nvSpPr>
          <p:spPr bwMode="auto">
            <a:xfrm>
              <a:off x="2562" y="2437"/>
              <a:ext cx="156" cy="40"/>
            </a:xfrm>
            <a:custGeom>
              <a:avLst/>
              <a:gdLst>
                <a:gd name="T0" fmla="*/ 0 w 190"/>
                <a:gd name="T1" fmla="*/ 26 h 49"/>
                <a:gd name="T2" fmla="*/ 10 w 190"/>
                <a:gd name="T3" fmla="*/ 26 h 49"/>
                <a:gd name="T4" fmla="*/ 35 w 190"/>
                <a:gd name="T5" fmla="*/ 22 h 49"/>
                <a:gd name="T6" fmla="*/ 50 w 190"/>
                <a:gd name="T7" fmla="*/ 22 h 49"/>
                <a:gd name="T8" fmla="*/ 65 w 190"/>
                <a:gd name="T9" fmla="*/ 17 h 49"/>
                <a:gd name="T10" fmla="*/ 85 w 190"/>
                <a:gd name="T11" fmla="*/ 13 h 49"/>
                <a:gd name="T12" fmla="*/ 94 w 190"/>
                <a:gd name="T13" fmla="*/ 9 h 49"/>
                <a:gd name="T14" fmla="*/ 100 w 190"/>
                <a:gd name="T15" fmla="*/ 5 h 49"/>
                <a:gd name="T16" fmla="*/ 104 w 19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0"/>
                <a:gd name="T28" fmla="*/ 0 h 49"/>
                <a:gd name="T29" fmla="*/ 190 w 190"/>
                <a:gd name="T30" fmla="*/ 49 h 4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0" h="49">
                  <a:moveTo>
                    <a:pt x="0" y="48"/>
                  </a:moveTo>
                  <a:lnTo>
                    <a:pt x="18" y="48"/>
                  </a:lnTo>
                  <a:lnTo>
                    <a:pt x="63" y="40"/>
                  </a:lnTo>
                  <a:lnTo>
                    <a:pt x="90" y="40"/>
                  </a:lnTo>
                  <a:lnTo>
                    <a:pt x="117" y="32"/>
                  </a:lnTo>
                  <a:lnTo>
                    <a:pt x="153" y="24"/>
                  </a:lnTo>
                  <a:lnTo>
                    <a:pt x="171" y="16"/>
                  </a:lnTo>
                  <a:lnTo>
                    <a:pt x="180" y="8"/>
                  </a:lnTo>
                  <a:lnTo>
                    <a:pt x="18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106" name="Arc 591"/>
            <p:cNvSpPr>
              <a:spLocks/>
            </p:cNvSpPr>
            <p:nvPr/>
          </p:nvSpPr>
          <p:spPr bwMode="auto">
            <a:xfrm>
              <a:off x="2374" y="2389"/>
              <a:ext cx="97" cy="85"/>
            </a:xfrm>
            <a:custGeom>
              <a:avLst/>
              <a:gdLst>
                <a:gd name="T0" fmla="*/ 0 w 21783"/>
                <a:gd name="T1" fmla="*/ 0 h 21600"/>
                <a:gd name="T2" fmla="*/ 0 w 21783"/>
                <a:gd name="T3" fmla="*/ 0 h 21600"/>
                <a:gd name="T4" fmla="*/ 0 w 21783"/>
                <a:gd name="T5" fmla="*/ 0 h 21600"/>
                <a:gd name="T6" fmla="*/ 0 60000 65536"/>
                <a:gd name="T7" fmla="*/ 0 60000 65536"/>
                <a:gd name="T8" fmla="*/ 0 60000 65536"/>
                <a:gd name="T9" fmla="*/ 0 w 21783"/>
                <a:gd name="T10" fmla="*/ 0 h 21600"/>
                <a:gd name="T11" fmla="*/ 21783 w 21783"/>
                <a:gd name="T12" fmla="*/ 21600 h 21600"/>
              </a:gdLst>
              <a:ahLst/>
              <a:cxnLst>
                <a:cxn ang="T6">
                  <a:pos x="T0" y="T1"/>
                </a:cxn>
                <a:cxn ang="T7">
                  <a:pos x="T2" y="T3"/>
                </a:cxn>
                <a:cxn ang="T8">
                  <a:pos x="T4" y="T5"/>
                </a:cxn>
              </a:cxnLst>
              <a:rect l="T9" t="T10" r="T11" b="T12"/>
              <a:pathLst>
                <a:path w="21783" h="21600" fill="none" extrusionOk="0">
                  <a:moveTo>
                    <a:pt x="-1" y="0"/>
                  </a:moveTo>
                  <a:cubicBezTo>
                    <a:pt x="60" y="0"/>
                    <a:pt x="121" y="-1"/>
                    <a:pt x="183" y="0"/>
                  </a:cubicBezTo>
                  <a:cubicBezTo>
                    <a:pt x="12112" y="0"/>
                    <a:pt x="21783" y="9670"/>
                    <a:pt x="21783" y="21600"/>
                  </a:cubicBezTo>
                </a:path>
                <a:path w="21783" h="21600" stroke="0" extrusionOk="0">
                  <a:moveTo>
                    <a:pt x="-1" y="0"/>
                  </a:moveTo>
                  <a:cubicBezTo>
                    <a:pt x="60" y="0"/>
                    <a:pt x="121" y="-1"/>
                    <a:pt x="183" y="0"/>
                  </a:cubicBezTo>
                  <a:cubicBezTo>
                    <a:pt x="12112" y="0"/>
                    <a:pt x="21783" y="9670"/>
                    <a:pt x="21783" y="21600"/>
                  </a:cubicBezTo>
                  <a:lnTo>
                    <a:pt x="183" y="21600"/>
                  </a:lnTo>
                  <a:close/>
                </a:path>
              </a:pathLst>
            </a:custGeom>
            <a:noFill/>
            <a:ln w="12700" cap="rnd">
              <a:solidFill>
                <a:srgbClr val="009900"/>
              </a:solidFill>
              <a:round/>
              <a:headEnd/>
              <a:tailEnd/>
            </a:ln>
          </p:spPr>
          <p:txBody>
            <a:bodyPr wrap="none" anchor="ctr"/>
            <a:lstStyle/>
            <a:p>
              <a:endParaRPr lang="en-US"/>
            </a:p>
          </p:txBody>
        </p:sp>
        <p:sp>
          <p:nvSpPr>
            <p:cNvPr id="40107" name="Line 592"/>
            <p:cNvSpPr>
              <a:spLocks noChangeShapeType="1"/>
            </p:cNvSpPr>
            <p:nvPr/>
          </p:nvSpPr>
          <p:spPr bwMode="auto">
            <a:xfrm flipV="1">
              <a:off x="2277" y="2253"/>
              <a:ext cx="52" cy="79"/>
            </a:xfrm>
            <a:prstGeom prst="line">
              <a:avLst/>
            </a:prstGeom>
            <a:noFill/>
            <a:ln w="12700">
              <a:solidFill>
                <a:srgbClr val="009900"/>
              </a:solidFill>
              <a:round/>
              <a:headEnd/>
              <a:tailEnd/>
            </a:ln>
          </p:spPr>
          <p:txBody>
            <a:bodyPr wrap="none" anchor="ctr"/>
            <a:lstStyle/>
            <a:p>
              <a:endParaRPr lang="en-US"/>
            </a:p>
          </p:txBody>
        </p:sp>
        <p:sp>
          <p:nvSpPr>
            <p:cNvPr id="40108" name="Line 593"/>
            <p:cNvSpPr>
              <a:spLocks noChangeShapeType="1"/>
            </p:cNvSpPr>
            <p:nvPr/>
          </p:nvSpPr>
          <p:spPr bwMode="auto">
            <a:xfrm flipV="1">
              <a:off x="2277" y="2253"/>
              <a:ext cx="52" cy="79"/>
            </a:xfrm>
            <a:prstGeom prst="line">
              <a:avLst/>
            </a:prstGeom>
            <a:noFill/>
            <a:ln w="12700">
              <a:solidFill>
                <a:srgbClr val="009900"/>
              </a:solidFill>
              <a:round/>
              <a:headEnd/>
              <a:tailEnd/>
            </a:ln>
          </p:spPr>
          <p:txBody>
            <a:bodyPr wrap="none" anchor="ctr"/>
            <a:lstStyle/>
            <a:p>
              <a:endParaRPr lang="en-US"/>
            </a:p>
          </p:txBody>
        </p:sp>
        <p:sp>
          <p:nvSpPr>
            <p:cNvPr id="40109" name="Line 594"/>
            <p:cNvSpPr>
              <a:spLocks noChangeShapeType="1"/>
            </p:cNvSpPr>
            <p:nvPr/>
          </p:nvSpPr>
          <p:spPr bwMode="auto">
            <a:xfrm flipH="1" flipV="1">
              <a:off x="2292" y="2332"/>
              <a:ext cx="23" cy="125"/>
            </a:xfrm>
            <a:prstGeom prst="line">
              <a:avLst/>
            </a:prstGeom>
            <a:noFill/>
            <a:ln w="12700">
              <a:solidFill>
                <a:srgbClr val="009900"/>
              </a:solidFill>
              <a:round/>
              <a:headEnd/>
              <a:tailEnd/>
            </a:ln>
          </p:spPr>
          <p:txBody>
            <a:bodyPr wrap="none" anchor="ctr"/>
            <a:lstStyle/>
            <a:p>
              <a:endParaRPr lang="en-US"/>
            </a:p>
          </p:txBody>
        </p:sp>
        <p:sp>
          <p:nvSpPr>
            <p:cNvPr id="40110" name="Line 595"/>
            <p:cNvSpPr>
              <a:spLocks noChangeShapeType="1"/>
            </p:cNvSpPr>
            <p:nvPr/>
          </p:nvSpPr>
          <p:spPr bwMode="auto">
            <a:xfrm flipH="1" flipV="1">
              <a:off x="2292" y="2332"/>
              <a:ext cx="23" cy="125"/>
            </a:xfrm>
            <a:prstGeom prst="line">
              <a:avLst/>
            </a:prstGeom>
            <a:noFill/>
            <a:ln w="12700">
              <a:solidFill>
                <a:srgbClr val="009900"/>
              </a:solidFill>
              <a:round/>
              <a:headEnd/>
              <a:tailEnd/>
            </a:ln>
          </p:spPr>
          <p:txBody>
            <a:bodyPr wrap="none" anchor="ctr"/>
            <a:lstStyle/>
            <a:p>
              <a:endParaRPr lang="en-US"/>
            </a:p>
          </p:txBody>
        </p:sp>
        <p:sp>
          <p:nvSpPr>
            <p:cNvPr id="40111" name="Line 596"/>
            <p:cNvSpPr>
              <a:spLocks noChangeShapeType="1"/>
            </p:cNvSpPr>
            <p:nvPr/>
          </p:nvSpPr>
          <p:spPr bwMode="auto">
            <a:xfrm flipV="1">
              <a:off x="2236" y="2339"/>
              <a:ext cx="1" cy="32"/>
            </a:xfrm>
            <a:prstGeom prst="line">
              <a:avLst/>
            </a:prstGeom>
            <a:noFill/>
            <a:ln w="12700">
              <a:solidFill>
                <a:srgbClr val="009900"/>
              </a:solidFill>
              <a:round/>
              <a:headEnd/>
              <a:tailEnd/>
            </a:ln>
          </p:spPr>
          <p:txBody>
            <a:bodyPr wrap="none" anchor="ctr"/>
            <a:lstStyle/>
            <a:p>
              <a:endParaRPr lang="en-US"/>
            </a:p>
          </p:txBody>
        </p:sp>
        <p:sp>
          <p:nvSpPr>
            <p:cNvPr id="40112" name="Line 597"/>
            <p:cNvSpPr>
              <a:spLocks noChangeShapeType="1"/>
            </p:cNvSpPr>
            <p:nvPr/>
          </p:nvSpPr>
          <p:spPr bwMode="auto">
            <a:xfrm flipV="1">
              <a:off x="2236" y="2339"/>
              <a:ext cx="1" cy="32"/>
            </a:xfrm>
            <a:prstGeom prst="line">
              <a:avLst/>
            </a:prstGeom>
            <a:noFill/>
            <a:ln w="12700">
              <a:solidFill>
                <a:srgbClr val="009900"/>
              </a:solidFill>
              <a:round/>
              <a:headEnd/>
              <a:tailEnd/>
            </a:ln>
          </p:spPr>
          <p:txBody>
            <a:bodyPr wrap="none" anchor="ctr"/>
            <a:lstStyle/>
            <a:p>
              <a:endParaRPr lang="en-US"/>
            </a:p>
          </p:txBody>
        </p:sp>
        <p:sp>
          <p:nvSpPr>
            <p:cNvPr id="40113" name="Arc 598"/>
            <p:cNvSpPr>
              <a:spLocks/>
            </p:cNvSpPr>
            <p:nvPr/>
          </p:nvSpPr>
          <p:spPr bwMode="auto">
            <a:xfrm>
              <a:off x="2236" y="2303"/>
              <a:ext cx="94" cy="86"/>
            </a:xfrm>
            <a:custGeom>
              <a:avLst/>
              <a:gdLst>
                <a:gd name="T0" fmla="*/ 0 w 21791"/>
                <a:gd name="T1" fmla="*/ 0 h 21600"/>
                <a:gd name="T2" fmla="*/ 0 w 21791"/>
                <a:gd name="T3" fmla="*/ 0 h 21600"/>
                <a:gd name="T4" fmla="*/ 0 w 21791"/>
                <a:gd name="T5" fmla="*/ 0 h 21600"/>
                <a:gd name="T6" fmla="*/ 0 60000 65536"/>
                <a:gd name="T7" fmla="*/ 0 60000 65536"/>
                <a:gd name="T8" fmla="*/ 0 60000 65536"/>
                <a:gd name="T9" fmla="*/ 0 w 21791"/>
                <a:gd name="T10" fmla="*/ 0 h 21600"/>
                <a:gd name="T11" fmla="*/ 21791 w 21791"/>
                <a:gd name="T12" fmla="*/ 21600 h 21600"/>
              </a:gdLst>
              <a:ahLst/>
              <a:cxnLst>
                <a:cxn ang="T6">
                  <a:pos x="T0" y="T1"/>
                </a:cxn>
                <a:cxn ang="T7">
                  <a:pos x="T2" y="T3"/>
                </a:cxn>
                <a:cxn ang="T8">
                  <a:pos x="T4" y="T5"/>
                </a:cxn>
              </a:cxnLst>
              <a:rect l="T9" t="T10" r="T11" b="T12"/>
              <a:pathLst>
                <a:path w="21791" h="21600" fill="none" extrusionOk="0">
                  <a:moveTo>
                    <a:pt x="-1" y="0"/>
                  </a:moveTo>
                  <a:cubicBezTo>
                    <a:pt x="63" y="0"/>
                    <a:pt x="127" y="-1"/>
                    <a:pt x="191" y="0"/>
                  </a:cubicBezTo>
                  <a:cubicBezTo>
                    <a:pt x="12120" y="0"/>
                    <a:pt x="21791" y="9670"/>
                    <a:pt x="21791" y="21600"/>
                  </a:cubicBezTo>
                </a:path>
                <a:path w="21791" h="21600" stroke="0" extrusionOk="0">
                  <a:moveTo>
                    <a:pt x="-1" y="0"/>
                  </a:moveTo>
                  <a:cubicBezTo>
                    <a:pt x="63" y="0"/>
                    <a:pt x="127" y="-1"/>
                    <a:pt x="191" y="0"/>
                  </a:cubicBezTo>
                  <a:cubicBezTo>
                    <a:pt x="12120" y="0"/>
                    <a:pt x="21791" y="9670"/>
                    <a:pt x="21791" y="21600"/>
                  </a:cubicBezTo>
                  <a:lnTo>
                    <a:pt x="191" y="21600"/>
                  </a:lnTo>
                  <a:close/>
                </a:path>
              </a:pathLst>
            </a:custGeom>
            <a:noFill/>
            <a:ln w="12700" cap="rnd">
              <a:solidFill>
                <a:srgbClr val="009900"/>
              </a:solidFill>
              <a:round/>
              <a:headEnd/>
              <a:tailEnd/>
            </a:ln>
          </p:spPr>
          <p:txBody>
            <a:bodyPr wrap="none" anchor="ctr"/>
            <a:lstStyle/>
            <a:p>
              <a:endParaRPr lang="en-US"/>
            </a:p>
          </p:txBody>
        </p:sp>
        <p:sp>
          <p:nvSpPr>
            <p:cNvPr id="40114" name="Line 599"/>
            <p:cNvSpPr>
              <a:spLocks noChangeShapeType="1"/>
            </p:cNvSpPr>
            <p:nvPr/>
          </p:nvSpPr>
          <p:spPr bwMode="auto">
            <a:xfrm flipV="1">
              <a:off x="2369" y="2424"/>
              <a:ext cx="1" cy="33"/>
            </a:xfrm>
            <a:prstGeom prst="line">
              <a:avLst/>
            </a:prstGeom>
            <a:noFill/>
            <a:ln w="12700">
              <a:solidFill>
                <a:srgbClr val="009900"/>
              </a:solidFill>
              <a:round/>
              <a:headEnd/>
              <a:tailEnd/>
            </a:ln>
          </p:spPr>
          <p:txBody>
            <a:bodyPr wrap="none" anchor="ctr"/>
            <a:lstStyle/>
            <a:p>
              <a:endParaRPr lang="en-US"/>
            </a:p>
          </p:txBody>
        </p:sp>
        <p:sp>
          <p:nvSpPr>
            <p:cNvPr id="40115" name="Line 600"/>
            <p:cNvSpPr>
              <a:spLocks noChangeShapeType="1"/>
            </p:cNvSpPr>
            <p:nvPr/>
          </p:nvSpPr>
          <p:spPr bwMode="auto">
            <a:xfrm flipV="1">
              <a:off x="2369" y="2424"/>
              <a:ext cx="1" cy="33"/>
            </a:xfrm>
            <a:prstGeom prst="line">
              <a:avLst/>
            </a:prstGeom>
            <a:noFill/>
            <a:ln w="12700">
              <a:solidFill>
                <a:srgbClr val="009900"/>
              </a:solidFill>
              <a:round/>
              <a:headEnd/>
              <a:tailEnd/>
            </a:ln>
          </p:spPr>
          <p:txBody>
            <a:bodyPr wrap="none" anchor="ctr"/>
            <a:lstStyle/>
            <a:p>
              <a:endParaRPr lang="en-US"/>
            </a:p>
          </p:txBody>
        </p:sp>
        <p:sp>
          <p:nvSpPr>
            <p:cNvPr id="40116" name="Freeform 601"/>
            <p:cNvSpPr>
              <a:spLocks/>
            </p:cNvSpPr>
            <p:nvPr/>
          </p:nvSpPr>
          <p:spPr bwMode="auto">
            <a:xfrm>
              <a:off x="2562" y="2260"/>
              <a:ext cx="156" cy="40"/>
            </a:xfrm>
            <a:custGeom>
              <a:avLst/>
              <a:gdLst>
                <a:gd name="T0" fmla="*/ 0 w 190"/>
                <a:gd name="T1" fmla="*/ 26 h 49"/>
                <a:gd name="T2" fmla="*/ 94 w 190"/>
                <a:gd name="T3" fmla="*/ 17 h 49"/>
                <a:gd name="T4" fmla="*/ 104 w 190"/>
                <a:gd name="T5" fmla="*/ 0 h 49"/>
                <a:gd name="T6" fmla="*/ 0 60000 65536"/>
                <a:gd name="T7" fmla="*/ 0 60000 65536"/>
                <a:gd name="T8" fmla="*/ 0 60000 65536"/>
                <a:gd name="T9" fmla="*/ 0 w 190"/>
                <a:gd name="T10" fmla="*/ 0 h 49"/>
                <a:gd name="T11" fmla="*/ 190 w 190"/>
                <a:gd name="T12" fmla="*/ 49 h 49"/>
              </a:gdLst>
              <a:ahLst/>
              <a:cxnLst>
                <a:cxn ang="T6">
                  <a:pos x="T0" y="T1"/>
                </a:cxn>
                <a:cxn ang="T7">
                  <a:pos x="T2" y="T3"/>
                </a:cxn>
                <a:cxn ang="T8">
                  <a:pos x="T4" y="T5"/>
                </a:cxn>
              </a:cxnLst>
              <a:rect l="T9" t="T10" r="T11" b="T12"/>
              <a:pathLst>
                <a:path w="190" h="49">
                  <a:moveTo>
                    <a:pt x="0" y="48"/>
                  </a:moveTo>
                  <a:lnTo>
                    <a:pt x="171" y="32"/>
                  </a:lnTo>
                  <a:lnTo>
                    <a:pt x="18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117" name="Freeform 602"/>
            <p:cNvSpPr>
              <a:spLocks/>
            </p:cNvSpPr>
            <p:nvPr/>
          </p:nvSpPr>
          <p:spPr bwMode="auto">
            <a:xfrm>
              <a:off x="2562" y="2260"/>
              <a:ext cx="156" cy="40"/>
            </a:xfrm>
            <a:custGeom>
              <a:avLst/>
              <a:gdLst>
                <a:gd name="T0" fmla="*/ 0 w 190"/>
                <a:gd name="T1" fmla="*/ 26 h 49"/>
                <a:gd name="T2" fmla="*/ 10 w 190"/>
                <a:gd name="T3" fmla="*/ 26 h 49"/>
                <a:gd name="T4" fmla="*/ 35 w 190"/>
                <a:gd name="T5" fmla="*/ 22 h 49"/>
                <a:gd name="T6" fmla="*/ 50 w 190"/>
                <a:gd name="T7" fmla="*/ 22 h 49"/>
                <a:gd name="T8" fmla="*/ 65 w 190"/>
                <a:gd name="T9" fmla="*/ 17 h 49"/>
                <a:gd name="T10" fmla="*/ 85 w 190"/>
                <a:gd name="T11" fmla="*/ 13 h 49"/>
                <a:gd name="T12" fmla="*/ 94 w 190"/>
                <a:gd name="T13" fmla="*/ 9 h 49"/>
                <a:gd name="T14" fmla="*/ 100 w 190"/>
                <a:gd name="T15" fmla="*/ 5 h 49"/>
                <a:gd name="T16" fmla="*/ 104 w 19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0"/>
                <a:gd name="T28" fmla="*/ 0 h 49"/>
                <a:gd name="T29" fmla="*/ 190 w 190"/>
                <a:gd name="T30" fmla="*/ 49 h 4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0" h="49">
                  <a:moveTo>
                    <a:pt x="0" y="48"/>
                  </a:moveTo>
                  <a:lnTo>
                    <a:pt x="18" y="48"/>
                  </a:lnTo>
                  <a:lnTo>
                    <a:pt x="63" y="40"/>
                  </a:lnTo>
                  <a:lnTo>
                    <a:pt x="90" y="40"/>
                  </a:lnTo>
                  <a:lnTo>
                    <a:pt x="117" y="32"/>
                  </a:lnTo>
                  <a:lnTo>
                    <a:pt x="153" y="24"/>
                  </a:lnTo>
                  <a:lnTo>
                    <a:pt x="171" y="16"/>
                  </a:lnTo>
                  <a:lnTo>
                    <a:pt x="180" y="8"/>
                  </a:lnTo>
                  <a:lnTo>
                    <a:pt x="18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118" name="Arc 603"/>
            <p:cNvSpPr>
              <a:spLocks/>
            </p:cNvSpPr>
            <p:nvPr/>
          </p:nvSpPr>
          <p:spPr bwMode="auto">
            <a:xfrm>
              <a:off x="2374" y="2389"/>
              <a:ext cx="97" cy="85"/>
            </a:xfrm>
            <a:custGeom>
              <a:avLst/>
              <a:gdLst>
                <a:gd name="T0" fmla="*/ 0 w 21783"/>
                <a:gd name="T1" fmla="*/ 0 h 21600"/>
                <a:gd name="T2" fmla="*/ 0 w 21783"/>
                <a:gd name="T3" fmla="*/ 0 h 21600"/>
                <a:gd name="T4" fmla="*/ 0 w 21783"/>
                <a:gd name="T5" fmla="*/ 0 h 21600"/>
                <a:gd name="T6" fmla="*/ 0 60000 65536"/>
                <a:gd name="T7" fmla="*/ 0 60000 65536"/>
                <a:gd name="T8" fmla="*/ 0 60000 65536"/>
                <a:gd name="T9" fmla="*/ 0 w 21783"/>
                <a:gd name="T10" fmla="*/ 0 h 21600"/>
                <a:gd name="T11" fmla="*/ 21783 w 21783"/>
                <a:gd name="T12" fmla="*/ 21600 h 21600"/>
              </a:gdLst>
              <a:ahLst/>
              <a:cxnLst>
                <a:cxn ang="T6">
                  <a:pos x="T0" y="T1"/>
                </a:cxn>
                <a:cxn ang="T7">
                  <a:pos x="T2" y="T3"/>
                </a:cxn>
                <a:cxn ang="T8">
                  <a:pos x="T4" y="T5"/>
                </a:cxn>
              </a:cxnLst>
              <a:rect l="T9" t="T10" r="T11" b="T12"/>
              <a:pathLst>
                <a:path w="21783" h="21600" fill="none" extrusionOk="0">
                  <a:moveTo>
                    <a:pt x="-1" y="0"/>
                  </a:moveTo>
                  <a:cubicBezTo>
                    <a:pt x="60" y="0"/>
                    <a:pt x="121" y="-1"/>
                    <a:pt x="183" y="0"/>
                  </a:cubicBezTo>
                  <a:cubicBezTo>
                    <a:pt x="12112" y="0"/>
                    <a:pt x="21783" y="9670"/>
                    <a:pt x="21783" y="21600"/>
                  </a:cubicBezTo>
                </a:path>
                <a:path w="21783" h="21600" stroke="0" extrusionOk="0">
                  <a:moveTo>
                    <a:pt x="-1" y="0"/>
                  </a:moveTo>
                  <a:cubicBezTo>
                    <a:pt x="60" y="0"/>
                    <a:pt x="121" y="-1"/>
                    <a:pt x="183" y="0"/>
                  </a:cubicBezTo>
                  <a:cubicBezTo>
                    <a:pt x="12112" y="0"/>
                    <a:pt x="21783" y="9670"/>
                    <a:pt x="21783" y="21600"/>
                  </a:cubicBezTo>
                  <a:lnTo>
                    <a:pt x="183" y="21600"/>
                  </a:lnTo>
                  <a:close/>
                </a:path>
              </a:pathLst>
            </a:custGeom>
            <a:noFill/>
            <a:ln w="12700" cap="rnd">
              <a:solidFill>
                <a:srgbClr val="009900"/>
              </a:solidFill>
              <a:round/>
              <a:headEnd/>
              <a:tailEnd/>
            </a:ln>
          </p:spPr>
          <p:txBody>
            <a:bodyPr wrap="none" anchor="ctr"/>
            <a:lstStyle/>
            <a:p>
              <a:endParaRPr lang="en-US"/>
            </a:p>
          </p:txBody>
        </p:sp>
        <p:sp>
          <p:nvSpPr>
            <p:cNvPr id="40119" name="Line 604"/>
            <p:cNvSpPr>
              <a:spLocks noChangeShapeType="1"/>
            </p:cNvSpPr>
            <p:nvPr/>
          </p:nvSpPr>
          <p:spPr bwMode="auto">
            <a:xfrm flipV="1">
              <a:off x="2277" y="2253"/>
              <a:ext cx="52" cy="79"/>
            </a:xfrm>
            <a:prstGeom prst="line">
              <a:avLst/>
            </a:prstGeom>
            <a:noFill/>
            <a:ln w="12700">
              <a:solidFill>
                <a:srgbClr val="009900"/>
              </a:solidFill>
              <a:round/>
              <a:headEnd/>
              <a:tailEnd/>
            </a:ln>
          </p:spPr>
          <p:txBody>
            <a:bodyPr wrap="none" anchor="ctr"/>
            <a:lstStyle/>
            <a:p>
              <a:endParaRPr lang="en-US"/>
            </a:p>
          </p:txBody>
        </p:sp>
        <p:sp>
          <p:nvSpPr>
            <p:cNvPr id="40120" name="Line 605"/>
            <p:cNvSpPr>
              <a:spLocks noChangeShapeType="1"/>
            </p:cNvSpPr>
            <p:nvPr/>
          </p:nvSpPr>
          <p:spPr bwMode="auto">
            <a:xfrm flipV="1">
              <a:off x="2277" y="2253"/>
              <a:ext cx="52" cy="79"/>
            </a:xfrm>
            <a:prstGeom prst="line">
              <a:avLst/>
            </a:prstGeom>
            <a:noFill/>
            <a:ln w="12700">
              <a:solidFill>
                <a:srgbClr val="009900"/>
              </a:solidFill>
              <a:round/>
              <a:headEnd/>
              <a:tailEnd/>
            </a:ln>
          </p:spPr>
          <p:txBody>
            <a:bodyPr wrap="none" anchor="ctr"/>
            <a:lstStyle/>
            <a:p>
              <a:endParaRPr lang="en-US"/>
            </a:p>
          </p:txBody>
        </p:sp>
        <p:sp>
          <p:nvSpPr>
            <p:cNvPr id="40121" name="Line 606"/>
            <p:cNvSpPr>
              <a:spLocks noChangeShapeType="1"/>
            </p:cNvSpPr>
            <p:nvPr/>
          </p:nvSpPr>
          <p:spPr bwMode="auto">
            <a:xfrm flipH="1" flipV="1">
              <a:off x="2292" y="2332"/>
              <a:ext cx="23" cy="125"/>
            </a:xfrm>
            <a:prstGeom prst="line">
              <a:avLst/>
            </a:prstGeom>
            <a:noFill/>
            <a:ln w="12700">
              <a:solidFill>
                <a:srgbClr val="009900"/>
              </a:solidFill>
              <a:round/>
              <a:headEnd/>
              <a:tailEnd/>
            </a:ln>
          </p:spPr>
          <p:txBody>
            <a:bodyPr wrap="none" anchor="ctr"/>
            <a:lstStyle/>
            <a:p>
              <a:endParaRPr lang="en-US"/>
            </a:p>
          </p:txBody>
        </p:sp>
        <p:sp>
          <p:nvSpPr>
            <p:cNvPr id="40122" name="Line 607"/>
            <p:cNvSpPr>
              <a:spLocks noChangeShapeType="1"/>
            </p:cNvSpPr>
            <p:nvPr/>
          </p:nvSpPr>
          <p:spPr bwMode="auto">
            <a:xfrm flipH="1" flipV="1">
              <a:off x="2292" y="2332"/>
              <a:ext cx="23" cy="125"/>
            </a:xfrm>
            <a:prstGeom prst="line">
              <a:avLst/>
            </a:prstGeom>
            <a:noFill/>
            <a:ln w="12700">
              <a:solidFill>
                <a:srgbClr val="009900"/>
              </a:solidFill>
              <a:round/>
              <a:headEnd/>
              <a:tailEnd/>
            </a:ln>
          </p:spPr>
          <p:txBody>
            <a:bodyPr wrap="none" anchor="ctr"/>
            <a:lstStyle/>
            <a:p>
              <a:endParaRPr lang="en-US"/>
            </a:p>
          </p:txBody>
        </p:sp>
        <p:sp>
          <p:nvSpPr>
            <p:cNvPr id="40123" name="Line 608"/>
            <p:cNvSpPr>
              <a:spLocks noChangeShapeType="1"/>
            </p:cNvSpPr>
            <p:nvPr/>
          </p:nvSpPr>
          <p:spPr bwMode="auto">
            <a:xfrm flipV="1">
              <a:off x="2228" y="2135"/>
              <a:ext cx="2" cy="39"/>
            </a:xfrm>
            <a:prstGeom prst="line">
              <a:avLst/>
            </a:prstGeom>
            <a:noFill/>
            <a:ln w="12700">
              <a:solidFill>
                <a:srgbClr val="009900"/>
              </a:solidFill>
              <a:round/>
              <a:headEnd/>
              <a:tailEnd/>
            </a:ln>
          </p:spPr>
          <p:txBody>
            <a:bodyPr wrap="none" anchor="ctr"/>
            <a:lstStyle/>
            <a:p>
              <a:endParaRPr lang="en-US"/>
            </a:p>
          </p:txBody>
        </p:sp>
        <p:sp>
          <p:nvSpPr>
            <p:cNvPr id="40124" name="Line 609"/>
            <p:cNvSpPr>
              <a:spLocks noChangeShapeType="1"/>
            </p:cNvSpPr>
            <p:nvPr/>
          </p:nvSpPr>
          <p:spPr bwMode="auto">
            <a:xfrm flipV="1">
              <a:off x="2228" y="2135"/>
              <a:ext cx="2" cy="39"/>
            </a:xfrm>
            <a:prstGeom prst="line">
              <a:avLst/>
            </a:prstGeom>
            <a:noFill/>
            <a:ln w="12700">
              <a:solidFill>
                <a:srgbClr val="009900"/>
              </a:solidFill>
              <a:round/>
              <a:headEnd/>
              <a:tailEnd/>
            </a:ln>
          </p:spPr>
          <p:txBody>
            <a:bodyPr wrap="none" anchor="ctr"/>
            <a:lstStyle/>
            <a:p>
              <a:endParaRPr lang="en-US"/>
            </a:p>
          </p:txBody>
        </p:sp>
        <p:sp>
          <p:nvSpPr>
            <p:cNvPr id="40125" name="Freeform 610"/>
            <p:cNvSpPr>
              <a:spLocks/>
            </p:cNvSpPr>
            <p:nvPr/>
          </p:nvSpPr>
          <p:spPr bwMode="auto">
            <a:xfrm>
              <a:off x="2421" y="1977"/>
              <a:ext cx="156" cy="41"/>
            </a:xfrm>
            <a:custGeom>
              <a:avLst/>
              <a:gdLst>
                <a:gd name="T0" fmla="*/ 0 w 190"/>
                <a:gd name="T1" fmla="*/ 28 h 49"/>
                <a:gd name="T2" fmla="*/ 94 w 190"/>
                <a:gd name="T3" fmla="*/ 14 h 49"/>
                <a:gd name="T4" fmla="*/ 104 w 190"/>
                <a:gd name="T5" fmla="*/ 0 h 49"/>
                <a:gd name="T6" fmla="*/ 0 60000 65536"/>
                <a:gd name="T7" fmla="*/ 0 60000 65536"/>
                <a:gd name="T8" fmla="*/ 0 60000 65536"/>
                <a:gd name="T9" fmla="*/ 0 w 190"/>
                <a:gd name="T10" fmla="*/ 0 h 49"/>
                <a:gd name="T11" fmla="*/ 190 w 190"/>
                <a:gd name="T12" fmla="*/ 49 h 49"/>
              </a:gdLst>
              <a:ahLst/>
              <a:cxnLst>
                <a:cxn ang="T6">
                  <a:pos x="T0" y="T1"/>
                </a:cxn>
                <a:cxn ang="T7">
                  <a:pos x="T2" y="T3"/>
                </a:cxn>
                <a:cxn ang="T8">
                  <a:pos x="T4" y="T5"/>
                </a:cxn>
              </a:cxnLst>
              <a:rect l="T9" t="T10" r="T11" b="T12"/>
              <a:pathLst>
                <a:path w="190" h="49">
                  <a:moveTo>
                    <a:pt x="0" y="48"/>
                  </a:moveTo>
                  <a:lnTo>
                    <a:pt x="171" y="24"/>
                  </a:lnTo>
                  <a:lnTo>
                    <a:pt x="18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126" name="Freeform 611"/>
            <p:cNvSpPr>
              <a:spLocks/>
            </p:cNvSpPr>
            <p:nvPr/>
          </p:nvSpPr>
          <p:spPr bwMode="auto">
            <a:xfrm>
              <a:off x="2421" y="1977"/>
              <a:ext cx="156" cy="41"/>
            </a:xfrm>
            <a:custGeom>
              <a:avLst/>
              <a:gdLst>
                <a:gd name="T0" fmla="*/ 0 w 190"/>
                <a:gd name="T1" fmla="*/ 28 h 49"/>
                <a:gd name="T2" fmla="*/ 10 w 190"/>
                <a:gd name="T3" fmla="*/ 28 h 49"/>
                <a:gd name="T4" fmla="*/ 30 w 190"/>
                <a:gd name="T5" fmla="*/ 23 h 49"/>
                <a:gd name="T6" fmla="*/ 55 w 190"/>
                <a:gd name="T7" fmla="*/ 19 h 49"/>
                <a:gd name="T8" fmla="*/ 70 w 190"/>
                <a:gd name="T9" fmla="*/ 14 h 49"/>
                <a:gd name="T10" fmla="*/ 80 w 190"/>
                <a:gd name="T11" fmla="*/ 14 h 49"/>
                <a:gd name="T12" fmla="*/ 89 w 190"/>
                <a:gd name="T13" fmla="*/ 9 h 49"/>
                <a:gd name="T14" fmla="*/ 100 w 190"/>
                <a:gd name="T15" fmla="*/ 5 h 49"/>
                <a:gd name="T16" fmla="*/ 104 w 19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0"/>
                <a:gd name="T28" fmla="*/ 0 h 49"/>
                <a:gd name="T29" fmla="*/ 190 w 190"/>
                <a:gd name="T30" fmla="*/ 49 h 4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0" h="49">
                  <a:moveTo>
                    <a:pt x="0" y="48"/>
                  </a:moveTo>
                  <a:lnTo>
                    <a:pt x="18" y="48"/>
                  </a:lnTo>
                  <a:lnTo>
                    <a:pt x="54" y="40"/>
                  </a:lnTo>
                  <a:lnTo>
                    <a:pt x="99" y="32"/>
                  </a:lnTo>
                  <a:lnTo>
                    <a:pt x="126" y="24"/>
                  </a:lnTo>
                  <a:lnTo>
                    <a:pt x="144" y="24"/>
                  </a:lnTo>
                  <a:lnTo>
                    <a:pt x="162" y="16"/>
                  </a:lnTo>
                  <a:lnTo>
                    <a:pt x="180" y="8"/>
                  </a:lnTo>
                  <a:lnTo>
                    <a:pt x="18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127" name="Freeform 612"/>
            <p:cNvSpPr>
              <a:spLocks/>
            </p:cNvSpPr>
            <p:nvPr/>
          </p:nvSpPr>
          <p:spPr bwMode="auto">
            <a:xfrm>
              <a:off x="2421" y="2155"/>
              <a:ext cx="156" cy="40"/>
            </a:xfrm>
            <a:custGeom>
              <a:avLst/>
              <a:gdLst>
                <a:gd name="T0" fmla="*/ 0 w 190"/>
                <a:gd name="T1" fmla="*/ 26 h 49"/>
                <a:gd name="T2" fmla="*/ 94 w 190"/>
                <a:gd name="T3" fmla="*/ 13 h 49"/>
                <a:gd name="T4" fmla="*/ 104 w 190"/>
                <a:gd name="T5" fmla="*/ 0 h 49"/>
                <a:gd name="T6" fmla="*/ 0 60000 65536"/>
                <a:gd name="T7" fmla="*/ 0 60000 65536"/>
                <a:gd name="T8" fmla="*/ 0 60000 65536"/>
                <a:gd name="T9" fmla="*/ 0 w 190"/>
                <a:gd name="T10" fmla="*/ 0 h 49"/>
                <a:gd name="T11" fmla="*/ 190 w 190"/>
                <a:gd name="T12" fmla="*/ 49 h 49"/>
              </a:gdLst>
              <a:ahLst/>
              <a:cxnLst>
                <a:cxn ang="T6">
                  <a:pos x="T0" y="T1"/>
                </a:cxn>
                <a:cxn ang="T7">
                  <a:pos x="T2" y="T3"/>
                </a:cxn>
                <a:cxn ang="T8">
                  <a:pos x="T4" y="T5"/>
                </a:cxn>
              </a:cxnLst>
              <a:rect l="T9" t="T10" r="T11" b="T12"/>
              <a:pathLst>
                <a:path w="190" h="49">
                  <a:moveTo>
                    <a:pt x="0" y="48"/>
                  </a:moveTo>
                  <a:lnTo>
                    <a:pt x="171" y="24"/>
                  </a:lnTo>
                  <a:lnTo>
                    <a:pt x="18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128" name="Freeform 613"/>
            <p:cNvSpPr>
              <a:spLocks/>
            </p:cNvSpPr>
            <p:nvPr/>
          </p:nvSpPr>
          <p:spPr bwMode="auto">
            <a:xfrm>
              <a:off x="2421" y="2155"/>
              <a:ext cx="156" cy="40"/>
            </a:xfrm>
            <a:custGeom>
              <a:avLst/>
              <a:gdLst>
                <a:gd name="T0" fmla="*/ 0 w 190"/>
                <a:gd name="T1" fmla="*/ 26 h 49"/>
                <a:gd name="T2" fmla="*/ 10 w 190"/>
                <a:gd name="T3" fmla="*/ 26 h 49"/>
                <a:gd name="T4" fmla="*/ 30 w 190"/>
                <a:gd name="T5" fmla="*/ 22 h 49"/>
                <a:gd name="T6" fmla="*/ 55 w 190"/>
                <a:gd name="T7" fmla="*/ 17 h 49"/>
                <a:gd name="T8" fmla="*/ 70 w 190"/>
                <a:gd name="T9" fmla="*/ 13 h 49"/>
                <a:gd name="T10" fmla="*/ 80 w 190"/>
                <a:gd name="T11" fmla="*/ 13 h 49"/>
                <a:gd name="T12" fmla="*/ 89 w 190"/>
                <a:gd name="T13" fmla="*/ 9 h 49"/>
                <a:gd name="T14" fmla="*/ 100 w 190"/>
                <a:gd name="T15" fmla="*/ 5 h 49"/>
                <a:gd name="T16" fmla="*/ 104 w 19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0"/>
                <a:gd name="T28" fmla="*/ 0 h 49"/>
                <a:gd name="T29" fmla="*/ 190 w 190"/>
                <a:gd name="T30" fmla="*/ 49 h 4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0" h="49">
                  <a:moveTo>
                    <a:pt x="0" y="48"/>
                  </a:moveTo>
                  <a:lnTo>
                    <a:pt x="18" y="48"/>
                  </a:lnTo>
                  <a:lnTo>
                    <a:pt x="54" y="40"/>
                  </a:lnTo>
                  <a:lnTo>
                    <a:pt x="99" y="32"/>
                  </a:lnTo>
                  <a:lnTo>
                    <a:pt x="126" y="24"/>
                  </a:lnTo>
                  <a:lnTo>
                    <a:pt x="144" y="24"/>
                  </a:lnTo>
                  <a:lnTo>
                    <a:pt x="162" y="16"/>
                  </a:lnTo>
                  <a:lnTo>
                    <a:pt x="180" y="8"/>
                  </a:lnTo>
                  <a:lnTo>
                    <a:pt x="18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129" name="Arc 614"/>
            <p:cNvSpPr>
              <a:spLocks/>
            </p:cNvSpPr>
            <p:nvPr/>
          </p:nvSpPr>
          <p:spPr bwMode="auto">
            <a:xfrm>
              <a:off x="2233" y="2100"/>
              <a:ext cx="97" cy="85"/>
            </a:xfrm>
            <a:custGeom>
              <a:avLst/>
              <a:gdLst>
                <a:gd name="T0" fmla="*/ 0 w 21783"/>
                <a:gd name="T1" fmla="*/ 0 h 21600"/>
                <a:gd name="T2" fmla="*/ 0 w 21783"/>
                <a:gd name="T3" fmla="*/ 0 h 21600"/>
                <a:gd name="T4" fmla="*/ 0 w 21783"/>
                <a:gd name="T5" fmla="*/ 0 h 21600"/>
                <a:gd name="T6" fmla="*/ 0 60000 65536"/>
                <a:gd name="T7" fmla="*/ 0 60000 65536"/>
                <a:gd name="T8" fmla="*/ 0 60000 65536"/>
                <a:gd name="T9" fmla="*/ 0 w 21783"/>
                <a:gd name="T10" fmla="*/ 0 h 21600"/>
                <a:gd name="T11" fmla="*/ 21783 w 21783"/>
                <a:gd name="T12" fmla="*/ 21600 h 21600"/>
              </a:gdLst>
              <a:ahLst/>
              <a:cxnLst>
                <a:cxn ang="T6">
                  <a:pos x="T0" y="T1"/>
                </a:cxn>
                <a:cxn ang="T7">
                  <a:pos x="T2" y="T3"/>
                </a:cxn>
                <a:cxn ang="T8">
                  <a:pos x="T4" y="T5"/>
                </a:cxn>
              </a:cxnLst>
              <a:rect l="T9" t="T10" r="T11" b="T12"/>
              <a:pathLst>
                <a:path w="21783" h="21600" fill="none" extrusionOk="0">
                  <a:moveTo>
                    <a:pt x="-1" y="0"/>
                  </a:moveTo>
                  <a:cubicBezTo>
                    <a:pt x="60" y="0"/>
                    <a:pt x="121" y="-1"/>
                    <a:pt x="183" y="0"/>
                  </a:cubicBezTo>
                  <a:cubicBezTo>
                    <a:pt x="12112" y="0"/>
                    <a:pt x="21783" y="9670"/>
                    <a:pt x="21783" y="21600"/>
                  </a:cubicBezTo>
                </a:path>
                <a:path w="21783" h="21600" stroke="0" extrusionOk="0">
                  <a:moveTo>
                    <a:pt x="-1" y="0"/>
                  </a:moveTo>
                  <a:cubicBezTo>
                    <a:pt x="60" y="0"/>
                    <a:pt x="121" y="-1"/>
                    <a:pt x="183" y="0"/>
                  </a:cubicBezTo>
                  <a:cubicBezTo>
                    <a:pt x="12112" y="0"/>
                    <a:pt x="21783" y="9670"/>
                    <a:pt x="21783" y="21600"/>
                  </a:cubicBezTo>
                  <a:lnTo>
                    <a:pt x="183" y="21600"/>
                  </a:lnTo>
                  <a:close/>
                </a:path>
              </a:pathLst>
            </a:custGeom>
            <a:noFill/>
            <a:ln w="12700" cap="rnd">
              <a:solidFill>
                <a:srgbClr val="009900"/>
              </a:solidFill>
              <a:round/>
              <a:headEnd/>
              <a:tailEnd/>
            </a:ln>
          </p:spPr>
          <p:txBody>
            <a:bodyPr wrap="none" anchor="ctr"/>
            <a:lstStyle/>
            <a:p>
              <a:endParaRPr lang="en-US"/>
            </a:p>
          </p:txBody>
        </p:sp>
        <p:sp>
          <p:nvSpPr>
            <p:cNvPr id="40130" name="Line 615"/>
            <p:cNvSpPr>
              <a:spLocks noChangeShapeType="1"/>
            </p:cNvSpPr>
            <p:nvPr/>
          </p:nvSpPr>
          <p:spPr bwMode="auto">
            <a:xfrm flipV="1">
              <a:off x="2136" y="1971"/>
              <a:ext cx="53" cy="79"/>
            </a:xfrm>
            <a:prstGeom prst="line">
              <a:avLst/>
            </a:prstGeom>
            <a:noFill/>
            <a:ln w="12700">
              <a:solidFill>
                <a:srgbClr val="009900"/>
              </a:solidFill>
              <a:round/>
              <a:headEnd/>
              <a:tailEnd/>
            </a:ln>
          </p:spPr>
          <p:txBody>
            <a:bodyPr wrap="none" anchor="ctr"/>
            <a:lstStyle/>
            <a:p>
              <a:endParaRPr lang="en-US"/>
            </a:p>
          </p:txBody>
        </p:sp>
        <p:sp>
          <p:nvSpPr>
            <p:cNvPr id="40131" name="Line 616"/>
            <p:cNvSpPr>
              <a:spLocks noChangeShapeType="1"/>
            </p:cNvSpPr>
            <p:nvPr/>
          </p:nvSpPr>
          <p:spPr bwMode="auto">
            <a:xfrm flipV="1">
              <a:off x="2136" y="1971"/>
              <a:ext cx="53" cy="79"/>
            </a:xfrm>
            <a:prstGeom prst="line">
              <a:avLst/>
            </a:prstGeom>
            <a:noFill/>
            <a:ln w="12700">
              <a:solidFill>
                <a:srgbClr val="009900"/>
              </a:solidFill>
              <a:round/>
              <a:headEnd/>
              <a:tailEnd/>
            </a:ln>
          </p:spPr>
          <p:txBody>
            <a:bodyPr wrap="none" anchor="ctr"/>
            <a:lstStyle/>
            <a:p>
              <a:endParaRPr lang="en-US"/>
            </a:p>
          </p:txBody>
        </p:sp>
        <p:sp>
          <p:nvSpPr>
            <p:cNvPr id="40132" name="Line 617"/>
            <p:cNvSpPr>
              <a:spLocks noChangeShapeType="1"/>
            </p:cNvSpPr>
            <p:nvPr/>
          </p:nvSpPr>
          <p:spPr bwMode="auto">
            <a:xfrm flipH="1" flipV="1">
              <a:off x="2151" y="2050"/>
              <a:ext cx="23" cy="124"/>
            </a:xfrm>
            <a:prstGeom prst="line">
              <a:avLst/>
            </a:prstGeom>
            <a:noFill/>
            <a:ln w="12700">
              <a:solidFill>
                <a:srgbClr val="009900"/>
              </a:solidFill>
              <a:round/>
              <a:headEnd/>
              <a:tailEnd/>
            </a:ln>
          </p:spPr>
          <p:txBody>
            <a:bodyPr wrap="none" anchor="ctr"/>
            <a:lstStyle/>
            <a:p>
              <a:endParaRPr lang="en-US"/>
            </a:p>
          </p:txBody>
        </p:sp>
        <p:sp>
          <p:nvSpPr>
            <p:cNvPr id="40133" name="Line 618"/>
            <p:cNvSpPr>
              <a:spLocks noChangeShapeType="1"/>
            </p:cNvSpPr>
            <p:nvPr/>
          </p:nvSpPr>
          <p:spPr bwMode="auto">
            <a:xfrm flipH="1" flipV="1">
              <a:off x="2151" y="2050"/>
              <a:ext cx="23" cy="124"/>
            </a:xfrm>
            <a:prstGeom prst="line">
              <a:avLst/>
            </a:prstGeom>
            <a:noFill/>
            <a:ln w="12700">
              <a:solidFill>
                <a:srgbClr val="009900"/>
              </a:solidFill>
              <a:round/>
              <a:headEnd/>
              <a:tailEnd/>
            </a:ln>
          </p:spPr>
          <p:txBody>
            <a:bodyPr wrap="none" anchor="ctr"/>
            <a:lstStyle/>
            <a:p>
              <a:endParaRPr lang="en-US"/>
            </a:p>
          </p:txBody>
        </p:sp>
        <p:sp>
          <p:nvSpPr>
            <p:cNvPr id="40134" name="Line 619"/>
            <p:cNvSpPr>
              <a:spLocks noChangeShapeType="1"/>
            </p:cNvSpPr>
            <p:nvPr/>
          </p:nvSpPr>
          <p:spPr bwMode="auto">
            <a:xfrm flipV="1">
              <a:off x="2085" y="2056"/>
              <a:ext cx="15" cy="40"/>
            </a:xfrm>
            <a:prstGeom prst="line">
              <a:avLst/>
            </a:prstGeom>
            <a:noFill/>
            <a:ln w="12700">
              <a:solidFill>
                <a:srgbClr val="009900"/>
              </a:solidFill>
              <a:round/>
              <a:headEnd/>
              <a:tailEnd/>
            </a:ln>
          </p:spPr>
          <p:txBody>
            <a:bodyPr wrap="none" anchor="ctr"/>
            <a:lstStyle/>
            <a:p>
              <a:endParaRPr lang="en-US"/>
            </a:p>
          </p:txBody>
        </p:sp>
        <p:sp>
          <p:nvSpPr>
            <p:cNvPr id="40135" name="Line 620"/>
            <p:cNvSpPr>
              <a:spLocks noChangeShapeType="1"/>
            </p:cNvSpPr>
            <p:nvPr/>
          </p:nvSpPr>
          <p:spPr bwMode="auto">
            <a:xfrm flipV="1">
              <a:off x="2085" y="2056"/>
              <a:ext cx="15" cy="40"/>
            </a:xfrm>
            <a:prstGeom prst="line">
              <a:avLst/>
            </a:prstGeom>
            <a:noFill/>
            <a:ln w="12700">
              <a:solidFill>
                <a:srgbClr val="009900"/>
              </a:solidFill>
              <a:round/>
              <a:headEnd/>
              <a:tailEnd/>
            </a:ln>
          </p:spPr>
          <p:txBody>
            <a:bodyPr wrap="none" anchor="ctr"/>
            <a:lstStyle/>
            <a:p>
              <a:endParaRPr lang="en-US"/>
            </a:p>
          </p:txBody>
        </p:sp>
        <p:sp>
          <p:nvSpPr>
            <p:cNvPr id="40136" name="Arc 621"/>
            <p:cNvSpPr>
              <a:spLocks/>
            </p:cNvSpPr>
            <p:nvPr/>
          </p:nvSpPr>
          <p:spPr bwMode="auto">
            <a:xfrm>
              <a:off x="2096" y="2021"/>
              <a:ext cx="94" cy="85"/>
            </a:xfrm>
            <a:custGeom>
              <a:avLst/>
              <a:gdLst>
                <a:gd name="T0" fmla="*/ 0 w 21791"/>
                <a:gd name="T1" fmla="*/ 0 h 21600"/>
                <a:gd name="T2" fmla="*/ 0 w 21791"/>
                <a:gd name="T3" fmla="*/ 0 h 21600"/>
                <a:gd name="T4" fmla="*/ 0 w 21791"/>
                <a:gd name="T5" fmla="*/ 0 h 21600"/>
                <a:gd name="T6" fmla="*/ 0 60000 65536"/>
                <a:gd name="T7" fmla="*/ 0 60000 65536"/>
                <a:gd name="T8" fmla="*/ 0 60000 65536"/>
                <a:gd name="T9" fmla="*/ 0 w 21791"/>
                <a:gd name="T10" fmla="*/ 0 h 21600"/>
                <a:gd name="T11" fmla="*/ 21791 w 21791"/>
                <a:gd name="T12" fmla="*/ 21600 h 21600"/>
              </a:gdLst>
              <a:ahLst/>
              <a:cxnLst>
                <a:cxn ang="T6">
                  <a:pos x="T0" y="T1"/>
                </a:cxn>
                <a:cxn ang="T7">
                  <a:pos x="T2" y="T3"/>
                </a:cxn>
                <a:cxn ang="T8">
                  <a:pos x="T4" y="T5"/>
                </a:cxn>
              </a:cxnLst>
              <a:rect l="T9" t="T10" r="T11" b="T12"/>
              <a:pathLst>
                <a:path w="21791" h="21600" fill="none" extrusionOk="0">
                  <a:moveTo>
                    <a:pt x="-1" y="0"/>
                  </a:moveTo>
                  <a:cubicBezTo>
                    <a:pt x="63" y="0"/>
                    <a:pt x="127" y="-1"/>
                    <a:pt x="191" y="0"/>
                  </a:cubicBezTo>
                  <a:cubicBezTo>
                    <a:pt x="12120" y="0"/>
                    <a:pt x="21791" y="9670"/>
                    <a:pt x="21791" y="21600"/>
                  </a:cubicBezTo>
                </a:path>
                <a:path w="21791" h="21600" stroke="0" extrusionOk="0">
                  <a:moveTo>
                    <a:pt x="-1" y="0"/>
                  </a:moveTo>
                  <a:cubicBezTo>
                    <a:pt x="63" y="0"/>
                    <a:pt x="127" y="-1"/>
                    <a:pt x="191" y="0"/>
                  </a:cubicBezTo>
                  <a:cubicBezTo>
                    <a:pt x="12120" y="0"/>
                    <a:pt x="21791" y="9670"/>
                    <a:pt x="21791" y="21600"/>
                  </a:cubicBezTo>
                  <a:lnTo>
                    <a:pt x="191" y="21600"/>
                  </a:lnTo>
                  <a:close/>
                </a:path>
              </a:pathLst>
            </a:custGeom>
            <a:noFill/>
            <a:ln w="12700" cap="rnd">
              <a:solidFill>
                <a:srgbClr val="009900"/>
              </a:solidFill>
              <a:round/>
              <a:headEnd/>
              <a:tailEnd/>
            </a:ln>
          </p:spPr>
          <p:txBody>
            <a:bodyPr wrap="none" anchor="ctr"/>
            <a:lstStyle/>
            <a:p>
              <a:endParaRPr lang="en-US"/>
            </a:p>
          </p:txBody>
        </p:sp>
        <p:sp>
          <p:nvSpPr>
            <p:cNvPr id="40137" name="Line 622"/>
            <p:cNvSpPr>
              <a:spLocks noChangeShapeType="1"/>
            </p:cNvSpPr>
            <p:nvPr/>
          </p:nvSpPr>
          <p:spPr bwMode="auto">
            <a:xfrm flipV="1">
              <a:off x="2228" y="2135"/>
              <a:ext cx="2" cy="39"/>
            </a:xfrm>
            <a:prstGeom prst="line">
              <a:avLst/>
            </a:prstGeom>
            <a:noFill/>
            <a:ln w="12700">
              <a:solidFill>
                <a:srgbClr val="009900"/>
              </a:solidFill>
              <a:round/>
              <a:headEnd/>
              <a:tailEnd/>
            </a:ln>
          </p:spPr>
          <p:txBody>
            <a:bodyPr wrap="none" anchor="ctr"/>
            <a:lstStyle/>
            <a:p>
              <a:endParaRPr lang="en-US"/>
            </a:p>
          </p:txBody>
        </p:sp>
        <p:sp>
          <p:nvSpPr>
            <p:cNvPr id="40138" name="Line 623"/>
            <p:cNvSpPr>
              <a:spLocks noChangeShapeType="1"/>
            </p:cNvSpPr>
            <p:nvPr/>
          </p:nvSpPr>
          <p:spPr bwMode="auto">
            <a:xfrm flipV="1">
              <a:off x="2228" y="2135"/>
              <a:ext cx="2" cy="39"/>
            </a:xfrm>
            <a:prstGeom prst="line">
              <a:avLst/>
            </a:prstGeom>
            <a:noFill/>
            <a:ln w="12700">
              <a:solidFill>
                <a:srgbClr val="009900"/>
              </a:solidFill>
              <a:round/>
              <a:headEnd/>
              <a:tailEnd/>
            </a:ln>
          </p:spPr>
          <p:txBody>
            <a:bodyPr wrap="none" anchor="ctr"/>
            <a:lstStyle/>
            <a:p>
              <a:endParaRPr lang="en-US"/>
            </a:p>
          </p:txBody>
        </p:sp>
        <p:sp>
          <p:nvSpPr>
            <p:cNvPr id="40139" name="Freeform 624"/>
            <p:cNvSpPr>
              <a:spLocks/>
            </p:cNvSpPr>
            <p:nvPr/>
          </p:nvSpPr>
          <p:spPr bwMode="auto">
            <a:xfrm>
              <a:off x="2421" y="1977"/>
              <a:ext cx="156" cy="41"/>
            </a:xfrm>
            <a:custGeom>
              <a:avLst/>
              <a:gdLst>
                <a:gd name="T0" fmla="*/ 0 w 190"/>
                <a:gd name="T1" fmla="*/ 28 h 49"/>
                <a:gd name="T2" fmla="*/ 94 w 190"/>
                <a:gd name="T3" fmla="*/ 14 h 49"/>
                <a:gd name="T4" fmla="*/ 104 w 190"/>
                <a:gd name="T5" fmla="*/ 0 h 49"/>
                <a:gd name="T6" fmla="*/ 0 60000 65536"/>
                <a:gd name="T7" fmla="*/ 0 60000 65536"/>
                <a:gd name="T8" fmla="*/ 0 60000 65536"/>
                <a:gd name="T9" fmla="*/ 0 w 190"/>
                <a:gd name="T10" fmla="*/ 0 h 49"/>
                <a:gd name="T11" fmla="*/ 190 w 190"/>
                <a:gd name="T12" fmla="*/ 49 h 49"/>
              </a:gdLst>
              <a:ahLst/>
              <a:cxnLst>
                <a:cxn ang="T6">
                  <a:pos x="T0" y="T1"/>
                </a:cxn>
                <a:cxn ang="T7">
                  <a:pos x="T2" y="T3"/>
                </a:cxn>
                <a:cxn ang="T8">
                  <a:pos x="T4" y="T5"/>
                </a:cxn>
              </a:cxnLst>
              <a:rect l="T9" t="T10" r="T11" b="T12"/>
              <a:pathLst>
                <a:path w="190" h="49">
                  <a:moveTo>
                    <a:pt x="0" y="48"/>
                  </a:moveTo>
                  <a:lnTo>
                    <a:pt x="171" y="24"/>
                  </a:lnTo>
                  <a:lnTo>
                    <a:pt x="18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140" name="Freeform 625"/>
            <p:cNvSpPr>
              <a:spLocks/>
            </p:cNvSpPr>
            <p:nvPr/>
          </p:nvSpPr>
          <p:spPr bwMode="auto">
            <a:xfrm>
              <a:off x="2421" y="1977"/>
              <a:ext cx="156" cy="41"/>
            </a:xfrm>
            <a:custGeom>
              <a:avLst/>
              <a:gdLst>
                <a:gd name="T0" fmla="*/ 0 w 190"/>
                <a:gd name="T1" fmla="*/ 28 h 49"/>
                <a:gd name="T2" fmla="*/ 10 w 190"/>
                <a:gd name="T3" fmla="*/ 28 h 49"/>
                <a:gd name="T4" fmla="*/ 30 w 190"/>
                <a:gd name="T5" fmla="*/ 23 h 49"/>
                <a:gd name="T6" fmla="*/ 55 w 190"/>
                <a:gd name="T7" fmla="*/ 19 h 49"/>
                <a:gd name="T8" fmla="*/ 70 w 190"/>
                <a:gd name="T9" fmla="*/ 14 h 49"/>
                <a:gd name="T10" fmla="*/ 80 w 190"/>
                <a:gd name="T11" fmla="*/ 14 h 49"/>
                <a:gd name="T12" fmla="*/ 89 w 190"/>
                <a:gd name="T13" fmla="*/ 9 h 49"/>
                <a:gd name="T14" fmla="*/ 100 w 190"/>
                <a:gd name="T15" fmla="*/ 5 h 49"/>
                <a:gd name="T16" fmla="*/ 104 w 19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0"/>
                <a:gd name="T28" fmla="*/ 0 h 49"/>
                <a:gd name="T29" fmla="*/ 190 w 190"/>
                <a:gd name="T30" fmla="*/ 49 h 4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0" h="49">
                  <a:moveTo>
                    <a:pt x="0" y="48"/>
                  </a:moveTo>
                  <a:lnTo>
                    <a:pt x="18" y="48"/>
                  </a:lnTo>
                  <a:lnTo>
                    <a:pt x="54" y="40"/>
                  </a:lnTo>
                  <a:lnTo>
                    <a:pt x="99" y="32"/>
                  </a:lnTo>
                  <a:lnTo>
                    <a:pt x="126" y="24"/>
                  </a:lnTo>
                  <a:lnTo>
                    <a:pt x="144" y="24"/>
                  </a:lnTo>
                  <a:lnTo>
                    <a:pt x="162" y="16"/>
                  </a:lnTo>
                  <a:lnTo>
                    <a:pt x="180" y="8"/>
                  </a:lnTo>
                  <a:lnTo>
                    <a:pt x="18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141" name="Arc 626"/>
            <p:cNvSpPr>
              <a:spLocks/>
            </p:cNvSpPr>
            <p:nvPr/>
          </p:nvSpPr>
          <p:spPr bwMode="auto">
            <a:xfrm>
              <a:off x="2233" y="2100"/>
              <a:ext cx="97" cy="85"/>
            </a:xfrm>
            <a:custGeom>
              <a:avLst/>
              <a:gdLst>
                <a:gd name="T0" fmla="*/ 0 w 21783"/>
                <a:gd name="T1" fmla="*/ 0 h 21600"/>
                <a:gd name="T2" fmla="*/ 0 w 21783"/>
                <a:gd name="T3" fmla="*/ 0 h 21600"/>
                <a:gd name="T4" fmla="*/ 0 w 21783"/>
                <a:gd name="T5" fmla="*/ 0 h 21600"/>
                <a:gd name="T6" fmla="*/ 0 60000 65536"/>
                <a:gd name="T7" fmla="*/ 0 60000 65536"/>
                <a:gd name="T8" fmla="*/ 0 60000 65536"/>
                <a:gd name="T9" fmla="*/ 0 w 21783"/>
                <a:gd name="T10" fmla="*/ 0 h 21600"/>
                <a:gd name="T11" fmla="*/ 21783 w 21783"/>
                <a:gd name="T12" fmla="*/ 21600 h 21600"/>
              </a:gdLst>
              <a:ahLst/>
              <a:cxnLst>
                <a:cxn ang="T6">
                  <a:pos x="T0" y="T1"/>
                </a:cxn>
                <a:cxn ang="T7">
                  <a:pos x="T2" y="T3"/>
                </a:cxn>
                <a:cxn ang="T8">
                  <a:pos x="T4" y="T5"/>
                </a:cxn>
              </a:cxnLst>
              <a:rect l="T9" t="T10" r="T11" b="T12"/>
              <a:pathLst>
                <a:path w="21783" h="21600" fill="none" extrusionOk="0">
                  <a:moveTo>
                    <a:pt x="-1" y="0"/>
                  </a:moveTo>
                  <a:cubicBezTo>
                    <a:pt x="60" y="0"/>
                    <a:pt x="121" y="-1"/>
                    <a:pt x="183" y="0"/>
                  </a:cubicBezTo>
                  <a:cubicBezTo>
                    <a:pt x="12112" y="0"/>
                    <a:pt x="21783" y="9670"/>
                    <a:pt x="21783" y="21600"/>
                  </a:cubicBezTo>
                </a:path>
                <a:path w="21783" h="21600" stroke="0" extrusionOk="0">
                  <a:moveTo>
                    <a:pt x="-1" y="0"/>
                  </a:moveTo>
                  <a:cubicBezTo>
                    <a:pt x="60" y="0"/>
                    <a:pt x="121" y="-1"/>
                    <a:pt x="183" y="0"/>
                  </a:cubicBezTo>
                  <a:cubicBezTo>
                    <a:pt x="12112" y="0"/>
                    <a:pt x="21783" y="9670"/>
                    <a:pt x="21783" y="21600"/>
                  </a:cubicBezTo>
                  <a:lnTo>
                    <a:pt x="183" y="21600"/>
                  </a:lnTo>
                  <a:close/>
                </a:path>
              </a:pathLst>
            </a:custGeom>
            <a:noFill/>
            <a:ln w="12700" cap="rnd">
              <a:solidFill>
                <a:srgbClr val="009900"/>
              </a:solidFill>
              <a:round/>
              <a:headEnd/>
              <a:tailEnd/>
            </a:ln>
          </p:spPr>
          <p:txBody>
            <a:bodyPr wrap="none" anchor="ctr"/>
            <a:lstStyle/>
            <a:p>
              <a:endParaRPr lang="en-US"/>
            </a:p>
          </p:txBody>
        </p:sp>
        <p:sp>
          <p:nvSpPr>
            <p:cNvPr id="40142" name="Line 627"/>
            <p:cNvSpPr>
              <a:spLocks noChangeShapeType="1"/>
            </p:cNvSpPr>
            <p:nvPr/>
          </p:nvSpPr>
          <p:spPr bwMode="auto">
            <a:xfrm flipV="1">
              <a:off x="2136" y="1971"/>
              <a:ext cx="53" cy="79"/>
            </a:xfrm>
            <a:prstGeom prst="line">
              <a:avLst/>
            </a:prstGeom>
            <a:noFill/>
            <a:ln w="12700">
              <a:solidFill>
                <a:srgbClr val="009900"/>
              </a:solidFill>
              <a:round/>
              <a:headEnd/>
              <a:tailEnd/>
            </a:ln>
          </p:spPr>
          <p:txBody>
            <a:bodyPr wrap="none" anchor="ctr"/>
            <a:lstStyle/>
            <a:p>
              <a:endParaRPr lang="en-US"/>
            </a:p>
          </p:txBody>
        </p:sp>
        <p:sp>
          <p:nvSpPr>
            <p:cNvPr id="40143" name="Line 628"/>
            <p:cNvSpPr>
              <a:spLocks noChangeShapeType="1"/>
            </p:cNvSpPr>
            <p:nvPr/>
          </p:nvSpPr>
          <p:spPr bwMode="auto">
            <a:xfrm flipV="1">
              <a:off x="2136" y="1971"/>
              <a:ext cx="53" cy="79"/>
            </a:xfrm>
            <a:prstGeom prst="line">
              <a:avLst/>
            </a:prstGeom>
            <a:noFill/>
            <a:ln w="12700">
              <a:solidFill>
                <a:srgbClr val="009900"/>
              </a:solidFill>
              <a:round/>
              <a:headEnd/>
              <a:tailEnd/>
            </a:ln>
          </p:spPr>
          <p:txBody>
            <a:bodyPr wrap="none" anchor="ctr"/>
            <a:lstStyle/>
            <a:p>
              <a:endParaRPr lang="en-US"/>
            </a:p>
          </p:txBody>
        </p:sp>
        <p:sp>
          <p:nvSpPr>
            <p:cNvPr id="40144" name="Line 629"/>
            <p:cNvSpPr>
              <a:spLocks noChangeShapeType="1"/>
            </p:cNvSpPr>
            <p:nvPr/>
          </p:nvSpPr>
          <p:spPr bwMode="auto">
            <a:xfrm flipH="1" flipV="1">
              <a:off x="2151" y="2050"/>
              <a:ext cx="23" cy="124"/>
            </a:xfrm>
            <a:prstGeom prst="line">
              <a:avLst/>
            </a:prstGeom>
            <a:noFill/>
            <a:ln w="12700">
              <a:solidFill>
                <a:srgbClr val="009900"/>
              </a:solidFill>
              <a:round/>
              <a:headEnd/>
              <a:tailEnd/>
            </a:ln>
          </p:spPr>
          <p:txBody>
            <a:bodyPr wrap="none" anchor="ctr"/>
            <a:lstStyle/>
            <a:p>
              <a:endParaRPr lang="en-US"/>
            </a:p>
          </p:txBody>
        </p:sp>
        <p:sp>
          <p:nvSpPr>
            <p:cNvPr id="40145" name="Line 630"/>
            <p:cNvSpPr>
              <a:spLocks noChangeShapeType="1"/>
            </p:cNvSpPr>
            <p:nvPr/>
          </p:nvSpPr>
          <p:spPr bwMode="auto">
            <a:xfrm flipH="1" flipV="1">
              <a:off x="2151" y="2050"/>
              <a:ext cx="23" cy="124"/>
            </a:xfrm>
            <a:prstGeom prst="line">
              <a:avLst/>
            </a:prstGeom>
            <a:noFill/>
            <a:ln w="12700">
              <a:solidFill>
                <a:srgbClr val="009900"/>
              </a:solidFill>
              <a:round/>
              <a:headEnd/>
              <a:tailEnd/>
            </a:ln>
          </p:spPr>
          <p:txBody>
            <a:bodyPr wrap="none" anchor="ctr"/>
            <a:lstStyle/>
            <a:p>
              <a:endParaRPr lang="en-US"/>
            </a:p>
          </p:txBody>
        </p:sp>
        <p:sp>
          <p:nvSpPr>
            <p:cNvPr id="40146" name="Line 631"/>
            <p:cNvSpPr>
              <a:spLocks noChangeShapeType="1"/>
            </p:cNvSpPr>
            <p:nvPr/>
          </p:nvSpPr>
          <p:spPr bwMode="auto">
            <a:xfrm flipV="1">
              <a:off x="2110" y="1925"/>
              <a:ext cx="1" cy="33"/>
            </a:xfrm>
            <a:prstGeom prst="line">
              <a:avLst/>
            </a:prstGeom>
            <a:noFill/>
            <a:ln w="12700">
              <a:solidFill>
                <a:srgbClr val="009900"/>
              </a:solidFill>
              <a:round/>
              <a:headEnd/>
              <a:tailEnd/>
            </a:ln>
          </p:spPr>
          <p:txBody>
            <a:bodyPr wrap="none" anchor="ctr"/>
            <a:lstStyle/>
            <a:p>
              <a:endParaRPr lang="en-US"/>
            </a:p>
          </p:txBody>
        </p:sp>
        <p:sp>
          <p:nvSpPr>
            <p:cNvPr id="40147" name="Line 632"/>
            <p:cNvSpPr>
              <a:spLocks noChangeShapeType="1"/>
            </p:cNvSpPr>
            <p:nvPr/>
          </p:nvSpPr>
          <p:spPr bwMode="auto">
            <a:xfrm flipV="1">
              <a:off x="2110" y="1925"/>
              <a:ext cx="1" cy="33"/>
            </a:xfrm>
            <a:prstGeom prst="line">
              <a:avLst/>
            </a:prstGeom>
            <a:noFill/>
            <a:ln w="12700">
              <a:solidFill>
                <a:srgbClr val="009900"/>
              </a:solidFill>
              <a:round/>
              <a:headEnd/>
              <a:tailEnd/>
            </a:ln>
          </p:spPr>
          <p:txBody>
            <a:bodyPr wrap="none" anchor="ctr"/>
            <a:lstStyle/>
            <a:p>
              <a:endParaRPr lang="en-US"/>
            </a:p>
          </p:txBody>
        </p:sp>
        <p:sp>
          <p:nvSpPr>
            <p:cNvPr id="40148" name="Freeform 633"/>
            <p:cNvSpPr>
              <a:spLocks/>
            </p:cNvSpPr>
            <p:nvPr/>
          </p:nvSpPr>
          <p:spPr bwMode="auto">
            <a:xfrm>
              <a:off x="2303" y="1761"/>
              <a:ext cx="156" cy="40"/>
            </a:xfrm>
            <a:custGeom>
              <a:avLst/>
              <a:gdLst>
                <a:gd name="T0" fmla="*/ 0 w 190"/>
                <a:gd name="T1" fmla="*/ 26 h 49"/>
                <a:gd name="T2" fmla="*/ 100 w 190"/>
                <a:gd name="T3" fmla="*/ 17 h 49"/>
                <a:gd name="T4" fmla="*/ 104 w 190"/>
                <a:gd name="T5" fmla="*/ 0 h 49"/>
                <a:gd name="T6" fmla="*/ 0 60000 65536"/>
                <a:gd name="T7" fmla="*/ 0 60000 65536"/>
                <a:gd name="T8" fmla="*/ 0 60000 65536"/>
                <a:gd name="T9" fmla="*/ 0 w 190"/>
                <a:gd name="T10" fmla="*/ 0 h 49"/>
                <a:gd name="T11" fmla="*/ 190 w 190"/>
                <a:gd name="T12" fmla="*/ 49 h 49"/>
              </a:gdLst>
              <a:ahLst/>
              <a:cxnLst>
                <a:cxn ang="T6">
                  <a:pos x="T0" y="T1"/>
                </a:cxn>
                <a:cxn ang="T7">
                  <a:pos x="T2" y="T3"/>
                </a:cxn>
                <a:cxn ang="T8">
                  <a:pos x="T4" y="T5"/>
                </a:cxn>
              </a:cxnLst>
              <a:rect l="T9" t="T10" r="T11" b="T12"/>
              <a:pathLst>
                <a:path w="190" h="49">
                  <a:moveTo>
                    <a:pt x="0" y="48"/>
                  </a:moveTo>
                  <a:lnTo>
                    <a:pt x="180" y="32"/>
                  </a:lnTo>
                  <a:lnTo>
                    <a:pt x="18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149" name="Freeform 634"/>
            <p:cNvSpPr>
              <a:spLocks/>
            </p:cNvSpPr>
            <p:nvPr/>
          </p:nvSpPr>
          <p:spPr bwMode="auto">
            <a:xfrm>
              <a:off x="2303" y="1761"/>
              <a:ext cx="156" cy="40"/>
            </a:xfrm>
            <a:custGeom>
              <a:avLst/>
              <a:gdLst>
                <a:gd name="T0" fmla="*/ 0 w 190"/>
                <a:gd name="T1" fmla="*/ 26 h 49"/>
                <a:gd name="T2" fmla="*/ 10 w 190"/>
                <a:gd name="T3" fmla="*/ 26 h 49"/>
                <a:gd name="T4" fmla="*/ 35 w 190"/>
                <a:gd name="T5" fmla="*/ 22 h 49"/>
                <a:gd name="T6" fmla="*/ 50 w 190"/>
                <a:gd name="T7" fmla="*/ 22 h 49"/>
                <a:gd name="T8" fmla="*/ 65 w 190"/>
                <a:gd name="T9" fmla="*/ 17 h 49"/>
                <a:gd name="T10" fmla="*/ 85 w 190"/>
                <a:gd name="T11" fmla="*/ 13 h 49"/>
                <a:gd name="T12" fmla="*/ 94 w 190"/>
                <a:gd name="T13" fmla="*/ 9 h 49"/>
                <a:gd name="T14" fmla="*/ 104 w 190"/>
                <a:gd name="T15" fmla="*/ 5 h 49"/>
                <a:gd name="T16" fmla="*/ 104 w 19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0"/>
                <a:gd name="T28" fmla="*/ 0 h 49"/>
                <a:gd name="T29" fmla="*/ 190 w 190"/>
                <a:gd name="T30" fmla="*/ 49 h 4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0" h="49">
                  <a:moveTo>
                    <a:pt x="0" y="48"/>
                  </a:moveTo>
                  <a:lnTo>
                    <a:pt x="18" y="48"/>
                  </a:lnTo>
                  <a:lnTo>
                    <a:pt x="63" y="40"/>
                  </a:lnTo>
                  <a:lnTo>
                    <a:pt x="90" y="40"/>
                  </a:lnTo>
                  <a:lnTo>
                    <a:pt x="117" y="32"/>
                  </a:lnTo>
                  <a:lnTo>
                    <a:pt x="153" y="24"/>
                  </a:lnTo>
                  <a:lnTo>
                    <a:pt x="171" y="16"/>
                  </a:lnTo>
                  <a:lnTo>
                    <a:pt x="189" y="8"/>
                  </a:lnTo>
                  <a:lnTo>
                    <a:pt x="18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150" name="Freeform 635"/>
            <p:cNvSpPr>
              <a:spLocks/>
            </p:cNvSpPr>
            <p:nvPr/>
          </p:nvSpPr>
          <p:spPr bwMode="auto">
            <a:xfrm>
              <a:off x="2303" y="1938"/>
              <a:ext cx="156" cy="40"/>
            </a:xfrm>
            <a:custGeom>
              <a:avLst/>
              <a:gdLst>
                <a:gd name="T0" fmla="*/ 0 w 190"/>
                <a:gd name="T1" fmla="*/ 26 h 49"/>
                <a:gd name="T2" fmla="*/ 100 w 190"/>
                <a:gd name="T3" fmla="*/ 17 h 49"/>
                <a:gd name="T4" fmla="*/ 104 w 190"/>
                <a:gd name="T5" fmla="*/ 0 h 49"/>
                <a:gd name="T6" fmla="*/ 0 60000 65536"/>
                <a:gd name="T7" fmla="*/ 0 60000 65536"/>
                <a:gd name="T8" fmla="*/ 0 60000 65536"/>
                <a:gd name="T9" fmla="*/ 0 w 190"/>
                <a:gd name="T10" fmla="*/ 0 h 49"/>
                <a:gd name="T11" fmla="*/ 190 w 190"/>
                <a:gd name="T12" fmla="*/ 49 h 49"/>
              </a:gdLst>
              <a:ahLst/>
              <a:cxnLst>
                <a:cxn ang="T6">
                  <a:pos x="T0" y="T1"/>
                </a:cxn>
                <a:cxn ang="T7">
                  <a:pos x="T2" y="T3"/>
                </a:cxn>
                <a:cxn ang="T8">
                  <a:pos x="T4" y="T5"/>
                </a:cxn>
              </a:cxnLst>
              <a:rect l="T9" t="T10" r="T11" b="T12"/>
              <a:pathLst>
                <a:path w="190" h="49">
                  <a:moveTo>
                    <a:pt x="0" y="48"/>
                  </a:moveTo>
                  <a:lnTo>
                    <a:pt x="180" y="32"/>
                  </a:lnTo>
                  <a:lnTo>
                    <a:pt x="18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151" name="Freeform 636"/>
            <p:cNvSpPr>
              <a:spLocks/>
            </p:cNvSpPr>
            <p:nvPr/>
          </p:nvSpPr>
          <p:spPr bwMode="auto">
            <a:xfrm>
              <a:off x="2303" y="1938"/>
              <a:ext cx="156" cy="40"/>
            </a:xfrm>
            <a:custGeom>
              <a:avLst/>
              <a:gdLst>
                <a:gd name="T0" fmla="*/ 0 w 190"/>
                <a:gd name="T1" fmla="*/ 26 h 49"/>
                <a:gd name="T2" fmla="*/ 10 w 190"/>
                <a:gd name="T3" fmla="*/ 26 h 49"/>
                <a:gd name="T4" fmla="*/ 35 w 190"/>
                <a:gd name="T5" fmla="*/ 22 h 49"/>
                <a:gd name="T6" fmla="*/ 50 w 190"/>
                <a:gd name="T7" fmla="*/ 22 h 49"/>
                <a:gd name="T8" fmla="*/ 65 w 190"/>
                <a:gd name="T9" fmla="*/ 17 h 49"/>
                <a:gd name="T10" fmla="*/ 85 w 190"/>
                <a:gd name="T11" fmla="*/ 13 h 49"/>
                <a:gd name="T12" fmla="*/ 94 w 190"/>
                <a:gd name="T13" fmla="*/ 9 h 49"/>
                <a:gd name="T14" fmla="*/ 104 w 190"/>
                <a:gd name="T15" fmla="*/ 5 h 49"/>
                <a:gd name="T16" fmla="*/ 104 w 19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0"/>
                <a:gd name="T28" fmla="*/ 0 h 49"/>
                <a:gd name="T29" fmla="*/ 190 w 190"/>
                <a:gd name="T30" fmla="*/ 49 h 4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0" h="49">
                  <a:moveTo>
                    <a:pt x="0" y="48"/>
                  </a:moveTo>
                  <a:lnTo>
                    <a:pt x="18" y="48"/>
                  </a:lnTo>
                  <a:lnTo>
                    <a:pt x="63" y="40"/>
                  </a:lnTo>
                  <a:lnTo>
                    <a:pt x="90" y="40"/>
                  </a:lnTo>
                  <a:lnTo>
                    <a:pt x="117" y="32"/>
                  </a:lnTo>
                  <a:lnTo>
                    <a:pt x="153" y="24"/>
                  </a:lnTo>
                  <a:lnTo>
                    <a:pt x="171" y="16"/>
                  </a:lnTo>
                  <a:lnTo>
                    <a:pt x="189" y="8"/>
                  </a:lnTo>
                  <a:lnTo>
                    <a:pt x="18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152" name="Arc 637"/>
            <p:cNvSpPr>
              <a:spLocks/>
            </p:cNvSpPr>
            <p:nvPr/>
          </p:nvSpPr>
          <p:spPr bwMode="auto">
            <a:xfrm>
              <a:off x="2115" y="1889"/>
              <a:ext cx="97" cy="83"/>
            </a:xfrm>
            <a:custGeom>
              <a:avLst/>
              <a:gdLst>
                <a:gd name="T0" fmla="*/ 0 w 21783"/>
                <a:gd name="T1" fmla="*/ 0 h 21600"/>
                <a:gd name="T2" fmla="*/ 0 w 21783"/>
                <a:gd name="T3" fmla="*/ 0 h 21600"/>
                <a:gd name="T4" fmla="*/ 0 w 21783"/>
                <a:gd name="T5" fmla="*/ 0 h 21600"/>
                <a:gd name="T6" fmla="*/ 0 60000 65536"/>
                <a:gd name="T7" fmla="*/ 0 60000 65536"/>
                <a:gd name="T8" fmla="*/ 0 60000 65536"/>
                <a:gd name="T9" fmla="*/ 0 w 21783"/>
                <a:gd name="T10" fmla="*/ 0 h 21600"/>
                <a:gd name="T11" fmla="*/ 21783 w 21783"/>
                <a:gd name="T12" fmla="*/ 21600 h 21600"/>
              </a:gdLst>
              <a:ahLst/>
              <a:cxnLst>
                <a:cxn ang="T6">
                  <a:pos x="T0" y="T1"/>
                </a:cxn>
                <a:cxn ang="T7">
                  <a:pos x="T2" y="T3"/>
                </a:cxn>
                <a:cxn ang="T8">
                  <a:pos x="T4" y="T5"/>
                </a:cxn>
              </a:cxnLst>
              <a:rect l="T9" t="T10" r="T11" b="T12"/>
              <a:pathLst>
                <a:path w="21783" h="21600" fill="none" extrusionOk="0">
                  <a:moveTo>
                    <a:pt x="-1" y="0"/>
                  </a:moveTo>
                  <a:cubicBezTo>
                    <a:pt x="60" y="0"/>
                    <a:pt x="121" y="-1"/>
                    <a:pt x="183" y="0"/>
                  </a:cubicBezTo>
                  <a:cubicBezTo>
                    <a:pt x="12112" y="0"/>
                    <a:pt x="21783" y="9670"/>
                    <a:pt x="21783" y="21600"/>
                  </a:cubicBezTo>
                </a:path>
                <a:path w="21783" h="21600" stroke="0" extrusionOk="0">
                  <a:moveTo>
                    <a:pt x="-1" y="0"/>
                  </a:moveTo>
                  <a:cubicBezTo>
                    <a:pt x="60" y="0"/>
                    <a:pt x="121" y="-1"/>
                    <a:pt x="183" y="0"/>
                  </a:cubicBezTo>
                  <a:cubicBezTo>
                    <a:pt x="12112" y="0"/>
                    <a:pt x="21783" y="9670"/>
                    <a:pt x="21783" y="21600"/>
                  </a:cubicBezTo>
                  <a:lnTo>
                    <a:pt x="183" y="21600"/>
                  </a:lnTo>
                  <a:close/>
                </a:path>
              </a:pathLst>
            </a:custGeom>
            <a:noFill/>
            <a:ln w="12700" cap="rnd">
              <a:solidFill>
                <a:srgbClr val="009900"/>
              </a:solidFill>
              <a:round/>
              <a:headEnd/>
              <a:tailEnd/>
            </a:ln>
          </p:spPr>
          <p:txBody>
            <a:bodyPr wrap="none" anchor="ctr"/>
            <a:lstStyle/>
            <a:p>
              <a:endParaRPr lang="en-US"/>
            </a:p>
          </p:txBody>
        </p:sp>
        <p:sp>
          <p:nvSpPr>
            <p:cNvPr id="40153" name="Line 638"/>
            <p:cNvSpPr>
              <a:spLocks noChangeShapeType="1"/>
            </p:cNvSpPr>
            <p:nvPr/>
          </p:nvSpPr>
          <p:spPr bwMode="auto">
            <a:xfrm flipV="1">
              <a:off x="2025" y="1755"/>
              <a:ext cx="46" cy="78"/>
            </a:xfrm>
            <a:prstGeom prst="line">
              <a:avLst/>
            </a:prstGeom>
            <a:noFill/>
            <a:ln w="12700">
              <a:solidFill>
                <a:srgbClr val="009900"/>
              </a:solidFill>
              <a:round/>
              <a:headEnd/>
              <a:tailEnd/>
            </a:ln>
          </p:spPr>
          <p:txBody>
            <a:bodyPr wrap="none" anchor="ctr"/>
            <a:lstStyle/>
            <a:p>
              <a:endParaRPr lang="en-US"/>
            </a:p>
          </p:txBody>
        </p:sp>
        <p:sp>
          <p:nvSpPr>
            <p:cNvPr id="40154" name="Line 639"/>
            <p:cNvSpPr>
              <a:spLocks noChangeShapeType="1"/>
            </p:cNvSpPr>
            <p:nvPr/>
          </p:nvSpPr>
          <p:spPr bwMode="auto">
            <a:xfrm flipV="1">
              <a:off x="2025" y="1755"/>
              <a:ext cx="46" cy="78"/>
            </a:xfrm>
            <a:prstGeom prst="line">
              <a:avLst/>
            </a:prstGeom>
            <a:noFill/>
            <a:ln w="12700">
              <a:solidFill>
                <a:srgbClr val="009900"/>
              </a:solidFill>
              <a:round/>
              <a:headEnd/>
              <a:tailEnd/>
            </a:ln>
          </p:spPr>
          <p:txBody>
            <a:bodyPr wrap="none" anchor="ctr"/>
            <a:lstStyle/>
            <a:p>
              <a:endParaRPr lang="en-US"/>
            </a:p>
          </p:txBody>
        </p:sp>
        <p:sp>
          <p:nvSpPr>
            <p:cNvPr id="40155" name="Line 640"/>
            <p:cNvSpPr>
              <a:spLocks noChangeShapeType="1"/>
            </p:cNvSpPr>
            <p:nvPr/>
          </p:nvSpPr>
          <p:spPr bwMode="auto">
            <a:xfrm flipH="1" flipV="1">
              <a:off x="2040" y="1833"/>
              <a:ext cx="23" cy="125"/>
            </a:xfrm>
            <a:prstGeom prst="line">
              <a:avLst/>
            </a:prstGeom>
            <a:noFill/>
            <a:ln w="12700">
              <a:solidFill>
                <a:srgbClr val="009900"/>
              </a:solidFill>
              <a:round/>
              <a:headEnd/>
              <a:tailEnd/>
            </a:ln>
          </p:spPr>
          <p:txBody>
            <a:bodyPr wrap="none" anchor="ctr"/>
            <a:lstStyle/>
            <a:p>
              <a:endParaRPr lang="en-US"/>
            </a:p>
          </p:txBody>
        </p:sp>
        <p:sp>
          <p:nvSpPr>
            <p:cNvPr id="40156" name="Line 641"/>
            <p:cNvSpPr>
              <a:spLocks noChangeShapeType="1"/>
            </p:cNvSpPr>
            <p:nvPr/>
          </p:nvSpPr>
          <p:spPr bwMode="auto">
            <a:xfrm flipH="1" flipV="1">
              <a:off x="2040" y="1833"/>
              <a:ext cx="23" cy="125"/>
            </a:xfrm>
            <a:prstGeom prst="line">
              <a:avLst/>
            </a:prstGeom>
            <a:noFill/>
            <a:ln w="12700">
              <a:solidFill>
                <a:srgbClr val="009900"/>
              </a:solidFill>
              <a:round/>
              <a:headEnd/>
              <a:tailEnd/>
            </a:ln>
          </p:spPr>
          <p:txBody>
            <a:bodyPr wrap="none" anchor="ctr"/>
            <a:lstStyle/>
            <a:p>
              <a:endParaRPr lang="en-US"/>
            </a:p>
          </p:txBody>
        </p:sp>
        <p:sp>
          <p:nvSpPr>
            <p:cNvPr id="40157" name="Line 642"/>
            <p:cNvSpPr>
              <a:spLocks noChangeShapeType="1"/>
            </p:cNvSpPr>
            <p:nvPr/>
          </p:nvSpPr>
          <p:spPr bwMode="auto">
            <a:xfrm flipV="1">
              <a:off x="1978" y="1839"/>
              <a:ext cx="1" cy="33"/>
            </a:xfrm>
            <a:prstGeom prst="line">
              <a:avLst/>
            </a:prstGeom>
            <a:noFill/>
            <a:ln w="12700">
              <a:solidFill>
                <a:srgbClr val="009900"/>
              </a:solidFill>
              <a:round/>
              <a:headEnd/>
              <a:tailEnd/>
            </a:ln>
          </p:spPr>
          <p:txBody>
            <a:bodyPr wrap="none" anchor="ctr"/>
            <a:lstStyle/>
            <a:p>
              <a:endParaRPr lang="en-US"/>
            </a:p>
          </p:txBody>
        </p:sp>
        <p:sp>
          <p:nvSpPr>
            <p:cNvPr id="40158" name="Line 643"/>
            <p:cNvSpPr>
              <a:spLocks noChangeShapeType="1"/>
            </p:cNvSpPr>
            <p:nvPr/>
          </p:nvSpPr>
          <p:spPr bwMode="auto">
            <a:xfrm flipV="1">
              <a:off x="1978" y="1839"/>
              <a:ext cx="1" cy="33"/>
            </a:xfrm>
            <a:prstGeom prst="line">
              <a:avLst/>
            </a:prstGeom>
            <a:noFill/>
            <a:ln w="12700">
              <a:solidFill>
                <a:srgbClr val="009900"/>
              </a:solidFill>
              <a:round/>
              <a:headEnd/>
              <a:tailEnd/>
            </a:ln>
          </p:spPr>
          <p:txBody>
            <a:bodyPr wrap="none" anchor="ctr"/>
            <a:lstStyle/>
            <a:p>
              <a:endParaRPr lang="en-US"/>
            </a:p>
          </p:txBody>
        </p:sp>
        <p:sp>
          <p:nvSpPr>
            <p:cNvPr id="40159" name="Arc 644"/>
            <p:cNvSpPr>
              <a:spLocks/>
            </p:cNvSpPr>
            <p:nvPr/>
          </p:nvSpPr>
          <p:spPr bwMode="auto">
            <a:xfrm>
              <a:off x="1978" y="1804"/>
              <a:ext cx="93" cy="85"/>
            </a:xfrm>
            <a:custGeom>
              <a:avLst/>
              <a:gdLst>
                <a:gd name="T0" fmla="*/ 0 w 21791"/>
                <a:gd name="T1" fmla="*/ 0 h 21600"/>
                <a:gd name="T2" fmla="*/ 0 w 21791"/>
                <a:gd name="T3" fmla="*/ 0 h 21600"/>
                <a:gd name="T4" fmla="*/ 0 w 21791"/>
                <a:gd name="T5" fmla="*/ 0 h 21600"/>
                <a:gd name="T6" fmla="*/ 0 60000 65536"/>
                <a:gd name="T7" fmla="*/ 0 60000 65536"/>
                <a:gd name="T8" fmla="*/ 0 60000 65536"/>
                <a:gd name="T9" fmla="*/ 0 w 21791"/>
                <a:gd name="T10" fmla="*/ 0 h 21600"/>
                <a:gd name="T11" fmla="*/ 21791 w 21791"/>
                <a:gd name="T12" fmla="*/ 21600 h 21600"/>
              </a:gdLst>
              <a:ahLst/>
              <a:cxnLst>
                <a:cxn ang="T6">
                  <a:pos x="T0" y="T1"/>
                </a:cxn>
                <a:cxn ang="T7">
                  <a:pos x="T2" y="T3"/>
                </a:cxn>
                <a:cxn ang="T8">
                  <a:pos x="T4" y="T5"/>
                </a:cxn>
              </a:cxnLst>
              <a:rect l="T9" t="T10" r="T11" b="T12"/>
              <a:pathLst>
                <a:path w="21791" h="21600" fill="none" extrusionOk="0">
                  <a:moveTo>
                    <a:pt x="-1" y="0"/>
                  </a:moveTo>
                  <a:cubicBezTo>
                    <a:pt x="63" y="0"/>
                    <a:pt x="127" y="-1"/>
                    <a:pt x="191" y="0"/>
                  </a:cubicBezTo>
                  <a:cubicBezTo>
                    <a:pt x="12120" y="0"/>
                    <a:pt x="21791" y="9670"/>
                    <a:pt x="21791" y="21600"/>
                  </a:cubicBezTo>
                </a:path>
                <a:path w="21791" h="21600" stroke="0" extrusionOk="0">
                  <a:moveTo>
                    <a:pt x="-1" y="0"/>
                  </a:moveTo>
                  <a:cubicBezTo>
                    <a:pt x="63" y="0"/>
                    <a:pt x="127" y="-1"/>
                    <a:pt x="191" y="0"/>
                  </a:cubicBezTo>
                  <a:cubicBezTo>
                    <a:pt x="12120" y="0"/>
                    <a:pt x="21791" y="9670"/>
                    <a:pt x="21791" y="21600"/>
                  </a:cubicBezTo>
                  <a:lnTo>
                    <a:pt x="191" y="21600"/>
                  </a:lnTo>
                  <a:close/>
                </a:path>
              </a:pathLst>
            </a:custGeom>
            <a:noFill/>
            <a:ln w="12700" cap="rnd">
              <a:solidFill>
                <a:srgbClr val="009900"/>
              </a:solidFill>
              <a:round/>
              <a:headEnd/>
              <a:tailEnd/>
            </a:ln>
          </p:spPr>
          <p:txBody>
            <a:bodyPr wrap="none" anchor="ctr"/>
            <a:lstStyle/>
            <a:p>
              <a:endParaRPr lang="en-US"/>
            </a:p>
          </p:txBody>
        </p:sp>
        <p:sp>
          <p:nvSpPr>
            <p:cNvPr id="40160" name="Line 645"/>
            <p:cNvSpPr>
              <a:spLocks noChangeShapeType="1"/>
            </p:cNvSpPr>
            <p:nvPr/>
          </p:nvSpPr>
          <p:spPr bwMode="auto">
            <a:xfrm flipV="1">
              <a:off x="2110" y="1925"/>
              <a:ext cx="1" cy="33"/>
            </a:xfrm>
            <a:prstGeom prst="line">
              <a:avLst/>
            </a:prstGeom>
            <a:noFill/>
            <a:ln w="12700">
              <a:solidFill>
                <a:srgbClr val="009900"/>
              </a:solidFill>
              <a:round/>
              <a:headEnd/>
              <a:tailEnd/>
            </a:ln>
          </p:spPr>
          <p:txBody>
            <a:bodyPr wrap="none" anchor="ctr"/>
            <a:lstStyle/>
            <a:p>
              <a:endParaRPr lang="en-US"/>
            </a:p>
          </p:txBody>
        </p:sp>
        <p:sp>
          <p:nvSpPr>
            <p:cNvPr id="40161" name="Line 646"/>
            <p:cNvSpPr>
              <a:spLocks noChangeShapeType="1"/>
            </p:cNvSpPr>
            <p:nvPr/>
          </p:nvSpPr>
          <p:spPr bwMode="auto">
            <a:xfrm flipV="1">
              <a:off x="2110" y="1925"/>
              <a:ext cx="1" cy="33"/>
            </a:xfrm>
            <a:prstGeom prst="line">
              <a:avLst/>
            </a:prstGeom>
            <a:noFill/>
            <a:ln w="12700">
              <a:solidFill>
                <a:srgbClr val="009900"/>
              </a:solidFill>
              <a:round/>
              <a:headEnd/>
              <a:tailEnd/>
            </a:ln>
          </p:spPr>
          <p:txBody>
            <a:bodyPr wrap="none" anchor="ctr"/>
            <a:lstStyle/>
            <a:p>
              <a:endParaRPr lang="en-US"/>
            </a:p>
          </p:txBody>
        </p:sp>
        <p:sp>
          <p:nvSpPr>
            <p:cNvPr id="40162" name="Freeform 647"/>
            <p:cNvSpPr>
              <a:spLocks/>
            </p:cNvSpPr>
            <p:nvPr/>
          </p:nvSpPr>
          <p:spPr bwMode="auto">
            <a:xfrm>
              <a:off x="2303" y="1761"/>
              <a:ext cx="156" cy="40"/>
            </a:xfrm>
            <a:custGeom>
              <a:avLst/>
              <a:gdLst>
                <a:gd name="T0" fmla="*/ 0 w 190"/>
                <a:gd name="T1" fmla="*/ 26 h 49"/>
                <a:gd name="T2" fmla="*/ 100 w 190"/>
                <a:gd name="T3" fmla="*/ 17 h 49"/>
                <a:gd name="T4" fmla="*/ 104 w 190"/>
                <a:gd name="T5" fmla="*/ 0 h 49"/>
                <a:gd name="T6" fmla="*/ 0 60000 65536"/>
                <a:gd name="T7" fmla="*/ 0 60000 65536"/>
                <a:gd name="T8" fmla="*/ 0 60000 65536"/>
                <a:gd name="T9" fmla="*/ 0 w 190"/>
                <a:gd name="T10" fmla="*/ 0 h 49"/>
                <a:gd name="T11" fmla="*/ 190 w 190"/>
                <a:gd name="T12" fmla="*/ 49 h 49"/>
              </a:gdLst>
              <a:ahLst/>
              <a:cxnLst>
                <a:cxn ang="T6">
                  <a:pos x="T0" y="T1"/>
                </a:cxn>
                <a:cxn ang="T7">
                  <a:pos x="T2" y="T3"/>
                </a:cxn>
                <a:cxn ang="T8">
                  <a:pos x="T4" y="T5"/>
                </a:cxn>
              </a:cxnLst>
              <a:rect l="T9" t="T10" r="T11" b="T12"/>
              <a:pathLst>
                <a:path w="190" h="49">
                  <a:moveTo>
                    <a:pt x="0" y="48"/>
                  </a:moveTo>
                  <a:lnTo>
                    <a:pt x="180" y="32"/>
                  </a:lnTo>
                  <a:lnTo>
                    <a:pt x="18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163" name="Freeform 648"/>
            <p:cNvSpPr>
              <a:spLocks/>
            </p:cNvSpPr>
            <p:nvPr/>
          </p:nvSpPr>
          <p:spPr bwMode="auto">
            <a:xfrm>
              <a:off x="2303" y="1761"/>
              <a:ext cx="156" cy="40"/>
            </a:xfrm>
            <a:custGeom>
              <a:avLst/>
              <a:gdLst>
                <a:gd name="T0" fmla="*/ 0 w 190"/>
                <a:gd name="T1" fmla="*/ 26 h 49"/>
                <a:gd name="T2" fmla="*/ 10 w 190"/>
                <a:gd name="T3" fmla="*/ 26 h 49"/>
                <a:gd name="T4" fmla="*/ 35 w 190"/>
                <a:gd name="T5" fmla="*/ 22 h 49"/>
                <a:gd name="T6" fmla="*/ 50 w 190"/>
                <a:gd name="T7" fmla="*/ 22 h 49"/>
                <a:gd name="T8" fmla="*/ 65 w 190"/>
                <a:gd name="T9" fmla="*/ 17 h 49"/>
                <a:gd name="T10" fmla="*/ 85 w 190"/>
                <a:gd name="T11" fmla="*/ 13 h 49"/>
                <a:gd name="T12" fmla="*/ 94 w 190"/>
                <a:gd name="T13" fmla="*/ 9 h 49"/>
                <a:gd name="T14" fmla="*/ 104 w 190"/>
                <a:gd name="T15" fmla="*/ 5 h 49"/>
                <a:gd name="T16" fmla="*/ 104 w 19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0"/>
                <a:gd name="T28" fmla="*/ 0 h 49"/>
                <a:gd name="T29" fmla="*/ 190 w 190"/>
                <a:gd name="T30" fmla="*/ 49 h 4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0" h="49">
                  <a:moveTo>
                    <a:pt x="0" y="48"/>
                  </a:moveTo>
                  <a:lnTo>
                    <a:pt x="18" y="48"/>
                  </a:lnTo>
                  <a:lnTo>
                    <a:pt x="63" y="40"/>
                  </a:lnTo>
                  <a:lnTo>
                    <a:pt x="90" y="40"/>
                  </a:lnTo>
                  <a:lnTo>
                    <a:pt x="117" y="32"/>
                  </a:lnTo>
                  <a:lnTo>
                    <a:pt x="153" y="24"/>
                  </a:lnTo>
                  <a:lnTo>
                    <a:pt x="171" y="16"/>
                  </a:lnTo>
                  <a:lnTo>
                    <a:pt x="189" y="8"/>
                  </a:lnTo>
                  <a:lnTo>
                    <a:pt x="189"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164" name="Arc 649"/>
            <p:cNvSpPr>
              <a:spLocks/>
            </p:cNvSpPr>
            <p:nvPr/>
          </p:nvSpPr>
          <p:spPr bwMode="auto">
            <a:xfrm>
              <a:off x="2115" y="1889"/>
              <a:ext cx="97" cy="83"/>
            </a:xfrm>
            <a:custGeom>
              <a:avLst/>
              <a:gdLst>
                <a:gd name="T0" fmla="*/ 0 w 21783"/>
                <a:gd name="T1" fmla="*/ 0 h 21600"/>
                <a:gd name="T2" fmla="*/ 0 w 21783"/>
                <a:gd name="T3" fmla="*/ 0 h 21600"/>
                <a:gd name="T4" fmla="*/ 0 w 21783"/>
                <a:gd name="T5" fmla="*/ 0 h 21600"/>
                <a:gd name="T6" fmla="*/ 0 60000 65536"/>
                <a:gd name="T7" fmla="*/ 0 60000 65536"/>
                <a:gd name="T8" fmla="*/ 0 60000 65536"/>
                <a:gd name="T9" fmla="*/ 0 w 21783"/>
                <a:gd name="T10" fmla="*/ 0 h 21600"/>
                <a:gd name="T11" fmla="*/ 21783 w 21783"/>
                <a:gd name="T12" fmla="*/ 21600 h 21600"/>
              </a:gdLst>
              <a:ahLst/>
              <a:cxnLst>
                <a:cxn ang="T6">
                  <a:pos x="T0" y="T1"/>
                </a:cxn>
                <a:cxn ang="T7">
                  <a:pos x="T2" y="T3"/>
                </a:cxn>
                <a:cxn ang="T8">
                  <a:pos x="T4" y="T5"/>
                </a:cxn>
              </a:cxnLst>
              <a:rect l="T9" t="T10" r="T11" b="T12"/>
              <a:pathLst>
                <a:path w="21783" h="21600" fill="none" extrusionOk="0">
                  <a:moveTo>
                    <a:pt x="-1" y="0"/>
                  </a:moveTo>
                  <a:cubicBezTo>
                    <a:pt x="60" y="0"/>
                    <a:pt x="121" y="-1"/>
                    <a:pt x="183" y="0"/>
                  </a:cubicBezTo>
                  <a:cubicBezTo>
                    <a:pt x="12112" y="0"/>
                    <a:pt x="21783" y="9670"/>
                    <a:pt x="21783" y="21600"/>
                  </a:cubicBezTo>
                </a:path>
                <a:path w="21783" h="21600" stroke="0" extrusionOk="0">
                  <a:moveTo>
                    <a:pt x="-1" y="0"/>
                  </a:moveTo>
                  <a:cubicBezTo>
                    <a:pt x="60" y="0"/>
                    <a:pt x="121" y="-1"/>
                    <a:pt x="183" y="0"/>
                  </a:cubicBezTo>
                  <a:cubicBezTo>
                    <a:pt x="12112" y="0"/>
                    <a:pt x="21783" y="9670"/>
                    <a:pt x="21783" y="21600"/>
                  </a:cubicBezTo>
                  <a:lnTo>
                    <a:pt x="183" y="21600"/>
                  </a:lnTo>
                  <a:close/>
                </a:path>
              </a:pathLst>
            </a:custGeom>
            <a:noFill/>
            <a:ln w="12700" cap="rnd">
              <a:solidFill>
                <a:srgbClr val="009900"/>
              </a:solidFill>
              <a:round/>
              <a:headEnd/>
              <a:tailEnd/>
            </a:ln>
          </p:spPr>
          <p:txBody>
            <a:bodyPr wrap="none" anchor="ctr"/>
            <a:lstStyle/>
            <a:p>
              <a:endParaRPr lang="en-US"/>
            </a:p>
          </p:txBody>
        </p:sp>
        <p:sp>
          <p:nvSpPr>
            <p:cNvPr id="40165" name="Line 650"/>
            <p:cNvSpPr>
              <a:spLocks noChangeShapeType="1"/>
            </p:cNvSpPr>
            <p:nvPr/>
          </p:nvSpPr>
          <p:spPr bwMode="auto">
            <a:xfrm flipV="1">
              <a:off x="2025" y="1755"/>
              <a:ext cx="46" cy="78"/>
            </a:xfrm>
            <a:prstGeom prst="line">
              <a:avLst/>
            </a:prstGeom>
            <a:noFill/>
            <a:ln w="12700">
              <a:solidFill>
                <a:srgbClr val="009900"/>
              </a:solidFill>
              <a:round/>
              <a:headEnd/>
              <a:tailEnd/>
            </a:ln>
          </p:spPr>
          <p:txBody>
            <a:bodyPr wrap="none" anchor="ctr"/>
            <a:lstStyle/>
            <a:p>
              <a:endParaRPr lang="en-US"/>
            </a:p>
          </p:txBody>
        </p:sp>
        <p:sp>
          <p:nvSpPr>
            <p:cNvPr id="40166" name="Line 651"/>
            <p:cNvSpPr>
              <a:spLocks noChangeShapeType="1"/>
            </p:cNvSpPr>
            <p:nvPr/>
          </p:nvSpPr>
          <p:spPr bwMode="auto">
            <a:xfrm flipV="1">
              <a:off x="2025" y="1755"/>
              <a:ext cx="46" cy="78"/>
            </a:xfrm>
            <a:prstGeom prst="line">
              <a:avLst/>
            </a:prstGeom>
            <a:noFill/>
            <a:ln w="12700">
              <a:solidFill>
                <a:srgbClr val="009900"/>
              </a:solidFill>
              <a:round/>
              <a:headEnd/>
              <a:tailEnd/>
            </a:ln>
          </p:spPr>
          <p:txBody>
            <a:bodyPr wrap="none" anchor="ctr"/>
            <a:lstStyle/>
            <a:p>
              <a:endParaRPr lang="en-US"/>
            </a:p>
          </p:txBody>
        </p:sp>
        <p:sp>
          <p:nvSpPr>
            <p:cNvPr id="40167" name="Line 652"/>
            <p:cNvSpPr>
              <a:spLocks noChangeShapeType="1"/>
            </p:cNvSpPr>
            <p:nvPr/>
          </p:nvSpPr>
          <p:spPr bwMode="auto">
            <a:xfrm flipH="1" flipV="1">
              <a:off x="2040" y="1833"/>
              <a:ext cx="23" cy="125"/>
            </a:xfrm>
            <a:prstGeom prst="line">
              <a:avLst/>
            </a:prstGeom>
            <a:noFill/>
            <a:ln w="12700">
              <a:solidFill>
                <a:srgbClr val="009900"/>
              </a:solidFill>
              <a:round/>
              <a:headEnd/>
              <a:tailEnd/>
            </a:ln>
          </p:spPr>
          <p:txBody>
            <a:bodyPr wrap="none" anchor="ctr"/>
            <a:lstStyle/>
            <a:p>
              <a:endParaRPr lang="en-US"/>
            </a:p>
          </p:txBody>
        </p:sp>
        <p:sp>
          <p:nvSpPr>
            <p:cNvPr id="40168" name="Line 653"/>
            <p:cNvSpPr>
              <a:spLocks noChangeShapeType="1"/>
            </p:cNvSpPr>
            <p:nvPr/>
          </p:nvSpPr>
          <p:spPr bwMode="auto">
            <a:xfrm flipH="1" flipV="1">
              <a:off x="2040" y="1833"/>
              <a:ext cx="23" cy="125"/>
            </a:xfrm>
            <a:prstGeom prst="line">
              <a:avLst/>
            </a:prstGeom>
            <a:noFill/>
            <a:ln w="12700">
              <a:solidFill>
                <a:srgbClr val="009900"/>
              </a:solidFill>
              <a:round/>
              <a:headEnd/>
              <a:tailEnd/>
            </a:ln>
          </p:spPr>
          <p:txBody>
            <a:bodyPr wrap="none" anchor="ctr"/>
            <a:lstStyle/>
            <a:p>
              <a:endParaRPr lang="en-US"/>
            </a:p>
          </p:txBody>
        </p:sp>
        <p:sp>
          <p:nvSpPr>
            <p:cNvPr id="40169" name="Line 654"/>
            <p:cNvSpPr>
              <a:spLocks noChangeShapeType="1"/>
            </p:cNvSpPr>
            <p:nvPr/>
          </p:nvSpPr>
          <p:spPr bwMode="auto">
            <a:xfrm flipV="1">
              <a:off x="2617" y="1938"/>
              <a:ext cx="15" cy="39"/>
            </a:xfrm>
            <a:prstGeom prst="line">
              <a:avLst/>
            </a:prstGeom>
            <a:noFill/>
            <a:ln w="12700">
              <a:solidFill>
                <a:srgbClr val="009900"/>
              </a:solidFill>
              <a:round/>
              <a:headEnd/>
              <a:tailEnd/>
            </a:ln>
          </p:spPr>
          <p:txBody>
            <a:bodyPr wrap="none" anchor="ctr"/>
            <a:lstStyle/>
            <a:p>
              <a:endParaRPr lang="en-US"/>
            </a:p>
          </p:txBody>
        </p:sp>
        <p:sp>
          <p:nvSpPr>
            <p:cNvPr id="40170" name="Line 655"/>
            <p:cNvSpPr>
              <a:spLocks noChangeShapeType="1"/>
            </p:cNvSpPr>
            <p:nvPr/>
          </p:nvSpPr>
          <p:spPr bwMode="auto">
            <a:xfrm flipV="1">
              <a:off x="2617" y="1938"/>
              <a:ext cx="15" cy="39"/>
            </a:xfrm>
            <a:prstGeom prst="line">
              <a:avLst/>
            </a:prstGeom>
            <a:noFill/>
            <a:ln w="12700">
              <a:solidFill>
                <a:srgbClr val="009900"/>
              </a:solidFill>
              <a:round/>
              <a:headEnd/>
              <a:tailEnd/>
            </a:ln>
          </p:spPr>
          <p:txBody>
            <a:bodyPr wrap="none" anchor="ctr"/>
            <a:lstStyle/>
            <a:p>
              <a:endParaRPr lang="en-US"/>
            </a:p>
          </p:txBody>
        </p:sp>
        <p:sp>
          <p:nvSpPr>
            <p:cNvPr id="40171" name="Freeform 656"/>
            <p:cNvSpPr>
              <a:spLocks/>
            </p:cNvSpPr>
            <p:nvPr/>
          </p:nvSpPr>
          <p:spPr bwMode="auto">
            <a:xfrm>
              <a:off x="2820" y="1774"/>
              <a:ext cx="149" cy="40"/>
            </a:xfrm>
            <a:custGeom>
              <a:avLst/>
              <a:gdLst>
                <a:gd name="T0" fmla="*/ 0 w 181"/>
                <a:gd name="T1" fmla="*/ 26 h 49"/>
                <a:gd name="T2" fmla="*/ 95 w 181"/>
                <a:gd name="T3" fmla="*/ 17 h 49"/>
                <a:gd name="T4" fmla="*/ 100 w 181"/>
                <a:gd name="T5" fmla="*/ 0 h 49"/>
                <a:gd name="T6" fmla="*/ 0 60000 65536"/>
                <a:gd name="T7" fmla="*/ 0 60000 65536"/>
                <a:gd name="T8" fmla="*/ 0 60000 65536"/>
                <a:gd name="T9" fmla="*/ 0 w 181"/>
                <a:gd name="T10" fmla="*/ 0 h 49"/>
                <a:gd name="T11" fmla="*/ 181 w 181"/>
                <a:gd name="T12" fmla="*/ 49 h 49"/>
              </a:gdLst>
              <a:ahLst/>
              <a:cxnLst>
                <a:cxn ang="T6">
                  <a:pos x="T0" y="T1"/>
                </a:cxn>
                <a:cxn ang="T7">
                  <a:pos x="T2" y="T3"/>
                </a:cxn>
                <a:cxn ang="T8">
                  <a:pos x="T4" y="T5"/>
                </a:cxn>
              </a:cxnLst>
              <a:rect l="T9" t="T10" r="T11" b="T12"/>
              <a:pathLst>
                <a:path w="181" h="49">
                  <a:moveTo>
                    <a:pt x="0" y="48"/>
                  </a:moveTo>
                  <a:lnTo>
                    <a:pt x="171" y="32"/>
                  </a:lnTo>
                  <a:lnTo>
                    <a:pt x="18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172" name="Freeform 657"/>
            <p:cNvSpPr>
              <a:spLocks/>
            </p:cNvSpPr>
            <p:nvPr/>
          </p:nvSpPr>
          <p:spPr bwMode="auto">
            <a:xfrm>
              <a:off x="2820" y="1774"/>
              <a:ext cx="149" cy="40"/>
            </a:xfrm>
            <a:custGeom>
              <a:avLst/>
              <a:gdLst>
                <a:gd name="T0" fmla="*/ 0 w 181"/>
                <a:gd name="T1" fmla="*/ 26 h 49"/>
                <a:gd name="T2" fmla="*/ 10 w 181"/>
                <a:gd name="T3" fmla="*/ 26 h 49"/>
                <a:gd name="T4" fmla="*/ 35 w 181"/>
                <a:gd name="T5" fmla="*/ 22 h 49"/>
                <a:gd name="T6" fmla="*/ 50 w 181"/>
                <a:gd name="T7" fmla="*/ 22 h 49"/>
                <a:gd name="T8" fmla="*/ 65 w 181"/>
                <a:gd name="T9" fmla="*/ 17 h 49"/>
                <a:gd name="T10" fmla="*/ 81 w 181"/>
                <a:gd name="T11" fmla="*/ 13 h 49"/>
                <a:gd name="T12" fmla="*/ 90 w 181"/>
                <a:gd name="T13" fmla="*/ 9 h 49"/>
                <a:gd name="T14" fmla="*/ 100 w 181"/>
                <a:gd name="T15" fmla="*/ 5 h 49"/>
                <a:gd name="T16" fmla="*/ 100 w 181"/>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1"/>
                <a:gd name="T28" fmla="*/ 0 h 49"/>
                <a:gd name="T29" fmla="*/ 181 w 181"/>
                <a:gd name="T30" fmla="*/ 49 h 4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1" h="49">
                  <a:moveTo>
                    <a:pt x="0" y="48"/>
                  </a:moveTo>
                  <a:lnTo>
                    <a:pt x="18" y="48"/>
                  </a:lnTo>
                  <a:lnTo>
                    <a:pt x="63" y="40"/>
                  </a:lnTo>
                  <a:lnTo>
                    <a:pt x="90" y="40"/>
                  </a:lnTo>
                  <a:lnTo>
                    <a:pt x="117" y="32"/>
                  </a:lnTo>
                  <a:lnTo>
                    <a:pt x="144" y="24"/>
                  </a:lnTo>
                  <a:lnTo>
                    <a:pt x="162" y="16"/>
                  </a:lnTo>
                  <a:lnTo>
                    <a:pt x="180" y="8"/>
                  </a:lnTo>
                  <a:lnTo>
                    <a:pt x="18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173" name="Freeform 658"/>
            <p:cNvSpPr>
              <a:spLocks/>
            </p:cNvSpPr>
            <p:nvPr/>
          </p:nvSpPr>
          <p:spPr bwMode="auto">
            <a:xfrm>
              <a:off x="2820" y="1951"/>
              <a:ext cx="149" cy="40"/>
            </a:xfrm>
            <a:custGeom>
              <a:avLst/>
              <a:gdLst>
                <a:gd name="T0" fmla="*/ 0 w 181"/>
                <a:gd name="T1" fmla="*/ 26 h 49"/>
                <a:gd name="T2" fmla="*/ 95 w 181"/>
                <a:gd name="T3" fmla="*/ 17 h 49"/>
                <a:gd name="T4" fmla="*/ 100 w 181"/>
                <a:gd name="T5" fmla="*/ 0 h 49"/>
                <a:gd name="T6" fmla="*/ 0 60000 65536"/>
                <a:gd name="T7" fmla="*/ 0 60000 65536"/>
                <a:gd name="T8" fmla="*/ 0 60000 65536"/>
                <a:gd name="T9" fmla="*/ 0 w 181"/>
                <a:gd name="T10" fmla="*/ 0 h 49"/>
                <a:gd name="T11" fmla="*/ 181 w 181"/>
                <a:gd name="T12" fmla="*/ 49 h 49"/>
              </a:gdLst>
              <a:ahLst/>
              <a:cxnLst>
                <a:cxn ang="T6">
                  <a:pos x="T0" y="T1"/>
                </a:cxn>
                <a:cxn ang="T7">
                  <a:pos x="T2" y="T3"/>
                </a:cxn>
                <a:cxn ang="T8">
                  <a:pos x="T4" y="T5"/>
                </a:cxn>
              </a:cxnLst>
              <a:rect l="T9" t="T10" r="T11" b="T12"/>
              <a:pathLst>
                <a:path w="181" h="49">
                  <a:moveTo>
                    <a:pt x="0" y="48"/>
                  </a:moveTo>
                  <a:lnTo>
                    <a:pt x="171" y="32"/>
                  </a:lnTo>
                  <a:lnTo>
                    <a:pt x="18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174" name="Freeform 659"/>
            <p:cNvSpPr>
              <a:spLocks/>
            </p:cNvSpPr>
            <p:nvPr/>
          </p:nvSpPr>
          <p:spPr bwMode="auto">
            <a:xfrm>
              <a:off x="2820" y="1951"/>
              <a:ext cx="149" cy="40"/>
            </a:xfrm>
            <a:custGeom>
              <a:avLst/>
              <a:gdLst>
                <a:gd name="T0" fmla="*/ 0 w 181"/>
                <a:gd name="T1" fmla="*/ 26 h 49"/>
                <a:gd name="T2" fmla="*/ 10 w 181"/>
                <a:gd name="T3" fmla="*/ 26 h 49"/>
                <a:gd name="T4" fmla="*/ 35 w 181"/>
                <a:gd name="T5" fmla="*/ 22 h 49"/>
                <a:gd name="T6" fmla="*/ 50 w 181"/>
                <a:gd name="T7" fmla="*/ 22 h 49"/>
                <a:gd name="T8" fmla="*/ 65 w 181"/>
                <a:gd name="T9" fmla="*/ 17 h 49"/>
                <a:gd name="T10" fmla="*/ 81 w 181"/>
                <a:gd name="T11" fmla="*/ 13 h 49"/>
                <a:gd name="T12" fmla="*/ 90 w 181"/>
                <a:gd name="T13" fmla="*/ 9 h 49"/>
                <a:gd name="T14" fmla="*/ 100 w 181"/>
                <a:gd name="T15" fmla="*/ 5 h 49"/>
                <a:gd name="T16" fmla="*/ 100 w 181"/>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1"/>
                <a:gd name="T28" fmla="*/ 0 h 49"/>
                <a:gd name="T29" fmla="*/ 181 w 181"/>
                <a:gd name="T30" fmla="*/ 49 h 4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1" h="49">
                  <a:moveTo>
                    <a:pt x="0" y="48"/>
                  </a:moveTo>
                  <a:lnTo>
                    <a:pt x="18" y="48"/>
                  </a:lnTo>
                  <a:lnTo>
                    <a:pt x="63" y="40"/>
                  </a:lnTo>
                  <a:lnTo>
                    <a:pt x="90" y="40"/>
                  </a:lnTo>
                  <a:lnTo>
                    <a:pt x="117" y="32"/>
                  </a:lnTo>
                  <a:lnTo>
                    <a:pt x="144" y="24"/>
                  </a:lnTo>
                  <a:lnTo>
                    <a:pt x="162" y="16"/>
                  </a:lnTo>
                  <a:lnTo>
                    <a:pt x="180" y="8"/>
                  </a:lnTo>
                  <a:lnTo>
                    <a:pt x="18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175" name="Arc 660"/>
            <p:cNvSpPr>
              <a:spLocks/>
            </p:cNvSpPr>
            <p:nvPr/>
          </p:nvSpPr>
          <p:spPr bwMode="auto">
            <a:xfrm>
              <a:off x="2625" y="1903"/>
              <a:ext cx="97" cy="85"/>
            </a:xfrm>
            <a:custGeom>
              <a:avLst/>
              <a:gdLst>
                <a:gd name="T0" fmla="*/ 0 w 21783"/>
                <a:gd name="T1" fmla="*/ 0 h 21600"/>
                <a:gd name="T2" fmla="*/ 0 w 21783"/>
                <a:gd name="T3" fmla="*/ 0 h 21600"/>
                <a:gd name="T4" fmla="*/ 0 w 21783"/>
                <a:gd name="T5" fmla="*/ 0 h 21600"/>
                <a:gd name="T6" fmla="*/ 0 60000 65536"/>
                <a:gd name="T7" fmla="*/ 0 60000 65536"/>
                <a:gd name="T8" fmla="*/ 0 60000 65536"/>
                <a:gd name="T9" fmla="*/ 0 w 21783"/>
                <a:gd name="T10" fmla="*/ 0 h 21600"/>
                <a:gd name="T11" fmla="*/ 21783 w 21783"/>
                <a:gd name="T12" fmla="*/ 21600 h 21600"/>
              </a:gdLst>
              <a:ahLst/>
              <a:cxnLst>
                <a:cxn ang="T6">
                  <a:pos x="T0" y="T1"/>
                </a:cxn>
                <a:cxn ang="T7">
                  <a:pos x="T2" y="T3"/>
                </a:cxn>
                <a:cxn ang="T8">
                  <a:pos x="T4" y="T5"/>
                </a:cxn>
              </a:cxnLst>
              <a:rect l="T9" t="T10" r="T11" b="T12"/>
              <a:pathLst>
                <a:path w="21783" h="21600" fill="none" extrusionOk="0">
                  <a:moveTo>
                    <a:pt x="-1" y="0"/>
                  </a:moveTo>
                  <a:cubicBezTo>
                    <a:pt x="60" y="0"/>
                    <a:pt x="121" y="-1"/>
                    <a:pt x="183" y="0"/>
                  </a:cubicBezTo>
                  <a:cubicBezTo>
                    <a:pt x="12112" y="0"/>
                    <a:pt x="21783" y="9670"/>
                    <a:pt x="21783" y="21600"/>
                  </a:cubicBezTo>
                </a:path>
                <a:path w="21783" h="21600" stroke="0" extrusionOk="0">
                  <a:moveTo>
                    <a:pt x="-1" y="0"/>
                  </a:moveTo>
                  <a:cubicBezTo>
                    <a:pt x="60" y="0"/>
                    <a:pt x="121" y="-1"/>
                    <a:pt x="183" y="0"/>
                  </a:cubicBezTo>
                  <a:cubicBezTo>
                    <a:pt x="12112" y="0"/>
                    <a:pt x="21783" y="9670"/>
                    <a:pt x="21783" y="21600"/>
                  </a:cubicBezTo>
                  <a:lnTo>
                    <a:pt x="183" y="21600"/>
                  </a:lnTo>
                  <a:close/>
                </a:path>
              </a:pathLst>
            </a:custGeom>
            <a:noFill/>
            <a:ln w="12700" cap="rnd">
              <a:solidFill>
                <a:srgbClr val="009900"/>
              </a:solidFill>
              <a:round/>
              <a:headEnd/>
              <a:tailEnd/>
            </a:ln>
          </p:spPr>
          <p:txBody>
            <a:bodyPr wrap="none" anchor="ctr"/>
            <a:lstStyle/>
            <a:p>
              <a:endParaRPr lang="en-US"/>
            </a:p>
          </p:txBody>
        </p:sp>
        <p:sp>
          <p:nvSpPr>
            <p:cNvPr id="40176" name="Line 661"/>
            <p:cNvSpPr>
              <a:spLocks noChangeShapeType="1"/>
            </p:cNvSpPr>
            <p:nvPr/>
          </p:nvSpPr>
          <p:spPr bwMode="auto">
            <a:xfrm flipV="1">
              <a:off x="2535" y="1774"/>
              <a:ext cx="53" cy="78"/>
            </a:xfrm>
            <a:prstGeom prst="line">
              <a:avLst/>
            </a:prstGeom>
            <a:noFill/>
            <a:ln w="12700">
              <a:solidFill>
                <a:srgbClr val="009900"/>
              </a:solidFill>
              <a:round/>
              <a:headEnd/>
              <a:tailEnd/>
            </a:ln>
          </p:spPr>
          <p:txBody>
            <a:bodyPr wrap="none" anchor="ctr"/>
            <a:lstStyle/>
            <a:p>
              <a:endParaRPr lang="en-US"/>
            </a:p>
          </p:txBody>
        </p:sp>
        <p:sp>
          <p:nvSpPr>
            <p:cNvPr id="40177" name="Line 662"/>
            <p:cNvSpPr>
              <a:spLocks noChangeShapeType="1"/>
            </p:cNvSpPr>
            <p:nvPr/>
          </p:nvSpPr>
          <p:spPr bwMode="auto">
            <a:xfrm flipV="1">
              <a:off x="2535" y="1774"/>
              <a:ext cx="53" cy="78"/>
            </a:xfrm>
            <a:prstGeom prst="line">
              <a:avLst/>
            </a:prstGeom>
            <a:noFill/>
            <a:ln w="12700">
              <a:solidFill>
                <a:srgbClr val="009900"/>
              </a:solidFill>
              <a:round/>
              <a:headEnd/>
              <a:tailEnd/>
            </a:ln>
          </p:spPr>
          <p:txBody>
            <a:bodyPr wrap="none" anchor="ctr"/>
            <a:lstStyle/>
            <a:p>
              <a:endParaRPr lang="en-US"/>
            </a:p>
          </p:txBody>
        </p:sp>
        <p:sp>
          <p:nvSpPr>
            <p:cNvPr id="40178" name="Line 663"/>
            <p:cNvSpPr>
              <a:spLocks noChangeShapeType="1"/>
            </p:cNvSpPr>
            <p:nvPr/>
          </p:nvSpPr>
          <p:spPr bwMode="auto">
            <a:xfrm flipH="1" flipV="1">
              <a:off x="2550" y="1852"/>
              <a:ext cx="23" cy="125"/>
            </a:xfrm>
            <a:prstGeom prst="line">
              <a:avLst/>
            </a:prstGeom>
            <a:noFill/>
            <a:ln w="12700">
              <a:solidFill>
                <a:srgbClr val="009900"/>
              </a:solidFill>
              <a:round/>
              <a:headEnd/>
              <a:tailEnd/>
            </a:ln>
          </p:spPr>
          <p:txBody>
            <a:bodyPr wrap="none" anchor="ctr"/>
            <a:lstStyle/>
            <a:p>
              <a:endParaRPr lang="en-US"/>
            </a:p>
          </p:txBody>
        </p:sp>
        <p:sp>
          <p:nvSpPr>
            <p:cNvPr id="40179" name="Line 664"/>
            <p:cNvSpPr>
              <a:spLocks noChangeShapeType="1"/>
            </p:cNvSpPr>
            <p:nvPr/>
          </p:nvSpPr>
          <p:spPr bwMode="auto">
            <a:xfrm flipH="1" flipV="1">
              <a:off x="2550" y="1852"/>
              <a:ext cx="23" cy="125"/>
            </a:xfrm>
            <a:prstGeom prst="line">
              <a:avLst/>
            </a:prstGeom>
            <a:noFill/>
            <a:ln w="12700">
              <a:solidFill>
                <a:srgbClr val="009900"/>
              </a:solidFill>
              <a:round/>
              <a:headEnd/>
              <a:tailEnd/>
            </a:ln>
          </p:spPr>
          <p:txBody>
            <a:bodyPr wrap="none" anchor="ctr"/>
            <a:lstStyle/>
            <a:p>
              <a:endParaRPr lang="en-US"/>
            </a:p>
          </p:txBody>
        </p:sp>
        <p:sp>
          <p:nvSpPr>
            <p:cNvPr id="40180" name="Line 665"/>
            <p:cNvSpPr>
              <a:spLocks noChangeShapeType="1"/>
            </p:cNvSpPr>
            <p:nvPr/>
          </p:nvSpPr>
          <p:spPr bwMode="auto">
            <a:xfrm flipV="1">
              <a:off x="2487" y="1859"/>
              <a:ext cx="2" cy="33"/>
            </a:xfrm>
            <a:prstGeom prst="line">
              <a:avLst/>
            </a:prstGeom>
            <a:noFill/>
            <a:ln w="12700">
              <a:solidFill>
                <a:srgbClr val="009900"/>
              </a:solidFill>
              <a:round/>
              <a:headEnd/>
              <a:tailEnd/>
            </a:ln>
          </p:spPr>
          <p:txBody>
            <a:bodyPr wrap="none" anchor="ctr"/>
            <a:lstStyle/>
            <a:p>
              <a:endParaRPr lang="en-US"/>
            </a:p>
          </p:txBody>
        </p:sp>
        <p:sp>
          <p:nvSpPr>
            <p:cNvPr id="40181" name="Line 666"/>
            <p:cNvSpPr>
              <a:spLocks noChangeShapeType="1"/>
            </p:cNvSpPr>
            <p:nvPr/>
          </p:nvSpPr>
          <p:spPr bwMode="auto">
            <a:xfrm flipV="1">
              <a:off x="2487" y="1859"/>
              <a:ext cx="2" cy="33"/>
            </a:xfrm>
            <a:prstGeom prst="line">
              <a:avLst/>
            </a:prstGeom>
            <a:noFill/>
            <a:ln w="12700">
              <a:solidFill>
                <a:srgbClr val="009900"/>
              </a:solidFill>
              <a:round/>
              <a:headEnd/>
              <a:tailEnd/>
            </a:ln>
          </p:spPr>
          <p:txBody>
            <a:bodyPr wrap="none" anchor="ctr"/>
            <a:lstStyle/>
            <a:p>
              <a:endParaRPr lang="en-US"/>
            </a:p>
          </p:txBody>
        </p:sp>
        <p:sp>
          <p:nvSpPr>
            <p:cNvPr id="40182" name="Arc 667"/>
            <p:cNvSpPr>
              <a:spLocks/>
            </p:cNvSpPr>
            <p:nvPr/>
          </p:nvSpPr>
          <p:spPr bwMode="auto">
            <a:xfrm>
              <a:off x="2492" y="1824"/>
              <a:ext cx="97" cy="85"/>
            </a:xfrm>
            <a:custGeom>
              <a:avLst/>
              <a:gdLst>
                <a:gd name="T0" fmla="*/ 0 w 21783"/>
                <a:gd name="T1" fmla="*/ 0 h 21600"/>
                <a:gd name="T2" fmla="*/ 0 w 21783"/>
                <a:gd name="T3" fmla="*/ 0 h 21600"/>
                <a:gd name="T4" fmla="*/ 0 w 21783"/>
                <a:gd name="T5" fmla="*/ 0 h 21600"/>
                <a:gd name="T6" fmla="*/ 0 60000 65536"/>
                <a:gd name="T7" fmla="*/ 0 60000 65536"/>
                <a:gd name="T8" fmla="*/ 0 60000 65536"/>
                <a:gd name="T9" fmla="*/ 0 w 21783"/>
                <a:gd name="T10" fmla="*/ 0 h 21600"/>
                <a:gd name="T11" fmla="*/ 21783 w 21783"/>
                <a:gd name="T12" fmla="*/ 21600 h 21600"/>
              </a:gdLst>
              <a:ahLst/>
              <a:cxnLst>
                <a:cxn ang="T6">
                  <a:pos x="T0" y="T1"/>
                </a:cxn>
                <a:cxn ang="T7">
                  <a:pos x="T2" y="T3"/>
                </a:cxn>
                <a:cxn ang="T8">
                  <a:pos x="T4" y="T5"/>
                </a:cxn>
              </a:cxnLst>
              <a:rect l="T9" t="T10" r="T11" b="T12"/>
              <a:pathLst>
                <a:path w="21783" h="21600" fill="none" extrusionOk="0">
                  <a:moveTo>
                    <a:pt x="-1" y="0"/>
                  </a:moveTo>
                  <a:cubicBezTo>
                    <a:pt x="60" y="0"/>
                    <a:pt x="121" y="-1"/>
                    <a:pt x="183" y="0"/>
                  </a:cubicBezTo>
                  <a:cubicBezTo>
                    <a:pt x="12112" y="0"/>
                    <a:pt x="21783" y="9670"/>
                    <a:pt x="21783" y="21600"/>
                  </a:cubicBezTo>
                </a:path>
                <a:path w="21783" h="21600" stroke="0" extrusionOk="0">
                  <a:moveTo>
                    <a:pt x="-1" y="0"/>
                  </a:moveTo>
                  <a:cubicBezTo>
                    <a:pt x="60" y="0"/>
                    <a:pt x="121" y="-1"/>
                    <a:pt x="183" y="0"/>
                  </a:cubicBezTo>
                  <a:cubicBezTo>
                    <a:pt x="12112" y="0"/>
                    <a:pt x="21783" y="9670"/>
                    <a:pt x="21783" y="21600"/>
                  </a:cubicBezTo>
                  <a:lnTo>
                    <a:pt x="183" y="21600"/>
                  </a:lnTo>
                  <a:close/>
                </a:path>
              </a:pathLst>
            </a:custGeom>
            <a:noFill/>
            <a:ln w="12700" cap="rnd">
              <a:solidFill>
                <a:srgbClr val="009900"/>
              </a:solidFill>
              <a:round/>
              <a:headEnd/>
              <a:tailEnd/>
            </a:ln>
          </p:spPr>
          <p:txBody>
            <a:bodyPr wrap="none" anchor="ctr"/>
            <a:lstStyle/>
            <a:p>
              <a:endParaRPr lang="en-US"/>
            </a:p>
          </p:txBody>
        </p:sp>
        <p:sp>
          <p:nvSpPr>
            <p:cNvPr id="40183" name="Line 668"/>
            <p:cNvSpPr>
              <a:spLocks noChangeShapeType="1"/>
            </p:cNvSpPr>
            <p:nvPr/>
          </p:nvSpPr>
          <p:spPr bwMode="auto">
            <a:xfrm flipV="1">
              <a:off x="2617" y="1938"/>
              <a:ext cx="15" cy="39"/>
            </a:xfrm>
            <a:prstGeom prst="line">
              <a:avLst/>
            </a:prstGeom>
            <a:noFill/>
            <a:ln w="12700">
              <a:solidFill>
                <a:srgbClr val="009900"/>
              </a:solidFill>
              <a:round/>
              <a:headEnd/>
              <a:tailEnd/>
            </a:ln>
          </p:spPr>
          <p:txBody>
            <a:bodyPr wrap="none" anchor="ctr"/>
            <a:lstStyle/>
            <a:p>
              <a:endParaRPr lang="en-US"/>
            </a:p>
          </p:txBody>
        </p:sp>
        <p:sp>
          <p:nvSpPr>
            <p:cNvPr id="40184" name="Line 669"/>
            <p:cNvSpPr>
              <a:spLocks noChangeShapeType="1"/>
            </p:cNvSpPr>
            <p:nvPr/>
          </p:nvSpPr>
          <p:spPr bwMode="auto">
            <a:xfrm flipV="1">
              <a:off x="2617" y="1938"/>
              <a:ext cx="15" cy="39"/>
            </a:xfrm>
            <a:prstGeom prst="line">
              <a:avLst/>
            </a:prstGeom>
            <a:noFill/>
            <a:ln w="12700">
              <a:solidFill>
                <a:srgbClr val="009900"/>
              </a:solidFill>
              <a:round/>
              <a:headEnd/>
              <a:tailEnd/>
            </a:ln>
          </p:spPr>
          <p:txBody>
            <a:bodyPr wrap="none" anchor="ctr"/>
            <a:lstStyle/>
            <a:p>
              <a:endParaRPr lang="en-US"/>
            </a:p>
          </p:txBody>
        </p:sp>
        <p:sp>
          <p:nvSpPr>
            <p:cNvPr id="40185" name="Freeform 670"/>
            <p:cNvSpPr>
              <a:spLocks/>
            </p:cNvSpPr>
            <p:nvPr/>
          </p:nvSpPr>
          <p:spPr bwMode="auto">
            <a:xfrm>
              <a:off x="2820" y="1774"/>
              <a:ext cx="149" cy="40"/>
            </a:xfrm>
            <a:custGeom>
              <a:avLst/>
              <a:gdLst>
                <a:gd name="T0" fmla="*/ 0 w 181"/>
                <a:gd name="T1" fmla="*/ 26 h 49"/>
                <a:gd name="T2" fmla="*/ 95 w 181"/>
                <a:gd name="T3" fmla="*/ 17 h 49"/>
                <a:gd name="T4" fmla="*/ 100 w 181"/>
                <a:gd name="T5" fmla="*/ 0 h 49"/>
                <a:gd name="T6" fmla="*/ 0 60000 65536"/>
                <a:gd name="T7" fmla="*/ 0 60000 65536"/>
                <a:gd name="T8" fmla="*/ 0 60000 65536"/>
                <a:gd name="T9" fmla="*/ 0 w 181"/>
                <a:gd name="T10" fmla="*/ 0 h 49"/>
                <a:gd name="T11" fmla="*/ 181 w 181"/>
                <a:gd name="T12" fmla="*/ 49 h 49"/>
              </a:gdLst>
              <a:ahLst/>
              <a:cxnLst>
                <a:cxn ang="T6">
                  <a:pos x="T0" y="T1"/>
                </a:cxn>
                <a:cxn ang="T7">
                  <a:pos x="T2" y="T3"/>
                </a:cxn>
                <a:cxn ang="T8">
                  <a:pos x="T4" y="T5"/>
                </a:cxn>
              </a:cxnLst>
              <a:rect l="T9" t="T10" r="T11" b="T12"/>
              <a:pathLst>
                <a:path w="181" h="49">
                  <a:moveTo>
                    <a:pt x="0" y="48"/>
                  </a:moveTo>
                  <a:lnTo>
                    <a:pt x="171" y="32"/>
                  </a:lnTo>
                  <a:lnTo>
                    <a:pt x="18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186" name="Freeform 671"/>
            <p:cNvSpPr>
              <a:spLocks/>
            </p:cNvSpPr>
            <p:nvPr/>
          </p:nvSpPr>
          <p:spPr bwMode="auto">
            <a:xfrm>
              <a:off x="2820" y="1774"/>
              <a:ext cx="149" cy="40"/>
            </a:xfrm>
            <a:custGeom>
              <a:avLst/>
              <a:gdLst>
                <a:gd name="T0" fmla="*/ 0 w 181"/>
                <a:gd name="T1" fmla="*/ 26 h 49"/>
                <a:gd name="T2" fmla="*/ 10 w 181"/>
                <a:gd name="T3" fmla="*/ 26 h 49"/>
                <a:gd name="T4" fmla="*/ 35 w 181"/>
                <a:gd name="T5" fmla="*/ 22 h 49"/>
                <a:gd name="T6" fmla="*/ 50 w 181"/>
                <a:gd name="T7" fmla="*/ 22 h 49"/>
                <a:gd name="T8" fmla="*/ 65 w 181"/>
                <a:gd name="T9" fmla="*/ 17 h 49"/>
                <a:gd name="T10" fmla="*/ 81 w 181"/>
                <a:gd name="T11" fmla="*/ 13 h 49"/>
                <a:gd name="T12" fmla="*/ 90 w 181"/>
                <a:gd name="T13" fmla="*/ 9 h 49"/>
                <a:gd name="T14" fmla="*/ 100 w 181"/>
                <a:gd name="T15" fmla="*/ 5 h 49"/>
                <a:gd name="T16" fmla="*/ 100 w 181"/>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1"/>
                <a:gd name="T28" fmla="*/ 0 h 49"/>
                <a:gd name="T29" fmla="*/ 181 w 181"/>
                <a:gd name="T30" fmla="*/ 49 h 4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1" h="49">
                  <a:moveTo>
                    <a:pt x="0" y="48"/>
                  </a:moveTo>
                  <a:lnTo>
                    <a:pt x="18" y="48"/>
                  </a:lnTo>
                  <a:lnTo>
                    <a:pt x="63" y="40"/>
                  </a:lnTo>
                  <a:lnTo>
                    <a:pt x="90" y="40"/>
                  </a:lnTo>
                  <a:lnTo>
                    <a:pt x="117" y="32"/>
                  </a:lnTo>
                  <a:lnTo>
                    <a:pt x="144" y="24"/>
                  </a:lnTo>
                  <a:lnTo>
                    <a:pt x="162" y="16"/>
                  </a:lnTo>
                  <a:lnTo>
                    <a:pt x="180" y="8"/>
                  </a:lnTo>
                  <a:lnTo>
                    <a:pt x="180"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187" name="Arc 672"/>
            <p:cNvSpPr>
              <a:spLocks/>
            </p:cNvSpPr>
            <p:nvPr/>
          </p:nvSpPr>
          <p:spPr bwMode="auto">
            <a:xfrm>
              <a:off x="2625" y="1903"/>
              <a:ext cx="97" cy="85"/>
            </a:xfrm>
            <a:custGeom>
              <a:avLst/>
              <a:gdLst>
                <a:gd name="T0" fmla="*/ 0 w 21783"/>
                <a:gd name="T1" fmla="*/ 0 h 21600"/>
                <a:gd name="T2" fmla="*/ 0 w 21783"/>
                <a:gd name="T3" fmla="*/ 0 h 21600"/>
                <a:gd name="T4" fmla="*/ 0 w 21783"/>
                <a:gd name="T5" fmla="*/ 0 h 21600"/>
                <a:gd name="T6" fmla="*/ 0 60000 65536"/>
                <a:gd name="T7" fmla="*/ 0 60000 65536"/>
                <a:gd name="T8" fmla="*/ 0 60000 65536"/>
                <a:gd name="T9" fmla="*/ 0 w 21783"/>
                <a:gd name="T10" fmla="*/ 0 h 21600"/>
                <a:gd name="T11" fmla="*/ 21783 w 21783"/>
                <a:gd name="T12" fmla="*/ 21600 h 21600"/>
              </a:gdLst>
              <a:ahLst/>
              <a:cxnLst>
                <a:cxn ang="T6">
                  <a:pos x="T0" y="T1"/>
                </a:cxn>
                <a:cxn ang="T7">
                  <a:pos x="T2" y="T3"/>
                </a:cxn>
                <a:cxn ang="T8">
                  <a:pos x="T4" y="T5"/>
                </a:cxn>
              </a:cxnLst>
              <a:rect l="T9" t="T10" r="T11" b="T12"/>
              <a:pathLst>
                <a:path w="21783" h="21600" fill="none" extrusionOk="0">
                  <a:moveTo>
                    <a:pt x="-1" y="0"/>
                  </a:moveTo>
                  <a:cubicBezTo>
                    <a:pt x="60" y="0"/>
                    <a:pt x="121" y="-1"/>
                    <a:pt x="183" y="0"/>
                  </a:cubicBezTo>
                  <a:cubicBezTo>
                    <a:pt x="12112" y="0"/>
                    <a:pt x="21783" y="9670"/>
                    <a:pt x="21783" y="21600"/>
                  </a:cubicBezTo>
                </a:path>
                <a:path w="21783" h="21600" stroke="0" extrusionOk="0">
                  <a:moveTo>
                    <a:pt x="-1" y="0"/>
                  </a:moveTo>
                  <a:cubicBezTo>
                    <a:pt x="60" y="0"/>
                    <a:pt x="121" y="-1"/>
                    <a:pt x="183" y="0"/>
                  </a:cubicBezTo>
                  <a:cubicBezTo>
                    <a:pt x="12112" y="0"/>
                    <a:pt x="21783" y="9670"/>
                    <a:pt x="21783" y="21600"/>
                  </a:cubicBezTo>
                  <a:lnTo>
                    <a:pt x="183" y="21600"/>
                  </a:lnTo>
                  <a:close/>
                </a:path>
              </a:pathLst>
            </a:custGeom>
            <a:noFill/>
            <a:ln w="12700" cap="rnd">
              <a:solidFill>
                <a:srgbClr val="009900"/>
              </a:solidFill>
              <a:round/>
              <a:headEnd/>
              <a:tailEnd/>
            </a:ln>
          </p:spPr>
          <p:txBody>
            <a:bodyPr wrap="none" anchor="ctr"/>
            <a:lstStyle/>
            <a:p>
              <a:endParaRPr lang="en-US"/>
            </a:p>
          </p:txBody>
        </p:sp>
        <p:sp>
          <p:nvSpPr>
            <p:cNvPr id="40188" name="Line 673"/>
            <p:cNvSpPr>
              <a:spLocks noChangeShapeType="1"/>
            </p:cNvSpPr>
            <p:nvPr/>
          </p:nvSpPr>
          <p:spPr bwMode="auto">
            <a:xfrm flipV="1">
              <a:off x="2535" y="1774"/>
              <a:ext cx="53" cy="78"/>
            </a:xfrm>
            <a:prstGeom prst="line">
              <a:avLst/>
            </a:prstGeom>
            <a:noFill/>
            <a:ln w="12700">
              <a:solidFill>
                <a:srgbClr val="009900"/>
              </a:solidFill>
              <a:round/>
              <a:headEnd/>
              <a:tailEnd/>
            </a:ln>
          </p:spPr>
          <p:txBody>
            <a:bodyPr wrap="none" anchor="ctr"/>
            <a:lstStyle/>
            <a:p>
              <a:endParaRPr lang="en-US"/>
            </a:p>
          </p:txBody>
        </p:sp>
        <p:sp>
          <p:nvSpPr>
            <p:cNvPr id="40189" name="Line 674"/>
            <p:cNvSpPr>
              <a:spLocks noChangeShapeType="1"/>
            </p:cNvSpPr>
            <p:nvPr/>
          </p:nvSpPr>
          <p:spPr bwMode="auto">
            <a:xfrm flipV="1">
              <a:off x="2535" y="1774"/>
              <a:ext cx="53" cy="78"/>
            </a:xfrm>
            <a:prstGeom prst="line">
              <a:avLst/>
            </a:prstGeom>
            <a:noFill/>
            <a:ln w="12700">
              <a:solidFill>
                <a:srgbClr val="009900"/>
              </a:solidFill>
              <a:round/>
              <a:headEnd/>
              <a:tailEnd/>
            </a:ln>
          </p:spPr>
          <p:txBody>
            <a:bodyPr wrap="none" anchor="ctr"/>
            <a:lstStyle/>
            <a:p>
              <a:endParaRPr lang="en-US"/>
            </a:p>
          </p:txBody>
        </p:sp>
        <p:sp>
          <p:nvSpPr>
            <p:cNvPr id="40190" name="Line 675"/>
            <p:cNvSpPr>
              <a:spLocks noChangeShapeType="1"/>
            </p:cNvSpPr>
            <p:nvPr/>
          </p:nvSpPr>
          <p:spPr bwMode="auto">
            <a:xfrm flipH="1" flipV="1">
              <a:off x="2550" y="1852"/>
              <a:ext cx="23" cy="125"/>
            </a:xfrm>
            <a:prstGeom prst="line">
              <a:avLst/>
            </a:prstGeom>
            <a:noFill/>
            <a:ln w="12700">
              <a:solidFill>
                <a:srgbClr val="009900"/>
              </a:solidFill>
              <a:round/>
              <a:headEnd/>
              <a:tailEnd/>
            </a:ln>
          </p:spPr>
          <p:txBody>
            <a:bodyPr wrap="none" anchor="ctr"/>
            <a:lstStyle/>
            <a:p>
              <a:endParaRPr lang="en-US"/>
            </a:p>
          </p:txBody>
        </p:sp>
        <p:sp>
          <p:nvSpPr>
            <p:cNvPr id="40191" name="Line 676"/>
            <p:cNvSpPr>
              <a:spLocks noChangeShapeType="1"/>
            </p:cNvSpPr>
            <p:nvPr/>
          </p:nvSpPr>
          <p:spPr bwMode="auto">
            <a:xfrm flipH="1" flipV="1">
              <a:off x="2550" y="1852"/>
              <a:ext cx="23" cy="125"/>
            </a:xfrm>
            <a:prstGeom prst="line">
              <a:avLst/>
            </a:prstGeom>
            <a:noFill/>
            <a:ln w="12700">
              <a:solidFill>
                <a:srgbClr val="009900"/>
              </a:solidFill>
              <a:round/>
              <a:headEnd/>
              <a:tailEnd/>
            </a:ln>
          </p:spPr>
          <p:txBody>
            <a:bodyPr wrap="none" anchor="ctr"/>
            <a:lstStyle/>
            <a:p>
              <a:endParaRPr lang="en-US"/>
            </a:p>
          </p:txBody>
        </p:sp>
        <p:sp>
          <p:nvSpPr>
            <p:cNvPr id="40192" name="Arc 677"/>
            <p:cNvSpPr>
              <a:spLocks/>
            </p:cNvSpPr>
            <p:nvPr/>
          </p:nvSpPr>
          <p:spPr bwMode="auto">
            <a:xfrm>
              <a:off x="2318" y="1975"/>
              <a:ext cx="93" cy="85"/>
            </a:xfrm>
            <a:custGeom>
              <a:avLst/>
              <a:gdLst>
                <a:gd name="T0" fmla="*/ 0 w 21791"/>
                <a:gd name="T1" fmla="*/ 0 h 21600"/>
                <a:gd name="T2" fmla="*/ 0 w 21791"/>
                <a:gd name="T3" fmla="*/ 0 h 21600"/>
                <a:gd name="T4" fmla="*/ 0 w 21791"/>
                <a:gd name="T5" fmla="*/ 0 h 21600"/>
                <a:gd name="T6" fmla="*/ 0 60000 65536"/>
                <a:gd name="T7" fmla="*/ 0 60000 65536"/>
                <a:gd name="T8" fmla="*/ 0 60000 65536"/>
                <a:gd name="T9" fmla="*/ 0 w 21791"/>
                <a:gd name="T10" fmla="*/ 0 h 21600"/>
                <a:gd name="T11" fmla="*/ 21791 w 21791"/>
                <a:gd name="T12" fmla="*/ 21600 h 21600"/>
              </a:gdLst>
              <a:ahLst/>
              <a:cxnLst>
                <a:cxn ang="T6">
                  <a:pos x="T0" y="T1"/>
                </a:cxn>
                <a:cxn ang="T7">
                  <a:pos x="T2" y="T3"/>
                </a:cxn>
                <a:cxn ang="T8">
                  <a:pos x="T4" y="T5"/>
                </a:cxn>
              </a:cxnLst>
              <a:rect l="T9" t="T10" r="T11" b="T12"/>
              <a:pathLst>
                <a:path w="21791" h="21600" fill="none" extrusionOk="0">
                  <a:moveTo>
                    <a:pt x="-1" y="0"/>
                  </a:moveTo>
                  <a:cubicBezTo>
                    <a:pt x="63" y="0"/>
                    <a:pt x="127" y="-1"/>
                    <a:pt x="191" y="0"/>
                  </a:cubicBezTo>
                  <a:cubicBezTo>
                    <a:pt x="12120" y="0"/>
                    <a:pt x="21791" y="9670"/>
                    <a:pt x="21791" y="21600"/>
                  </a:cubicBezTo>
                </a:path>
                <a:path w="21791" h="21600" stroke="0" extrusionOk="0">
                  <a:moveTo>
                    <a:pt x="-1" y="0"/>
                  </a:moveTo>
                  <a:cubicBezTo>
                    <a:pt x="63" y="0"/>
                    <a:pt x="127" y="-1"/>
                    <a:pt x="191" y="0"/>
                  </a:cubicBezTo>
                  <a:cubicBezTo>
                    <a:pt x="12120" y="0"/>
                    <a:pt x="21791" y="9670"/>
                    <a:pt x="21791" y="21600"/>
                  </a:cubicBezTo>
                  <a:lnTo>
                    <a:pt x="191" y="21600"/>
                  </a:lnTo>
                  <a:close/>
                </a:path>
              </a:pathLst>
            </a:custGeom>
            <a:noFill/>
            <a:ln w="12700" cap="rnd">
              <a:solidFill>
                <a:srgbClr val="009900"/>
              </a:solidFill>
              <a:round/>
              <a:headEnd/>
              <a:tailEnd/>
            </a:ln>
          </p:spPr>
          <p:txBody>
            <a:bodyPr wrap="none" anchor="ctr"/>
            <a:lstStyle/>
            <a:p>
              <a:endParaRPr lang="en-US"/>
            </a:p>
          </p:txBody>
        </p:sp>
        <p:sp>
          <p:nvSpPr>
            <p:cNvPr id="40193" name="Freeform 678"/>
            <p:cNvSpPr>
              <a:spLocks/>
            </p:cNvSpPr>
            <p:nvPr/>
          </p:nvSpPr>
          <p:spPr bwMode="auto">
            <a:xfrm>
              <a:off x="2791" y="2194"/>
              <a:ext cx="38" cy="60"/>
            </a:xfrm>
            <a:custGeom>
              <a:avLst/>
              <a:gdLst>
                <a:gd name="T0" fmla="*/ 0 w 46"/>
                <a:gd name="T1" fmla="*/ 39 h 73"/>
                <a:gd name="T2" fmla="*/ 21 w 46"/>
                <a:gd name="T3" fmla="*/ 5 h 73"/>
                <a:gd name="T4" fmla="*/ 26 w 46"/>
                <a:gd name="T5" fmla="*/ 0 h 73"/>
                <a:gd name="T6" fmla="*/ 0 60000 65536"/>
                <a:gd name="T7" fmla="*/ 0 60000 65536"/>
                <a:gd name="T8" fmla="*/ 0 60000 65536"/>
                <a:gd name="T9" fmla="*/ 0 w 46"/>
                <a:gd name="T10" fmla="*/ 0 h 73"/>
                <a:gd name="T11" fmla="*/ 46 w 46"/>
                <a:gd name="T12" fmla="*/ 73 h 73"/>
              </a:gdLst>
              <a:ahLst/>
              <a:cxnLst>
                <a:cxn ang="T6">
                  <a:pos x="T0" y="T1"/>
                </a:cxn>
                <a:cxn ang="T7">
                  <a:pos x="T2" y="T3"/>
                </a:cxn>
                <a:cxn ang="T8">
                  <a:pos x="T4" y="T5"/>
                </a:cxn>
              </a:cxnLst>
              <a:rect l="T9" t="T10" r="T11" b="T12"/>
              <a:pathLst>
                <a:path w="46" h="73">
                  <a:moveTo>
                    <a:pt x="0" y="72"/>
                  </a:moveTo>
                  <a:lnTo>
                    <a:pt x="36" y="8"/>
                  </a:lnTo>
                  <a:lnTo>
                    <a:pt x="45"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194" name="Freeform 679"/>
            <p:cNvSpPr>
              <a:spLocks/>
            </p:cNvSpPr>
            <p:nvPr/>
          </p:nvSpPr>
          <p:spPr bwMode="auto">
            <a:xfrm>
              <a:off x="2791" y="2194"/>
              <a:ext cx="38" cy="60"/>
            </a:xfrm>
            <a:custGeom>
              <a:avLst/>
              <a:gdLst>
                <a:gd name="T0" fmla="*/ 0 w 46"/>
                <a:gd name="T1" fmla="*/ 39 h 73"/>
                <a:gd name="T2" fmla="*/ 5 w 46"/>
                <a:gd name="T3" fmla="*/ 31 h 73"/>
                <a:gd name="T4" fmla="*/ 15 w 46"/>
                <a:gd name="T5" fmla="*/ 13 h 73"/>
                <a:gd name="T6" fmla="*/ 21 w 46"/>
                <a:gd name="T7" fmla="*/ 5 h 73"/>
                <a:gd name="T8" fmla="*/ 26 w 46"/>
                <a:gd name="T9" fmla="*/ 0 h 73"/>
                <a:gd name="T10" fmla="*/ 0 60000 65536"/>
                <a:gd name="T11" fmla="*/ 0 60000 65536"/>
                <a:gd name="T12" fmla="*/ 0 60000 65536"/>
                <a:gd name="T13" fmla="*/ 0 60000 65536"/>
                <a:gd name="T14" fmla="*/ 0 60000 65536"/>
                <a:gd name="T15" fmla="*/ 0 w 46"/>
                <a:gd name="T16" fmla="*/ 0 h 73"/>
                <a:gd name="T17" fmla="*/ 46 w 46"/>
                <a:gd name="T18" fmla="*/ 73 h 73"/>
              </a:gdLst>
              <a:ahLst/>
              <a:cxnLst>
                <a:cxn ang="T10">
                  <a:pos x="T0" y="T1"/>
                </a:cxn>
                <a:cxn ang="T11">
                  <a:pos x="T2" y="T3"/>
                </a:cxn>
                <a:cxn ang="T12">
                  <a:pos x="T4" y="T5"/>
                </a:cxn>
                <a:cxn ang="T13">
                  <a:pos x="T6" y="T7"/>
                </a:cxn>
                <a:cxn ang="T14">
                  <a:pos x="T8" y="T9"/>
                </a:cxn>
              </a:cxnLst>
              <a:rect l="T15" t="T16" r="T17" b="T18"/>
              <a:pathLst>
                <a:path w="46" h="73">
                  <a:moveTo>
                    <a:pt x="0" y="72"/>
                  </a:moveTo>
                  <a:lnTo>
                    <a:pt x="9" y="56"/>
                  </a:lnTo>
                  <a:lnTo>
                    <a:pt x="27" y="24"/>
                  </a:lnTo>
                  <a:lnTo>
                    <a:pt x="36" y="8"/>
                  </a:lnTo>
                  <a:lnTo>
                    <a:pt x="45"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195" name="Freeform 680"/>
            <p:cNvSpPr>
              <a:spLocks/>
            </p:cNvSpPr>
            <p:nvPr/>
          </p:nvSpPr>
          <p:spPr bwMode="auto">
            <a:xfrm>
              <a:off x="2783" y="2148"/>
              <a:ext cx="90" cy="14"/>
            </a:xfrm>
            <a:custGeom>
              <a:avLst/>
              <a:gdLst>
                <a:gd name="T0" fmla="*/ 0 w 109"/>
                <a:gd name="T1" fmla="*/ 0 h 17"/>
                <a:gd name="T2" fmla="*/ 15 w 109"/>
                <a:gd name="T3" fmla="*/ 5 h 17"/>
                <a:gd name="T4" fmla="*/ 45 w 109"/>
                <a:gd name="T5" fmla="*/ 9 h 17"/>
                <a:gd name="T6" fmla="*/ 60 w 109"/>
                <a:gd name="T7" fmla="*/ 0 h 17"/>
                <a:gd name="T8" fmla="*/ 0 60000 65536"/>
                <a:gd name="T9" fmla="*/ 0 60000 65536"/>
                <a:gd name="T10" fmla="*/ 0 60000 65536"/>
                <a:gd name="T11" fmla="*/ 0 60000 65536"/>
                <a:gd name="T12" fmla="*/ 0 w 109"/>
                <a:gd name="T13" fmla="*/ 0 h 17"/>
                <a:gd name="T14" fmla="*/ 109 w 109"/>
                <a:gd name="T15" fmla="*/ 17 h 17"/>
              </a:gdLst>
              <a:ahLst/>
              <a:cxnLst>
                <a:cxn ang="T8">
                  <a:pos x="T0" y="T1"/>
                </a:cxn>
                <a:cxn ang="T9">
                  <a:pos x="T2" y="T3"/>
                </a:cxn>
                <a:cxn ang="T10">
                  <a:pos x="T4" y="T5"/>
                </a:cxn>
                <a:cxn ang="T11">
                  <a:pos x="T6" y="T7"/>
                </a:cxn>
              </a:cxnLst>
              <a:rect l="T12" t="T13" r="T14" b="T15"/>
              <a:pathLst>
                <a:path w="109" h="17">
                  <a:moveTo>
                    <a:pt x="0" y="0"/>
                  </a:moveTo>
                  <a:lnTo>
                    <a:pt x="27" y="8"/>
                  </a:lnTo>
                  <a:lnTo>
                    <a:pt x="81" y="16"/>
                  </a:lnTo>
                  <a:lnTo>
                    <a:pt x="10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196" name="Freeform 681"/>
            <p:cNvSpPr>
              <a:spLocks/>
            </p:cNvSpPr>
            <p:nvPr/>
          </p:nvSpPr>
          <p:spPr bwMode="auto">
            <a:xfrm>
              <a:off x="2783" y="2148"/>
              <a:ext cx="90" cy="14"/>
            </a:xfrm>
            <a:custGeom>
              <a:avLst/>
              <a:gdLst>
                <a:gd name="T0" fmla="*/ 0 w 109"/>
                <a:gd name="T1" fmla="*/ 0 h 17"/>
                <a:gd name="T2" fmla="*/ 10 w 109"/>
                <a:gd name="T3" fmla="*/ 5 h 17"/>
                <a:gd name="T4" fmla="*/ 26 w 109"/>
                <a:gd name="T5" fmla="*/ 9 h 17"/>
                <a:gd name="T6" fmla="*/ 31 w 109"/>
                <a:gd name="T7" fmla="*/ 9 h 17"/>
                <a:gd name="T8" fmla="*/ 40 w 109"/>
                <a:gd name="T9" fmla="*/ 9 h 17"/>
                <a:gd name="T10" fmla="*/ 56 w 109"/>
                <a:gd name="T11" fmla="*/ 5 h 17"/>
                <a:gd name="T12" fmla="*/ 60 w 109"/>
                <a:gd name="T13" fmla="*/ 0 h 17"/>
                <a:gd name="T14" fmla="*/ 0 60000 65536"/>
                <a:gd name="T15" fmla="*/ 0 60000 65536"/>
                <a:gd name="T16" fmla="*/ 0 60000 65536"/>
                <a:gd name="T17" fmla="*/ 0 60000 65536"/>
                <a:gd name="T18" fmla="*/ 0 60000 65536"/>
                <a:gd name="T19" fmla="*/ 0 60000 65536"/>
                <a:gd name="T20" fmla="*/ 0 60000 65536"/>
                <a:gd name="T21" fmla="*/ 0 w 109"/>
                <a:gd name="T22" fmla="*/ 0 h 17"/>
                <a:gd name="T23" fmla="*/ 109 w 109"/>
                <a:gd name="T24" fmla="*/ 17 h 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9" h="17">
                  <a:moveTo>
                    <a:pt x="0" y="0"/>
                  </a:moveTo>
                  <a:lnTo>
                    <a:pt x="18" y="8"/>
                  </a:lnTo>
                  <a:lnTo>
                    <a:pt x="45" y="16"/>
                  </a:lnTo>
                  <a:lnTo>
                    <a:pt x="54" y="16"/>
                  </a:lnTo>
                  <a:lnTo>
                    <a:pt x="72" y="16"/>
                  </a:lnTo>
                  <a:lnTo>
                    <a:pt x="99" y="8"/>
                  </a:lnTo>
                  <a:lnTo>
                    <a:pt x="108"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197" name="Freeform 682"/>
            <p:cNvSpPr>
              <a:spLocks/>
            </p:cNvSpPr>
            <p:nvPr/>
          </p:nvSpPr>
          <p:spPr bwMode="auto">
            <a:xfrm>
              <a:off x="2865" y="2030"/>
              <a:ext cx="45" cy="34"/>
            </a:xfrm>
            <a:custGeom>
              <a:avLst/>
              <a:gdLst>
                <a:gd name="T0" fmla="*/ 0 w 55"/>
                <a:gd name="T1" fmla="*/ 0 h 42"/>
                <a:gd name="T2" fmla="*/ 20 w 55"/>
                <a:gd name="T3" fmla="*/ 13 h 42"/>
                <a:gd name="T4" fmla="*/ 29 w 55"/>
                <a:gd name="T5" fmla="*/ 22 h 42"/>
                <a:gd name="T6" fmla="*/ 0 60000 65536"/>
                <a:gd name="T7" fmla="*/ 0 60000 65536"/>
                <a:gd name="T8" fmla="*/ 0 60000 65536"/>
                <a:gd name="T9" fmla="*/ 0 w 55"/>
                <a:gd name="T10" fmla="*/ 0 h 42"/>
                <a:gd name="T11" fmla="*/ 55 w 55"/>
                <a:gd name="T12" fmla="*/ 42 h 42"/>
              </a:gdLst>
              <a:ahLst/>
              <a:cxnLst>
                <a:cxn ang="T6">
                  <a:pos x="T0" y="T1"/>
                </a:cxn>
                <a:cxn ang="T7">
                  <a:pos x="T2" y="T3"/>
                </a:cxn>
                <a:cxn ang="T8">
                  <a:pos x="T4" y="T5"/>
                </a:cxn>
              </a:cxnLst>
              <a:rect l="T9" t="T10" r="T11" b="T12"/>
              <a:pathLst>
                <a:path w="55" h="42">
                  <a:moveTo>
                    <a:pt x="0" y="0"/>
                  </a:moveTo>
                  <a:lnTo>
                    <a:pt x="36" y="25"/>
                  </a:lnTo>
                  <a:lnTo>
                    <a:pt x="54" y="41"/>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198" name="Freeform 683"/>
            <p:cNvSpPr>
              <a:spLocks/>
            </p:cNvSpPr>
            <p:nvPr/>
          </p:nvSpPr>
          <p:spPr bwMode="auto">
            <a:xfrm>
              <a:off x="2865" y="2030"/>
              <a:ext cx="45" cy="34"/>
            </a:xfrm>
            <a:custGeom>
              <a:avLst/>
              <a:gdLst>
                <a:gd name="T0" fmla="*/ 0 w 55"/>
                <a:gd name="T1" fmla="*/ 0 h 42"/>
                <a:gd name="T2" fmla="*/ 5 w 55"/>
                <a:gd name="T3" fmla="*/ 4 h 42"/>
                <a:gd name="T4" fmla="*/ 15 w 55"/>
                <a:gd name="T5" fmla="*/ 9 h 42"/>
                <a:gd name="T6" fmla="*/ 20 w 55"/>
                <a:gd name="T7" fmla="*/ 13 h 42"/>
                <a:gd name="T8" fmla="*/ 25 w 55"/>
                <a:gd name="T9" fmla="*/ 18 h 42"/>
                <a:gd name="T10" fmla="*/ 29 w 55"/>
                <a:gd name="T11" fmla="*/ 22 h 42"/>
                <a:gd name="T12" fmla="*/ 0 60000 65536"/>
                <a:gd name="T13" fmla="*/ 0 60000 65536"/>
                <a:gd name="T14" fmla="*/ 0 60000 65536"/>
                <a:gd name="T15" fmla="*/ 0 60000 65536"/>
                <a:gd name="T16" fmla="*/ 0 60000 65536"/>
                <a:gd name="T17" fmla="*/ 0 60000 65536"/>
                <a:gd name="T18" fmla="*/ 0 w 55"/>
                <a:gd name="T19" fmla="*/ 0 h 42"/>
                <a:gd name="T20" fmla="*/ 55 w 55"/>
                <a:gd name="T21" fmla="*/ 42 h 42"/>
              </a:gdLst>
              <a:ahLst/>
              <a:cxnLst>
                <a:cxn ang="T12">
                  <a:pos x="T0" y="T1"/>
                </a:cxn>
                <a:cxn ang="T13">
                  <a:pos x="T2" y="T3"/>
                </a:cxn>
                <a:cxn ang="T14">
                  <a:pos x="T4" y="T5"/>
                </a:cxn>
                <a:cxn ang="T15">
                  <a:pos x="T6" y="T7"/>
                </a:cxn>
                <a:cxn ang="T16">
                  <a:pos x="T8" y="T9"/>
                </a:cxn>
                <a:cxn ang="T17">
                  <a:pos x="T10" y="T11"/>
                </a:cxn>
              </a:cxnLst>
              <a:rect l="T18" t="T19" r="T20" b="T21"/>
              <a:pathLst>
                <a:path w="55" h="42">
                  <a:moveTo>
                    <a:pt x="0" y="0"/>
                  </a:moveTo>
                  <a:lnTo>
                    <a:pt x="9" y="8"/>
                  </a:lnTo>
                  <a:lnTo>
                    <a:pt x="27" y="16"/>
                  </a:lnTo>
                  <a:lnTo>
                    <a:pt x="36" y="25"/>
                  </a:lnTo>
                  <a:lnTo>
                    <a:pt x="45" y="33"/>
                  </a:lnTo>
                  <a:lnTo>
                    <a:pt x="54" y="41"/>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199" name="Freeform 684"/>
            <p:cNvSpPr>
              <a:spLocks/>
            </p:cNvSpPr>
            <p:nvPr/>
          </p:nvSpPr>
          <p:spPr bwMode="auto">
            <a:xfrm>
              <a:off x="2961" y="1852"/>
              <a:ext cx="23" cy="67"/>
            </a:xfrm>
            <a:custGeom>
              <a:avLst/>
              <a:gdLst>
                <a:gd name="T0" fmla="*/ 15 w 28"/>
                <a:gd name="T1" fmla="*/ 0 h 81"/>
                <a:gd name="T2" fmla="*/ 15 w 28"/>
                <a:gd name="T3" fmla="*/ 36 h 81"/>
                <a:gd name="T4" fmla="*/ 5 w 28"/>
                <a:gd name="T5" fmla="*/ 41 h 81"/>
                <a:gd name="T6" fmla="*/ 0 w 28"/>
                <a:gd name="T7" fmla="*/ 45 h 81"/>
                <a:gd name="T8" fmla="*/ 0 60000 65536"/>
                <a:gd name="T9" fmla="*/ 0 60000 65536"/>
                <a:gd name="T10" fmla="*/ 0 60000 65536"/>
                <a:gd name="T11" fmla="*/ 0 60000 65536"/>
                <a:gd name="T12" fmla="*/ 0 w 28"/>
                <a:gd name="T13" fmla="*/ 0 h 81"/>
                <a:gd name="T14" fmla="*/ 28 w 28"/>
                <a:gd name="T15" fmla="*/ 81 h 81"/>
              </a:gdLst>
              <a:ahLst/>
              <a:cxnLst>
                <a:cxn ang="T8">
                  <a:pos x="T0" y="T1"/>
                </a:cxn>
                <a:cxn ang="T9">
                  <a:pos x="T2" y="T3"/>
                </a:cxn>
                <a:cxn ang="T10">
                  <a:pos x="T4" y="T5"/>
                </a:cxn>
                <a:cxn ang="T11">
                  <a:pos x="T6" y="T7"/>
                </a:cxn>
              </a:cxnLst>
              <a:rect l="T12" t="T13" r="T14" b="T15"/>
              <a:pathLst>
                <a:path w="28" h="81">
                  <a:moveTo>
                    <a:pt x="27" y="0"/>
                  </a:moveTo>
                  <a:lnTo>
                    <a:pt x="27" y="64"/>
                  </a:lnTo>
                  <a:lnTo>
                    <a:pt x="9" y="72"/>
                  </a:lnTo>
                  <a:lnTo>
                    <a:pt x="0" y="8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200" name="Freeform 685"/>
            <p:cNvSpPr>
              <a:spLocks/>
            </p:cNvSpPr>
            <p:nvPr/>
          </p:nvSpPr>
          <p:spPr bwMode="auto">
            <a:xfrm>
              <a:off x="2961" y="1852"/>
              <a:ext cx="23" cy="67"/>
            </a:xfrm>
            <a:custGeom>
              <a:avLst/>
              <a:gdLst>
                <a:gd name="T0" fmla="*/ 15 w 28"/>
                <a:gd name="T1" fmla="*/ 0 h 81"/>
                <a:gd name="T2" fmla="*/ 15 w 28"/>
                <a:gd name="T3" fmla="*/ 9 h 81"/>
                <a:gd name="T4" fmla="*/ 15 w 28"/>
                <a:gd name="T5" fmla="*/ 22 h 81"/>
                <a:gd name="T6" fmla="*/ 15 w 28"/>
                <a:gd name="T7" fmla="*/ 31 h 81"/>
                <a:gd name="T8" fmla="*/ 10 w 28"/>
                <a:gd name="T9" fmla="*/ 41 h 81"/>
                <a:gd name="T10" fmla="*/ 0 w 28"/>
                <a:gd name="T11" fmla="*/ 45 h 81"/>
                <a:gd name="T12" fmla="*/ 0 60000 65536"/>
                <a:gd name="T13" fmla="*/ 0 60000 65536"/>
                <a:gd name="T14" fmla="*/ 0 60000 65536"/>
                <a:gd name="T15" fmla="*/ 0 60000 65536"/>
                <a:gd name="T16" fmla="*/ 0 60000 65536"/>
                <a:gd name="T17" fmla="*/ 0 60000 65536"/>
                <a:gd name="T18" fmla="*/ 0 w 28"/>
                <a:gd name="T19" fmla="*/ 0 h 81"/>
                <a:gd name="T20" fmla="*/ 28 w 28"/>
                <a:gd name="T21" fmla="*/ 81 h 81"/>
              </a:gdLst>
              <a:ahLst/>
              <a:cxnLst>
                <a:cxn ang="T12">
                  <a:pos x="T0" y="T1"/>
                </a:cxn>
                <a:cxn ang="T13">
                  <a:pos x="T2" y="T3"/>
                </a:cxn>
                <a:cxn ang="T14">
                  <a:pos x="T4" y="T5"/>
                </a:cxn>
                <a:cxn ang="T15">
                  <a:pos x="T6" y="T7"/>
                </a:cxn>
                <a:cxn ang="T16">
                  <a:pos x="T8" y="T9"/>
                </a:cxn>
                <a:cxn ang="T17">
                  <a:pos x="T10" y="T11"/>
                </a:cxn>
              </a:cxnLst>
              <a:rect l="T18" t="T19" r="T20" b="T21"/>
              <a:pathLst>
                <a:path w="28" h="81">
                  <a:moveTo>
                    <a:pt x="27" y="0"/>
                  </a:moveTo>
                  <a:lnTo>
                    <a:pt x="27" y="16"/>
                  </a:lnTo>
                  <a:lnTo>
                    <a:pt x="27" y="40"/>
                  </a:lnTo>
                  <a:lnTo>
                    <a:pt x="27" y="56"/>
                  </a:lnTo>
                  <a:lnTo>
                    <a:pt x="18" y="72"/>
                  </a:lnTo>
                  <a:lnTo>
                    <a:pt x="0" y="8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201" name="Freeform 686"/>
            <p:cNvSpPr>
              <a:spLocks/>
            </p:cNvSpPr>
            <p:nvPr/>
          </p:nvSpPr>
          <p:spPr bwMode="auto">
            <a:xfrm>
              <a:off x="2200" y="2266"/>
              <a:ext cx="30" cy="80"/>
            </a:xfrm>
            <a:custGeom>
              <a:avLst/>
              <a:gdLst>
                <a:gd name="T0" fmla="*/ 0 w 37"/>
                <a:gd name="T1" fmla="*/ 54 h 97"/>
                <a:gd name="T2" fmla="*/ 5 w 37"/>
                <a:gd name="T3" fmla="*/ 40 h 97"/>
                <a:gd name="T4" fmla="*/ 19 w 37"/>
                <a:gd name="T5" fmla="*/ 27 h 97"/>
                <a:gd name="T6" fmla="*/ 19 w 37"/>
                <a:gd name="T7" fmla="*/ 0 h 97"/>
                <a:gd name="T8" fmla="*/ 0 60000 65536"/>
                <a:gd name="T9" fmla="*/ 0 60000 65536"/>
                <a:gd name="T10" fmla="*/ 0 60000 65536"/>
                <a:gd name="T11" fmla="*/ 0 60000 65536"/>
                <a:gd name="T12" fmla="*/ 0 w 37"/>
                <a:gd name="T13" fmla="*/ 0 h 97"/>
                <a:gd name="T14" fmla="*/ 37 w 37"/>
                <a:gd name="T15" fmla="*/ 97 h 97"/>
              </a:gdLst>
              <a:ahLst/>
              <a:cxnLst>
                <a:cxn ang="T8">
                  <a:pos x="T0" y="T1"/>
                </a:cxn>
                <a:cxn ang="T9">
                  <a:pos x="T2" y="T3"/>
                </a:cxn>
                <a:cxn ang="T10">
                  <a:pos x="T4" y="T5"/>
                </a:cxn>
                <a:cxn ang="T11">
                  <a:pos x="T6" y="T7"/>
                </a:cxn>
              </a:cxnLst>
              <a:rect l="T12" t="T13" r="T14" b="T15"/>
              <a:pathLst>
                <a:path w="37" h="97">
                  <a:moveTo>
                    <a:pt x="0" y="96"/>
                  </a:moveTo>
                  <a:lnTo>
                    <a:pt x="9" y="72"/>
                  </a:lnTo>
                  <a:lnTo>
                    <a:pt x="36" y="48"/>
                  </a:lnTo>
                  <a:lnTo>
                    <a:pt x="36"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202" name="Freeform 687"/>
            <p:cNvSpPr>
              <a:spLocks/>
            </p:cNvSpPr>
            <p:nvPr/>
          </p:nvSpPr>
          <p:spPr bwMode="auto">
            <a:xfrm>
              <a:off x="2200" y="2266"/>
              <a:ext cx="30" cy="80"/>
            </a:xfrm>
            <a:custGeom>
              <a:avLst/>
              <a:gdLst>
                <a:gd name="T0" fmla="*/ 0 w 37"/>
                <a:gd name="T1" fmla="*/ 54 h 97"/>
                <a:gd name="T2" fmla="*/ 5 w 37"/>
                <a:gd name="T3" fmla="*/ 45 h 97"/>
                <a:gd name="T4" fmla="*/ 10 w 37"/>
                <a:gd name="T5" fmla="*/ 36 h 97"/>
                <a:gd name="T6" fmla="*/ 10 w 37"/>
                <a:gd name="T7" fmla="*/ 31 h 97"/>
                <a:gd name="T8" fmla="*/ 15 w 37"/>
                <a:gd name="T9" fmla="*/ 31 h 97"/>
                <a:gd name="T10" fmla="*/ 19 w 37"/>
                <a:gd name="T11" fmla="*/ 22 h 97"/>
                <a:gd name="T12" fmla="*/ 19 w 37"/>
                <a:gd name="T13" fmla="*/ 13 h 97"/>
                <a:gd name="T14" fmla="*/ 19 w 37"/>
                <a:gd name="T15" fmla="*/ 0 h 97"/>
                <a:gd name="T16" fmla="*/ 0 60000 65536"/>
                <a:gd name="T17" fmla="*/ 0 60000 65536"/>
                <a:gd name="T18" fmla="*/ 0 60000 65536"/>
                <a:gd name="T19" fmla="*/ 0 60000 65536"/>
                <a:gd name="T20" fmla="*/ 0 60000 65536"/>
                <a:gd name="T21" fmla="*/ 0 60000 65536"/>
                <a:gd name="T22" fmla="*/ 0 60000 65536"/>
                <a:gd name="T23" fmla="*/ 0 60000 65536"/>
                <a:gd name="T24" fmla="*/ 0 w 37"/>
                <a:gd name="T25" fmla="*/ 0 h 97"/>
                <a:gd name="T26" fmla="*/ 37 w 37"/>
                <a:gd name="T27" fmla="*/ 97 h 9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7" h="97">
                  <a:moveTo>
                    <a:pt x="0" y="96"/>
                  </a:moveTo>
                  <a:lnTo>
                    <a:pt x="9" y="80"/>
                  </a:lnTo>
                  <a:lnTo>
                    <a:pt x="18" y="64"/>
                  </a:lnTo>
                  <a:lnTo>
                    <a:pt x="18" y="56"/>
                  </a:lnTo>
                  <a:lnTo>
                    <a:pt x="27" y="56"/>
                  </a:lnTo>
                  <a:lnTo>
                    <a:pt x="36" y="40"/>
                  </a:lnTo>
                  <a:lnTo>
                    <a:pt x="36" y="24"/>
                  </a:lnTo>
                  <a:lnTo>
                    <a:pt x="36" y="0"/>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203" name="Freeform 688"/>
            <p:cNvSpPr>
              <a:spLocks/>
            </p:cNvSpPr>
            <p:nvPr/>
          </p:nvSpPr>
          <p:spPr bwMode="auto">
            <a:xfrm>
              <a:off x="2362" y="2089"/>
              <a:ext cx="97" cy="40"/>
            </a:xfrm>
            <a:custGeom>
              <a:avLst/>
              <a:gdLst>
                <a:gd name="T0" fmla="*/ 0 w 118"/>
                <a:gd name="T1" fmla="*/ 0 h 49"/>
                <a:gd name="T2" fmla="*/ 30 w 118"/>
                <a:gd name="T3" fmla="*/ 13 h 49"/>
                <a:gd name="T4" fmla="*/ 65 w 118"/>
                <a:gd name="T5" fmla="*/ 26 h 49"/>
                <a:gd name="T6" fmla="*/ 0 60000 65536"/>
                <a:gd name="T7" fmla="*/ 0 60000 65536"/>
                <a:gd name="T8" fmla="*/ 0 60000 65536"/>
                <a:gd name="T9" fmla="*/ 0 w 118"/>
                <a:gd name="T10" fmla="*/ 0 h 49"/>
                <a:gd name="T11" fmla="*/ 118 w 118"/>
                <a:gd name="T12" fmla="*/ 49 h 49"/>
              </a:gdLst>
              <a:ahLst/>
              <a:cxnLst>
                <a:cxn ang="T6">
                  <a:pos x="T0" y="T1"/>
                </a:cxn>
                <a:cxn ang="T7">
                  <a:pos x="T2" y="T3"/>
                </a:cxn>
                <a:cxn ang="T8">
                  <a:pos x="T4" y="T5"/>
                </a:cxn>
              </a:cxnLst>
              <a:rect l="T9" t="T10" r="T11" b="T12"/>
              <a:pathLst>
                <a:path w="118" h="49">
                  <a:moveTo>
                    <a:pt x="0" y="0"/>
                  </a:moveTo>
                  <a:lnTo>
                    <a:pt x="54" y="24"/>
                  </a:lnTo>
                  <a:lnTo>
                    <a:pt x="117" y="48"/>
                  </a:lnTo>
                </a:path>
              </a:pathLst>
            </a:custGeom>
            <a:noFill/>
            <a:ln w="12700" cap="rnd" cmpd="sng">
              <a:solidFill>
                <a:srgbClr val="009900"/>
              </a:solidFill>
              <a:prstDash val="solid"/>
              <a:round/>
              <a:headEnd type="none" w="med" len="med"/>
              <a:tailEnd type="none" w="med" len="med"/>
            </a:ln>
          </p:spPr>
          <p:txBody>
            <a:bodyPr/>
            <a:lstStyle/>
            <a:p>
              <a:endParaRPr lang="en-US"/>
            </a:p>
          </p:txBody>
        </p:sp>
        <p:sp>
          <p:nvSpPr>
            <p:cNvPr id="40204" name="Freeform 689"/>
            <p:cNvSpPr>
              <a:spLocks/>
            </p:cNvSpPr>
            <p:nvPr/>
          </p:nvSpPr>
          <p:spPr bwMode="auto">
            <a:xfrm>
              <a:off x="2362" y="2089"/>
              <a:ext cx="97" cy="40"/>
            </a:xfrm>
            <a:custGeom>
              <a:avLst/>
              <a:gdLst>
                <a:gd name="T0" fmla="*/ 0 w 118"/>
                <a:gd name="T1" fmla="*/ 0 h 49"/>
                <a:gd name="T2" fmla="*/ 15 w 118"/>
                <a:gd name="T3" fmla="*/ 9 h 49"/>
                <a:gd name="T4" fmla="*/ 50 w 118"/>
                <a:gd name="T5" fmla="*/ 22 h 49"/>
                <a:gd name="T6" fmla="*/ 65 w 118"/>
                <a:gd name="T7" fmla="*/ 26 h 49"/>
                <a:gd name="T8" fmla="*/ 0 60000 65536"/>
                <a:gd name="T9" fmla="*/ 0 60000 65536"/>
                <a:gd name="T10" fmla="*/ 0 60000 65536"/>
                <a:gd name="T11" fmla="*/ 0 60000 65536"/>
                <a:gd name="T12" fmla="*/ 0 w 118"/>
                <a:gd name="T13" fmla="*/ 0 h 49"/>
                <a:gd name="T14" fmla="*/ 118 w 118"/>
                <a:gd name="T15" fmla="*/ 49 h 49"/>
              </a:gdLst>
              <a:ahLst/>
              <a:cxnLst>
                <a:cxn ang="T8">
                  <a:pos x="T0" y="T1"/>
                </a:cxn>
                <a:cxn ang="T9">
                  <a:pos x="T2" y="T3"/>
                </a:cxn>
                <a:cxn ang="T10">
                  <a:pos x="T4" y="T5"/>
                </a:cxn>
                <a:cxn ang="T11">
                  <a:pos x="T6" y="T7"/>
                </a:cxn>
              </a:cxnLst>
              <a:rect l="T12" t="T13" r="T14" b="T15"/>
              <a:pathLst>
                <a:path w="118" h="49">
                  <a:moveTo>
                    <a:pt x="0" y="0"/>
                  </a:moveTo>
                  <a:lnTo>
                    <a:pt x="27" y="16"/>
                  </a:lnTo>
                  <a:lnTo>
                    <a:pt x="90" y="40"/>
                  </a:lnTo>
                  <a:lnTo>
                    <a:pt x="117" y="48"/>
                  </a:lnTo>
                </a:path>
              </a:pathLst>
            </a:custGeom>
            <a:noFill/>
            <a:ln w="12700" cap="rnd" cmpd="sng">
              <a:solidFill>
                <a:srgbClr val="009900"/>
              </a:solidFill>
              <a:prstDash val="solid"/>
              <a:round/>
              <a:headEnd type="none" w="med" len="med"/>
              <a:tailEnd type="none" w="med" len="med"/>
            </a:ln>
          </p:spPr>
          <p:txBody>
            <a:bodyPr/>
            <a:lstStyle/>
            <a:p>
              <a:endParaRPr lang="en-US"/>
            </a:p>
          </p:txBody>
        </p:sp>
        <p:grpSp>
          <p:nvGrpSpPr>
            <p:cNvPr id="40205" name="Group 691"/>
            <p:cNvGrpSpPr>
              <a:grpSpLocks/>
            </p:cNvGrpSpPr>
            <p:nvPr/>
          </p:nvGrpSpPr>
          <p:grpSpPr bwMode="auto">
            <a:xfrm>
              <a:off x="1734" y="1524"/>
              <a:ext cx="3231" cy="1650"/>
              <a:chOff x="384" y="1504"/>
              <a:chExt cx="3935" cy="2009"/>
            </a:xfrm>
          </p:grpSpPr>
          <p:sp>
            <p:nvSpPr>
              <p:cNvPr id="40304" name="Line 692"/>
              <p:cNvSpPr>
                <a:spLocks noChangeShapeType="1"/>
              </p:cNvSpPr>
              <p:nvPr/>
            </p:nvSpPr>
            <p:spPr bwMode="auto">
              <a:xfrm flipH="1">
                <a:off x="1298" y="3128"/>
                <a:ext cx="198" cy="369"/>
              </a:xfrm>
              <a:prstGeom prst="line">
                <a:avLst/>
              </a:prstGeom>
              <a:noFill/>
              <a:ln w="50800">
                <a:solidFill>
                  <a:schemeClr val="folHlink"/>
                </a:solidFill>
                <a:round/>
                <a:headEnd/>
                <a:tailEnd/>
              </a:ln>
            </p:spPr>
            <p:txBody>
              <a:bodyPr wrap="none" anchor="ctr"/>
              <a:lstStyle/>
              <a:p>
                <a:endParaRPr lang="en-US"/>
              </a:p>
            </p:txBody>
          </p:sp>
          <p:sp>
            <p:nvSpPr>
              <p:cNvPr id="40305" name="Line 693"/>
              <p:cNvSpPr>
                <a:spLocks noChangeShapeType="1"/>
              </p:cNvSpPr>
              <p:nvPr/>
            </p:nvSpPr>
            <p:spPr bwMode="auto">
              <a:xfrm>
                <a:off x="1308" y="3513"/>
                <a:ext cx="2083" cy="0"/>
              </a:xfrm>
              <a:prstGeom prst="line">
                <a:avLst/>
              </a:prstGeom>
              <a:noFill/>
              <a:ln w="50800">
                <a:solidFill>
                  <a:schemeClr val="folHlink"/>
                </a:solidFill>
                <a:round/>
                <a:headEnd/>
                <a:tailEnd/>
              </a:ln>
            </p:spPr>
            <p:txBody>
              <a:bodyPr wrap="none" anchor="ctr"/>
              <a:lstStyle/>
              <a:p>
                <a:endParaRPr lang="en-US"/>
              </a:p>
            </p:txBody>
          </p:sp>
          <p:sp>
            <p:nvSpPr>
              <p:cNvPr id="40306" name="Line 694"/>
              <p:cNvSpPr>
                <a:spLocks noChangeShapeType="1"/>
              </p:cNvSpPr>
              <p:nvPr/>
            </p:nvSpPr>
            <p:spPr bwMode="auto">
              <a:xfrm>
                <a:off x="1508" y="3120"/>
                <a:ext cx="1712" cy="0"/>
              </a:xfrm>
              <a:prstGeom prst="line">
                <a:avLst/>
              </a:prstGeom>
              <a:noFill/>
              <a:ln w="50800">
                <a:solidFill>
                  <a:schemeClr val="folHlink"/>
                </a:solidFill>
                <a:round/>
                <a:headEnd/>
                <a:tailEnd/>
              </a:ln>
            </p:spPr>
            <p:txBody>
              <a:bodyPr wrap="none" anchor="ctr"/>
              <a:lstStyle/>
              <a:p>
                <a:endParaRPr lang="en-US"/>
              </a:p>
            </p:txBody>
          </p:sp>
          <p:grpSp>
            <p:nvGrpSpPr>
              <p:cNvPr id="40307" name="Group 695"/>
              <p:cNvGrpSpPr>
                <a:grpSpLocks/>
              </p:cNvGrpSpPr>
              <p:nvPr/>
            </p:nvGrpSpPr>
            <p:grpSpPr bwMode="auto">
              <a:xfrm>
                <a:off x="2009" y="2161"/>
                <a:ext cx="697" cy="204"/>
                <a:chOff x="2885" y="2161"/>
                <a:chExt cx="697" cy="204"/>
              </a:xfrm>
            </p:grpSpPr>
            <p:sp>
              <p:nvSpPr>
                <p:cNvPr id="40315" name="Arc 696"/>
                <p:cNvSpPr>
                  <a:spLocks/>
                </p:cNvSpPr>
                <p:nvPr/>
              </p:nvSpPr>
              <p:spPr bwMode="auto">
                <a:xfrm>
                  <a:off x="2885" y="2161"/>
                  <a:ext cx="349" cy="204"/>
                </a:xfrm>
                <a:custGeom>
                  <a:avLst/>
                  <a:gdLst>
                    <a:gd name="T0" fmla="*/ 0 w 21600"/>
                    <a:gd name="T1" fmla="*/ 0 h 21599"/>
                    <a:gd name="T2" fmla="*/ 0 w 21600"/>
                    <a:gd name="T3" fmla="*/ 0 h 21599"/>
                    <a:gd name="T4" fmla="*/ 0 w 21600"/>
                    <a:gd name="T5" fmla="*/ 0 h 21599"/>
                    <a:gd name="T6" fmla="*/ 0 60000 65536"/>
                    <a:gd name="T7" fmla="*/ 0 60000 65536"/>
                    <a:gd name="T8" fmla="*/ 0 60000 65536"/>
                    <a:gd name="T9" fmla="*/ 0 w 21600"/>
                    <a:gd name="T10" fmla="*/ 0 h 21599"/>
                    <a:gd name="T11" fmla="*/ 21600 w 21600"/>
                    <a:gd name="T12" fmla="*/ 21599 h 21599"/>
                  </a:gdLst>
                  <a:ahLst/>
                  <a:cxnLst>
                    <a:cxn ang="T6">
                      <a:pos x="T0" y="T1"/>
                    </a:cxn>
                    <a:cxn ang="T7">
                      <a:pos x="T2" y="T3"/>
                    </a:cxn>
                    <a:cxn ang="T8">
                      <a:pos x="T4" y="T5"/>
                    </a:cxn>
                  </a:cxnLst>
                  <a:rect l="T9" t="T10" r="T11" b="T12"/>
                  <a:pathLst>
                    <a:path w="21600" h="21599" fill="none" extrusionOk="0">
                      <a:moveTo>
                        <a:pt x="0" y="21599"/>
                      </a:moveTo>
                      <a:cubicBezTo>
                        <a:pt x="0" y="9693"/>
                        <a:pt x="9633" y="32"/>
                        <a:pt x="21538" y="-1"/>
                      </a:cubicBezTo>
                    </a:path>
                    <a:path w="21600" h="21599" stroke="0" extrusionOk="0">
                      <a:moveTo>
                        <a:pt x="0" y="21599"/>
                      </a:moveTo>
                      <a:cubicBezTo>
                        <a:pt x="0" y="9693"/>
                        <a:pt x="9633" y="32"/>
                        <a:pt x="21538" y="-1"/>
                      </a:cubicBezTo>
                      <a:lnTo>
                        <a:pt x="21600" y="21599"/>
                      </a:lnTo>
                      <a:close/>
                    </a:path>
                  </a:pathLst>
                </a:custGeom>
                <a:noFill/>
                <a:ln w="50800" cap="rnd">
                  <a:solidFill>
                    <a:schemeClr val="folHlink"/>
                  </a:solidFill>
                  <a:round/>
                  <a:headEnd/>
                  <a:tailEnd/>
                </a:ln>
              </p:spPr>
              <p:txBody>
                <a:bodyPr wrap="none" anchor="ctr"/>
                <a:lstStyle/>
                <a:p>
                  <a:endParaRPr lang="en-US"/>
                </a:p>
              </p:txBody>
            </p:sp>
            <p:sp>
              <p:nvSpPr>
                <p:cNvPr id="40316" name="Arc 697"/>
                <p:cNvSpPr>
                  <a:spLocks/>
                </p:cNvSpPr>
                <p:nvPr/>
              </p:nvSpPr>
              <p:spPr bwMode="auto">
                <a:xfrm>
                  <a:off x="3233" y="2161"/>
                  <a:ext cx="349" cy="204"/>
                </a:xfrm>
                <a:custGeom>
                  <a:avLst/>
                  <a:gdLst>
                    <a:gd name="T0" fmla="*/ 0 w 21661"/>
                    <a:gd name="T1" fmla="*/ 0 h 21600"/>
                    <a:gd name="T2" fmla="*/ 0 w 21661"/>
                    <a:gd name="T3" fmla="*/ 0 h 21600"/>
                    <a:gd name="T4" fmla="*/ 0 w 21661"/>
                    <a:gd name="T5" fmla="*/ 0 h 21600"/>
                    <a:gd name="T6" fmla="*/ 0 60000 65536"/>
                    <a:gd name="T7" fmla="*/ 0 60000 65536"/>
                    <a:gd name="T8" fmla="*/ 0 60000 65536"/>
                    <a:gd name="T9" fmla="*/ 0 w 21661"/>
                    <a:gd name="T10" fmla="*/ 0 h 21600"/>
                    <a:gd name="T11" fmla="*/ 21661 w 21661"/>
                    <a:gd name="T12" fmla="*/ 21600 h 21600"/>
                  </a:gdLst>
                  <a:ahLst/>
                  <a:cxnLst>
                    <a:cxn ang="T6">
                      <a:pos x="T0" y="T1"/>
                    </a:cxn>
                    <a:cxn ang="T7">
                      <a:pos x="T2" y="T3"/>
                    </a:cxn>
                    <a:cxn ang="T8">
                      <a:pos x="T4" y="T5"/>
                    </a:cxn>
                  </a:cxnLst>
                  <a:rect l="T9" t="T10" r="T11" b="T12"/>
                  <a:pathLst>
                    <a:path w="21661" h="21600" fill="none" extrusionOk="0">
                      <a:moveTo>
                        <a:pt x="-1" y="0"/>
                      </a:moveTo>
                      <a:cubicBezTo>
                        <a:pt x="20" y="0"/>
                        <a:pt x="40" y="-1"/>
                        <a:pt x="61" y="0"/>
                      </a:cubicBezTo>
                      <a:cubicBezTo>
                        <a:pt x="11990" y="0"/>
                        <a:pt x="21661" y="9670"/>
                        <a:pt x="21661" y="21600"/>
                      </a:cubicBezTo>
                    </a:path>
                    <a:path w="21661" h="21600" stroke="0" extrusionOk="0">
                      <a:moveTo>
                        <a:pt x="-1" y="0"/>
                      </a:moveTo>
                      <a:cubicBezTo>
                        <a:pt x="20" y="0"/>
                        <a:pt x="40" y="-1"/>
                        <a:pt x="61" y="0"/>
                      </a:cubicBezTo>
                      <a:cubicBezTo>
                        <a:pt x="11990" y="0"/>
                        <a:pt x="21661" y="9670"/>
                        <a:pt x="21661" y="21600"/>
                      </a:cubicBezTo>
                      <a:lnTo>
                        <a:pt x="61" y="21600"/>
                      </a:lnTo>
                      <a:close/>
                    </a:path>
                  </a:pathLst>
                </a:custGeom>
                <a:noFill/>
                <a:ln w="50800" cap="rnd">
                  <a:solidFill>
                    <a:schemeClr val="folHlink"/>
                  </a:solidFill>
                  <a:round/>
                  <a:headEnd/>
                  <a:tailEnd/>
                </a:ln>
              </p:spPr>
              <p:txBody>
                <a:bodyPr wrap="none" anchor="ctr"/>
                <a:lstStyle/>
                <a:p>
                  <a:endParaRPr lang="en-US"/>
                </a:p>
              </p:txBody>
            </p:sp>
          </p:grpSp>
          <p:grpSp>
            <p:nvGrpSpPr>
              <p:cNvPr id="40308" name="Group 698"/>
              <p:cNvGrpSpPr>
                <a:grpSpLocks/>
              </p:cNvGrpSpPr>
              <p:nvPr/>
            </p:nvGrpSpPr>
            <p:grpSpPr bwMode="auto">
              <a:xfrm>
                <a:off x="384" y="1504"/>
                <a:ext cx="3935" cy="1184"/>
                <a:chOff x="1260" y="1504"/>
                <a:chExt cx="3935" cy="1184"/>
              </a:xfrm>
            </p:grpSpPr>
            <p:sp>
              <p:nvSpPr>
                <p:cNvPr id="40311" name="Line 699"/>
                <p:cNvSpPr>
                  <a:spLocks noChangeShapeType="1"/>
                </p:cNvSpPr>
                <p:nvPr/>
              </p:nvSpPr>
              <p:spPr bwMode="auto">
                <a:xfrm flipV="1">
                  <a:off x="2473" y="1504"/>
                  <a:ext cx="571" cy="1184"/>
                </a:xfrm>
                <a:prstGeom prst="line">
                  <a:avLst/>
                </a:prstGeom>
                <a:noFill/>
                <a:ln w="50800">
                  <a:solidFill>
                    <a:schemeClr val="folHlink"/>
                  </a:solidFill>
                  <a:round/>
                  <a:headEnd/>
                  <a:tailEnd/>
                </a:ln>
              </p:spPr>
              <p:txBody>
                <a:bodyPr wrap="none" anchor="ctr"/>
                <a:lstStyle/>
                <a:p>
                  <a:endParaRPr lang="en-US"/>
                </a:p>
              </p:txBody>
            </p:sp>
            <p:sp>
              <p:nvSpPr>
                <p:cNvPr id="40312" name="Line 700"/>
                <p:cNvSpPr>
                  <a:spLocks noChangeShapeType="1"/>
                </p:cNvSpPr>
                <p:nvPr/>
              </p:nvSpPr>
              <p:spPr bwMode="auto">
                <a:xfrm flipH="1" flipV="1">
                  <a:off x="1260" y="1504"/>
                  <a:ext cx="603" cy="1184"/>
                </a:xfrm>
                <a:prstGeom prst="line">
                  <a:avLst/>
                </a:prstGeom>
                <a:noFill/>
                <a:ln w="50800">
                  <a:solidFill>
                    <a:schemeClr val="folHlink"/>
                  </a:solidFill>
                  <a:round/>
                  <a:headEnd/>
                  <a:tailEnd/>
                </a:ln>
              </p:spPr>
              <p:txBody>
                <a:bodyPr wrap="none" anchor="ctr"/>
                <a:lstStyle/>
                <a:p>
                  <a:endParaRPr lang="en-US"/>
                </a:p>
              </p:txBody>
            </p:sp>
            <p:sp>
              <p:nvSpPr>
                <p:cNvPr id="40313" name="Line 701"/>
                <p:cNvSpPr>
                  <a:spLocks noChangeShapeType="1"/>
                </p:cNvSpPr>
                <p:nvPr/>
              </p:nvSpPr>
              <p:spPr bwMode="auto">
                <a:xfrm flipV="1">
                  <a:off x="4633" y="1504"/>
                  <a:ext cx="562" cy="1184"/>
                </a:xfrm>
                <a:prstGeom prst="line">
                  <a:avLst/>
                </a:prstGeom>
                <a:noFill/>
                <a:ln w="50800">
                  <a:solidFill>
                    <a:schemeClr val="folHlink"/>
                  </a:solidFill>
                  <a:round/>
                  <a:headEnd/>
                  <a:tailEnd/>
                </a:ln>
              </p:spPr>
              <p:txBody>
                <a:bodyPr wrap="none" anchor="ctr"/>
                <a:lstStyle/>
                <a:p>
                  <a:endParaRPr lang="en-US"/>
                </a:p>
              </p:txBody>
            </p:sp>
            <p:sp>
              <p:nvSpPr>
                <p:cNvPr id="40314" name="Line 702"/>
                <p:cNvSpPr>
                  <a:spLocks noChangeShapeType="1"/>
                </p:cNvSpPr>
                <p:nvPr/>
              </p:nvSpPr>
              <p:spPr bwMode="auto">
                <a:xfrm flipH="1" flipV="1">
                  <a:off x="3420" y="1504"/>
                  <a:ext cx="594" cy="1184"/>
                </a:xfrm>
                <a:prstGeom prst="line">
                  <a:avLst/>
                </a:prstGeom>
                <a:noFill/>
                <a:ln w="50800">
                  <a:solidFill>
                    <a:schemeClr val="folHlink"/>
                  </a:solidFill>
                  <a:round/>
                  <a:headEnd/>
                  <a:tailEnd/>
                </a:ln>
              </p:spPr>
              <p:txBody>
                <a:bodyPr wrap="none" anchor="ctr"/>
                <a:lstStyle/>
                <a:p>
                  <a:endParaRPr lang="en-US"/>
                </a:p>
              </p:txBody>
            </p:sp>
          </p:grpSp>
          <p:sp>
            <p:nvSpPr>
              <p:cNvPr id="40309" name="Line 703"/>
              <p:cNvSpPr>
                <a:spLocks noChangeShapeType="1"/>
              </p:cNvSpPr>
              <p:nvPr/>
            </p:nvSpPr>
            <p:spPr bwMode="auto">
              <a:xfrm>
                <a:off x="3211" y="3128"/>
                <a:ext cx="166" cy="369"/>
              </a:xfrm>
              <a:prstGeom prst="line">
                <a:avLst/>
              </a:prstGeom>
              <a:noFill/>
              <a:ln w="50800">
                <a:solidFill>
                  <a:schemeClr val="folHlink"/>
                </a:solidFill>
                <a:round/>
                <a:headEnd/>
                <a:tailEnd/>
              </a:ln>
            </p:spPr>
            <p:txBody>
              <a:bodyPr wrap="none" anchor="ctr"/>
              <a:lstStyle/>
              <a:p>
                <a:endParaRPr lang="en-US"/>
              </a:p>
            </p:txBody>
          </p:sp>
          <p:sp>
            <p:nvSpPr>
              <p:cNvPr id="40310" name="Line 704"/>
              <p:cNvSpPr>
                <a:spLocks noChangeShapeType="1"/>
              </p:cNvSpPr>
              <p:nvPr/>
            </p:nvSpPr>
            <p:spPr bwMode="auto">
              <a:xfrm flipV="1">
                <a:off x="2352" y="2320"/>
                <a:ext cx="0" cy="933"/>
              </a:xfrm>
              <a:prstGeom prst="line">
                <a:avLst/>
              </a:prstGeom>
              <a:noFill/>
              <a:ln w="50800">
                <a:solidFill>
                  <a:schemeClr val="tx1"/>
                </a:solidFill>
                <a:round/>
                <a:headEnd/>
                <a:tailEnd type="triangle" w="med" len="med"/>
              </a:ln>
            </p:spPr>
            <p:txBody>
              <a:bodyPr wrap="none" anchor="ctr"/>
              <a:lstStyle/>
              <a:p>
                <a:endParaRPr lang="en-US"/>
              </a:p>
            </p:txBody>
          </p:sp>
        </p:grpSp>
        <p:sp>
          <p:nvSpPr>
            <p:cNvPr id="40206" name="Oval 707"/>
            <p:cNvSpPr>
              <a:spLocks noChangeArrowheads="1"/>
            </p:cNvSpPr>
            <p:nvPr/>
          </p:nvSpPr>
          <p:spPr bwMode="auto">
            <a:xfrm>
              <a:off x="3987" y="2329"/>
              <a:ext cx="53" cy="23"/>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07" name="Oval 708"/>
            <p:cNvSpPr>
              <a:spLocks noChangeArrowheads="1"/>
            </p:cNvSpPr>
            <p:nvPr/>
          </p:nvSpPr>
          <p:spPr bwMode="auto">
            <a:xfrm>
              <a:off x="3962" y="2345"/>
              <a:ext cx="53"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08" name="Oval 709"/>
            <p:cNvSpPr>
              <a:spLocks noChangeArrowheads="1"/>
            </p:cNvSpPr>
            <p:nvPr/>
          </p:nvSpPr>
          <p:spPr bwMode="auto">
            <a:xfrm>
              <a:off x="3963" y="2374"/>
              <a:ext cx="54"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09" name="Oval 710"/>
            <p:cNvSpPr>
              <a:spLocks noChangeArrowheads="1"/>
            </p:cNvSpPr>
            <p:nvPr/>
          </p:nvSpPr>
          <p:spPr bwMode="auto">
            <a:xfrm rot="6360000">
              <a:off x="3962" y="2391"/>
              <a:ext cx="55"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10" name="Oval 711"/>
            <p:cNvSpPr>
              <a:spLocks noChangeArrowheads="1"/>
            </p:cNvSpPr>
            <p:nvPr/>
          </p:nvSpPr>
          <p:spPr bwMode="auto">
            <a:xfrm>
              <a:off x="3982" y="2421"/>
              <a:ext cx="53"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11" name="Oval 712"/>
            <p:cNvSpPr>
              <a:spLocks noChangeArrowheads="1"/>
            </p:cNvSpPr>
            <p:nvPr/>
          </p:nvSpPr>
          <p:spPr bwMode="auto">
            <a:xfrm rot="-4800000">
              <a:off x="3950" y="2335"/>
              <a:ext cx="53"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12" name="Oval 713"/>
            <p:cNvSpPr>
              <a:spLocks noChangeArrowheads="1"/>
            </p:cNvSpPr>
            <p:nvPr/>
          </p:nvSpPr>
          <p:spPr bwMode="auto">
            <a:xfrm>
              <a:off x="4056" y="2449"/>
              <a:ext cx="53" cy="25"/>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13" name="Oval 714"/>
            <p:cNvSpPr>
              <a:spLocks noChangeArrowheads="1"/>
            </p:cNvSpPr>
            <p:nvPr/>
          </p:nvSpPr>
          <p:spPr bwMode="auto">
            <a:xfrm>
              <a:off x="4040" y="2419"/>
              <a:ext cx="54"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14" name="Oval 715"/>
            <p:cNvSpPr>
              <a:spLocks noChangeArrowheads="1"/>
            </p:cNvSpPr>
            <p:nvPr/>
          </p:nvSpPr>
          <p:spPr bwMode="auto">
            <a:xfrm>
              <a:off x="4040" y="2390"/>
              <a:ext cx="54"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15" name="Oval 716"/>
            <p:cNvSpPr>
              <a:spLocks noChangeArrowheads="1"/>
            </p:cNvSpPr>
            <p:nvPr/>
          </p:nvSpPr>
          <p:spPr bwMode="auto">
            <a:xfrm>
              <a:off x="4102" y="2449"/>
              <a:ext cx="54" cy="25"/>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16" name="Oval 717"/>
            <p:cNvSpPr>
              <a:spLocks noChangeArrowheads="1"/>
            </p:cNvSpPr>
            <p:nvPr/>
          </p:nvSpPr>
          <p:spPr bwMode="auto">
            <a:xfrm>
              <a:off x="4098" y="2427"/>
              <a:ext cx="53"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17" name="Oval 718"/>
            <p:cNvSpPr>
              <a:spLocks noChangeArrowheads="1"/>
            </p:cNvSpPr>
            <p:nvPr/>
          </p:nvSpPr>
          <p:spPr bwMode="auto">
            <a:xfrm>
              <a:off x="4091" y="2403"/>
              <a:ext cx="53" cy="23"/>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18" name="Oval 719"/>
            <p:cNvSpPr>
              <a:spLocks noChangeArrowheads="1"/>
            </p:cNvSpPr>
            <p:nvPr/>
          </p:nvSpPr>
          <p:spPr bwMode="auto">
            <a:xfrm>
              <a:off x="4037" y="2370"/>
              <a:ext cx="54"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19" name="Oval 720"/>
            <p:cNvSpPr>
              <a:spLocks noChangeArrowheads="1"/>
            </p:cNvSpPr>
            <p:nvPr/>
          </p:nvSpPr>
          <p:spPr bwMode="auto">
            <a:xfrm>
              <a:off x="4091" y="2375"/>
              <a:ext cx="53" cy="25"/>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20" name="Oval 721"/>
            <p:cNvSpPr>
              <a:spLocks noChangeArrowheads="1"/>
            </p:cNvSpPr>
            <p:nvPr/>
          </p:nvSpPr>
          <p:spPr bwMode="auto">
            <a:xfrm>
              <a:off x="4150" y="2458"/>
              <a:ext cx="55"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21" name="Oval 722"/>
            <p:cNvSpPr>
              <a:spLocks noChangeArrowheads="1"/>
            </p:cNvSpPr>
            <p:nvPr/>
          </p:nvSpPr>
          <p:spPr bwMode="auto">
            <a:xfrm>
              <a:off x="4451" y="2289"/>
              <a:ext cx="53" cy="25"/>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22" name="Oval 723"/>
            <p:cNvSpPr>
              <a:spLocks noChangeArrowheads="1"/>
            </p:cNvSpPr>
            <p:nvPr/>
          </p:nvSpPr>
          <p:spPr bwMode="auto">
            <a:xfrm>
              <a:off x="4414" y="2312"/>
              <a:ext cx="53"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23" name="Oval 724"/>
            <p:cNvSpPr>
              <a:spLocks noChangeArrowheads="1"/>
            </p:cNvSpPr>
            <p:nvPr/>
          </p:nvSpPr>
          <p:spPr bwMode="auto">
            <a:xfrm>
              <a:off x="4461" y="2316"/>
              <a:ext cx="52"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24" name="Oval 725"/>
            <p:cNvSpPr>
              <a:spLocks noChangeArrowheads="1"/>
            </p:cNvSpPr>
            <p:nvPr/>
          </p:nvSpPr>
          <p:spPr bwMode="auto">
            <a:xfrm>
              <a:off x="4379" y="2339"/>
              <a:ext cx="54"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25" name="Oval 726"/>
            <p:cNvSpPr>
              <a:spLocks noChangeArrowheads="1"/>
            </p:cNvSpPr>
            <p:nvPr/>
          </p:nvSpPr>
          <p:spPr bwMode="auto">
            <a:xfrm>
              <a:off x="4425" y="2339"/>
              <a:ext cx="54"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26" name="Oval 727"/>
            <p:cNvSpPr>
              <a:spLocks noChangeArrowheads="1"/>
            </p:cNvSpPr>
            <p:nvPr/>
          </p:nvSpPr>
          <p:spPr bwMode="auto">
            <a:xfrm>
              <a:off x="4482" y="2342"/>
              <a:ext cx="28" cy="47"/>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27" name="Oval 728"/>
            <p:cNvSpPr>
              <a:spLocks noChangeArrowheads="1"/>
            </p:cNvSpPr>
            <p:nvPr/>
          </p:nvSpPr>
          <p:spPr bwMode="auto">
            <a:xfrm>
              <a:off x="4451" y="2394"/>
              <a:ext cx="53"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28" name="Oval 729"/>
            <p:cNvSpPr>
              <a:spLocks noChangeArrowheads="1"/>
            </p:cNvSpPr>
            <p:nvPr/>
          </p:nvSpPr>
          <p:spPr bwMode="auto">
            <a:xfrm>
              <a:off x="4448" y="2421"/>
              <a:ext cx="54"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29" name="Oval 730"/>
            <p:cNvSpPr>
              <a:spLocks noChangeArrowheads="1"/>
            </p:cNvSpPr>
            <p:nvPr/>
          </p:nvSpPr>
          <p:spPr bwMode="auto">
            <a:xfrm>
              <a:off x="4425" y="2367"/>
              <a:ext cx="54" cy="25"/>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30" name="Oval 731"/>
            <p:cNvSpPr>
              <a:spLocks noChangeArrowheads="1"/>
            </p:cNvSpPr>
            <p:nvPr/>
          </p:nvSpPr>
          <p:spPr bwMode="auto">
            <a:xfrm>
              <a:off x="4405" y="2441"/>
              <a:ext cx="53" cy="25"/>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31" name="Oval 732"/>
            <p:cNvSpPr>
              <a:spLocks noChangeArrowheads="1"/>
            </p:cNvSpPr>
            <p:nvPr/>
          </p:nvSpPr>
          <p:spPr bwMode="auto">
            <a:xfrm>
              <a:off x="4406" y="2417"/>
              <a:ext cx="55"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32" name="Oval 733"/>
            <p:cNvSpPr>
              <a:spLocks noChangeArrowheads="1"/>
            </p:cNvSpPr>
            <p:nvPr/>
          </p:nvSpPr>
          <p:spPr bwMode="auto">
            <a:xfrm>
              <a:off x="4402" y="2394"/>
              <a:ext cx="54"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33" name="Oval 734"/>
            <p:cNvSpPr>
              <a:spLocks noChangeArrowheads="1"/>
            </p:cNvSpPr>
            <p:nvPr/>
          </p:nvSpPr>
          <p:spPr bwMode="auto">
            <a:xfrm>
              <a:off x="4382" y="2366"/>
              <a:ext cx="53" cy="23"/>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34" name="Oval 735"/>
            <p:cNvSpPr>
              <a:spLocks noChangeArrowheads="1"/>
            </p:cNvSpPr>
            <p:nvPr/>
          </p:nvSpPr>
          <p:spPr bwMode="auto">
            <a:xfrm>
              <a:off x="4372" y="2452"/>
              <a:ext cx="54"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35" name="Oval 736"/>
            <p:cNvSpPr>
              <a:spLocks noChangeArrowheads="1"/>
            </p:cNvSpPr>
            <p:nvPr/>
          </p:nvSpPr>
          <p:spPr bwMode="auto">
            <a:xfrm>
              <a:off x="4037" y="2330"/>
              <a:ext cx="54" cy="25"/>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36" name="Oval 737"/>
            <p:cNvSpPr>
              <a:spLocks noChangeArrowheads="1"/>
            </p:cNvSpPr>
            <p:nvPr/>
          </p:nvSpPr>
          <p:spPr bwMode="auto">
            <a:xfrm>
              <a:off x="4074" y="2351"/>
              <a:ext cx="54"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37" name="Oval 738"/>
            <p:cNvSpPr>
              <a:spLocks noChangeArrowheads="1"/>
            </p:cNvSpPr>
            <p:nvPr/>
          </p:nvSpPr>
          <p:spPr bwMode="auto">
            <a:xfrm>
              <a:off x="4010" y="2304"/>
              <a:ext cx="53"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38" name="Oval 739"/>
            <p:cNvSpPr>
              <a:spLocks noChangeArrowheads="1"/>
            </p:cNvSpPr>
            <p:nvPr/>
          </p:nvSpPr>
          <p:spPr bwMode="auto">
            <a:xfrm>
              <a:off x="3959" y="2283"/>
              <a:ext cx="53"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39" name="Oval 740"/>
            <p:cNvSpPr>
              <a:spLocks noChangeArrowheads="1"/>
            </p:cNvSpPr>
            <p:nvPr/>
          </p:nvSpPr>
          <p:spPr bwMode="auto">
            <a:xfrm>
              <a:off x="4144" y="2388"/>
              <a:ext cx="53"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40" name="Oval 741"/>
            <p:cNvSpPr>
              <a:spLocks noChangeArrowheads="1"/>
            </p:cNvSpPr>
            <p:nvPr/>
          </p:nvSpPr>
          <p:spPr bwMode="auto">
            <a:xfrm>
              <a:off x="4148" y="2412"/>
              <a:ext cx="54" cy="25"/>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41" name="Oval 742"/>
            <p:cNvSpPr>
              <a:spLocks noChangeArrowheads="1"/>
            </p:cNvSpPr>
            <p:nvPr/>
          </p:nvSpPr>
          <p:spPr bwMode="auto">
            <a:xfrm>
              <a:off x="4146" y="2435"/>
              <a:ext cx="54"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42" name="Oval 743"/>
            <p:cNvSpPr>
              <a:spLocks noChangeArrowheads="1"/>
            </p:cNvSpPr>
            <p:nvPr/>
          </p:nvSpPr>
          <p:spPr bwMode="auto">
            <a:xfrm>
              <a:off x="4350" y="2390"/>
              <a:ext cx="52"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43" name="Oval 744"/>
            <p:cNvSpPr>
              <a:spLocks noChangeArrowheads="1"/>
            </p:cNvSpPr>
            <p:nvPr/>
          </p:nvSpPr>
          <p:spPr bwMode="auto">
            <a:xfrm>
              <a:off x="4356" y="2431"/>
              <a:ext cx="54"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44" name="Oval 745"/>
            <p:cNvSpPr>
              <a:spLocks noChangeArrowheads="1"/>
            </p:cNvSpPr>
            <p:nvPr/>
          </p:nvSpPr>
          <p:spPr bwMode="auto">
            <a:xfrm>
              <a:off x="4324" y="2454"/>
              <a:ext cx="54"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45" name="Oval 746"/>
            <p:cNvSpPr>
              <a:spLocks noChangeArrowheads="1"/>
            </p:cNvSpPr>
            <p:nvPr/>
          </p:nvSpPr>
          <p:spPr bwMode="auto">
            <a:xfrm>
              <a:off x="4130" y="2359"/>
              <a:ext cx="53" cy="25"/>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46" name="Oval 747"/>
            <p:cNvSpPr>
              <a:spLocks noChangeArrowheads="1"/>
            </p:cNvSpPr>
            <p:nvPr/>
          </p:nvSpPr>
          <p:spPr bwMode="auto">
            <a:xfrm>
              <a:off x="4276" y="2449"/>
              <a:ext cx="52"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47" name="Oval 748"/>
            <p:cNvSpPr>
              <a:spLocks noChangeArrowheads="1"/>
            </p:cNvSpPr>
            <p:nvPr/>
          </p:nvSpPr>
          <p:spPr bwMode="auto">
            <a:xfrm>
              <a:off x="4183" y="2444"/>
              <a:ext cx="54" cy="25"/>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48" name="Oval 749"/>
            <p:cNvSpPr>
              <a:spLocks noChangeArrowheads="1"/>
            </p:cNvSpPr>
            <p:nvPr/>
          </p:nvSpPr>
          <p:spPr bwMode="auto">
            <a:xfrm>
              <a:off x="4431" y="2453"/>
              <a:ext cx="53"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49" name="Oval 750"/>
            <p:cNvSpPr>
              <a:spLocks noChangeArrowheads="1"/>
            </p:cNvSpPr>
            <p:nvPr/>
          </p:nvSpPr>
          <p:spPr bwMode="auto">
            <a:xfrm>
              <a:off x="4266" y="2440"/>
              <a:ext cx="53" cy="23"/>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50" name="Oval 751"/>
            <p:cNvSpPr>
              <a:spLocks noChangeArrowheads="1"/>
            </p:cNvSpPr>
            <p:nvPr/>
          </p:nvSpPr>
          <p:spPr bwMode="auto">
            <a:xfrm>
              <a:off x="4197" y="2427"/>
              <a:ext cx="54"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51" name="Oval 752"/>
            <p:cNvSpPr>
              <a:spLocks noChangeArrowheads="1"/>
            </p:cNvSpPr>
            <p:nvPr/>
          </p:nvSpPr>
          <p:spPr bwMode="auto">
            <a:xfrm>
              <a:off x="4246" y="2419"/>
              <a:ext cx="53"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52" name="Oval 753"/>
            <p:cNvSpPr>
              <a:spLocks noChangeArrowheads="1"/>
            </p:cNvSpPr>
            <p:nvPr/>
          </p:nvSpPr>
          <p:spPr bwMode="auto">
            <a:xfrm>
              <a:off x="4308" y="2429"/>
              <a:ext cx="53" cy="25"/>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53" name="Oval 754"/>
            <p:cNvSpPr>
              <a:spLocks noChangeArrowheads="1"/>
            </p:cNvSpPr>
            <p:nvPr/>
          </p:nvSpPr>
          <p:spPr bwMode="auto">
            <a:xfrm>
              <a:off x="4298" y="2404"/>
              <a:ext cx="54" cy="25"/>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54" name="Oval 755"/>
            <p:cNvSpPr>
              <a:spLocks noChangeArrowheads="1"/>
            </p:cNvSpPr>
            <p:nvPr/>
          </p:nvSpPr>
          <p:spPr bwMode="auto">
            <a:xfrm>
              <a:off x="4200" y="2403"/>
              <a:ext cx="52" cy="23"/>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55" name="Oval 756"/>
            <p:cNvSpPr>
              <a:spLocks noChangeArrowheads="1"/>
            </p:cNvSpPr>
            <p:nvPr/>
          </p:nvSpPr>
          <p:spPr bwMode="auto">
            <a:xfrm>
              <a:off x="4005" y="2463"/>
              <a:ext cx="53" cy="25"/>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56" name="Oval 757"/>
            <p:cNvSpPr>
              <a:spLocks noChangeArrowheads="1"/>
            </p:cNvSpPr>
            <p:nvPr/>
          </p:nvSpPr>
          <p:spPr bwMode="auto">
            <a:xfrm>
              <a:off x="4250" y="2394"/>
              <a:ext cx="54"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57" name="Oval 758"/>
            <p:cNvSpPr>
              <a:spLocks noChangeArrowheads="1"/>
            </p:cNvSpPr>
            <p:nvPr/>
          </p:nvSpPr>
          <p:spPr bwMode="auto">
            <a:xfrm>
              <a:off x="4104" y="2333"/>
              <a:ext cx="55"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58" name="Oval 759"/>
            <p:cNvSpPr>
              <a:spLocks noChangeArrowheads="1"/>
            </p:cNvSpPr>
            <p:nvPr/>
          </p:nvSpPr>
          <p:spPr bwMode="auto">
            <a:xfrm>
              <a:off x="4067" y="2308"/>
              <a:ext cx="55"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59" name="Oval 760"/>
            <p:cNvSpPr>
              <a:spLocks noChangeArrowheads="1"/>
            </p:cNvSpPr>
            <p:nvPr/>
          </p:nvSpPr>
          <p:spPr bwMode="auto">
            <a:xfrm>
              <a:off x="4181" y="2351"/>
              <a:ext cx="53"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60" name="Oval 761"/>
            <p:cNvSpPr>
              <a:spLocks noChangeArrowheads="1"/>
            </p:cNvSpPr>
            <p:nvPr/>
          </p:nvSpPr>
          <p:spPr bwMode="auto">
            <a:xfrm>
              <a:off x="4239" y="2370"/>
              <a:ext cx="53"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61" name="Oval 762"/>
            <p:cNvSpPr>
              <a:spLocks noChangeArrowheads="1"/>
            </p:cNvSpPr>
            <p:nvPr/>
          </p:nvSpPr>
          <p:spPr bwMode="auto">
            <a:xfrm>
              <a:off x="4283" y="2378"/>
              <a:ext cx="53"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62" name="Oval 763"/>
            <p:cNvSpPr>
              <a:spLocks noChangeArrowheads="1"/>
            </p:cNvSpPr>
            <p:nvPr/>
          </p:nvSpPr>
          <p:spPr bwMode="auto">
            <a:xfrm>
              <a:off x="4328" y="2362"/>
              <a:ext cx="54" cy="23"/>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63" name="Oval 764"/>
            <p:cNvSpPr>
              <a:spLocks noChangeArrowheads="1"/>
            </p:cNvSpPr>
            <p:nvPr/>
          </p:nvSpPr>
          <p:spPr bwMode="auto">
            <a:xfrm>
              <a:off x="4322" y="2334"/>
              <a:ext cx="53" cy="25"/>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64" name="Oval 765"/>
            <p:cNvSpPr>
              <a:spLocks noChangeArrowheads="1"/>
            </p:cNvSpPr>
            <p:nvPr/>
          </p:nvSpPr>
          <p:spPr bwMode="auto">
            <a:xfrm>
              <a:off x="4278" y="2347"/>
              <a:ext cx="53"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65" name="Oval 766"/>
            <p:cNvSpPr>
              <a:spLocks noChangeArrowheads="1"/>
            </p:cNvSpPr>
            <p:nvPr/>
          </p:nvSpPr>
          <p:spPr bwMode="auto">
            <a:xfrm>
              <a:off x="4360" y="2312"/>
              <a:ext cx="55"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66" name="Oval 767"/>
            <p:cNvSpPr>
              <a:spLocks noChangeArrowheads="1"/>
            </p:cNvSpPr>
            <p:nvPr/>
          </p:nvSpPr>
          <p:spPr bwMode="auto">
            <a:xfrm>
              <a:off x="4158" y="2326"/>
              <a:ext cx="53" cy="25"/>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67" name="Oval 768"/>
            <p:cNvSpPr>
              <a:spLocks noChangeArrowheads="1"/>
            </p:cNvSpPr>
            <p:nvPr/>
          </p:nvSpPr>
          <p:spPr bwMode="auto">
            <a:xfrm>
              <a:off x="4209" y="2326"/>
              <a:ext cx="53" cy="25"/>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68" name="Oval 769"/>
            <p:cNvSpPr>
              <a:spLocks noChangeArrowheads="1"/>
            </p:cNvSpPr>
            <p:nvPr/>
          </p:nvSpPr>
          <p:spPr bwMode="auto">
            <a:xfrm>
              <a:off x="4266" y="2326"/>
              <a:ext cx="53" cy="25"/>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69" name="Oval 770"/>
            <p:cNvSpPr>
              <a:spLocks noChangeArrowheads="1"/>
            </p:cNvSpPr>
            <p:nvPr/>
          </p:nvSpPr>
          <p:spPr bwMode="auto">
            <a:xfrm>
              <a:off x="4310" y="2308"/>
              <a:ext cx="53"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70" name="Oval 771"/>
            <p:cNvSpPr>
              <a:spLocks noChangeArrowheads="1"/>
            </p:cNvSpPr>
            <p:nvPr/>
          </p:nvSpPr>
          <p:spPr bwMode="auto">
            <a:xfrm>
              <a:off x="4126" y="2306"/>
              <a:ext cx="52"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71" name="Oval 772"/>
            <p:cNvSpPr>
              <a:spLocks noChangeArrowheads="1"/>
            </p:cNvSpPr>
            <p:nvPr/>
          </p:nvSpPr>
          <p:spPr bwMode="auto">
            <a:xfrm>
              <a:off x="4183" y="2302"/>
              <a:ext cx="54"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72" name="Oval 773"/>
            <p:cNvSpPr>
              <a:spLocks noChangeArrowheads="1"/>
            </p:cNvSpPr>
            <p:nvPr/>
          </p:nvSpPr>
          <p:spPr bwMode="auto">
            <a:xfrm>
              <a:off x="4241" y="2304"/>
              <a:ext cx="53"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73" name="Oval 774"/>
            <p:cNvSpPr>
              <a:spLocks noChangeArrowheads="1"/>
            </p:cNvSpPr>
            <p:nvPr/>
          </p:nvSpPr>
          <p:spPr bwMode="auto">
            <a:xfrm>
              <a:off x="4283" y="2288"/>
              <a:ext cx="53" cy="23"/>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74" name="Oval 775"/>
            <p:cNvSpPr>
              <a:spLocks noChangeArrowheads="1"/>
            </p:cNvSpPr>
            <p:nvPr/>
          </p:nvSpPr>
          <p:spPr bwMode="auto">
            <a:xfrm>
              <a:off x="4335" y="2281"/>
              <a:ext cx="54" cy="25"/>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75" name="Oval 776"/>
            <p:cNvSpPr>
              <a:spLocks noChangeArrowheads="1"/>
            </p:cNvSpPr>
            <p:nvPr/>
          </p:nvSpPr>
          <p:spPr bwMode="auto">
            <a:xfrm>
              <a:off x="4391" y="2281"/>
              <a:ext cx="53" cy="25"/>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76" name="Oval 777"/>
            <p:cNvSpPr>
              <a:spLocks noChangeArrowheads="1"/>
            </p:cNvSpPr>
            <p:nvPr/>
          </p:nvSpPr>
          <p:spPr bwMode="auto">
            <a:xfrm>
              <a:off x="4218" y="2279"/>
              <a:ext cx="53"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77" name="Oval 778"/>
            <p:cNvSpPr>
              <a:spLocks noChangeArrowheads="1"/>
            </p:cNvSpPr>
            <p:nvPr/>
          </p:nvSpPr>
          <p:spPr bwMode="auto">
            <a:xfrm>
              <a:off x="4167" y="2277"/>
              <a:ext cx="53" cy="25"/>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78" name="Oval 779"/>
            <p:cNvSpPr>
              <a:spLocks noChangeArrowheads="1"/>
            </p:cNvSpPr>
            <p:nvPr/>
          </p:nvSpPr>
          <p:spPr bwMode="auto">
            <a:xfrm>
              <a:off x="4118" y="2281"/>
              <a:ext cx="54" cy="25"/>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79" name="Oval 780"/>
            <p:cNvSpPr>
              <a:spLocks noChangeArrowheads="1"/>
            </p:cNvSpPr>
            <p:nvPr/>
          </p:nvSpPr>
          <p:spPr bwMode="auto">
            <a:xfrm>
              <a:off x="4065" y="2283"/>
              <a:ext cx="54"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80" name="Oval 781"/>
            <p:cNvSpPr>
              <a:spLocks noChangeArrowheads="1"/>
            </p:cNvSpPr>
            <p:nvPr/>
          </p:nvSpPr>
          <p:spPr bwMode="auto">
            <a:xfrm>
              <a:off x="4012" y="2277"/>
              <a:ext cx="54" cy="25"/>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81" name="Oval 782"/>
            <p:cNvSpPr>
              <a:spLocks noChangeArrowheads="1"/>
            </p:cNvSpPr>
            <p:nvPr/>
          </p:nvSpPr>
          <p:spPr bwMode="auto">
            <a:xfrm>
              <a:off x="3962" y="2261"/>
              <a:ext cx="53"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82" name="Oval 783"/>
            <p:cNvSpPr>
              <a:spLocks noChangeArrowheads="1"/>
            </p:cNvSpPr>
            <p:nvPr/>
          </p:nvSpPr>
          <p:spPr bwMode="auto">
            <a:xfrm>
              <a:off x="4154" y="2362"/>
              <a:ext cx="53"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83" name="Oval 784"/>
            <p:cNvSpPr>
              <a:spLocks noChangeArrowheads="1"/>
            </p:cNvSpPr>
            <p:nvPr/>
          </p:nvSpPr>
          <p:spPr bwMode="auto">
            <a:xfrm>
              <a:off x="4242" y="2441"/>
              <a:ext cx="54"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84" name="Oval 785"/>
            <p:cNvSpPr>
              <a:spLocks noChangeArrowheads="1"/>
            </p:cNvSpPr>
            <p:nvPr/>
          </p:nvSpPr>
          <p:spPr bwMode="auto">
            <a:xfrm>
              <a:off x="4196" y="2389"/>
              <a:ext cx="54" cy="23"/>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85" name="Oval 786"/>
            <p:cNvSpPr>
              <a:spLocks noChangeArrowheads="1"/>
            </p:cNvSpPr>
            <p:nvPr/>
          </p:nvSpPr>
          <p:spPr bwMode="auto">
            <a:xfrm>
              <a:off x="4504" y="2312"/>
              <a:ext cx="54"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86" name="Oval 787"/>
            <p:cNvSpPr>
              <a:spLocks noChangeArrowheads="1"/>
            </p:cNvSpPr>
            <p:nvPr/>
          </p:nvSpPr>
          <p:spPr bwMode="auto">
            <a:xfrm>
              <a:off x="3926" y="2323"/>
              <a:ext cx="54"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87" name="Oval 788"/>
            <p:cNvSpPr>
              <a:spLocks noChangeArrowheads="1"/>
            </p:cNvSpPr>
            <p:nvPr/>
          </p:nvSpPr>
          <p:spPr bwMode="auto">
            <a:xfrm>
              <a:off x="3901" y="2268"/>
              <a:ext cx="53"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88" name="Oval 789"/>
            <p:cNvSpPr>
              <a:spLocks noChangeArrowheads="1"/>
            </p:cNvSpPr>
            <p:nvPr/>
          </p:nvSpPr>
          <p:spPr bwMode="auto">
            <a:xfrm>
              <a:off x="4504" y="2290"/>
              <a:ext cx="54"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89" name="Oval 790"/>
            <p:cNvSpPr>
              <a:spLocks noChangeArrowheads="1"/>
            </p:cNvSpPr>
            <p:nvPr/>
          </p:nvSpPr>
          <p:spPr bwMode="auto">
            <a:xfrm>
              <a:off x="3966" y="2389"/>
              <a:ext cx="55" cy="23"/>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90" name="Oval 791"/>
            <p:cNvSpPr>
              <a:spLocks noChangeArrowheads="1"/>
            </p:cNvSpPr>
            <p:nvPr/>
          </p:nvSpPr>
          <p:spPr bwMode="auto">
            <a:xfrm>
              <a:off x="4001" y="2398"/>
              <a:ext cx="54" cy="23"/>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91" name="Oval 792"/>
            <p:cNvSpPr>
              <a:spLocks noChangeArrowheads="1"/>
            </p:cNvSpPr>
            <p:nvPr/>
          </p:nvSpPr>
          <p:spPr bwMode="auto">
            <a:xfrm>
              <a:off x="4006" y="2366"/>
              <a:ext cx="53"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92" name="Oval 793"/>
            <p:cNvSpPr>
              <a:spLocks noChangeArrowheads="1"/>
            </p:cNvSpPr>
            <p:nvPr/>
          </p:nvSpPr>
          <p:spPr bwMode="auto">
            <a:xfrm>
              <a:off x="3957" y="2305"/>
              <a:ext cx="54"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93" name="Oval 794"/>
            <p:cNvSpPr>
              <a:spLocks noChangeArrowheads="1"/>
            </p:cNvSpPr>
            <p:nvPr/>
          </p:nvSpPr>
          <p:spPr bwMode="auto">
            <a:xfrm>
              <a:off x="3913" y="2293"/>
              <a:ext cx="53" cy="23"/>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94" name="Oval 795"/>
            <p:cNvSpPr>
              <a:spLocks noChangeArrowheads="1"/>
            </p:cNvSpPr>
            <p:nvPr/>
          </p:nvSpPr>
          <p:spPr bwMode="auto">
            <a:xfrm>
              <a:off x="3938" y="2353"/>
              <a:ext cx="53"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95" name="Oval 796"/>
            <p:cNvSpPr>
              <a:spLocks noChangeArrowheads="1"/>
            </p:cNvSpPr>
            <p:nvPr/>
          </p:nvSpPr>
          <p:spPr bwMode="auto">
            <a:xfrm>
              <a:off x="4499" y="2332"/>
              <a:ext cx="54"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96" name="Oval 797"/>
            <p:cNvSpPr>
              <a:spLocks noChangeArrowheads="1"/>
            </p:cNvSpPr>
            <p:nvPr/>
          </p:nvSpPr>
          <p:spPr bwMode="auto">
            <a:xfrm>
              <a:off x="4479" y="2354"/>
              <a:ext cx="53"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97" name="Oval 798"/>
            <p:cNvSpPr>
              <a:spLocks noChangeArrowheads="1"/>
            </p:cNvSpPr>
            <p:nvPr/>
          </p:nvSpPr>
          <p:spPr bwMode="auto">
            <a:xfrm>
              <a:off x="4464" y="2380"/>
              <a:ext cx="53" cy="23"/>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98" name="Oval 799"/>
            <p:cNvSpPr>
              <a:spLocks noChangeArrowheads="1"/>
            </p:cNvSpPr>
            <p:nvPr/>
          </p:nvSpPr>
          <p:spPr bwMode="auto">
            <a:xfrm>
              <a:off x="4351" y="2411"/>
              <a:ext cx="54"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299" name="Oval 800"/>
            <p:cNvSpPr>
              <a:spLocks noChangeArrowheads="1"/>
            </p:cNvSpPr>
            <p:nvPr/>
          </p:nvSpPr>
          <p:spPr bwMode="auto">
            <a:xfrm>
              <a:off x="4232" y="2450"/>
              <a:ext cx="54"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300" name="Oval 801"/>
            <p:cNvSpPr>
              <a:spLocks noChangeArrowheads="1"/>
            </p:cNvSpPr>
            <p:nvPr/>
          </p:nvSpPr>
          <p:spPr bwMode="auto">
            <a:xfrm>
              <a:off x="4021" y="2349"/>
              <a:ext cx="53"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301" name="Oval 802"/>
            <p:cNvSpPr>
              <a:spLocks noChangeArrowheads="1"/>
            </p:cNvSpPr>
            <p:nvPr/>
          </p:nvSpPr>
          <p:spPr bwMode="auto">
            <a:xfrm>
              <a:off x="4198" y="2371"/>
              <a:ext cx="53"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302" name="Oval 803"/>
            <p:cNvSpPr>
              <a:spLocks noChangeArrowheads="1"/>
            </p:cNvSpPr>
            <p:nvPr/>
          </p:nvSpPr>
          <p:spPr bwMode="auto">
            <a:xfrm>
              <a:off x="4238" y="2345"/>
              <a:ext cx="53"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sp>
          <p:nvSpPr>
            <p:cNvPr id="40303" name="Oval 804"/>
            <p:cNvSpPr>
              <a:spLocks noChangeArrowheads="1"/>
            </p:cNvSpPr>
            <p:nvPr/>
          </p:nvSpPr>
          <p:spPr bwMode="auto">
            <a:xfrm>
              <a:off x="4001" y="2441"/>
              <a:ext cx="54" cy="24"/>
            </a:xfrm>
            <a:prstGeom prst="ellipse">
              <a:avLst/>
            </a:prstGeom>
            <a:gradFill rotWithShape="0">
              <a:gsLst>
                <a:gs pos="0">
                  <a:srgbClr val="EF9100"/>
                </a:gs>
                <a:gs pos="100000">
                  <a:srgbClr val="774800"/>
                </a:gs>
              </a:gsLst>
              <a:lin ang="0" scaled="1"/>
            </a:gradFill>
            <a:ln w="12700">
              <a:solidFill>
                <a:schemeClr val="bg2"/>
              </a:solidFill>
              <a:round/>
              <a:headEnd/>
              <a:tailEnd/>
            </a:ln>
          </p:spPr>
          <p:txBody>
            <a:bodyPr wrap="none" anchor="ctr"/>
            <a:lstStyle/>
            <a:p>
              <a:endParaRPr lang="en-NZ">
                <a:latin typeface="Calibri"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599849"/>
                                        </p:tgtEl>
                                        <p:attrNameLst>
                                          <p:attrName>style.visibility</p:attrName>
                                        </p:attrNameLst>
                                      </p:cBhvr>
                                      <p:to>
                                        <p:strVal val="visible"/>
                                      </p:to>
                                    </p:set>
                                    <p:animEffect transition="in" filter="wipe(up)">
                                      <p:cBhvr>
                                        <p:cTn id="7" dur="500"/>
                                        <p:tgtEl>
                                          <p:spTgt spid="59984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599848"/>
                                        </p:tgtEl>
                                        <p:attrNameLst>
                                          <p:attrName>style.visibility</p:attrName>
                                        </p:attrNameLst>
                                      </p:cBhvr>
                                      <p:to>
                                        <p:strVal val="visible"/>
                                      </p:to>
                                    </p:set>
                                    <p:animEffect transition="in" filter="wipe(up)">
                                      <p:cBhvr>
                                        <p:cTn id="12" dur="500"/>
                                        <p:tgtEl>
                                          <p:spTgt spid="5998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Title 1"/>
          <p:cNvSpPr>
            <a:spLocks noGrp="1"/>
          </p:cNvSpPr>
          <p:nvPr>
            <p:ph type="ctrTitle"/>
          </p:nvPr>
        </p:nvSpPr>
        <p:spPr>
          <a:xfrm>
            <a:off x="684213" y="549275"/>
            <a:ext cx="7772400" cy="1470025"/>
          </a:xfrm>
        </p:spPr>
        <p:txBody>
          <a:bodyPr/>
          <a:lstStyle/>
          <a:p>
            <a:pPr eaLnBrk="1" hangingPunct="1"/>
            <a:r>
              <a:rPr lang="en-AU" sz="3200" b="1" smtClean="0"/>
              <a:t>SUMMARY</a:t>
            </a:r>
          </a:p>
        </p:txBody>
      </p:sp>
      <p:sp>
        <p:nvSpPr>
          <p:cNvPr id="40962" name="Subtitle 2"/>
          <p:cNvSpPr>
            <a:spLocks noGrp="1"/>
          </p:cNvSpPr>
          <p:nvPr>
            <p:ph type="subTitle" idx="1"/>
          </p:nvPr>
        </p:nvSpPr>
        <p:spPr>
          <a:xfrm>
            <a:off x="395288" y="1628775"/>
            <a:ext cx="8353425" cy="3887788"/>
          </a:xfrm>
        </p:spPr>
        <p:txBody>
          <a:bodyPr/>
          <a:lstStyle/>
          <a:p>
            <a:pPr algn="l" eaLnBrk="1" hangingPunct="1">
              <a:buFont typeface="Arial" charset="0"/>
              <a:buChar char="•"/>
            </a:pPr>
            <a:r>
              <a:rPr lang="en-AU" sz="2000" smtClean="0">
                <a:solidFill>
                  <a:schemeClr val="tx1"/>
                </a:solidFill>
              </a:rPr>
              <a:t>BALANCING OF DIET IS ESSENTIAL</a:t>
            </a:r>
          </a:p>
          <a:p>
            <a:pPr algn="l" eaLnBrk="1" hangingPunct="1"/>
            <a:endParaRPr lang="en-AU" sz="2000" smtClean="0">
              <a:solidFill>
                <a:schemeClr val="tx1"/>
              </a:solidFill>
            </a:endParaRPr>
          </a:p>
          <a:p>
            <a:pPr algn="l" eaLnBrk="1" hangingPunct="1">
              <a:buFont typeface="Arial" charset="0"/>
              <a:buChar char="•"/>
            </a:pPr>
            <a:r>
              <a:rPr lang="en-AU" sz="2000" smtClean="0">
                <a:solidFill>
                  <a:schemeClr val="tx1"/>
                </a:solidFill>
              </a:rPr>
              <a:t>UNDERSTAND THE NDF AND NFC OF THE DIET</a:t>
            </a:r>
          </a:p>
          <a:p>
            <a:pPr algn="l" eaLnBrk="1" hangingPunct="1"/>
            <a:endParaRPr lang="en-AU" sz="2000" smtClean="0">
              <a:solidFill>
                <a:schemeClr val="tx1"/>
              </a:solidFill>
            </a:endParaRPr>
          </a:p>
          <a:p>
            <a:pPr algn="l" eaLnBrk="1" hangingPunct="1">
              <a:buFont typeface="Arial" charset="0"/>
              <a:buChar char="•"/>
            </a:pPr>
            <a:r>
              <a:rPr lang="en-AU" sz="2000" smtClean="0">
                <a:solidFill>
                  <a:schemeClr val="tx1"/>
                </a:solidFill>
              </a:rPr>
              <a:t>ENERGY CAN BE UTILIZED DIFFERENTLY</a:t>
            </a:r>
          </a:p>
          <a:p>
            <a:pPr algn="l" eaLnBrk="1" hangingPunct="1"/>
            <a:endParaRPr lang="en-AU" sz="2000" smtClean="0">
              <a:solidFill>
                <a:schemeClr val="tx1"/>
              </a:solidFill>
            </a:endParaRPr>
          </a:p>
          <a:p>
            <a:pPr algn="l" eaLnBrk="1" hangingPunct="1">
              <a:buFont typeface="Arial" charset="0"/>
              <a:buChar char="•"/>
            </a:pPr>
            <a:r>
              <a:rPr lang="en-AU" sz="2000" smtClean="0">
                <a:solidFill>
                  <a:schemeClr val="tx1"/>
                </a:solidFill>
              </a:rPr>
              <a:t>ENERGY CAN HELP MANAGE MILK COMPONENTS</a:t>
            </a:r>
          </a:p>
          <a:p>
            <a:pPr algn="l" eaLnBrk="1" hangingPunct="1"/>
            <a:endParaRPr lang="en-AU" sz="2000" smtClean="0">
              <a:solidFill>
                <a:schemeClr val="tx1"/>
              </a:solidFill>
            </a:endParaRPr>
          </a:p>
          <a:p>
            <a:pPr algn="l" eaLnBrk="1" hangingPunct="1">
              <a:buFont typeface="Arial" charset="0"/>
              <a:buChar char="•"/>
            </a:pPr>
            <a:r>
              <a:rPr lang="en-AU" sz="2000" smtClean="0">
                <a:solidFill>
                  <a:schemeClr val="tx1"/>
                </a:solidFill>
              </a:rPr>
              <a:t>FORAGE AND CONCENTRATE RATIOS ARE CRUCIAL TO MAXIMIZE       DIGESTION AND EFFICIENCY OF ENERGY UTILIZATION</a:t>
            </a:r>
          </a:p>
          <a:p>
            <a:pPr eaLnBrk="1" hangingPunct="1"/>
            <a:endParaRPr lang="en-AU" sz="2000" smtClean="0">
              <a:solidFill>
                <a:schemeClr val="tx1"/>
              </a:solidFill>
            </a:endParaRPr>
          </a:p>
          <a:p>
            <a:pPr eaLnBrk="1" hangingPunct="1"/>
            <a:endParaRPr lang="en-AU" sz="2800" smtClean="0">
              <a:solidFill>
                <a:schemeClr val="tx1"/>
              </a:solidFill>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1"/>
          <p:cNvSpPr>
            <a:spLocks noGrp="1"/>
          </p:cNvSpPr>
          <p:nvPr>
            <p:ph type="title"/>
          </p:nvPr>
        </p:nvSpPr>
        <p:spPr/>
        <p:txBody>
          <a:bodyPr/>
          <a:lstStyle/>
          <a:p>
            <a:pPr eaLnBrk="1" hangingPunct="1"/>
            <a:r>
              <a:rPr lang="en-AU" sz="3200" b="1" smtClean="0"/>
              <a:t>TAKE HOME MESSAGE ?</a:t>
            </a:r>
          </a:p>
        </p:txBody>
      </p:sp>
      <p:sp>
        <p:nvSpPr>
          <p:cNvPr id="41986" name="Content Placeholder 2"/>
          <p:cNvSpPr>
            <a:spLocks noGrp="1"/>
          </p:cNvSpPr>
          <p:nvPr>
            <p:ph idx="1"/>
          </p:nvPr>
        </p:nvSpPr>
        <p:spPr/>
        <p:txBody>
          <a:bodyPr/>
          <a:lstStyle/>
          <a:p>
            <a:pPr eaLnBrk="1" hangingPunct="1"/>
            <a:endParaRPr lang="en-AU" smtClean="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Title 1"/>
          <p:cNvSpPr>
            <a:spLocks noGrp="1"/>
          </p:cNvSpPr>
          <p:nvPr>
            <p:ph type="title"/>
          </p:nvPr>
        </p:nvSpPr>
        <p:spPr>
          <a:xfrm>
            <a:off x="611188" y="3500438"/>
            <a:ext cx="8229600" cy="1143000"/>
          </a:xfrm>
        </p:spPr>
        <p:txBody>
          <a:bodyPr/>
          <a:lstStyle/>
          <a:p>
            <a:pPr eaLnBrk="1" hangingPunct="1"/>
            <a:r>
              <a:rPr lang="en-AU" smtClean="0"/>
              <a:t>THANK YOU</a:t>
            </a:r>
          </a:p>
        </p:txBody>
      </p:sp>
      <p:sp>
        <p:nvSpPr>
          <p:cNvPr id="43010" name="Content Placeholder 2"/>
          <p:cNvSpPr>
            <a:spLocks noGrp="1"/>
          </p:cNvSpPr>
          <p:nvPr>
            <p:ph idx="1"/>
          </p:nvPr>
        </p:nvSpPr>
        <p:spPr/>
        <p:txBody>
          <a:bodyPr/>
          <a:lstStyle/>
          <a:p>
            <a:pPr eaLnBrk="1" hangingPunct="1"/>
            <a:endParaRPr lang="en-AU" smtClean="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Title 1"/>
          <p:cNvSpPr>
            <a:spLocks noGrp="1"/>
          </p:cNvSpPr>
          <p:nvPr>
            <p:ph type="title"/>
          </p:nvPr>
        </p:nvSpPr>
        <p:spPr/>
        <p:txBody>
          <a:bodyPr/>
          <a:lstStyle/>
          <a:p>
            <a:pPr eaLnBrk="1" hangingPunct="1"/>
            <a:endParaRPr lang="en-AU" smtClean="0"/>
          </a:p>
        </p:txBody>
      </p:sp>
      <p:sp>
        <p:nvSpPr>
          <p:cNvPr id="44034" name="Content Placeholder 2"/>
          <p:cNvSpPr>
            <a:spLocks noGrp="1"/>
          </p:cNvSpPr>
          <p:nvPr>
            <p:ph idx="1"/>
          </p:nvPr>
        </p:nvSpPr>
        <p:spPr/>
        <p:txBody>
          <a:bodyPr/>
          <a:lstStyle/>
          <a:p>
            <a:pPr eaLnBrk="1" hangingPunct="1"/>
            <a:endParaRPr lang="en-AU" smtClean="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Title 1"/>
          <p:cNvSpPr>
            <a:spLocks noGrp="1"/>
          </p:cNvSpPr>
          <p:nvPr>
            <p:ph type="title"/>
          </p:nvPr>
        </p:nvSpPr>
        <p:spPr/>
        <p:txBody>
          <a:bodyPr/>
          <a:lstStyle/>
          <a:p>
            <a:pPr eaLnBrk="1" hangingPunct="1"/>
            <a:endParaRPr lang="en-AU" smtClean="0"/>
          </a:p>
        </p:txBody>
      </p:sp>
      <p:sp>
        <p:nvSpPr>
          <p:cNvPr id="45058" name="Content Placeholder 2"/>
          <p:cNvSpPr>
            <a:spLocks noGrp="1"/>
          </p:cNvSpPr>
          <p:nvPr>
            <p:ph idx="1"/>
          </p:nvPr>
        </p:nvSpPr>
        <p:spPr/>
        <p:txBody>
          <a:bodyPr/>
          <a:lstStyle/>
          <a:p>
            <a:pPr eaLnBrk="1" hangingPunct="1"/>
            <a:endParaRPr lang="en-AU" smtClean="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itle 1"/>
          <p:cNvSpPr>
            <a:spLocks noGrp="1"/>
          </p:cNvSpPr>
          <p:nvPr>
            <p:ph type="title"/>
          </p:nvPr>
        </p:nvSpPr>
        <p:spPr/>
        <p:txBody>
          <a:bodyPr/>
          <a:lstStyle/>
          <a:p>
            <a:pPr eaLnBrk="1" hangingPunct="1"/>
            <a:endParaRPr lang="en-AU" smtClean="0"/>
          </a:p>
        </p:txBody>
      </p:sp>
      <p:sp>
        <p:nvSpPr>
          <p:cNvPr id="46082" name="Content Placeholder 2"/>
          <p:cNvSpPr>
            <a:spLocks noGrp="1"/>
          </p:cNvSpPr>
          <p:nvPr>
            <p:ph idx="1"/>
          </p:nvPr>
        </p:nvSpPr>
        <p:spPr/>
        <p:txBody>
          <a:bodyPr/>
          <a:lstStyle/>
          <a:p>
            <a:pPr eaLnBrk="1" hangingPunct="1"/>
            <a:endParaRPr lang="en-AU" smtClean="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Title 1"/>
          <p:cNvSpPr>
            <a:spLocks noGrp="1"/>
          </p:cNvSpPr>
          <p:nvPr>
            <p:ph type="title"/>
          </p:nvPr>
        </p:nvSpPr>
        <p:spPr/>
        <p:txBody>
          <a:bodyPr/>
          <a:lstStyle/>
          <a:p>
            <a:pPr eaLnBrk="1" hangingPunct="1"/>
            <a:endParaRPr lang="en-AU" smtClean="0"/>
          </a:p>
        </p:txBody>
      </p:sp>
      <p:sp>
        <p:nvSpPr>
          <p:cNvPr id="47106" name="Content Placeholder 2"/>
          <p:cNvSpPr>
            <a:spLocks noGrp="1"/>
          </p:cNvSpPr>
          <p:nvPr>
            <p:ph idx="1"/>
          </p:nvPr>
        </p:nvSpPr>
        <p:spPr/>
        <p:txBody>
          <a:bodyPr/>
          <a:lstStyle/>
          <a:p>
            <a:pPr eaLnBrk="1" hangingPunct="1"/>
            <a:endParaRPr lang="en-AU" smtClean="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itle 1"/>
          <p:cNvSpPr>
            <a:spLocks noGrp="1"/>
          </p:cNvSpPr>
          <p:nvPr>
            <p:ph type="title"/>
          </p:nvPr>
        </p:nvSpPr>
        <p:spPr/>
        <p:txBody>
          <a:bodyPr/>
          <a:lstStyle/>
          <a:p>
            <a:pPr eaLnBrk="1" hangingPunct="1"/>
            <a:endParaRPr lang="en-AU" smtClean="0"/>
          </a:p>
        </p:txBody>
      </p:sp>
      <p:sp>
        <p:nvSpPr>
          <p:cNvPr id="48130" name="Content Placeholder 2"/>
          <p:cNvSpPr>
            <a:spLocks noGrp="1"/>
          </p:cNvSpPr>
          <p:nvPr>
            <p:ph idx="1"/>
          </p:nvPr>
        </p:nvSpPr>
        <p:spPr/>
        <p:txBody>
          <a:bodyPr/>
          <a:lstStyle/>
          <a:p>
            <a:pPr eaLnBrk="1" hangingPunct="1"/>
            <a:endParaRPr lang="en-AU" smtClean="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Title 1"/>
          <p:cNvSpPr>
            <a:spLocks noGrp="1"/>
          </p:cNvSpPr>
          <p:nvPr>
            <p:ph type="title"/>
          </p:nvPr>
        </p:nvSpPr>
        <p:spPr/>
        <p:txBody>
          <a:bodyPr/>
          <a:lstStyle/>
          <a:p>
            <a:pPr eaLnBrk="1" hangingPunct="1"/>
            <a:endParaRPr lang="en-AU" smtClean="0"/>
          </a:p>
        </p:txBody>
      </p:sp>
      <p:sp>
        <p:nvSpPr>
          <p:cNvPr id="49154" name="Content Placeholder 2"/>
          <p:cNvSpPr>
            <a:spLocks noGrp="1"/>
          </p:cNvSpPr>
          <p:nvPr>
            <p:ph idx="1"/>
          </p:nvPr>
        </p:nvSpPr>
        <p:spPr/>
        <p:txBody>
          <a:bodyPr/>
          <a:lstStyle/>
          <a:p>
            <a:pPr eaLnBrk="1" hangingPunct="1"/>
            <a:endParaRPr lang="en-AU" smtClean="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itle 1"/>
          <p:cNvSpPr>
            <a:spLocks noGrp="1"/>
          </p:cNvSpPr>
          <p:nvPr>
            <p:ph type="title"/>
          </p:nvPr>
        </p:nvSpPr>
        <p:spPr/>
        <p:txBody>
          <a:bodyPr/>
          <a:lstStyle/>
          <a:p>
            <a:pPr eaLnBrk="1" hangingPunct="1"/>
            <a:endParaRPr lang="en-AU" smtClean="0"/>
          </a:p>
        </p:txBody>
      </p:sp>
      <p:sp>
        <p:nvSpPr>
          <p:cNvPr id="50178" name="Content Placeholder 2"/>
          <p:cNvSpPr>
            <a:spLocks noGrp="1"/>
          </p:cNvSpPr>
          <p:nvPr>
            <p:ph idx="1"/>
          </p:nvPr>
        </p:nvSpPr>
        <p:spPr/>
        <p:txBody>
          <a:bodyPr/>
          <a:lstStyle/>
          <a:p>
            <a:pPr eaLnBrk="1" hangingPunct="1"/>
            <a:endParaRPr lang="en-AU" smtClean="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Title 1"/>
          <p:cNvSpPr>
            <a:spLocks noGrp="1"/>
          </p:cNvSpPr>
          <p:nvPr>
            <p:ph type="title"/>
          </p:nvPr>
        </p:nvSpPr>
        <p:spPr/>
        <p:txBody>
          <a:bodyPr/>
          <a:lstStyle/>
          <a:p>
            <a:pPr eaLnBrk="1" hangingPunct="1"/>
            <a:endParaRPr lang="en-AU" smtClean="0"/>
          </a:p>
        </p:txBody>
      </p:sp>
      <p:sp>
        <p:nvSpPr>
          <p:cNvPr id="51202" name="Content Placeholder 2"/>
          <p:cNvSpPr>
            <a:spLocks noGrp="1"/>
          </p:cNvSpPr>
          <p:nvPr>
            <p:ph idx="1"/>
          </p:nvPr>
        </p:nvSpPr>
        <p:spPr/>
        <p:txBody>
          <a:bodyPr/>
          <a:lstStyle/>
          <a:p>
            <a:pPr eaLnBrk="1" hangingPunct="1"/>
            <a:endParaRPr lang="en-AU" smtClean="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Title 1"/>
          <p:cNvSpPr>
            <a:spLocks noGrp="1"/>
          </p:cNvSpPr>
          <p:nvPr>
            <p:ph type="title"/>
          </p:nvPr>
        </p:nvSpPr>
        <p:spPr/>
        <p:txBody>
          <a:bodyPr/>
          <a:lstStyle/>
          <a:p>
            <a:pPr eaLnBrk="1" hangingPunct="1"/>
            <a:endParaRPr lang="en-AU" smtClean="0"/>
          </a:p>
        </p:txBody>
      </p:sp>
      <p:sp>
        <p:nvSpPr>
          <p:cNvPr id="52226" name="Content Placeholder 2"/>
          <p:cNvSpPr>
            <a:spLocks noGrp="1"/>
          </p:cNvSpPr>
          <p:nvPr>
            <p:ph idx="1"/>
          </p:nvPr>
        </p:nvSpPr>
        <p:spPr/>
        <p:txBody>
          <a:bodyPr/>
          <a:lstStyle/>
          <a:p>
            <a:pPr eaLnBrk="1" hangingPunct="1"/>
            <a:endParaRPr lang="en-AU" smtClean="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Title 1"/>
          <p:cNvSpPr>
            <a:spLocks noGrp="1"/>
          </p:cNvSpPr>
          <p:nvPr>
            <p:ph type="title"/>
          </p:nvPr>
        </p:nvSpPr>
        <p:spPr/>
        <p:txBody>
          <a:bodyPr/>
          <a:lstStyle/>
          <a:p>
            <a:pPr eaLnBrk="1" hangingPunct="1"/>
            <a:endParaRPr lang="en-AU" smtClean="0"/>
          </a:p>
        </p:txBody>
      </p:sp>
      <p:sp>
        <p:nvSpPr>
          <p:cNvPr id="53250" name="Content Placeholder 2"/>
          <p:cNvSpPr>
            <a:spLocks noGrp="1"/>
          </p:cNvSpPr>
          <p:nvPr>
            <p:ph idx="1"/>
          </p:nvPr>
        </p:nvSpPr>
        <p:spPr/>
        <p:txBody>
          <a:bodyPr/>
          <a:lstStyle/>
          <a:p>
            <a:pPr eaLnBrk="1" hangingPunct="1"/>
            <a:endParaRPr lang="en-AU" smtClean="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Title 1"/>
          <p:cNvSpPr>
            <a:spLocks noGrp="1"/>
          </p:cNvSpPr>
          <p:nvPr>
            <p:ph type="title"/>
          </p:nvPr>
        </p:nvSpPr>
        <p:spPr/>
        <p:txBody>
          <a:bodyPr/>
          <a:lstStyle/>
          <a:p>
            <a:pPr eaLnBrk="1" hangingPunct="1"/>
            <a:endParaRPr lang="en-AU" smtClean="0"/>
          </a:p>
        </p:txBody>
      </p:sp>
      <p:sp>
        <p:nvSpPr>
          <p:cNvPr id="54274" name="Content Placeholder 2"/>
          <p:cNvSpPr>
            <a:spLocks noGrp="1"/>
          </p:cNvSpPr>
          <p:nvPr>
            <p:ph idx="1"/>
          </p:nvPr>
        </p:nvSpPr>
        <p:spPr/>
        <p:txBody>
          <a:bodyPr/>
          <a:lstStyle/>
          <a:p>
            <a:pPr eaLnBrk="1" hangingPunct="1"/>
            <a:endParaRPr lang="en-AU" smtClean="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Title 1"/>
          <p:cNvSpPr>
            <a:spLocks noGrp="1"/>
          </p:cNvSpPr>
          <p:nvPr>
            <p:ph type="title"/>
          </p:nvPr>
        </p:nvSpPr>
        <p:spPr/>
        <p:txBody>
          <a:bodyPr/>
          <a:lstStyle/>
          <a:p>
            <a:pPr eaLnBrk="1" hangingPunct="1"/>
            <a:endParaRPr lang="en-AU" smtClean="0"/>
          </a:p>
        </p:txBody>
      </p:sp>
      <p:sp>
        <p:nvSpPr>
          <p:cNvPr id="55298" name="Content Placeholder 2"/>
          <p:cNvSpPr>
            <a:spLocks noGrp="1"/>
          </p:cNvSpPr>
          <p:nvPr>
            <p:ph idx="1"/>
          </p:nvPr>
        </p:nvSpPr>
        <p:spPr/>
        <p:txBody>
          <a:bodyPr/>
          <a:lstStyle/>
          <a:p>
            <a:pPr eaLnBrk="1" hangingPunct="1"/>
            <a:endParaRPr lang="en-AU" smtClean="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le 1"/>
          <p:cNvSpPr>
            <a:spLocks noGrp="1"/>
          </p:cNvSpPr>
          <p:nvPr>
            <p:ph type="title"/>
          </p:nvPr>
        </p:nvSpPr>
        <p:spPr/>
        <p:txBody>
          <a:bodyPr/>
          <a:lstStyle/>
          <a:p>
            <a:pPr eaLnBrk="1" hangingPunct="1"/>
            <a:endParaRPr lang="en-AU" smtClean="0"/>
          </a:p>
        </p:txBody>
      </p:sp>
      <p:sp>
        <p:nvSpPr>
          <p:cNvPr id="56322" name="Content Placeholder 2"/>
          <p:cNvSpPr>
            <a:spLocks noGrp="1"/>
          </p:cNvSpPr>
          <p:nvPr>
            <p:ph idx="1"/>
          </p:nvPr>
        </p:nvSpPr>
        <p:spPr/>
        <p:txBody>
          <a:bodyPr/>
          <a:lstStyle/>
          <a:p>
            <a:pPr eaLnBrk="1" hangingPunct="1"/>
            <a:endParaRPr lang="en-AU" smtClean="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Title 1"/>
          <p:cNvSpPr>
            <a:spLocks noGrp="1"/>
          </p:cNvSpPr>
          <p:nvPr>
            <p:ph type="title"/>
          </p:nvPr>
        </p:nvSpPr>
        <p:spPr/>
        <p:txBody>
          <a:bodyPr/>
          <a:lstStyle/>
          <a:p>
            <a:pPr eaLnBrk="1" hangingPunct="1"/>
            <a:endParaRPr lang="en-AU" smtClean="0"/>
          </a:p>
        </p:txBody>
      </p:sp>
      <p:sp>
        <p:nvSpPr>
          <p:cNvPr id="57346" name="Content Placeholder 2"/>
          <p:cNvSpPr>
            <a:spLocks noGrp="1"/>
          </p:cNvSpPr>
          <p:nvPr>
            <p:ph idx="1"/>
          </p:nvPr>
        </p:nvSpPr>
        <p:spPr/>
        <p:txBody>
          <a:bodyPr/>
          <a:lstStyle/>
          <a:p>
            <a:pPr eaLnBrk="1" hangingPunct="1"/>
            <a:endParaRPr lang="en-AU" smtClean="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22 - &amp;quot;SUMMARY&amp;quot;&quot;/&gt;&lt;property id=&quot;20307&quot; value=&quot;256&quot;/&gt;&lt;/object&gt;&lt;object type=&quot;3&quot; unique_id=&quot;10005&quot;&gt;&lt;property id=&quot;20148&quot; value=&quot;5&quot;/&gt;&lt;property id=&quot;20300&quot; value=&quot;Slide 1&quot;/&gt;&lt;property id=&quot;20307&quot; value=&quot;257&quot;/&gt;&lt;/object&gt;&lt;object type=&quot;3&quot; unique_id=&quot;10006&quot;&gt;&lt;property id=&quot;20148&quot; value=&quot;5&quot;/&gt;&lt;property id=&quot;20300&quot; value=&quot;Slide 2 - &amp;quot;OUTLINE&amp;quot;&quot;/&gt;&lt;property id=&quot;20307&quot; value=&quot;258&quot;/&gt;&lt;/object&gt;&lt;object type=&quot;3&quot; unique_id=&quot;10007&quot;&gt;&lt;property id=&quot;20148&quot; value=&quot;5&quot;/&gt;&lt;property id=&quot;20300&quot; value=&quot;Slide 23 - &amp;quot;TAKE HOME MESSAGE&amp;quot;&quot;/&gt;&lt;property id=&quot;20307&quot; value=&quot;259&quot;/&gt;&lt;/object&gt;&lt;object type=&quot;3&quot; unique_id=&quot;10008&quot;&gt;&lt;property id=&quot;20148&quot; value=&quot;5&quot;/&gt;&lt;property id=&quot;20300&quot; value=&quot;Slide 24&quot;/&gt;&lt;property id=&quot;20307&quot; value=&quot;260&quot;/&gt;&lt;/object&gt;&lt;object type=&quot;3&quot; unique_id=&quot;10289&quot;&gt;&lt;property id=&quot;20148&quot; value=&quot;5&quot;/&gt;&lt;property id=&quot;20300&quot; value=&quot;Slide 3 - &amp;quot;BALANCING A DAIRY RATION&amp;quot;&quot;/&gt;&lt;property id=&quot;20307&quot; value=&quot;261&quot;/&gt;&lt;/object&gt;&lt;object type=&quot;3&quot; unique_id=&quot;10290&quot;&gt;&lt;property id=&quot;20148&quot; value=&quot;5&quot;/&gt;&lt;property id=&quot;20300&quot; value=&quot;Slide 4 - &amp;quot;NUTRIENTS - CHEMICAL COMPOSITION OF FEED&amp;quot;&quot;/&gt;&lt;property id=&quot;20307&quot; value=&quot;262&quot;/&gt;&lt;/object&gt;&lt;object type=&quot;3&quot; unique_id=&quot;10291&quot;&gt;&lt;property id=&quot;20148&quot; value=&quot;5&quot;/&gt;&lt;property id=&quot;20300&quot; value=&quot;Slide 5 - &amp;quot;WHY NEUTRAL DETERGENT FIBER (NDF) IN DAIRY RATIONS?&amp;quot;&quot;/&gt;&lt;property id=&quot;20307&quot; value=&quot;263&quot;/&gt;&lt;/object&gt;&lt;object type=&quot;3&quot; unique_id=&quot;10292&quot;&gt;&lt;property id=&quot;20148&quot; value=&quot;5&quot;/&gt;&lt;property id=&quot;20300&quot; value=&quot;Slide 6 - &amp;quot;WHY NON-FIBROUS CARBOHYDRATES (NFC) IN DAIRY RATIONS?&amp;quot;&quot;/&gt;&lt;property id=&quot;20307&quot; value=&quot;264&quot;/&gt;&lt;/object&gt;&lt;object type=&quot;3&quot; unique_id=&quot;10293&quot;&gt;&lt;property id=&quot;20148&quot; value=&quot;5&quot;/&gt;&lt;property id=&quot;20300&quot; value=&quot;Slide 7 - &amp;quot;CONCENTRATES - ENERGY SOURCES&amp;quot;&quot;/&gt;&lt;property id=&quot;20307&quot; value=&quot;265&quot;/&gt;&lt;/object&gt;&lt;object type=&quot;3&quot; unique_id=&quot;10294&quot;&gt;&lt;property id=&quot;20148&quot; value=&quot;5&quot;/&gt;&lt;property id=&quot;20300&quot; value=&quot;Slide 8 - &amp;quot;PHASES OF A LACTATION CYCLE &amp;#x0D;&amp;#x0A;(MULTIPAROUS COW, NRC 1989)&amp;quot;&quot;/&gt;&lt;property id=&quot;20307&quot; value=&quot;291&quot;/&gt;&lt;/object&gt;&lt;object type=&quot;3&quot; unique_id=&quot;10295&quot;&gt;&lt;property id=&quot;20148&quot; value=&quot;5&quot;/&gt;&lt;property id=&quot;20300&quot; value=&quot;Slide 9 - &amp;quot;IMPACT OF DIETARY FIBER (NDF) AND CRUDE PROTEIN (CP) ON DMI&amp;quot;&quot;/&gt;&lt;property id=&quot;20307&quot; value=&quot;292&quot;/&gt;&lt;/object&gt;&lt;object type=&quot;3&quot; unique_id=&quot;10296&quot;&gt;&lt;property id=&quot;20148&quot; value=&quot;5&quot;/&gt;&lt;property id=&quot;20300&quot; value=&quot;Slide 10&quot;/&gt;&lt;property id=&quot;20307&quot; value=&quot;266&quot;/&gt;&lt;/object&gt;&lt;object type=&quot;3&quot; unique_id=&quot;10297&quot;&gt;&lt;property id=&quot;20148&quot; value=&quot;5&quot;/&gt;&lt;property id=&quot;20300&quot; value=&quot;Slide 11 - &amp;quot;RUMINAL METABOLISM:&amp;#x0D;&amp;#x0A;ENERGY AND MILK PRECURSORS SUPPLY&amp;quot;&quot;/&gt;&lt;property id=&quot;20307&quot; value=&quot;281&quot;/&gt;&lt;/object&gt;&lt;object type=&quot;3&quot; unique_id=&quot;10298&quot;&gt;&lt;property id=&quot;20148&quot; value=&quot;5&quot;/&gt;&lt;property id=&quot;20300&quot; value=&quot;Slide 12 - &amp;quot;ORIGIN OF MILK COMPONENTS &amp;quot;&quot;/&gt;&lt;property id=&quot;20307&quot; value=&quot;282&quot;/&gt;&lt;/object&gt;&lt;object type=&quot;3&quot; unique_id=&quot;10299&quot;&gt;&lt;property id=&quot;20148&quot; value=&quot;5&quot;/&gt;&lt;property id=&quot;20300&quot; value=&quot;Slide 13 - &amp;quot;UTILIZATION OF ENERGY (E) BY THE COW&amp;#x0D;&amp;#x0A;(NE = Net Energy)&amp;quot;&quot;/&gt;&lt;property id=&quot;20307&quot; value=&quot;283&quot;/&gt;&lt;/object&gt;&lt;object type=&quot;3&quot; unique_id=&quot;10300&quot;&gt;&lt;property id=&quot;20148&quot; value=&quot;5&quot;/&gt;&lt;property id=&quot;20300&quot; value=&quot;Slide 14 - &amp;quot;NEL SUPPLY FROM A FEED DEPENDS ALSO UPON ITS RATE OF DIGESTION IN THE RUMEN AND RATE OF PASSAGE FROM THE RUMEN &amp;quot;&quot;/&gt;&lt;property id=&quot;20307&quot; value=&quot;284&quot;/&gt;&lt;/object&gt;&lt;object type=&quot;3&quot; unique_id=&quot;10301&quot;&gt;&lt;property id=&quot;20148&quot; value=&quot;5&quot;/&gt;&lt;property id=&quot;20300&quot; value=&quot;Slide 15 - &amp;quot;FASTER RATE OF DIGESTION OF LEGUME FIBER MEANS THAT IT HAS A HIGHER ENERGY VALUE FOR HIGH PRODUCING COWS THAN GRAS&quot;/&gt;&lt;property id=&quot;20307&quot; value=&quot;285&quot;/&gt;&lt;/object&gt;&lt;object type=&quot;3&quot; unique_id=&quot;10302&quot;&gt;&lt;property id=&quot;20148&quot; value=&quot;5&quot;/&gt;&lt;property id=&quot;20300&quot; value=&quot;Slide 16 - &amp;quot;DIGESTIBILITY DECREASES AT HIGHER LEVELS OF INTAKE (AND MILK PRODUCTION)&amp;quot;&quot;/&gt;&lt;property id=&quot;20307&quot; value=&quot;286&quot;/&gt;&lt;/object&gt;&lt;object type=&quot;3&quot; unique_id=&quot;10303&quot;&gt;&lt;property id=&quot;20148&quot; value=&quot;5&quot;/&gt;&lt;property id=&quot;20300&quot; value=&quot;Slide 17 - &amp;quot;Q: ENERGY UTILIZATION&amp;quot;&quot;/&gt;&lt;property id=&quot;20307&quot; value=&quot;287&quot;/&gt;&lt;/object&gt;&lt;object type=&quot;3&quot; unique_id=&quot;10304&quot;&gt;&lt;property id=&quot;20148&quot; value=&quot;5&quot;/&gt;&lt;property id=&quot;20300&quot; value=&quot;Slide 18 - &amp;quot;WHICH DIET DO YOU PREFER AND WHY?&amp;quot;&quot;/&gt;&lt;property id=&quot;20307&quot; value=&quot;288&quot;/&gt;&lt;/object&gt;&lt;object type=&quot;3&quot; unique_id=&quot;10305&quot;&gt;&lt;property id=&quot;20148&quot; value=&quot;5&quot;/&gt;&lt;property id=&quot;20300&quot; value=&quot;Slide 19 - &amp;quot;LACTATION  REQUIREMENTS (NRC, 2001)&amp;quot;&quot;/&gt;&lt;property id=&quot;20307&quot; value=&quot;290&quot;/&gt;&lt;/object&gt;&lt;object type=&quot;3&quot; unique_id=&quot;10306&quot;&gt;&lt;property id=&quot;20148&quot; value=&quot;5&quot;/&gt;&lt;property id=&quot;20300&quot; value=&quot;Slide 20 - &amp;quot;LACTATING COWS STORE ENERGY MORE EFFICIENTLY THAN DRY COWS&amp;quot;&quot;/&gt;&lt;property id=&quot;20307&quot; value=&quot;289&quot;/&gt;&lt;/object&gt;&lt;object type=&quot;3&quot; unique_id=&quot;10307&quot;&gt;&lt;property id=&quot;20148&quot; value=&quot;5&quot;/&gt;&lt;property id=&quot;20300&quot; value=&quot;Slide 21 - &amp;quot;INFLUENCE OF RATION COMPOSITION ON DMI: FORAGE TO CONCENTRATE RATIO (F/C)&amp;quot;&quot;/&gt;&lt;property id=&quot;20307&quot; value=&quot;293&quot;/&gt;&lt;/object&gt;&lt;object type=&quot;3&quot; unique_id=&quot;10308&quot;&gt;&lt;property id=&quot;20148&quot; value=&quot;5&quot;/&gt;&lt;property id=&quot;20300&quot; value=&quot;Slide 25&quot;/&gt;&lt;property id=&quot;20307&quot; value=&quot;267&quot;/&gt;&lt;/object&gt;&lt;object type=&quot;3&quot; unique_id=&quot;10309&quot;&gt;&lt;property id=&quot;20148&quot; value=&quot;5&quot;/&gt;&lt;property id=&quot;20300&quot; value=&quot;Slide 26&quot;/&gt;&lt;property id=&quot;20307&quot; value=&quot;268&quot;/&gt;&lt;/object&gt;&lt;object type=&quot;3&quot; unique_id=&quot;10310&quot;&gt;&lt;property id=&quot;20148&quot; value=&quot;5&quot;/&gt;&lt;property id=&quot;20300&quot; value=&quot;Slide 27&quot;/&gt;&lt;property id=&quot;20307&quot; value=&quot;269&quot;/&gt;&lt;/object&gt;&lt;object type=&quot;3&quot; unique_id=&quot;10311&quot;&gt;&lt;property id=&quot;20148&quot; value=&quot;5&quot;/&gt;&lt;property id=&quot;20300&quot; value=&quot;Slide 28&quot;/&gt;&lt;property id=&quot;20307&quot; value=&quot;272&quot;/&gt;&lt;/object&gt;&lt;object type=&quot;3&quot; unique_id=&quot;10312&quot;&gt;&lt;property id=&quot;20148&quot; value=&quot;5&quot;/&gt;&lt;property id=&quot;20300&quot; value=&quot;Slide 29&quot;/&gt;&lt;property id=&quot;20307&quot; value=&quot;273&quot;/&gt;&lt;/object&gt;&lt;object type=&quot;3&quot; unique_id=&quot;10313&quot;&gt;&lt;property id=&quot;20148&quot; value=&quot;5&quot;/&gt;&lt;property id=&quot;20300&quot; value=&quot;Slide 30&quot;/&gt;&lt;property id=&quot;20307&quot; value=&quot;271&quot;/&gt;&lt;/object&gt;&lt;object type=&quot;3&quot; unique_id=&quot;10314&quot;&gt;&lt;property id=&quot;20148&quot; value=&quot;5&quot;/&gt;&lt;property id=&quot;20300&quot; value=&quot;Slide 31&quot;/&gt;&lt;property id=&quot;20307&quot; value=&quot;270&quot;/&gt;&lt;/object&gt;&lt;object type=&quot;3&quot; unique_id=&quot;10315&quot;&gt;&lt;property id=&quot;20148&quot; value=&quot;5&quot;/&gt;&lt;property id=&quot;20300&quot; value=&quot;Slide 32&quot;/&gt;&lt;property id=&quot;20307&quot; value=&quot;280&quot;/&gt;&lt;/object&gt;&lt;object type=&quot;3&quot; unique_id=&quot;10316&quot;&gt;&lt;property id=&quot;20148&quot; value=&quot;5&quot;/&gt;&lt;property id=&quot;20300&quot; value=&quot;Slide 33&quot;/&gt;&lt;property id=&quot;20307&quot; value=&quot;279&quot;/&gt;&lt;/object&gt;&lt;object type=&quot;3&quot; unique_id=&quot;10317&quot;&gt;&lt;property id=&quot;20148&quot; value=&quot;5&quot;/&gt;&lt;property id=&quot;20300&quot; value=&quot;Slide 34&quot;/&gt;&lt;property id=&quot;20307&quot; value=&quot;278&quot;/&gt;&lt;/object&gt;&lt;object type=&quot;3&quot; unique_id=&quot;10318&quot;&gt;&lt;property id=&quot;20148&quot; value=&quot;5&quot;/&gt;&lt;property id=&quot;20300&quot; value=&quot;Slide 35&quot;/&gt;&lt;property id=&quot;20307&quot; value=&quot;277&quot;/&gt;&lt;/object&gt;&lt;object type=&quot;3&quot; unique_id=&quot;10319&quot;&gt;&lt;property id=&quot;20148&quot; value=&quot;5&quot;/&gt;&lt;property id=&quot;20300&quot; value=&quot;Slide 36&quot;/&gt;&lt;property id=&quot;20307&quot; value=&quot;276&quot;/&gt;&lt;/object&gt;&lt;object type=&quot;3&quot; unique_id=&quot;10320&quot;&gt;&lt;property id=&quot;20148&quot; value=&quot;5&quot;/&gt;&lt;property id=&quot;20300&quot; value=&quot;Slide 37&quot;/&gt;&lt;property id=&quot;20307&quot; value=&quot;275&quot;/&gt;&lt;/object&gt;&lt;object type=&quot;3&quot; unique_id=&quot;10321&quot;&gt;&lt;property id=&quot;20148&quot; value=&quot;5&quot;/&gt;&lt;property id=&quot;20300&quot; value=&quot;Slide 38&quot;/&gt;&lt;property id=&quot;20307&quot; value=&quot;274&quot;/&gt;&lt;/object&gt;&lt;/object&gt;&lt;/object&gt;&lt;/database&gt;"/>
  <p:tag name="SECTOMILLISECCONVERTED"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99</TotalTime>
  <Words>1677</Words>
  <Application>Microsoft Office PowerPoint</Application>
  <PresentationFormat>On-screen Show (4:3)</PresentationFormat>
  <Paragraphs>535</Paragraphs>
  <Slides>36</Slides>
  <Notes>5</Notes>
  <HiddenSlides>0</HiddenSlides>
  <MMClips>0</MMClips>
  <ScaleCrop>false</ScaleCrop>
  <HeadingPairs>
    <vt:vector size="8" baseType="variant">
      <vt:variant>
        <vt:lpstr>Fonts Used</vt:lpstr>
      </vt:variant>
      <vt:variant>
        <vt:i4>8</vt:i4>
      </vt:variant>
      <vt:variant>
        <vt:lpstr>Design Template</vt:lpstr>
      </vt:variant>
      <vt:variant>
        <vt:i4>2</vt:i4>
      </vt:variant>
      <vt:variant>
        <vt:lpstr>Embedded OLE Servers</vt:lpstr>
      </vt:variant>
      <vt:variant>
        <vt:i4>1</vt:i4>
      </vt:variant>
      <vt:variant>
        <vt:lpstr>Slide Titles</vt:lpstr>
      </vt:variant>
      <vt:variant>
        <vt:i4>36</vt:i4>
      </vt:variant>
    </vt:vector>
  </HeadingPairs>
  <TitlesOfParts>
    <vt:vector size="47" baseType="lpstr">
      <vt:lpstr>Arial</vt:lpstr>
      <vt:lpstr>Calibri</vt:lpstr>
      <vt:lpstr>Times New Roman</vt:lpstr>
      <vt:lpstr>Zapf Dingbats</vt:lpstr>
      <vt:lpstr>Symbol</vt:lpstr>
      <vt:lpstr>Helvetica</vt:lpstr>
      <vt:lpstr>Comic Sans MS</vt:lpstr>
      <vt:lpstr>Times</vt:lpstr>
      <vt:lpstr>Office Theme</vt:lpstr>
      <vt:lpstr>Office Theme</vt:lpstr>
      <vt:lpstr>Chart</vt:lpstr>
      <vt:lpstr>Slide 1</vt:lpstr>
      <vt:lpstr>OUTLINE</vt:lpstr>
      <vt:lpstr>BALANCING A DAIRY RATION</vt:lpstr>
      <vt:lpstr>NUTRIENTS - CHEMICAL COMPOSITION OF FEED</vt:lpstr>
      <vt:lpstr>WHY NEUTRAL DETERGENT FIBER (NDF) IN DAIRY RATIONS?</vt:lpstr>
      <vt:lpstr>WHY NON-FIBROUS CARBOHYDRATES (NFC) IN DAIRY RATIONS?</vt:lpstr>
      <vt:lpstr>CONCENTRATES - ENERGY SOURCES</vt:lpstr>
      <vt:lpstr>PHASES OF A LACTATION CYCLE  (MULTIPAROUS COW, NRC 1989)</vt:lpstr>
      <vt:lpstr>IMPACT OF DIETARY FIBER (NDF) AND CRUDE PROTEIN (CP) ON DMI</vt:lpstr>
      <vt:lpstr>Slide 10</vt:lpstr>
      <vt:lpstr>RUMINAL METABOLISM: ENERGY AND MILK PRECURSORS SUPPLY</vt:lpstr>
      <vt:lpstr>ORIGIN OF MILK COMPONENTS </vt:lpstr>
      <vt:lpstr>UTILIZATION OF ENERGY (E) BY THE COW (NE = Net Energy)</vt:lpstr>
      <vt:lpstr>NEL SUPPLY FROM A FEED DEPENDS ALSO UPON ITS RATE OF DIGESTION IN THE RUMEN AND RATE OF PASSAGE FROM THE RUMEN </vt:lpstr>
      <vt:lpstr>FASTER RATE OF DIGESTION OF LEGUME FIBER MEANS THAT IT HAS A HIGHER ENERGY VALUE FOR HIGH PRODUCING COWS THAN GRASS FIBER</vt:lpstr>
      <vt:lpstr>DIGESTIBILITY DECREASES AT HIGHER LEVELS OF INTAKE (AND MILK PRODUCTION)</vt:lpstr>
      <vt:lpstr>WHICH DIET DO YOU PREFER AND WHY?</vt:lpstr>
      <vt:lpstr>LACTATING COWS STORE ENERGY MORE EFFICIENTLY THAN DRY COWS</vt:lpstr>
      <vt:lpstr>INFLUENCE OF RATION COMPOSITION ON DMI: FORAGE TO CONCENTRATE RATIO (F/C)</vt:lpstr>
      <vt:lpstr>SUMMARY</vt:lpstr>
      <vt:lpstr>TAKE HOME MESSAGE ?</vt:lpstr>
      <vt:lpstr>THANK YOU</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The University of Adelaide</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a1618272</dc:creator>
  <cp:lastModifiedBy>JacintaR</cp:lastModifiedBy>
  <cp:revision>11</cp:revision>
  <dcterms:created xsi:type="dcterms:W3CDTF">2012-05-08T06:32:39Z</dcterms:created>
  <dcterms:modified xsi:type="dcterms:W3CDTF">2012-07-16T21:06:56Z</dcterms:modified>
</cp:coreProperties>
</file>